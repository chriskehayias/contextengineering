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85" r:id="rId2"/>
    <p:sldId id="292" r:id="rId3"/>
    <p:sldId id="293" r:id="rId4"/>
    <p:sldId id="286" r:id="rId5"/>
    <p:sldId id="259" r:id="rId6"/>
    <p:sldId id="260" r:id="rId7"/>
    <p:sldId id="261" r:id="rId8"/>
    <p:sldId id="262" r:id="rId9"/>
    <p:sldId id="263" r:id="rId10"/>
    <p:sldId id="264" r:id="rId11"/>
    <p:sldId id="319" r:id="rId12"/>
    <p:sldId id="296" r:id="rId13"/>
    <p:sldId id="265" r:id="rId14"/>
    <p:sldId id="266" r:id="rId15"/>
    <p:sldId id="267" r:id="rId16"/>
    <p:sldId id="268" r:id="rId17"/>
    <p:sldId id="269" r:id="rId18"/>
    <p:sldId id="320" r:id="rId19"/>
    <p:sldId id="297" r:id="rId20"/>
    <p:sldId id="310" r:id="rId21"/>
    <p:sldId id="307" r:id="rId22"/>
    <p:sldId id="271" r:id="rId23"/>
    <p:sldId id="272" r:id="rId24"/>
    <p:sldId id="275" r:id="rId25"/>
    <p:sldId id="276" r:id="rId26"/>
    <p:sldId id="287" r:id="rId27"/>
    <p:sldId id="288" r:id="rId28"/>
    <p:sldId id="289" r:id="rId29"/>
    <p:sldId id="294" r:id="rId30"/>
    <p:sldId id="308" r:id="rId31"/>
    <p:sldId id="273" r:id="rId32"/>
    <p:sldId id="274" r:id="rId33"/>
    <p:sldId id="277" r:id="rId34"/>
    <p:sldId id="323" r:id="rId35"/>
    <p:sldId id="321" r:id="rId36"/>
    <p:sldId id="278" r:id="rId37"/>
    <p:sldId id="314" r:id="rId38"/>
    <p:sldId id="313" r:id="rId39"/>
    <p:sldId id="298" r:id="rId40"/>
    <p:sldId id="279" r:id="rId41"/>
    <p:sldId id="280" r:id="rId42"/>
    <p:sldId id="290" r:id="rId43"/>
    <p:sldId id="281" r:id="rId44"/>
    <p:sldId id="282" r:id="rId45"/>
    <p:sldId id="283" r:id="rId46"/>
    <p:sldId id="303" r:id="rId47"/>
    <p:sldId id="304" r:id="rId48"/>
    <p:sldId id="305" r:id="rId49"/>
    <p:sldId id="306" r:id="rId50"/>
    <p:sldId id="316" r:id="rId51"/>
    <p:sldId id="284" r:id="rId52"/>
    <p:sldId id="318" r:id="rId53"/>
    <p:sldId id="317" r:id="rId5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3B4A"/>
    <a:srgbClr val="BBBEBE"/>
    <a:srgbClr val="C8C8C8"/>
    <a:srgbClr val="999999"/>
    <a:srgbClr val="747474"/>
    <a:srgbClr val="4B596B"/>
    <a:srgbClr val="F58220"/>
    <a:srgbClr val="3FE0D0"/>
    <a:srgbClr val="F7F5F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9B2C2B-F13B-4F44-BC40-F41C2D90DB77}" v="133" dt="2026-05-05T21:23:32.571"/>
    <p1510:client id="{8DAADB37-D638-D845-95FE-C628D9D250E2}" v="88" dt="2026-05-05T00:59:06.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97"/>
    <p:restoredTop sz="64521"/>
  </p:normalViewPr>
  <p:slideViewPr>
    <p:cSldViewPr snapToGrid="0" snapToObjects="1">
      <p:cViewPr varScale="1">
        <p:scale>
          <a:sx n="50" d="100"/>
          <a:sy n="50" d="100"/>
        </p:scale>
        <p:origin x="1496"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5221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777CE-FDB9-25CF-B3F3-163736488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834F5-8B99-1BA3-DC09-628BEE8F79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55C1A-FBE4-6D75-A92E-73163BFFFE58}"/>
              </a:ext>
            </a:extLst>
          </p:cNvPr>
          <p:cNvSpPr>
            <a:spLocks noGrp="1"/>
          </p:cNvSpPr>
          <p:nvPr>
            <p:ph type="body" idx="1"/>
          </p:nvPr>
        </p:nvSpPr>
        <p:spPr/>
        <p:txBody>
          <a:bodyPr/>
          <a:lstStyle/>
          <a:p>
            <a:r>
              <a:rPr lang="en-US" dirty="0"/>
              <a:t>You are officially on the spectrum! Where on the spectrum? Let’s find out.</a:t>
            </a:r>
          </a:p>
          <a:p>
            <a:endParaRPr lang="en-US" dirty="0"/>
          </a:p>
          <a:p>
            <a:r>
              <a:rPr lang="en-US" dirty="0"/>
              <a:t>Most people in this room — most people anywhere — sit at one of two extremes with AI. </a:t>
            </a:r>
          </a:p>
          <a:p>
            <a:endParaRPr lang="en-US" dirty="0"/>
          </a:p>
          <a:p>
            <a:r>
              <a:rPr lang="en-US" dirty="0"/>
              <a:t>On the left, you use it like a smarter Google. </a:t>
            </a:r>
          </a:p>
          <a:p>
            <a:r>
              <a:rPr lang="en-US" dirty="0"/>
              <a:t>Quick questions, proof an email, summarize a thing. </a:t>
            </a:r>
          </a:p>
          <a:p>
            <a:r>
              <a:rPr lang="en-US" dirty="0"/>
              <a:t>That's the whole relationship. </a:t>
            </a:r>
          </a:p>
          <a:p>
            <a:endParaRPr lang="en-US" dirty="0"/>
          </a:p>
          <a:p>
            <a:r>
              <a:rPr lang="en-US" dirty="0"/>
              <a:t>On the right, you've heard the words 'Claude Code' or you've seen an agent demo on Twitter, and you decided 'that's a developer thing, not for me,' and you tuned out. </a:t>
            </a:r>
          </a:p>
        </p:txBody>
      </p:sp>
      <p:sp>
        <p:nvSpPr>
          <p:cNvPr id="4" name="Slide Number Placeholder 3">
            <a:extLst>
              <a:ext uri="{FF2B5EF4-FFF2-40B4-BE49-F238E27FC236}">
                <a16:creationId xmlns:a16="http://schemas.microsoft.com/office/drawing/2014/main" id="{B2BCC9F9-65C1-9024-5EC3-6E205FC515D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76110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D69E-C3AA-E809-66BB-FAC6799DA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514B4-314A-150D-B30A-4948E6D02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58A80-82EA-9FAF-A1F7-F557DE6F6C71}"/>
              </a:ext>
            </a:extLst>
          </p:cNvPr>
          <p:cNvSpPr>
            <a:spLocks noGrp="1"/>
          </p:cNvSpPr>
          <p:nvPr>
            <p:ph type="body" idx="1"/>
          </p:nvPr>
        </p:nvSpPr>
        <p:spPr/>
        <p:txBody>
          <a:bodyPr/>
          <a:lstStyle/>
          <a:p>
            <a:r>
              <a:rPr lang="en-US" dirty="0"/>
              <a:t>The good stuff — the stuff that gives you – and me – those of us who aren’t developers – where we get back hours of your week — is the entire middle ground. </a:t>
            </a:r>
          </a:p>
          <a:p>
            <a:r>
              <a:rPr lang="en-US" dirty="0"/>
              <a:t>And almost nobody is there. The next 45 minutes are about the middle.</a:t>
            </a:r>
          </a:p>
          <a:p>
            <a:endParaRPr lang="en-US" dirty="0"/>
          </a:p>
          <a:p>
            <a:r>
              <a:rPr lang="en-US" dirty="0"/>
              <a:t>This is the Goldilocks Zone.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72525"/>
                </a:solidFill>
                <a:latin typeface="Public Sans" pitchFamily="34" charset="0"/>
                <a:ea typeface="Public Sans" pitchFamily="34" charset="-122"/>
                <a:cs typeface="Public Sans" pitchFamily="34" charset="-120"/>
              </a:rPr>
              <a:t>It’s not too simple – it’s not another ChatGPT, and it’s not too technical b/c sometimes when Chris starts talking tech I tune 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72525"/>
              </a:solidFill>
              <a:latin typeface="Public Sans" pitchFamily="34" charset="0"/>
              <a:ea typeface="Public Sans" pitchFamily="34" charset="-122"/>
              <a:cs typeface="Public Sans"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72525"/>
                </a:solidFill>
                <a:latin typeface="Public Sans" pitchFamily="34" charset="0"/>
                <a:ea typeface="Public Sans" pitchFamily="34" charset="-122"/>
                <a:cs typeface="Public Sans" pitchFamily="34" charset="-120"/>
              </a:rPr>
              <a:t>This is </a:t>
            </a:r>
            <a:r>
              <a:rPr lang="en-US" sz="1200" dirty="0" err="1">
                <a:solidFill>
                  <a:srgbClr val="272525"/>
                </a:solidFill>
                <a:latin typeface="Public Sans" pitchFamily="34" charset="0"/>
                <a:ea typeface="Public Sans" pitchFamily="34" charset="-122"/>
                <a:cs typeface="Public Sans" pitchFamily="34" charset="-120"/>
              </a:rPr>
              <a:t>Juuuuust</a:t>
            </a:r>
            <a:r>
              <a:rPr lang="en-US" sz="1200" dirty="0">
                <a:solidFill>
                  <a:srgbClr val="272525"/>
                </a:solidFill>
                <a:latin typeface="Public Sans" pitchFamily="34" charset="0"/>
                <a:ea typeface="Public Sans" pitchFamily="34" charset="-122"/>
                <a:cs typeface="Public Sans" pitchFamily="34" charset="-120"/>
              </a:rPr>
              <a:t> Right.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72525"/>
                </a:solidFill>
                <a:latin typeface="Public Sans" pitchFamily="34" charset="0"/>
                <a:ea typeface="Public Sans" pitchFamily="34" charset="-122"/>
                <a:cs typeface="Public Sans" pitchFamily="34" charset="-120"/>
              </a:rPr>
              <a:t>Workflows (and life flows!) that can truly change your week. No code required.</a:t>
            </a:r>
            <a:endParaRPr lang="en-US" sz="1200"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a:p>
            <a:endParaRPr lang="en-US" dirty="0"/>
          </a:p>
        </p:txBody>
      </p:sp>
      <p:sp>
        <p:nvSpPr>
          <p:cNvPr id="4" name="Slide Number Placeholder 3">
            <a:extLst>
              <a:ext uri="{FF2B5EF4-FFF2-40B4-BE49-F238E27FC236}">
                <a16:creationId xmlns:a16="http://schemas.microsoft.com/office/drawing/2014/main" id="{DC4F73A1-FAC3-8E34-03E1-C51F9BD9FEF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14245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D9519-664B-A07F-223A-E9B5786CD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2E9CD-3F2E-B13A-141C-CE71E2410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F80F9-41D2-C405-CA4B-DC0490895733}"/>
              </a:ext>
            </a:extLst>
          </p:cNvPr>
          <p:cNvSpPr>
            <a:spLocks noGrp="1"/>
          </p:cNvSpPr>
          <p:nvPr>
            <p:ph type="body" idx="1"/>
          </p:nvPr>
        </p:nvSpPr>
        <p:spPr/>
        <p:txBody>
          <a:bodyPr/>
          <a:lstStyle/>
          <a:p>
            <a:r>
              <a:rPr lang="en-US" dirty="0"/>
              <a:t>So here's the framing for everything we'll talk about. We’re going to peek inside three doors. None of them require code, even the one called 'Claude Code' — I promise we'll get to that. </a:t>
            </a:r>
          </a:p>
          <a:p>
            <a:endParaRPr lang="en-US" dirty="0"/>
          </a:p>
          <a:p>
            <a:r>
              <a:rPr lang="en-US" dirty="0"/>
              <a:t>Door one is Chat. That's where most of you live already.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9CBD1"/>
                </a:solidFill>
                <a:latin typeface="Inter" pitchFamily="34" charset="0"/>
                <a:ea typeface="Inter" pitchFamily="34" charset="-122"/>
                <a:cs typeface="Inter" pitchFamily="34" charset="-120"/>
              </a:rPr>
              <a:t>Your conversational thinking partner. One-shot prompts, no files in play.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9CBD1"/>
                </a:solidFill>
                <a:latin typeface="Inter" pitchFamily="34" charset="0"/>
                <a:ea typeface="Inter" pitchFamily="34" charset="-122"/>
                <a:cs typeface="Inter" pitchFamily="34" charset="-120"/>
              </a:rPr>
              <a:t>The door is nice and warm and inviting. </a:t>
            </a:r>
            <a:r>
              <a:rPr lang="en-US" sz="1200" kern="1200" dirty="0">
                <a:solidFill>
                  <a:schemeClr val="tx1"/>
                </a:solidFill>
                <a:effectLst/>
                <a:latin typeface="+mn-lt"/>
                <a:ea typeface="+mn-ea"/>
                <a:cs typeface="+mn-cs"/>
              </a:rPr>
              <a:t>There’s a back porch or coffee-shop feel. Friendly entry point.</a:t>
            </a:r>
            <a:endParaRPr lang="en-US" sz="1200" dirty="0">
              <a:solidFill>
                <a:srgbClr val="C9CBD1"/>
              </a:solidFill>
              <a:latin typeface="Inter" pitchFamily="34" charset="0"/>
              <a:ea typeface="Inter" pitchFamily="34" charset="-122"/>
              <a:cs typeface="Inter" pitchFamily="34" charset="-120"/>
            </a:endParaRPr>
          </a:p>
          <a:p>
            <a:endParaRPr lang="en-US" dirty="0"/>
          </a:p>
          <a:p>
            <a:r>
              <a:rPr lang="en-US" dirty="0"/>
              <a:t>Door two is Cowork — Claude with hands on your real files and apps.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9CBD1"/>
                </a:solidFill>
                <a:latin typeface="Inter" pitchFamily="34" charset="0"/>
                <a:ea typeface="Inter" pitchFamily="34" charset="-122"/>
                <a:cs typeface="Inter" pitchFamily="34" charset="-120"/>
              </a:rPr>
              <a:t>Multi-step deliverables, scheduled tasks, live artifacts.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9CBD1"/>
                </a:solidFill>
                <a:latin typeface="Inter" pitchFamily="34" charset="0"/>
                <a:ea typeface="Inter" pitchFamily="34" charset="-122"/>
              </a:rPr>
              <a:t>This door is a bit more industrial. </a:t>
            </a:r>
            <a:r>
              <a:rPr lang="en-US" sz="1200" kern="1200" dirty="0">
                <a:solidFill>
                  <a:schemeClr val="tx1"/>
                </a:solidFill>
                <a:effectLst/>
                <a:latin typeface="+mn-lt"/>
                <a:ea typeface="+mn-ea"/>
                <a:cs typeface="+mn-cs"/>
              </a:rPr>
              <a:t>Studio steel door like leading into a workshop. Heavier, hands-on.</a:t>
            </a:r>
            <a:endParaRPr lang="en-US" sz="1200" dirty="0"/>
          </a:p>
          <a:p>
            <a:endParaRPr lang="en-US" dirty="0"/>
          </a:p>
          <a:p>
            <a:r>
              <a:rPr lang="en-US" dirty="0"/>
              <a:t>Door three is Code — power-user mode.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9CBD1"/>
                </a:solidFill>
                <a:latin typeface="Inter" pitchFamily="34" charset="0"/>
                <a:ea typeface="Inter" pitchFamily="34" charset="-122"/>
                <a:cs typeface="Inter" pitchFamily="34" charset="-120"/>
              </a:rPr>
              <a:t>Power-user mode. Custom commands plugged into the systems you already use.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Notice the industrial vault door. Almost like a cockpit; it’s got a power-user feel. Heaviest, most dramatic</a:t>
            </a:r>
            <a:endParaRPr lang="en-US" sz="1200" dirty="0"/>
          </a:p>
          <a:p>
            <a:endParaRPr lang="en-US" dirty="0"/>
          </a:p>
          <a:p>
            <a:r>
              <a:rPr lang="en-US" dirty="0"/>
              <a:t>We’re going to peek around and see what’s behind each door today.</a:t>
            </a:r>
          </a:p>
          <a:p>
            <a:r>
              <a:rPr lang="en-US" dirty="0"/>
              <a:t>And hopefully, eventually, you will walk through the doors that fit. </a:t>
            </a:r>
          </a:p>
          <a:p>
            <a:r>
              <a:rPr lang="en-US" dirty="0"/>
              <a:t>You walk past the ones that don’t. </a:t>
            </a:r>
          </a:p>
          <a:p>
            <a:r>
              <a:rPr lang="en-US" dirty="0"/>
              <a:t>Nobody has to use all three.</a:t>
            </a:r>
          </a:p>
        </p:txBody>
      </p:sp>
      <p:sp>
        <p:nvSpPr>
          <p:cNvPr id="4" name="Slide Number Placeholder 3">
            <a:extLst>
              <a:ext uri="{FF2B5EF4-FFF2-40B4-BE49-F238E27FC236}">
                <a16:creationId xmlns:a16="http://schemas.microsoft.com/office/drawing/2014/main" id="{866BB5F2-4544-8B1D-6E54-5968F918279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0454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open door one, I will be sharing some of my own learnings with you. The things I’ve picked up that have exponentially changed how I use AI.</a:t>
            </a:r>
          </a:p>
          <a:p>
            <a:r>
              <a:rPr lang="en-US" dirty="0"/>
              <a:t>I’ve got 5 I’ll be sharing.</a:t>
            </a:r>
          </a:p>
          <a:p>
            <a:endParaRPr lang="en-US" dirty="0"/>
          </a:p>
          <a:p>
            <a:r>
              <a:rPr lang="en-US" dirty="0"/>
              <a:t>This is learning number one. This is the single most important thing I'll say today, and it has changed the AI game for me. </a:t>
            </a:r>
          </a:p>
          <a:p>
            <a:endParaRPr lang="en-US" dirty="0"/>
          </a:p>
          <a:p>
            <a:r>
              <a:rPr lang="en-US" dirty="0"/>
              <a:t>If you don’t know where to start with AI…</a:t>
            </a:r>
          </a:p>
          <a:p>
            <a:r>
              <a:rPr lang="en-US" dirty="0"/>
              <a:t>Just complain.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mean. </a:t>
            </a:r>
          </a:p>
          <a:p>
            <a:endParaRPr lang="en-US" dirty="0"/>
          </a:p>
          <a:p>
            <a:r>
              <a:rPr lang="en-US" dirty="0"/>
              <a:t>People think they have to walk up to Claude with a fully-formed plan in their head, and they prompt the plan. 'Write me a five-step volunteer onboarding process.’ </a:t>
            </a:r>
          </a:p>
          <a:p>
            <a:endParaRPr lang="en-US" dirty="0"/>
          </a:p>
          <a:p>
            <a:r>
              <a:rPr lang="en-US" dirty="0"/>
              <a:t>But that's a solution disguised as a question — the model will struggle to fix it, because you've already decided what the answer looks like.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bring it solutions. Bring it problems.</a:t>
            </a:r>
          </a:p>
          <a:p>
            <a:endParaRPr lang="en-US" dirty="0"/>
          </a:p>
          <a:p>
            <a:r>
              <a:rPr lang="en-US" dirty="0"/>
              <a:t>Instead, complain. 'I waste two hours every Friday on volunteer scheduling.’ </a:t>
            </a:r>
          </a:p>
          <a:p>
            <a:r>
              <a:rPr lang="en-US" dirty="0"/>
              <a:t>'I can never keep track of which families I've followed up with.’ </a:t>
            </a:r>
          </a:p>
          <a:p>
            <a:r>
              <a:rPr lang="en-US" dirty="0"/>
              <a:t>'Our team keeps dropping the ball on new-member assimilation.’ </a:t>
            </a:r>
          </a:p>
          <a:p>
            <a:r>
              <a:rPr lang="en-US" dirty="0"/>
              <a:t>'I dread writing the bulletin every week.’ </a:t>
            </a:r>
          </a:p>
          <a:p>
            <a:endParaRPr lang="en-US" dirty="0"/>
          </a:p>
          <a:p>
            <a:r>
              <a:rPr lang="en-US" dirty="0"/>
              <a:t>The raw friction becomes the prompt. Hand it the problem and let it work the solution.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one. Claude Chat. </a:t>
            </a:r>
          </a:p>
          <a:p>
            <a:endParaRPr lang="en-US" dirty="0"/>
          </a:p>
          <a:p>
            <a:r>
              <a:rPr lang="en-US" dirty="0"/>
              <a:t>This is the version most people picture when they think of AI — you type a question or paste in something you're working on, and Claude writes back. </a:t>
            </a:r>
          </a:p>
          <a:p>
            <a:endParaRPr lang="en-US" dirty="0"/>
          </a:p>
          <a:p>
            <a:r>
              <a:rPr lang="en-US" dirty="0"/>
              <a:t>Think: ChatGPT.</a:t>
            </a:r>
          </a:p>
          <a:p>
            <a:r>
              <a:rPr lang="en-US" dirty="0"/>
              <a:t>You can have a back-and-forth conversation, </a:t>
            </a:r>
          </a:p>
          <a:p>
            <a:r>
              <a:rPr lang="en-US" dirty="0"/>
              <a:t>share documents or images, </a:t>
            </a:r>
          </a:p>
          <a:p>
            <a:r>
              <a:rPr lang="en-US" dirty="0"/>
              <a:t>and ask follow-up questions. </a:t>
            </a:r>
          </a:p>
          <a:p>
            <a:endParaRPr lang="en-US" dirty="0"/>
          </a:p>
          <a:p>
            <a:r>
              <a:rPr lang="en-US" dirty="0"/>
              <a:t>It can also plug into things you already use — your email, calendar, Google Drive, Slack, [your church management system?] — so you don't have to copy-paste data back and forth.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is best known for… </a:t>
            </a:r>
          </a:p>
          <a:p>
            <a:endParaRPr lang="en-US" dirty="0"/>
          </a:p>
          <a:p>
            <a:r>
              <a:rPr lang="en-US" dirty="0"/>
              <a:t>Drafter — emails, letters, copy. </a:t>
            </a:r>
          </a:p>
          <a:p>
            <a:r>
              <a:rPr lang="en-US" dirty="0"/>
              <a:t>Summarizer — long things become short things. </a:t>
            </a:r>
          </a:p>
          <a:p>
            <a:r>
              <a:rPr lang="en-US" dirty="0"/>
              <a:t>Brainstormer — titles, taglines, sermon angles. </a:t>
            </a:r>
          </a:p>
          <a:p>
            <a:r>
              <a:rPr lang="en-US" dirty="0"/>
              <a:t>Decider — compare options, pressure-test a choice. </a:t>
            </a:r>
          </a:p>
          <a:p>
            <a:r>
              <a:rPr lang="en-US" dirty="0"/>
              <a:t>Translator — simplify, explain, rephrase. </a:t>
            </a:r>
          </a:p>
          <a:p>
            <a:r>
              <a:rPr lang="en-US" dirty="0"/>
              <a:t>Researcher — smart Google, but with actual reasoning behind it. </a:t>
            </a:r>
          </a:p>
          <a:p>
            <a:r>
              <a:rPr lang="en-US" dirty="0"/>
              <a:t>Coach — pressure-test your thinking before you take it to a meeting. </a:t>
            </a:r>
          </a:p>
          <a:p>
            <a:endParaRPr lang="en-US" dirty="0"/>
          </a:p>
          <a:p>
            <a:r>
              <a:rPr lang="en-US" dirty="0"/>
              <a:t>And the orange one matters: personal stuff. </a:t>
            </a:r>
          </a:p>
          <a:p>
            <a:r>
              <a:rPr lang="en-US" dirty="0"/>
              <a:t>Vacation comparisons, recipes, life. This matters b/c</a:t>
            </a:r>
          </a:p>
          <a:p>
            <a:r>
              <a:rPr lang="en-US" dirty="0"/>
              <a:t>the people who get good at AI at work are the ones who use it constantly outside of work. </a:t>
            </a:r>
          </a:p>
          <a:p>
            <a:r>
              <a:rPr lang="en-US" dirty="0"/>
              <a:t>The reps compound.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I’m using Chat…</a:t>
            </a:r>
          </a:p>
          <a:p>
            <a:endParaRPr lang="en-US" dirty="0"/>
          </a:p>
          <a:p>
            <a:r>
              <a:rPr lang="en-US" dirty="0"/>
              <a:t>This is a real list. </a:t>
            </a:r>
          </a:p>
          <a:p>
            <a:r>
              <a:rPr lang="en-US" dirty="0"/>
              <a:t>Just this past week I drafted a one-page exec infographic for our leadership team. </a:t>
            </a:r>
          </a:p>
          <a:p>
            <a:r>
              <a:rPr lang="en-US" dirty="0"/>
              <a:t>We recently migrated from Google to </a:t>
            </a:r>
            <a:r>
              <a:rPr lang="en-US" dirty="0" err="1"/>
              <a:t>Microsft</a:t>
            </a:r>
            <a:r>
              <a:rPr lang="en-US" dirty="0"/>
              <a:t> and I had to turn to Claude to troubleshoot some issues. The struggle was real. And Claude even validated my frustration.</a:t>
            </a:r>
          </a:p>
          <a:p>
            <a:r>
              <a:rPr lang="en-US" dirty="0"/>
              <a:t>I compared translations of an internal acronym across teams.</a:t>
            </a:r>
          </a:p>
          <a:p>
            <a:r>
              <a:rPr lang="en-US" dirty="0"/>
              <a:t>I’ve used Claude to build a social media strategy because that is not my strong suit plus nobody got time for dat. </a:t>
            </a:r>
          </a:p>
          <a:p>
            <a:r>
              <a:rPr lang="en-US" dirty="0"/>
              <a:t>I set Chat to work researching a jacket to meet some very specific requirements. </a:t>
            </a:r>
          </a:p>
          <a:p>
            <a:endParaRPr lang="en-US" dirty="0"/>
          </a:p>
          <a:p>
            <a:r>
              <a:rPr lang="en-US" dirty="0"/>
              <a:t>Work and life, for me this tool has no separation.</a:t>
            </a:r>
          </a:p>
          <a:p>
            <a:endParaRPr lang="en-US" dirty="0"/>
          </a:p>
          <a:p>
            <a:r>
              <a:rPr lang="en-US" dirty="0"/>
              <a:t>But this is me. What about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your role on this grid. </a:t>
            </a:r>
          </a:p>
          <a:p>
            <a:endParaRPr lang="en-US" dirty="0"/>
          </a:p>
          <a:p>
            <a:r>
              <a:rPr lang="en-US" dirty="0"/>
              <a:t>If you're pastoral — you can tap into Chat for sermon angles, illustrations, cross-references. </a:t>
            </a:r>
          </a:p>
          <a:p>
            <a:r>
              <a:rPr lang="en-US" dirty="0"/>
              <a:t>Communications — use it for newsletter copy, captions, headlines. </a:t>
            </a:r>
          </a:p>
          <a:p>
            <a:endParaRPr lang="en-US" dirty="0"/>
          </a:p>
          <a:p>
            <a:r>
              <a:rPr lang="en-US" dirty="0"/>
              <a:t>I’m not </a:t>
            </a:r>
            <a:r>
              <a:rPr lang="en-US" dirty="0" err="1"/>
              <a:t>gonna</a:t>
            </a:r>
            <a:r>
              <a:rPr lang="en-US" dirty="0"/>
              <a:t> read all of these to you. You’ll get this slide deck afterwards.</a:t>
            </a:r>
          </a:p>
          <a:p>
            <a:r>
              <a:rPr lang="en-US" dirty="0"/>
              <a:t>But I did want to point to the bottom, left: </a:t>
            </a:r>
          </a:p>
          <a:p>
            <a:r>
              <a:rPr lang="en-US" dirty="0"/>
              <a:t>Volunteer coordination — recruitment language that doesn't feel like you’re begging? Srsly.</a:t>
            </a:r>
          </a:p>
          <a:p>
            <a:endParaRPr lang="en-US" dirty="0"/>
          </a:p>
          <a:p>
            <a:r>
              <a:rPr lang="en-US" dirty="0"/>
              <a:t>But these might already be things you’re trying. And I wanted to provide you with some ideas beyond the obvious…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Pastoral care prep.</a:t>
            </a:r>
            <a:r>
              <a:rPr lang="en-US" dirty="0"/>
              <a:t> A pastor types out (without names) what's going on with a family, and asks Claude to help think through follow-up, suggest scripture for a specific kind of grief, or check the tone of a hard email before sending it.</a:t>
            </a:r>
          </a:p>
          <a:p>
            <a:endParaRPr lang="en-US" dirty="0"/>
          </a:p>
          <a:p>
            <a:r>
              <a:rPr lang="en-US" b="1" dirty="0"/>
              <a:t>Turning a sermon into small group material.</a:t>
            </a:r>
            <a:r>
              <a:rPr lang="en-US" dirty="0"/>
              <a:t> Drop in the sermon, ask for discussion questions at three levels — for someone brand new to faith, for a regular attender, and for a group leader. Get a parent-and-kid version of the same passage for the family devotional that week.</a:t>
            </a:r>
          </a:p>
          <a:p>
            <a:endParaRPr lang="en-US" dirty="0"/>
          </a:p>
          <a:p>
            <a:r>
              <a:rPr lang="en-US" b="1" dirty="0"/>
              <a:t>"What does our handbook say?"</a:t>
            </a:r>
            <a:r>
              <a:rPr lang="en-US" dirty="0"/>
              <a:t> Load your bylaws, denominational handbook, and recent board minutes, then let staff just ask plain questions like "can a deacon also be on the finance committee?" instead of bothering the executive pastor.</a:t>
            </a:r>
          </a:p>
          <a:p>
            <a:endParaRPr lang="en-US" dirty="0"/>
          </a:p>
          <a:p>
            <a:r>
              <a:rPr lang="en-US" b="1" dirty="0"/>
              <a:t>Volunteer screening help.</a:t>
            </a:r>
            <a:r>
              <a:rPr lang="en-US" dirty="0"/>
              <a:t> Build interview questions and a list of red flags for kids or youth ministry roles, lined up with your child protection policy.</a:t>
            </a:r>
          </a:p>
          <a:p>
            <a:endParaRPr lang="en-US" dirty="0"/>
          </a:p>
          <a:p>
            <a:r>
              <a:rPr lang="en-US" b="1" dirty="0"/>
              <a:t>Translating between worlds.</a:t>
            </a:r>
            <a:r>
              <a:rPr lang="en-US" dirty="0"/>
              <a:t> Take something written in seminary language and rewrite it for a kids ministry volunteer who has zero theology background. Or the reverse — take a parent's casual concern and help articulate it for a board conversation.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Pick one. From this slide or the previous.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try it on Monday.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D27C-40F1-CC73-E0D2-ACAC6B0B1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E8781-F091-63D2-CB74-4ECBDC670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AE9A3-E260-4D1A-65C6-2EBBAE8829EE}"/>
              </a:ext>
            </a:extLst>
          </p:cNvPr>
          <p:cNvSpPr>
            <a:spLocks noGrp="1"/>
          </p:cNvSpPr>
          <p:nvPr>
            <p:ph type="body" idx="1"/>
          </p:nvPr>
        </p:nvSpPr>
        <p:spPr/>
        <p:txBody>
          <a:bodyPr/>
          <a:lstStyle/>
          <a:p>
            <a:r>
              <a:rPr lang="en-US" dirty="0"/>
              <a:t>Let’s talk about a few Chat best practices.</a:t>
            </a:r>
          </a:p>
          <a:p>
            <a:endParaRPr lang="en-US" dirty="0"/>
          </a:p>
          <a:p>
            <a:r>
              <a:rPr lang="en-US" dirty="0"/>
              <a:t>One — set up a Project for anything recurring. </a:t>
            </a:r>
          </a:p>
          <a:p>
            <a:r>
              <a:rPr lang="en-US" dirty="0"/>
              <a:t>A folder where Claude remembers </a:t>
            </a:r>
          </a:p>
          <a:p>
            <a:r>
              <a:rPr lang="en-US" dirty="0"/>
              <a:t>your background and reference materials. </a:t>
            </a:r>
          </a:p>
          <a:p>
            <a:r>
              <a:rPr lang="en-US" dirty="0"/>
              <a:t>Onboard once instead of re-explaining every Monday. </a:t>
            </a:r>
          </a:p>
          <a:p>
            <a:endParaRPr lang="en-US" dirty="0"/>
          </a:p>
          <a:p>
            <a:r>
              <a:rPr lang="en-US" dirty="0"/>
              <a:t>Two — connect the tools you already live in. </a:t>
            </a:r>
          </a:p>
          <a:p>
            <a:r>
              <a:rPr lang="en-US" dirty="0"/>
              <a:t>Email, calendar, </a:t>
            </a:r>
            <a:r>
              <a:rPr lang="en-US" dirty="0" err="1"/>
              <a:t>ChMS</a:t>
            </a:r>
            <a:r>
              <a:rPr lang="en-US" dirty="0"/>
              <a:t>. </a:t>
            </a:r>
          </a:p>
          <a:p>
            <a:r>
              <a:rPr lang="en-US" dirty="0"/>
              <a:t>Claude pulls from there directly, and you stop summarizing. </a:t>
            </a:r>
          </a:p>
          <a:p>
            <a:endParaRPr lang="en-US" dirty="0"/>
          </a:p>
          <a:p>
            <a:r>
              <a:rPr lang="en-US" dirty="0"/>
              <a:t>Three — save a Style for recurring voice. </a:t>
            </a:r>
          </a:p>
          <a:p>
            <a:r>
              <a:rPr lang="en-US" dirty="0"/>
              <a:t>Board updates, donor emails. Lock the tone once. </a:t>
            </a:r>
          </a:p>
          <a:p>
            <a:endParaRPr lang="en-US" dirty="0"/>
          </a:p>
          <a:p>
            <a:r>
              <a:rPr lang="en-US" dirty="0"/>
              <a:t>And then: treat the first answer like a first draft. Push back. Two turns beats one perfect prompt.</a:t>
            </a:r>
          </a:p>
        </p:txBody>
      </p:sp>
      <p:sp>
        <p:nvSpPr>
          <p:cNvPr id="4" name="Slide Number Placeholder 3">
            <a:extLst>
              <a:ext uri="{FF2B5EF4-FFF2-40B4-BE49-F238E27FC236}">
                <a16:creationId xmlns:a16="http://schemas.microsoft.com/office/drawing/2014/main" id="{70DF1B86-585C-6854-C3CA-7D29696E561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421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service announcement</a:t>
            </a:r>
          </a:p>
          <a:p>
            <a:r>
              <a:rPr lang="en-US" dirty="0"/>
              <a:t>Learning number two. </a:t>
            </a:r>
          </a:p>
          <a:p>
            <a:r>
              <a:rPr lang="en-US" dirty="0"/>
              <a:t>Show, don't describe. </a:t>
            </a:r>
          </a:p>
          <a:p>
            <a:endParaRPr lang="en-US" dirty="0"/>
          </a:p>
          <a:p>
            <a:r>
              <a:rPr lang="en-US" dirty="0"/>
              <a:t>You know how they say that a picture is worth a thousand words? </a:t>
            </a:r>
          </a:p>
          <a:p>
            <a:r>
              <a:rPr lang="en-US" dirty="0"/>
              <a:t>Well on some prompts, it’s also worth ten minutes of typing.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a:t>
            </a:r>
          </a:p>
          <a:p>
            <a:r>
              <a:rPr lang="en-US" dirty="0"/>
              <a:t>Stop trying to type out and describe what you're seeing.</a:t>
            </a:r>
          </a:p>
          <a:p>
            <a:r>
              <a:rPr lang="en-US" dirty="0"/>
              <a:t>Take the screenshot. </a:t>
            </a:r>
          </a:p>
          <a:p>
            <a:endParaRPr lang="en-US" dirty="0"/>
          </a:p>
          <a:p>
            <a:r>
              <a:rPr lang="en-US" dirty="0"/>
              <a:t>A question typed out can become ten minutes of back-and-forth where Claude is guessing what your screen looks like. You forget to tell it where something is located, etc.</a:t>
            </a:r>
          </a:p>
          <a:p>
            <a:r>
              <a:rPr lang="en-US" dirty="0"/>
              <a:t>The same question with a screenshot pasted in is thirty seconds. And that’s a generous estimate of time.</a:t>
            </a:r>
          </a:p>
          <a:p>
            <a:endParaRPr lang="en-US" dirty="0"/>
          </a:p>
          <a:p>
            <a:r>
              <a:rPr lang="en-US" dirty="0"/>
              <a:t>This works for error messages, weird or complex software, confusing forms, slides someone sent you. </a:t>
            </a:r>
          </a:p>
          <a:p>
            <a:r>
              <a:rPr lang="en-US" dirty="0"/>
              <a:t>It also works for recipes, signs in another language, and the dashboard light in your car you can't identify. </a:t>
            </a:r>
          </a:p>
          <a:p>
            <a:endParaRPr lang="en-US" dirty="0"/>
          </a:p>
          <a:p>
            <a:r>
              <a:rPr lang="en-US" dirty="0"/>
              <a:t>Stop typing.</a:t>
            </a:r>
          </a:p>
          <a:p>
            <a:r>
              <a:rPr lang="en-US" dirty="0"/>
              <a:t>Start screenshotting.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two. Cowork. </a:t>
            </a:r>
          </a:p>
          <a:p>
            <a:r>
              <a:rPr lang="en-US" dirty="0"/>
              <a:t>This is the one most people don't know exists, </a:t>
            </a:r>
          </a:p>
          <a:p>
            <a:r>
              <a:rPr lang="en-US" dirty="0"/>
              <a:t>and I’m even still kind of learning our relationship. </a:t>
            </a:r>
          </a:p>
          <a:p>
            <a:endParaRPr lang="en-US" dirty="0"/>
          </a:p>
          <a:p>
            <a:r>
              <a:rPr lang="en-US" dirty="0"/>
              <a:t>But </a:t>
            </a:r>
            <a:r>
              <a:rPr lang="en-US" dirty="0" err="1"/>
              <a:t>Cowork</a:t>
            </a:r>
            <a:r>
              <a:rPr lang="en-US" dirty="0"/>
              <a:t> is Claude with hands on your real files and apps.</a:t>
            </a:r>
          </a:p>
          <a:p>
            <a:r>
              <a:rPr lang="en-US" dirty="0"/>
              <a:t>And it can do the clicky clicky work for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Cowork</a:t>
            </a:r>
            <a:r>
              <a:rPr lang="en-US" dirty="0"/>
              <a:t> is best known for…</a:t>
            </a:r>
          </a:p>
          <a:p>
            <a:endParaRPr lang="en-US" dirty="0"/>
          </a:p>
          <a:p>
            <a:r>
              <a:rPr lang="en-US" dirty="0"/>
              <a:t>If we have any foodies in the house, Claude </a:t>
            </a:r>
            <a:r>
              <a:rPr lang="en-US" dirty="0" err="1"/>
              <a:t>Cowork</a:t>
            </a:r>
            <a:r>
              <a:rPr lang="en-US" dirty="0"/>
              <a:t> can get you everything from the Pantry to Chef’s Kiss!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Think of these as </a:t>
            </a:r>
            <a:r>
              <a:rPr lang="en-US" b="1" dirty="0"/>
              <a:t>building blocks you can mix and match</a:t>
            </a:r>
            <a:r>
              <a:rPr lang="en-US" dirty="0"/>
              <a:t>. </a:t>
            </a:r>
          </a:p>
          <a:p>
            <a:endParaRPr lang="en-US" dirty="0"/>
          </a:p>
          <a:p>
            <a:endParaRPr lang="en-US" dirty="0"/>
          </a:p>
          <a:p>
            <a:r>
              <a:rPr lang="en-US" dirty="0"/>
              <a:t>Standing recipes — live artifacts that re-cook themselves with fresh data. </a:t>
            </a:r>
          </a:p>
          <a:p>
            <a:r>
              <a:rPr lang="en-US" dirty="0"/>
              <a:t>Scheduled meals — weekly bulletin, monthly digest, on cadence, hands-off. </a:t>
            </a:r>
          </a:p>
          <a:p>
            <a:r>
              <a:rPr lang="en-US" dirty="0"/>
              <a:t>Connected pantry — Gmail, Calendar, Slack, your church stack. </a:t>
            </a:r>
          </a:p>
          <a:p>
            <a:r>
              <a:rPr lang="en-US" dirty="0"/>
              <a:t>And the orange one — plated dish — Word, PowerPoint, Excel, PDF. Done. Ready to ship. </a:t>
            </a:r>
          </a:p>
          <a:p>
            <a:endParaRPr lang="en-US" dirty="0"/>
          </a:p>
          <a:p>
            <a:r>
              <a:rPr lang="en-US" dirty="0" err="1"/>
              <a:t>Cowork</a:t>
            </a:r>
            <a:r>
              <a:rPr lang="en-US" dirty="0"/>
              <a:t> is the door between 'I asked AI a question' and 'AI delivered me a finished thing.’</a:t>
            </a:r>
          </a:p>
          <a:p>
            <a:endParaRPr lang="en-US" dirty="0"/>
          </a:p>
          <a:p>
            <a:endParaRPr lang="en-US" b="1" dirty="0"/>
          </a:p>
          <a:p>
            <a:r>
              <a:rPr lang="en-US" b="1" dirty="0"/>
              <a:t>Raw ingredients </a:t>
            </a:r>
            <a:r>
              <a:rPr lang="en-US" dirty="0"/>
              <a:t>— </a:t>
            </a:r>
            <a:br>
              <a:rPr lang="en-US" dirty="0"/>
            </a:br>
            <a:r>
              <a:rPr lang="en-US" dirty="0"/>
              <a:t>All the stuff you give Claude to work with.</a:t>
            </a:r>
          </a:p>
          <a:p>
            <a:r>
              <a:rPr lang="en-US" b="1" dirty="0"/>
              <a:t>In real life:</a:t>
            </a:r>
            <a:endParaRPr lang="en-US" dirty="0"/>
          </a:p>
          <a:p>
            <a:r>
              <a:rPr lang="en-US" dirty="0"/>
              <a:t>Sermon notes</a:t>
            </a:r>
          </a:p>
          <a:p>
            <a:r>
              <a:rPr lang="en-US" dirty="0"/>
              <a:t>Old emails</a:t>
            </a:r>
          </a:p>
          <a:p>
            <a:r>
              <a:rPr lang="en-US" dirty="0"/>
              <a:t>Church policies</a:t>
            </a:r>
          </a:p>
          <a:p>
            <a:r>
              <a:rPr lang="en-US" dirty="0"/>
              <a:t>Event details</a:t>
            </a:r>
          </a:p>
          <a:p>
            <a:r>
              <a:rPr lang="en-US" dirty="0"/>
              <a:t>Examples of how you like things written</a:t>
            </a:r>
          </a:p>
          <a:p>
            <a:endParaRPr lang="en-US" dirty="0"/>
          </a:p>
          <a:p>
            <a:r>
              <a:rPr lang="en-US" b="1" dirty="0"/>
              <a:t>You’re telling Claude:</a:t>
            </a:r>
            <a:r>
              <a:rPr lang="en-US" dirty="0"/>
              <a:t> </a:t>
            </a:r>
            <a:r>
              <a:rPr lang="en-US" i="1" dirty="0"/>
              <a:t>“Here’s everything you need—now help me make something out of it.”</a:t>
            </a:r>
            <a:r>
              <a:rPr lang="en-US" dirty="0"/>
              <a:t> </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Multi-step cooking</a:t>
            </a:r>
            <a:r>
              <a:rPr lang="en-US" dirty="0"/>
              <a:t> — You don’t expect perfection in one try—you go back and forth.</a:t>
            </a:r>
          </a:p>
          <a:p>
            <a:r>
              <a:rPr lang="en-US" b="1" dirty="0"/>
              <a:t>In real life:</a:t>
            </a:r>
            <a:endParaRPr lang="en-US" dirty="0"/>
          </a:p>
          <a:p>
            <a:r>
              <a:rPr lang="en-US" dirty="0"/>
              <a:t>Draft announcement → tweak tone → shorten → finalize</a:t>
            </a:r>
          </a:p>
          <a:p>
            <a:r>
              <a:rPr lang="en-US" dirty="0"/>
              <a:t>Write email → “make it warmer” → “make it clearer” → done</a:t>
            </a:r>
          </a:p>
          <a:p>
            <a:endParaRPr lang="en-US" b="1" dirty="0"/>
          </a:p>
          <a:p>
            <a:r>
              <a:rPr lang="en-US" b="1" dirty="0"/>
              <a:t>You’re telling Claude:</a:t>
            </a:r>
            <a:r>
              <a:rPr lang="en-US" dirty="0"/>
              <a:t> </a:t>
            </a:r>
            <a:r>
              <a:rPr lang="en-US" i="1" dirty="0"/>
              <a:t>“Let’s work on this together until it feels right.”</a:t>
            </a:r>
            <a:r>
              <a:rPr lang="en-US" dirty="0"/>
              <a:t> </a:t>
            </a:r>
            <a:br>
              <a:rPr lang="en-US" dirty="0"/>
            </a:br>
            <a:endParaRPr lang="en-US" dirty="0"/>
          </a:p>
          <a:p>
            <a:r>
              <a:rPr lang="en-US" b="1" dirty="0"/>
              <a:t>Standing recipes </a:t>
            </a:r>
            <a:r>
              <a:rPr lang="en-US" dirty="0"/>
              <a:t>—A repeatable way to create something—without starting from scratch every time.</a:t>
            </a:r>
          </a:p>
          <a:p>
            <a:r>
              <a:rPr lang="en-US" b="1" dirty="0"/>
              <a:t>In real life:</a:t>
            </a:r>
            <a:endParaRPr lang="en-US" dirty="0"/>
          </a:p>
          <a:p>
            <a:r>
              <a:rPr lang="en-US" dirty="0"/>
              <a:t>“Turn sermon into small group questions” (same format every week)</a:t>
            </a:r>
          </a:p>
          <a:p>
            <a:r>
              <a:rPr lang="en-US" dirty="0"/>
              <a:t>“Create volunteer email from event details”</a:t>
            </a:r>
          </a:p>
          <a:p>
            <a:r>
              <a:rPr lang="en-US" dirty="0"/>
              <a:t>You build it once, then reuse it over and over.</a:t>
            </a:r>
          </a:p>
          <a:p>
            <a:endParaRPr lang="en-US" b="1" dirty="0"/>
          </a:p>
          <a:p>
            <a:r>
              <a:rPr lang="en-US" b="1" dirty="0"/>
              <a:t>You’re telling Claude:</a:t>
            </a:r>
            <a:r>
              <a:rPr lang="en-US" dirty="0"/>
              <a:t> </a:t>
            </a:r>
            <a:r>
              <a:rPr lang="en-US" i="1" dirty="0"/>
              <a:t>“This is how we always do this—just plug in new info.”</a:t>
            </a:r>
            <a:r>
              <a:rPr lang="en-US" dirty="0"/>
              <a:t> </a:t>
            </a:r>
            <a:br>
              <a:rPr lang="en-US" dirty="0"/>
            </a:br>
            <a:endParaRPr lang="en-US" dirty="0"/>
          </a:p>
          <a:p>
            <a:r>
              <a:rPr lang="en-US" b="1" dirty="0"/>
              <a:t>Scheduled meals </a:t>
            </a:r>
            <a:r>
              <a:rPr lang="en-US" dirty="0"/>
              <a:t>—Things that happen automatically on a rhythm.</a:t>
            </a:r>
          </a:p>
          <a:p>
            <a:r>
              <a:rPr lang="en-US" b="1" dirty="0"/>
              <a:t>In real life:</a:t>
            </a:r>
            <a:endParaRPr lang="en-US" dirty="0"/>
          </a:p>
          <a:p>
            <a:r>
              <a:rPr lang="en-US" dirty="0"/>
              <a:t>Weekly bulletin gets generated every Thursday</a:t>
            </a:r>
          </a:p>
          <a:p>
            <a:r>
              <a:rPr lang="en-US" dirty="0"/>
              <a:t>Monthly ministry update email goes out automatically</a:t>
            </a:r>
          </a:p>
          <a:p>
            <a:r>
              <a:rPr lang="en-US" dirty="0"/>
              <a:t>You don’t have to remember—it just happens.</a:t>
            </a:r>
          </a:p>
          <a:p>
            <a:endParaRPr lang="en-US" b="1" dirty="0"/>
          </a:p>
          <a:p>
            <a:r>
              <a:rPr lang="en-US" b="1" dirty="0"/>
              <a:t>You’re telling Claude:</a:t>
            </a:r>
            <a:r>
              <a:rPr lang="en-US" dirty="0"/>
              <a:t> </a:t>
            </a:r>
            <a:r>
              <a:rPr lang="en-US" i="1" dirty="0"/>
              <a:t>“Set it and forget it.”</a:t>
            </a:r>
            <a:r>
              <a:rPr lang="en-US" dirty="0"/>
              <a:t> </a:t>
            </a:r>
            <a:br>
              <a:rPr lang="en-US" dirty="0"/>
            </a:br>
            <a:endParaRPr lang="en-US" dirty="0"/>
          </a:p>
          <a:p>
            <a:r>
              <a:rPr lang="en-US" b="1" dirty="0"/>
              <a:t>Connected pantry </a:t>
            </a:r>
            <a:r>
              <a:rPr lang="en-US" dirty="0"/>
              <a:t>—Claude can pull info from the tools you already use.</a:t>
            </a:r>
          </a:p>
          <a:p>
            <a:r>
              <a:rPr lang="en-US" b="1" dirty="0"/>
              <a:t>In real life:</a:t>
            </a:r>
            <a:endParaRPr lang="en-US" dirty="0"/>
          </a:p>
          <a:p>
            <a:r>
              <a:rPr lang="en-US" dirty="0"/>
              <a:t>Looks at your calendar → builds announcements</a:t>
            </a:r>
          </a:p>
          <a:p>
            <a:r>
              <a:rPr lang="en-US" dirty="0"/>
              <a:t>Pulls from Slack → summarizes team updates</a:t>
            </a:r>
          </a:p>
          <a:p>
            <a:r>
              <a:rPr lang="en-US" dirty="0"/>
              <a:t>Reads emails → drafts replies</a:t>
            </a:r>
          </a:p>
          <a:p>
            <a:endParaRPr lang="en-US" b="1" dirty="0"/>
          </a:p>
          <a:p>
            <a:r>
              <a:rPr lang="en-US" b="1" dirty="0"/>
              <a:t>You’re telling Claude:</a:t>
            </a:r>
            <a:r>
              <a:rPr lang="en-US" dirty="0"/>
              <a:t> </a:t>
            </a:r>
            <a:r>
              <a:rPr lang="en-US" i="1" dirty="0"/>
              <a:t>“Everything I need is already in the system—just use it.”</a:t>
            </a:r>
            <a:r>
              <a:rPr lang="en-US" dirty="0"/>
              <a:t> </a:t>
            </a:r>
            <a:br>
              <a:rPr lang="en-US" dirty="0"/>
            </a:br>
            <a:endParaRPr lang="en-US" dirty="0"/>
          </a:p>
          <a:p>
            <a:r>
              <a:rPr lang="en-US" b="1" dirty="0"/>
              <a:t>Plated dish (the orange one) </a:t>
            </a:r>
            <a:r>
              <a:rPr lang="en-US" dirty="0"/>
              <a:t>— Final, ready-to-use output.</a:t>
            </a:r>
          </a:p>
          <a:p>
            <a:r>
              <a:rPr lang="en-US" dirty="0"/>
              <a:t>Everything else is about: </a:t>
            </a:r>
            <a:r>
              <a:rPr lang="en-US" i="1" dirty="0"/>
              <a:t>How you work with Claude</a:t>
            </a:r>
            <a:endParaRPr lang="en-US" dirty="0"/>
          </a:p>
          <a:p>
            <a:r>
              <a:rPr lang="en-US" dirty="0"/>
              <a:t>“Plated dish” is about: </a:t>
            </a:r>
            <a:r>
              <a:rPr lang="en-US" i="1" dirty="0"/>
              <a:t>What you walk away with</a:t>
            </a:r>
            <a:endParaRPr lang="en-US" dirty="0"/>
          </a:p>
          <a:p>
            <a:endParaRPr lang="en-US" dirty="0"/>
          </a:p>
          <a:p>
            <a:r>
              <a:rPr lang="en-US" b="1" dirty="0"/>
              <a:t>In real life:</a:t>
            </a:r>
            <a:endParaRPr lang="en-US" dirty="0"/>
          </a:p>
          <a:p>
            <a:r>
              <a:rPr lang="en-US" dirty="0"/>
              <a:t>A polished PDF bulletin</a:t>
            </a:r>
          </a:p>
          <a:p>
            <a:r>
              <a:rPr lang="en-US" dirty="0"/>
              <a:t>A PowerPoint for Sunday</a:t>
            </a:r>
          </a:p>
          <a:p>
            <a:r>
              <a:rPr lang="en-US" dirty="0"/>
              <a:t>A ready-to-send email</a:t>
            </a:r>
          </a:p>
          <a:p>
            <a:r>
              <a:rPr lang="en-US" dirty="0"/>
              <a:t>A formatted Excel report</a:t>
            </a:r>
          </a:p>
          <a:p>
            <a:br>
              <a:rPr lang="en-US" dirty="0"/>
            </a:br>
            <a:endParaRPr lang="en-US" dirty="0"/>
          </a:p>
          <a:p>
            <a:r>
              <a:rPr lang="en-US" b="1" dirty="0"/>
              <a:t>Big picture (this is the “aha”)</a:t>
            </a:r>
          </a:p>
          <a:p>
            <a:r>
              <a:rPr lang="en-US" dirty="0"/>
              <a:t>Claude </a:t>
            </a:r>
            <a:r>
              <a:rPr lang="en-US" dirty="0" err="1"/>
              <a:t>Cowork</a:t>
            </a:r>
            <a:r>
              <a:rPr lang="en-US" dirty="0"/>
              <a:t> isn’t just:</a:t>
            </a:r>
          </a:p>
          <a:p>
            <a:r>
              <a:rPr lang="en-US" dirty="0"/>
              <a:t>“Ask a question, get an answer.”</a:t>
            </a:r>
          </a:p>
          <a:p>
            <a:r>
              <a:rPr lang="en-US" dirty="0"/>
              <a:t>It’s more like:</a:t>
            </a:r>
          </a:p>
          <a:p>
            <a:r>
              <a:rPr lang="en-US" dirty="0"/>
              <a:t>“Help me run this repeatable part of my job—from raw info → finished output—without starting over every time.”</a:t>
            </a:r>
          </a:p>
          <a:p>
            <a:endParaRPr lang="en-US" dirty="0"/>
          </a:p>
          <a:p>
            <a:r>
              <a:rPr lang="en-US" dirty="0"/>
              <a:t>Because this is the real promise of </a:t>
            </a:r>
            <a:r>
              <a:rPr lang="en-US" dirty="0" err="1"/>
              <a:t>Cowork</a:t>
            </a:r>
            <a:r>
              <a:rPr lang="en-US" dirty="0"/>
              <a:t>:</a:t>
            </a:r>
          </a:p>
          <a:p>
            <a:r>
              <a:rPr lang="en-US" dirty="0"/>
              <a:t>Not just “ideas” or “drafts”…</a:t>
            </a:r>
            <a:br>
              <a:rPr lang="en-US" dirty="0"/>
            </a:br>
            <a:r>
              <a:rPr lang="en-US" dirty="0"/>
              <a:t>but </a:t>
            </a:r>
            <a:r>
              <a:rPr lang="en-US" b="1" dirty="0"/>
              <a:t>finished, usable work</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how I’m using </a:t>
            </a:r>
            <a:r>
              <a:rPr lang="en-US" dirty="0" err="1"/>
              <a:t>Cowork</a:t>
            </a:r>
            <a:r>
              <a:rPr lang="en-US" dirty="0"/>
              <a:t>…</a:t>
            </a:r>
          </a:p>
          <a:p>
            <a:endParaRPr lang="en-US" dirty="0"/>
          </a:p>
          <a:p>
            <a:r>
              <a:rPr lang="en-US" dirty="0"/>
              <a:t>Another real life list.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Created executive infographic deck</a:t>
            </a:r>
            <a:r>
              <a:rPr lang="en-US" dirty="0">
                <a:effectLst/>
              </a:rPr>
              <a:t> — Built one-page roadmap &amp; status infographics in Google Slides, iterated through palette/layout refinements with brand-aligned styling.</a:t>
            </a:r>
          </a:p>
          <a:p>
            <a:r>
              <a:rPr lang="en-US" dirty="0"/>
              <a:t>You might think – why Trace, didn’t you have Chat do that? Yep. And it wasn’t up to snuff, so I moved to </a:t>
            </a:r>
            <a:r>
              <a:rPr lang="en-US" dirty="0" err="1"/>
              <a:t>cowork</a:t>
            </a:r>
            <a:r>
              <a:rPr lang="en-US" dirty="0"/>
              <a:t> and gave it another go.</a:t>
            </a:r>
          </a:p>
          <a:p>
            <a:r>
              <a:rPr lang="en-US" dirty="0"/>
              <a:t>Case in point, this was Chat’s version.</a:t>
            </a:r>
          </a:p>
          <a:p>
            <a:r>
              <a:rPr lang="en-US" dirty="0"/>
              <a:t>This was </a:t>
            </a:r>
            <a:r>
              <a:rPr lang="en-US" dirty="0" err="1"/>
              <a:t>Cowork’s</a:t>
            </a:r>
            <a:r>
              <a:rPr lang="en-US" dirty="0"/>
              <a:t>. </a:t>
            </a:r>
          </a:p>
          <a:p>
            <a:r>
              <a:rPr lang="en-US" dirty="0"/>
              <a:t>Same prompt.</a:t>
            </a:r>
          </a:p>
          <a:p>
            <a:endParaRPr lang="en-US" dirty="0"/>
          </a:p>
          <a:p>
            <a:r>
              <a:rPr lang="en-US" b="1" dirty="0"/>
              <a:t>Created and scheduled a Zoom webinar for the AI &amp; Ministry series</a:t>
            </a:r>
            <a:r>
              <a:rPr lang="en-US" dirty="0"/>
              <a:t> — Built the March "Claude </a:t>
            </a:r>
            <a:r>
              <a:rPr lang="en-US" dirty="0" err="1"/>
              <a:t>Cowork</a:t>
            </a:r>
            <a:r>
              <a:rPr lang="en-US" dirty="0"/>
              <a:t> Co-Working Session" end-to-end: meeting summary doc, Zoom webinar setup (template, time, title, panelists), Google Drive folder, and a formatted Word agenda with 6-demo schedule and pre-webinar checklist.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Scheduled </a:t>
            </a:r>
            <a:r>
              <a:rPr lang="en-US" b="1" dirty="0" err="1">
                <a:effectLst/>
              </a:rPr>
              <a:t>Innov</a:t>
            </a:r>
            <a:r>
              <a:rPr lang="en-US" b="1" dirty="0">
                <a:effectLst/>
              </a:rPr>
              <a:t> Team webinar run-through</a:t>
            </a:r>
            <a:r>
              <a:rPr lang="en-US" dirty="0">
                <a:effectLst/>
              </a:rPr>
              <a:t> — checked availability for 5 attendees, found a shared opening on Thu 3/5 at 9–10 AM, created the Google Calendar event, and sent invitations with a Meet link.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spc="-24" dirty="0">
                <a:solidFill>
                  <a:srgbClr val="14161C"/>
                </a:solidFill>
                <a:latin typeface="Montserrat" pitchFamily="34" charset="0"/>
                <a:ea typeface="Montserrat" pitchFamily="34" charset="-122"/>
                <a:cs typeface="Montserrat" pitchFamily="34" charset="-120"/>
              </a:rPr>
              <a:t>Setup end-to-end social media system for Kingdom Creations.</a:t>
            </a:r>
            <a:endParaRPr lang="en-US" sz="1200" dirty="0"/>
          </a:p>
          <a:p>
            <a:r>
              <a:rPr lang="en-US" dirty="0"/>
              <a:t>This one is the perfect example of Complaining to AI. </a:t>
            </a:r>
          </a:p>
          <a:p>
            <a:r>
              <a:rPr lang="en-US" dirty="0"/>
              <a:t>And technically, I complained to Chat and basically said, I do not have time to deal with our social channels.</a:t>
            </a:r>
          </a:p>
          <a:p>
            <a:r>
              <a:rPr lang="en-US" dirty="0"/>
              <a:t>What can you do to help?</a:t>
            </a:r>
          </a:p>
          <a:p>
            <a:r>
              <a:rPr lang="en-US" dirty="0"/>
              <a:t>And it told me that </a:t>
            </a:r>
            <a:r>
              <a:rPr lang="en-US" dirty="0" err="1"/>
              <a:t>Cowork</a:t>
            </a:r>
            <a:r>
              <a:rPr lang="en-US" dirty="0"/>
              <a:t> was the best resource for this.</a:t>
            </a:r>
          </a:p>
          <a:p>
            <a:endParaRPr lang="en-US" dirty="0"/>
          </a:p>
          <a:p>
            <a:r>
              <a:rPr lang="en-US" dirty="0"/>
              <a:t>So I went to </a:t>
            </a:r>
            <a:r>
              <a:rPr lang="en-US" dirty="0" err="1"/>
              <a:t>Cowork</a:t>
            </a:r>
            <a:r>
              <a:rPr lang="en-US" dirty="0"/>
              <a:t>, pasted in what Chat and I had already been talking about and it took things from there.</a:t>
            </a:r>
          </a:p>
          <a:p>
            <a:endParaRPr lang="en-US" dirty="0"/>
          </a:p>
          <a:p>
            <a:r>
              <a:rPr lang="en-US" b="1" dirty="0"/>
              <a:t>Generates a full month of social content on the 15th</a:t>
            </a:r>
            <a:r>
              <a:rPr lang="en-US" dirty="0"/>
              <a:t> — Pulls latest webinar transcript + searches for recent AI news relevant to churches, produces posts across all three content tiers (webinar-sourced, news/industry, evergreen/engagement), maps each to a Canva template, and saves as a .docx to the outputs folder</a:t>
            </a:r>
          </a:p>
          <a:p>
            <a:endParaRPr lang="en-US" dirty="0"/>
          </a:p>
          <a:p>
            <a:r>
              <a:rPr lang="en-US" b="1" dirty="0"/>
              <a:t>Delivers next week's social posts every Friday at 9am</a:t>
            </a:r>
            <a:r>
              <a:rPr lang="en-US" dirty="0"/>
              <a:t> — Pulls the 2 upcoming posts from the content calendar with exact copy, template assignments, graphic text, and platform labels ready to paste into Canva Content Planner. AND! It takes my Canva templates, makes a copy of them, plops in the text for the new posts, and saves those new graphics in a dedicated folder in Canva!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25BC-1962-4485-6AC8-1B5C33B29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7F4DA-4693-1C59-D7E1-606648579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40267-76DD-393A-29BD-54414846D8E7}"/>
              </a:ext>
            </a:extLst>
          </p:cNvPr>
          <p:cNvSpPr>
            <a:spLocks noGrp="1"/>
          </p:cNvSpPr>
          <p:nvPr>
            <p:ph type="body" idx="1"/>
          </p:nvPr>
        </p:nvSpPr>
        <p:spPr/>
        <p:txBody>
          <a:bodyPr/>
          <a:lstStyle/>
          <a:p>
            <a:r>
              <a:rPr lang="en-US" dirty="0"/>
              <a:t>Show schedules</a:t>
            </a:r>
          </a:p>
          <a:p>
            <a:r>
              <a:rPr lang="en-US" dirty="0"/>
              <a:t>Run Friday</a:t>
            </a:r>
          </a:p>
          <a:p>
            <a:r>
              <a:rPr lang="en-US" dirty="0"/>
              <a:t>Run X </a:t>
            </a:r>
          </a:p>
        </p:txBody>
      </p:sp>
      <p:sp>
        <p:nvSpPr>
          <p:cNvPr id="4" name="Slide Number Placeholder 3">
            <a:extLst>
              <a:ext uri="{FF2B5EF4-FFF2-40B4-BE49-F238E27FC236}">
                <a16:creationId xmlns:a16="http://schemas.microsoft.com/office/drawing/2014/main" id="{A496A61A-A427-6372-8BAA-D628DD1DF68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867482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B561-9A21-DE73-D28B-CD0003B1A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7088F-C595-9EAE-78DA-8EE203CA5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36F56-5CD7-59C8-1B08-51458CD0BC84}"/>
              </a:ext>
            </a:extLst>
          </p:cNvPr>
          <p:cNvSpPr>
            <a:spLocks noGrp="1"/>
          </p:cNvSpPr>
          <p:nvPr>
            <p:ph type="body" idx="1"/>
          </p:nvPr>
        </p:nvSpPr>
        <p:spPr/>
        <p:txBody>
          <a:bodyPr/>
          <a:lstStyle/>
          <a:p>
            <a:r>
              <a:rPr lang="en-US" dirty="0"/>
              <a:t>Alright, it’s Your turn again. </a:t>
            </a:r>
          </a:p>
          <a:p>
            <a:endParaRPr lang="en-US" dirty="0"/>
          </a:p>
          <a:p>
            <a:r>
              <a:rPr lang="en-US" dirty="0"/>
              <a:t>Five examples that you can handoff to </a:t>
            </a:r>
            <a:r>
              <a:rPr lang="en-US" dirty="0" err="1"/>
              <a:t>Cowork</a:t>
            </a:r>
            <a:r>
              <a:rPr lang="en-US" dirty="0"/>
              <a:t>. </a:t>
            </a:r>
          </a:p>
          <a:p>
            <a:r>
              <a:rPr lang="en-US" dirty="0"/>
              <a:t>Which one wrecks YOUR Friday afternoon?</a:t>
            </a:r>
          </a:p>
          <a:p>
            <a:endParaRPr lang="en-US" dirty="0"/>
          </a:p>
          <a:p>
            <a:r>
              <a:rPr lang="en-US" b="1" dirty="0"/>
              <a:t>One — annual giving statements. </a:t>
            </a:r>
          </a:p>
          <a:p>
            <a:r>
              <a:rPr lang="en-US" dirty="0"/>
              <a:t>Hand it last year's, this year's data, and the address list. It finds changed addresses, returned envelopes, duplicates — before the mailing goes out. </a:t>
            </a:r>
          </a:p>
          <a:p>
            <a:endParaRPr lang="en-US" dirty="0"/>
          </a:p>
          <a:p>
            <a:r>
              <a:rPr lang="en-US" b="1" dirty="0"/>
              <a:t>Two — camp registration sanity check. </a:t>
            </a:r>
          </a:p>
          <a:p>
            <a:r>
              <a:rPr lang="en-US" dirty="0"/>
              <a:t>Fourteen versions of medical forms, allergies on sticky notes, emergency contacts in PDF screenshots, all into one clean spreadsheet your camp nurse actually wants. </a:t>
            </a:r>
          </a:p>
          <a:p>
            <a:endParaRPr lang="en-US" dirty="0"/>
          </a:p>
          <a:p>
            <a:r>
              <a:rPr lang="en-US" b="1" dirty="0"/>
              <a:t>Three — VBS prep. </a:t>
            </a:r>
          </a:p>
          <a:p>
            <a:r>
              <a:rPr lang="en-US" dirty="0"/>
              <a:t>A folder of curriculum PDFs, theme art, last year's leftovers. It de-dupes, renames by day and station, prints a packet for each volunteer role. </a:t>
            </a:r>
          </a:p>
          <a:p>
            <a:endParaRPr lang="en-US" dirty="0"/>
          </a:p>
          <a:p>
            <a:r>
              <a:rPr lang="en-US" b="1" dirty="0"/>
              <a:t>Four — funeral planning binder. </a:t>
            </a:r>
          </a:p>
          <a:p>
            <a:r>
              <a:rPr lang="en-US" dirty="0"/>
              <a:t>Member info plus your funeral template, drafts the order of service, family contact sheet, facilities request. Leaves the human parts to the pastor. </a:t>
            </a:r>
          </a:p>
          <a:p>
            <a:endParaRPr lang="en-US" dirty="0"/>
          </a:p>
          <a:p>
            <a:r>
              <a:rPr lang="en-US" b="1" dirty="0"/>
              <a:t>Five — board packet prep. </a:t>
            </a:r>
          </a:p>
          <a:p>
            <a:r>
              <a:rPr lang="en-US" dirty="0"/>
              <a:t>Walks your finance and ministry folders. QuickBooks exports, ministry leader updates, last meeting's minutes into the quarterly narrative. None of these are aspirational.</a:t>
            </a:r>
          </a:p>
          <a:p>
            <a:endParaRPr lang="en-US" dirty="0"/>
          </a:p>
        </p:txBody>
      </p:sp>
      <p:sp>
        <p:nvSpPr>
          <p:cNvPr id="4" name="Slide Number Placeholder 3">
            <a:extLst>
              <a:ext uri="{FF2B5EF4-FFF2-40B4-BE49-F238E27FC236}">
                <a16:creationId xmlns:a16="http://schemas.microsoft.com/office/drawing/2014/main" id="{DC183DE5-5F9F-C1D1-2AAB-ABDB8AF68E6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8120532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62E6-C487-9B7B-6C57-FA8C27C25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75AC6-C616-E1E6-6ADA-BA0C8614E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94283-1E56-E350-4C29-06AAA0296215}"/>
              </a:ext>
            </a:extLst>
          </p:cNvPr>
          <p:cNvSpPr>
            <a:spLocks noGrp="1"/>
          </p:cNvSpPr>
          <p:nvPr>
            <p:ph type="body" idx="1"/>
          </p:nvPr>
        </p:nvSpPr>
        <p:spPr/>
        <p:txBody>
          <a:bodyPr/>
          <a:lstStyle/>
          <a:p>
            <a:r>
              <a:rPr lang="en-US" dirty="0"/>
              <a:t>A few more ideas for you, but displayed as time saved.</a:t>
            </a:r>
          </a:p>
          <a:p>
            <a:r>
              <a:rPr lang="en-US" dirty="0"/>
              <a:t>But you get the idea. </a:t>
            </a:r>
          </a:p>
          <a:p>
            <a:endParaRPr lang="en-US" dirty="0"/>
          </a:p>
        </p:txBody>
      </p:sp>
      <p:sp>
        <p:nvSpPr>
          <p:cNvPr id="4" name="Slide Number Placeholder 3">
            <a:extLst>
              <a:ext uri="{FF2B5EF4-FFF2-40B4-BE49-F238E27FC236}">
                <a16:creationId xmlns:a16="http://schemas.microsoft.com/office/drawing/2014/main" id="{5C2ADBB1-84E8-EEAA-533A-F417FC31E882}"/>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47538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27A2-A2C0-808D-47B3-1D6F07521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9E1C4-F1DD-EF49-93B7-EE6034BC5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CA3DE-EB0A-6DB6-D69E-C320FFE512AA}"/>
              </a:ext>
            </a:extLst>
          </p:cNvPr>
          <p:cNvSpPr>
            <a:spLocks noGrp="1"/>
          </p:cNvSpPr>
          <p:nvPr>
            <p:ph type="body" idx="1"/>
          </p:nvPr>
        </p:nvSpPr>
        <p:spPr/>
        <p:txBody>
          <a:bodyPr/>
          <a:lstStyle/>
          <a:p>
            <a:r>
              <a:rPr lang="en-US" dirty="0"/>
              <a:t>B/c </a:t>
            </a:r>
            <a:r>
              <a:rPr lang="en-US" dirty="0" err="1"/>
              <a:t>Cowork</a:t>
            </a:r>
            <a:r>
              <a:rPr lang="en-US" dirty="0"/>
              <a:t> has hands on real things, it’s wise to set the rules of engagement at the outset.</a:t>
            </a:r>
          </a:p>
          <a:p>
            <a:r>
              <a:rPr lang="en-US" dirty="0"/>
              <a:t>Rules first. Run second.</a:t>
            </a:r>
          </a:p>
          <a:p>
            <a:endParaRPr lang="en-US" dirty="0"/>
          </a:p>
          <a:p>
            <a:r>
              <a:rPr lang="en-US" b="1" dirty="0"/>
              <a:t>One — make it ask before doing anything. </a:t>
            </a:r>
          </a:p>
          <a:p>
            <a:r>
              <a:rPr lang="en-US" dirty="0"/>
              <a:t>Watch it the first few times. Once you trust a kind of task, let it run on its own. </a:t>
            </a:r>
          </a:p>
          <a:p>
            <a:endParaRPr lang="en-US" dirty="0"/>
          </a:p>
          <a:p>
            <a:r>
              <a:rPr lang="en-US" b="1" dirty="0"/>
              <a:t>Two — point at a folder, not your whole computer. </a:t>
            </a:r>
          </a:p>
          <a:p>
            <a:r>
              <a:rPr lang="en-US" dirty="0"/>
              <a:t>The camp registrations folder. Not your desktop. </a:t>
            </a:r>
          </a:p>
          <a:p>
            <a:r>
              <a:rPr lang="en-US" dirty="0"/>
              <a:t>Give it boundaries for a Specific scope, specific job. </a:t>
            </a:r>
          </a:p>
          <a:p>
            <a:endParaRPr lang="en-US" dirty="0"/>
          </a:p>
          <a:p>
            <a:r>
              <a:rPr lang="en-US" b="1" dirty="0"/>
              <a:t>Three — save the recurring stuff as a scheduled task. </a:t>
            </a:r>
          </a:p>
          <a:p>
            <a:r>
              <a:rPr lang="en-US" dirty="0"/>
              <a:t>Set it once. It runs every week. </a:t>
            </a:r>
          </a:p>
          <a:p>
            <a:endParaRPr lang="en-US" dirty="0"/>
          </a:p>
          <a:p>
            <a:r>
              <a:rPr lang="en-US" b="1" dirty="0"/>
              <a:t>Four — keep your laptop awake while it's working. </a:t>
            </a:r>
          </a:p>
          <a:p>
            <a:r>
              <a:rPr lang="en-US" dirty="0"/>
              <a:t>If your computer goes to sleep, so does it. </a:t>
            </a:r>
          </a:p>
          <a:p>
            <a:r>
              <a:rPr lang="en-US" dirty="0"/>
              <a:t>Plug in before you kick off a long job.</a:t>
            </a:r>
          </a:p>
        </p:txBody>
      </p:sp>
      <p:sp>
        <p:nvSpPr>
          <p:cNvPr id="4" name="Slide Number Placeholder 3">
            <a:extLst>
              <a:ext uri="{FF2B5EF4-FFF2-40B4-BE49-F238E27FC236}">
                <a16:creationId xmlns:a16="http://schemas.microsoft.com/office/drawing/2014/main" id="{E73B0B52-F8D7-0B28-61CE-52204C30CDA6}"/>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7155634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number three. Three words that fix bad output, and almost nobody uses them: ask me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trying to prompt-engineer the perfect first message. </a:t>
            </a:r>
          </a:p>
          <a:p>
            <a:r>
              <a:rPr lang="en-US" dirty="0"/>
              <a:t>Let AI run the interview. </a:t>
            </a:r>
          </a:p>
          <a:p>
            <a:endParaRPr lang="en-US" dirty="0"/>
          </a:p>
          <a:p>
            <a:r>
              <a:rPr lang="en-US" dirty="0"/>
              <a:t>Step one — you ask something vague. 'Help me plan an outreach event.’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and this is the only step that matters — you tell it 'ask me questions before you answer.’ </a:t>
            </a:r>
          </a:p>
          <a:p>
            <a:endParaRPr lang="en-US" dirty="0"/>
          </a:p>
          <a:p>
            <a:r>
              <a:rPr lang="en-US" dirty="0"/>
              <a:t>Step two — So now it asks back. 'Who's the audience? What’s the budget? Do you need attendees to register? Will you be offering child-care?’ </a:t>
            </a:r>
          </a:p>
          <a:p>
            <a:endParaRPr lang="en-US" dirty="0"/>
          </a:p>
          <a:p>
            <a:r>
              <a:rPr lang="en-US" dirty="0"/>
              <a:t>Step three — You respond to the interview questions – there might even be a little more back and forth – and then AI basically prompts its own self to return a solid plan for you. </a:t>
            </a:r>
          </a:p>
          <a:p>
            <a:r>
              <a:rPr lang="en-US" dirty="0"/>
              <a:t>The reason this works: the model is better at asking the right questions than you are at answering them upfront.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p>
          <a:p>
            <a:r>
              <a:rPr lang="en-US" dirty="0"/>
              <a:t>Claude Code. </a:t>
            </a:r>
          </a:p>
          <a:p>
            <a:endParaRPr lang="en-US" dirty="0"/>
          </a:p>
          <a:p>
            <a:r>
              <a:rPr lang="en-US" dirty="0"/>
              <a:t>And remember — this is not about writing code. This isn’t even about developing or building necessarily.</a:t>
            </a:r>
          </a:p>
          <a:p>
            <a:endParaRPr lang="en-US" dirty="0"/>
          </a:p>
          <a:p>
            <a:r>
              <a:rPr lang="en-US" dirty="0"/>
              <a:t>This is about Claude knowing you, your team, your tools, your conventions, your routines, and acting on them. </a:t>
            </a:r>
          </a:p>
          <a:p>
            <a:r>
              <a:rPr lang="en-US" dirty="0"/>
              <a:t>So don’t tune out, b/c this is part has changed the way that I work.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is best known for…</a:t>
            </a:r>
          </a:p>
          <a:p>
            <a:endParaRPr lang="en-US" dirty="0"/>
          </a:p>
          <a:p>
            <a:r>
              <a:rPr lang="en-US" b="1" dirty="0"/>
              <a:t>Recurring multi-step work</a:t>
            </a:r>
            <a:r>
              <a:rPr lang="en-US" dirty="0"/>
              <a:t> — encode what you do every week. </a:t>
            </a:r>
          </a:p>
          <a:p>
            <a:r>
              <a:rPr lang="en-US" dirty="0"/>
              <a:t>This is about taking something you do the same way over and over—and capturing </a:t>
            </a:r>
            <a:r>
              <a:rPr lang="en-US" i="1" dirty="0"/>
              <a:t>all the steps</a:t>
            </a:r>
            <a:r>
              <a:rPr lang="en-US" dirty="0"/>
              <a:t> so you don’t have to redo them manually every time.</a:t>
            </a:r>
          </a:p>
          <a:p>
            <a:endParaRPr lang="en-US" dirty="0"/>
          </a:p>
          <a:p>
            <a:r>
              <a:rPr lang="en-US" dirty="0"/>
              <a:t>Not just “write an email,” but: gather info → format it → write it → prep it to send.</a:t>
            </a:r>
            <a:br>
              <a:rPr lang="en-US" dirty="0"/>
            </a:br>
            <a:endParaRPr lang="en-US" dirty="0"/>
          </a:p>
          <a:p>
            <a:r>
              <a:rPr lang="en-US" b="1" dirty="0"/>
              <a:t>How it differs from </a:t>
            </a:r>
            <a:r>
              <a:rPr lang="en-US" b="1" dirty="0" err="1"/>
              <a:t>Cowork</a:t>
            </a:r>
            <a:r>
              <a:rPr lang="en-US" b="1" dirty="0"/>
              <a:t>:</a:t>
            </a:r>
            <a:br>
              <a:rPr lang="en-US" dirty="0"/>
            </a:br>
            <a:r>
              <a:rPr lang="en-US" dirty="0" err="1"/>
              <a:t>Cowork</a:t>
            </a:r>
            <a:r>
              <a:rPr lang="en-US" dirty="0"/>
              <a:t> helps you </a:t>
            </a:r>
            <a:r>
              <a:rPr lang="en-US" i="1" dirty="0"/>
              <a:t>redo it each time with help</a:t>
            </a:r>
            <a:r>
              <a:rPr lang="en-US" dirty="0"/>
              <a:t>.</a:t>
            </a:r>
            <a:br>
              <a:rPr lang="en-US" dirty="0"/>
            </a:br>
            <a:r>
              <a:rPr lang="en-US" dirty="0"/>
              <a:t>Code lets you </a:t>
            </a:r>
            <a:r>
              <a:rPr lang="en-US" i="1" dirty="0"/>
              <a:t>stop redoing it altogether</a:t>
            </a:r>
            <a:r>
              <a:rPr lang="en-US" dirty="0"/>
              <a:t>. </a:t>
            </a:r>
          </a:p>
          <a:p>
            <a:endParaRPr lang="en-US" dirty="0"/>
          </a:p>
          <a:p>
            <a:r>
              <a:rPr lang="en-US" b="1" dirty="0"/>
              <a:t>Heavy memory</a:t>
            </a:r>
            <a:r>
              <a:rPr lang="en-US" dirty="0"/>
              <a:t> — it knows your team, your tools, your conventions. </a:t>
            </a:r>
          </a:p>
          <a:p>
            <a:r>
              <a:rPr lang="en-US" dirty="0"/>
              <a:t>It remembers how your team works—your tone, your formats, your preferences—so you don’t have to keep reminding it.</a:t>
            </a:r>
          </a:p>
          <a:p>
            <a:endParaRPr lang="en-US" dirty="0"/>
          </a:p>
          <a:p>
            <a:r>
              <a:rPr lang="en-US" dirty="0"/>
              <a:t>Like a staff member who already knows “how we do things here.”</a:t>
            </a:r>
          </a:p>
          <a:p>
            <a:endParaRPr lang="en-US" dirty="0"/>
          </a:p>
          <a:p>
            <a:r>
              <a:rPr lang="en-US" b="1" dirty="0"/>
              <a:t>How it differs from </a:t>
            </a:r>
            <a:r>
              <a:rPr lang="en-US" b="1" dirty="0" err="1"/>
              <a:t>Cowork</a:t>
            </a:r>
            <a:r>
              <a:rPr lang="en-US" b="1" dirty="0"/>
              <a:t>:</a:t>
            </a:r>
            <a:br>
              <a:rPr lang="en-US" dirty="0"/>
            </a:br>
            <a:r>
              <a:rPr lang="en-US" dirty="0" err="1"/>
              <a:t>Cowork</a:t>
            </a:r>
            <a:r>
              <a:rPr lang="en-US" dirty="0"/>
              <a:t> can remember context in a conversation.</a:t>
            </a:r>
            <a:br>
              <a:rPr lang="en-US" dirty="0"/>
            </a:br>
            <a:r>
              <a:rPr lang="en-US" dirty="0"/>
              <a:t>Code is built to </a:t>
            </a:r>
            <a:r>
              <a:rPr lang="en-US" i="1" dirty="0"/>
              <a:t>rely on that memory consistently across repeat tasks</a:t>
            </a:r>
            <a:r>
              <a:rPr lang="en-US" dirty="0"/>
              <a:t>.</a:t>
            </a:r>
          </a:p>
          <a:p>
            <a:endParaRPr lang="en-US" dirty="0"/>
          </a:p>
          <a:p>
            <a:r>
              <a:rPr lang="en-US" b="1" dirty="0"/>
              <a:t>Custom commands</a:t>
            </a:r>
            <a:r>
              <a:rPr lang="en-US" dirty="0"/>
              <a:t> — slash-pr, slash-mtg, slash-rmm — one phrase replaces a workflow. </a:t>
            </a:r>
          </a:p>
          <a:p>
            <a:r>
              <a:rPr lang="en-US" dirty="0"/>
              <a:t>You create a short phrase that triggers a whole routine.</a:t>
            </a:r>
          </a:p>
          <a:p>
            <a:endParaRPr lang="en-US" dirty="0"/>
          </a:p>
          <a:p>
            <a:r>
              <a:rPr lang="en-US" dirty="0"/>
              <a:t>Instead of explaining: “summarize this, format it, pull action items…”</a:t>
            </a:r>
            <a:br>
              <a:rPr lang="en-US" dirty="0"/>
            </a:br>
            <a:r>
              <a:rPr lang="en-US" dirty="0"/>
              <a:t>You just say: </a:t>
            </a:r>
            <a:r>
              <a:rPr lang="en-US" sz="1200" kern="1200" dirty="0">
                <a:solidFill>
                  <a:schemeClr val="tx1"/>
                </a:solidFill>
                <a:latin typeface="+mn-lt"/>
                <a:ea typeface="+mn-ea"/>
                <a:cs typeface="+mn-cs"/>
              </a:rPr>
              <a:t>/mtg</a:t>
            </a:r>
            <a:endParaRPr lang="en-US" dirty="0"/>
          </a:p>
          <a:p>
            <a:endParaRPr lang="en-US" dirty="0"/>
          </a:p>
          <a:p>
            <a:r>
              <a:rPr lang="en-US" b="1" dirty="0"/>
              <a:t>How it differs from </a:t>
            </a:r>
            <a:r>
              <a:rPr lang="en-US" b="1" dirty="0" err="1"/>
              <a:t>Cowork</a:t>
            </a:r>
            <a:r>
              <a:rPr lang="en-US" b="1" dirty="0"/>
              <a:t>:</a:t>
            </a:r>
            <a:br>
              <a:rPr lang="en-US" dirty="0"/>
            </a:br>
            <a:r>
              <a:rPr lang="en-US" dirty="0" err="1"/>
              <a:t>Cowork</a:t>
            </a:r>
            <a:r>
              <a:rPr lang="en-US" dirty="0"/>
              <a:t> = you explain the task again (even if loosely).</a:t>
            </a:r>
            <a:br>
              <a:rPr lang="en-US" dirty="0"/>
            </a:br>
            <a:r>
              <a:rPr lang="en-US" dirty="0"/>
              <a:t>Code = you </a:t>
            </a:r>
            <a:r>
              <a:rPr lang="en-US" i="1" dirty="0"/>
              <a:t>name the task once</a:t>
            </a:r>
            <a:r>
              <a:rPr lang="en-US" dirty="0"/>
              <a:t>, then reuse it instantly.</a:t>
            </a:r>
          </a:p>
          <a:p>
            <a:endParaRPr lang="en-US" dirty="0"/>
          </a:p>
          <a:p>
            <a:r>
              <a:rPr lang="en-US" b="1" dirty="0"/>
              <a:t>Direct connections</a:t>
            </a:r>
            <a:r>
              <a:rPr lang="en-US" dirty="0"/>
              <a:t> — multiple systems in one flow, not copy-paste between five tabs. </a:t>
            </a:r>
          </a:p>
          <a:p>
            <a:r>
              <a:rPr lang="en-US" dirty="0"/>
              <a:t>It can grab what it needs from different places without you bouncing between tabs.</a:t>
            </a:r>
          </a:p>
          <a:p>
            <a:endParaRPr lang="en-US" dirty="0"/>
          </a:p>
          <a:p>
            <a:r>
              <a:rPr lang="en-US" dirty="0"/>
              <a:t>Calendar, docs, spreadsheets—all feeding into one flow.</a:t>
            </a:r>
          </a:p>
          <a:p>
            <a:endParaRPr lang="en-US" dirty="0"/>
          </a:p>
          <a:p>
            <a:r>
              <a:rPr lang="en-US" b="1" dirty="0"/>
              <a:t>How it differs from </a:t>
            </a:r>
            <a:r>
              <a:rPr lang="en-US" b="1" dirty="0" err="1"/>
              <a:t>Cowork</a:t>
            </a:r>
            <a:r>
              <a:rPr lang="en-US" b="1" dirty="0"/>
              <a:t>:</a:t>
            </a:r>
            <a:br>
              <a:rPr lang="en-US" dirty="0"/>
            </a:br>
            <a:r>
              <a:rPr lang="en-US" dirty="0" err="1"/>
              <a:t>Cowork</a:t>
            </a:r>
            <a:r>
              <a:rPr lang="en-US" dirty="0"/>
              <a:t> usually works with what you </a:t>
            </a:r>
            <a:r>
              <a:rPr lang="en-US" i="1" dirty="0"/>
              <a:t>paste in</a:t>
            </a:r>
            <a:r>
              <a:rPr lang="en-US" dirty="0"/>
              <a:t>.</a:t>
            </a:r>
            <a:br>
              <a:rPr lang="en-US" dirty="0"/>
            </a:br>
            <a:r>
              <a:rPr lang="en-US" dirty="0"/>
              <a:t>Code can </a:t>
            </a:r>
            <a:r>
              <a:rPr lang="en-US" i="1" dirty="0"/>
              <a:t>go get the inputs itself</a:t>
            </a:r>
            <a:r>
              <a:rPr lang="en-US" dirty="0"/>
              <a:t> as part of the workflow.</a:t>
            </a:r>
          </a:p>
          <a:p>
            <a:endParaRPr lang="en-US" dirty="0"/>
          </a:p>
          <a:p>
            <a:r>
              <a:rPr lang="en-US" b="1" dirty="0"/>
              <a:t>Outgrowing tabs</a:t>
            </a:r>
            <a:r>
              <a:rPr lang="en-US" dirty="0"/>
              <a:t> — that's the moment you know you're ready for door three. </a:t>
            </a:r>
          </a:p>
          <a:p>
            <a:r>
              <a:rPr lang="en-US" dirty="0"/>
              <a:t>This is the moment when your workflow becomes messy—too many tabs, too much copy/paste, too many steps to keep straight.</a:t>
            </a:r>
          </a:p>
          <a:p>
            <a:endParaRPr lang="en-US" dirty="0"/>
          </a:p>
          <a:p>
            <a:r>
              <a:rPr lang="en-US" dirty="0"/>
              <a:t>That frustration is the signal something should be streamlined.</a:t>
            </a:r>
          </a:p>
          <a:p>
            <a:endParaRPr lang="en-US" dirty="0"/>
          </a:p>
          <a:p>
            <a:r>
              <a:rPr lang="en-US" b="1" dirty="0"/>
              <a:t>How it differs from </a:t>
            </a:r>
            <a:r>
              <a:rPr lang="en-US" b="1" dirty="0" err="1"/>
              <a:t>Cowork</a:t>
            </a:r>
            <a:r>
              <a:rPr lang="en-US" b="1" dirty="0"/>
              <a:t>:</a:t>
            </a:r>
            <a:br>
              <a:rPr lang="en-US" dirty="0"/>
            </a:br>
            <a:r>
              <a:rPr lang="en-US" dirty="0" err="1"/>
              <a:t>Cowork</a:t>
            </a:r>
            <a:r>
              <a:rPr lang="en-US" dirty="0"/>
              <a:t> still lives comfortably in that tab-heavy world.</a:t>
            </a:r>
            <a:br>
              <a:rPr lang="en-US" dirty="0"/>
            </a:br>
            <a:r>
              <a:rPr lang="en-US" dirty="0"/>
              <a:t>Code exists </a:t>
            </a:r>
            <a:r>
              <a:rPr lang="en-US" i="1" dirty="0"/>
              <a:t>because</a:t>
            </a:r>
            <a:r>
              <a:rPr lang="en-US" dirty="0"/>
              <a:t> that way of working stops scaling.</a:t>
            </a:r>
          </a:p>
          <a:p>
            <a:endParaRPr lang="en-US" dirty="0"/>
          </a:p>
          <a:p>
            <a:r>
              <a:rPr lang="en-US" b="1" dirty="0"/>
              <a:t>And boundless</a:t>
            </a:r>
            <a:r>
              <a:rPr lang="en-US" dirty="0"/>
              <a:t> — if you can describe what you want, you can build a slash-command for it. Code is the door for power users, but the bar to entry is way lower than people think.</a:t>
            </a:r>
            <a:br>
              <a:rPr lang="en-US" dirty="0"/>
            </a:br>
            <a:r>
              <a:rPr lang="en-US" dirty="0"/>
              <a:t>If you can clearly describe a repeatable process, you can turn it into a reusable command.</a:t>
            </a:r>
          </a:p>
          <a:p>
            <a:endParaRPr lang="en-US" dirty="0"/>
          </a:p>
          <a:p>
            <a:r>
              <a:rPr lang="en-US" dirty="0"/>
              <a:t>You’re not limited to pre-built features—you define your own.</a:t>
            </a:r>
          </a:p>
          <a:p>
            <a:endParaRPr lang="en-US" dirty="0"/>
          </a:p>
          <a:p>
            <a:r>
              <a:rPr lang="en-US" b="1" dirty="0"/>
              <a:t>How it differs from </a:t>
            </a:r>
            <a:r>
              <a:rPr lang="en-US" b="1" dirty="0" err="1"/>
              <a:t>Cowork</a:t>
            </a:r>
            <a:r>
              <a:rPr lang="en-US" b="1" dirty="0"/>
              <a:t>:</a:t>
            </a:r>
            <a:br>
              <a:rPr lang="en-US" dirty="0"/>
            </a:br>
            <a:r>
              <a:rPr lang="en-US" dirty="0" err="1"/>
              <a:t>Cowork</a:t>
            </a:r>
            <a:r>
              <a:rPr lang="en-US" dirty="0"/>
              <a:t> is open-ended help in the moment.</a:t>
            </a:r>
            <a:br>
              <a:rPr lang="en-US" dirty="0"/>
            </a:br>
            <a:r>
              <a:rPr lang="en-US" dirty="0"/>
              <a:t>Code turns that open-ended thinking into </a:t>
            </a:r>
            <a:r>
              <a:rPr lang="en-US" i="1" dirty="0"/>
              <a:t>something fixed you can reuse</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4063A-D839-7D29-DB3E-5605F64C1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889A8-970F-9644-A89E-51C8651AD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CD5DB-2183-3770-7E4E-987065A80E21}"/>
              </a:ext>
            </a:extLst>
          </p:cNvPr>
          <p:cNvSpPr>
            <a:spLocks noGrp="1"/>
          </p:cNvSpPr>
          <p:nvPr>
            <p:ph type="body" idx="1"/>
          </p:nvPr>
        </p:nvSpPr>
        <p:spPr/>
        <p:txBody>
          <a:bodyPr/>
          <a:lstStyle/>
          <a:p>
            <a:r>
              <a:rPr lang="en-US" dirty="0"/>
              <a:t>I think it might be time to make an introduction.</a:t>
            </a:r>
          </a:p>
          <a:p>
            <a:endParaRPr lang="en-US" dirty="0"/>
          </a:p>
          <a:p>
            <a:r>
              <a:rPr lang="en-US" dirty="0"/>
              <a:t>Meet Claudia. </a:t>
            </a:r>
          </a:p>
          <a:p>
            <a:r>
              <a:rPr lang="en-US" dirty="0"/>
              <a:t>As you can see I work with all guys, and so I needed another female to keep me sane. So I renamed by Claude Code – Claudia.</a:t>
            </a:r>
          </a:p>
          <a:p>
            <a:endParaRPr lang="en-US" dirty="0"/>
          </a:p>
          <a:p>
            <a:r>
              <a:rPr lang="en-US" dirty="0"/>
              <a:t>And she has become my absolute right hand. </a:t>
            </a:r>
          </a:p>
        </p:txBody>
      </p:sp>
      <p:sp>
        <p:nvSpPr>
          <p:cNvPr id="4" name="Slide Number Placeholder 3">
            <a:extLst>
              <a:ext uri="{FF2B5EF4-FFF2-40B4-BE49-F238E27FC236}">
                <a16:creationId xmlns:a16="http://schemas.microsoft.com/office/drawing/2014/main" id="{B29415D0-4433-A927-42AE-2BD3195E1C9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760170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A1FDA-821F-5FBA-0B4B-8D70BBB98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5202E-4085-9E5F-CBC8-15DE1D072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E967B-82AC-CD8A-AEE3-AB0DC51E012C}"/>
              </a:ext>
            </a:extLst>
          </p:cNvPr>
          <p:cNvSpPr>
            <a:spLocks noGrp="1"/>
          </p:cNvSpPr>
          <p:nvPr>
            <p:ph type="body" idx="1"/>
          </p:nvPr>
        </p:nvSpPr>
        <p:spPr/>
        <p:txBody>
          <a:bodyPr/>
          <a:lstStyle/>
          <a:p>
            <a:r>
              <a:rPr lang="en-US" dirty="0"/>
              <a:t>I asked Claudia to tell you in her own words what she does for me.</a:t>
            </a:r>
          </a:p>
          <a:p>
            <a:endParaRPr lang="en-US" dirty="0"/>
          </a:p>
          <a:p>
            <a:r>
              <a:rPr lang="en-US" dirty="0"/>
              <a:t>B/c I work with dev dudes, a lot of our meetings will result in me creating tickets for them to work through.</a:t>
            </a:r>
          </a:p>
          <a:p>
            <a:r>
              <a:rPr lang="en-US" dirty="0"/>
              <a:t>And so I have taught Claudia – yes I taught her! I’ll show you that in a bit – how to take my meeting transcripts and process them the way I need them – with action steps and then suggesting any of these tickets or issues that she might need to write.</a:t>
            </a:r>
          </a:p>
          <a:p>
            <a:endParaRPr lang="en-US" dirty="0"/>
          </a:p>
          <a:p>
            <a:r>
              <a:rPr lang="en-US" dirty="0"/>
              <a:t>Those tickets get added to GitHub as issues – you can see that second bullet right there.</a:t>
            </a:r>
          </a:p>
          <a:p>
            <a:r>
              <a:rPr lang="en-US" dirty="0"/>
              <a:t>She helps me to manage how many issues get put into a single week, or assigned to everyone fairly. And by fairly, I mean that Tripp gets most of them right now. Hi Tripp. </a:t>
            </a:r>
          </a:p>
          <a:p>
            <a:endParaRPr lang="en-US" dirty="0"/>
          </a:p>
          <a:p>
            <a:r>
              <a:rPr lang="en-US" dirty="0"/>
              <a:t>She’s the epicenter of my work ecosystem by being the hub that connects all of my tools together. Fathom for my meetings, turn into issues that go to GitHub. Playwright will test GitHub issues in the software itself. Like – she’s unreplaceable at this point.</a:t>
            </a:r>
          </a:p>
        </p:txBody>
      </p:sp>
      <p:sp>
        <p:nvSpPr>
          <p:cNvPr id="4" name="Slide Number Placeholder 3">
            <a:extLst>
              <a:ext uri="{FF2B5EF4-FFF2-40B4-BE49-F238E27FC236}">
                <a16:creationId xmlns:a16="http://schemas.microsoft.com/office/drawing/2014/main" id="{CFD0EFE6-0293-1404-8530-FF8F6F9EA9C3}"/>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5937602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556E7-7B8B-610C-4265-006D85980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31C93-51FD-7128-092E-B109A8E42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C7D22-E040-1719-F15E-7E40711DCDA0}"/>
              </a:ext>
            </a:extLst>
          </p:cNvPr>
          <p:cNvSpPr>
            <a:spLocks noGrp="1"/>
          </p:cNvSpPr>
          <p:nvPr>
            <p:ph type="body" idx="1"/>
          </p:nvPr>
        </p:nvSpPr>
        <p:spPr/>
        <p:txBody>
          <a:bodyPr/>
          <a:lstStyle/>
          <a:p>
            <a:r>
              <a:rPr lang="en-US" dirty="0"/>
              <a:t>And I don’t want to scare you, but this is how she talks to me.</a:t>
            </a:r>
          </a:p>
          <a:p>
            <a:endParaRPr lang="en-US" dirty="0"/>
          </a:p>
          <a:p>
            <a:r>
              <a:rPr lang="en-US" dirty="0"/>
              <a:t>I run Claudia through my Terminal app.</a:t>
            </a:r>
          </a:p>
          <a:p>
            <a:r>
              <a:rPr lang="en-US" dirty="0"/>
              <a:t>Never would I have ever thought I’d say that.</a:t>
            </a:r>
          </a:p>
          <a:p>
            <a:endParaRPr lang="en-US" dirty="0"/>
          </a:p>
          <a:p>
            <a:r>
              <a:rPr lang="en-US" dirty="0"/>
              <a:t>But one day, Chris got on a call with me and said, ok share your screen. Now launch your terminal.</a:t>
            </a:r>
          </a:p>
          <a:p>
            <a:r>
              <a:rPr lang="en-US" dirty="0"/>
              <a:t>I didn’t even know this was coming! and I’m like – where’s my terminal??</a:t>
            </a:r>
          </a:p>
          <a:p>
            <a:endParaRPr lang="en-US" dirty="0"/>
          </a:p>
          <a:p>
            <a:r>
              <a:rPr lang="en-US" dirty="0"/>
              <a:t>But he got me started using Claude Code through terminal, and I think it wasn’t even the next day, I think it was a few hours in of me just working along and I messaged him and said my life is changed.</a:t>
            </a:r>
          </a:p>
        </p:txBody>
      </p:sp>
      <p:sp>
        <p:nvSpPr>
          <p:cNvPr id="4" name="Slide Number Placeholder 3">
            <a:extLst>
              <a:ext uri="{FF2B5EF4-FFF2-40B4-BE49-F238E27FC236}">
                <a16:creationId xmlns:a16="http://schemas.microsoft.com/office/drawing/2014/main" id="{0787CB67-EE7A-50D9-646C-40597CBCBA89}"/>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716317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CF40-02C7-B8A9-2C54-697E1E1E2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BFE15-D897-A30F-AB8A-75888563F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964E4-5A5B-8736-F7AA-B3653516D7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how I’m using Claude Code…</a:t>
            </a:r>
          </a:p>
          <a:p>
            <a:endParaRPr lang="en-US" b="1" dirty="0"/>
          </a:p>
          <a:p>
            <a:r>
              <a:rPr lang="en-US" b="1" dirty="0"/>
              <a:t>work</a:t>
            </a:r>
            <a:br>
              <a:rPr lang="en-US" dirty="0"/>
            </a:br>
            <a:r>
              <a:rPr lang="en-US" dirty="0"/>
              <a:t>Runs meeting workflow end-to-end — pulls Fathom transcripts, drafts summaries + action items, posts to Notion after approval.</a:t>
            </a:r>
          </a:p>
          <a:p>
            <a:br>
              <a:rPr lang="en-US" dirty="0"/>
            </a:br>
            <a:endParaRPr lang="en-US" dirty="0"/>
          </a:p>
          <a:p>
            <a:r>
              <a:rPr lang="en-US" b="1" dirty="0"/>
              <a:t>work</a:t>
            </a:r>
            <a:br>
              <a:rPr lang="en-US" dirty="0"/>
            </a:br>
            <a:r>
              <a:rPr lang="en-US" dirty="0"/>
              <a:t>Manages GitHub issues + sprints — drafts tickets, assigns work, sets sizes, updates board status.</a:t>
            </a:r>
          </a:p>
          <a:p>
            <a:br>
              <a:rPr lang="en-US" dirty="0"/>
            </a:br>
            <a:endParaRPr lang="en-US" dirty="0"/>
          </a:p>
          <a:p>
            <a:r>
              <a:rPr lang="en-US" b="1" dirty="0"/>
              <a:t>work</a:t>
            </a:r>
            <a:br>
              <a:rPr lang="en-US" dirty="0"/>
            </a:br>
            <a:r>
              <a:rPr lang="en-US" dirty="0"/>
              <a:t>Bridges tools — Fathom, Notion, GitHub, Jira, Playwright — no more copy-pasting between tabs.</a:t>
            </a:r>
          </a:p>
          <a:p>
            <a:br>
              <a:rPr lang="en-US" dirty="0"/>
            </a:br>
            <a:endParaRPr lang="en-US" dirty="0"/>
          </a:p>
          <a:p>
            <a:r>
              <a:rPr lang="en-US" b="1" dirty="0"/>
              <a:t>work</a:t>
            </a:r>
            <a:br>
              <a:rPr lang="en-US" dirty="0"/>
            </a:br>
            <a:r>
              <a:rPr lang="en-US" dirty="0"/>
              <a:t>Tests staging like QA — runs Simplify + Inkwell through Playwright across user roles.</a:t>
            </a:r>
          </a:p>
          <a:p>
            <a:br>
              <a:rPr lang="en-US" dirty="0"/>
            </a:br>
            <a:endParaRPr lang="en-US" dirty="0"/>
          </a:p>
          <a:p>
            <a:r>
              <a:rPr lang="en-US" b="1" dirty="0"/>
              <a:t>work</a:t>
            </a:r>
            <a:br>
              <a:rPr lang="en-US" dirty="0"/>
            </a:br>
            <a:r>
              <a:rPr lang="en-US" dirty="0"/>
              <a:t>Builds working prototypes — turns ideas into clickable demos, not just docs.</a:t>
            </a:r>
          </a:p>
          <a:p>
            <a:pPr marL="285750" indent="-285750">
              <a:buFont typeface="Arial" panose="020B0604020202020204" pitchFamily="34" charset="0"/>
              <a:buChar char="•"/>
            </a:pPr>
            <a:endParaRPr lang="en-US" sz="1200" dirty="0">
              <a:solidFill>
                <a:srgbClr val="C9CBD1"/>
              </a:solidFill>
              <a:latin typeface="Inter" pitchFamily="34" charset="0"/>
              <a:ea typeface="Inter" pitchFamily="34" charset="-122"/>
            </a:endParaRPr>
          </a:p>
        </p:txBody>
      </p:sp>
      <p:sp>
        <p:nvSpPr>
          <p:cNvPr id="4" name="Slide Number Placeholder 3">
            <a:extLst>
              <a:ext uri="{FF2B5EF4-FFF2-40B4-BE49-F238E27FC236}">
                <a16:creationId xmlns:a16="http://schemas.microsoft.com/office/drawing/2014/main" id="{14146E5D-1730-F599-6D66-F95BD09AE670}"/>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3090908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78954-CE5F-818B-2759-A9D8E15B1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2E5C8-E868-F6CA-703B-9DF1CC899F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A6FD4-1645-8AB0-28BB-FEDBEE1FA5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Claudia acts as a central orchestrator, seamlessly integrating with and driving various tools and platforms.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From document creation to project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can – she! She can streamline complex workflows from a single command.</a:t>
            </a:r>
          </a:p>
          <a:p>
            <a:endParaRPr lang="en-US" dirty="0"/>
          </a:p>
          <a:p>
            <a:r>
              <a:rPr lang="en-US" dirty="0"/>
              <a:t>She is the epicenter of my work ecosystem.</a:t>
            </a:r>
          </a:p>
        </p:txBody>
      </p:sp>
      <p:sp>
        <p:nvSpPr>
          <p:cNvPr id="4" name="Slide Number Placeholder 3">
            <a:extLst>
              <a:ext uri="{FF2B5EF4-FFF2-40B4-BE49-F238E27FC236}">
                <a16:creationId xmlns:a16="http://schemas.microsoft.com/office/drawing/2014/main" id="{97C158DC-9E9A-570E-D1D0-06C0DDCA7CFF}"/>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8548859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number four. Rinse, repeat? There's a command for that.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times equals a command. </a:t>
            </a:r>
          </a:p>
          <a:p>
            <a:r>
              <a:rPr lang="en-US" dirty="0"/>
              <a:t>If you've explained the same task to Claude more than twice, you've found a command you need to build. </a:t>
            </a:r>
          </a:p>
          <a:p>
            <a:r>
              <a:rPr lang="en-US" dirty="0"/>
              <a:t>And by build, I mean let Claude Code build it.</a:t>
            </a:r>
          </a:p>
          <a:p>
            <a:endParaRPr lang="en-US" dirty="0"/>
          </a:p>
          <a:p>
            <a:r>
              <a:rPr lang="en-US" dirty="0"/>
              <a:t>My example: weekly Release Management Meeting prep.</a:t>
            </a:r>
          </a:p>
          <a:p>
            <a:r>
              <a:rPr lang="en-US" dirty="0"/>
              <a:t>I have to write a status report every Thursday about what is shipping out for the week. Nobody hands me a tidy list. But I do have a form I have to fill out.</a:t>
            </a:r>
          </a:p>
          <a:p>
            <a:endParaRPr lang="en-US" dirty="0"/>
          </a:p>
          <a:p>
            <a:r>
              <a:rPr lang="en-US" dirty="0"/>
              <a:t>I have to go find the current "batch" of work.</a:t>
            </a:r>
          </a:p>
          <a:p>
            <a:r>
              <a:rPr lang="en-US" dirty="0"/>
              <a:t>Scroll through a long list of completed work to find the last "we shipped it" moment — that’s my starting line for this week.</a:t>
            </a:r>
          </a:p>
          <a:p>
            <a:r>
              <a:rPr lang="en-US" dirty="0"/>
              <a:t>Pull every piece of work that crossed the finish line since then. Could be 5 items, could be 25. Each one lives on its own record somewhere.</a:t>
            </a:r>
          </a:p>
          <a:p>
            <a:r>
              <a:rPr lang="en-US" dirty="0"/>
              <a:t>Then I get to open every single one. For each, you have to look up:</a:t>
            </a:r>
          </a:p>
          <a:p>
            <a:r>
              <a:rPr lang="en-US" dirty="0"/>
              <a:t>  - What it was actually called (and rewrite it to fit a small box on a form)</a:t>
            </a:r>
          </a:p>
          <a:p>
            <a:r>
              <a:rPr lang="en-US" dirty="0"/>
              <a:t>  - What kind of work it was — a bug fix? A new feature? A small tweak?</a:t>
            </a:r>
          </a:p>
          <a:p>
            <a:r>
              <a:rPr lang="en-US" dirty="0"/>
              <a:t>  - Whether it's truly done, or still being tested, or stuck somewhere</a:t>
            </a:r>
          </a:p>
          <a:p>
            <a:r>
              <a:rPr lang="en-US" dirty="0"/>
              <a:t>Throw out the items that aren't ready yet. Some are still in progress and don't belong on this week's form. Others do. You have to judge each one.</a:t>
            </a:r>
          </a:p>
          <a:p>
            <a:r>
              <a:rPr lang="en-US" dirty="0"/>
              <a:t>Watch for three special situations that change what the form says:</a:t>
            </a:r>
          </a:p>
          <a:p>
            <a:r>
              <a:rPr lang="en-US" dirty="0"/>
              <a:t>  - Did anything in this batch fix a security issue? (Different paperwork.)</a:t>
            </a:r>
          </a:p>
          <a:p>
            <a:r>
              <a:rPr lang="en-US" dirty="0"/>
              <a:t>  - Was anything an emergency fix? (Extra verbiage required.)</a:t>
            </a:r>
          </a:p>
          <a:p>
            <a:r>
              <a:rPr lang="en-US" dirty="0"/>
              <a:t>  - Is this launching a brand-new named feature? (Triggers a whole different conversation.)</a:t>
            </a:r>
          </a:p>
          <a:p>
            <a:r>
              <a:rPr lang="en-US" dirty="0"/>
              <a:t>That's the research half — and it's all just to know what to write down. You haven't filled out a single cell yet.</a:t>
            </a:r>
          </a:p>
          <a:p>
            <a:endParaRPr lang="en-US" dirty="0"/>
          </a:p>
          <a:p>
            <a:r>
              <a:rPr lang="en-US" dirty="0"/>
              <a:t>So I asked Claudia to build /rmm. </a:t>
            </a:r>
          </a:p>
          <a:p>
            <a:r>
              <a:rPr lang="en-US" dirty="0"/>
              <a:t>Now I type three letters.  - ok with the slash technically it’s four characters.</a:t>
            </a:r>
          </a:p>
          <a:p>
            <a:endParaRPr lang="en-US" dirty="0"/>
          </a:p>
          <a:p>
            <a:r>
              <a:rPr lang="en-US" dirty="0"/>
              <a:t>Claudia does it all in about thirty seconds. </a:t>
            </a:r>
          </a:p>
          <a:p>
            <a:r>
              <a:rPr lang="en-US" dirty="0"/>
              <a:t>Pull sprint data. Match it against a strict Excel checklist. Fills out all the requirements. </a:t>
            </a:r>
          </a:p>
          <a:p>
            <a:r>
              <a:rPr lang="en-US" dirty="0"/>
              <a:t>I review. </a:t>
            </a:r>
          </a:p>
          <a:p>
            <a:r>
              <a:rPr lang="en-US" dirty="0"/>
              <a:t>Creates the right Jira ticket. And then pushes it onto the board.</a:t>
            </a:r>
          </a:p>
          <a:p>
            <a:r>
              <a:rPr lang="en-US" dirty="0"/>
              <a:t>Done. </a:t>
            </a:r>
          </a:p>
          <a:p>
            <a:endParaRPr lang="en-US" dirty="0"/>
          </a:p>
          <a:p>
            <a:r>
              <a:rPr lang="en-US" dirty="0"/>
              <a:t>Thirty minutes a week became thirty seconds a week. </a:t>
            </a:r>
          </a:p>
          <a:p>
            <a:r>
              <a:rPr lang="en-US" dirty="0"/>
              <a:t>That's twenty-six hours back this year, from one command.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talk about some of my weekly and favorite commands.</a:t>
            </a:r>
          </a:p>
          <a:p>
            <a:endParaRPr lang="en-US" dirty="0"/>
          </a:p>
          <a:p>
            <a:r>
              <a:rPr lang="en-US" sz="1200" b="1" kern="1200" dirty="0">
                <a:solidFill>
                  <a:schemeClr val="tx1"/>
                </a:solidFill>
                <a:effectLst/>
                <a:latin typeface="+mn-lt"/>
                <a:ea typeface="+mn-ea"/>
                <a:cs typeface="+mn-cs"/>
              </a:rPr>
              <a:t>/pr</a:t>
            </a:r>
          </a:p>
          <a:p>
            <a:r>
              <a:rPr lang="en-US" sz="1200" kern="1200" dirty="0">
                <a:solidFill>
                  <a:schemeClr val="tx1"/>
                </a:solidFill>
                <a:effectLst/>
                <a:latin typeface="+mn-lt"/>
                <a:ea typeface="+mn-ea"/>
                <a:cs typeface="+mn-cs"/>
              </a:rPr>
              <a:t>"Package this work up so a teammate can review it”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/validate</a:t>
            </a:r>
          </a:p>
          <a:p>
            <a:r>
              <a:rPr lang="en-US" sz="1200" kern="1200" dirty="0">
                <a:solidFill>
                  <a:schemeClr val="tx1"/>
                </a:solidFill>
                <a:effectLst/>
                <a:latin typeface="+mn-lt"/>
                <a:ea typeface="+mn-ea"/>
                <a:cs typeface="+mn-cs"/>
              </a:rPr>
              <a:t>"Walk me through testing this feature one piece at a time”</a:t>
            </a:r>
          </a:p>
          <a:p>
            <a:r>
              <a:rPr lang="en-US" sz="1200" kern="1200" dirty="0">
                <a:solidFill>
                  <a:schemeClr val="tx1"/>
                </a:solidFill>
                <a:effectLst/>
                <a:latin typeface="+mn-lt"/>
                <a:ea typeface="+mn-ea"/>
                <a:cs typeface="+mn-cs"/>
              </a:rPr>
              <a:t>It points the test site at the right version of the work, walks me through each requirement one at a time, captures my feedback, and drafts the response back to the developer.</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/mtg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Pulls the recording from Fathom, drafts the summary, lists action items by owner (tagged by who suggested them — the AI, me, or the meeting tool), flags ones that should become tickets, and waits for my approval before writing anything down. Will write the tickets to the GitHub repo and then also add any action steps that I want in Notion.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Almost half of the weekly savings comes from this meeting workflow alone.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issuenext</a:t>
            </a:r>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something needs to become tracked work — a bug, an enhancement, a new feature — there's a surprising amount of ceremony.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But Claudia can handle it. She drafts the whole thing, checks for duplicates across open and closed work, suggests every piece of metadata, and only writes it down once I approve.</a:t>
            </a:r>
          </a:p>
          <a:p>
            <a:r>
              <a:rPr lang="en-US" dirty="0"/>
              <a:t>And the next part of the title tells me which repo it’s going to write it to. I’ve given it specific guardrails and nuances.</a:t>
            </a:r>
          </a:p>
          <a:p>
            <a:endParaRPr lang="en-US" dirty="0"/>
          </a:p>
          <a:p>
            <a:r>
              <a:rPr lang="en-US" b="1" dirty="0"/>
              <a:t>/</a:t>
            </a:r>
            <a:r>
              <a:rPr lang="en-US" b="1" dirty="0" err="1"/>
              <a:t>nextdev</a:t>
            </a:r>
            <a:endParaRPr lang="en-US" b="1" dirty="0"/>
          </a:p>
          <a:p>
            <a:r>
              <a:rPr lang="en-US" dirty="0"/>
              <a:t>"Switch the test website to the version I want to look at”</a:t>
            </a:r>
          </a:p>
          <a:p>
            <a:r>
              <a:rPr lang="en-US" dirty="0"/>
              <a:t>And that incorporates another tool in our ecosystem – </a:t>
            </a:r>
            <a:r>
              <a:rPr lang="en-US" dirty="0" err="1"/>
              <a:t>Vercel</a:t>
            </a:r>
            <a:r>
              <a:rPr lang="en-US" dirty="0"/>
              <a:t>. So now I don’t have to log into </a:t>
            </a:r>
            <a:r>
              <a:rPr lang="en-US" dirty="0" err="1"/>
              <a:t>Vercel</a:t>
            </a:r>
            <a:r>
              <a:rPr lang="en-US" dirty="0"/>
              <a:t> every time and change the </a:t>
            </a:r>
            <a:r>
              <a:rPr lang="en-US" dirty="0" err="1"/>
              <a:t>url</a:t>
            </a:r>
            <a:r>
              <a:rPr lang="en-US" dirty="0"/>
              <a:t> every time I want to test a new issue.</a:t>
            </a:r>
          </a:p>
          <a:p>
            <a:endParaRPr lang="en-US" dirty="0"/>
          </a:p>
          <a:p>
            <a:r>
              <a:rPr lang="en-US" b="1" dirty="0"/>
              <a:t>/</a:t>
            </a:r>
            <a:r>
              <a:rPr lang="en-US" b="1" dirty="0" err="1"/>
              <a:t>rmm</a:t>
            </a:r>
            <a:endParaRPr lang="en-US" b="1" dirty="0"/>
          </a:p>
          <a:p>
            <a:r>
              <a:rPr lang="en-US" dirty="0"/>
              <a:t>"Do my weekly release paperwork"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E7048-A4AF-38F6-F084-076E5AD0C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73E36-A91A-E600-CD7D-8D0A62C95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A7AA8-4BE9-AD88-6A9D-580626726B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85027B-6AE6-1234-1409-7784BAAB0FB0}"/>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387983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2C6D8-1F7F-E6E4-DF25-42CCBB473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E2ED2-903A-03E2-B8F6-EFD9053A5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A9037-1714-71FA-8E26-1D3B11AD73BC}"/>
              </a:ext>
            </a:extLst>
          </p:cNvPr>
          <p:cNvSpPr>
            <a:spLocks noGrp="1"/>
          </p:cNvSpPr>
          <p:nvPr>
            <p:ph type="body" idx="1"/>
          </p:nvPr>
        </p:nvSpPr>
        <p:spPr/>
        <p:txBody>
          <a:bodyPr/>
          <a:lstStyle/>
          <a:p>
            <a:r>
              <a:rPr lang="en-US" dirty="0"/>
              <a:t>Run /mtg – bookkeeping portal last week</a:t>
            </a:r>
          </a:p>
          <a:p>
            <a:r>
              <a:rPr lang="en-US" dirty="0"/>
              <a:t>Run /</a:t>
            </a:r>
            <a:r>
              <a:rPr lang="en-US" dirty="0" err="1"/>
              <a:t>rmm</a:t>
            </a:r>
            <a:r>
              <a:rPr lang="en-US" dirty="0"/>
              <a:t> – but don’t post to </a:t>
            </a:r>
            <a:r>
              <a:rPr lang="en-US" dirty="0" err="1"/>
              <a:t>jira</a:t>
            </a:r>
            <a:endParaRPr lang="en-US" dirty="0"/>
          </a:p>
        </p:txBody>
      </p:sp>
      <p:sp>
        <p:nvSpPr>
          <p:cNvPr id="4" name="Slide Number Placeholder 3">
            <a:extLst>
              <a:ext uri="{FF2B5EF4-FFF2-40B4-BE49-F238E27FC236}">
                <a16:creationId xmlns:a16="http://schemas.microsoft.com/office/drawing/2014/main" id="{1B3010A1-FD14-D7E0-5B57-AF7D6195BF54}"/>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983312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ideas for you.</a:t>
            </a:r>
          </a:p>
          <a:p>
            <a:r>
              <a:rPr lang="en-US" dirty="0"/>
              <a:t>Just some thoughts.</a:t>
            </a:r>
          </a:p>
          <a:p>
            <a:r>
              <a:rPr lang="en-US" dirty="0"/>
              <a:t>Use these to spark your own creativity or dreaming session of what you can do.</a:t>
            </a:r>
          </a:p>
          <a:p>
            <a:endParaRPr lang="en-US" dirty="0"/>
          </a:p>
          <a:p>
            <a:r>
              <a:rPr lang="en-US" dirty="0"/>
              <a:t>We’ve got some Tier one items — these are like your one-shot cleanups. </a:t>
            </a:r>
          </a:p>
          <a:p>
            <a:r>
              <a:rPr lang="en-US" dirty="0"/>
              <a:t>Slash-rename: 800 sermon files renamed from recording-FINAL-v2 to date-event-pastor, from a CSV. </a:t>
            </a:r>
          </a:p>
          <a:p>
            <a:r>
              <a:rPr lang="en-US" dirty="0"/>
              <a:t>Slash-sort-drive: 12 years of communications chaos into a clean folder structure. </a:t>
            </a:r>
          </a:p>
          <a:p>
            <a:r>
              <a:rPr lang="en-US" dirty="0"/>
              <a:t>Slash-photos: 2,000 event photos web-ready in one batch. </a:t>
            </a:r>
          </a:p>
          <a:p>
            <a:endParaRPr lang="en-US" dirty="0"/>
          </a:p>
          <a:p>
            <a:r>
              <a:rPr lang="en-US" dirty="0"/>
              <a:t>Tier two — weekly rhythms, hands-off. </a:t>
            </a:r>
          </a:p>
          <a:p>
            <a:r>
              <a:rPr lang="en-US" dirty="0"/>
              <a:t>Slash-attendance: Monday digest from Planning Center to the lead pastor before staff meeting. </a:t>
            </a:r>
          </a:p>
          <a:p>
            <a:r>
              <a:rPr lang="en-US" dirty="0"/>
              <a:t>Slash-volunteers: gap report on next Sunday's schedule, drafts personalized texts to lapsed regulars. </a:t>
            </a:r>
          </a:p>
          <a:p>
            <a:r>
              <a:rPr lang="en-US" dirty="0"/>
              <a:t>Slash-giving: anomaly check, surfaces new recurring gifts and lapsed givers.</a:t>
            </a:r>
          </a:p>
          <a:p>
            <a:endParaRPr lang="en-US" dirty="0"/>
          </a:p>
          <a:p>
            <a:r>
              <a:rPr lang="en-US" dirty="0"/>
              <a:t>These are the gateway commands. Boring beats brilliant.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BF3B4-38DB-0AD0-B2C2-442C72BA2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C81DC-3422-8DB1-FE18-7762B7AD8C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9B9A5-554E-27A0-746D-0674A46AF25F}"/>
              </a:ext>
            </a:extLst>
          </p:cNvPr>
          <p:cNvSpPr>
            <a:spLocks noGrp="1"/>
          </p:cNvSpPr>
          <p:nvPr>
            <p:ph type="body" idx="1"/>
          </p:nvPr>
        </p:nvSpPr>
        <p:spPr/>
        <p:txBody>
          <a:bodyPr/>
          <a:lstStyle/>
          <a:p>
            <a:r>
              <a:rPr lang="en-US" dirty="0"/>
              <a:t>And then I’ve put together some example workflows mic drop moments.</a:t>
            </a:r>
          </a:p>
          <a:p>
            <a:endParaRPr lang="en-US" dirty="0"/>
          </a:p>
          <a:p>
            <a:r>
              <a:rPr lang="en-US" dirty="0"/>
              <a:t>Slash-visitor: connect cards to personalized welcome emails referencing what each visitor marked, plus scheduled check-ins. </a:t>
            </a:r>
          </a:p>
          <a:p>
            <a:r>
              <a:rPr lang="en-US" dirty="0"/>
              <a:t>Slash-sermon: manuscript to social posts, small group questions, kid's lesson tie-in, bulletin insert. </a:t>
            </a:r>
          </a:p>
          <a:p>
            <a:r>
              <a:rPr lang="en-US" dirty="0"/>
              <a:t>Slash-elder-mtg: meeting recording to summary, decisions log, action items, next agenda draft. </a:t>
            </a:r>
          </a:p>
          <a:p>
            <a:r>
              <a:rPr lang="en-US" dirty="0"/>
              <a:t>Slash-care-ledger: weekly digest of pastoral care, flags anyone untouched in 90 days. </a:t>
            </a:r>
          </a:p>
          <a:p>
            <a:endParaRPr lang="en-US" dirty="0"/>
          </a:p>
          <a:p>
            <a:r>
              <a:rPr lang="en-US" dirty="0"/>
              <a:t>Slash-annual-report: pulls giving, attendance, baptisms, missions spend from four systems into a board-ready narrative. </a:t>
            </a:r>
          </a:p>
          <a:p>
            <a:r>
              <a:rPr lang="en-US" dirty="0"/>
              <a:t>Slash-curriculum: one adult Bible study to kids, students, and Spanish versions in an afternoon. </a:t>
            </a:r>
          </a:p>
          <a:p>
            <a:r>
              <a:rPr lang="en-US" dirty="0"/>
              <a:t>Slash-handbook: ask the policies folder anything. The first one you ship pays for the next three.</a:t>
            </a:r>
          </a:p>
        </p:txBody>
      </p:sp>
      <p:sp>
        <p:nvSpPr>
          <p:cNvPr id="4" name="Slide Number Placeholder 3">
            <a:extLst>
              <a:ext uri="{FF2B5EF4-FFF2-40B4-BE49-F238E27FC236}">
                <a16:creationId xmlns:a16="http://schemas.microsoft.com/office/drawing/2014/main" id="{20A78F67-1334-1AD1-7D32-AD2D77383145}"/>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5083063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65CA1-9F1C-A39C-1DED-9F7495529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A0F58-04BB-23B5-65A7-AEF04DBB1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63324-799B-CEAA-2AC0-20608AB399FB}"/>
              </a:ext>
            </a:extLst>
          </p:cNvPr>
          <p:cNvSpPr>
            <a:spLocks noGrp="1"/>
          </p:cNvSpPr>
          <p:nvPr>
            <p:ph type="body" idx="1"/>
          </p:nvPr>
        </p:nvSpPr>
        <p:spPr/>
        <p:txBody>
          <a:bodyPr/>
          <a:lstStyle/>
          <a:p>
            <a:r>
              <a:rPr lang="en-US" dirty="0"/>
              <a:t>Your turn. Aspirational, but real. Four commands a church staff could ship this quarter. Slash-weekly for communications: pulls the upcoming sermon, this week's events, recent giving stats — drafts the newsletter. Slash-board for the executive pastor: pulls Planning Center, ACS, staff updates — drafts the monthly board packet skeleton. Slash-care for pastoral care: pulls follow-ups, appointments, prayer requests into a single weekly view. Slash-giving for finance: pulls the week's giving, flags anomalies, drafts thank-yous for new donors. Pick one. The first one you ship will pay for the next three.</a:t>
            </a:r>
          </a:p>
          <a:p>
            <a:endParaRPr lang="en-US" dirty="0"/>
          </a:p>
          <a:p>
            <a:r>
              <a:rPr lang="en-US" b="1" dirty="0"/>
              <a:t>Where it shines for ministry staff (beyond the obvious)</a:t>
            </a:r>
            <a:r>
              <a:rPr lang="en-US" dirty="0"/>
              <a:t> This one really only fits if you have developers on staff or working with you. But for tech-leaning churches and ministries:</a:t>
            </a:r>
          </a:p>
          <a:p>
            <a:r>
              <a:rPr lang="en-US" b="1" dirty="0"/>
              <a:t>Reconstructing technical history</a:t>
            </a:r>
            <a:r>
              <a:rPr lang="en-US" dirty="0"/>
              <a:t> when the developer who built something has moved on — using the trail of code changes as the story of what was built and why.</a:t>
            </a:r>
          </a:p>
          <a:p>
            <a:r>
              <a:rPr lang="en-US" b="1" dirty="0"/>
              <a:t>Helping non-developers query the database.</a:t>
            </a:r>
            <a:r>
              <a:rPr lang="en-US" dirty="0"/>
              <a:t> Junior staff describe what they're looking for in plain English ("who led a small group last year but isn't this year") and Claude Code writes the actual database query, runs it, and explains what came back.</a:t>
            </a:r>
          </a:p>
          <a:p>
            <a:r>
              <a:rPr lang="en-US" b="1" dirty="0"/>
              <a:t>Fixing automation when it breaks at 11pm.</a:t>
            </a:r>
            <a:r>
              <a:rPr lang="en-US" dirty="0"/>
              <a:t> When a workflow connecting two of your systems quits working and you don't want to wake the developer, Claude Code can look at the broken pieces and propose the fix.</a:t>
            </a:r>
          </a:p>
          <a:p>
            <a:r>
              <a:rPr lang="en-US" b="1" dirty="0"/>
              <a:t>Building the bridge between systems no vendor offers.</a:t>
            </a:r>
            <a:r>
              <a:rPr lang="en-US" dirty="0"/>
              <a:t> Got two tools that don't talk to each other but should? Claude Code writes the connector.</a:t>
            </a:r>
          </a:p>
          <a:p>
            <a:r>
              <a:rPr lang="en-US" b="1" dirty="0"/>
              <a:t>Small internal tools.</a:t>
            </a:r>
            <a:r>
              <a:rPr lang="en-US" dirty="0"/>
              <a:t> A finance admin describes what she wishes a giving dashboard did; Claude Code builds it as a small web app the dev team reviews before launch.</a:t>
            </a:r>
          </a:p>
          <a:p>
            <a:endParaRPr lang="en-US" dirty="0"/>
          </a:p>
        </p:txBody>
      </p:sp>
      <p:sp>
        <p:nvSpPr>
          <p:cNvPr id="4" name="Slide Number Placeholder 3">
            <a:extLst>
              <a:ext uri="{FF2B5EF4-FFF2-40B4-BE49-F238E27FC236}">
                <a16:creationId xmlns:a16="http://schemas.microsoft.com/office/drawing/2014/main" id="{E17B9921-0564-39DC-1E12-94577CBFD12C}"/>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6866166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4486-C336-C555-2130-39389414F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AA55A-5457-4C9D-69BB-DCEA6ED2B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B57BA-0DB9-0020-8FA5-A8FE8FC1A89D}"/>
              </a:ext>
            </a:extLst>
          </p:cNvPr>
          <p:cNvSpPr>
            <a:spLocks noGrp="1"/>
          </p:cNvSpPr>
          <p:nvPr>
            <p:ph type="body" idx="1"/>
          </p:nvPr>
        </p:nvSpPr>
        <p:spPr/>
        <p:txBody>
          <a:bodyPr/>
          <a:lstStyle/>
          <a:p>
            <a:r>
              <a:rPr lang="en-US" dirty="0"/>
              <a:t>Code is power-user mode. </a:t>
            </a:r>
          </a:p>
          <a:p>
            <a:r>
              <a:rPr lang="en-US" dirty="0"/>
              <a:t>There is some Setup involved, but you can just ask Claude Chat how to do it.</a:t>
            </a:r>
          </a:p>
          <a:p>
            <a:endParaRPr lang="en-US" dirty="0"/>
          </a:p>
          <a:p>
            <a:r>
              <a:rPr lang="en-US" b="1" dirty="0"/>
              <a:t>Keep yourself in the driver's seat</a:t>
            </a:r>
            <a:r>
              <a:rPr lang="en-US" dirty="0"/>
              <a:t>. Have it ask before it acts on anything important. It does the keystrokes; you say go. </a:t>
            </a:r>
          </a:p>
          <a:p>
            <a:endParaRPr lang="en-US" dirty="0"/>
          </a:p>
          <a:p>
            <a:r>
              <a:rPr lang="en-US" b="1" dirty="0"/>
              <a:t>Set it up once with your tools</a:t>
            </a:r>
            <a:r>
              <a:rPr lang="en-US" dirty="0"/>
              <a:t>. Fathom, Notion, GitHub, Slack, my testing tool Playwright, </a:t>
            </a:r>
            <a:r>
              <a:rPr lang="en-US" dirty="0" err="1"/>
              <a:t>Vercel</a:t>
            </a:r>
            <a:r>
              <a:rPr lang="en-US" dirty="0"/>
              <a:t>. From then on, describe what you want — it knows where to go. </a:t>
            </a:r>
          </a:p>
          <a:p>
            <a:endParaRPr lang="en-US" dirty="0"/>
          </a:p>
          <a:p>
            <a:r>
              <a:rPr lang="en-US" b="1" dirty="0"/>
              <a:t>Reserve it for workflows</a:t>
            </a:r>
            <a:r>
              <a:rPr lang="en-US" dirty="0"/>
              <a:t> you do over and over. First run takes setup. Tenth run takes a sentence. Hundredth run is three letters. </a:t>
            </a:r>
          </a:p>
          <a:p>
            <a:endParaRPr lang="en-US" dirty="0"/>
          </a:p>
          <a:p>
            <a:r>
              <a:rPr lang="en-US" b="1" dirty="0"/>
              <a:t>And — name it.</a:t>
            </a:r>
            <a:r>
              <a:rPr lang="en-US" dirty="0"/>
              <a:t> Make it yours. Mine is Claudia. Sounds silly. Changes the relationship from tool-I-use to teammate-I-direct.</a:t>
            </a:r>
          </a:p>
        </p:txBody>
      </p:sp>
      <p:sp>
        <p:nvSpPr>
          <p:cNvPr id="4" name="Slide Number Placeholder 3">
            <a:extLst>
              <a:ext uri="{FF2B5EF4-FFF2-40B4-BE49-F238E27FC236}">
                <a16:creationId xmlns:a16="http://schemas.microsoft.com/office/drawing/2014/main" id="{A94CCE14-5871-BBCE-6AA9-BCD2250943A6}"/>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7749250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just don’t know if AI can do something for you. Ask it.</a:t>
            </a:r>
          </a:p>
          <a:p>
            <a:r>
              <a:rPr lang="en-US" dirty="0"/>
              <a:t>It’ll know.</a:t>
            </a:r>
          </a:p>
          <a:p>
            <a:endParaRPr lang="en-US" dirty="0"/>
          </a:p>
          <a:p>
            <a:r>
              <a:rPr lang="en-US" dirty="0"/>
              <a:t>I’m a great use case for using AI especially in this dev environment that I find myself in. b/c I don’t know what I don’t know.</a:t>
            </a:r>
          </a:p>
          <a:p>
            <a:endParaRPr lang="en-US" dirty="0"/>
          </a:p>
          <a:p>
            <a:r>
              <a:rPr lang="en-US" dirty="0"/>
              <a:t>There have been times when someone’s told me, I didn’t know you could get Claude Code to do that.</a:t>
            </a:r>
          </a:p>
          <a:p>
            <a:r>
              <a:rPr lang="en-US" dirty="0"/>
              <a:t>And I’m like: I didn’t know I couldn’t.</a:t>
            </a:r>
          </a:p>
          <a:p>
            <a:endParaRPr lang="en-US" dirty="0"/>
          </a:p>
          <a:p>
            <a:r>
              <a:rPr lang="en-US" dirty="0"/>
              <a:t>I just ask.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This is your certificate of permission. </a:t>
            </a:r>
          </a:p>
          <a:p>
            <a:endParaRPr lang="en-US" dirty="0"/>
          </a:p>
          <a:p>
            <a:r>
              <a:rPr lang="en-US" dirty="0"/>
              <a:t>You may now ask AI ridiculous, boundary-pushing questions on whether or not it can make that graphic for you, on whether or not you can drag and drop a screenshot into Claude Code via terminal and will it read it? Ask it to create a document for you and then open it when it’s done.</a:t>
            </a:r>
          </a:p>
          <a:p>
            <a:endParaRPr lang="en-US" dirty="0"/>
          </a:p>
          <a:p>
            <a:r>
              <a:rPr lang="en-US" dirty="0"/>
              <a:t>Don't assume its limits — and if something is bugging you, ask it to fix it! The worst it can say is no. </a:t>
            </a:r>
          </a:p>
          <a:p>
            <a:endParaRPr lang="en-US" dirty="0"/>
          </a:p>
          <a:p>
            <a:r>
              <a:rPr lang="en-US" dirty="0"/>
              <a:t>The best it can say is something that can save you minutes or hours a week, and maybe even produce results better than you could on your own.</a:t>
            </a:r>
          </a:p>
          <a:p>
            <a:endParaRPr lang="en-US" dirty="0"/>
          </a:p>
          <a:p>
            <a:r>
              <a:rPr lang="en-US" dirty="0"/>
              <a:t>Claudia is giving you permission.</a:t>
            </a:r>
          </a:p>
          <a:p>
            <a:r>
              <a:rPr lang="en-US" dirty="0"/>
              <a:t>And so am I.</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84C5F-A825-A0F9-5A58-78DC4CC7B6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C6C96-FBE8-C760-F1F7-EE35D6BAF2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D5E1E-81CB-87E4-D50B-0873FD3DF14E}"/>
              </a:ext>
            </a:extLst>
          </p:cNvPr>
          <p:cNvSpPr>
            <a:spLocks noGrp="1"/>
          </p:cNvSpPr>
          <p:nvPr>
            <p:ph type="body" idx="1"/>
          </p:nvPr>
        </p:nvSpPr>
        <p:spPr/>
        <p:txBody>
          <a:bodyPr/>
          <a:lstStyle/>
          <a:p>
            <a:r>
              <a:rPr lang="en-US" b="1" dirty="0"/>
              <a:t>Chat</a:t>
            </a:r>
            <a:r>
              <a:rPr lang="en-US" dirty="0"/>
              <a:t> is the conversation. You and Claude, thinking through something together. </a:t>
            </a:r>
          </a:p>
          <a:p>
            <a:r>
              <a:rPr lang="en-US" b="1" dirty="0" err="1"/>
              <a:t>Cowork</a:t>
            </a:r>
            <a:r>
              <a:rPr lang="en-US" dirty="0"/>
              <a:t> is the assistant who runs your errands on your computer. Office work, file work, app work. </a:t>
            </a:r>
          </a:p>
          <a:p>
            <a:r>
              <a:rPr lang="en-US" b="1" dirty="0"/>
              <a:t>Code</a:t>
            </a:r>
            <a:r>
              <a:rPr lang="en-US" dirty="0"/>
              <a:t> is the operator who runs your workflows end-to-end. Connects your tools, does the clicking, ships the actual work.</a:t>
            </a:r>
          </a:p>
        </p:txBody>
      </p:sp>
      <p:sp>
        <p:nvSpPr>
          <p:cNvPr id="4" name="Slide Number Placeholder 3">
            <a:extLst>
              <a:ext uri="{FF2B5EF4-FFF2-40B4-BE49-F238E27FC236}">
                <a16:creationId xmlns:a16="http://schemas.microsoft.com/office/drawing/2014/main" id="{62D9F077-D404-C403-D095-F8B7CFAF8A64}"/>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458574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Monday. One task and carry it through one door.</a:t>
            </a:r>
          </a:p>
          <a:p>
            <a:endParaRPr lang="en-US" dirty="0"/>
          </a:p>
          <a:p>
            <a:r>
              <a:rPr lang="en-US" dirty="0"/>
              <a:t>Pick something that drains you. </a:t>
            </a:r>
          </a:p>
          <a:p>
            <a:r>
              <a:rPr lang="en-US" dirty="0"/>
              <a:t>This doesn’t have to be your moonshot — just something that ruins our Thursday afternoon every week. </a:t>
            </a:r>
          </a:p>
          <a:p>
            <a:endParaRPr lang="en-US" dirty="0"/>
          </a:p>
          <a:p>
            <a:r>
              <a:rPr lang="en-US" dirty="0"/>
              <a:t>Hand it off in whichever door fits. </a:t>
            </a:r>
          </a:p>
          <a:p>
            <a:endParaRPr lang="en-US" dirty="0"/>
          </a:p>
          <a:p>
            <a:r>
              <a:rPr lang="en-US" dirty="0"/>
              <a:t>And remember: Boring beats brilliant. The win isn't transforming your job. The win is getting Friday back.</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Five learnings. </a:t>
            </a:r>
          </a:p>
          <a:p>
            <a:r>
              <a:rPr lang="en-US" dirty="0"/>
              <a:t>One: complain to AI — bring problems, not solutions. </a:t>
            </a:r>
          </a:p>
          <a:p>
            <a:r>
              <a:rPr lang="en-US" dirty="0"/>
              <a:t>Two: show, don't describe — take the screenshot. </a:t>
            </a:r>
          </a:p>
          <a:p>
            <a:r>
              <a:rPr lang="en-US" dirty="0"/>
              <a:t>Three: ask me questions — let AI run the interview. </a:t>
            </a:r>
          </a:p>
          <a:p>
            <a:r>
              <a:rPr lang="en-US" dirty="0"/>
              <a:t>Four: rinse, repeat — three times equals a command. </a:t>
            </a:r>
          </a:p>
          <a:p>
            <a:r>
              <a:rPr lang="en-US" dirty="0"/>
              <a:t>Five: can AI do it? Ask it. Don't assume the limits.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walking through. I'm Trace, ACS Technologies. Find me after the session — bring your chore. The conversation I most want to have is the specific one. What's the task? Which door? Let's spec the first one together before you leave.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EA27-8B08-DEF8-5FB6-C66AC089D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109114-93D6-55E1-12CF-87587076CB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C249B-6AA6-4F41-8C0B-619430A4CF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370113-5079-2C96-F4AA-D4C9C0B8188C}"/>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0246570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485CF-06F4-186F-BFC5-C7AE5136F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DEBE5-DE99-D5C0-36FA-71E508448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79A1B-9A7A-3EFC-ECC6-87D370BF07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C95A37-DAF4-2F1B-2136-FF81ACB48E89}"/>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8869377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39348-3C56-97A0-D45A-5AFF34CA9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B768F-F6EA-C329-E3D3-17B59C88C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3FB19-26DD-DD41-2F4A-2074FF5B55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2795A3-FEFB-CEA7-7570-C4EE6AE5FAF1}"/>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3629867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18A9-49DD-B1DE-07A9-01B21184C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0A607-3640-D967-A886-7FE8FD77D6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A4EFC5-5571-97E0-F870-4D7143C21B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D14CE0-F193-7E0A-97B0-D3EA9B362172}"/>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5193565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67C9A-154F-CFAE-E650-B703EAAC4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902A0-FEB3-75B7-1C00-55908A376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3658B-7AEE-357D-2516-E1BCD01C08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6C279-04E7-6224-F1AA-E7EEA36569D4}"/>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0294059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64C1-2D7D-B184-4D65-8DC73B9F5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0D8C8-21DF-2E97-988C-D86488904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3B107-E2A1-5CCE-02F0-9BE5ABC1469A}"/>
              </a:ext>
            </a:extLst>
          </p:cNvPr>
          <p:cNvSpPr>
            <a:spLocks noGrp="1"/>
          </p:cNvSpPr>
          <p:nvPr>
            <p:ph type="body" idx="1"/>
          </p:nvPr>
        </p:nvSpPr>
        <p:spPr/>
        <p:txBody>
          <a:bodyPr/>
          <a:lstStyle/>
          <a:p>
            <a:r>
              <a:rPr lang="en-US" dirty="0"/>
              <a:t>And now — a short segment. AI bloopers. Outtakes from how AI tried, and failed, to build this presentation. [TRACE: insert outtakes here.]</a:t>
            </a:r>
          </a:p>
        </p:txBody>
      </p:sp>
      <p:sp>
        <p:nvSpPr>
          <p:cNvPr id="4" name="Slide Number Placeholder 3">
            <a:extLst>
              <a:ext uri="{FF2B5EF4-FFF2-40B4-BE49-F238E27FC236}">
                <a16:creationId xmlns:a16="http://schemas.microsoft.com/office/drawing/2014/main" id="{1C93B760-F0E2-7ACD-2568-6BB3FFD9EBCF}"/>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6166763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48D8F-4B3B-DE61-05D8-78BE1766C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9F72E-DB47-DF89-8B36-7028283F7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A1D2F-519B-B9A0-C33C-0561E08494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50561A-3256-0D53-0539-E3315AD53D35}"/>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2930462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4161C"/>
          </a:solidFill>
          <a:ln/>
        </p:spPr>
        <p:txBody>
          <a:bodyPr/>
          <a:lstStyle/>
          <a:p>
            <a:endParaRPr lang="en-US"/>
          </a:p>
        </p:txBody>
      </p:sp>
      <p:sp>
        <p:nvSpPr>
          <p:cNvPr id="3" name="Text 1"/>
          <p:cNvSpPr/>
          <p:nvPr/>
        </p:nvSpPr>
        <p:spPr>
          <a:xfrm>
            <a:off x="952500" y="762000"/>
            <a:ext cx="1258044" cy="342900"/>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FFFFFF"/>
                </a:solidFill>
                <a:latin typeface="Montserrat" pitchFamily="34" charset="0"/>
                <a:ea typeface="Montserrat" pitchFamily="34" charset="-122"/>
                <a:cs typeface="Montserrat" pitchFamily="34" charset="-120"/>
              </a:rPr>
              <a:t>CITN</a:t>
            </a:r>
            <a:r>
              <a:rPr lang="en-US" sz="1950" b="1" kern="0" spc="234" dirty="0">
                <a:solidFill>
                  <a:srgbClr val="3FE0D0"/>
                </a:solidFill>
                <a:latin typeface="Montserrat" pitchFamily="34" charset="0"/>
                <a:ea typeface="Montserrat" pitchFamily="34" charset="-122"/>
                <a:cs typeface="Montserrat" pitchFamily="34" charset="-120"/>
              </a:rPr>
              <a:t>·</a:t>
            </a:r>
            <a:r>
              <a:rPr lang="en-US" sz="1950" b="1" kern="0" spc="234" dirty="0">
                <a:solidFill>
                  <a:srgbClr val="FFFFFF"/>
                </a:solidFill>
                <a:latin typeface="Montserrat" pitchFamily="34" charset="0"/>
                <a:ea typeface="Montserrat" pitchFamily="34" charset="-122"/>
                <a:cs typeface="Montserrat" pitchFamily="34" charset="-120"/>
              </a:rPr>
              <a:t>AI</a:t>
            </a:r>
            <a:endParaRPr lang="en-US" sz="1950" dirty="0"/>
          </a:p>
        </p:txBody>
      </p:sp>
      <p:pic>
        <p:nvPicPr>
          <p:cNvPr id="4" name="Image 0" descr="preencoded.png"/>
          <p:cNvPicPr>
            <a:picLocks noChangeAspect="1"/>
          </p:cNvPicPr>
          <p:nvPr/>
        </p:nvPicPr>
        <p:blipFill>
          <a:blip r:embed="rId3"/>
          <a:srcRect t="908" r="1818" b="908"/>
          <a:stretch>
            <a:fillRect/>
          </a:stretch>
        </p:blipFill>
        <p:spPr>
          <a:xfrm>
            <a:off x="8953500" y="0"/>
            <a:ext cx="10287000" cy="10287000"/>
          </a:xfrm>
          <a:prstGeom prst="rect">
            <a:avLst/>
          </a:prstGeom>
        </p:spPr>
      </p:pic>
      <p:sp>
        <p:nvSpPr>
          <p:cNvPr id="6" name="Text 2"/>
          <p:cNvSpPr/>
          <p:nvPr/>
        </p:nvSpPr>
        <p:spPr>
          <a:xfrm>
            <a:off x="952500" y="3388072"/>
            <a:ext cx="7749419" cy="342900"/>
          </a:xfrm>
          <a:prstGeom prst="rect">
            <a:avLst/>
          </a:prstGeom>
          <a:noFill/>
          <a:ln/>
        </p:spPr>
        <p:txBody>
          <a:bodyPr wrap="square" lIns="25400" tIns="25400" rIns="25400" bIns="25400" rtlCol="0" anchor="ctr">
            <a:normAutofit lnSpcReduction="10000"/>
          </a:bodyPr>
          <a:lstStyle/>
          <a:p>
            <a:pPr marL="0" indent="0" algn="l">
              <a:buNone/>
            </a:pPr>
            <a:r>
              <a:rPr lang="en-US" sz="1950" b="1" kern="0" spc="585" dirty="0">
                <a:solidFill>
                  <a:srgbClr val="3FE0D0"/>
                </a:solidFill>
                <a:latin typeface="Montserrat" pitchFamily="34" charset="0"/>
                <a:ea typeface="Montserrat" pitchFamily="34" charset="-122"/>
                <a:cs typeface="Montserrat" pitchFamily="34" charset="-120"/>
              </a:rPr>
              <a:t>CHURCH IT NETWORK · WORKSHOP</a:t>
            </a:r>
            <a:endParaRPr lang="en-US" sz="1950" dirty="0"/>
          </a:p>
        </p:txBody>
      </p:sp>
      <p:sp>
        <p:nvSpPr>
          <p:cNvPr id="7" name="Text 3"/>
          <p:cNvSpPr/>
          <p:nvPr/>
        </p:nvSpPr>
        <p:spPr>
          <a:xfrm>
            <a:off x="263472" y="4035771"/>
            <a:ext cx="8438448" cy="5489229"/>
          </a:xfrm>
          <a:prstGeom prst="rect">
            <a:avLst/>
          </a:prstGeom>
          <a:noFill/>
          <a:ln/>
        </p:spPr>
        <p:txBody>
          <a:bodyPr wrap="square" lIns="25400" tIns="25400" rIns="25400" bIns="25400" rtlCol="0" anchor="t">
            <a:normAutofit/>
          </a:bodyPr>
          <a:lstStyle/>
          <a:p>
            <a:pPr algn="ctr">
              <a:lnSpc>
                <a:spcPct val="92000"/>
              </a:lnSpc>
            </a:pPr>
            <a:r>
              <a:rPr lang="en-US" sz="8800" b="1" kern="0" spc="-233" dirty="0">
                <a:solidFill>
                  <a:srgbClr val="FFFFFF"/>
                </a:solidFill>
                <a:latin typeface="Montserrat" pitchFamily="34" charset="0"/>
              </a:rPr>
              <a:t>Decoding</a:t>
            </a:r>
            <a:br>
              <a:rPr lang="en-US" sz="8800" b="1" kern="0" spc="-233" dirty="0">
                <a:solidFill>
                  <a:srgbClr val="FFFFFF"/>
                </a:solidFill>
                <a:latin typeface="Montserrat" pitchFamily="34" charset="0"/>
              </a:rPr>
            </a:br>
            <a:r>
              <a:rPr lang="en-US" sz="8800" b="1" kern="0" spc="-233" dirty="0">
                <a:solidFill>
                  <a:srgbClr val="FFFFFF"/>
                </a:solidFill>
                <a:latin typeface="Montserrat" pitchFamily="34" charset="0"/>
              </a:rPr>
              <a:t>Claude Code</a:t>
            </a:r>
            <a:br>
              <a:rPr lang="en-US" sz="8800" b="1" kern="0" spc="-233" dirty="0">
                <a:solidFill>
                  <a:srgbClr val="FFFFFF"/>
                </a:solidFill>
                <a:latin typeface="Montserrat" pitchFamily="34" charset="0"/>
              </a:rPr>
            </a:br>
            <a:r>
              <a:rPr lang="en-US" sz="4400" b="1" kern="0" spc="-233" dirty="0">
                <a:solidFill>
                  <a:srgbClr val="3FE0D0"/>
                </a:solidFill>
                <a:latin typeface="Montserrat" pitchFamily="34" charset="0"/>
              </a:rPr>
              <a:t>No Dev Skills Required—</a:t>
            </a:r>
          </a:p>
          <a:p>
            <a:pPr algn="ctr">
              <a:lnSpc>
                <a:spcPct val="92000"/>
              </a:lnSpc>
            </a:pPr>
            <a:r>
              <a:rPr lang="en-US" sz="4400" b="1" kern="0" spc="-233" dirty="0">
                <a:solidFill>
                  <a:srgbClr val="3FE0D0"/>
                </a:solidFill>
                <a:latin typeface="Montserrat" pitchFamily="34" charset="0"/>
              </a:rPr>
              <a:t>Just Results</a:t>
            </a:r>
            <a:endParaRPr lang="en-US" sz="8800" b="1" kern="0" spc="-233" dirty="0">
              <a:solidFill>
                <a:srgbClr val="3FE0D0"/>
              </a:solidFill>
              <a:latin typeface="Montserrat" pitchFamily="34" charset="0"/>
            </a:endParaRPr>
          </a:p>
        </p:txBody>
      </p:sp>
      <p:sp>
        <p:nvSpPr>
          <p:cNvPr id="13" name="Text 9"/>
          <p:cNvSpPr/>
          <p:nvPr/>
        </p:nvSpPr>
        <p:spPr>
          <a:xfrm>
            <a:off x="952500" y="9248775"/>
            <a:ext cx="7749418" cy="342900"/>
          </a:xfrm>
          <a:prstGeom prst="rect">
            <a:avLst/>
          </a:prstGeom>
          <a:noFill/>
          <a:ln/>
        </p:spPr>
        <p:txBody>
          <a:bodyPr wrap="square" lIns="25400" tIns="25400" rIns="25400" bIns="25400" rtlCol="0" anchor="ctr">
            <a:normAutofit/>
          </a:bodyPr>
          <a:lstStyle/>
          <a:p>
            <a:pPr marL="0" indent="0" algn="l">
              <a:buNone/>
            </a:pPr>
            <a:r>
              <a:rPr lang="en-US" sz="1800" kern="0" spc="144" dirty="0">
                <a:solidFill>
                  <a:srgbClr val="9A9CA4"/>
                </a:solidFill>
                <a:latin typeface="Inter" pitchFamily="34" charset="0"/>
                <a:ea typeface="Inter" pitchFamily="34" charset="-122"/>
                <a:cs typeface="Inter" pitchFamily="34" charset="-120"/>
              </a:rPr>
              <a:t>TRACE JACKSON · INNOVATION PROGRAM MANAGER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8614C6AC-EB32-86F3-AB2C-6CC42B49CB96}"/>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8D1C992-4D3E-2B25-643E-C5127DA9FDB8}"/>
              </a:ext>
            </a:extLst>
          </p:cNvPr>
          <p:cNvSpPr/>
          <p:nvPr/>
        </p:nvSpPr>
        <p:spPr>
          <a:xfrm>
            <a:off x="1143000" y="158115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Where are you </a:t>
            </a:r>
            <a:r>
              <a:rPr lang="en-US" sz="6300" b="1" kern="0" spc="-126" dirty="0">
                <a:solidFill>
                  <a:srgbClr val="3FE0D0"/>
                </a:solidFill>
                <a:latin typeface="Montserrat" pitchFamily="34" charset="0"/>
                <a:ea typeface="Montserrat" pitchFamily="34" charset="-122"/>
                <a:cs typeface="Montserrat" pitchFamily="34" charset="-120"/>
              </a:rPr>
              <a:t>on the spectrum</a:t>
            </a:r>
            <a:r>
              <a:rPr lang="en-US" sz="6300" b="1" kern="0" spc="-126" dirty="0">
                <a:solidFill>
                  <a:srgbClr val="FFFFFF"/>
                </a:solidFill>
                <a:latin typeface="Montserrat" pitchFamily="34" charset="0"/>
                <a:ea typeface="Montserrat" pitchFamily="34" charset="-122"/>
                <a:cs typeface="Montserrat" pitchFamily="34" charset="-120"/>
              </a:rPr>
              <a:t>?</a:t>
            </a:r>
            <a:endParaRPr lang="en-US" sz="6300" dirty="0"/>
          </a:p>
        </p:txBody>
      </p:sp>
      <p:sp>
        <p:nvSpPr>
          <p:cNvPr id="4" name="Text 2">
            <a:extLst>
              <a:ext uri="{FF2B5EF4-FFF2-40B4-BE49-F238E27FC236}">
                <a16:creationId xmlns:a16="http://schemas.microsoft.com/office/drawing/2014/main" id="{77694833-8E86-B56E-3F4D-21A3777D8A6C}"/>
              </a:ext>
            </a:extLst>
          </p:cNvPr>
          <p:cNvSpPr/>
          <p:nvPr/>
        </p:nvSpPr>
        <p:spPr>
          <a:xfrm>
            <a:off x="1143000" y="2609850"/>
            <a:ext cx="12753975" cy="638175"/>
          </a:xfrm>
          <a:prstGeom prst="rect">
            <a:avLst/>
          </a:prstGeom>
          <a:noFill/>
          <a:ln/>
        </p:spPr>
        <p:txBody>
          <a:bodyPr wrap="square" lIns="25400" tIns="25400" rIns="25400" bIns="25400" rtlCol="0" anchor="t">
            <a:normAutofit/>
          </a:bodyPr>
          <a:lstStyle/>
          <a:p>
            <a:pPr marL="0" indent="0" algn="l">
              <a:buNone/>
            </a:pPr>
            <a:r>
              <a:rPr lang="en-US" sz="1950" dirty="0">
                <a:solidFill>
                  <a:srgbClr val="C9CBD1"/>
                </a:solidFill>
                <a:latin typeface="Inter" pitchFamily="34" charset="0"/>
                <a:ea typeface="Inter" pitchFamily="34" charset="-122"/>
                <a:cs typeface="Inter" pitchFamily="34" charset="-120"/>
              </a:rPr>
              <a:t>Most people sit at one of two extremes with AI. </a:t>
            </a:r>
            <a:endParaRPr lang="en-US" sz="1950" dirty="0"/>
          </a:p>
        </p:txBody>
      </p:sp>
      <p:sp>
        <p:nvSpPr>
          <p:cNvPr id="7" name="Shape 5">
            <a:extLst>
              <a:ext uri="{FF2B5EF4-FFF2-40B4-BE49-F238E27FC236}">
                <a16:creationId xmlns:a16="http://schemas.microsoft.com/office/drawing/2014/main" id="{1E3C91F6-4CB5-77CF-A9E9-7CB194A40220}"/>
              </a:ext>
            </a:extLst>
          </p:cNvPr>
          <p:cNvSpPr/>
          <p:nvPr/>
        </p:nvSpPr>
        <p:spPr>
          <a:xfrm>
            <a:off x="1905000" y="4543425"/>
            <a:ext cx="14478000" cy="19050"/>
          </a:xfrm>
          <a:prstGeom prst="rect">
            <a:avLst/>
          </a:prstGeom>
          <a:solidFill>
            <a:srgbClr val="F58220"/>
          </a:solidFill>
          <a:ln/>
        </p:spPr>
        <p:txBody>
          <a:bodyPr/>
          <a:lstStyle/>
          <a:p>
            <a:endParaRPr lang="en-US"/>
          </a:p>
        </p:txBody>
      </p:sp>
      <p:grpSp>
        <p:nvGrpSpPr>
          <p:cNvPr id="2" name="Group 1">
            <a:extLst>
              <a:ext uri="{FF2B5EF4-FFF2-40B4-BE49-F238E27FC236}">
                <a16:creationId xmlns:a16="http://schemas.microsoft.com/office/drawing/2014/main" id="{2B76811F-F5EC-37A0-90EE-553D46C6F5B4}"/>
              </a:ext>
            </a:extLst>
          </p:cNvPr>
          <p:cNvGrpSpPr/>
          <p:nvPr/>
        </p:nvGrpSpPr>
        <p:grpSpPr>
          <a:xfrm>
            <a:off x="1905000" y="4905375"/>
            <a:ext cx="5101590" cy="3433763"/>
            <a:chOff x="1905000" y="4905375"/>
            <a:chExt cx="5101590" cy="3433763"/>
          </a:xfrm>
        </p:grpSpPr>
        <p:sp>
          <p:nvSpPr>
            <p:cNvPr id="8" name="Text 6">
              <a:extLst>
                <a:ext uri="{FF2B5EF4-FFF2-40B4-BE49-F238E27FC236}">
                  <a16:creationId xmlns:a16="http://schemas.microsoft.com/office/drawing/2014/main" id="{1FA0A3A4-970D-1B70-729D-6644623CFAE2}"/>
                </a:ext>
              </a:extLst>
            </p:cNvPr>
            <p:cNvSpPr/>
            <p:nvPr/>
          </p:nvSpPr>
          <p:spPr>
            <a:xfrm>
              <a:off x="1905000" y="4905375"/>
              <a:ext cx="5101590" cy="457200"/>
            </a:xfrm>
            <a:prstGeom prst="rect">
              <a:avLst/>
            </a:prstGeom>
            <a:noFill/>
            <a:ln/>
          </p:spPr>
          <p:txBody>
            <a:bodyPr wrap="square" lIns="25400" tIns="25400" rIns="25400" bIns="25400" rtlCol="0" anchor="t">
              <a:normAutofit lnSpcReduction="10000"/>
            </a:bodyPr>
            <a:lstStyle/>
            <a:p>
              <a:pPr marL="0" indent="0" algn="l">
                <a:buNone/>
              </a:pPr>
              <a:r>
                <a:rPr lang="en-US" sz="2700" b="1" kern="0" spc="-27" dirty="0">
                  <a:solidFill>
                    <a:srgbClr val="FFFFFF"/>
                  </a:solidFill>
                  <a:latin typeface="Montserrat" pitchFamily="34" charset="0"/>
                  <a:ea typeface="Montserrat" pitchFamily="34" charset="-122"/>
                  <a:cs typeface="Montserrat" pitchFamily="34" charset="-120"/>
                </a:rPr>
                <a:t>Smarter Google.</a:t>
              </a:r>
              <a:endParaRPr lang="en-US" sz="2700" dirty="0"/>
            </a:p>
          </p:txBody>
        </p:sp>
        <p:sp>
          <p:nvSpPr>
            <p:cNvPr id="9" name="Text 7">
              <a:extLst>
                <a:ext uri="{FF2B5EF4-FFF2-40B4-BE49-F238E27FC236}">
                  <a16:creationId xmlns:a16="http://schemas.microsoft.com/office/drawing/2014/main" id="{2EF1D211-3A60-8802-4399-D5D54A8B1BB5}"/>
                </a:ext>
              </a:extLst>
            </p:cNvPr>
            <p:cNvSpPr/>
            <p:nvPr/>
          </p:nvSpPr>
          <p:spPr>
            <a:xfrm>
              <a:off x="1905000" y="5457825"/>
              <a:ext cx="5101590" cy="2881313"/>
            </a:xfrm>
            <a:prstGeom prst="rect">
              <a:avLst/>
            </a:prstGeom>
            <a:noFill/>
            <a:ln/>
          </p:spPr>
          <p:txBody>
            <a:bodyPr wrap="square" lIns="25400" tIns="25400" rIns="25400" bIns="25400" rtlCol="0" anchor="t">
              <a:normAutofit/>
            </a:bodyPr>
            <a:lstStyle/>
            <a:p>
              <a:pPr marL="0" indent="0" algn="l">
                <a:lnSpc>
                  <a:spcPct val="155000"/>
                </a:lnSpc>
                <a:buNone/>
              </a:pPr>
              <a:r>
                <a:rPr lang="en-US" sz="1425" dirty="0">
                  <a:solidFill>
                    <a:srgbClr val="C9CBD1"/>
                  </a:solidFill>
                  <a:latin typeface="Inter" pitchFamily="34" charset="0"/>
                  <a:ea typeface="Inter" pitchFamily="34" charset="-122"/>
                  <a:cs typeface="Inter" pitchFamily="34" charset="-120"/>
                </a:rPr>
                <a:t>Quick questions. </a:t>
              </a:r>
            </a:p>
            <a:p>
              <a:pPr marL="0" indent="0" algn="l">
                <a:lnSpc>
                  <a:spcPct val="155000"/>
                </a:lnSpc>
                <a:buNone/>
              </a:pPr>
              <a:r>
                <a:rPr lang="en-US" sz="1425" dirty="0">
                  <a:solidFill>
                    <a:srgbClr val="C9CBD1"/>
                  </a:solidFill>
                  <a:latin typeface="Inter" pitchFamily="34" charset="0"/>
                  <a:ea typeface="Inter" pitchFamily="34" charset="-122"/>
                  <a:cs typeface="Inter" pitchFamily="34" charset="-120"/>
                </a:rPr>
                <a:t>Email proofing. </a:t>
              </a:r>
            </a:p>
            <a:p>
              <a:pPr marL="0" indent="0" algn="l">
                <a:lnSpc>
                  <a:spcPct val="155000"/>
                </a:lnSpc>
                <a:buNone/>
              </a:pPr>
              <a:r>
                <a:rPr lang="en-US" sz="1425" dirty="0">
                  <a:solidFill>
                    <a:srgbClr val="C9CBD1"/>
                  </a:solidFill>
                  <a:latin typeface="Inter" pitchFamily="34" charset="0"/>
                  <a:ea typeface="Inter" pitchFamily="34" charset="-122"/>
                  <a:cs typeface="Inter" pitchFamily="34" charset="-120"/>
                </a:rPr>
                <a:t>"Summarize this."</a:t>
              </a:r>
            </a:p>
          </p:txBody>
        </p:sp>
      </p:grpSp>
      <p:grpSp>
        <p:nvGrpSpPr>
          <p:cNvPr id="15" name="Group 14">
            <a:extLst>
              <a:ext uri="{FF2B5EF4-FFF2-40B4-BE49-F238E27FC236}">
                <a16:creationId xmlns:a16="http://schemas.microsoft.com/office/drawing/2014/main" id="{5E90EC70-B950-B5FC-201B-B79D36F3A4AA}"/>
              </a:ext>
            </a:extLst>
          </p:cNvPr>
          <p:cNvGrpSpPr/>
          <p:nvPr/>
        </p:nvGrpSpPr>
        <p:grpSpPr>
          <a:xfrm>
            <a:off x="11281410" y="4905375"/>
            <a:ext cx="5101590" cy="3153744"/>
            <a:chOff x="11281410" y="4905375"/>
            <a:chExt cx="5101590" cy="3153744"/>
          </a:xfrm>
        </p:grpSpPr>
        <p:sp>
          <p:nvSpPr>
            <p:cNvPr id="10" name="Text 8">
              <a:extLst>
                <a:ext uri="{FF2B5EF4-FFF2-40B4-BE49-F238E27FC236}">
                  <a16:creationId xmlns:a16="http://schemas.microsoft.com/office/drawing/2014/main" id="{47729AC6-CE9A-2F9C-1616-FA943820557C}"/>
                </a:ext>
              </a:extLst>
            </p:cNvPr>
            <p:cNvSpPr/>
            <p:nvPr/>
          </p:nvSpPr>
          <p:spPr>
            <a:xfrm>
              <a:off x="11281410" y="4905375"/>
              <a:ext cx="5101590" cy="457200"/>
            </a:xfrm>
            <a:prstGeom prst="rect">
              <a:avLst/>
            </a:prstGeom>
            <a:noFill/>
            <a:ln/>
          </p:spPr>
          <p:txBody>
            <a:bodyPr wrap="square" lIns="25400" tIns="25400" rIns="25400" bIns="25400" rtlCol="0" anchor="t">
              <a:normAutofit lnSpcReduction="10000"/>
            </a:bodyPr>
            <a:lstStyle/>
            <a:p>
              <a:pPr marL="0" indent="0" algn="r">
                <a:buNone/>
              </a:pPr>
              <a:r>
                <a:rPr lang="en-US" sz="2700" b="1" kern="0" spc="-27" dirty="0">
                  <a:solidFill>
                    <a:srgbClr val="FFFFFF"/>
                  </a:solidFill>
                  <a:latin typeface="Montserrat" pitchFamily="34" charset="0"/>
                  <a:ea typeface="Montserrat" pitchFamily="34" charset="-122"/>
                  <a:cs typeface="Montserrat" pitchFamily="34" charset="-120"/>
                </a:rPr>
                <a:t>That's a developer thing.</a:t>
              </a:r>
              <a:endParaRPr lang="en-US" sz="2700" dirty="0"/>
            </a:p>
          </p:txBody>
        </p:sp>
        <p:sp>
          <p:nvSpPr>
            <p:cNvPr id="11" name="Text 9">
              <a:extLst>
                <a:ext uri="{FF2B5EF4-FFF2-40B4-BE49-F238E27FC236}">
                  <a16:creationId xmlns:a16="http://schemas.microsoft.com/office/drawing/2014/main" id="{B2B3EC90-497D-13AE-CBC7-09C0DF7D59B8}"/>
                </a:ext>
              </a:extLst>
            </p:cNvPr>
            <p:cNvSpPr/>
            <p:nvPr/>
          </p:nvSpPr>
          <p:spPr>
            <a:xfrm>
              <a:off x="11281410" y="5457825"/>
              <a:ext cx="5101590" cy="2601294"/>
            </a:xfrm>
            <a:prstGeom prst="rect">
              <a:avLst/>
            </a:prstGeom>
            <a:noFill/>
            <a:ln/>
          </p:spPr>
          <p:txBody>
            <a:bodyPr wrap="square" lIns="25400" tIns="25400" rIns="25400" bIns="25400" rtlCol="0" anchor="t">
              <a:normAutofit/>
            </a:bodyPr>
            <a:lstStyle/>
            <a:p>
              <a:pPr marL="0" indent="0" algn="r">
                <a:lnSpc>
                  <a:spcPct val="155000"/>
                </a:lnSpc>
                <a:buNone/>
              </a:pPr>
              <a:r>
                <a:rPr lang="en-US" sz="1425" dirty="0">
                  <a:solidFill>
                    <a:srgbClr val="C9CBD1"/>
                  </a:solidFill>
                  <a:latin typeface="Inter" pitchFamily="34" charset="0"/>
                  <a:ea typeface="Inter" pitchFamily="34" charset="-122"/>
                  <a:cs typeface="Inter" pitchFamily="34" charset="-120"/>
                </a:rPr>
                <a:t>Heard "Claude Code" or seen agent demos. </a:t>
              </a:r>
            </a:p>
            <a:p>
              <a:pPr marL="0" indent="0" algn="r">
                <a:lnSpc>
                  <a:spcPct val="155000"/>
                </a:lnSpc>
                <a:buNone/>
              </a:pPr>
              <a:r>
                <a:rPr lang="en-US" sz="1425" dirty="0">
                  <a:solidFill>
                    <a:srgbClr val="C9CBD1"/>
                  </a:solidFill>
                  <a:latin typeface="Inter" pitchFamily="34" charset="0"/>
                  <a:ea typeface="Inter" pitchFamily="34" charset="-122"/>
                  <a:cs typeface="Inter" pitchFamily="34" charset="-120"/>
                </a:rPr>
                <a:t>Decided it isn't for them. </a:t>
              </a:r>
            </a:p>
            <a:p>
              <a:pPr marL="0" indent="0" algn="r">
                <a:lnSpc>
                  <a:spcPct val="155000"/>
                </a:lnSpc>
                <a:buNone/>
              </a:pPr>
              <a:r>
                <a:rPr lang="en-US" sz="1425" dirty="0">
                  <a:solidFill>
                    <a:srgbClr val="C9CBD1"/>
                  </a:solidFill>
                  <a:latin typeface="Inter" pitchFamily="34" charset="0"/>
                  <a:ea typeface="Inter" pitchFamily="34" charset="-122"/>
                  <a:cs typeface="Inter" pitchFamily="34" charset="-120"/>
                </a:rPr>
                <a:t>Tunes out.</a:t>
              </a:r>
              <a:endParaRPr lang="en-US" sz="1425" dirty="0"/>
            </a:p>
          </p:txBody>
        </p:sp>
      </p:grpSp>
      <p:sp>
        <p:nvSpPr>
          <p:cNvPr id="12" name="Shape 10">
            <a:extLst>
              <a:ext uri="{FF2B5EF4-FFF2-40B4-BE49-F238E27FC236}">
                <a16:creationId xmlns:a16="http://schemas.microsoft.com/office/drawing/2014/main" id="{0F0A24C4-6888-C2CF-8A59-EC98522E7EC9}"/>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3" name="Text 11">
            <a:extLst>
              <a:ext uri="{FF2B5EF4-FFF2-40B4-BE49-F238E27FC236}">
                <a16:creationId xmlns:a16="http://schemas.microsoft.com/office/drawing/2014/main" id="{1C67DB2F-C146-6423-287B-DD97BC6CDF1F}"/>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extLst>
      <p:ext uri="{BB962C8B-B14F-4D97-AF65-F5344CB8AC3E}">
        <p14:creationId xmlns:p14="http://schemas.microsoft.com/office/powerpoint/2010/main" val="384413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D442CA35-CB24-BDB4-86B3-C37AF9D5023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3845171-B41E-3229-69D9-7EF2575B98E8}"/>
              </a:ext>
            </a:extLst>
          </p:cNvPr>
          <p:cNvSpPr/>
          <p:nvPr/>
        </p:nvSpPr>
        <p:spPr>
          <a:xfrm>
            <a:off x="1143000" y="158115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Where are you </a:t>
            </a:r>
            <a:r>
              <a:rPr lang="en-US" sz="6300" b="1" kern="0" spc="-126" dirty="0">
                <a:solidFill>
                  <a:srgbClr val="3FE0D0"/>
                </a:solidFill>
                <a:latin typeface="Montserrat" pitchFamily="34" charset="0"/>
                <a:ea typeface="Montserrat" pitchFamily="34" charset="-122"/>
                <a:cs typeface="Montserrat" pitchFamily="34" charset="-120"/>
              </a:rPr>
              <a:t>on the spectrum</a:t>
            </a:r>
            <a:r>
              <a:rPr lang="en-US" sz="6300" b="1" kern="0" spc="-126" dirty="0">
                <a:solidFill>
                  <a:srgbClr val="FFFFFF"/>
                </a:solidFill>
                <a:latin typeface="Montserrat" pitchFamily="34" charset="0"/>
                <a:ea typeface="Montserrat" pitchFamily="34" charset="-122"/>
                <a:cs typeface="Montserrat" pitchFamily="34" charset="-120"/>
              </a:rPr>
              <a:t>?</a:t>
            </a:r>
            <a:endParaRPr lang="en-US" sz="6300" dirty="0"/>
          </a:p>
        </p:txBody>
      </p:sp>
      <p:sp>
        <p:nvSpPr>
          <p:cNvPr id="4" name="Text 2">
            <a:extLst>
              <a:ext uri="{FF2B5EF4-FFF2-40B4-BE49-F238E27FC236}">
                <a16:creationId xmlns:a16="http://schemas.microsoft.com/office/drawing/2014/main" id="{C2B5786E-D8F5-EAFC-3B37-A64C21C00A9C}"/>
              </a:ext>
            </a:extLst>
          </p:cNvPr>
          <p:cNvSpPr/>
          <p:nvPr/>
        </p:nvSpPr>
        <p:spPr>
          <a:xfrm>
            <a:off x="1143000" y="2609850"/>
            <a:ext cx="12753975" cy="638175"/>
          </a:xfrm>
          <a:prstGeom prst="rect">
            <a:avLst/>
          </a:prstGeom>
          <a:noFill/>
          <a:ln/>
        </p:spPr>
        <p:txBody>
          <a:bodyPr wrap="square" lIns="25400" tIns="25400" rIns="25400" bIns="25400" rtlCol="0" anchor="t">
            <a:normAutofit/>
          </a:bodyPr>
          <a:lstStyle/>
          <a:p>
            <a:pPr marL="0" indent="0" algn="l">
              <a:buNone/>
            </a:pPr>
            <a:r>
              <a:rPr lang="en-US" sz="1950" dirty="0">
                <a:solidFill>
                  <a:srgbClr val="C9CBD1"/>
                </a:solidFill>
                <a:latin typeface="Inter" pitchFamily="34" charset="0"/>
                <a:ea typeface="Inter" pitchFamily="34" charset="-122"/>
                <a:cs typeface="Inter" pitchFamily="34" charset="-120"/>
              </a:rPr>
              <a:t>Most people sit at one of two extremes with AI. The good stuff lives in between — and almost nobody is there.</a:t>
            </a:r>
            <a:endParaRPr lang="en-US" sz="1950" dirty="0"/>
          </a:p>
        </p:txBody>
      </p:sp>
      <p:sp>
        <p:nvSpPr>
          <p:cNvPr id="5" name="Text 3">
            <a:extLst>
              <a:ext uri="{FF2B5EF4-FFF2-40B4-BE49-F238E27FC236}">
                <a16:creationId xmlns:a16="http://schemas.microsoft.com/office/drawing/2014/main" id="{2E35BEDA-F376-DD27-3D6F-33363C487050}"/>
              </a:ext>
            </a:extLst>
          </p:cNvPr>
          <p:cNvSpPr/>
          <p:nvPr/>
        </p:nvSpPr>
        <p:spPr>
          <a:xfrm>
            <a:off x="7647198" y="3857625"/>
            <a:ext cx="3083411" cy="481012"/>
          </a:xfrm>
          <a:prstGeom prst="rect">
            <a:avLst/>
          </a:prstGeom>
          <a:noFill/>
          <a:ln/>
        </p:spPr>
        <p:txBody>
          <a:bodyPr wrap="square" lIns="0" tIns="0" rIns="0" bIns="0" rtlCol="0" anchor="t">
            <a:normAutofit/>
          </a:bodyPr>
          <a:lstStyle/>
          <a:p>
            <a:pPr marL="0" indent="0" algn="ctr">
              <a:buNone/>
            </a:pPr>
            <a:r>
              <a:rPr lang="en-US" sz="2850" b="1" kern="0" spc="-29" dirty="0">
                <a:solidFill>
                  <a:srgbClr val="3FE0D0"/>
                </a:solidFill>
                <a:latin typeface="Montserrat" pitchFamily="34" charset="0"/>
                <a:ea typeface="Montserrat" pitchFamily="34" charset="-122"/>
                <a:cs typeface="Montserrat" pitchFamily="34" charset="-120"/>
              </a:rPr>
              <a:t>The sweet spot.</a:t>
            </a:r>
            <a:endParaRPr lang="en-US" sz="2850" dirty="0"/>
          </a:p>
        </p:txBody>
      </p:sp>
      <p:sp>
        <p:nvSpPr>
          <p:cNvPr id="6" name="Text 4">
            <a:extLst>
              <a:ext uri="{FF2B5EF4-FFF2-40B4-BE49-F238E27FC236}">
                <a16:creationId xmlns:a16="http://schemas.microsoft.com/office/drawing/2014/main" id="{4267507F-0CAF-33A3-5437-FD8AAE8E9B1B}"/>
              </a:ext>
            </a:extLst>
          </p:cNvPr>
          <p:cNvSpPr/>
          <p:nvPr/>
        </p:nvSpPr>
        <p:spPr>
          <a:xfrm>
            <a:off x="7602294" y="4376738"/>
            <a:ext cx="3083411" cy="314325"/>
          </a:xfrm>
          <a:prstGeom prst="rect">
            <a:avLst/>
          </a:prstGeom>
          <a:noFill/>
          <a:ln/>
        </p:spPr>
        <p:txBody>
          <a:bodyPr wrap="square" lIns="25400" tIns="25400" rIns="25400" bIns="25400" rtlCol="0" anchor="t">
            <a:normAutofit lnSpcReduction="10000"/>
          </a:bodyPr>
          <a:lstStyle/>
          <a:p>
            <a:pPr marL="0" indent="0" algn="ctr">
              <a:buNone/>
            </a:pPr>
            <a:r>
              <a:rPr lang="en-US" sz="1800" b="1" kern="0" spc="720" dirty="0">
                <a:solidFill>
                  <a:srgbClr val="3FE0D0"/>
                </a:solidFill>
                <a:latin typeface="Montserrat" pitchFamily="34" charset="0"/>
                <a:ea typeface="Montserrat" pitchFamily="34" charset="-122"/>
                <a:cs typeface="Montserrat" pitchFamily="34" charset="-120"/>
              </a:rPr>
              <a:t>↓</a:t>
            </a:r>
            <a:endParaRPr lang="en-US" sz="1800" dirty="0"/>
          </a:p>
        </p:txBody>
      </p:sp>
      <p:sp>
        <p:nvSpPr>
          <p:cNvPr id="7" name="Shape 5">
            <a:extLst>
              <a:ext uri="{FF2B5EF4-FFF2-40B4-BE49-F238E27FC236}">
                <a16:creationId xmlns:a16="http://schemas.microsoft.com/office/drawing/2014/main" id="{5605797E-9268-B718-C796-33485671AB9A}"/>
              </a:ext>
            </a:extLst>
          </p:cNvPr>
          <p:cNvSpPr/>
          <p:nvPr/>
        </p:nvSpPr>
        <p:spPr>
          <a:xfrm>
            <a:off x="1905000" y="4543425"/>
            <a:ext cx="14478000" cy="19050"/>
          </a:xfrm>
          <a:prstGeom prst="rect">
            <a:avLst/>
          </a:prstGeom>
          <a:solidFill>
            <a:srgbClr val="F58220"/>
          </a:solidFill>
          <a:ln/>
        </p:spPr>
        <p:txBody>
          <a:bodyPr/>
          <a:lstStyle/>
          <a:p>
            <a:endParaRPr lang="en-US"/>
          </a:p>
        </p:txBody>
      </p:sp>
      <p:sp>
        <p:nvSpPr>
          <p:cNvPr id="8" name="Text 6">
            <a:extLst>
              <a:ext uri="{FF2B5EF4-FFF2-40B4-BE49-F238E27FC236}">
                <a16:creationId xmlns:a16="http://schemas.microsoft.com/office/drawing/2014/main" id="{9EB26506-7504-AA34-AEE8-98C2E85E9D75}"/>
              </a:ext>
            </a:extLst>
          </p:cNvPr>
          <p:cNvSpPr/>
          <p:nvPr/>
        </p:nvSpPr>
        <p:spPr>
          <a:xfrm>
            <a:off x="1905000" y="4905375"/>
            <a:ext cx="5101590" cy="457200"/>
          </a:xfrm>
          <a:prstGeom prst="rect">
            <a:avLst/>
          </a:prstGeom>
          <a:noFill/>
          <a:ln/>
        </p:spPr>
        <p:txBody>
          <a:bodyPr wrap="square" lIns="25400" tIns="25400" rIns="25400" bIns="25400" rtlCol="0" anchor="t">
            <a:normAutofit lnSpcReduction="10000"/>
          </a:bodyPr>
          <a:lstStyle/>
          <a:p>
            <a:pPr marL="0" indent="0" algn="l">
              <a:buNone/>
            </a:pPr>
            <a:r>
              <a:rPr lang="en-US" sz="2700" b="1" kern="0" spc="-27" dirty="0">
                <a:solidFill>
                  <a:srgbClr val="FFFFFF"/>
                </a:solidFill>
                <a:latin typeface="Montserrat" pitchFamily="34" charset="0"/>
                <a:ea typeface="Montserrat" pitchFamily="34" charset="-122"/>
                <a:cs typeface="Montserrat" pitchFamily="34" charset="-120"/>
              </a:rPr>
              <a:t>Smarter Google.</a:t>
            </a:r>
            <a:endParaRPr lang="en-US" sz="2700" dirty="0"/>
          </a:p>
        </p:txBody>
      </p:sp>
      <p:sp>
        <p:nvSpPr>
          <p:cNvPr id="9" name="Text 7">
            <a:extLst>
              <a:ext uri="{FF2B5EF4-FFF2-40B4-BE49-F238E27FC236}">
                <a16:creationId xmlns:a16="http://schemas.microsoft.com/office/drawing/2014/main" id="{A6651446-315A-8C7A-5039-25AFFE9CCC3D}"/>
              </a:ext>
            </a:extLst>
          </p:cNvPr>
          <p:cNvSpPr/>
          <p:nvPr/>
        </p:nvSpPr>
        <p:spPr>
          <a:xfrm>
            <a:off x="1905000" y="5457825"/>
            <a:ext cx="5101590" cy="2881313"/>
          </a:xfrm>
          <a:prstGeom prst="rect">
            <a:avLst/>
          </a:prstGeom>
          <a:noFill/>
          <a:ln/>
        </p:spPr>
        <p:txBody>
          <a:bodyPr wrap="square" lIns="25400" tIns="25400" rIns="25400" bIns="25400" rtlCol="0" anchor="t">
            <a:normAutofit/>
          </a:bodyPr>
          <a:lstStyle/>
          <a:p>
            <a:pPr marL="0" indent="0" algn="l">
              <a:lnSpc>
                <a:spcPct val="155000"/>
              </a:lnSpc>
              <a:buNone/>
            </a:pPr>
            <a:r>
              <a:rPr lang="en-US" sz="1425" dirty="0">
                <a:solidFill>
                  <a:srgbClr val="C9CBD1"/>
                </a:solidFill>
                <a:latin typeface="Inter" pitchFamily="34" charset="0"/>
                <a:ea typeface="Inter" pitchFamily="34" charset="-122"/>
                <a:cs typeface="Inter" pitchFamily="34" charset="-120"/>
              </a:rPr>
              <a:t>Quick questions. </a:t>
            </a:r>
          </a:p>
          <a:p>
            <a:pPr marL="0" indent="0" algn="l">
              <a:lnSpc>
                <a:spcPct val="155000"/>
              </a:lnSpc>
              <a:buNone/>
            </a:pPr>
            <a:r>
              <a:rPr lang="en-US" sz="1425" dirty="0">
                <a:solidFill>
                  <a:srgbClr val="C9CBD1"/>
                </a:solidFill>
                <a:latin typeface="Inter" pitchFamily="34" charset="0"/>
                <a:ea typeface="Inter" pitchFamily="34" charset="-122"/>
                <a:cs typeface="Inter" pitchFamily="34" charset="-120"/>
              </a:rPr>
              <a:t>Email proofing. </a:t>
            </a:r>
          </a:p>
          <a:p>
            <a:pPr marL="0" indent="0" algn="l">
              <a:lnSpc>
                <a:spcPct val="155000"/>
              </a:lnSpc>
              <a:buNone/>
            </a:pPr>
            <a:r>
              <a:rPr lang="en-US" sz="1425" dirty="0">
                <a:solidFill>
                  <a:srgbClr val="C9CBD1"/>
                </a:solidFill>
                <a:latin typeface="Inter" pitchFamily="34" charset="0"/>
                <a:ea typeface="Inter" pitchFamily="34" charset="-122"/>
                <a:cs typeface="Inter" pitchFamily="34" charset="-120"/>
              </a:rPr>
              <a:t>"Summarize this."</a:t>
            </a:r>
          </a:p>
        </p:txBody>
      </p:sp>
      <p:sp>
        <p:nvSpPr>
          <p:cNvPr id="10" name="Text 8">
            <a:extLst>
              <a:ext uri="{FF2B5EF4-FFF2-40B4-BE49-F238E27FC236}">
                <a16:creationId xmlns:a16="http://schemas.microsoft.com/office/drawing/2014/main" id="{9E5AB9E9-7297-58D0-8D85-49DC52485BE7}"/>
              </a:ext>
            </a:extLst>
          </p:cNvPr>
          <p:cNvSpPr/>
          <p:nvPr/>
        </p:nvSpPr>
        <p:spPr>
          <a:xfrm>
            <a:off x="11281410" y="4905375"/>
            <a:ext cx="5101590" cy="457200"/>
          </a:xfrm>
          <a:prstGeom prst="rect">
            <a:avLst/>
          </a:prstGeom>
          <a:noFill/>
          <a:ln/>
        </p:spPr>
        <p:txBody>
          <a:bodyPr wrap="square" lIns="25400" tIns="25400" rIns="25400" bIns="25400" rtlCol="0" anchor="t">
            <a:normAutofit lnSpcReduction="10000"/>
          </a:bodyPr>
          <a:lstStyle/>
          <a:p>
            <a:pPr marL="0" indent="0" algn="r">
              <a:buNone/>
            </a:pPr>
            <a:r>
              <a:rPr lang="en-US" sz="2700" b="1" kern="0" spc="-27" dirty="0">
                <a:solidFill>
                  <a:srgbClr val="FFFFFF"/>
                </a:solidFill>
                <a:latin typeface="Montserrat" pitchFamily="34" charset="0"/>
                <a:ea typeface="Montserrat" pitchFamily="34" charset="-122"/>
                <a:cs typeface="Montserrat" pitchFamily="34" charset="-120"/>
              </a:rPr>
              <a:t>That's a developer thing.</a:t>
            </a:r>
            <a:endParaRPr lang="en-US" sz="2700" dirty="0"/>
          </a:p>
        </p:txBody>
      </p:sp>
      <p:sp>
        <p:nvSpPr>
          <p:cNvPr id="11" name="Text 9">
            <a:extLst>
              <a:ext uri="{FF2B5EF4-FFF2-40B4-BE49-F238E27FC236}">
                <a16:creationId xmlns:a16="http://schemas.microsoft.com/office/drawing/2014/main" id="{142332D2-A9C0-E8D7-E8A4-B03CE17F4B65}"/>
              </a:ext>
            </a:extLst>
          </p:cNvPr>
          <p:cNvSpPr/>
          <p:nvPr/>
        </p:nvSpPr>
        <p:spPr>
          <a:xfrm>
            <a:off x="11281410" y="5457825"/>
            <a:ext cx="5101590" cy="2601294"/>
          </a:xfrm>
          <a:prstGeom prst="rect">
            <a:avLst/>
          </a:prstGeom>
          <a:noFill/>
          <a:ln/>
        </p:spPr>
        <p:txBody>
          <a:bodyPr wrap="square" lIns="25400" tIns="25400" rIns="25400" bIns="25400" rtlCol="0" anchor="t">
            <a:normAutofit/>
          </a:bodyPr>
          <a:lstStyle/>
          <a:p>
            <a:pPr marL="0" indent="0" algn="r">
              <a:lnSpc>
                <a:spcPct val="155000"/>
              </a:lnSpc>
              <a:buNone/>
            </a:pPr>
            <a:r>
              <a:rPr lang="en-US" sz="1425" dirty="0">
                <a:solidFill>
                  <a:srgbClr val="C9CBD1"/>
                </a:solidFill>
                <a:latin typeface="Inter" pitchFamily="34" charset="0"/>
                <a:ea typeface="Inter" pitchFamily="34" charset="-122"/>
                <a:cs typeface="Inter" pitchFamily="34" charset="-120"/>
              </a:rPr>
              <a:t>Heard "Claude Code" or seen agent demos. </a:t>
            </a:r>
          </a:p>
          <a:p>
            <a:pPr marL="0" indent="0" algn="r">
              <a:lnSpc>
                <a:spcPct val="155000"/>
              </a:lnSpc>
              <a:buNone/>
            </a:pPr>
            <a:r>
              <a:rPr lang="en-US" sz="1425" dirty="0">
                <a:solidFill>
                  <a:srgbClr val="C9CBD1"/>
                </a:solidFill>
                <a:latin typeface="Inter" pitchFamily="34" charset="0"/>
                <a:ea typeface="Inter" pitchFamily="34" charset="-122"/>
                <a:cs typeface="Inter" pitchFamily="34" charset="-120"/>
              </a:rPr>
              <a:t>Decided it isn't for them. </a:t>
            </a:r>
          </a:p>
          <a:p>
            <a:pPr marL="0" indent="0" algn="r">
              <a:lnSpc>
                <a:spcPct val="155000"/>
              </a:lnSpc>
              <a:buNone/>
            </a:pPr>
            <a:r>
              <a:rPr lang="en-US" sz="1425" dirty="0">
                <a:solidFill>
                  <a:srgbClr val="C9CBD1"/>
                </a:solidFill>
                <a:latin typeface="Inter" pitchFamily="34" charset="0"/>
                <a:ea typeface="Inter" pitchFamily="34" charset="-122"/>
                <a:cs typeface="Inter" pitchFamily="34" charset="-120"/>
              </a:rPr>
              <a:t>Tunes out.</a:t>
            </a:r>
            <a:endParaRPr lang="en-US" sz="1425" dirty="0"/>
          </a:p>
        </p:txBody>
      </p:sp>
      <p:sp>
        <p:nvSpPr>
          <p:cNvPr id="12" name="Shape 10">
            <a:extLst>
              <a:ext uri="{FF2B5EF4-FFF2-40B4-BE49-F238E27FC236}">
                <a16:creationId xmlns:a16="http://schemas.microsoft.com/office/drawing/2014/main" id="{6800AFA0-56E9-4DDE-9654-DAFE55161DE8}"/>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3" name="Text 11">
            <a:extLst>
              <a:ext uri="{FF2B5EF4-FFF2-40B4-BE49-F238E27FC236}">
                <a16:creationId xmlns:a16="http://schemas.microsoft.com/office/drawing/2014/main" id="{1CE0621C-0AB1-49AD-06B8-AE34DCEAED19}"/>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extLst>
      <p:ext uri="{BB962C8B-B14F-4D97-AF65-F5344CB8AC3E}">
        <p14:creationId xmlns:p14="http://schemas.microsoft.com/office/powerpoint/2010/main" val="3512004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41B630A2-44EB-6C99-1E70-9F32A8BB012B}"/>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C7519F9F-A2C9-E9F4-4C1A-65ACC8A16613}"/>
              </a:ext>
            </a:extLst>
          </p:cNvPr>
          <p:cNvGrpSpPr/>
          <p:nvPr/>
        </p:nvGrpSpPr>
        <p:grpSpPr>
          <a:xfrm>
            <a:off x="1143000" y="4090987"/>
            <a:ext cx="5130775" cy="4322198"/>
            <a:chOff x="1143000" y="4090987"/>
            <a:chExt cx="5130775" cy="4322198"/>
          </a:xfrm>
        </p:grpSpPr>
        <p:sp>
          <p:nvSpPr>
            <p:cNvPr id="29" name="Rounded Rectangle 28">
              <a:extLst>
                <a:ext uri="{FF2B5EF4-FFF2-40B4-BE49-F238E27FC236}">
                  <a16:creationId xmlns:a16="http://schemas.microsoft.com/office/drawing/2014/main" id="{1EBAD44B-F008-3293-B375-B3B607E20A32}"/>
                </a:ext>
              </a:extLst>
            </p:cNvPr>
            <p:cNvSpPr/>
            <p:nvPr/>
          </p:nvSpPr>
          <p:spPr>
            <a:xfrm>
              <a:off x="1143000" y="4105274"/>
              <a:ext cx="5130775" cy="4307911"/>
            </a:xfrm>
            <a:prstGeom prst="roundRect">
              <a:avLst>
                <a:gd name="adj" fmla="val 0"/>
              </a:avLst>
            </a:prstGeom>
            <a:blipFill>
              <a:blip r:embed="rId3"/>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hape 4">
              <a:extLst>
                <a:ext uri="{FF2B5EF4-FFF2-40B4-BE49-F238E27FC236}">
                  <a16:creationId xmlns:a16="http://schemas.microsoft.com/office/drawing/2014/main" id="{8E2C9218-E78B-12F0-FE75-1CF70ACF4951}"/>
                </a:ext>
              </a:extLst>
            </p:cNvPr>
            <p:cNvSpPr/>
            <p:nvPr/>
          </p:nvSpPr>
          <p:spPr>
            <a:xfrm>
              <a:off x="1143000" y="4090987"/>
              <a:ext cx="5130775" cy="28575"/>
            </a:xfrm>
            <a:prstGeom prst="rect">
              <a:avLst/>
            </a:prstGeom>
            <a:solidFill>
              <a:srgbClr val="3FE0D0"/>
            </a:solidFill>
            <a:ln/>
          </p:spPr>
          <p:txBody>
            <a:bodyPr/>
            <a:lstStyle/>
            <a:p>
              <a:endParaRPr lang="en-US"/>
            </a:p>
          </p:txBody>
        </p:sp>
      </p:grpSp>
      <p:grpSp>
        <p:nvGrpSpPr>
          <p:cNvPr id="10" name="Group 9">
            <a:extLst>
              <a:ext uri="{FF2B5EF4-FFF2-40B4-BE49-F238E27FC236}">
                <a16:creationId xmlns:a16="http://schemas.microsoft.com/office/drawing/2014/main" id="{DFBBFF0D-B9B3-D7E3-C8B6-EB14425679A8}"/>
              </a:ext>
            </a:extLst>
          </p:cNvPr>
          <p:cNvGrpSpPr/>
          <p:nvPr/>
        </p:nvGrpSpPr>
        <p:grpSpPr>
          <a:xfrm>
            <a:off x="6578575" y="4090987"/>
            <a:ext cx="5130775" cy="4336486"/>
            <a:chOff x="6578575" y="4090987"/>
            <a:chExt cx="5130775" cy="4336486"/>
          </a:xfrm>
        </p:grpSpPr>
        <p:sp>
          <p:nvSpPr>
            <p:cNvPr id="30" name="Rounded Rectangle 29">
              <a:extLst>
                <a:ext uri="{FF2B5EF4-FFF2-40B4-BE49-F238E27FC236}">
                  <a16:creationId xmlns:a16="http://schemas.microsoft.com/office/drawing/2014/main" id="{46F7E94A-B165-D2D6-EE38-6BCE60891D8E}"/>
                </a:ext>
              </a:extLst>
            </p:cNvPr>
            <p:cNvSpPr/>
            <p:nvPr/>
          </p:nvSpPr>
          <p:spPr>
            <a:xfrm>
              <a:off x="6578575" y="4119562"/>
              <a:ext cx="5130775" cy="4307911"/>
            </a:xfrm>
            <a:prstGeom prst="roundRect">
              <a:avLst>
                <a:gd name="adj" fmla="val 0"/>
              </a:avLst>
            </a:prstGeom>
            <a:blipFill>
              <a:blip r:embed="rId4"/>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Shape 11">
              <a:extLst>
                <a:ext uri="{FF2B5EF4-FFF2-40B4-BE49-F238E27FC236}">
                  <a16:creationId xmlns:a16="http://schemas.microsoft.com/office/drawing/2014/main" id="{860B5C62-CDD8-8809-E741-EEB6EAA8AE83}"/>
                </a:ext>
              </a:extLst>
            </p:cNvPr>
            <p:cNvSpPr/>
            <p:nvPr/>
          </p:nvSpPr>
          <p:spPr>
            <a:xfrm>
              <a:off x="6578575" y="4090987"/>
              <a:ext cx="5130775" cy="28575"/>
            </a:xfrm>
            <a:prstGeom prst="rect">
              <a:avLst/>
            </a:prstGeom>
            <a:solidFill>
              <a:srgbClr val="3FE0D0"/>
            </a:solidFill>
            <a:ln/>
          </p:spPr>
          <p:txBody>
            <a:bodyPr/>
            <a:lstStyle/>
            <a:p>
              <a:endParaRPr lang="en-US"/>
            </a:p>
          </p:txBody>
        </p:sp>
      </p:grpSp>
      <p:grpSp>
        <p:nvGrpSpPr>
          <p:cNvPr id="12" name="Group 11">
            <a:extLst>
              <a:ext uri="{FF2B5EF4-FFF2-40B4-BE49-F238E27FC236}">
                <a16:creationId xmlns:a16="http://schemas.microsoft.com/office/drawing/2014/main" id="{4FC53A52-24E6-B476-F3A0-67008EDA6F2C}"/>
              </a:ext>
            </a:extLst>
          </p:cNvPr>
          <p:cNvGrpSpPr/>
          <p:nvPr/>
        </p:nvGrpSpPr>
        <p:grpSpPr>
          <a:xfrm>
            <a:off x="12014150" y="4090987"/>
            <a:ext cx="5130850" cy="4344783"/>
            <a:chOff x="12014150" y="4090987"/>
            <a:chExt cx="5130850" cy="4344783"/>
          </a:xfrm>
        </p:grpSpPr>
        <p:sp>
          <p:nvSpPr>
            <p:cNvPr id="31" name="Rounded Rectangle 30">
              <a:extLst>
                <a:ext uri="{FF2B5EF4-FFF2-40B4-BE49-F238E27FC236}">
                  <a16:creationId xmlns:a16="http://schemas.microsoft.com/office/drawing/2014/main" id="{DD7DDF8D-073F-6783-0E5A-88A3042C7A3B}"/>
                </a:ext>
              </a:extLst>
            </p:cNvPr>
            <p:cNvSpPr/>
            <p:nvPr/>
          </p:nvSpPr>
          <p:spPr>
            <a:xfrm>
              <a:off x="12014150" y="4127859"/>
              <a:ext cx="5130775" cy="4307911"/>
            </a:xfrm>
            <a:prstGeom prst="roundRect">
              <a:avLst>
                <a:gd name="adj" fmla="val 0"/>
              </a:avLst>
            </a:prstGeom>
            <a:blipFill>
              <a:blip r:embed="rId5"/>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Shape 18">
              <a:extLst>
                <a:ext uri="{FF2B5EF4-FFF2-40B4-BE49-F238E27FC236}">
                  <a16:creationId xmlns:a16="http://schemas.microsoft.com/office/drawing/2014/main" id="{1DD720DD-A77A-FD05-772B-8CDFE2574E7D}"/>
                </a:ext>
              </a:extLst>
            </p:cNvPr>
            <p:cNvSpPr/>
            <p:nvPr/>
          </p:nvSpPr>
          <p:spPr>
            <a:xfrm>
              <a:off x="12014150" y="4090987"/>
              <a:ext cx="5130850" cy="28575"/>
            </a:xfrm>
            <a:prstGeom prst="rect">
              <a:avLst/>
            </a:prstGeom>
            <a:solidFill>
              <a:srgbClr val="3FE0D0"/>
            </a:solidFill>
            <a:ln/>
          </p:spPr>
          <p:txBody>
            <a:bodyPr/>
            <a:lstStyle/>
            <a:p>
              <a:endParaRPr lang="en-US"/>
            </a:p>
          </p:txBody>
        </p:sp>
      </p:grpSp>
      <p:sp>
        <p:nvSpPr>
          <p:cNvPr id="2" name="Text 0">
            <a:extLst>
              <a:ext uri="{FF2B5EF4-FFF2-40B4-BE49-F238E27FC236}">
                <a16:creationId xmlns:a16="http://schemas.microsoft.com/office/drawing/2014/main" id="{A47DA0AE-0D9F-DDC8-313F-46A219143F54}"/>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THE FRAMING</a:t>
            </a:r>
            <a:endParaRPr lang="en-US" sz="1350" dirty="0"/>
          </a:p>
        </p:txBody>
      </p:sp>
      <p:sp>
        <p:nvSpPr>
          <p:cNvPr id="3" name="Text 1">
            <a:extLst>
              <a:ext uri="{FF2B5EF4-FFF2-40B4-BE49-F238E27FC236}">
                <a16:creationId xmlns:a16="http://schemas.microsoft.com/office/drawing/2014/main" id="{D2455F4C-D0E5-0098-D436-CC81E83D7C5F}"/>
              </a:ext>
            </a:extLst>
          </p:cNvPr>
          <p:cNvSpPr/>
          <p:nvPr/>
        </p:nvSpPr>
        <p:spPr>
          <a:xfrm>
            <a:off x="1143000" y="1581150"/>
            <a:ext cx="16482060"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144" dirty="0">
                <a:solidFill>
                  <a:srgbClr val="FFFFFF"/>
                </a:solidFill>
                <a:latin typeface="Montserrat" pitchFamily="34" charset="0"/>
                <a:ea typeface="Montserrat" pitchFamily="34" charset="-122"/>
                <a:cs typeface="Montserrat" pitchFamily="34" charset="-120"/>
              </a:rPr>
              <a:t>Three doors. None require code.</a:t>
            </a:r>
            <a:endParaRPr lang="en-US" sz="7200" dirty="0"/>
          </a:p>
        </p:txBody>
      </p:sp>
      <p:sp>
        <p:nvSpPr>
          <p:cNvPr id="4" name="Text 2">
            <a:extLst>
              <a:ext uri="{FF2B5EF4-FFF2-40B4-BE49-F238E27FC236}">
                <a16:creationId xmlns:a16="http://schemas.microsoft.com/office/drawing/2014/main" id="{6B4A44B3-1F89-137F-FCAA-68F7DF431D42}"/>
              </a:ext>
            </a:extLst>
          </p:cNvPr>
          <p:cNvSpPr/>
          <p:nvPr/>
        </p:nvSpPr>
        <p:spPr>
          <a:xfrm>
            <a:off x="1143000" y="2724150"/>
            <a:ext cx="12753975"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Walk through the ones that fit. Walk past the ones that don't.</a:t>
            </a:r>
            <a:endParaRPr lang="en-US" sz="1950" dirty="0"/>
          </a:p>
        </p:txBody>
      </p:sp>
      <p:sp>
        <p:nvSpPr>
          <p:cNvPr id="7" name="Text 5">
            <a:extLst>
              <a:ext uri="{FF2B5EF4-FFF2-40B4-BE49-F238E27FC236}">
                <a16:creationId xmlns:a16="http://schemas.microsoft.com/office/drawing/2014/main" id="{C53313FC-762F-68E0-14AE-81B5C94A5FFB}"/>
              </a:ext>
            </a:extLst>
          </p:cNvPr>
          <p:cNvSpPr/>
          <p:nvPr/>
        </p:nvSpPr>
        <p:spPr>
          <a:xfrm>
            <a:off x="1524000" y="4545767"/>
            <a:ext cx="4499838" cy="214313"/>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4B596B"/>
                </a:solidFill>
                <a:latin typeface="JetBrains Mono" pitchFamily="34" charset="0"/>
                <a:ea typeface="JetBrains Mono" pitchFamily="34" charset="-122"/>
                <a:cs typeface="JetBrains Mono" pitchFamily="34" charset="-120"/>
              </a:rPr>
              <a:t>DOOR 01</a:t>
            </a:r>
            <a:endParaRPr lang="en-US" sz="1050" dirty="0">
              <a:solidFill>
                <a:srgbClr val="4B596B"/>
              </a:solidFill>
            </a:endParaRPr>
          </a:p>
        </p:txBody>
      </p:sp>
      <p:sp>
        <p:nvSpPr>
          <p:cNvPr id="8" name="Text 6">
            <a:extLst>
              <a:ext uri="{FF2B5EF4-FFF2-40B4-BE49-F238E27FC236}">
                <a16:creationId xmlns:a16="http://schemas.microsoft.com/office/drawing/2014/main" id="{721ACD55-4224-1551-6932-033FCD4161E4}"/>
              </a:ext>
            </a:extLst>
          </p:cNvPr>
          <p:cNvSpPr/>
          <p:nvPr/>
        </p:nvSpPr>
        <p:spPr>
          <a:xfrm>
            <a:off x="1524000" y="4848225"/>
            <a:ext cx="4499838" cy="10096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9000" b="1" kern="0" spc="-180" dirty="0">
                <a:solidFill>
                  <a:srgbClr val="4B596B"/>
                </a:solidFill>
                <a:latin typeface="Montserrat" pitchFamily="34" charset="0"/>
                <a:ea typeface="Montserrat" pitchFamily="34" charset="-122"/>
                <a:cs typeface="Montserrat" pitchFamily="34" charset="-120"/>
              </a:rPr>
              <a:t>01</a:t>
            </a:r>
            <a:endParaRPr lang="en-US" sz="9000" dirty="0">
              <a:solidFill>
                <a:srgbClr val="4B596B"/>
              </a:solidFill>
            </a:endParaRPr>
          </a:p>
        </p:txBody>
      </p:sp>
      <p:sp>
        <p:nvSpPr>
          <p:cNvPr id="9" name="Text 7">
            <a:extLst>
              <a:ext uri="{FF2B5EF4-FFF2-40B4-BE49-F238E27FC236}">
                <a16:creationId xmlns:a16="http://schemas.microsoft.com/office/drawing/2014/main" id="{72068215-9E32-F4AF-6719-D3304A0C0AC8}"/>
              </a:ext>
            </a:extLst>
          </p:cNvPr>
          <p:cNvSpPr/>
          <p:nvPr/>
        </p:nvSpPr>
        <p:spPr>
          <a:xfrm>
            <a:off x="1524000" y="8514216"/>
            <a:ext cx="4499838" cy="595313"/>
          </a:xfrm>
          <a:prstGeom prst="rect">
            <a:avLst/>
          </a:prstGeom>
          <a:noFill/>
          <a:ln/>
        </p:spPr>
        <p:txBody>
          <a:bodyPr wrap="square" lIns="25400" tIns="25400" rIns="25400" bIns="25400" rtlCol="0" anchor="t">
            <a:normAutofit lnSpcReduction="10000"/>
          </a:bodyPr>
          <a:lstStyle/>
          <a:p>
            <a:pPr marL="0" indent="0" algn="l">
              <a:buNone/>
            </a:pPr>
            <a:r>
              <a:rPr lang="en-US" sz="3600" b="1" kern="0" spc="-36" dirty="0">
                <a:solidFill>
                  <a:srgbClr val="FFFFFF"/>
                </a:solidFill>
                <a:latin typeface="Montserrat" pitchFamily="34" charset="0"/>
                <a:ea typeface="Montserrat" pitchFamily="34" charset="-122"/>
                <a:cs typeface="Montserrat" pitchFamily="34" charset="-120"/>
              </a:rPr>
              <a:t>Claude Chat.</a:t>
            </a:r>
            <a:endParaRPr lang="en-US" sz="3600" dirty="0"/>
          </a:p>
        </p:txBody>
      </p:sp>
      <p:sp>
        <p:nvSpPr>
          <p:cNvPr id="14" name="Text 12">
            <a:extLst>
              <a:ext uri="{FF2B5EF4-FFF2-40B4-BE49-F238E27FC236}">
                <a16:creationId xmlns:a16="http://schemas.microsoft.com/office/drawing/2014/main" id="{CD4CD984-6317-E036-681B-E80745132E1A}"/>
              </a:ext>
            </a:extLst>
          </p:cNvPr>
          <p:cNvSpPr/>
          <p:nvPr/>
        </p:nvSpPr>
        <p:spPr>
          <a:xfrm>
            <a:off x="6959575" y="4545767"/>
            <a:ext cx="4499838" cy="214313"/>
          </a:xfrm>
          <a:prstGeom prst="rect">
            <a:avLst/>
          </a:prstGeom>
          <a:noFill/>
          <a:ln/>
        </p:spPr>
        <p:txBody>
          <a:bodyPr wrap="square" lIns="25400" tIns="25400" rIns="25400" bIns="25400" rtlCol="0" anchor="t">
            <a:normAutofit/>
          </a:bodyPr>
          <a:lstStyle/>
          <a:p>
            <a:pPr marL="0" indent="0" algn="l">
              <a:buNone/>
            </a:pPr>
            <a:r>
              <a:rPr lang="en-US" sz="1050" kern="0" spc="231" dirty="0">
                <a:solidFill>
                  <a:schemeClr val="bg1"/>
                </a:solidFill>
                <a:latin typeface="JetBrains Mono" pitchFamily="34" charset="0"/>
                <a:ea typeface="JetBrains Mono" pitchFamily="34" charset="-122"/>
                <a:cs typeface="JetBrains Mono" pitchFamily="34" charset="-120"/>
              </a:rPr>
              <a:t>DOOR 02</a:t>
            </a:r>
            <a:endParaRPr lang="en-US" sz="1050" dirty="0">
              <a:solidFill>
                <a:schemeClr val="bg1"/>
              </a:solidFill>
            </a:endParaRPr>
          </a:p>
        </p:txBody>
      </p:sp>
      <p:sp>
        <p:nvSpPr>
          <p:cNvPr id="15" name="Text 13">
            <a:extLst>
              <a:ext uri="{FF2B5EF4-FFF2-40B4-BE49-F238E27FC236}">
                <a16:creationId xmlns:a16="http://schemas.microsoft.com/office/drawing/2014/main" id="{2DCD40A0-AAD7-C5BB-BE69-36B3AA43C599}"/>
              </a:ext>
            </a:extLst>
          </p:cNvPr>
          <p:cNvSpPr/>
          <p:nvPr/>
        </p:nvSpPr>
        <p:spPr>
          <a:xfrm>
            <a:off x="6959575" y="4848225"/>
            <a:ext cx="4499838" cy="10096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9000" b="1" kern="0" spc="-180" dirty="0">
                <a:solidFill>
                  <a:schemeClr val="bg1"/>
                </a:solidFill>
                <a:latin typeface="Montserrat" pitchFamily="34" charset="0"/>
                <a:ea typeface="Montserrat" pitchFamily="34" charset="-122"/>
                <a:cs typeface="Montserrat" pitchFamily="34" charset="-120"/>
              </a:rPr>
              <a:t>02</a:t>
            </a:r>
            <a:endParaRPr lang="en-US" sz="9000" dirty="0">
              <a:solidFill>
                <a:schemeClr val="bg1"/>
              </a:solidFill>
            </a:endParaRPr>
          </a:p>
        </p:txBody>
      </p:sp>
      <p:sp>
        <p:nvSpPr>
          <p:cNvPr id="16" name="Text 14">
            <a:extLst>
              <a:ext uri="{FF2B5EF4-FFF2-40B4-BE49-F238E27FC236}">
                <a16:creationId xmlns:a16="http://schemas.microsoft.com/office/drawing/2014/main" id="{B992FE91-062B-2B90-F963-AE69F1D7DEF1}"/>
              </a:ext>
            </a:extLst>
          </p:cNvPr>
          <p:cNvSpPr/>
          <p:nvPr/>
        </p:nvSpPr>
        <p:spPr>
          <a:xfrm>
            <a:off x="6959575" y="8514216"/>
            <a:ext cx="4499838" cy="595313"/>
          </a:xfrm>
          <a:prstGeom prst="rect">
            <a:avLst/>
          </a:prstGeom>
          <a:noFill/>
          <a:ln/>
        </p:spPr>
        <p:txBody>
          <a:bodyPr wrap="square" lIns="25400" tIns="25400" rIns="25400" bIns="25400" rtlCol="0" anchor="t">
            <a:normAutofit lnSpcReduction="10000"/>
          </a:bodyPr>
          <a:lstStyle/>
          <a:p>
            <a:pPr marL="0" indent="0" algn="l">
              <a:buNone/>
            </a:pPr>
            <a:r>
              <a:rPr lang="en-US" sz="3600" b="1" kern="0" spc="-36" dirty="0">
                <a:solidFill>
                  <a:srgbClr val="FFFFFF"/>
                </a:solidFill>
                <a:latin typeface="Montserrat" pitchFamily="34" charset="0"/>
                <a:ea typeface="Montserrat" pitchFamily="34" charset="-122"/>
                <a:cs typeface="Montserrat" pitchFamily="34" charset="-120"/>
              </a:rPr>
              <a:t>Claude Cowork.</a:t>
            </a:r>
            <a:endParaRPr lang="en-US" sz="3600" dirty="0"/>
          </a:p>
        </p:txBody>
      </p:sp>
      <p:sp>
        <p:nvSpPr>
          <p:cNvPr id="21" name="Text 19">
            <a:extLst>
              <a:ext uri="{FF2B5EF4-FFF2-40B4-BE49-F238E27FC236}">
                <a16:creationId xmlns:a16="http://schemas.microsoft.com/office/drawing/2014/main" id="{24A9F7D3-8722-038B-211B-626CE26355AB}"/>
              </a:ext>
            </a:extLst>
          </p:cNvPr>
          <p:cNvSpPr/>
          <p:nvPr/>
        </p:nvSpPr>
        <p:spPr>
          <a:xfrm>
            <a:off x="12395150" y="4545767"/>
            <a:ext cx="4499915" cy="214313"/>
          </a:xfrm>
          <a:prstGeom prst="rect">
            <a:avLst/>
          </a:prstGeom>
          <a:noFill/>
          <a:ln/>
        </p:spPr>
        <p:txBody>
          <a:bodyPr wrap="square" lIns="25400" tIns="25400" rIns="25400" bIns="25400" rtlCol="0" anchor="t">
            <a:normAutofit/>
          </a:bodyPr>
          <a:lstStyle/>
          <a:p>
            <a:pPr marL="0" indent="0" algn="l">
              <a:buNone/>
            </a:pPr>
            <a:r>
              <a:rPr lang="en-US" sz="1050" kern="0" spc="231" dirty="0">
                <a:solidFill>
                  <a:schemeClr val="bg1"/>
                </a:solidFill>
                <a:latin typeface="JetBrains Mono" pitchFamily="34" charset="0"/>
                <a:ea typeface="JetBrains Mono" pitchFamily="34" charset="-122"/>
                <a:cs typeface="JetBrains Mono" pitchFamily="34" charset="-120"/>
              </a:rPr>
              <a:t>DOOR 03</a:t>
            </a:r>
            <a:endParaRPr lang="en-US" sz="1050" dirty="0">
              <a:solidFill>
                <a:schemeClr val="bg1"/>
              </a:solidFill>
            </a:endParaRPr>
          </a:p>
        </p:txBody>
      </p:sp>
      <p:sp>
        <p:nvSpPr>
          <p:cNvPr id="22" name="Text 20">
            <a:extLst>
              <a:ext uri="{FF2B5EF4-FFF2-40B4-BE49-F238E27FC236}">
                <a16:creationId xmlns:a16="http://schemas.microsoft.com/office/drawing/2014/main" id="{57717670-DA6A-65A6-733A-F4B7E14B7EFF}"/>
              </a:ext>
            </a:extLst>
          </p:cNvPr>
          <p:cNvSpPr/>
          <p:nvPr/>
        </p:nvSpPr>
        <p:spPr>
          <a:xfrm>
            <a:off x="12395150" y="4848225"/>
            <a:ext cx="4499915" cy="10096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9000" b="1" kern="0" spc="-180" dirty="0">
                <a:solidFill>
                  <a:schemeClr val="bg1"/>
                </a:solidFill>
                <a:latin typeface="Montserrat" pitchFamily="34" charset="0"/>
                <a:ea typeface="Montserrat" pitchFamily="34" charset="-122"/>
                <a:cs typeface="Montserrat" pitchFamily="34" charset="-120"/>
              </a:rPr>
              <a:t>03</a:t>
            </a:r>
            <a:endParaRPr lang="en-US" sz="9000" dirty="0">
              <a:solidFill>
                <a:schemeClr val="bg1"/>
              </a:solidFill>
            </a:endParaRPr>
          </a:p>
        </p:txBody>
      </p:sp>
      <p:sp>
        <p:nvSpPr>
          <p:cNvPr id="23" name="Text 21">
            <a:extLst>
              <a:ext uri="{FF2B5EF4-FFF2-40B4-BE49-F238E27FC236}">
                <a16:creationId xmlns:a16="http://schemas.microsoft.com/office/drawing/2014/main" id="{D5DDEBB2-5B8E-95FC-FE2F-0779462950A9}"/>
              </a:ext>
            </a:extLst>
          </p:cNvPr>
          <p:cNvSpPr/>
          <p:nvPr/>
        </p:nvSpPr>
        <p:spPr>
          <a:xfrm>
            <a:off x="12395150" y="8514216"/>
            <a:ext cx="4499915" cy="595313"/>
          </a:xfrm>
          <a:prstGeom prst="rect">
            <a:avLst/>
          </a:prstGeom>
          <a:noFill/>
          <a:ln/>
        </p:spPr>
        <p:txBody>
          <a:bodyPr wrap="square" lIns="25400" tIns="25400" rIns="25400" bIns="25400" rtlCol="0" anchor="t">
            <a:normAutofit lnSpcReduction="10000"/>
          </a:bodyPr>
          <a:lstStyle/>
          <a:p>
            <a:pPr marL="0" indent="0" algn="l">
              <a:buNone/>
            </a:pPr>
            <a:r>
              <a:rPr lang="en-US" sz="3600" b="1" kern="0" spc="-36" dirty="0">
                <a:solidFill>
                  <a:srgbClr val="FFFFFF"/>
                </a:solidFill>
                <a:latin typeface="Montserrat" pitchFamily="34" charset="0"/>
                <a:ea typeface="Montserrat" pitchFamily="34" charset="-122"/>
                <a:cs typeface="Montserrat" pitchFamily="34" charset="-120"/>
              </a:rPr>
              <a:t>Claude Code.</a:t>
            </a:r>
            <a:endParaRPr lang="en-US" sz="3600" dirty="0"/>
          </a:p>
        </p:txBody>
      </p:sp>
      <p:sp>
        <p:nvSpPr>
          <p:cNvPr id="26" name="Shape 24">
            <a:extLst>
              <a:ext uri="{FF2B5EF4-FFF2-40B4-BE49-F238E27FC236}">
                <a16:creationId xmlns:a16="http://schemas.microsoft.com/office/drawing/2014/main" id="{778A09AC-202F-D9D0-EB48-5A0DAF8E7DC7}"/>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7" name="Text 25">
            <a:extLst>
              <a:ext uri="{FF2B5EF4-FFF2-40B4-BE49-F238E27FC236}">
                <a16:creationId xmlns:a16="http://schemas.microsoft.com/office/drawing/2014/main" id="{E8C56B17-738C-CE36-D329-6CF7EC848282}"/>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extLst>
      <p:ext uri="{BB962C8B-B14F-4D97-AF65-F5344CB8AC3E}">
        <p14:creationId xmlns:p14="http://schemas.microsoft.com/office/powerpoint/2010/main" val="1824422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7942362" y="2790825"/>
            <a:ext cx="2403277" cy="247650"/>
          </a:xfrm>
          <a:prstGeom prst="rect">
            <a:avLst/>
          </a:prstGeom>
          <a:noFill/>
          <a:ln/>
        </p:spPr>
        <p:txBody>
          <a:bodyPr wrap="square" lIns="25400" tIns="25400" rIns="25400" bIns="25400" rtlCol="0" anchor="t">
            <a:normAutofit lnSpcReduction="10000"/>
          </a:bodyPr>
          <a:lstStyle/>
          <a:p>
            <a:pPr marL="0" indent="0" algn="ctr">
              <a:buNone/>
            </a:pPr>
            <a:r>
              <a:rPr lang="en-US" sz="1350" b="1" kern="0" spc="378" dirty="0">
                <a:solidFill>
                  <a:srgbClr val="F58220"/>
                </a:solidFill>
                <a:latin typeface="Inter" pitchFamily="34" charset="0"/>
                <a:ea typeface="Inter" pitchFamily="34" charset="-122"/>
                <a:cs typeface="Inter" pitchFamily="34" charset="-120"/>
              </a:rPr>
              <a:t>LEARNING · 1 OF 5</a:t>
            </a:r>
            <a:endParaRPr lang="en-US" sz="1350" dirty="0"/>
          </a:p>
        </p:txBody>
      </p:sp>
      <p:sp>
        <p:nvSpPr>
          <p:cNvPr id="3" name="Text 1"/>
          <p:cNvSpPr/>
          <p:nvPr/>
        </p:nvSpPr>
        <p:spPr>
          <a:xfrm>
            <a:off x="1785938" y="3305175"/>
            <a:ext cx="14716125" cy="3543300"/>
          </a:xfrm>
          <a:prstGeom prst="rect">
            <a:avLst/>
          </a:prstGeom>
          <a:noFill/>
          <a:ln/>
        </p:spPr>
        <p:txBody>
          <a:bodyPr wrap="square" lIns="25400" tIns="25400" rIns="25400" bIns="25400" rtlCol="0" anchor="t">
            <a:normAutofit/>
          </a:bodyPr>
          <a:lstStyle/>
          <a:p>
            <a:pPr marL="0" indent="0" algn="ctr">
              <a:lnSpc>
                <a:spcPct val="92000"/>
              </a:lnSpc>
              <a:buNone/>
            </a:pPr>
            <a:r>
              <a:rPr lang="en-US" sz="15000" b="1" kern="0" spc="-375" dirty="0">
                <a:solidFill>
                  <a:srgbClr val="14161C"/>
                </a:solidFill>
                <a:latin typeface="Montserrat" pitchFamily="34" charset="0"/>
                <a:ea typeface="Montserrat" pitchFamily="34" charset="-122"/>
                <a:cs typeface="Montserrat" pitchFamily="34" charset="-120"/>
              </a:rPr>
              <a:t>Complain to AI.</a:t>
            </a:r>
            <a:endParaRPr lang="en-US" sz="15000" dirty="0"/>
          </a:p>
        </p:txBody>
      </p:sp>
      <p:sp>
        <p:nvSpPr>
          <p:cNvPr id="4" name="Text 2"/>
          <p:cNvSpPr/>
          <p:nvPr/>
        </p:nvSpPr>
        <p:spPr>
          <a:xfrm>
            <a:off x="6519549" y="7153275"/>
            <a:ext cx="5248828"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3A3D49"/>
                </a:solidFill>
                <a:latin typeface="Inter" pitchFamily="34" charset="0"/>
                <a:ea typeface="Inter" pitchFamily="34" charset="-122"/>
                <a:cs typeface="Inter" pitchFamily="34" charset="-120"/>
              </a:rPr>
              <a:t>Don't bring solutions. Bring problems.</a:t>
            </a:r>
            <a:endParaRPr lang="en-US" sz="2250" dirty="0"/>
          </a:p>
        </p:txBody>
      </p:sp>
      <p:sp>
        <p:nvSpPr>
          <p:cNvPr id="5" name="Shape 3"/>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6" name="Text 4"/>
          <p:cNvSpPr/>
          <p:nvPr/>
        </p:nvSpPr>
        <p:spPr>
          <a:xfrm>
            <a:off x="1085850" y="9653588"/>
            <a:ext cx="2276475" cy="214313"/>
          </a:xfrm>
          <a:prstGeom prst="rect">
            <a:avLst/>
          </a:prstGeom>
          <a:noFill/>
          <a:ln/>
        </p:spPr>
        <p:txBody>
          <a:bodyPr wrap="square" lIns="0" tIns="0" rIns="0" bIns="0" rtlCol="0" anchor="t">
            <a:normAutofit/>
          </a:bodyPr>
          <a:lstStyle/>
          <a:p>
            <a:pPr marL="0" indent="0" algn="ctr">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
        <p:nvSpPr>
          <p:cNvPr id="8" name="Shape 0">
            <a:extLst>
              <a:ext uri="{FF2B5EF4-FFF2-40B4-BE49-F238E27FC236}">
                <a16:creationId xmlns:a16="http://schemas.microsoft.com/office/drawing/2014/main" id="{A9ED793B-41EC-AA9C-F3EE-3DD37E1F6B91}"/>
              </a:ext>
            </a:extLst>
          </p:cNvPr>
          <p:cNvSpPr/>
          <p:nvPr/>
        </p:nvSpPr>
        <p:spPr>
          <a:xfrm>
            <a:off x="7649474" y="2661268"/>
            <a:ext cx="2989052" cy="461238"/>
          </a:xfrm>
          <a:prstGeom prst="roundRect">
            <a:avLst>
              <a:gd name="adj" fmla="val 70321"/>
            </a:avLst>
          </a:prstGeom>
          <a:noFill/>
          <a:ln w="7620">
            <a:solidFill>
              <a:srgbClr val="F39425"/>
            </a:solidFill>
            <a:prstDash val="solid"/>
          </a:ln>
        </p:spPr>
        <p:txBody>
          <a:bodyPr/>
          <a:lstStyle/>
          <a:p>
            <a:endParaRPr lang="en-US"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378" dirty="0">
                <a:solidFill>
                  <a:srgbClr val="F58220"/>
                </a:solidFill>
                <a:latin typeface="Inter" pitchFamily="34" charset="0"/>
                <a:ea typeface="Inter" pitchFamily="34" charset="-122"/>
                <a:cs typeface="Inter" pitchFamily="34" charset="-120"/>
              </a:rPr>
              <a:t>LEARNING · 1 OF 5</a:t>
            </a:r>
            <a:endParaRPr lang="en-US" sz="1350" dirty="0"/>
          </a:p>
        </p:txBody>
      </p:sp>
      <p:sp>
        <p:nvSpPr>
          <p:cNvPr id="3" name="Text 1"/>
          <p:cNvSpPr/>
          <p:nvPr/>
        </p:nvSpPr>
        <p:spPr>
          <a:xfrm>
            <a:off x="1143000" y="1524000"/>
            <a:ext cx="16482060"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144" dirty="0">
                <a:solidFill>
                  <a:srgbClr val="FFFFFF"/>
                </a:solidFill>
                <a:latin typeface="Montserrat" pitchFamily="34" charset="0"/>
                <a:ea typeface="Montserrat" pitchFamily="34" charset="-122"/>
                <a:cs typeface="Montserrat" pitchFamily="34" charset="-120"/>
              </a:rPr>
              <a:t>Just complain.</a:t>
            </a:r>
            <a:endParaRPr lang="en-US" sz="7200" dirty="0"/>
          </a:p>
        </p:txBody>
      </p:sp>
      <p:sp>
        <p:nvSpPr>
          <p:cNvPr id="4" name="Text 2"/>
          <p:cNvSpPr/>
          <p:nvPr/>
        </p:nvSpPr>
        <p:spPr>
          <a:xfrm>
            <a:off x="1143000" y="2743200"/>
            <a:ext cx="1471612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Inter" pitchFamily="34" charset="0"/>
                <a:ea typeface="Inter" pitchFamily="34" charset="-122"/>
                <a:cs typeface="Inter" pitchFamily="34" charset="-120"/>
              </a:rPr>
              <a:t>The model can't fix problems you've already disguised as solutions. Hand it the raw friction.</a:t>
            </a:r>
            <a:endParaRPr lang="en-US" sz="2250" dirty="0"/>
          </a:p>
        </p:txBody>
      </p:sp>
      <p:sp>
        <p:nvSpPr>
          <p:cNvPr id="5" name="Text 3"/>
          <p:cNvSpPr/>
          <p:nvPr/>
        </p:nvSpPr>
        <p:spPr>
          <a:xfrm>
            <a:off x="1485900" y="36957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"I waste two hours every Friday on </a:t>
            </a:r>
            <a:r>
              <a:rPr lang="en-US" sz="1800" dirty="0">
                <a:solidFill>
                  <a:srgbClr val="F58220"/>
                </a:solidFill>
                <a:latin typeface="JetBrains Mono" pitchFamily="34" charset="0"/>
                <a:ea typeface="JetBrains Mono" pitchFamily="34" charset="-122"/>
                <a:cs typeface="JetBrains Mono" pitchFamily="34" charset="-120"/>
              </a:rPr>
              <a:t>[X]</a:t>
            </a:r>
            <a:r>
              <a:rPr lang="en-US" sz="1800" dirty="0">
                <a:solidFill>
                  <a:srgbClr val="FFFFFF"/>
                </a:solidFill>
                <a:latin typeface="JetBrains Mono" pitchFamily="34" charset="0"/>
                <a:ea typeface="JetBrains Mono" pitchFamily="34" charset="-122"/>
                <a:cs typeface="JetBrains Mono" pitchFamily="34" charset="-120"/>
              </a:rPr>
              <a:t>."</a:t>
            </a:r>
            <a:endParaRPr lang="en-US" sz="1800" dirty="0"/>
          </a:p>
        </p:txBody>
      </p:sp>
      <p:sp>
        <p:nvSpPr>
          <p:cNvPr id="6" name="Text 4"/>
          <p:cNvSpPr/>
          <p:nvPr/>
        </p:nvSpPr>
        <p:spPr>
          <a:xfrm>
            <a:off x="1485900" y="42291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"I can never keep track of </a:t>
            </a:r>
            <a:r>
              <a:rPr lang="en-US" sz="1800" dirty="0">
                <a:solidFill>
                  <a:srgbClr val="F58220"/>
                </a:solidFill>
                <a:latin typeface="JetBrains Mono" pitchFamily="34" charset="0"/>
                <a:ea typeface="JetBrains Mono" pitchFamily="34" charset="-122"/>
                <a:cs typeface="JetBrains Mono" pitchFamily="34" charset="-120"/>
              </a:rPr>
              <a:t>[Y]</a:t>
            </a:r>
            <a:r>
              <a:rPr lang="en-US" sz="1800" dirty="0">
                <a:solidFill>
                  <a:srgbClr val="FFFFFF"/>
                </a:solidFill>
                <a:latin typeface="JetBrains Mono" pitchFamily="34" charset="0"/>
                <a:ea typeface="JetBrains Mono" pitchFamily="34" charset="-122"/>
                <a:cs typeface="JetBrains Mono" pitchFamily="34" charset="-120"/>
              </a:rPr>
              <a:t>."</a:t>
            </a:r>
            <a:endParaRPr lang="en-US" sz="1800" dirty="0"/>
          </a:p>
        </p:txBody>
      </p:sp>
      <p:sp>
        <p:nvSpPr>
          <p:cNvPr id="7" name="Text 5"/>
          <p:cNvSpPr/>
          <p:nvPr/>
        </p:nvSpPr>
        <p:spPr>
          <a:xfrm>
            <a:off x="1485900" y="47625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"Our team keeps dropping the ball on </a:t>
            </a:r>
            <a:r>
              <a:rPr lang="en-US" sz="1800" dirty="0">
                <a:solidFill>
                  <a:srgbClr val="F58220"/>
                </a:solidFill>
                <a:latin typeface="JetBrains Mono" pitchFamily="34" charset="0"/>
                <a:ea typeface="JetBrains Mono" pitchFamily="34" charset="-122"/>
                <a:cs typeface="JetBrains Mono" pitchFamily="34" charset="-120"/>
              </a:rPr>
              <a:t>[Z]</a:t>
            </a:r>
            <a:r>
              <a:rPr lang="en-US" sz="1800" dirty="0">
                <a:solidFill>
                  <a:srgbClr val="FFFFFF"/>
                </a:solidFill>
                <a:latin typeface="JetBrains Mono" pitchFamily="34" charset="0"/>
                <a:ea typeface="JetBrains Mono" pitchFamily="34" charset="-122"/>
                <a:cs typeface="JetBrains Mono" pitchFamily="34" charset="-120"/>
              </a:rPr>
              <a:t>."</a:t>
            </a:r>
            <a:endParaRPr lang="en-US" sz="1800" dirty="0"/>
          </a:p>
        </p:txBody>
      </p:sp>
      <p:sp>
        <p:nvSpPr>
          <p:cNvPr id="8" name="Text 6"/>
          <p:cNvSpPr/>
          <p:nvPr/>
        </p:nvSpPr>
        <p:spPr>
          <a:xfrm>
            <a:off x="1485900" y="52959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"I dread </a:t>
            </a:r>
            <a:r>
              <a:rPr lang="en-US" sz="1800" dirty="0">
                <a:solidFill>
                  <a:srgbClr val="F58220"/>
                </a:solidFill>
                <a:latin typeface="JetBrains Mono" pitchFamily="34" charset="0"/>
                <a:ea typeface="JetBrains Mono" pitchFamily="34" charset="-122"/>
                <a:cs typeface="JetBrains Mono" pitchFamily="34" charset="-120"/>
              </a:rPr>
              <a:t>[task] </a:t>
            </a:r>
            <a:r>
              <a:rPr lang="en-US" sz="1800" dirty="0">
                <a:solidFill>
                  <a:srgbClr val="FFFFFF"/>
                </a:solidFill>
                <a:latin typeface="JetBrains Mono" pitchFamily="34" charset="0"/>
                <a:ea typeface="JetBrains Mono" pitchFamily="34" charset="-122"/>
                <a:cs typeface="JetBrains Mono" pitchFamily="34" charset="-120"/>
              </a:rPr>
              <a:t>every week."</a:t>
            </a:r>
            <a:endParaRPr lang="en-US" sz="1800" dirty="0"/>
          </a:p>
        </p:txBody>
      </p:sp>
      <p:sp>
        <p:nvSpPr>
          <p:cNvPr id="9" name="Shape 7"/>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0" name="Text 8"/>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7274440" y="2412206"/>
            <a:ext cx="3739045" cy="3114675"/>
          </a:xfrm>
          <a:prstGeom prst="rect">
            <a:avLst/>
          </a:prstGeom>
          <a:noFill/>
          <a:ln/>
        </p:spPr>
        <p:txBody>
          <a:bodyPr wrap="square" lIns="25400" tIns="25400" rIns="25400" bIns="25400" rtlCol="0" anchor="t">
            <a:normAutofit fontScale="92500" lnSpcReduction="20000"/>
          </a:bodyPr>
          <a:lstStyle/>
          <a:p>
            <a:pPr marL="0" indent="0" algn="ctr">
              <a:lnSpc>
                <a:spcPct val="85000"/>
              </a:lnSpc>
              <a:buNone/>
            </a:pPr>
            <a:r>
              <a:rPr lang="en-US" sz="28500" b="1" kern="0" spc="-1140" dirty="0">
                <a:solidFill>
                  <a:srgbClr val="2A2D38"/>
                </a:solidFill>
                <a:latin typeface="Montserrat" pitchFamily="34" charset="0"/>
                <a:ea typeface="Montserrat" pitchFamily="34" charset="-122"/>
                <a:cs typeface="Montserrat" pitchFamily="34" charset="-120"/>
              </a:rPr>
              <a:t>01</a:t>
            </a:r>
            <a:endParaRPr lang="en-US" sz="28500" dirty="0"/>
          </a:p>
        </p:txBody>
      </p:sp>
      <p:sp>
        <p:nvSpPr>
          <p:cNvPr id="3" name="Text 1"/>
          <p:cNvSpPr/>
          <p:nvPr/>
        </p:nvSpPr>
        <p:spPr>
          <a:xfrm>
            <a:off x="8079358" y="5107781"/>
            <a:ext cx="2129284" cy="280988"/>
          </a:xfrm>
          <a:prstGeom prst="rect">
            <a:avLst/>
          </a:prstGeom>
          <a:noFill/>
          <a:ln/>
        </p:spPr>
        <p:txBody>
          <a:bodyPr wrap="square" lIns="25400" tIns="25400" rIns="25400" bIns="25400" rtlCol="0" anchor="t">
            <a:normAutofit lnSpcReduction="10000"/>
          </a:bodyPr>
          <a:lstStyle/>
          <a:p>
            <a:pPr marL="0" indent="0" algn="ctr">
              <a:buNone/>
            </a:pPr>
            <a:r>
              <a:rPr lang="en-US" sz="1575" b="1" kern="0" spc="504" dirty="0">
                <a:solidFill>
                  <a:srgbClr val="3FE0D0"/>
                </a:solidFill>
                <a:latin typeface="Inter" pitchFamily="34" charset="0"/>
                <a:ea typeface="Inter" pitchFamily="34" charset="-122"/>
                <a:cs typeface="Inter" pitchFamily="34" charset="-120"/>
              </a:rPr>
              <a:t>DOOR 01 / 03</a:t>
            </a:r>
            <a:endParaRPr lang="en-US" sz="1575" dirty="0"/>
          </a:p>
        </p:txBody>
      </p:sp>
      <p:sp>
        <p:nvSpPr>
          <p:cNvPr id="4" name="Text 2"/>
          <p:cNvSpPr/>
          <p:nvPr/>
        </p:nvSpPr>
        <p:spPr>
          <a:xfrm>
            <a:off x="3415213" y="5579269"/>
            <a:ext cx="11457500" cy="1666875"/>
          </a:xfrm>
          <a:prstGeom prst="rect">
            <a:avLst/>
          </a:prstGeom>
          <a:noFill/>
          <a:ln/>
        </p:spPr>
        <p:txBody>
          <a:bodyPr wrap="square" lIns="25400" tIns="25400" rIns="25400" bIns="25400" rtlCol="0" anchor="t">
            <a:normAutofit fontScale="92500" lnSpcReduction="20000"/>
          </a:bodyPr>
          <a:lstStyle/>
          <a:p>
            <a:pPr marL="0" indent="0" algn="ctr">
              <a:lnSpc>
                <a:spcPct val="95000"/>
              </a:lnSpc>
              <a:buNone/>
            </a:pPr>
            <a:r>
              <a:rPr lang="en-US" sz="13500" b="1" kern="0" spc="-337" dirty="0">
                <a:solidFill>
                  <a:srgbClr val="FFFFFF"/>
                </a:solidFill>
                <a:latin typeface="Montserrat" pitchFamily="34" charset="0"/>
                <a:ea typeface="Montserrat" pitchFamily="34" charset="-122"/>
                <a:cs typeface="Montserrat" pitchFamily="34" charset="-120"/>
              </a:rPr>
              <a:t>Claude Chat.</a:t>
            </a:r>
            <a:endParaRPr lang="en-US" sz="13500" dirty="0"/>
          </a:p>
        </p:txBody>
      </p:sp>
      <p:sp>
        <p:nvSpPr>
          <p:cNvPr id="5" name="Text 3"/>
          <p:cNvSpPr/>
          <p:nvPr/>
        </p:nvSpPr>
        <p:spPr>
          <a:xfrm>
            <a:off x="6762287" y="7550944"/>
            <a:ext cx="4763426" cy="361950"/>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C9CBD1"/>
                </a:solidFill>
                <a:latin typeface="Inter" pitchFamily="34" charset="0"/>
                <a:ea typeface="Inter" pitchFamily="34" charset="-122"/>
                <a:cs typeface="Inter" pitchFamily="34" charset="-120"/>
              </a:rPr>
              <a:t>Your conversational thinking partner.</a:t>
            </a:r>
            <a:endParaRPr lang="en-US" sz="2100" dirty="0"/>
          </a:p>
        </p:txBody>
      </p:sp>
      <p:sp>
        <p:nvSpPr>
          <p:cNvPr id="6" name="Text 4"/>
          <p:cNvSpPr/>
          <p:nvPr/>
        </p:nvSpPr>
        <p:spPr>
          <a:xfrm>
            <a:off x="876300" y="9601200"/>
            <a:ext cx="1002060" cy="266700"/>
          </a:xfrm>
          <a:prstGeom prst="rect">
            <a:avLst/>
          </a:prstGeom>
          <a:noFill/>
          <a:ln/>
        </p:spPr>
        <p:txBody>
          <a:bodyPr wrap="square" lIns="25400" tIns="25400" rIns="25400" bIns="25400" rtlCol="0" anchor="t">
            <a:normAutofit/>
          </a:bodyPr>
          <a:lstStyle/>
          <a:p>
            <a:pPr marL="0" indent="0" algn="ctr">
              <a:buNone/>
            </a:pPr>
            <a:r>
              <a:rPr lang="en-US" sz="1350" b="1" dirty="0">
                <a:solidFill>
                  <a:srgbClr val="3FE0D0"/>
                </a:solidFill>
                <a:latin typeface="JetBrains Mono" pitchFamily="34" charset="0"/>
                <a:ea typeface="JetBrains Mono" pitchFamily="34" charset="-122"/>
                <a:cs typeface="JetBrains Mono" pitchFamily="34" charset="-120"/>
              </a:rPr>
              <a:t>01 · Chat</a:t>
            </a:r>
            <a:endParaRPr lang="en-US" sz="1350" dirty="0"/>
          </a:p>
        </p:txBody>
      </p:sp>
      <p:sp>
        <p:nvSpPr>
          <p:cNvPr id="7" name="Text 5"/>
          <p:cNvSpPr/>
          <p:nvPr/>
        </p:nvSpPr>
        <p:spPr>
          <a:xfrm>
            <a:off x="2106960" y="9601200"/>
            <a:ext cx="1791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4A4D58"/>
                </a:solidFill>
                <a:latin typeface="JetBrains Mono" pitchFamily="34" charset="0"/>
                <a:ea typeface="JetBrains Mono" pitchFamily="34" charset="-122"/>
                <a:cs typeface="JetBrains Mono" pitchFamily="34" charset="-120"/>
              </a:rPr>
              <a:t>|</a:t>
            </a:r>
            <a:endParaRPr lang="en-US" sz="1350" dirty="0"/>
          </a:p>
        </p:txBody>
      </p:sp>
      <p:sp>
        <p:nvSpPr>
          <p:cNvPr id="8" name="Text 6"/>
          <p:cNvSpPr/>
          <p:nvPr/>
        </p:nvSpPr>
        <p:spPr>
          <a:xfrm>
            <a:off x="2514674" y="9601200"/>
            <a:ext cx="12078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9A9CA4"/>
                </a:solidFill>
                <a:latin typeface="JetBrains Mono" pitchFamily="34" charset="0"/>
                <a:ea typeface="JetBrains Mono" pitchFamily="34" charset="-122"/>
                <a:cs typeface="JetBrains Mono" pitchFamily="34" charset="-120"/>
              </a:rPr>
              <a:t>02 · Cowork</a:t>
            </a:r>
            <a:endParaRPr lang="en-US" sz="1350" dirty="0"/>
          </a:p>
        </p:txBody>
      </p:sp>
      <p:sp>
        <p:nvSpPr>
          <p:cNvPr id="9" name="Text 7"/>
          <p:cNvSpPr/>
          <p:nvPr/>
        </p:nvSpPr>
        <p:spPr>
          <a:xfrm>
            <a:off x="3951089" y="9601200"/>
            <a:ext cx="1791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4A4D58"/>
                </a:solidFill>
                <a:latin typeface="JetBrains Mono" pitchFamily="34" charset="0"/>
                <a:ea typeface="JetBrains Mono" pitchFamily="34" charset="-122"/>
                <a:cs typeface="JetBrains Mono" pitchFamily="34" charset="-120"/>
              </a:rPr>
              <a:t>|</a:t>
            </a:r>
            <a:endParaRPr lang="en-US" sz="1350" dirty="0"/>
          </a:p>
        </p:txBody>
      </p:sp>
      <p:sp>
        <p:nvSpPr>
          <p:cNvPr id="10" name="Text 8"/>
          <p:cNvSpPr/>
          <p:nvPr/>
        </p:nvSpPr>
        <p:spPr>
          <a:xfrm>
            <a:off x="4358804" y="9601200"/>
            <a:ext cx="1002060"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9A9CA4"/>
                </a:solidFill>
                <a:latin typeface="JetBrains Mono" pitchFamily="34" charset="0"/>
                <a:ea typeface="JetBrains Mono" pitchFamily="34" charset="-122"/>
                <a:cs typeface="JetBrains Mono" pitchFamily="34" charset="-120"/>
              </a:rPr>
              <a:t>03 · Code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CHAT · BEST KNOWN FOR</a:t>
            </a:r>
            <a:endParaRPr lang="en-US" sz="1350" dirty="0"/>
          </a:p>
        </p:txBody>
      </p:sp>
      <p:sp>
        <p:nvSpPr>
          <p:cNvPr id="3" name="Text 1"/>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Jobs Chat does well.</a:t>
            </a:r>
            <a:endParaRPr lang="en-US" sz="6300" dirty="0"/>
          </a:p>
        </p:txBody>
      </p:sp>
      <p:sp>
        <p:nvSpPr>
          <p:cNvPr id="4" name="Text 2"/>
          <p:cNvSpPr/>
          <p:nvPr/>
        </p:nvSpPr>
        <p:spPr>
          <a:xfrm>
            <a:off x="1143000" y="2552700"/>
            <a:ext cx="10791825" cy="638175"/>
          </a:xfrm>
          <a:prstGeom prst="rect">
            <a:avLst/>
          </a:prstGeom>
          <a:noFill/>
          <a:ln/>
        </p:spPr>
        <p:txBody>
          <a:bodyPr wrap="square" lIns="25400" tIns="25400" rIns="25400" bIns="25400" rtlCol="0" anchor="t">
            <a:normAutofit/>
          </a:bodyPr>
          <a:lstStyle/>
          <a:p>
            <a:pPr marL="0" indent="0" algn="l">
              <a:buNone/>
            </a:pPr>
            <a:r>
              <a:rPr lang="en-US" sz="1950" dirty="0">
                <a:solidFill>
                  <a:srgbClr val="C9CBD1"/>
                </a:solidFill>
                <a:latin typeface="Inter" pitchFamily="34" charset="0"/>
                <a:ea typeface="Inter" pitchFamily="34" charset="-122"/>
                <a:cs typeface="Inter" pitchFamily="34" charset="-120"/>
              </a:rPr>
              <a:t>Treat it like a conversation, not a query box. The model is happiest with context and intent.</a:t>
            </a:r>
            <a:endParaRPr lang="en-US" sz="1950" dirty="0"/>
          </a:p>
        </p:txBody>
      </p:sp>
      <p:sp>
        <p:nvSpPr>
          <p:cNvPr id="5" name="Shape 3"/>
          <p:cNvSpPr/>
          <p:nvPr/>
        </p:nvSpPr>
        <p:spPr>
          <a:xfrm>
            <a:off x="1143000" y="3990975"/>
            <a:ext cx="3829050" cy="1381125"/>
          </a:xfrm>
          <a:prstGeom prst="rect">
            <a:avLst/>
          </a:prstGeom>
          <a:solidFill>
            <a:srgbClr val="1B1D24"/>
          </a:solidFill>
          <a:ln/>
        </p:spPr>
        <p:txBody>
          <a:bodyPr/>
          <a:lstStyle/>
          <a:p>
            <a:endParaRPr lang="en-US"/>
          </a:p>
        </p:txBody>
      </p:sp>
      <p:sp>
        <p:nvSpPr>
          <p:cNvPr id="6" name="Shape 4"/>
          <p:cNvSpPr/>
          <p:nvPr/>
        </p:nvSpPr>
        <p:spPr>
          <a:xfrm>
            <a:off x="1143000" y="3990975"/>
            <a:ext cx="19050" cy="1381125"/>
          </a:xfrm>
          <a:prstGeom prst="rect">
            <a:avLst/>
          </a:prstGeom>
          <a:solidFill>
            <a:srgbClr val="3FE0D0"/>
          </a:solidFill>
          <a:ln/>
        </p:spPr>
        <p:txBody>
          <a:bodyPr/>
          <a:lstStyle/>
          <a:p>
            <a:endParaRPr lang="en-US"/>
          </a:p>
        </p:txBody>
      </p:sp>
      <p:sp>
        <p:nvSpPr>
          <p:cNvPr id="7" name="Text 5"/>
          <p:cNvSpPr/>
          <p:nvPr/>
        </p:nvSpPr>
        <p:spPr>
          <a:xfrm>
            <a:off x="1428750" y="42957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Drafter</a:t>
            </a:r>
            <a:endParaRPr lang="en-US" sz="2250" dirty="0"/>
          </a:p>
        </p:txBody>
      </p:sp>
      <p:sp>
        <p:nvSpPr>
          <p:cNvPr id="9" name="Shape 7"/>
          <p:cNvSpPr/>
          <p:nvPr/>
        </p:nvSpPr>
        <p:spPr>
          <a:xfrm>
            <a:off x="5200650" y="3990975"/>
            <a:ext cx="3829050" cy="1381125"/>
          </a:xfrm>
          <a:prstGeom prst="rect">
            <a:avLst/>
          </a:prstGeom>
          <a:solidFill>
            <a:srgbClr val="1B1D24"/>
          </a:solidFill>
          <a:ln/>
        </p:spPr>
        <p:txBody>
          <a:bodyPr/>
          <a:lstStyle/>
          <a:p>
            <a:endParaRPr lang="en-US"/>
          </a:p>
        </p:txBody>
      </p:sp>
      <p:sp>
        <p:nvSpPr>
          <p:cNvPr id="10" name="Shape 8"/>
          <p:cNvSpPr/>
          <p:nvPr/>
        </p:nvSpPr>
        <p:spPr>
          <a:xfrm>
            <a:off x="5200650" y="3990975"/>
            <a:ext cx="19050" cy="1381125"/>
          </a:xfrm>
          <a:prstGeom prst="rect">
            <a:avLst/>
          </a:prstGeom>
          <a:solidFill>
            <a:srgbClr val="3FE0D0"/>
          </a:solidFill>
          <a:ln/>
        </p:spPr>
        <p:txBody>
          <a:bodyPr/>
          <a:lstStyle/>
          <a:p>
            <a:endParaRPr lang="en-US"/>
          </a:p>
        </p:txBody>
      </p:sp>
      <p:sp>
        <p:nvSpPr>
          <p:cNvPr id="11" name="Text 9"/>
          <p:cNvSpPr/>
          <p:nvPr/>
        </p:nvSpPr>
        <p:spPr>
          <a:xfrm>
            <a:off x="5486400" y="42957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Summarizer</a:t>
            </a:r>
            <a:endParaRPr lang="en-US" sz="2250" dirty="0"/>
          </a:p>
        </p:txBody>
      </p:sp>
      <p:sp>
        <p:nvSpPr>
          <p:cNvPr id="13" name="Shape 11"/>
          <p:cNvSpPr/>
          <p:nvPr/>
        </p:nvSpPr>
        <p:spPr>
          <a:xfrm>
            <a:off x="9258300" y="3990975"/>
            <a:ext cx="3829050" cy="1381125"/>
          </a:xfrm>
          <a:prstGeom prst="rect">
            <a:avLst/>
          </a:prstGeom>
          <a:solidFill>
            <a:srgbClr val="1B1D24"/>
          </a:solidFill>
          <a:ln/>
        </p:spPr>
        <p:txBody>
          <a:bodyPr/>
          <a:lstStyle/>
          <a:p>
            <a:endParaRPr lang="en-US"/>
          </a:p>
        </p:txBody>
      </p:sp>
      <p:sp>
        <p:nvSpPr>
          <p:cNvPr id="14" name="Shape 12"/>
          <p:cNvSpPr/>
          <p:nvPr/>
        </p:nvSpPr>
        <p:spPr>
          <a:xfrm>
            <a:off x="9258300" y="3990975"/>
            <a:ext cx="19050" cy="1381125"/>
          </a:xfrm>
          <a:prstGeom prst="rect">
            <a:avLst/>
          </a:prstGeom>
          <a:solidFill>
            <a:srgbClr val="3FE0D0"/>
          </a:solidFill>
          <a:ln/>
        </p:spPr>
        <p:txBody>
          <a:bodyPr/>
          <a:lstStyle/>
          <a:p>
            <a:endParaRPr lang="en-US"/>
          </a:p>
        </p:txBody>
      </p:sp>
      <p:sp>
        <p:nvSpPr>
          <p:cNvPr id="15" name="Text 13"/>
          <p:cNvSpPr/>
          <p:nvPr/>
        </p:nvSpPr>
        <p:spPr>
          <a:xfrm>
            <a:off x="9544050" y="42957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Brainstormer</a:t>
            </a:r>
            <a:endParaRPr lang="en-US" sz="2250" dirty="0"/>
          </a:p>
        </p:txBody>
      </p:sp>
      <p:sp>
        <p:nvSpPr>
          <p:cNvPr id="17" name="Shape 15"/>
          <p:cNvSpPr/>
          <p:nvPr/>
        </p:nvSpPr>
        <p:spPr>
          <a:xfrm>
            <a:off x="13315950" y="3990975"/>
            <a:ext cx="3829050" cy="1381125"/>
          </a:xfrm>
          <a:prstGeom prst="rect">
            <a:avLst/>
          </a:prstGeom>
          <a:solidFill>
            <a:srgbClr val="1B1D24"/>
          </a:solidFill>
          <a:ln/>
        </p:spPr>
        <p:txBody>
          <a:bodyPr/>
          <a:lstStyle/>
          <a:p>
            <a:endParaRPr lang="en-US"/>
          </a:p>
        </p:txBody>
      </p:sp>
      <p:sp>
        <p:nvSpPr>
          <p:cNvPr id="18" name="Shape 16"/>
          <p:cNvSpPr/>
          <p:nvPr/>
        </p:nvSpPr>
        <p:spPr>
          <a:xfrm>
            <a:off x="13315950" y="3990975"/>
            <a:ext cx="19050" cy="1381125"/>
          </a:xfrm>
          <a:prstGeom prst="rect">
            <a:avLst/>
          </a:prstGeom>
          <a:solidFill>
            <a:srgbClr val="3FE0D0"/>
          </a:solidFill>
          <a:ln/>
        </p:spPr>
        <p:txBody>
          <a:bodyPr/>
          <a:lstStyle/>
          <a:p>
            <a:endParaRPr lang="en-US"/>
          </a:p>
        </p:txBody>
      </p:sp>
      <p:sp>
        <p:nvSpPr>
          <p:cNvPr id="19" name="Text 17"/>
          <p:cNvSpPr/>
          <p:nvPr/>
        </p:nvSpPr>
        <p:spPr>
          <a:xfrm>
            <a:off x="13601700" y="42957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Decider</a:t>
            </a:r>
            <a:endParaRPr lang="en-US" sz="2250" dirty="0"/>
          </a:p>
        </p:txBody>
      </p:sp>
      <p:sp>
        <p:nvSpPr>
          <p:cNvPr id="21" name="Shape 19"/>
          <p:cNvSpPr/>
          <p:nvPr/>
        </p:nvSpPr>
        <p:spPr>
          <a:xfrm>
            <a:off x="1143000" y="6353175"/>
            <a:ext cx="3829050" cy="1381125"/>
          </a:xfrm>
          <a:prstGeom prst="rect">
            <a:avLst/>
          </a:prstGeom>
          <a:solidFill>
            <a:srgbClr val="1B1D24"/>
          </a:solidFill>
          <a:ln/>
        </p:spPr>
        <p:txBody>
          <a:bodyPr/>
          <a:lstStyle/>
          <a:p>
            <a:endParaRPr lang="en-US"/>
          </a:p>
        </p:txBody>
      </p:sp>
      <p:sp>
        <p:nvSpPr>
          <p:cNvPr id="22" name="Shape 20"/>
          <p:cNvSpPr/>
          <p:nvPr/>
        </p:nvSpPr>
        <p:spPr>
          <a:xfrm>
            <a:off x="1143000" y="6353175"/>
            <a:ext cx="19050" cy="1381125"/>
          </a:xfrm>
          <a:prstGeom prst="rect">
            <a:avLst/>
          </a:prstGeom>
          <a:solidFill>
            <a:srgbClr val="3FE0D0"/>
          </a:solidFill>
          <a:ln/>
        </p:spPr>
        <p:txBody>
          <a:bodyPr/>
          <a:lstStyle/>
          <a:p>
            <a:endParaRPr lang="en-US"/>
          </a:p>
        </p:txBody>
      </p:sp>
      <p:sp>
        <p:nvSpPr>
          <p:cNvPr id="23" name="Text 21"/>
          <p:cNvSpPr/>
          <p:nvPr/>
        </p:nvSpPr>
        <p:spPr>
          <a:xfrm>
            <a:off x="1428750" y="66579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Translator</a:t>
            </a:r>
            <a:endParaRPr lang="en-US" sz="2250" dirty="0"/>
          </a:p>
        </p:txBody>
      </p:sp>
      <p:sp>
        <p:nvSpPr>
          <p:cNvPr id="25" name="Shape 23"/>
          <p:cNvSpPr/>
          <p:nvPr/>
        </p:nvSpPr>
        <p:spPr>
          <a:xfrm>
            <a:off x="5200650" y="6353175"/>
            <a:ext cx="3829050" cy="1381125"/>
          </a:xfrm>
          <a:prstGeom prst="rect">
            <a:avLst/>
          </a:prstGeom>
          <a:solidFill>
            <a:srgbClr val="1B1D24"/>
          </a:solidFill>
          <a:ln/>
        </p:spPr>
        <p:txBody>
          <a:bodyPr/>
          <a:lstStyle/>
          <a:p>
            <a:endParaRPr lang="en-US"/>
          </a:p>
        </p:txBody>
      </p:sp>
      <p:sp>
        <p:nvSpPr>
          <p:cNvPr id="26" name="Shape 24"/>
          <p:cNvSpPr/>
          <p:nvPr/>
        </p:nvSpPr>
        <p:spPr>
          <a:xfrm>
            <a:off x="5200650" y="6353175"/>
            <a:ext cx="19050" cy="1381125"/>
          </a:xfrm>
          <a:prstGeom prst="rect">
            <a:avLst/>
          </a:prstGeom>
          <a:solidFill>
            <a:srgbClr val="3FE0D0"/>
          </a:solidFill>
          <a:ln/>
        </p:spPr>
        <p:txBody>
          <a:bodyPr/>
          <a:lstStyle/>
          <a:p>
            <a:endParaRPr lang="en-US"/>
          </a:p>
        </p:txBody>
      </p:sp>
      <p:sp>
        <p:nvSpPr>
          <p:cNvPr id="27" name="Text 25"/>
          <p:cNvSpPr/>
          <p:nvPr/>
        </p:nvSpPr>
        <p:spPr>
          <a:xfrm>
            <a:off x="5486400" y="66579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Researcher</a:t>
            </a:r>
            <a:endParaRPr lang="en-US" sz="2250" dirty="0"/>
          </a:p>
        </p:txBody>
      </p:sp>
      <p:sp>
        <p:nvSpPr>
          <p:cNvPr id="29" name="Shape 27"/>
          <p:cNvSpPr/>
          <p:nvPr/>
        </p:nvSpPr>
        <p:spPr>
          <a:xfrm>
            <a:off x="9258300" y="6353175"/>
            <a:ext cx="3829050" cy="1381125"/>
          </a:xfrm>
          <a:prstGeom prst="rect">
            <a:avLst/>
          </a:prstGeom>
          <a:solidFill>
            <a:srgbClr val="1B1D24"/>
          </a:solidFill>
          <a:ln/>
        </p:spPr>
        <p:txBody>
          <a:bodyPr/>
          <a:lstStyle/>
          <a:p>
            <a:endParaRPr lang="en-US"/>
          </a:p>
        </p:txBody>
      </p:sp>
      <p:sp>
        <p:nvSpPr>
          <p:cNvPr id="30" name="Shape 28"/>
          <p:cNvSpPr/>
          <p:nvPr/>
        </p:nvSpPr>
        <p:spPr>
          <a:xfrm>
            <a:off x="9258300" y="6353175"/>
            <a:ext cx="19050" cy="1381125"/>
          </a:xfrm>
          <a:prstGeom prst="rect">
            <a:avLst/>
          </a:prstGeom>
          <a:solidFill>
            <a:srgbClr val="3FE0D0"/>
          </a:solidFill>
          <a:ln/>
        </p:spPr>
        <p:txBody>
          <a:bodyPr/>
          <a:lstStyle/>
          <a:p>
            <a:endParaRPr lang="en-US"/>
          </a:p>
        </p:txBody>
      </p:sp>
      <p:sp>
        <p:nvSpPr>
          <p:cNvPr id="31" name="Text 29"/>
          <p:cNvSpPr/>
          <p:nvPr/>
        </p:nvSpPr>
        <p:spPr>
          <a:xfrm>
            <a:off x="9544050" y="66579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Coach</a:t>
            </a:r>
            <a:endParaRPr lang="en-US" sz="2250" dirty="0"/>
          </a:p>
        </p:txBody>
      </p:sp>
      <p:sp>
        <p:nvSpPr>
          <p:cNvPr id="33" name="Shape 31"/>
          <p:cNvSpPr/>
          <p:nvPr/>
        </p:nvSpPr>
        <p:spPr>
          <a:xfrm>
            <a:off x="13315950" y="6353175"/>
            <a:ext cx="3829050" cy="1381125"/>
          </a:xfrm>
          <a:prstGeom prst="rect">
            <a:avLst/>
          </a:prstGeom>
          <a:solidFill>
            <a:srgbClr val="1B1D24"/>
          </a:solidFill>
          <a:ln/>
        </p:spPr>
        <p:txBody>
          <a:bodyPr/>
          <a:lstStyle/>
          <a:p>
            <a:endParaRPr lang="en-US"/>
          </a:p>
        </p:txBody>
      </p:sp>
      <p:sp>
        <p:nvSpPr>
          <p:cNvPr id="34" name="Shape 32"/>
          <p:cNvSpPr/>
          <p:nvPr/>
        </p:nvSpPr>
        <p:spPr>
          <a:xfrm>
            <a:off x="13315950" y="6353175"/>
            <a:ext cx="19050" cy="1381125"/>
          </a:xfrm>
          <a:prstGeom prst="rect">
            <a:avLst/>
          </a:prstGeom>
          <a:solidFill>
            <a:srgbClr val="F58220"/>
          </a:solidFill>
          <a:ln/>
        </p:spPr>
        <p:txBody>
          <a:bodyPr/>
          <a:lstStyle/>
          <a:p>
            <a:endParaRPr lang="en-US"/>
          </a:p>
        </p:txBody>
      </p:sp>
      <p:sp>
        <p:nvSpPr>
          <p:cNvPr id="35" name="Text 33"/>
          <p:cNvSpPr/>
          <p:nvPr/>
        </p:nvSpPr>
        <p:spPr>
          <a:xfrm>
            <a:off x="13601700" y="6657975"/>
            <a:ext cx="3374898"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Personal</a:t>
            </a:r>
            <a:endParaRPr lang="en-US" sz="2250" dirty="0"/>
          </a:p>
        </p:txBody>
      </p:sp>
      <p:sp>
        <p:nvSpPr>
          <p:cNvPr id="37" name="Shape 35"/>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8" name="Text 36"/>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6B6E78"/>
                </a:solidFill>
                <a:latin typeface="Inter" pitchFamily="34" charset="0"/>
                <a:ea typeface="Inter" pitchFamily="34" charset="-122"/>
                <a:cs typeface="Inter" pitchFamily="34" charset="-120"/>
              </a:rPr>
              <a:t>CLAUDE CHAT · HOW I'M USING IT</a:t>
            </a:r>
            <a:endParaRPr lang="en-US" sz="1350" dirty="0"/>
          </a:p>
        </p:txBody>
      </p:sp>
      <p:sp>
        <p:nvSpPr>
          <p:cNvPr id="3" name="Text 1"/>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14161C"/>
                </a:solidFill>
                <a:latin typeface="Montserrat" pitchFamily="34" charset="0"/>
                <a:ea typeface="Montserrat" pitchFamily="34" charset="-122"/>
                <a:cs typeface="Montserrat" pitchFamily="34" charset="-120"/>
              </a:rPr>
              <a:t>It's a daily tool. Not a project.</a:t>
            </a:r>
            <a:endParaRPr lang="en-US" sz="6300" dirty="0"/>
          </a:p>
        </p:txBody>
      </p:sp>
      <p:sp>
        <p:nvSpPr>
          <p:cNvPr id="4" name="Text 2"/>
          <p:cNvSpPr/>
          <p:nvPr/>
        </p:nvSpPr>
        <p:spPr>
          <a:xfrm>
            <a:off x="1143000" y="2628900"/>
            <a:ext cx="1275397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3A3D49"/>
                </a:solidFill>
                <a:latin typeface="Inter" pitchFamily="34" charset="0"/>
                <a:ea typeface="Inter" pitchFamily="34" charset="-122"/>
                <a:cs typeface="Inter" pitchFamily="34" charset="-120"/>
              </a:rPr>
              <a:t>A handful from this past week — work and life, no separation.</a:t>
            </a:r>
            <a:endParaRPr lang="en-US" sz="2250" dirty="0"/>
          </a:p>
        </p:txBody>
      </p:sp>
      <p:sp>
        <p:nvSpPr>
          <p:cNvPr id="5" name="Shape 3"/>
          <p:cNvSpPr/>
          <p:nvPr/>
        </p:nvSpPr>
        <p:spPr>
          <a:xfrm>
            <a:off x="1143000" y="4333875"/>
            <a:ext cx="14287500" cy="9525"/>
          </a:xfrm>
          <a:prstGeom prst="rect">
            <a:avLst/>
          </a:prstGeom>
          <a:solidFill>
            <a:srgbClr val="14161C">
              <a:alpha val="20000"/>
            </a:srgbClr>
          </a:solidFill>
          <a:ln/>
        </p:spPr>
        <p:txBody>
          <a:bodyPr/>
          <a:lstStyle/>
          <a:p>
            <a:endParaRPr lang="en-US"/>
          </a:p>
        </p:txBody>
      </p:sp>
      <p:sp>
        <p:nvSpPr>
          <p:cNvPr id="6" name="Text 4"/>
          <p:cNvSpPr/>
          <p:nvPr/>
        </p:nvSpPr>
        <p:spPr>
          <a:xfrm>
            <a:off x="1143000" y="38528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7" name="Text 5"/>
          <p:cNvSpPr/>
          <p:nvPr/>
        </p:nvSpPr>
        <p:spPr>
          <a:xfrm>
            <a:off x="1943100" y="3733800"/>
            <a:ext cx="9677922"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Drafted a one-page exec infographic for our leadership team.</a:t>
            </a:r>
            <a:endParaRPr lang="en-US" sz="2400" dirty="0"/>
          </a:p>
        </p:txBody>
      </p:sp>
      <p:sp>
        <p:nvSpPr>
          <p:cNvPr id="8" name="Shape 6"/>
          <p:cNvSpPr/>
          <p:nvPr/>
        </p:nvSpPr>
        <p:spPr>
          <a:xfrm>
            <a:off x="1143000" y="5172075"/>
            <a:ext cx="14287500" cy="9525"/>
          </a:xfrm>
          <a:prstGeom prst="rect">
            <a:avLst/>
          </a:prstGeom>
          <a:solidFill>
            <a:srgbClr val="14161C">
              <a:alpha val="20000"/>
            </a:srgbClr>
          </a:solidFill>
          <a:ln/>
        </p:spPr>
        <p:txBody>
          <a:bodyPr/>
          <a:lstStyle/>
          <a:p>
            <a:endParaRPr lang="en-US"/>
          </a:p>
        </p:txBody>
      </p:sp>
      <p:sp>
        <p:nvSpPr>
          <p:cNvPr id="9" name="Text 7"/>
          <p:cNvSpPr/>
          <p:nvPr/>
        </p:nvSpPr>
        <p:spPr>
          <a:xfrm>
            <a:off x="1143000" y="46910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10" name="Text 8"/>
          <p:cNvSpPr/>
          <p:nvPr/>
        </p:nvSpPr>
        <p:spPr>
          <a:xfrm>
            <a:off x="1943100" y="4572000"/>
            <a:ext cx="15201900"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Troubleshot OneDrive and MS Teams issues. And Outlook calendar. And more Teams issues.</a:t>
            </a:r>
            <a:endParaRPr lang="en-US" sz="2400" dirty="0"/>
          </a:p>
        </p:txBody>
      </p:sp>
      <p:sp>
        <p:nvSpPr>
          <p:cNvPr id="11" name="Shape 9"/>
          <p:cNvSpPr/>
          <p:nvPr/>
        </p:nvSpPr>
        <p:spPr>
          <a:xfrm>
            <a:off x="1143000" y="6010275"/>
            <a:ext cx="14287500" cy="9525"/>
          </a:xfrm>
          <a:prstGeom prst="rect">
            <a:avLst/>
          </a:prstGeom>
          <a:solidFill>
            <a:srgbClr val="14161C">
              <a:alpha val="20000"/>
            </a:srgbClr>
          </a:solidFill>
          <a:ln/>
        </p:spPr>
        <p:txBody>
          <a:bodyPr/>
          <a:lstStyle/>
          <a:p>
            <a:endParaRPr lang="en-US"/>
          </a:p>
        </p:txBody>
      </p:sp>
      <p:sp>
        <p:nvSpPr>
          <p:cNvPr id="12" name="Text 10"/>
          <p:cNvSpPr/>
          <p:nvPr/>
        </p:nvSpPr>
        <p:spPr>
          <a:xfrm>
            <a:off x="1143000" y="55292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13" name="Text 11"/>
          <p:cNvSpPr/>
          <p:nvPr/>
        </p:nvSpPr>
        <p:spPr>
          <a:xfrm>
            <a:off x="1943100" y="5410200"/>
            <a:ext cx="7374771"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Compared translations of an internal acronym.</a:t>
            </a:r>
            <a:endParaRPr lang="en-US" sz="2400" dirty="0"/>
          </a:p>
        </p:txBody>
      </p:sp>
      <p:sp>
        <p:nvSpPr>
          <p:cNvPr id="14" name="Shape 12"/>
          <p:cNvSpPr/>
          <p:nvPr/>
        </p:nvSpPr>
        <p:spPr>
          <a:xfrm>
            <a:off x="1143000" y="6848475"/>
            <a:ext cx="14287500" cy="9525"/>
          </a:xfrm>
          <a:prstGeom prst="rect">
            <a:avLst/>
          </a:prstGeom>
          <a:solidFill>
            <a:srgbClr val="14161C">
              <a:alpha val="20000"/>
            </a:srgbClr>
          </a:solidFill>
          <a:ln/>
        </p:spPr>
        <p:txBody>
          <a:bodyPr/>
          <a:lstStyle/>
          <a:p>
            <a:endParaRPr lang="en-US"/>
          </a:p>
        </p:txBody>
      </p:sp>
      <p:sp>
        <p:nvSpPr>
          <p:cNvPr id="15" name="Text 13"/>
          <p:cNvSpPr/>
          <p:nvPr/>
        </p:nvSpPr>
        <p:spPr>
          <a:xfrm>
            <a:off x="1143000" y="63674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16" name="Text 14"/>
          <p:cNvSpPr/>
          <p:nvPr/>
        </p:nvSpPr>
        <p:spPr>
          <a:xfrm>
            <a:off x="1943100" y="6248400"/>
            <a:ext cx="9017000" cy="409575"/>
          </a:xfrm>
          <a:prstGeom prst="rect">
            <a:avLst/>
          </a:prstGeom>
          <a:noFill/>
          <a:ln/>
        </p:spPr>
        <p:txBody>
          <a:bodyPr wrap="square" lIns="0" tIns="0" rIns="0" bIns="0" rtlCol="0" anchor="t">
            <a:normAutofit/>
          </a:bodyPr>
          <a:lstStyle/>
          <a:p>
            <a:r>
              <a:rPr lang="en-US" sz="2400" b="1" kern="0" spc="-24" dirty="0">
                <a:solidFill>
                  <a:srgbClr val="14161C"/>
                </a:solidFill>
                <a:latin typeface="Montserrat" pitchFamily="34" charset="0"/>
              </a:rPr>
              <a:t>Built social media strategy for Kingdom Creations.</a:t>
            </a:r>
          </a:p>
        </p:txBody>
      </p:sp>
      <p:sp>
        <p:nvSpPr>
          <p:cNvPr id="17" name="Text 15"/>
          <p:cNvSpPr/>
          <p:nvPr/>
        </p:nvSpPr>
        <p:spPr>
          <a:xfrm>
            <a:off x="1143000" y="72056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life</a:t>
            </a:r>
            <a:endParaRPr lang="en-US" sz="1350" dirty="0"/>
          </a:p>
        </p:txBody>
      </p:sp>
      <p:sp>
        <p:nvSpPr>
          <p:cNvPr id="18" name="Text 16"/>
          <p:cNvSpPr/>
          <p:nvPr/>
        </p:nvSpPr>
        <p:spPr>
          <a:xfrm>
            <a:off x="1943100" y="7086600"/>
            <a:ext cx="7095088"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Hunted for a warm, lightweight travel jacket.</a:t>
            </a:r>
            <a:endParaRPr lang="en-US" sz="2400" dirty="0"/>
          </a:p>
        </p:txBody>
      </p:sp>
      <p:sp>
        <p:nvSpPr>
          <p:cNvPr id="21" name="Shape 19"/>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2" name="Text 20"/>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CLAUDE CHAT · YOUR TURN</a:t>
            </a:r>
            <a:endParaRPr lang="en-US" sz="1350" dirty="0"/>
          </a:p>
        </p:txBody>
      </p:sp>
      <p:sp>
        <p:nvSpPr>
          <p:cNvPr id="3" name="Text 1"/>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Find your role.</a:t>
            </a:r>
            <a:endParaRPr lang="en-US" sz="6300" dirty="0"/>
          </a:p>
        </p:txBody>
      </p:sp>
      <p:sp>
        <p:nvSpPr>
          <p:cNvPr id="4" name="Text 2"/>
          <p:cNvSpPr/>
          <p:nvPr/>
        </p:nvSpPr>
        <p:spPr>
          <a:xfrm>
            <a:off x="1143000" y="2552700"/>
            <a:ext cx="16482060"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A starting line for every chair in this room.</a:t>
            </a:r>
            <a:endParaRPr lang="en-US" sz="1950" dirty="0"/>
          </a:p>
        </p:txBody>
      </p:sp>
      <p:sp>
        <p:nvSpPr>
          <p:cNvPr id="5" name="Shape 3"/>
          <p:cNvSpPr/>
          <p:nvPr/>
        </p:nvSpPr>
        <p:spPr>
          <a:xfrm>
            <a:off x="1143000" y="3309938"/>
            <a:ext cx="5206975" cy="1866900"/>
          </a:xfrm>
          <a:prstGeom prst="rect">
            <a:avLst/>
          </a:prstGeom>
          <a:solidFill>
            <a:srgbClr val="1B1D24"/>
          </a:solidFill>
          <a:ln/>
        </p:spPr>
        <p:txBody>
          <a:bodyPr/>
          <a:lstStyle/>
          <a:p>
            <a:endParaRPr lang="en-US"/>
          </a:p>
        </p:txBody>
      </p:sp>
      <p:sp>
        <p:nvSpPr>
          <p:cNvPr id="6" name="Text 4"/>
          <p:cNvSpPr/>
          <p:nvPr/>
        </p:nvSpPr>
        <p:spPr>
          <a:xfrm>
            <a:off x="1409700" y="3576638"/>
            <a:ext cx="4813782"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Pastoral</a:t>
            </a:r>
            <a:endParaRPr lang="en-US" sz="1800" dirty="0"/>
          </a:p>
        </p:txBody>
      </p:sp>
      <p:sp>
        <p:nvSpPr>
          <p:cNvPr id="7" name="Text 5"/>
          <p:cNvSpPr/>
          <p:nvPr/>
        </p:nvSpPr>
        <p:spPr>
          <a:xfrm>
            <a:off x="1409700" y="3929063"/>
            <a:ext cx="481378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Sermon angles, illustrations, cross-references.</a:t>
            </a:r>
            <a:endParaRPr lang="en-US" sz="1425" dirty="0"/>
          </a:p>
        </p:txBody>
      </p:sp>
      <p:sp>
        <p:nvSpPr>
          <p:cNvPr id="8" name="Shape 6"/>
          <p:cNvSpPr/>
          <p:nvPr/>
        </p:nvSpPr>
        <p:spPr>
          <a:xfrm>
            <a:off x="6540475" y="3309938"/>
            <a:ext cx="5206975" cy="1866900"/>
          </a:xfrm>
          <a:prstGeom prst="rect">
            <a:avLst/>
          </a:prstGeom>
          <a:solidFill>
            <a:srgbClr val="1B1D24"/>
          </a:solidFill>
          <a:ln/>
        </p:spPr>
        <p:txBody>
          <a:bodyPr/>
          <a:lstStyle/>
          <a:p>
            <a:endParaRPr lang="en-US"/>
          </a:p>
        </p:txBody>
      </p:sp>
      <p:sp>
        <p:nvSpPr>
          <p:cNvPr id="9" name="Text 7"/>
          <p:cNvSpPr/>
          <p:nvPr/>
        </p:nvSpPr>
        <p:spPr>
          <a:xfrm>
            <a:off x="6807175" y="3576638"/>
            <a:ext cx="4813782"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Communications</a:t>
            </a:r>
            <a:endParaRPr lang="en-US" sz="1800" dirty="0"/>
          </a:p>
        </p:txBody>
      </p:sp>
      <p:sp>
        <p:nvSpPr>
          <p:cNvPr id="10" name="Text 8"/>
          <p:cNvSpPr/>
          <p:nvPr/>
        </p:nvSpPr>
        <p:spPr>
          <a:xfrm>
            <a:off x="6807175" y="3929063"/>
            <a:ext cx="481378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Newsletter copy, captions, headlines.</a:t>
            </a:r>
            <a:endParaRPr lang="en-US" sz="1425" dirty="0"/>
          </a:p>
        </p:txBody>
      </p:sp>
      <p:sp>
        <p:nvSpPr>
          <p:cNvPr id="11" name="Shape 9"/>
          <p:cNvSpPr/>
          <p:nvPr/>
        </p:nvSpPr>
        <p:spPr>
          <a:xfrm>
            <a:off x="11937950" y="3309938"/>
            <a:ext cx="5207050" cy="1866900"/>
          </a:xfrm>
          <a:prstGeom prst="rect">
            <a:avLst/>
          </a:prstGeom>
          <a:solidFill>
            <a:srgbClr val="1B1D24"/>
          </a:solidFill>
          <a:ln/>
        </p:spPr>
        <p:txBody>
          <a:bodyPr/>
          <a:lstStyle/>
          <a:p>
            <a:endParaRPr lang="en-US"/>
          </a:p>
        </p:txBody>
      </p:sp>
      <p:sp>
        <p:nvSpPr>
          <p:cNvPr id="12" name="Text 10"/>
          <p:cNvSpPr/>
          <p:nvPr/>
        </p:nvSpPr>
        <p:spPr>
          <a:xfrm>
            <a:off x="12204650" y="3576638"/>
            <a:ext cx="4813859"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Admin</a:t>
            </a:r>
            <a:endParaRPr lang="en-US" sz="1800" dirty="0"/>
          </a:p>
        </p:txBody>
      </p:sp>
      <p:sp>
        <p:nvSpPr>
          <p:cNvPr id="13" name="Text 11"/>
          <p:cNvSpPr/>
          <p:nvPr/>
        </p:nvSpPr>
        <p:spPr>
          <a:xfrm>
            <a:off x="12204650" y="3929063"/>
            <a:ext cx="4813859"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Drafts, summaries, polished minutes.</a:t>
            </a:r>
            <a:endParaRPr lang="en-US" sz="1425" dirty="0"/>
          </a:p>
        </p:txBody>
      </p:sp>
      <p:sp>
        <p:nvSpPr>
          <p:cNvPr id="14" name="Shape 12"/>
          <p:cNvSpPr/>
          <p:nvPr/>
        </p:nvSpPr>
        <p:spPr>
          <a:xfrm>
            <a:off x="1143000" y="5367338"/>
            <a:ext cx="5206975" cy="1866900"/>
          </a:xfrm>
          <a:prstGeom prst="rect">
            <a:avLst/>
          </a:prstGeom>
          <a:solidFill>
            <a:srgbClr val="1B1D24"/>
          </a:solidFill>
          <a:ln/>
        </p:spPr>
        <p:txBody>
          <a:bodyPr/>
          <a:lstStyle/>
          <a:p>
            <a:endParaRPr lang="en-US"/>
          </a:p>
        </p:txBody>
      </p:sp>
      <p:sp>
        <p:nvSpPr>
          <p:cNvPr id="15" name="Text 13"/>
          <p:cNvSpPr/>
          <p:nvPr/>
        </p:nvSpPr>
        <p:spPr>
          <a:xfrm>
            <a:off x="1409700" y="5634038"/>
            <a:ext cx="4813782"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Finance</a:t>
            </a:r>
            <a:endParaRPr lang="en-US" sz="1800" dirty="0"/>
          </a:p>
        </p:txBody>
      </p:sp>
      <p:sp>
        <p:nvSpPr>
          <p:cNvPr id="16" name="Text 14"/>
          <p:cNvSpPr/>
          <p:nvPr/>
        </p:nvSpPr>
        <p:spPr>
          <a:xfrm>
            <a:off x="1409700" y="5986463"/>
            <a:ext cx="481378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Explain budgets, donor thank-yous.</a:t>
            </a:r>
            <a:endParaRPr lang="en-US" sz="1425" dirty="0"/>
          </a:p>
        </p:txBody>
      </p:sp>
      <p:sp>
        <p:nvSpPr>
          <p:cNvPr id="17" name="Shape 15"/>
          <p:cNvSpPr/>
          <p:nvPr/>
        </p:nvSpPr>
        <p:spPr>
          <a:xfrm>
            <a:off x="6540475" y="5367338"/>
            <a:ext cx="5206975" cy="1866900"/>
          </a:xfrm>
          <a:prstGeom prst="rect">
            <a:avLst/>
          </a:prstGeom>
          <a:solidFill>
            <a:srgbClr val="1B1D24"/>
          </a:solidFill>
          <a:ln/>
        </p:spPr>
        <p:txBody>
          <a:bodyPr/>
          <a:lstStyle/>
          <a:p>
            <a:endParaRPr lang="en-US"/>
          </a:p>
        </p:txBody>
      </p:sp>
      <p:sp>
        <p:nvSpPr>
          <p:cNvPr id="18" name="Text 16"/>
          <p:cNvSpPr/>
          <p:nvPr/>
        </p:nvSpPr>
        <p:spPr>
          <a:xfrm>
            <a:off x="6807175" y="5634038"/>
            <a:ext cx="4813782"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Kids / Youth</a:t>
            </a:r>
            <a:endParaRPr lang="en-US" sz="1800" dirty="0"/>
          </a:p>
        </p:txBody>
      </p:sp>
      <p:sp>
        <p:nvSpPr>
          <p:cNvPr id="19" name="Text 17"/>
          <p:cNvSpPr/>
          <p:nvPr/>
        </p:nvSpPr>
        <p:spPr>
          <a:xfrm>
            <a:off x="6807175" y="5986463"/>
            <a:ext cx="481378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Adapting lessons, parent guides.</a:t>
            </a:r>
            <a:endParaRPr lang="en-US" sz="1425" dirty="0"/>
          </a:p>
        </p:txBody>
      </p:sp>
      <p:sp>
        <p:nvSpPr>
          <p:cNvPr id="20" name="Shape 18"/>
          <p:cNvSpPr/>
          <p:nvPr/>
        </p:nvSpPr>
        <p:spPr>
          <a:xfrm>
            <a:off x="11937950" y="5367338"/>
            <a:ext cx="5207050" cy="1866900"/>
          </a:xfrm>
          <a:prstGeom prst="rect">
            <a:avLst/>
          </a:prstGeom>
          <a:solidFill>
            <a:srgbClr val="1B1D24"/>
          </a:solidFill>
          <a:ln/>
        </p:spPr>
        <p:txBody>
          <a:bodyPr/>
          <a:lstStyle/>
          <a:p>
            <a:endParaRPr lang="en-US"/>
          </a:p>
        </p:txBody>
      </p:sp>
      <p:sp>
        <p:nvSpPr>
          <p:cNvPr id="21" name="Text 19"/>
          <p:cNvSpPr/>
          <p:nvPr/>
        </p:nvSpPr>
        <p:spPr>
          <a:xfrm>
            <a:off x="12204650" y="5634038"/>
            <a:ext cx="4813859"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Worship</a:t>
            </a:r>
            <a:endParaRPr lang="en-US" sz="1800" dirty="0"/>
          </a:p>
        </p:txBody>
      </p:sp>
      <p:sp>
        <p:nvSpPr>
          <p:cNvPr id="22" name="Text 20"/>
          <p:cNvSpPr/>
          <p:nvPr/>
        </p:nvSpPr>
        <p:spPr>
          <a:xfrm>
            <a:off x="12204650" y="5986463"/>
            <a:ext cx="4813859"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Songs to themes, set-list logic.</a:t>
            </a:r>
            <a:endParaRPr lang="en-US" sz="1425" dirty="0"/>
          </a:p>
        </p:txBody>
      </p:sp>
      <p:sp>
        <p:nvSpPr>
          <p:cNvPr id="23" name="Shape 21"/>
          <p:cNvSpPr/>
          <p:nvPr/>
        </p:nvSpPr>
        <p:spPr>
          <a:xfrm>
            <a:off x="1143000" y="7424737"/>
            <a:ext cx="5206975" cy="1866900"/>
          </a:xfrm>
          <a:prstGeom prst="rect">
            <a:avLst/>
          </a:prstGeom>
          <a:solidFill>
            <a:srgbClr val="1B1D24"/>
          </a:solidFill>
          <a:ln/>
        </p:spPr>
        <p:txBody>
          <a:bodyPr/>
          <a:lstStyle/>
          <a:p>
            <a:endParaRPr lang="en-US"/>
          </a:p>
        </p:txBody>
      </p:sp>
      <p:sp>
        <p:nvSpPr>
          <p:cNvPr id="24" name="Text 22"/>
          <p:cNvSpPr/>
          <p:nvPr/>
        </p:nvSpPr>
        <p:spPr>
          <a:xfrm>
            <a:off x="1409700" y="7691438"/>
            <a:ext cx="4813782"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Volunteer Coord</a:t>
            </a:r>
            <a:endParaRPr lang="en-US" sz="1800" dirty="0"/>
          </a:p>
        </p:txBody>
      </p:sp>
      <p:sp>
        <p:nvSpPr>
          <p:cNvPr id="25" name="Text 23"/>
          <p:cNvSpPr/>
          <p:nvPr/>
        </p:nvSpPr>
        <p:spPr>
          <a:xfrm>
            <a:off x="1409700" y="8043863"/>
            <a:ext cx="481378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Recruitment language that doesn't beg.</a:t>
            </a:r>
            <a:endParaRPr lang="en-US" sz="1425" dirty="0"/>
          </a:p>
        </p:txBody>
      </p:sp>
      <p:sp>
        <p:nvSpPr>
          <p:cNvPr id="26" name="Shape 24"/>
          <p:cNvSpPr/>
          <p:nvPr/>
        </p:nvSpPr>
        <p:spPr>
          <a:xfrm>
            <a:off x="6540475" y="7424737"/>
            <a:ext cx="5206975" cy="1866900"/>
          </a:xfrm>
          <a:prstGeom prst="rect">
            <a:avLst/>
          </a:prstGeom>
          <a:solidFill>
            <a:srgbClr val="1B1D24"/>
          </a:solidFill>
          <a:ln/>
        </p:spPr>
        <p:txBody>
          <a:bodyPr/>
          <a:lstStyle/>
          <a:p>
            <a:endParaRPr lang="en-US"/>
          </a:p>
        </p:txBody>
      </p:sp>
      <p:sp>
        <p:nvSpPr>
          <p:cNvPr id="27" name="Text 25"/>
          <p:cNvSpPr/>
          <p:nvPr/>
        </p:nvSpPr>
        <p:spPr>
          <a:xfrm>
            <a:off x="6807175" y="7691438"/>
            <a:ext cx="4813782"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Operations</a:t>
            </a:r>
            <a:endParaRPr lang="en-US" sz="1800" dirty="0"/>
          </a:p>
        </p:txBody>
      </p:sp>
      <p:sp>
        <p:nvSpPr>
          <p:cNvPr id="28" name="Text 26"/>
          <p:cNvSpPr/>
          <p:nvPr/>
        </p:nvSpPr>
        <p:spPr>
          <a:xfrm>
            <a:off x="6807175" y="8043863"/>
            <a:ext cx="481378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SOPs, vendor comparisons, policy drafts.</a:t>
            </a:r>
            <a:endParaRPr lang="en-US" sz="1425" dirty="0"/>
          </a:p>
        </p:txBody>
      </p:sp>
      <p:sp>
        <p:nvSpPr>
          <p:cNvPr id="29" name="Shape 27"/>
          <p:cNvSpPr/>
          <p:nvPr/>
        </p:nvSpPr>
        <p:spPr>
          <a:xfrm>
            <a:off x="11937950" y="7424737"/>
            <a:ext cx="5207050" cy="1866900"/>
          </a:xfrm>
          <a:prstGeom prst="rect">
            <a:avLst/>
          </a:prstGeom>
          <a:solidFill>
            <a:srgbClr val="1B1D24"/>
          </a:solidFill>
          <a:ln/>
        </p:spPr>
        <p:txBody>
          <a:bodyPr/>
          <a:lstStyle/>
          <a:p>
            <a:endParaRPr lang="en-US"/>
          </a:p>
        </p:txBody>
      </p:sp>
      <p:sp>
        <p:nvSpPr>
          <p:cNvPr id="30" name="Text 28"/>
          <p:cNvSpPr/>
          <p:nvPr/>
        </p:nvSpPr>
        <p:spPr>
          <a:xfrm>
            <a:off x="12204650" y="7691438"/>
            <a:ext cx="4813859"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3FE0D0"/>
                </a:solidFill>
                <a:latin typeface="Montserrat" pitchFamily="34" charset="0"/>
                <a:ea typeface="Montserrat" pitchFamily="34" charset="-122"/>
                <a:cs typeface="Montserrat" pitchFamily="34" charset="-120"/>
              </a:rPr>
              <a:t>Leadership</a:t>
            </a:r>
            <a:endParaRPr lang="en-US" sz="1800" dirty="0"/>
          </a:p>
        </p:txBody>
      </p:sp>
      <p:sp>
        <p:nvSpPr>
          <p:cNvPr id="31" name="Text 29"/>
          <p:cNvSpPr/>
          <p:nvPr/>
        </p:nvSpPr>
        <p:spPr>
          <a:xfrm>
            <a:off x="12204650" y="8043863"/>
            <a:ext cx="4813859"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FFFFF"/>
                </a:solidFill>
                <a:latin typeface="Inter" pitchFamily="34" charset="0"/>
                <a:ea typeface="Inter" pitchFamily="34" charset="-122"/>
                <a:cs typeface="Inter" pitchFamily="34" charset="-120"/>
              </a:rPr>
              <a:t>Pre-reads, decision memos, board prep.</a:t>
            </a:r>
            <a:endParaRPr lang="en-US" sz="1425" dirty="0"/>
          </a:p>
        </p:txBody>
      </p:sp>
      <p:sp>
        <p:nvSpPr>
          <p:cNvPr id="32" name="Shape 30"/>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3" name="Text 31"/>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45" name="Text 0">
            <a:extLst>
              <a:ext uri="{FF2B5EF4-FFF2-40B4-BE49-F238E27FC236}">
                <a16:creationId xmlns:a16="http://schemas.microsoft.com/office/drawing/2014/main" id="{FB57F728-5373-170A-5CAD-76C6CDD6875B}"/>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6B6E78"/>
                </a:solidFill>
                <a:latin typeface="Inter" pitchFamily="34" charset="0"/>
                <a:ea typeface="Inter" pitchFamily="34" charset="-122"/>
                <a:cs typeface="Inter" pitchFamily="34" charset="-120"/>
              </a:rPr>
              <a:t>CLAUDE CHAT · YOUR TURN</a:t>
            </a:r>
            <a:endParaRPr lang="en-US" sz="1350" dirty="0"/>
          </a:p>
        </p:txBody>
      </p:sp>
      <p:sp>
        <p:nvSpPr>
          <p:cNvPr id="46" name="Text 1">
            <a:extLst>
              <a:ext uri="{FF2B5EF4-FFF2-40B4-BE49-F238E27FC236}">
                <a16:creationId xmlns:a16="http://schemas.microsoft.com/office/drawing/2014/main" id="{36EA83FD-9565-34A0-A027-C35113D860A3}"/>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14161C"/>
                </a:solidFill>
                <a:latin typeface="Montserrat" pitchFamily="34" charset="0"/>
              </a:rPr>
              <a:t>Hide it under a bushel … No!</a:t>
            </a:r>
            <a:endParaRPr lang="en-US" sz="6300" dirty="0"/>
          </a:p>
        </p:txBody>
      </p:sp>
      <p:sp>
        <p:nvSpPr>
          <p:cNvPr id="47" name="Text 2">
            <a:extLst>
              <a:ext uri="{FF2B5EF4-FFF2-40B4-BE49-F238E27FC236}">
                <a16:creationId xmlns:a16="http://schemas.microsoft.com/office/drawing/2014/main" id="{8C34FFB6-5537-E58D-985F-C6B835EABA0D}"/>
              </a:ext>
            </a:extLst>
          </p:cNvPr>
          <p:cNvSpPr/>
          <p:nvPr/>
        </p:nvSpPr>
        <p:spPr>
          <a:xfrm>
            <a:off x="1143000" y="2628900"/>
            <a:ext cx="1275397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3A3D49"/>
                </a:solidFill>
                <a:latin typeface="Inter" pitchFamily="34" charset="0"/>
                <a:ea typeface="Inter" pitchFamily="34" charset="-122"/>
                <a:cs typeface="Inter" pitchFamily="34" charset="-120"/>
              </a:rPr>
              <a:t>Let it shine, let it shine, let it shine!</a:t>
            </a:r>
            <a:endParaRPr lang="en-US" sz="2250" dirty="0"/>
          </a:p>
        </p:txBody>
      </p:sp>
      <p:sp>
        <p:nvSpPr>
          <p:cNvPr id="5" name="Shape 3"/>
          <p:cNvSpPr/>
          <p:nvPr/>
        </p:nvSpPr>
        <p:spPr>
          <a:xfrm>
            <a:off x="952501" y="4007903"/>
            <a:ext cx="3098080" cy="4943589"/>
          </a:xfrm>
          <a:prstGeom prst="roundRect">
            <a:avLst>
              <a:gd name="adj" fmla="val 4211"/>
            </a:avLst>
          </a:prstGeom>
          <a:solidFill>
            <a:srgbClr val="F7F5F1"/>
          </a:solidFill>
          <a:ln/>
        </p:spPr>
        <p:txBody>
          <a:bodyPr/>
          <a:lstStyle/>
          <a:p>
            <a:endParaRPr lang="en-US"/>
          </a:p>
        </p:txBody>
      </p:sp>
      <p:sp>
        <p:nvSpPr>
          <p:cNvPr id="6" name="Shape 4"/>
          <p:cNvSpPr/>
          <p:nvPr/>
        </p:nvSpPr>
        <p:spPr>
          <a:xfrm>
            <a:off x="952501" y="7956207"/>
            <a:ext cx="3098080" cy="8698"/>
          </a:xfrm>
          <a:prstGeom prst="rect">
            <a:avLst/>
          </a:prstGeom>
          <a:solidFill>
            <a:srgbClr val="E5E5E7"/>
          </a:solidFill>
          <a:ln/>
        </p:spPr>
        <p:txBody>
          <a:bodyPr/>
          <a:lstStyle/>
          <a:p>
            <a:endParaRPr lang="en-US"/>
          </a:p>
        </p:txBody>
      </p:sp>
      <p:sp>
        <p:nvSpPr>
          <p:cNvPr id="7" name="Shape 5"/>
          <p:cNvSpPr/>
          <p:nvPr/>
        </p:nvSpPr>
        <p:spPr>
          <a:xfrm>
            <a:off x="952501" y="4007903"/>
            <a:ext cx="3098080" cy="34794"/>
          </a:xfrm>
          <a:prstGeom prst="rect">
            <a:avLst/>
          </a:prstGeom>
          <a:solidFill>
            <a:srgbClr val="F58220"/>
          </a:solidFill>
          <a:ln/>
        </p:spPr>
        <p:txBody>
          <a:bodyPr/>
          <a:lstStyle/>
          <a:p>
            <a:endParaRPr lang="en-US"/>
          </a:p>
        </p:txBody>
      </p:sp>
      <p:sp>
        <p:nvSpPr>
          <p:cNvPr id="8" name="Shape 6"/>
          <p:cNvSpPr/>
          <p:nvPr/>
        </p:nvSpPr>
        <p:spPr>
          <a:xfrm>
            <a:off x="952501" y="4007903"/>
            <a:ext cx="8153" cy="4943589"/>
          </a:xfrm>
          <a:prstGeom prst="rect">
            <a:avLst/>
          </a:prstGeom>
          <a:solidFill>
            <a:srgbClr val="E5E5E7"/>
          </a:solidFill>
          <a:ln/>
        </p:spPr>
        <p:txBody>
          <a:bodyPr/>
          <a:lstStyle/>
          <a:p>
            <a:endParaRPr lang="en-US"/>
          </a:p>
        </p:txBody>
      </p:sp>
      <p:sp>
        <p:nvSpPr>
          <p:cNvPr id="9" name="Shape 7"/>
          <p:cNvSpPr/>
          <p:nvPr/>
        </p:nvSpPr>
        <p:spPr>
          <a:xfrm>
            <a:off x="4042428" y="4007903"/>
            <a:ext cx="8153" cy="4943589"/>
          </a:xfrm>
          <a:prstGeom prst="rect">
            <a:avLst/>
          </a:prstGeom>
          <a:solidFill>
            <a:srgbClr val="E5E5E7"/>
          </a:solidFill>
          <a:ln/>
        </p:spPr>
        <p:txBody>
          <a:bodyPr/>
          <a:lstStyle/>
          <a:p>
            <a:endParaRPr lang="en-US"/>
          </a:p>
        </p:txBody>
      </p:sp>
      <p:sp>
        <p:nvSpPr>
          <p:cNvPr id="10" name="Text 8"/>
          <p:cNvSpPr/>
          <p:nvPr/>
        </p:nvSpPr>
        <p:spPr>
          <a:xfrm>
            <a:off x="1221545" y="4321049"/>
            <a:ext cx="2636792" cy="786261"/>
          </a:xfrm>
          <a:prstGeom prst="rect">
            <a:avLst/>
          </a:prstGeom>
          <a:noFill/>
          <a:ln/>
        </p:spPr>
        <p:txBody>
          <a:bodyPr wrap="square" lIns="25400" tIns="25400" rIns="25400" bIns="25400" rtlCol="0" anchor="t">
            <a:normAutofit/>
          </a:bodyPr>
          <a:lstStyle/>
          <a:p>
            <a:pPr marL="0" indent="0" algn="l">
              <a:lnSpc>
                <a:spcPct val="90000"/>
              </a:lnSpc>
              <a:buNone/>
            </a:pPr>
            <a:r>
              <a:rPr lang="en-US" sz="3200" b="1" kern="0" spc="-288" dirty="0">
                <a:solidFill>
                  <a:srgbClr val="F58220"/>
                </a:solidFill>
                <a:latin typeface="Montserrat" pitchFamily="34" charset="0"/>
                <a:ea typeface="Montserrat" pitchFamily="34" charset="-122"/>
                <a:cs typeface="Montserrat" pitchFamily="34" charset="-120"/>
              </a:rPr>
              <a:t>Pastoral Care</a:t>
            </a:r>
            <a:endParaRPr lang="en-US" sz="3200" dirty="0"/>
          </a:p>
        </p:txBody>
      </p:sp>
      <p:sp>
        <p:nvSpPr>
          <p:cNvPr id="11" name="Text 9"/>
          <p:cNvSpPr/>
          <p:nvPr/>
        </p:nvSpPr>
        <p:spPr>
          <a:xfrm>
            <a:off x="1221545" y="5211690"/>
            <a:ext cx="2636792" cy="356638"/>
          </a:xfrm>
          <a:prstGeom prst="rect">
            <a:avLst/>
          </a:prstGeom>
          <a:noFill/>
          <a:ln/>
        </p:spPr>
        <p:txBody>
          <a:bodyPr wrap="square" lIns="25400" tIns="25400" rIns="25400" bIns="25400" rtlCol="0" anchor="t">
            <a:normAutofit lnSpcReduction="10000"/>
          </a:bodyPr>
          <a:lstStyle/>
          <a:p>
            <a:r>
              <a:rPr lang="en-US" sz="2100" b="1" kern="0" spc="-11" dirty="0">
                <a:solidFill>
                  <a:srgbClr val="2A2D38"/>
                </a:solidFill>
                <a:latin typeface="Montserrat" pitchFamily="34" charset="0"/>
              </a:rPr>
              <a:t>Discernment</a:t>
            </a:r>
          </a:p>
        </p:txBody>
      </p:sp>
      <p:sp>
        <p:nvSpPr>
          <p:cNvPr id="13" name="Shape 11"/>
          <p:cNvSpPr/>
          <p:nvPr/>
        </p:nvSpPr>
        <p:spPr>
          <a:xfrm>
            <a:off x="1221545" y="6088208"/>
            <a:ext cx="2559992" cy="1981077"/>
          </a:xfrm>
          <a:prstGeom prst="roundRect">
            <a:avLst>
              <a:gd name="adj" fmla="val 4378"/>
            </a:avLst>
          </a:prstGeom>
          <a:solidFill>
            <a:srgbClr val="FFFFFF"/>
          </a:solidFill>
          <a:ln w="9525">
            <a:solidFill>
              <a:srgbClr val="E5E5E7"/>
            </a:solidFill>
            <a:prstDash val="solid"/>
          </a:ln>
        </p:spPr>
        <p:txBody>
          <a:bodyPr/>
          <a:lstStyle/>
          <a:p>
            <a:endParaRPr lang="en-US"/>
          </a:p>
        </p:txBody>
      </p:sp>
      <p:sp>
        <p:nvSpPr>
          <p:cNvPr id="14" name="Text 12"/>
          <p:cNvSpPr/>
          <p:nvPr/>
        </p:nvSpPr>
        <p:spPr>
          <a:xfrm>
            <a:off x="1376449" y="6236083"/>
            <a:ext cx="2326984" cy="1328693"/>
          </a:xfrm>
          <a:prstGeom prst="rect">
            <a:avLst/>
          </a:prstGeom>
          <a:noFill/>
          <a:ln/>
        </p:spPr>
        <p:txBody>
          <a:bodyPr wrap="square" lIns="25400" tIns="25400" rIns="25400" bIns="25400" rtlCol="0" anchor="t">
            <a:noAutofit/>
          </a:bodyPr>
          <a:lstStyle/>
          <a:p>
            <a:pPr>
              <a:lnSpc>
                <a:spcPct val="155000"/>
              </a:lnSpc>
            </a:pPr>
            <a:r>
              <a:rPr lang="en-US" dirty="0">
                <a:solidFill>
                  <a:srgbClr val="2A2D38"/>
                </a:solidFill>
                <a:latin typeface="JetBrains Mono" pitchFamily="34" charset="0"/>
                <a:ea typeface="JetBrains Mono" pitchFamily="34" charset="-122"/>
              </a:rPr>
              <a:t>“Draft a compassionate follow-up email for a grieving family situation.”</a:t>
            </a:r>
          </a:p>
        </p:txBody>
      </p:sp>
      <p:sp>
        <p:nvSpPr>
          <p:cNvPr id="15" name="Shape 13"/>
          <p:cNvSpPr/>
          <p:nvPr/>
        </p:nvSpPr>
        <p:spPr>
          <a:xfrm>
            <a:off x="4278860" y="4007903"/>
            <a:ext cx="3098080" cy="4943589"/>
          </a:xfrm>
          <a:prstGeom prst="roundRect">
            <a:avLst>
              <a:gd name="adj" fmla="val 4211"/>
            </a:avLst>
          </a:prstGeom>
          <a:solidFill>
            <a:srgbClr val="F7F5F1"/>
          </a:solidFill>
          <a:ln/>
        </p:spPr>
        <p:txBody>
          <a:bodyPr/>
          <a:lstStyle/>
          <a:p>
            <a:endParaRPr lang="en-US"/>
          </a:p>
        </p:txBody>
      </p:sp>
      <p:sp>
        <p:nvSpPr>
          <p:cNvPr id="16" name="Shape 14"/>
          <p:cNvSpPr/>
          <p:nvPr/>
        </p:nvSpPr>
        <p:spPr>
          <a:xfrm>
            <a:off x="4278860" y="7956207"/>
            <a:ext cx="3098080" cy="8698"/>
          </a:xfrm>
          <a:prstGeom prst="rect">
            <a:avLst/>
          </a:prstGeom>
          <a:solidFill>
            <a:srgbClr val="E5E5E7"/>
          </a:solidFill>
          <a:ln/>
        </p:spPr>
        <p:txBody>
          <a:bodyPr/>
          <a:lstStyle/>
          <a:p>
            <a:endParaRPr lang="en-US"/>
          </a:p>
        </p:txBody>
      </p:sp>
      <p:sp>
        <p:nvSpPr>
          <p:cNvPr id="17" name="Shape 15"/>
          <p:cNvSpPr/>
          <p:nvPr/>
        </p:nvSpPr>
        <p:spPr>
          <a:xfrm>
            <a:off x="4278860" y="4007903"/>
            <a:ext cx="3098080" cy="34794"/>
          </a:xfrm>
          <a:prstGeom prst="rect">
            <a:avLst/>
          </a:prstGeom>
          <a:solidFill>
            <a:srgbClr val="3FE0D0"/>
          </a:solidFill>
          <a:ln/>
        </p:spPr>
        <p:txBody>
          <a:bodyPr/>
          <a:lstStyle/>
          <a:p>
            <a:endParaRPr lang="en-US"/>
          </a:p>
        </p:txBody>
      </p:sp>
      <p:sp>
        <p:nvSpPr>
          <p:cNvPr id="18" name="Shape 16"/>
          <p:cNvSpPr/>
          <p:nvPr/>
        </p:nvSpPr>
        <p:spPr>
          <a:xfrm>
            <a:off x="4278860" y="4007903"/>
            <a:ext cx="8153" cy="4943589"/>
          </a:xfrm>
          <a:prstGeom prst="rect">
            <a:avLst/>
          </a:prstGeom>
          <a:solidFill>
            <a:srgbClr val="E5E5E7"/>
          </a:solidFill>
          <a:ln/>
        </p:spPr>
        <p:txBody>
          <a:bodyPr/>
          <a:lstStyle/>
          <a:p>
            <a:endParaRPr lang="en-US"/>
          </a:p>
        </p:txBody>
      </p:sp>
      <p:sp>
        <p:nvSpPr>
          <p:cNvPr id="19" name="Shape 17"/>
          <p:cNvSpPr/>
          <p:nvPr/>
        </p:nvSpPr>
        <p:spPr>
          <a:xfrm>
            <a:off x="7368787" y="4007903"/>
            <a:ext cx="8153" cy="4943589"/>
          </a:xfrm>
          <a:prstGeom prst="rect">
            <a:avLst/>
          </a:prstGeom>
          <a:solidFill>
            <a:srgbClr val="E5E5E7"/>
          </a:solidFill>
          <a:ln/>
        </p:spPr>
        <p:txBody>
          <a:bodyPr/>
          <a:lstStyle/>
          <a:p>
            <a:endParaRPr lang="en-US"/>
          </a:p>
        </p:txBody>
      </p:sp>
      <p:sp>
        <p:nvSpPr>
          <p:cNvPr id="20" name="Text 18"/>
          <p:cNvSpPr/>
          <p:nvPr/>
        </p:nvSpPr>
        <p:spPr>
          <a:xfrm>
            <a:off x="4547904" y="4321049"/>
            <a:ext cx="2636792" cy="786261"/>
          </a:xfrm>
          <a:prstGeom prst="rect">
            <a:avLst/>
          </a:prstGeom>
          <a:noFill/>
          <a:ln/>
        </p:spPr>
        <p:txBody>
          <a:bodyPr wrap="square" lIns="25400" tIns="25400" rIns="25400" bIns="25400" rtlCol="0" anchor="t">
            <a:noAutofit/>
          </a:bodyPr>
          <a:lstStyle/>
          <a:p>
            <a:pPr marL="0" indent="0" algn="l">
              <a:lnSpc>
                <a:spcPct val="90000"/>
              </a:lnSpc>
              <a:buNone/>
            </a:pPr>
            <a:r>
              <a:rPr lang="en-US" sz="3200" b="1" kern="0" spc="-288" dirty="0">
                <a:solidFill>
                  <a:srgbClr val="3FE0D0"/>
                </a:solidFill>
                <a:latin typeface="Montserrat" pitchFamily="34" charset="0"/>
                <a:ea typeface="Montserrat" pitchFamily="34" charset="-122"/>
                <a:cs typeface="Montserrat" pitchFamily="34" charset="-120"/>
              </a:rPr>
              <a:t>Sermon +</a:t>
            </a:r>
            <a:endParaRPr lang="en-US" sz="3200" dirty="0"/>
          </a:p>
        </p:txBody>
      </p:sp>
      <p:sp>
        <p:nvSpPr>
          <p:cNvPr id="21" name="Text 19"/>
          <p:cNvSpPr/>
          <p:nvPr/>
        </p:nvSpPr>
        <p:spPr>
          <a:xfrm>
            <a:off x="4547904" y="5211690"/>
            <a:ext cx="2636792" cy="356638"/>
          </a:xfrm>
          <a:prstGeom prst="rect">
            <a:avLst/>
          </a:prstGeom>
          <a:noFill/>
          <a:ln/>
        </p:spPr>
        <p:txBody>
          <a:bodyPr wrap="square" lIns="25400" tIns="25400" rIns="25400" bIns="25400" rtlCol="0" anchor="t">
            <a:normAutofit lnSpcReduction="10000"/>
          </a:bodyPr>
          <a:lstStyle/>
          <a:p>
            <a:r>
              <a:rPr lang="en-US" sz="2100" b="1" kern="0" spc="-11" dirty="0">
                <a:solidFill>
                  <a:srgbClr val="2A2D38"/>
                </a:solidFill>
                <a:latin typeface="Montserrat" pitchFamily="34" charset="0"/>
              </a:rPr>
              <a:t>Discipleship</a:t>
            </a:r>
          </a:p>
        </p:txBody>
      </p:sp>
      <p:sp>
        <p:nvSpPr>
          <p:cNvPr id="23" name="Shape 21"/>
          <p:cNvSpPr/>
          <p:nvPr/>
        </p:nvSpPr>
        <p:spPr>
          <a:xfrm>
            <a:off x="4547904" y="6103974"/>
            <a:ext cx="2559992" cy="1981077"/>
          </a:xfrm>
          <a:prstGeom prst="roundRect">
            <a:avLst>
              <a:gd name="adj" fmla="val 3637"/>
            </a:avLst>
          </a:prstGeom>
          <a:solidFill>
            <a:srgbClr val="FFFFFF"/>
          </a:solidFill>
          <a:ln w="9525">
            <a:solidFill>
              <a:srgbClr val="E5E5E7"/>
            </a:solidFill>
            <a:prstDash val="solid"/>
          </a:ln>
        </p:spPr>
        <p:txBody>
          <a:bodyPr/>
          <a:lstStyle/>
          <a:p>
            <a:endParaRPr lang="en-US"/>
          </a:p>
        </p:txBody>
      </p:sp>
      <p:sp>
        <p:nvSpPr>
          <p:cNvPr id="24" name="Text 22"/>
          <p:cNvSpPr/>
          <p:nvPr/>
        </p:nvSpPr>
        <p:spPr>
          <a:xfrm>
            <a:off x="4702808" y="6251848"/>
            <a:ext cx="2326984" cy="1652167"/>
          </a:xfrm>
          <a:prstGeom prst="rect">
            <a:avLst/>
          </a:prstGeom>
          <a:noFill/>
          <a:ln/>
        </p:spPr>
        <p:txBody>
          <a:bodyPr wrap="square" lIns="25400" tIns="25400" rIns="25400" bIns="25400" rtlCol="0" anchor="t">
            <a:normAutofit/>
          </a:bodyPr>
          <a:lstStyle/>
          <a:p>
            <a:pPr>
              <a:lnSpc>
                <a:spcPct val="155000"/>
              </a:lnSpc>
            </a:pPr>
            <a:r>
              <a:rPr lang="en-US" sz="1700" dirty="0">
                <a:solidFill>
                  <a:srgbClr val="2A2D38"/>
                </a:solidFill>
                <a:latin typeface="JetBrains Mono" pitchFamily="34" charset="0"/>
                <a:ea typeface="JetBrains Mono" pitchFamily="34" charset="-122"/>
              </a:rPr>
              <a:t>“Rewrite this sermon into a simple family devotional for parents and kids.”</a:t>
            </a:r>
          </a:p>
        </p:txBody>
      </p:sp>
      <p:sp>
        <p:nvSpPr>
          <p:cNvPr id="25" name="Shape 23"/>
          <p:cNvSpPr/>
          <p:nvPr/>
        </p:nvSpPr>
        <p:spPr>
          <a:xfrm>
            <a:off x="7605219" y="4007903"/>
            <a:ext cx="3098080" cy="4943589"/>
          </a:xfrm>
          <a:prstGeom prst="roundRect">
            <a:avLst>
              <a:gd name="adj" fmla="val 4211"/>
            </a:avLst>
          </a:prstGeom>
          <a:solidFill>
            <a:srgbClr val="F7F5F1"/>
          </a:solidFill>
          <a:ln/>
        </p:spPr>
        <p:txBody>
          <a:bodyPr/>
          <a:lstStyle/>
          <a:p>
            <a:endParaRPr lang="en-US"/>
          </a:p>
        </p:txBody>
      </p:sp>
      <p:sp>
        <p:nvSpPr>
          <p:cNvPr id="26" name="Shape 24"/>
          <p:cNvSpPr/>
          <p:nvPr/>
        </p:nvSpPr>
        <p:spPr>
          <a:xfrm>
            <a:off x="7605219" y="7956207"/>
            <a:ext cx="3098080" cy="8698"/>
          </a:xfrm>
          <a:prstGeom prst="rect">
            <a:avLst/>
          </a:prstGeom>
          <a:solidFill>
            <a:srgbClr val="E5E5E7"/>
          </a:solidFill>
          <a:ln/>
        </p:spPr>
        <p:txBody>
          <a:bodyPr/>
          <a:lstStyle/>
          <a:p>
            <a:endParaRPr lang="en-US"/>
          </a:p>
        </p:txBody>
      </p:sp>
      <p:sp>
        <p:nvSpPr>
          <p:cNvPr id="27" name="Shape 25"/>
          <p:cNvSpPr/>
          <p:nvPr/>
        </p:nvSpPr>
        <p:spPr>
          <a:xfrm>
            <a:off x="7605219" y="4007903"/>
            <a:ext cx="3098080" cy="34794"/>
          </a:xfrm>
          <a:prstGeom prst="rect">
            <a:avLst/>
          </a:prstGeom>
          <a:solidFill>
            <a:srgbClr val="F58220"/>
          </a:solidFill>
          <a:ln/>
        </p:spPr>
        <p:txBody>
          <a:bodyPr/>
          <a:lstStyle/>
          <a:p>
            <a:endParaRPr lang="en-US"/>
          </a:p>
        </p:txBody>
      </p:sp>
      <p:sp>
        <p:nvSpPr>
          <p:cNvPr id="28" name="Shape 26"/>
          <p:cNvSpPr/>
          <p:nvPr/>
        </p:nvSpPr>
        <p:spPr>
          <a:xfrm>
            <a:off x="7605219" y="4007903"/>
            <a:ext cx="8153" cy="4943589"/>
          </a:xfrm>
          <a:prstGeom prst="rect">
            <a:avLst/>
          </a:prstGeom>
          <a:solidFill>
            <a:srgbClr val="E5E5E7"/>
          </a:solidFill>
          <a:ln/>
        </p:spPr>
        <p:txBody>
          <a:bodyPr/>
          <a:lstStyle/>
          <a:p>
            <a:endParaRPr lang="en-US"/>
          </a:p>
        </p:txBody>
      </p:sp>
      <p:sp>
        <p:nvSpPr>
          <p:cNvPr id="29" name="Shape 27"/>
          <p:cNvSpPr/>
          <p:nvPr/>
        </p:nvSpPr>
        <p:spPr>
          <a:xfrm>
            <a:off x="10695146" y="4007903"/>
            <a:ext cx="8153" cy="4943589"/>
          </a:xfrm>
          <a:prstGeom prst="rect">
            <a:avLst/>
          </a:prstGeom>
          <a:solidFill>
            <a:srgbClr val="E5E5E7"/>
          </a:solidFill>
          <a:ln/>
        </p:spPr>
        <p:txBody>
          <a:bodyPr/>
          <a:lstStyle/>
          <a:p>
            <a:endParaRPr lang="en-US"/>
          </a:p>
        </p:txBody>
      </p:sp>
      <p:sp>
        <p:nvSpPr>
          <p:cNvPr id="30" name="Text 28"/>
          <p:cNvSpPr/>
          <p:nvPr/>
        </p:nvSpPr>
        <p:spPr>
          <a:xfrm>
            <a:off x="7874263" y="4321049"/>
            <a:ext cx="2636792" cy="786261"/>
          </a:xfrm>
          <a:prstGeom prst="rect">
            <a:avLst/>
          </a:prstGeom>
          <a:noFill/>
          <a:ln/>
        </p:spPr>
        <p:txBody>
          <a:bodyPr wrap="square" lIns="25400" tIns="25400" rIns="25400" bIns="25400" rtlCol="0" anchor="t">
            <a:normAutofit/>
          </a:bodyPr>
          <a:lstStyle/>
          <a:p>
            <a:pPr marL="0" indent="0" algn="l">
              <a:lnSpc>
                <a:spcPct val="90000"/>
              </a:lnSpc>
              <a:buNone/>
            </a:pPr>
            <a:r>
              <a:rPr lang="en-US" sz="3200" b="1" kern="0" spc="-288" dirty="0">
                <a:solidFill>
                  <a:srgbClr val="F58220"/>
                </a:solidFill>
                <a:latin typeface="Montserrat" pitchFamily="34" charset="0"/>
                <a:ea typeface="Montserrat" pitchFamily="34" charset="-122"/>
                <a:cs typeface="Montserrat" pitchFamily="34" charset="-120"/>
              </a:rPr>
              <a:t>Handbook</a:t>
            </a:r>
            <a:endParaRPr lang="en-US" sz="3200" dirty="0"/>
          </a:p>
        </p:txBody>
      </p:sp>
      <p:sp>
        <p:nvSpPr>
          <p:cNvPr id="31" name="Text 29"/>
          <p:cNvSpPr/>
          <p:nvPr/>
        </p:nvSpPr>
        <p:spPr>
          <a:xfrm>
            <a:off x="7874263" y="5211690"/>
            <a:ext cx="2636792" cy="356638"/>
          </a:xfrm>
          <a:prstGeom prst="rect">
            <a:avLst/>
          </a:prstGeom>
          <a:noFill/>
          <a:ln/>
        </p:spPr>
        <p:txBody>
          <a:bodyPr wrap="square" lIns="25400" tIns="25400" rIns="25400" bIns="25400" rtlCol="0" anchor="t">
            <a:normAutofit lnSpcReduction="10000"/>
          </a:bodyPr>
          <a:lstStyle/>
          <a:p>
            <a:r>
              <a:rPr lang="en-US" sz="2100" b="1" kern="0" spc="-11" dirty="0">
                <a:solidFill>
                  <a:srgbClr val="2A2D38"/>
                </a:solidFill>
                <a:latin typeface="Montserrat" pitchFamily="34" charset="0"/>
              </a:rPr>
              <a:t>Clarification</a:t>
            </a:r>
          </a:p>
        </p:txBody>
      </p:sp>
      <p:sp>
        <p:nvSpPr>
          <p:cNvPr id="33" name="Shape 31"/>
          <p:cNvSpPr/>
          <p:nvPr/>
        </p:nvSpPr>
        <p:spPr>
          <a:xfrm>
            <a:off x="7874263" y="6088208"/>
            <a:ext cx="2559992" cy="1996843"/>
          </a:xfrm>
          <a:prstGeom prst="roundRect">
            <a:avLst>
              <a:gd name="adj" fmla="val 4378"/>
            </a:avLst>
          </a:prstGeom>
          <a:solidFill>
            <a:srgbClr val="FFFFFF"/>
          </a:solidFill>
          <a:ln w="9525">
            <a:solidFill>
              <a:srgbClr val="E5E5E7"/>
            </a:solidFill>
            <a:prstDash val="solid"/>
          </a:ln>
        </p:spPr>
        <p:txBody>
          <a:bodyPr/>
          <a:lstStyle/>
          <a:p>
            <a:endParaRPr lang="en-US"/>
          </a:p>
        </p:txBody>
      </p:sp>
      <p:sp>
        <p:nvSpPr>
          <p:cNvPr id="34" name="Text 32"/>
          <p:cNvSpPr/>
          <p:nvPr/>
        </p:nvSpPr>
        <p:spPr>
          <a:xfrm>
            <a:off x="8029167" y="6236083"/>
            <a:ext cx="2326984" cy="1328693"/>
          </a:xfrm>
          <a:prstGeom prst="rect">
            <a:avLst/>
          </a:prstGeom>
          <a:noFill/>
          <a:ln/>
        </p:spPr>
        <p:txBody>
          <a:bodyPr wrap="square" lIns="25400" tIns="25400" rIns="25400" bIns="25400" rtlCol="0" anchor="t">
            <a:noAutofit/>
          </a:bodyPr>
          <a:lstStyle/>
          <a:p>
            <a:pPr>
              <a:lnSpc>
                <a:spcPct val="155000"/>
              </a:lnSpc>
            </a:pPr>
            <a:r>
              <a:rPr lang="en-US" sz="1700" dirty="0">
                <a:solidFill>
                  <a:srgbClr val="2A2D38"/>
                </a:solidFill>
                <a:latin typeface="JetBrains Mono" pitchFamily="34" charset="0"/>
                <a:ea typeface="JetBrains Mono" pitchFamily="34" charset="-122"/>
              </a:rPr>
              <a:t>“What do our documents say about leadership qualifications and term limits?”</a:t>
            </a:r>
          </a:p>
        </p:txBody>
      </p:sp>
      <p:sp>
        <p:nvSpPr>
          <p:cNvPr id="35" name="Shape 33"/>
          <p:cNvSpPr/>
          <p:nvPr/>
        </p:nvSpPr>
        <p:spPr>
          <a:xfrm>
            <a:off x="10931578" y="4007903"/>
            <a:ext cx="3098080" cy="4943589"/>
          </a:xfrm>
          <a:prstGeom prst="roundRect">
            <a:avLst>
              <a:gd name="adj" fmla="val 4211"/>
            </a:avLst>
          </a:prstGeom>
          <a:solidFill>
            <a:srgbClr val="F7F5F1"/>
          </a:solidFill>
          <a:ln/>
        </p:spPr>
        <p:txBody>
          <a:bodyPr/>
          <a:lstStyle/>
          <a:p>
            <a:endParaRPr lang="en-US"/>
          </a:p>
        </p:txBody>
      </p:sp>
      <p:sp>
        <p:nvSpPr>
          <p:cNvPr id="36" name="Shape 34"/>
          <p:cNvSpPr/>
          <p:nvPr/>
        </p:nvSpPr>
        <p:spPr>
          <a:xfrm>
            <a:off x="10931578" y="7956207"/>
            <a:ext cx="3098080" cy="8698"/>
          </a:xfrm>
          <a:prstGeom prst="rect">
            <a:avLst/>
          </a:prstGeom>
          <a:solidFill>
            <a:srgbClr val="E5E5E7"/>
          </a:solidFill>
          <a:ln/>
        </p:spPr>
        <p:txBody>
          <a:bodyPr/>
          <a:lstStyle/>
          <a:p>
            <a:endParaRPr lang="en-US"/>
          </a:p>
        </p:txBody>
      </p:sp>
      <p:sp>
        <p:nvSpPr>
          <p:cNvPr id="37" name="Shape 35"/>
          <p:cNvSpPr/>
          <p:nvPr/>
        </p:nvSpPr>
        <p:spPr>
          <a:xfrm>
            <a:off x="10931578" y="4007903"/>
            <a:ext cx="3098080" cy="34794"/>
          </a:xfrm>
          <a:prstGeom prst="rect">
            <a:avLst/>
          </a:prstGeom>
          <a:solidFill>
            <a:srgbClr val="3FE0D0"/>
          </a:solidFill>
          <a:ln/>
        </p:spPr>
        <p:txBody>
          <a:bodyPr/>
          <a:lstStyle/>
          <a:p>
            <a:endParaRPr lang="en-US"/>
          </a:p>
        </p:txBody>
      </p:sp>
      <p:sp>
        <p:nvSpPr>
          <p:cNvPr id="38" name="Shape 36"/>
          <p:cNvSpPr/>
          <p:nvPr/>
        </p:nvSpPr>
        <p:spPr>
          <a:xfrm>
            <a:off x="10931578" y="4007903"/>
            <a:ext cx="8153" cy="4943589"/>
          </a:xfrm>
          <a:prstGeom prst="rect">
            <a:avLst/>
          </a:prstGeom>
          <a:solidFill>
            <a:srgbClr val="E5E5E7"/>
          </a:solidFill>
          <a:ln/>
        </p:spPr>
        <p:txBody>
          <a:bodyPr/>
          <a:lstStyle/>
          <a:p>
            <a:endParaRPr lang="en-US"/>
          </a:p>
        </p:txBody>
      </p:sp>
      <p:sp>
        <p:nvSpPr>
          <p:cNvPr id="39" name="Shape 37"/>
          <p:cNvSpPr/>
          <p:nvPr/>
        </p:nvSpPr>
        <p:spPr>
          <a:xfrm>
            <a:off x="14021505" y="4007903"/>
            <a:ext cx="8153" cy="4943589"/>
          </a:xfrm>
          <a:prstGeom prst="rect">
            <a:avLst/>
          </a:prstGeom>
          <a:solidFill>
            <a:srgbClr val="E5E5E7"/>
          </a:solidFill>
          <a:ln/>
        </p:spPr>
        <p:txBody>
          <a:bodyPr/>
          <a:lstStyle/>
          <a:p>
            <a:endParaRPr lang="en-US"/>
          </a:p>
        </p:txBody>
      </p:sp>
      <p:sp>
        <p:nvSpPr>
          <p:cNvPr id="40" name="Text 38"/>
          <p:cNvSpPr/>
          <p:nvPr/>
        </p:nvSpPr>
        <p:spPr>
          <a:xfrm>
            <a:off x="11200622" y="4321049"/>
            <a:ext cx="2636792" cy="786261"/>
          </a:xfrm>
          <a:prstGeom prst="rect">
            <a:avLst/>
          </a:prstGeom>
          <a:noFill/>
          <a:ln/>
        </p:spPr>
        <p:txBody>
          <a:bodyPr wrap="square" lIns="25400" tIns="25400" rIns="25400" bIns="25400" rtlCol="0" anchor="t">
            <a:normAutofit/>
          </a:bodyPr>
          <a:lstStyle/>
          <a:p>
            <a:pPr marL="0" indent="0" algn="l">
              <a:lnSpc>
                <a:spcPct val="90000"/>
              </a:lnSpc>
              <a:buNone/>
            </a:pPr>
            <a:r>
              <a:rPr lang="en-US" sz="3200" b="1" kern="0" spc="-288" dirty="0">
                <a:solidFill>
                  <a:srgbClr val="3FE0D0"/>
                </a:solidFill>
                <a:latin typeface="Montserrat" pitchFamily="34" charset="0"/>
                <a:ea typeface="Montserrat" pitchFamily="34" charset="-122"/>
                <a:cs typeface="Montserrat" pitchFamily="34" charset="-120"/>
              </a:rPr>
              <a:t>Screening</a:t>
            </a:r>
            <a:endParaRPr lang="en-US" sz="3200" dirty="0"/>
          </a:p>
        </p:txBody>
      </p:sp>
      <p:sp>
        <p:nvSpPr>
          <p:cNvPr id="41" name="Text 39"/>
          <p:cNvSpPr/>
          <p:nvPr/>
        </p:nvSpPr>
        <p:spPr>
          <a:xfrm>
            <a:off x="11200622" y="5211690"/>
            <a:ext cx="2636792" cy="356638"/>
          </a:xfrm>
          <a:prstGeom prst="rect">
            <a:avLst/>
          </a:prstGeom>
          <a:noFill/>
          <a:ln/>
        </p:spPr>
        <p:txBody>
          <a:bodyPr wrap="square" lIns="25400" tIns="25400" rIns="25400" bIns="25400" rtlCol="0" anchor="t">
            <a:noAutofit/>
          </a:bodyPr>
          <a:lstStyle/>
          <a:p>
            <a:r>
              <a:rPr lang="en-US" sz="2100" b="1" kern="0" spc="-11" dirty="0">
                <a:solidFill>
                  <a:srgbClr val="2A2D38"/>
                </a:solidFill>
                <a:latin typeface="Montserrat" pitchFamily="34" charset="0"/>
              </a:rPr>
              <a:t>Evaluation</a:t>
            </a:r>
          </a:p>
        </p:txBody>
      </p:sp>
      <p:sp>
        <p:nvSpPr>
          <p:cNvPr id="43" name="Shape 41"/>
          <p:cNvSpPr/>
          <p:nvPr/>
        </p:nvSpPr>
        <p:spPr>
          <a:xfrm>
            <a:off x="11200622" y="6079510"/>
            <a:ext cx="2559992" cy="2005541"/>
          </a:xfrm>
          <a:prstGeom prst="roundRect">
            <a:avLst>
              <a:gd name="adj" fmla="val 3637"/>
            </a:avLst>
          </a:prstGeom>
          <a:solidFill>
            <a:srgbClr val="FFFFFF"/>
          </a:solidFill>
          <a:ln w="9525">
            <a:solidFill>
              <a:srgbClr val="E5E5E7"/>
            </a:solidFill>
            <a:prstDash val="solid"/>
          </a:ln>
        </p:spPr>
        <p:txBody>
          <a:bodyPr/>
          <a:lstStyle/>
          <a:p>
            <a:endParaRPr lang="en-US"/>
          </a:p>
        </p:txBody>
      </p:sp>
      <p:sp>
        <p:nvSpPr>
          <p:cNvPr id="44" name="Text 42"/>
          <p:cNvSpPr/>
          <p:nvPr/>
        </p:nvSpPr>
        <p:spPr>
          <a:xfrm>
            <a:off x="11355526" y="6227384"/>
            <a:ext cx="2326984" cy="1652167"/>
          </a:xfrm>
          <a:prstGeom prst="rect">
            <a:avLst/>
          </a:prstGeom>
          <a:noFill/>
          <a:ln/>
        </p:spPr>
        <p:txBody>
          <a:bodyPr wrap="square" lIns="25400" tIns="25400" rIns="25400" bIns="25400" rtlCol="0" anchor="t">
            <a:normAutofit/>
          </a:bodyPr>
          <a:lstStyle/>
          <a:p>
            <a:pPr>
              <a:lnSpc>
                <a:spcPct val="155000"/>
              </a:lnSpc>
            </a:pPr>
            <a:r>
              <a:rPr lang="en-US" sz="1700" dirty="0">
                <a:solidFill>
                  <a:srgbClr val="2A2D38"/>
                </a:solidFill>
                <a:latin typeface="JetBrains Mono" pitchFamily="34" charset="0"/>
                <a:ea typeface="JetBrains Mono" pitchFamily="34" charset="-122"/>
              </a:rPr>
              <a:t>“List potential red flags when evaluating candidates for youth ministry roles.”</a:t>
            </a:r>
          </a:p>
        </p:txBody>
      </p:sp>
      <p:sp>
        <p:nvSpPr>
          <p:cNvPr id="48" name="Shape 3">
            <a:extLst>
              <a:ext uri="{FF2B5EF4-FFF2-40B4-BE49-F238E27FC236}">
                <a16:creationId xmlns:a16="http://schemas.microsoft.com/office/drawing/2014/main" id="{5DD98B33-F6FA-F9F4-49BF-EB2CB75F77A2}"/>
              </a:ext>
            </a:extLst>
          </p:cNvPr>
          <p:cNvSpPr/>
          <p:nvPr/>
        </p:nvSpPr>
        <p:spPr>
          <a:xfrm>
            <a:off x="14290549" y="3999205"/>
            <a:ext cx="3098080" cy="4943589"/>
          </a:xfrm>
          <a:prstGeom prst="roundRect">
            <a:avLst>
              <a:gd name="adj" fmla="val 4211"/>
            </a:avLst>
          </a:prstGeom>
          <a:solidFill>
            <a:srgbClr val="F7F5F1"/>
          </a:solidFill>
          <a:ln/>
        </p:spPr>
        <p:txBody>
          <a:bodyPr/>
          <a:lstStyle/>
          <a:p>
            <a:endParaRPr lang="en-US"/>
          </a:p>
        </p:txBody>
      </p:sp>
      <p:sp>
        <p:nvSpPr>
          <p:cNvPr id="49" name="Shape 4">
            <a:extLst>
              <a:ext uri="{FF2B5EF4-FFF2-40B4-BE49-F238E27FC236}">
                <a16:creationId xmlns:a16="http://schemas.microsoft.com/office/drawing/2014/main" id="{93D47555-2520-52BE-5351-E079EAEEC76F}"/>
              </a:ext>
            </a:extLst>
          </p:cNvPr>
          <p:cNvSpPr/>
          <p:nvPr/>
        </p:nvSpPr>
        <p:spPr>
          <a:xfrm>
            <a:off x="14290549" y="7947508"/>
            <a:ext cx="3098080" cy="8698"/>
          </a:xfrm>
          <a:prstGeom prst="rect">
            <a:avLst/>
          </a:prstGeom>
          <a:solidFill>
            <a:srgbClr val="E5E5E7"/>
          </a:solidFill>
          <a:ln/>
        </p:spPr>
        <p:txBody>
          <a:bodyPr/>
          <a:lstStyle/>
          <a:p>
            <a:endParaRPr lang="en-US"/>
          </a:p>
        </p:txBody>
      </p:sp>
      <p:sp>
        <p:nvSpPr>
          <p:cNvPr id="50" name="Shape 5">
            <a:extLst>
              <a:ext uri="{FF2B5EF4-FFF2-40B4-BE49-F238E27FC236}">
                <a16:creationId xmlns:a16="http://schemas.microsoft.com/office/drawing/2014/main" id="{ACA9FA08-4AB1-9CD8-9A68-56F7439F13EB}"/>
              </a:ext>
            </a:extLst>
          </p:cNvPr>
          <p:cNvSpPr/>
          <p:nvPr/>
        </p:nvSpPr>
        <p:spPr>
          <a:xfrm>
            <a:off x="14290549" y="3999205"/>
            <a:ext cx="3098080" cy="34794"/>
          </a:xfrm>
          <a:prstGeom prst="rect">
            <a:avLst/>
          </a:prstGeom>
          <a:solidFill>
            <a:srgbClr val="F58220"/>
          </a:solidFill>
          <a:ln/>
        </p:spPr>
        <p:txBody>
          <a:bodyPr/>
          <a:lstStyle/>
          <a:p>
            <a:endParaRPr lang="en-US"/>
          </a:p>
        </p:txBody>
      </p:sp>
      <p:sp>
        <p:nvSpPr>
          <p:cNvPr id="51" name="Shape 6">
            <a:extLst>
              <a:ext uri="{FF2B5EF4-FFF2-40B4-BE49-F238E27FC236}">
                <a16:creationId xmlns:a16="http://schemas.microsoft.com/office/drawing/2014/main" id="{E4E485A4-1075-C124-0BBF-080A6658D34E}"/>
              </a:ext>
            </a:extLst>
          </p:cNvPr>
          <p:cNvSpPr/>
          <p:nvPr/>
        </p:nvSpPr>
        <p:spPr>
          <a:xfrm>
            <a:off x="14290549" y="3999205"/>
            <a:ext cx="8153" cy="4943589"/>
          </a:xfrm>
          <a:prstGeom prst="rect">
            <a:avLst/>
          </a:prstGeom>
          <a:solidFill>
            <a:srgbClr val="E5E5E7"/>
          </a:solidFill>
          <a:ln/>
        </p:spPr>
        <p:txBody>
          <a:bodyPr/>
          <a:lstStyle/>
          <a:p>
            <a:endParaRPr lang="en-US"/>
          </a:p>
        </p:txBody>
      </p:sp>
      <p:sp>
        <p:nvSpPr>
          <p:cNvPr id="52" name="Shape 7">
            <a:extLst>
              <a:ext uri="{FF2B5EF4-FFF2-40B4-BE49-F238E27FC236}">
                <a16:creationId xmlns:a16="http://schemas.microsoft.com/office/drawing/2014/main" id="{E85DA58F-D25E-88DF-F0B6-0BB8BCFD0C57}"/>
              </a:ext>
            </a:extLst>
          </p:cNvPr>
          <p:cNvSpPr/>
          <p:nvPr/>
        </p:nvSpPr>
        <p:spPr>
          <a:xfrm>
            <a:off x="17380476" y="3999205"/>
            <a:ext cx="8153" cy="4943589"/>
          </a:xfrm>
          <a:prstGeom prst="rect">
            <a:avLst/>
          </a:prstGeom>
          <a:solidFill>
            <a:srgbClr val="E5E5E7"/>
          </a:solidFill>
          <a:ln/>
        </p:spPr>
        <p:txBody>
          <a:bodyPr/>
          <a:lstStyle/>
          <a:p>
            <a:endParaRPr lang="en-US"/>
          </a:p>
        </p:txBody>
      </p:sp>
      <p:sp>
        <p:nvSpPr>
          <p:cNvPr id="53" name="Text 8">
            <a:extLst>
              <a:ext uri="{FF2B5EF4-FFF2-40B4-BE49-F238E27FC236}">
                <a16:creationId xmlns:a16="http://schemas.microsoft.com/office/drawing/2014/main" id="{0FB5393D-84D7-E545-690E-8538A81BBA5A}"/>
              </a:ext>
            </a:extLst>
          </p:cNvPr>
          <p:cNvSpPr/>
          <p:nvPr/>
        </p:nvSpPr>
        <p:spPr>
          <a:xfrm>
            <a:off x="14559593" y="4312350"/>
            <a:ext cx="2636792" cy="786261"/>
          </a:xfrm>
          <a:prstGeom prst="rect">
            <a:avLst/>
          </a:prstGeom>
          <a:noFill/>
          <a:ln/>
        </p:spPr>
        <p:txBody>
          <a:bodyPr wrap="square" lIns="25400" tIns="25400" rIns="25400" bIns="25400" rtlCol="0" anchor="t">
            <a:normAutofit/>
          </a:bodyPr>
          <a:lstStyle/>
          <a:p>
            <a:pPr marL="0" indent="0" algn="l">
              <a:lnSpc>
                <a:spcPct val="90000"/>
              </a:lnSpc>
              <a:buNone/>
            </a:pPr>
            <a:r>
              <a:rPr lang="en-US" sz="3200" b="1" kern="0" spc="-288" dirty="0">
                <a:solidFill>
                  <a:srgbClr val="F58220"/>
                </a:solidFill>
                <a:latin typeface="Montserrat" pitchFamily="34" charset="0"/>
                <a:ea typeface="Montserrat" pitchFamily="34" charset="-122"/>
                <a:cs typeface="Montserrat" pitchFamily="34" charset="-120"/>
              </a:rPr>
              <a:t>Translate</a:t>
            </a:r>
            <a:endParaRPr lang="en-US" sz="3200" dirty="0"/>
          </a:p>
        </p:txBody>
      </p:sp>
      <p:sp>
        <p:nvSpPr>
          <p:cNvPr id="54" name="Text 9">
            <a:extLst>
              <a:ext uri="{FF2B5EF4-FFF2-40B4-BE49-F238E27FC236}">
                <a16:creationId xmlns:a16="http://schemas.microsoft.com/office/drawing/2014/main" id="{41BFCA4F-FC52-9E2D-C1E1-5E79D27181EB}"/>
              </a:ext>
            </a:extLst>
          </p:cNvPr>
          <p:cNvSpPr/>
          <p:nvPr/>
        </p:nvSpPr>
        <p:spPr>
          <a:xfrm>
            <a:off x="14559593" y="5202992"/>
            <a:ext cx="2636792" cy="356638"/>
          </a:xfrm>
          <a:prstGeom prst="rect">
            <a:avLst/>
          </a:prstGeom>
          <a:noFill/>
          <a:ln/>
        </p:spPr>
        <p:txBody>
          <a:bodyPr wrap="square" lIns="25400" tIns="25400" rIns="25400" bIns="25400" rtlCol="0" anchor="t">
            <a:normAutofit lnSpcReduction="10000"/>
          </a:bodyPr>
          <a:lstStyle/>
          <a:p>
            <a:r>
              <a:rPr lang="en-US" sz="2100" b="1" kern="0" spc="-11" dirty="0">
                <a:solidFill>
                  <a:srgbClr val="2A2D38"/>
                </a:solidFill>
                <a:latin typeface="Montserrat" pitchFamily="34" charset="0"/>
              </a:rPr>
              <a:t>Reframing</a:t>
            </a:r>
          </a:p>
        </p:txBody>
      </p:sp>
      <p:sp>
        <p:nvSpPr>
          <p:cNvPr id="56" name="Shape 11">
            <a:extLst>
              <a:ext uri="{FF2B5EF4-FFF2-40B4-BE49-F238E27FC236}">
                <a16:creationId xmlns:a16="http://schemas.microsoft.com/office/drawing/2014/main" id="{CF0CD734-8318-E7C0-CBC3-073721449030}"/>
              </a:ext>
            </a:extLst>
          </p:cNvPr>
          <p:cNvSpPr/>
          <p:nvPr/>
        </p:nvSpPr>
        <p:spPr>
          <a:xfrm>
            <a:off x="14559593" y="6079510"/>
            <a:ext cx="2559992" cy="2005541"/>
          </a:xfrm>
          <a:prstGeom prst="roundRect">
            <a:avLst>
              <a:gd name="adj" fmla="val 4378"/>
            </a:avLst>
          </a:prstGeom>
          <a:solidFill>
            <a:srgbClr val="FFFFFF"/>
          </a:solidFill>
          <a:ln w="9525">
            <a:solidFill>
              <a:srgbClr val="E5E5E7"/>
            </a:solidFill>
            <a:prstDash val="solid"/>
          </a:ln>
        </p:spPr>
        <p:txBody>
          <a:bodyPr/>
          <a:lstStyle/>
          <a:p>
            <a:endParaRPr lang="en-US"/>
          </a:p>
        </p:txBody>
      </p:sp>
      <p:sp>
        <p:nvSpPr>
          <p:cNvPr id="57" name="Text 12">
            <a:extLst>
              <a:ext uri="{FF2B5EF4-FFF2-40B4-BE49-F238E27FC236}">
                <a16:creationId xmlns:a16="http://schemas.microsoft.com/office/drawing/2014/main" id="{E2156989-261B-92AE-F6A4-966206B15B4F}"/>
              </a:ext>
            </a:extLst>
          </p:cNvPr>
          <p:cNvSpPr/>
          <p:nvPr/>
        </p:nvSpPr>
        <p:spPr>
          <a:xfrm>
            <a:off x="14714497" y="6227384"/>
            <a:ext cx="2326984" cy="1328693"/>
          </a:xfrm>
          <a:prstGeom prst="rect">
            <a:avLst/>
          </a:prstGeom>
          <a:noFill/>
          <a:ln/>
        </p:spPr>
        <p:txBody>
          <a:bodyPr wrap="square" lIns="25400" tIns="25400" rIns="25400" bIns="25400" rtlCol="0" anchor="t">
            <a:noAutofit/>
          </a:bodyPr>
          <a:lstStyle/>
          <a:p>
            <a:pPr>
              <a:lnSpc>
                <a:spcPct val="155000"/>
              </a:lnSpc>
            </a:pPr>
            <a:r>
              <a:rPr lang="en-US" sz="1700" dirty="0">
                <a:solidFill>
                  <a:srgbClr val="2A2D38"/>
                </a:solidFill>
                <a:latin typeface="JetBrains Mono" pitchFamily="34" charset="0"/>
                <a:ea typeface="JetBrains Mono" pitchFamily="34" charset="-122"/>
              </a:rPr>
              <a:t>“Translate this parent concern into a clear, respectful board-level summary.”</a:t>
            </a:r>
          </a:p>
        </p:txBody>
      </p:sp>
      <p:sp>
        <p:nvSpPr>
          <p:cNvPr id="58" name="Shape 16">
            <a:extLst>
              <a:ext uri="{FF2B5EF4-FFF2-40B4-BE49-F238E27FC236}">
                <a16:creationId xmlns:a16="http://schemas.microsoft.com/office/drawing/2014/main" id="{EABECE1D-7528-7EDB-94E6-09F228F9D45D}"/>
              </a:ext>
            </a:extLst>
          </p:cNvPr>
          <p:cNvSpPr/>
          <p:nvPr/>
        </p:nvSpPr>
        <p:spPr>
          <a:xfrm>
            <a:off x="17616908" y="3999205"/>
            <a:ext cx="8153" cy="4943589"/>
          </a:xfrm>
          <a:prstGeom prst="rect">
            <a:avLst/>
          </a:prstGeom>
          <a:solidFill>
            <a:srgbClr val="E5E5E7"/>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C8BED6F6-4129-0144-FC0B-5E3AB176E7EC}"/>
            </a:ext>
          </a:extLst>
        </p:cNvPr>
        <p:cNvGrpSpPr/>
        <p:nvPr/>
      </p:nvGrpSpPr>
      <p:grpSpPr>
        <a:xfrm>
          <a:off x="0" y="0"/>
          <a:ext cx="0" cy="0"/>
          <a:chOff x="0" y="0"/>
          <a:chExt cx="0" cy="0"/>
        </a:xfrm>
      </p:grpSpPr>
      <p:sp>
        <p:nvSpPr>
          <p:cNvPr id="32" name="Shape 30">
            <a:extLst>
              <a:ext uri="{FF2B5EF4-FFF2-40B4-BE49-F238E27FC236}">
                <a16:creationId xmlns:a16="http://schemas.microsoft.com/office/drawing/2014/main" id="{7D853C0A-5246-0009-AE18-FE4037B0EA0E}"/>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3" name="Text 31">
            <a:extLst>
              <a:ext uri="{FF2B5EF4-FFF2-40B4-BE49-F238E27FC236}">
                <a16:creationId xmlns:a16="http://schemas.microsoft.com/office/drawing/2014/main" id="{BA4B3A90-EAC6-32DB-498C-52DD47FEAEAC}"/>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35" name="Text 0">
            <a:extLst>
              <a:ext uri="{FF2B5EF4-FFF2-40B4-BE49-F238E27FC236}">
                <a16:creationId xmlns:a16="http://schemas.microsoft.com/office/drawing/2014/main" id="{10E3101E-52B3-705E-1C6D-88D9BDEEFE16}"/>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CLAUDE CHAT · BEST PRACTICES</a:t>
            </a:r>
            <a:endParaRPr lang="en-US" sz="1350" dirty="0"/>
          </a:p>
        </p:txBody>
      </p:sp>
      <p:sp>
        <p:nvSpPr>
          <p:cNvPr id="36" name="Text 1">
            <a:extLst>
              <a:ext uri="{FF2B5EF4-FFF2-40B4-BE49-F238E27FC236}">
                <a16:creationId xmlns:a16="http://schemas.microsoft.com/office/drawing/2014/main" id="{58C58028-7781-25A3-C129-40A6DF325E7B}"/>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Three habits that level up Chat.</a:t>
            </a:r>
            <a:endParaRPr lang="en-US" sz="6300" dirty="0"/>
          </a:p>
        </p:txBody>
      </p:sp>
      <p:sp>
        <p:nvSpPr>
          <p:cNvPr id="37" name="Text 2">
            <a:extLst>
              <a:ext uri="{FF2B5EF4-FFF2-40B4-BE49-F238E27FC236}">
                <a16:creationId xmlns:a16="http://schemas.microsoft.com/office/drawing/2014/main" id="{425014C3-372B-75DA-A4FA-9838103B59CF}"/>
              </a:ext>
            </a:extLst>
          </p:cNvPr>
          <p:cNvSpPr/>
          <p:nvPr/>
        </p:nvSpPr>
        <p:spPr>
          <a:xfrm>
            <a:off x="1143000" y="2543175"/>
            <a:ext cx="1275397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Small setup moves that turn Chat from "smarter Google" into something that knows you.</a:t>
            </a:r>
            <a:endParaRPr lang="en-US" sz="1950" dirty="0"/>
          </a:p>
        </p:txBody>
      </p:sp>
      <p:sp>
        <p:nvSpPr>
          <p:cNvPr id="38" name="Shape 3">
            <a:extLst>
              <a:ext uri="{FF2B5EF4-FFF2-40B4-BE49-F238E27FC236}">
                <a16:creationId xmlns:a16="http://schemas.microsoft.com/office/drawing/2014/main" id="{131253F9-7A78-A61E-0630-3ABE7B7CF5C3}"/>
              </a:ext>
            </a:extLst>
          </p:cNvPr>
          <p:cNvSpPr/>
          <p:nvPr/>
        </p:nvSpPr>
        <p:spPr>
          <a:xfrm>
            <a:off x="1143000" y="3600450"/>
            <a:ext cx="7886700" cy="1943100"/>
          </a:xfrm>
          <a:prstGeom prst="rect">
            <a:avLst/>
          </a:prstGeom>
          <a:solidFill>
            <a:srgbClr val="1B1D24"/>
          </a:solidFill>
          <a:ln/>
        </p:spPr>
        <p:txBody>
          <a:bodyPr/>
          <a:lstStyle/>
          <a:p>
            <a:endParaRPr lang="en-US"/>
          </a:p>
        </p:txBody>
      </p:sp>
      <p:sp>
        <p:nvSpPr>
          <p:cNvPr id="39" name="Shape 4">
            <a:extLst>
              <a:ext uri="{FF2B5EF4-FFF2-40B4-BE49-F238E27FC236}">
                <a16:creationId xmlns:a16="http://schemas.microsoft.com/office/drawing/2014/main" id="{83A60C11-C66F-9790-C5A0-A36FCA04145E}"/>
              </a:ext>
            </a:extLst>
          </p:cNvPr>
          <p:cNvSpPr/>
          <p:nvPr/>
        </p:nvSpPr>
        <p:spPr>
          <a:xfrm>
            <a:off x="1143000" y="3600450"/>
            <a:ext cx="19050" cy="1943100"/>
          </a:xfrm>
          <a:prstGeom prst="rect">
            <a:avLst/>
          </a:prstGeom>
          <a:solidFill>
            <a:srgbClr val="3FE0D0"/>
          </a:solidFill>
          <a:ln/>
        </p:spPr>
        <p:txBody>
          <a:bodyPr/>
          <a:lstStyle/>
          <a:p>
            <a:endParaRPr lang="en-US"/>
          </a:p>
        </p:txBody>
      </p:sp>
      <p:sp>
        <p:nvSpPr>
          <p:cNvPr id="40" name="Text 5">
            <a:extLst>
              <a:ext uri="{FF2B5EF4-FFF2-40B4-BE49-F238E27FC236}">
                <a16:creationId xmlns:a16="http://schemas.microsoft.com/office/drawing/2014/main" id="{DEFBD009-7A6E-4B65-6E1B-3DC9E4707C3A}"/>
              </a:ext>
            </a:extLst>
          </p:cNvPr>
          <p:cNvSpPr/>
          <p:nvPr/>
        </p:nvSpPr>
        <p:spPr>
          <a:xfrm>
            <a:off x="2038350" y="41846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Set up a </a:t>
            </a:r>
            <a:r>
              <a:rPr lang="en-US" sz="1950" b="1" kern="0" spc="-19" dirty="0">
                <a:solidFill>
                  <a:srgbClr val="3FE0D0"/>
                </a:solidFill>
                <a:latin typeface="Montserrat" pitchFamily="34" charset="0"/>
                <a:ea typeface="Montserrat" pitchFamily="34" charset="-122"/>
                <a:cs typeface="Montserrat" pitchFamily="34" charset="-120"/>
              </a:rPr>
              <a:t>Project</a:t>
            </a:r>
            <a:r>
              <a:rPr lang="en-US" sz="1950" b="1" kern="0" spc="-19" dirty="0">
                <a:solidFill>
                  <a:srgbClr val="FFFFFF"/>
                </a:solidFill>
                <a:latin typeface="Montserrat" pitchFamily="34" charset="0"/>
                <a:ea typeface="Montserrat" pitchFamily="34" charset="-122"/>
                <a:cs typeface="Montserrat" pitchFamily="34" charset="-120"/>
              </a:rPr>
              <a:t> for anything recurring.</a:t>
            </a:r>
            <a:endParaRPr lang="en-US" sz="1950" dirty="0"/>
          </a:p>
        </p:txBody>
      </p:sp>
      <p:sp>
        <p:nvSpPr>
          <p:cNvPr id="42" name="Shape 7">
            <a:extLst>
              <a:ext uri="{FF2B5EF4-FFF2-40B4-BE49-F238E27FC236}">
                <a16:creationId xmlns:a16="http://schemas.microsoft.com/office/drawing/2014/main" id="{3E1D99F6-737B-B4C7-A610-9AE3A0BEF26F}"/>
              </a:ext>
            </a:extLst>
          </p:cNvPr>
          <p:cNvSpPr/>
          <p:nvPr/>
        </p:nvSpPr>
        <p:spPr>
          <a:xfrm>
            <a:off x="9258300" y="3600450"/>
            <a:ext cx="7886700" cy="1943100"/>
          </a:xfrm>
          <a:prstGeom prst="rect">
            <a:avLst/>
          </a:prstGeom>
          <a:solidFill>
            <a:srgbClr val="1B1D24"/>
          </a:solidFill>
          <a:ln/>
        </p:spPr>
        <p:txBody>
          <a:bodyPr/>
          <a:lstStyle/>
          <a:p>
            <a:endParaRPr lang="en-US"/>
          </a:p>
        </p:txBody>
      </p:sp>
      <p:sp>
        <p:nvSpPr>
          <p:cNvPr id="43" name="Shape 8">
            <a:extLst>
              <a:ext uri="{FF2B5EF4-FFF2-40B4-BE49-F238E27FC236}">
                <a16:creationId xmlns:a16="http://schemas.microsoft.com/office/drawing/2014/main" id="{4256CA56-1577-7DC3-4394-E03C29B954E4}"/>
              </a:ext>
            </a:extLst>
          </p:cNvPr>
          <p:cNvSpPr/>
          <p:nvPr/>
        </p:nvSpPr>
        <p:spPr>
          <a:xfrm>
            <a:off x="9258300" y="3600450"/>
            <a:ext cx="19050" cy="1943100"/>
          </a:xfrm>
          <a:prstGeom prst="rect">
            <a:avLst/>
          </a:prstGeom>
          <a:solidFill>
            <a:srgbClr val="3FE0D0"/>
          </a:solidFill>
          <a:ln/>
        </p:spPr>
        <p:txBody>
          <a:bodyPr/>
          <a:lstStyle/>
          <a:p>
            <a:endParaRPr lang="en-US"/>
          </a:p>
        </p:txBody>
      </p:sp>
      <p:sp>
        <p:nvSpPr>
          <p:cNvPr id="44" name="Text 9">
            <a:extLst>
              <a:ext uri="{FF2B5EF4-FFF2-40B4-BE49-F238E27FC236}">
                <a16:creationId xmlns:a16="http://schemas.microsoft.com/office/drawing/2014/main" id="{191B1DEE-4D4D-9A3F-06FE-B5718324208F}"/>
              </a:ext>
            </a:extLst>
          </p:cNvPr>
          <p:cNvSpPr/>
          <p:nvPr/>
        </p:nvSpPr>
        <p:spPr>
          <a:xfrm>
            <a:off x="10153650" y="41846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3FE0D0"/>
                </a:solidFill>
                <a:latin typeface="Montserrat" pitchFamily="34" charset="0"/>
                <a:ea typeface="Montserrat" pitchFamily="34" charset="-122"/>
                <a:cs typeface="Montserrat" pitchFamily="34" charset="-120"/>
              </a:rPr>
              <a:t>Connect</a:t>
            </a:r>
            <a:r>
              <a:rPr lang="en-US" sz="1950" b="1" kern="0" spc="-19" dirty="0">
                <a:solidFill>
                  <a:srgbClr val="FFFFFF"/>
                </a:solidFill>
                <a:latin typeface="Montserrat" pitchFamily="34" charset="0"/>
                <a:ea typeface="Montserrat" pitchFamily="34" charset="-122"/>
                <a:cs typeface="Montserrat" pitchFamily="34" charset="-120"/>
              </a:rPr>
              <a:t> the tools you already live in.</a:t>
            </a:r>
            <a:endParaRPr lang="en-US" sz="1950" dirty="0"/>
          </a:p>
        </p:txBody>
      </p:sp>
      <p:sp>
        <p:nvSpPr>
          <p:cNvPr id="46" name="Shape 11">
            <a:extLst>
              <a:ext uri="{FF2B5EF4-FFF2-40B4-BE49-F238E27FC236}">
                <a16:creationId xmlns:a16="http://schemas.microsoft.com/office/drawing/2014/main" id="{47529D05-A1DF-1A38-C435-803C19714E47}"/>
              </a:ext>
            </a:extLst>
          </p:cNvPr>
          <p:cNvSpPr/>
          <p:nvPr/>
        </p:nvSpPr>
        <p:spPr>
          <a:xfrm>
            <a:off x="1143000" y="5772150"/>
            <a:ext cx="7886700" cy="1943100"/>
          </a:xfrm>
          <a:prstGeom prst="rect">
            <a:avLst/>
          </a:prstGeom>
          <a:solidFill>
            <a:srgbClr val="1B1D24"/>
          </a:solidFill>
          <a:ln/>
        </p:spPr>
        <p:txBody>
          <a:bodyPr/>
          <a:lstStyle/>
          <a:p>
            <a:endParaRPr lang="en-US"/>
          </a:p>
        </p:txBody>
      </p:sp>
      <p:sp>
        <p:nvSpPr>
          <p:cNvPr id="47" name="Shape 12">
            <a:extLst>
              <a:ext uri="{FF2B5EF4-FFF2-40B4-BE49-F238E27FC236}">
                <a16:creationId xmlns:a16="http://schemas.microsoft.com/office/drawing/2014/main" id="{5414A690-4118-BB43-1765-3AD71FE80100}"/>
              </a:ext>
            </a:extLst>
          </p:cNvPr>
          <p:cNvSpPr/>
          <p:nvPr/>
        </p:nvSpPr>
        <p:spPr>
          <a:xfrm>
            <a:off x="1143000" y="5772150"/>
            <a:ext cx="19050" cy="1943100"/>
          </a:xfrm>
          <a:prstGeom prst="rect">
            <a:avLst/>
          </a:prstGeom>
          <a:solidFill>
            <a:srgbClr val="3FE0D0"/>
          </a:solidFill>
          <a:ln/>
        </p:spPr>
        <p:txBody>
          <a:bodyPr/>
          <a:lstStyle/>
          <a:p>
            <a:endParaRPr lang="en-US"/>
          </a:p>
        </p:txBody>
      </p:sp>
      <p:sp>
        <p:nvSpPr>
          <p:cNvPr id="48" name="Text 13">
            <a:extLst>
              <a:ext uri="{FF2B5EF4-FFF2-40B4-BE49-F238E27FC236}">
                <a16:creationId xmlns:a16="http://schemas.microsoft.com/office/drawing/2014/main" id="{3C1C7C35-6CD2-197E-F6A5-4BCD27D71356}"/>
              </a:ext>
            </a:extLst>
          </p:cNvPr>
          <p:cNvSpPr/>
          <p:nvPr/>
        </p:nvSpPr>
        <p:spPr>
          <a:xfrm>
            <a:off x="2038350" y="63563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Save a </a:t>
            </a:r>
            <a:r>
              <a:rPr lang="en-US" sz="1950" b="1" kern="0" spc="-19" dirty="0">
                <a:solidFill>
                  <a:srgbClr val="3FE0D0"/>
                </a:solidFill>
                <a:latin typeface="Montserrat" pitchFamily="34" charset="0"/>
                <a:ea typeface="Montserrat" pitchFamily="34" charset="-122"/>
                <a:cs typeface="Montserrat" pitchFamily="34" charset="-120"/>
              </a:rPr>
              <a:t>Style</a:t>
            </a:r>
            <a:r>
              <a:rPr lang="en-US" sz="1950" b="1" kern="0" spc="-19" dirty="0">
                <a:solidFill>
                  <a:srgbClr val="FFFFFF"/>
                </a:solidFill>
                <a:latin typeface="Montserrat" pitchFamily="34" charset="0"/>
                <a:ea typeface="Montserrat" pitchFamily="34" charset="-122"/>
                <a:cs typeface="Montserrat" pitchFamily="34" charset="-120"/>
              </a:rPr>
              <a:t> for recurring voice.</a:t>
            </a:r>
            <a:endParaRPr lang="en-US" sz="1950" dirty="0"/>
          </a:p>
        </p:txBody>
      </p:sp>
      <p:sp>
        <p:nvSpPr>
          <p:cNvPr id="50" name="Shape 15">
            <a:extLst>
              <a:ext uri="{FF2B5EF4-FFF2-40B4-BE49-F238E27FC236}">
                <a16:creationId xmlns:a16="http://schemas.microsoft.com/office/drawing/2014/main" id="{77D9AF1D-625E-7AB9-4573-AFD67BD194D5}"/>
              </a:ext>
            </a:extLst>
          </p:cNvPr>
          <p:cNvSpPr/>
          <p:nvPr/>
        </p:nvSpPr>
        <p:spPr>
          <a:xfrm>
            <a:off x="9258300" y="5772150"/>
            <a:ext cx="7886700" cy="1943100"/>
          </a:xfrm>
          <a:prstGeom prst="rect">
            <a:avLst/>
          </a:prstGeom>
          <a:solidFill>
            <a:srgbClr val="1B1D24"/>
          </a:solidFill>
          <a:ln/>
        </p:spPr>
        <p:txBody>
          <a:bodyPr/>
          <a:lstStyle/>
          <a:p>
            <a:endParaRPr lang="en-US"/>
          </a:p>
        </p:txBody>
      </p:sp>
      <p:sp>
        <p:nvSpPr>
          <p:cNvPr id="51" name="Shape 16">
            <a:extLst>
              <a:ext uri="{FF2B5EF4-FFF2-40B4-BE49-F238E27FC236}">
                <a16:creationId xmlns:a16="http://schemas.microsoft.com/office/drawing/2014/main" id="{1F027AEC-8BBA-4C7F-D21E-61F1BC11537F}"/>
              </a:ext>
            </a:extLst>
          </p:cNvPr>
          <p:cNvSpPr/>
          <p:nvPr/>
        </p:nvSpPr>
        <p:spPr>
          <a:xfrm>
            <a:off x="9258300" y="5772150"/>
            <a:ext cx="19050" cy="1943100"/>
          </a:xfrm>
          <a:prstGeom prst="rect">
            <a:avLst/>
          </a:prstGeom>
          <a:solidFill>
            <a:srgbClr val="3FE0D0"/>
          </a:solidFill>
          <a:ln/>
        </p:spPr>
        <p:txBody>
          <a:bodyPr/>
          <a:lstStyle/>
          <a:p>
            <a:endParaRPr lang="en-US"/>
          </a:p>
        </p:txBody>
      </p:sp>
      <p:sp>
        <p:nvSpPr>
          <p:cNvPr id="52" name="Text 17">
            <a:extLst>
              <a:ext uri="{FF2B5EF4-FFF2-40B4-BE49-F238E27FC236}">
                <a16:creationId xmlns:a16="http://schemas.microsoft.com/office/drawing/2014/main" id="{DEF27322-B9FF-5584-0D7C-01D5717212BA}"/>
              </a:ext>
            </a:extLst>
          </p:cNvPr>
          <p:cNvSpPr/>
          <p:nvPr/>
        </p:nvSpPr>
        <p:spPr>
          <a:xfrm>
            <a:off x="10153650" y="63563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Treat the first answer like a first </a:t>
            </a:r>
            <a:r>
              <a:rPr lang="en-US" sz="1950" b="1" kern="0" spc="-19" dirty="0">
                <a:solidFill>
                  <a:srgbClr val="3FE0D0"/>
                </a:solidFill>
                <a:latin typeface="Montserrat" pitchFamily="34" charset="0"/>
                <a:ea typeface="Montserrat" pitchFamily="34" charset="-122"/>
                <a:cs typeface="Montserrat" pitchFamily="34" charset="-120"/>
              </a:rPr>
              <a:t>draft</a:t>
            </a:r>
            <a:r>
              <a:rPr lang="en-US" sz="1950" b="1" kern="0" spc="-19" dirty="0">
                <a:solidFill>
                  <a:srgbClr val="FFFFFF"/>
                </a:solidFill>
                <a:latin typeface="Montserrat" pitchFamily="34" charset="0"/>
                <a:ea typeface="Montserrat" pitchFamily="34" charset="-122"/>
                <a:cs typeface="Montserrat" pitchFamily="34" charset="-120"/>
              </a:rPr>
              <a:t>.</a:t>
            </a:r>
            <a:endParaRPr lang="en-US" sz="1950" dirty="0"/>
          </a:p>
        </p:txBody>
      </p:sp>
    </p:spTree>
    <p:extLst>
      <p:ext uri="{BB962C8B-B14F-4D97-AF65-F5344CB8AC3E}">
        <p14:creationId xmlns:p14="http://schemas.microsoft.com/office/powerpoint/2010/main" val="1010624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7925246" y="1914525"/>
            <a:ext cx="2437507" cy="247650"/>
          </a:xfrm>
          <a:prstGeom prst="rect">
            <a:avLst/>
          </a:prstGeom>
          <a:noFill/>
          <a:ln/>
        </p:spPr>
        <p:txBody>
          <a:bodyPr wrap="square" lIns="25400" tIns="25400" rIns="25400" bIns="25400" rtlCol="0" anchor="t">
            <a:normAutofit lnSpcReduction="10000"/>
          </a:bodyPr>
          <a:lstStyle/>
          <a:p>
            <a:pPr marL="0" indent="0" algn="ctr">
              <a:buNone/>
            </a:pPr>
            <a:r>
              <a:rPr lang="en-US" sz="1350" b="1" kern="0" spc="378" dirty="0">
                <a:solidFill>
                  <a:srgbClr val="F58220"/>
                </a:solidFill>
                <a:latin typeface="Inter" pitchFamily="34" charset="0"/>
                <a:ea typeface="Inter" pitchFamily="34" charset="-122"/>
                <a:cs typeface="Inter" pitchFamily="34" charset="-120"/>
              </a:rPr>
              <a:t>LEARNING · 2 OF 5</a:t>
            </a:r>
            <a:endParaRPr lang="en-US" sz="1350" dirty="0"/>
          </a:p>
        </p:txBody>
      </p:sp>
      <p:sp>
        <p:nvSpPr>
          <p:cNvPr id="3" name="Text 1"/>
          <p:cNvSpPr/>
          <p:nvPr/>
        </p:nvSpPr>
        <p:spPr>
          <a:xfrm>
            <a:off x="1785938" y="2428875"/>
            <a:ext cx="14716125" cy="5295900"/>
          </a:xfrm>
          <a:prstGeom prst="rect">
            <a:avLst/>
          </a:prstGeom>
          <a:noFill/>
          <a:ln/>
        </p:spPr>
        <p:txBody>
          <a:bodyPr wrap="square" lIns="25400" tIns="25400" rIns="25400" bIns="25400" rtlCol="0" anchor="t">
            <a:normAutofit/>
          </a:bodyPr>
          <a:lstStyle/>
          <a:p>
            <a:pPr marL="0" indent="0" algn="ctr">
              <a:lnSpc>
                <a:spcPct val="92000"/>
              </a:lnSpc>
              <a:buNone/>
            </a:pPr>
            <a:r>
              <a:rPr lang="en-US" sz="15000" b="1" kern="0" spc="-375" dirty="0">
                <a:solidFill>
                  <a:srgbClr val="14161C"/>
                </a:solidFill>
                <a:latin typeface="Montserrat" pitchFamily="34" charset="0"/>
                <a:ea typeface="Montserrat" pitchFamily="34" charset="-122"/>
                <a:cs typeface="Montserrat" pitchFamily="34" charset="-120"/>
              </a:rPr>
              <a:t>Show. Don't describe.</a:t>
            </a:r>
            <a:endParaRPr lang="en-US" sz="15000" dirty="0"/>
          </a:p>
        </p:txBody>
      </p:sp>
      <p:sp>
        <p:nvSpPr>
          <p:cNvPr id="4" name="Text 2"/>
          <p:cNvSpPr/>
          <p:nvPr/>
        </p:nvSpPr>
        <p:spPr>
          <a:xfrm>
            <a:off x="6993377" y="8029575"/>
            <a:ext cx="4301171"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3A3D49"/>
                </a:solidFill>
                <a:latin typeface="Inter" pitchFamily="34" charset="0"/>
                <a:ea typeface="Inter" pitchFamily="34" charset="-122"/>
                <a:cs typeface="Inter" pitchFamily="34" charset="-120"/>
              </a:rPr>
              <a:t>A picture is worth 1,000 words.</a:t>
            </a:r>
            <a:endParaRPr lang="en-US" sz="2250" dirty="0"/>
          </a:p>
        </p:txBody>
      </p:sp>
      <p:sp>
        <p:nvSpPr>
          <p:cNvPr id="5" name="Shape 3"/>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6" name="Text 4"/>
          <p:cNvSpPr/>
          <p:nvPr/>
        </p:nvSpPr>
        <p:spPr>
          <a:xfrm>
            <a:off x="1085850" y="9653588"/>
            <a:ext cx="2276475" cy="214313"/>
          </a:xfrm>
          <a:prstGeom prst="rect">
            <a:avLst/>
          </a:prstGeom>
          <a:noFill/>
          <a:ln/>
        </p:spPr>
        <p:txBody>
          <a:bodyPr wrap="square" lIns="0" tIns="0" rIns="0" bIns="0" rtlCol="0" anchor="t">
            <a:normAutofit/>
          </a:bodyPr>
          <a:lstStyle/>
          <a:p>
            <a:pPr marL="0" indent="0" algn="ctr">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
        <p:nvSpPr>
          <p:cNvPr id="8" name="Shape 0">
            <a:extLst>
              <a:ext uri="{FF2B5EF4-FFF2-40B4-BE49-F238E27FC236}">
                <a16:creationId xmlns:a16="http://schemas.microsoft.com/office/drawing/2014/main" id="{7A148171-28AC-D80E-6124-B64EFBEEF1FB}"/>
              </a:ext>
            </a:extLst>
          </p:cNvPr>
          <p:cNvSpPr/>
          <p:nvPr/>
        </p:nvSpPr>
        <p:spPr>
          <a:xfrm>
            <a:off x="7649474" y="1793363"/>
            <a:ext cx="2989052" cy="461238"/>
          </a:xfrm>
          <a:prstGeom prst="roundRect">
            <a:avLst>
              <a:gd name="adj" fmla="val 70321"/>
            </a:avLst>
          </a:prstGeom>
          <a:noFill/>
          <a:ln w="7620">
            <a:solidFill>
              <a:srgbClr val="F39425"/>
            </a:solidFill>
            <a:prstDash val="solid"/>
          </a:ln>
        </p:spPr>
        <p:txBody>
          <a:bodyPr/>
          <a:lstStyle/>
          <a:p>
            <a:endParaRPr lang="en-US"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378" dirty="0">
                <a:solidFill>
                  <a:srgbClr val="F58220"/>
                </a:solidFill>
                <a:latin typeface="Inter" pitchFamily="34" charset="0"/>
                <a:ea typeface="Inter" pitchFamily="34" charset="-122"/>
                <a:cs typeface="Inter" pitchFamily="34" charset="-120"/>
              </a:rPr>
              <a:t>LEARNING · 2 OF 5</a:t>
            </a:r>
            <a:endParaRPr lang="en-US" sz="1350" dirty="0"/>
          </a:p>
        </p:txBody>
      </p:sp>
      <p:sp>
        <p:nvSpPr>
          <p:cNvPr id="3" name="Text 1"/>
          <p:cNvSpPr/>
          <p:nvPr/>
        </p:nvSpPr>
        <p:spPr>
          <a:xfrm>
            <a:off x="1143000" y="1524000"/>
            <a:ext cx="16482060"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144" dirty="0">
                <a:solidFill>
                  <a:srgbClr val="FFFFFF"/>
                </a:solidFill>
                <a:latin typeface="Montserrat" pitchFamily="34" charset="0"/>
                <a:ea typeface="Montserrat" pitchFamily="34" charset="-122"/>
                <a:cs typeface="Montserrat" pitchFamily="34" charset="-120"/>
              </a:rPr>
              <a:t>Take the screenshot.</a:t>
            </a:r>
            <a:endParaRPr lang="en-US" sz="7200" dirty="0"/>
          </a:p>
        </p:txBody>
      </p:sp>
      <p:sp>
        <p:nvSpPr>
          <p:cNvPr id="4" name="Text 2"/>
          <p:cNvSpPr/>
          <p:nvPr/>
        </p:nvSpPr>
        <p:spPr>
          <a:xfrm>
            <a:off x="1143000" y="2743200"/>
            <a:ext cx="1471612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Inter" pitchFamily="34" charset="0"/>
                <a:ea typeface="Inter" pitchFamily="34" charset="-122"/>
                <a:cs typeface="Inter" pitchFamily="34" charset="-120"/>
              </a:rPr>
              <a:t>Stop typing out what you're seeing. Paste it in.</a:t>
            </a:r>
            <a:endParaRPr lang="en-US" sz="2250" dirty="0"/>
          </a:p>
        </p:txBody>
      </p:sp>
      <p:sp>
        <p:nvSpPr>
          <p:cNvPr id="5" name="Text 3"/>
          <p:cNvSpPr/>
          <p:nvPr/>
        </p:nvSpPr>
        <p:spPr>
          <a:xfrm>
            <a:off x="1485900" y="36957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Same question typed → </a:t>
            </a:r>
            <a:r>
              <a:rPr lang="en-US" sz="1800" dirty="0">
                <a:solidFill>
                  <a:srgbClr val="F58220"/>
                </a:solidFill>
                <a:latin typeface="JetBrains Mono" pitchFamily="34" charset="0"/>
                <a:ea typeface="JetBrains Mono" pitchFamily="34" charset="-122"/>
                <a:cs typeface="JetBrains Mono" pitchFamily="34" charset="-120"/>
              </a:rPr>
              <a:t>ten minutes of back-and-forth</a:t>
            </a:r>
            <a:r>
              <a:rPr lang="en-US" sz="1800" dirty="0">
                <a:solidFill>
                  <a:srgbClr val="FFFFFF"/>
                </a:solidFill>
                <a:latin typeface="JetBrains Mono" pitchFamily="34" charset="0"/>
                <a:ea typeface="JetBrains Mono" pitchFamily="34" charset="-122"/>
                <a:cs typeface="JetBrains Mono" pitchFamily="34" charset="-120"/>
              </a:rPr>
              <a:t>.</a:t>
            </a:r>
            <a:endParaRPr lang="en-US" sz="1800" dirty="0"/>
          </a:p>
        </p:txBody>
      </p:sp>
      <p:sp>
        <p:nvSpPr>
          <p:cNvPr id="6" name="Text 4"/>
          <p:cNvSpPr/>
          <p:nvPr/>
        </p:nvSpPr>
        <p:spPr>
          <a:xfrm>
            <a:off x="1485900" y="42291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Screenshot pasted → </a:t>
            </a:r>
            <a:r>
              <a:rPr lang="en-US" sz="1800" dirty="0">
                <a:solidFill>
                  <a:srgbClr val="F58220"/>
                </a:solidFill>
                <a:latin typeface="JetBrains Mono" pitchFamily="34" charset="0"/>
                <a:ea typeface="JetBrains Mono" pitchFamily="34" charset="-122"/>
                <a:cs typeface="JetBrains Mono" pitchFamily="34" charset="-120"/>
              </a:rPr>
              <a:t>thirty seconds</a:t>
            </a:r>
            <a:r>
              <a:rPr lang="en-US" sz="1800" dirty="0">
                <a:solidFill>
                  <a:srgbClr val="FFFFFF"/>
                </a:solidFill>
                <a:latin typeface="JetBrains Mono" pitchFamily="34" charset="0"/>
                <a:ea typeface="JetBrains Mono" pitchFamily="34" charset="-122"/>
                <a:cs typeface="JetBrains Mono" pitchFamily="34" charset="-120"/>
              </a:rPr>
              <a:t>.</a:t>
            </a:r>
            <a:endParaRPr lang="en-US" sz="1800" dirty="0"/>
          </a:p>
        </p:txBody>
      </p:sp>
      <p:sp>
        <p:nvSpPr>
          <p:cNvPr id="7" name="Text 5"/>
          <p:cNvSpPr/>
          <p:nvPr/>
        </p:nvSpPr>
        <p:spPr>
          <a:xfrm>
            <a:off x="1485900" y="47625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Works for: error messages, weird software, confusing forms, slides.</a:t>
            </a:r>
            <a:endParaRPr lang="en-US" sz="1800" dirty="0"/>
          </a:p>
        </p:txBody>
      </p:sp>
      <p:sp>
        <p:nvSpPr>
          <p:cNvPr id="8" name="Text 6"/>
          <p:cNvSpPr/>
          <p:nvPr/>
        </p:nvSpPr>
        <p:spPr>
          <a:xfrm>
            <a:off x="1485900" y="52959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Also works for: recipes, signs in another language, the dashboard light you can't identify.</a:t>
            </a:r>
            <a:endParaRPr lang="en-US" sz="1800" dirty="0"/>
          </a:p>
        </p:txBody>
      </p:sp>
      <p:sp>
        <p:nvSpPr>
          <p:cNvPr id="9" name="Shape 7"/>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0" name="Text 8"/>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6912745" y="2412206"/>
            <a:ext cx="4462435" cy="3114675"/>
          </a:xfrm>
          <a:prstGeom prst="rect">
            <a:avLst/>
          </a:prstGeom>
          <a:noFill/>
          <a:ln/>
        </p:spPr>
        <p:txBody>
          <a:bodyPr wrap="square" lIns="25400" tIns="25400" rIns="25400" bIns="25400" rtlCol="0" anchor="t">
            <a:normAutofit fontScale="92500" lnSpcReduction="20000"/>
          </a:bodyPr>
          <a:lstStyle/>
          <a:p>
            <a:pPr marL="0" indent="0" algn="ctr">
              <a:lnSpc>
                <a:spcPct val="85000"/>
              </a:lnSpc>
              <a:buNone/>
            </a:pPr>
            <a:r>
              <a:rPr lang="en-US" sz="28500" b="1" kern="0" spc="-1140" dirty="0">
                <a:solidFill>
                  <a:srgbClr val="2A2D38"/>
                </a:solidFill>
                <a:latin typeface="Montserrat" pitchFamily="34" charset="0"/>
                <a:ea typeface="Montserrat" pitchFamily="34" charset="-122"/>
                <a:cs typeface="Montserrat" pitchFamily="34" charset="-120"/>
              </a:rPr>
              <a:t>02</a:t>
            </a:r>
            <a:endParaRPr lang="en-US" sz="28500" dirty="0"/>
          </a:p>
        </p:txBody>
      </p:sp>
      <p:sp>
        <p:nvSpPr>
          <p:cNvPr id="3" name="Text 1"/>
          <p:cNvSpPr/>
          <p:nvPr/>
        </p:nvSpPr>
        <p:spPr>
          <a:xfrm>
            <a:off x="8059341" y="5107781"/>
            <a:ext cx="2169319" cy="280988"/>
          </a:xfrm>
          <a:prstGeom prst="rect">
            <a:avLst/>
          </a:prstGeom>
          <a:noFill/>
          <a:ln/>
        </p:spPr>
        <p:txBody>
          <a:bodyPr wrap="square" lIns="25400" tIns="25400" rIns="25400" bIns="25400" rtlCol="0" anchor="t">
            <a:normAutofit lnSpcReduction="10000"/>
          </a:bodyPr>
          <a:lstStyle/>
          <a:p>
            <a:pPr marL="0" indent="0" algn="ctr">
              <a:buNone/>
            </a:pPr>
            <a:r>
              <a:rPr lang="en-US" sz="1575" b="1" kern="0" spc="504" dirty="0">
                <a:solidFill>
                  <a:srgbClr val="3FE0D0"/>
                </a:solidFill>
                <a:latin typeface="Inter" pitchFamily="34" charset="0"/>
                <a:ea typeface="Inter" pitchFamily="34" charset="-122"/>
                <a:cs typeface="Inter" pitchFamily="34" charset="-120"/>
              </a:rPr>
              <a:t>DOOR 02 / 03</a:t>
            </a:r>
            <a:endParaRPr lang="en-US" sz="1575" dirty="0"/>
          </a:p>
        </p:txBody>
      </p:sp>
      <p:sp>
        <p:nvSpPr>
          <p:cNvPr id="4" name="Text 2"/>
          <p:cNvSpPr/>
          <p:nvPr/>
        </p:nvSpPr>
        <p:spPr>
          <a:xfrm>
            <a:off x="2055733" y="5579269"/>
            <a:ext cx="14176534" cy="1666875"/>
          </a:xfrm>
          <a:prstGeom prst="rect">
            <a:avLst/>
          </a:prstGeom>
          <a:noFill/>
          <a:ln/>
        </p:spPr>
        <p:txBody>
          <a:bodyPr wrap="square" lIns="25400" tIns="25400" rIns="25400" bIns="25400" rtlCol="0" anchor="t">
            <a:normAutofit fontScale="92500" lnSpcReduction="20000"/>
          </a:bodyPr>
          <a:lstStyle/>
          <a:p>
            <a:pPr marL="0" indent="0" algn="ctr">
              <a:lnSpc>
                <a:spcPct val="95000"/>
              </a:lnSpc>
              <a:buNone/>
            </a:pPr>
            <a:r>
              <a:rPr lang="en-US" sz="13500" b="1" kern="0" spc="-337" dirty="0">
                <a:solidFill>
                  <a:srgbClr val="FFFFFF"/>
                </a:solidFill>
                <a:latin typeface="Montserrat" pitchFamily="34" charset="0"/>
                <a:ea typeface="Montserrat" pitchFamily="34" charset="-122"/>
                <a:cs typeface="Montserrat" pitchFamily="34" charset="-120"/>
              </a:rPr>
              <a:t>Claude Cowork.</a:t>
            </a:r>
            <a:endParaRPr lang="en-US" sz="13500" dirty="0"/>
          </a:p>
        </p:txBody>
      </p:sp>
      <p:sp>
        <p:nvSpPr>
          <p:cNvPr id="5" name="Text 3"/>
          <p:cNvSpPr/>
          <p:nvPr/>
        </p:nvSpPr>
        <p:spPr>
          <a:xfrm>
            <a:off x="6426500" y="7550944"/>
            <a:ext cx="5434926" cy="361950"/>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C9CBD1"/>
                </a:solidFill>
                <a:latin typeface="Inter" pitchFamily="34" charset="0"/>
                <a:ea typeface="Inter" pitchFamily="34" charset="-122"/>
                <a:cs typeface="Inter" pitchFamily="34" charset="-120"/>
              </a:rPr>
              <a:t>Claude with hands on your files and apps.</a:t>
            </a:r>
            <a:endParaRPr lang="en-US" sz="2100" dirty="0"/>
          </a:p>
        </p:txBody>
      </p:sp>
      <p:sp>
        <p:nvSpPr>
          <p:cNvPr id="6" name="Text 4"/>
          <p:cNvSpPr/>
          <p:nvPr/>
        </p:nvSpPr>
        <p:spPr>
          <a:xfrm>
            <a:off x="876300" y="9601200"/>
            <a:ext cx="1002060"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9A9CA4"/>
                </a:solidFill>
                <a:latin typeface="JetBrains Mono" pitchFamily="34" charset="0"/>
                <a:ea typeface="JetBrains Mono" pitchFamily="34" charset="-122"/>
                <a:cs typeface="JetBrains Mono" pitchFamily="34" charset="-120"/>
              </a:rPr>
              <a:t>01 · Chat</a:t>
            </a:r>
            <a:endParaRPr lang="en-US" sz="1350" dirty="0"/>
          </a:p>
        </p:txBody>
      </p:sp>
      <p:sp>
        <p:nvSpPr>
          <p:cNvPr id="7" name="Text 5"/>
          <p:cNvSpPr/>
          <p:nvPr/>
        </p:nvSpPr>
        <p:spPr>
          <a:xfrm>
            <a:off x="2106960" y="9601200"/>
            <a:ext cx="1791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4A4D58"/>
                </a:solidFill>
                <a:latin typeface="JetBrains Mono" pitchFamily="34" charset="0"/>
                <a:ea typeface="JetBrains Mono" pitchFamily="34" charset="-122"/>
                <a:cs typeface="JetBrains Mono" pitchFamily="34" charset="-120"/>
              </a:rPr>
              <a:t>|</a:t>
            </a:r>
            <a:endParaRPr lang="en-US" sz="1350" dirty="0"/>
          </a:p>
        </p:txBody>
      </p:sp>
      <p:sp>
        <p:nvSpPr>
          <p:cNvPr id="8" name="Text 6"/>
          <p:cNvSpPr/>
          <p:nvPr/>
        </p:nvSpPr>
        <p:spPr>
          <a:xfrm>
            <a:off x="2514674" y="9601200"/>
            <a:ext cx="1207815" cy="266700"/>
          </a:xfrm>
          <a:prstGeom prst="rect">
            <a:avLst/>
          </a:prstGeom>
          <a:noFill/>
          <a:ln/>
        </p:spPr>
        <p:txBody>
          <a:bodyPr wrap="square" lIns="25400" tIns="25400" rIns="25400" bIns="25400" rtlCol="0" anchor="t">
            <a:normAutofit/>
          </a:bodyPr>
          <a:lstStyle/>
          <a:p>
            <a:pPr marL="0" indent="0" algn="ctr">
              <a:buNone/>
            </a:pPr>
            <a:r>
              <a:rPr lang="en-US" sz="1350" b="1" dirty="0">
                <a:solidFill>
                  <a:srgbClr val="3FE0D0"/>
                </a:solidFill>
                <a:latin typeface="JetBrains Mono" pitchFamily="34" charset="0"/>
                <a:ea typeface="JetBrains Mono" pitchFamily="34" charset="-122"/>
                <a:cs typeface="JetBrains Mono" pitchFamily="34" charset="-120"/>
              </a:rPr>
              <a:t>02 · Cowork</a:t>
            </a:r>
            <a:endParaRPr lang="en-US" sz="1350" dirty="0"/>
          </a:p>
        </p:txBody>
      </p:sp>
      <p:sp>
        <p:nvSpPr>
          <p:cNvPr id="9" name="Text 7"/>
          <p:cNvSpPr/>
          <p:nvPr/>
        </p:nvSpPr>
        <p:spPr>
          <a:xfrm>
            <a:off x="3951089" y="9601200"/>
            <a:ext cx="1791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4A4D58"/>
                </a:solidFill>
                <a:latin typeface="JetBrains Mono" pitchFamily="34" charset="0"/>
                <a:ea typeface="JetBrains Mono" pitchFamily="34" charset="-122"/>
                <a:cs typeface="JetBrains Mono" pitchFamily="34" charset="-120"/>
              </a:rPr>
              <a:t>|</a:t>
            </a:r>
            <a:endParaRPr lang="en-US" sz="1350" dirty="0"/>
          </a:p>
        </p:txBody>
      </p:sp>
      <p:sp>
        <p:nvSpPr>
          <p:cNvPr id="10" name="Text 8"/>
          <p:cNvSpPr/>
          <p:nvPr/>
        </p:nvSpPr>
        <p:spPr>
          <a:xfrm>
            <a:off x="4358804" y="9601200"/>
            <a:ext cx="1002060"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9A9CA4"/>
                </a:solidFill>
                <a:latin typeface="JetBrains Mono" pitchFamily="34" charset="0"/>
                <a:ea typeface="JetBrains Mono" pitchFamily="34" charset="-122"/>
                <a:cs typeface="JetBrains Mono" pitchFamily="34" charset="-120"/>
              </a:rPr>
              <a:t>03 · Code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COWORK · BEST KNOWN FOR</a:t>
            </a:r>
            <a:endParaRPr lang="en-US" sz="1350" dirty="0"/>
          </a:p>
        </p:txBody>
      </p:sp>
      <p:sp>
        <p:nvSpPr>
          <p:cNvPr id="3" name="Text 1"/>
          <p:cNvSpPr/>
          <p:nvPr/>
        </p:nvSpPr>
        <p:spPr>
          <a:xfrm>
            <a:off x="1143000" y="1524000"/>
            <a:ext cx="16482060" cy="1638300"/>
          </a:xfrm>
          <a:prstGeom prst="rect">
            <a:avLst/>
          </a:prstGeom>
          <a:noFill/>
          <a:ln/>
        </p:spPr>
        <p:txBody>
          <a:bodyPr wrap="square" lIns="25400" tIns="25400" rIns="25400" bIns="25400" rtlCol="0" anchor="t">
            <a:normAutofit/>
          </a:bodyPr>
          <a:lstStyle/>
          <a:p>
            <a:r>
              <a:rPr lang="en-US" sz="6300" b="1" kern="0" spc="-126" dirty="0">
                <a:solidFill>
                  <a:srgbClr val="FFFFFF"/>
                </a:solidFill>
                <a:latin typeface="Montserrat" pitchFamily="34" charset="0"/>
              </a:rPr>
              <a:t>Cook Up Something Great</a:t>
            </a:r>
          </a:p>
        </p:txBody>
      </p:sp>
      <p:sp>
        <p:nvSpPr>
          <p:cNvPr id="4" name="Text 2"/>
          <p:cNvSpPr/>
          <p:nvPr/>
        </p:nvSpPr>
        <p:spPr>
          <a:xfrm>
            <a:off x="1143000" y="3352800"/>
            <a:ext cx="10791825"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Six building blocks that make Cowork worth opening before Chat.</a:t>
            </a:r>
            <a:endParaRPr lang="en-US" sz="1950" dirty="0"/>
          </a:p>
        </p:txBody>
      </p:sp>
      <p:sp>
        <p:nvSpPr>
          <p:cNvPr id="5" name="Shape 3"/>
          <p:cNvSpPr/>
          <p:nvPr/>
        </p:nvSpPr>
        <p:spPr>
          <a:xfrm>
            <a:off x="1143000" y="4491038"/>
            <a:ext cx="5181600" cy="1510833"/>
          </a:xfrm>
          <a:prstGeom prst="rect">
            <a:avLst/>
          </a:prstGeom>
          <a:solidFill>
            <a:srgbClr val="1B1D24"/>
          </a:solidFill>
          <a:ln/>
        </p:spPr>
        <p:txBody>
          <a:bodyPr/>
          <a:lstStyle/>
          <a:p>
            <a:endParaRPr lang="en-US"/>
          </a:p>
        </p:txBody>
      </p:sp>
      <p:sp>
        <p:nvSpPr>
          <p:cNvPr id="6" name="Shape 4"/>
          <p:cNvSpPr/>
          <p:nvPr/>
        </p:nvSpPr>
        <p:spPr>
          <a:xfrm>
            <a:off x="1143000" y="4491038"/>
            <a:ext cx="19050" cy="1510833"/>
          </a:xfrm>
          <a:prstGeom prst="rect">
            <a:avLst/>
          </a:prstGeom>
          <a:solidFill>
            <a:srgbClr val="3FE0D0"/>
          </a:solidFill>
          <a:ln/>
        </p:spPr>
        <p:txBody>
          <a:bodyPr/>
          <a:lstStyle/>
          <a:p>
            <a:endParaRPr lang="en-US"/>
          </a:p>
        </p:txBody>
      </p:sp>
      <p:sp>
        <p:nvSpPr>
          <p:cNvPr id="7" name="Text 5"/>
          <p:cNvSpPr/>
          <p:nvPr/>
        </p:nvSpPr>
        <p:spPr>
          <a:xfrm>
            <a:off x="1428750" y="4795838"/>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Raw ingredients</a:t>
            </a:r>
            <a:endParaRPr lang="en-US" sz="2250" dirty="0"/>
          </a:p>
        </p:txBody>
      </p:sp>
      <p:sp>
        <p:nvSpPr>
          <p:cNvPr id="9" name="Shape 7"/>
          <p:cNvSpPr/>
          <p:nvPr/>
        </p:nvSpPr>
        <p:spPr>
          <a:xfrm>
            <a:off x="6553200" y="4491038"/>
            <a:ext cx="5181600" cy="1510833"/>
          </a:xfrm>
          <a:prstGeom prst="rect">
            <a:avLst/>
          </a:prstGeom>
          <a:solidFill>
            <a:srgbClr val="1B1D24"/>
          </a:solidFill>
          <a:ln/>
        </p:spPr>
        <p:txBody>
          <a:bodyPr/>
          <a:lstStyle/>
          <a:p>
            <a:endParaRPr lang="en-US"/>
          </a:p>
        </p:txBody>
      </p:sp>
      <p:sp>
        <p:nvSpPr>
          <p:cNvPr id="10" name="Shape 8"/>
          <p:cNvSpPr/>
          <p:nvPr/>
        </p:nvSpPr>
        <p:spPr>
          <a:xfrm>
            <a:off x="6553200" y="4491038"/>
            <a:ext cx="19050" cy="1510833"/>
          </a:xfrm>
          <a:prstGeom prst="rect">
            <a:avLst/>
          </a:prstGeom>
          <a:solidFill>
            <a:srgbClr val="3FE0D0"/>
          </a:solidFill>
          <a:ln/>
        </p:spPr>
        <p:txBody>
          <a:bodyPr/>
          <a:lstStyle/>
          <a:p>
            <a:endParaRPr lang="en-US"/>
          </a:p>
        </p:txBody>
      </p:sp>
      <p:sp>
        <p:nvSpPr>
          <p:cNvPr id="11" name="Text 9"/>
          <p:cNvSpPr/>
          <p:nvPr/>
        </p:nvSpPr>
        <p:spPr>
          <a:xfrm>
            <a:off x="6838950" y="4795838"/>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Multi-step cooking</a:t>
            </a:r>
            <a:endParaRPr lang="en-US" sz="2250" dirty="0"/>
          </a:p>
        </p:txBody>
      </p:sp>
      <p:sp>
        <p:nvSpPr>
          <p:cNvPr id="13" name="Shape 11"/>
          <p:cNvSpPr/>
          <p:nvPr/>
        </p:nvSpPr>
        <p:spPr>
          <a:xfrm>
            <a:off x="11963400" y="4491038"/>
            <a:ext cx="5181600" cy="1510833"/>
          </a:xfrm>
          <a:prstGeom prst="rect">
            <a:avLst/>
          </a:prstGeom>
          <a:solidFill>
            <a:srgbClr val="1B1D24"/>
          </a:solidFill>
          <a:ln/>
        </p:spPr>
        <p:txBody>
          <a:bodyPr/>
          <a:lstStyle/>
          <a:p>
            <a:endParaRPr lang="en-US"/>
          </a:p>
        </p:txBody>
      </p:sp>
      <p:sp>
        <p:nvSpPr>
          <p:cNvPr id="14" name="Shape 12"/>
          <p:cNvSpPr/>
          <p:nvPr/>
        </p:nvSpPr>
        <p:spPr>
          <a:xfrm>
            <a:off x="11963400" y="4491038"/>
            <a:ext cx="19050" cy="1510833"/>
          </a:xfrm>
          <a:prstGeom prst="rect">
            <a:avLst/>
          </a:prstGeom>
          <a:solidFill>
            <a:srgbClr val="3FE0D0"/>
          </a:solidFill>
          <a:ln/>
        </p:spPr>
        <p:txBody>
          <a:bodyPr/>
          <a:lstStyle/>
          <a:p>
            <a:endParaRPr lang="en-US"/>
          </a:p>
        </p:txBody>
      </p:sp>
      <p:sp>
        <p:nvSpPr>
          <p:cNvPr id="15" name="Text 13"/>
          <p:cNvSpPr/>
          <p:nvPr/>
        </p:nvSpPr>
        <p:spPr>
          <a:xfrm>
            <a:off x="12249150" y="4795838"/>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Standing recipes</a:t>
            </a:r>
            <a:endParaRPr lang="en-US" sz="2250" dirty="0"/>
          </a:p>
        </p:txBody>
      </p:sp>
      <p:sp>
        <p:nvSpPr>
          <p:cNvPr id="17" name="Shape 15"/>
          <p:cNvSpPr/>
          <p:nvPr/>
        </p:nvSpPr>
        <p:spPr>
          <a:xfrm>
            <a:off x="1143000" y="6853238"/>
            <a:ext cx="5181600" cy="1510833"/>
          </a:xfrm>
          <a:prstGeom prst="rect">
            <a:avLst/>
          </a:prstGeom>
          <a:solidFill>
            <a:srgbClr val="1B1D24"/>
          </a:solidFill>
          <a:ln/>
        </p:spPr>
        <p:txBody>
          <a:bodyPr/>
          <a:lstStyle/>
          <a:p>
            <a:endParaRPr lang="en-US"/>
          </a:p>
        </p:txBody>
      </p:sp>
      <p:sp>
        <p:nvSpPr>
          <p:cNvPr id="18" name="Shape 16"/>
          <p:cNvSpPr/>
          <p:nvPr/>
        </p:nvSpPr>
        <p:spPr>
          <a:xfrm>
            <a:off x="1143000" y="6853238"/>
            <a:ext cx="19050" cy="1510833"/>
          </a:xfrm>
          <a:prstGeom prst="rect">
            <a:avLst/>
          </a:prstGeom>
          <a:solidFill>
            <a:srgbClr val="3FE0D0"/>
          </a:solidFill>
          <a:ln/>
        </p:spPr>
        <p:txBody>
          <a:bodyPr/>
          <a:lstStyle/>
          <a:p>
            <a:endParaRPr lang="en-US"/>
          </a:p>
        </p:txBody>
      </p:sp>
      <p:sp>
        <p:nvSpPr>
          <p:cNvPr id="19" name="Text 17"/>
          <p:cNvSpPr/>
          <p:nvPr/>
        </p:nvSpPr>
        <p:spPr>
          <a:xfrm>
            <a:off x="1428750" y="7158038"/>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Scheduled meals</a:t>
            </a:r>
            <a:endParaRPr lang="en-US" sz="2250" dirty="0"/>
          </a:p>
        </p:txBody>
      </p:sp>
      <p:sp>
        <p:nvSpPr>
          <p:cNvPr id="21" name="Shape 19"/>
          <p:cNvSpPr/>
          <p:nvPr/>
        </p:nvSpPr>
        <p:spPr>
          <a:xfrm>
            <a:off x="6553200" y="6853238"/>
            <a:ext cx="5181600" cy="1510833"/>
          </a:xfrm>
          <a:prstGeom prst="rect">
            <a:avLst/>
          </a:prstGeom>
          <a:solidFill>
            <a:srgbClr val="1B1D24"/>
          </a:solidFill>
          <a:ln/>
        </p:spPr>
        <p:txBody>
          <a:bodyPr/>
          <a:lstStyle/>
          <a:p>
            <a:endParaRPr lang="en-US"/>
          </a:p>
        </p:txBody>
      </p:sp>
      <p:sp>
        <p:nvSpPr>
          <p:cNvPr id="22" name="Shape 20"/>
          <p:cNvSpPr/>
          <p:nvPr/>
        </p:nvSpPr>
        <p:spPr>
          <a:xfrm>
            <a:off x="6553200" y="6853238"/>
            <a:ext cx="19050" cy="1510833"/>
          </a:xfrm>
          <a:prstGeom prst="rect">
            <a:avLst/>
          </a:prstGeom>
          <a:solidFill>
            <a:srgbClr val="3FE0D0"/>
          </a:solidFill>
          <a:ln/>
        </p:spPr>
        <p:txBody>
          <a:bodyPr/>
          <a:lstStyle/>
          <a:p>
            <a:endParaRPr lang="en-US"/>
          </a:p>
        </p:txBody>
      </p:sp>
      <p:sp>
        <p:nvSpPr>
          <p:cNvPr id="23" name="Text 21"/>
          <p:cNvSpPr/>
          <p:nvPr/>
        </p:nvSpPr>
        <p:spPr>
          <a:xfrm>
            <a:off x="6838950" y="7158038"/>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Connected pantry</a:t>
            </a:r>
            <a:endParaRPr lang="en-US" sz="2250" dirty="0"/>
          </a:p>
        </p:txBody>
      </p:sp>
      <p:sp>
        <p:nvSpPr>
          <p:cNvPr id="25" name="Shape 23"/>
          <p:cNvSpPr/>
          <p:nvPr/>
        </p:nvSpPr>
        <p:spPr>
          <a:xfrm>
            <a:off x="11963400" y="6853238"/>
            <a:ext cx="5181600" cy="1510833"/>
          </a:xfrm>
          <a:prstGeom prst="rect">
            <a:avLst/>
          </a:prstGeom>
          <a:solidFill>
            <a:srgbClr val="1B1D24"/>
          </a:solidFill>
          <a:ln/>
        </p:spPr>
        <p:txBody>
          <a:bodyPr/>
          <a:lstStyle/>
          <a:p>
            <a:endParaRPr lang="en-US"/>
          </a:p>
        </p:txBody>
      </p:sp>
      <p:sp>
        <p:nvSpPr>
          <p:cNvPr id="26" name="Shape 24"/>
          <p:cNvSpPr/>
          <p:nvPr/>
        </p:nvSpPr>
        <p:spPr>
          <a:xfrm>
            <a:off x="11963400" y="6853238"/>
            <a:ext cx="19050" cy="1510833"/>
          </a:xfrm>
          <a:prstGeom prst="rect">
            <a:avLst/>
          </a:prstGeom>
          <a:solidFill>
            <a:srgbClr val="F58220"/>
          </a:solidFill>
          <a:ln/>
        </p:spPr>
        <p:txBody>
          <a:bodyPr/>
          <a:lstStyle/>
          <a:p>
            <a:endParaRPr lang="en-US"/>
          </a:p>
        </p:txBody>
      </p:sp>
      <p:sp>
        <p:nvSpPr>
          <p:cNvPr id="27" name="Text 25"/>
          <p:cNvSpPr/>
          <p:nvPr/>
        </p:nvSpPr>
        <p:spPr>
          <a:xfrm>
            <a:off x="12249150" y="7158038"/>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Plated dish</a:t>
            </a:r>
            <a:endParaRPr lang="en-US" sz="2250" dirty="0"/>
          </a:p>
        </p:txBody>
      </p:sp>
      <p:sp>
        <p:nvSpPr>
          <p:cNvPr id="29" name="Shape 27"/>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6B6E78"/>
                </a:solidFill>
                <a:latin typeface="Inter" pitchFamily="34" charset="0"/>
                <a:ea typeface="Inter" pitchFamily="34" charset="-122"/>
                <a:cs typeface="Inter" pitchFamily="34" charset="-120"/>
              </a:rPr>
              <a:t>CLAUDE COWORK · HOW I'M USING IT</a:t>
            </a:r>
            <a:endParaRPr lang="en-US" sz="1350" dirty="0"/>
          </a:p>
        </p:txBody>
      </p:sp>
      <p:sp>
        <p:nvSpPr>
          <p:cNvPr id="3" name="Text 1"/>
          <p:cNvSpPr/>
          <p:nvPr/>
        </p:nvSpPr>
        <p:spPr>
          <a:xfrm>
            <a:off x="1143000" y="1524000"/>
            <a:ext cx="16482060" cy="1638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14161C"/>
                </a:solidFill>
                <a:latin typeface="Montserrat" pitchFamily="34" charset="0"/>
                <a:ea typeface="Montserrat" pitchFamily="34" charset="-122"/>
                <a:cs typeface="Montserrat" pitchFamily="34" charset="-120"/>
              </a:rPr>
              <a:t>From idea to delivered – my </a:t>
            </a:r>
            <a:r>
              <a:rPr lang="en-US" sz="6300" b="1" strike="sngStrike" kern="0" spc="-126" dirty="0">
                <a:solidFill>
                  <a:srgbClr val="14161C"/>
                </a:solidFill>
                <a:latin typeface="Montserrat" pitchFamily="34" charset="0"/>
                <a:ea typeface="Montserrat" pitchFamily="34" charset="-122"/>
                <a:cs typeface="Montserrat" pitchFamily="34" charset="-120"/>
              </a:rPr>
              <a:t>not so</a:t>
            </a:r>
            <a:r>
              <a:rPr lang="en-US" sz="6300" b="1" kern="0" spc="-126" dirty="0">
                <a:solidFill>
                  <a:srgbClr val="14161C"/>
                </a:solidFill>
                <a:latin typeface="Montserrat" pitchFamily="34" charset="0"/>
                <a:ea typeface="Montserrat" pitchFamily="34" charset="-122"/>
                <a:cs typeface="Montserrat" pitchFamily="34" charset="-120"/>
              </a:rPr>
              <a:t> secret weapon.</a:t>
            </a:r>
            <a:endParaRPr lang="en-US" sz="6300" dirty="0"/>
          </a:p>
        </p:txBody>
      </p:sp>
      <p:sp>
        <p:nvSpPr>
          <p:cNvPr id="4" name="Text 2"/>
          <p:cNvSpPr/>
          <p:nvPr/>
        </p:nvSpPr>
        <p:spPr>
          <a:xfrm>
            <a:off x="1143000" y="3429000"/>
            <a:ext cx="1275397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3A3D49"/>
                </a:solidFill>
                <a:latin typeface="Inter" pitchFamily="34" charset="0"/>
                <a:ea typeface="Inter" pitchFamily="34" charset="-122"/>
                <a:cs typeface="Inter" pitchFamily="34" charset="-120"/>
              </a:rPr>
              <a:t>Real outputs, on cadence, hands-off after setup.</a:t>
            </a:r>
            <a:endParaRPr lang="en-US" sz="2250" dirty="0"/>
          </a:p>
        </p:txBody>
      </p:sp>
      <p:sp>
        <p:nvSpPr>
          <p:cNvPr id="5" name="Shape 3"/>
          <p:cNvSpPr/>
          <p:nvPr/>
        </p:nvSpPr>
        <p:spPr>
          <a:xfrm>
            <a:off x="1143000" y="5133975"/>
            <a:ext cx="14287500" cy="9525"/>
          </a:xfrm>
          <a:prstGeom prst="rect">
            <a:avLst/>
          </a:prstGeom>
          <a:solidFill>
            <a:srgbClr val="14161C">
              <a:alpha val="20000"/>
            </a:srgbClr>
          </a:solidFill>
          <a:ln/>
        </p:spPr>
        <p:txBody>
          <a:bodyPr/>
          <a:lstStyle/>
          <a:p>
            <a:endParaRPr lang="en-US"/>
          </a:p>
        </p:txBody>
      </p:sp>
      <p:sp>
        <p:nvSpPr>
          <p:cNvPr id="6" name="Text 4"/>
          <p:cNvSpPr/>
          <p:nvPr/>
        </p:nvSpPr>
        <p:spPr>
          <a:xfrm>
            <a:off x="1143000" y="46529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one-off</a:t>
            </a:r>
            <a:endParaRPr lang="en-US" sz="1350" dirty="0"/>
          </a:p>
        </p:txBody>
      </p:sp>
      <p:sp>
        <p:nvSpPr>
          <p:cNvPr id="7" name="Text 5"/>
          <p:cNvSpPr/>
          <p:nvPr/>
        </p:nvSpPr>
        <p:spPr>
          <a:xfrm>
            <a:off x="1943100" y="4533900"/>
            <a:ext cx="6451600"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Created executive infographic deck.</a:t>
            </a:r>
            <a:endParaRPr lang="en-US" sz="2400" dirty="0"/>
          </a:p>
        </p:txBody>
      </p:sp>
      <p:sp>
        <p:nvSpPr>
          <p:cNvPr id="8" name="Shape 6"/>
          <p:cNvSpPr/>
          <p:nvPr/>
        </p:nvSpPr>
        <p:spPr>
          <a:xfrm>
            <a:off x="1143000" y="5972175"/>
            <a:ext cx="14287500" cy="9525"/>
          </a:xfrm>
          <a:prstGeom prst="rect">
            <a:avLst/>
          </a:prstGeom>
          <a:solidFill>
            <a:srgbClr val="14161C">
              <a:alpha val="20000"/>
            </a:srgbClr>
          </a:solidFill>
          <a:ln/>
        </p:spPr>
        <p:txBody>
          <a:bodyPr/>
          <a:lstStyle/>
          <a:p>
            <a:endParaRPr lang="en-US"/>
          </a:p>
        </p:txBody>
      </p:sp>
      <p:sp>
        <p:nvSpPr>
          <p:cNvPr id="9" name="Text 7"/>
          <p:cNvSpPr/>
          <p:nvPr/>
        </p:nvSpPr>
        <p:spPr>
          <a:xfrm>
            <a:off x="1143000" y="54911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one-off</a:t>
            </a:r>
            <a:endParaRPr lang="en-US" sz="1350" dirty="0"/>
          </a:p>
        </p:txBody>
      </p:sp>
      <p:sp>
        <p:nvSpPr>
          <p:cNvPr id="10" name="Text 8"/>
          <p:cNvSpPr/>
          <p:nvPr/>
        </p:nvSpPr>
        <p:spPr>
          <a:xfrm>
            <a:off x="1943100" y="5372100"/>
            <a:ext cx="13309600"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rPr>
              <a:t>Drafted and scheduled a Zoom webinar for AI in Ministry series.</a:t>
            </a:r>
            <a:endParaRPr lang="en-US" sz="2400" dirty="0"/>
          </a:p>
        </p:txBody>
      </p:sp>
      <p:sp>
        <p:nvSpPr>
          <p:cNvPr id="11" name="Shape 9"/>
          <p:cNvSpPr/>
          <p:nvPr/>
        </p:nvSpPr>
        <p:spPr>
          <a:xfrm>
            <a:off x="1143000" y="6810375"/>
            <a:ext cx="14287500" cy="9525"/>
          </a:xfrm>
          <a:prstGeom prst="rect">
            <a:avLst/>
          </a:prstGeom>
          <a:solidFill>
            <a:srgbClr val="14161C">
              <a:alpha val="20000"/>
            </a:srgbClr>
          </a:solidFill>
          <a:ln/>
        </p:spPr>
        <p:txBody>
          <a:bodyPr/>
          <a:lstStyle/>
          <a:p>
            <a:endParaRPr lang="en-US"/>
          </a:p>
        </p:txBody>
      </p:sp>
      <p:sp>
        <p:nvSpPr>
          <p:cNvPr id="12" name="Text 10"/>
          <p:cNvSpPr/>
          <p:nvPr/>
        </p:nvSpPr>
        <p:spPr>
          <a:xfrm>
            <a:off x="1143000" y="6329363"/>
            <a:ext cx="647700" cy="266700"/>
          </a:xfrm>
          <a:prstGeom prst="rect">
            <a:avLst/>
          </a:prstGeom>
          <a:noFill/>
          <a:ln/>
        </p:spPr>
        <p:txBody>
          <a:bodyPr wrap="square" lIns="25400" tIns="25400" rIns="25400" bIns="25400" rtlCol="0" anchor="t">
            <a:normAutofit/>
          </a:bodyPr>
          <a:lstStyle/>
          <a:p>
            <a:r>
              <a:rPr lang="en-US" sz="1350" kern="0" spc="54" dirty="0">
                <a:solidFill>
                  <a:srgbClr val="F58220"/>
                </a:solidFill>
                <a:latin typeface="JetBrains Mono" pitchFamily="34" charset="0"/>
                <a:ea typeface="JetBrains Mono" pitchFamily="34" charset="-122"/>
                <a:cs typeface="JetBrains Mono" pitchFamily="34" charset="-120"/>
              </a:rPr>
              <a:t>one-off</a:t>
            </a:r>
            <a:endParaRPr lang="en-US" sz="1350" dirty="0"/>
          </a:p>
        </p:txBody>
      </p:sp>
      <p:sp>
        <p:nvSpPr>
          <p:cNvPr id="13" name="Text 11"/>
          <p:cNvSpPr/>
          <p:nvPr/>
        </p:nvSpPr>
        <p:spPr>
          <a:xfrm>
            <a:off x="1943100" y="6210300"/>
            <a:ext cx="12954000"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And then scheduled </a:t>
            </a:r>
            <a:r>
              <a:rPr lang="en-US" sz="2400" b="1" kern="0" spc="-24" dirty="0" err="1">
                <a:solidFill>
                  <a:srgbClr val="14161C"/>
                </a:solidFill>
                <a:latin typeface="Montserrat" pitchFamily="34" charset="0"/>
                <a:ea typeface="Montserrat" pitchFamily="34" charset="-122"/>
                <a:cs typeface="Montserrat" pitchFamily="34" charset="-120"/>
              </a:rPr>
              <a:t>Innov</a:t>
            </a:r>
            <a:r>
              <a:rPr lang="en-US" sz="2400" b="1" kern="0" spc="-24" dirty="0">
                <a:solidFill>
                  <a:srgbClr val="14161C"/>
                </a:solidFill>
                <a:latin typeface="Montserrat" pitchFamily="34" charset="0"/>
                <a:ea typeface="Montserrat" pitchFamily="34" charset="-122"/>
                <a:cs typeface="Montserrat" pitchFamily="34" charset="-120"/>
              </a:rPr>
              <a:t> Team webinar run-through.</a:t>
            </a:r>
            <a:endParaRPr lang="en-US" sz="2400" dirty="0"/>
          </a:p>
        </p:txBody>
      </p:sp>
      <p:sp>
        <p:nvSpPr>
          <p:cNvPr id="14" name="Shape 12"/>
          <p:cNvSpPr/>
          <p:nvPr/>
        </p:nvSpPr>
        <p:spPr>
          <a:xfrm>
            <a:off x="1143000" y="7648575"/>
            <a:ext cx="14287500" cy="9525"/>
          </a:xfrm>
          <a:prstGeom prst="rect">
            <a:avLst/>
          </a:prstGeom>
          <a:solidFill>
            <a:srgbClr val="14161C">
              <a:alpha val="20000"/>
            </a:srgbClr>
          </a:solidFill>
          <a:ln/>
        </p:spPr>
        <p:txBody>
          <a:bodyPr/>
          <a:lstStyle/>
          <a:p>
            <a:endParaRPr lang="en-US"/>
          </a:p>
        </p:txBody>
      </p:sp>
      <p:sp>
        <p:nvSpPr>
          <p:cNvPr id="15" name="Text 13"/>
          <p:cNvSpPr/>
          <p:nvPr/>
        </p:nvSpPr>
        <p:spPr>
          <a:xfrm>
            <a:off x="1143000" y="7167563"/>
            <a:ext cx="647700" cy="266700"/>
          </a:xfrm>
          <a:prstGeom prst="rect">
            <a:avLst/>
          </a:prstGeom>
          <a:noFill/>
          <a:ln/>
        </p:spPr>
        <p:txBody>
          <a:bodyPr wrap="square" lIns="25400" tIns="25400" rIns="25400" bIns="25400" rtlCol="0" anchor="t">
            <a:normAutofit/>
          </a:bodyPr>
          <a:lstStyle/>
          <a:p>
            <a:r>
              <a:rPr lang="en-US" sz="1350" kern="0" spc="54" dirty="0">
                <a:solidFill>
                  <a:srgbClr val="F58220"/>
                </a:solidFill>
                <a:latin typeface="JetBrains Mono" pitchFamily="34" charset="0"/>
                <a:ea typeface="JetBrains Mono" pitchFamily="34" charset="-122"/>
                <a:cs typeface="JetBrains Mono" pitchFamily="34" charset="-120"/>
              </a:rPr>
              <a:t>one-off</a:t>
            </a:r>
            <a:endParaRPr lang="en-US" sz="1350" dirty="0"/>
          </a:p>
        </p:txBody>
      </p:sp>
      <p:sp>
        <p:nvSpPr>
          <p:cNvPr id="16" name="Text 14"/>
          <p:cNvSpPr/>
          <p:nvPr/>
        </p:nvSpPr>
        <p:spPr>
          <a:xfrm>
            <a:off x="1943100" y="7048500"/>
            <a:ext cx="13055600"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Setup end-to-end social media system for Kingdom Creations.</a:t>
            </a:r>
            <a:endParaRPr lang="en-US" sz="2400" dirty="0"/>
          </a:p>
        </p:txBody>
      </p:sp>
      <p:sp>
        <p:nvSpPr>
          <p:cNvPr id="17" name="Text 15"/>
          <p:cNvSpPr/>
          <p:nvPr/>
        </p:nvSpPr>
        <p:spPr>
          <a:xfrm>
            <a:off x="1143000" y="8005762"/>
            <a:ext cx="800100" cy="314325"/>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monthly</a:t>
            </a:r>
            <a:endParaRPr lang="en-US" sz="1350" dirty="0"/>
          </a:p>
        </p:txBody>
      </p:sp>
      <p:sp>
        <p:nvSpPr>
          <p:cNvPr id="18" name="Text 16"/>
          <p:cNvSpPr/>
          <p:nvPr/>
        </p:nvSpPr>
        <p:spPr>
          <a:xfrm>
            <a:off x="1943100" y="7886700"/>
            <a:ext cx="13487400"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rPr>
              <a:t>Generate a full month of social content – 15</a:t>
            </a:r>
            <a:r>
              <a:rPr lang="en-US" sz="2400" b="1" kern="0" spc="-24" baseline="30000" dirty="0">
                <a:solidFill>
                  <a:srgbClr val="14161C"/>
                </a:solidFill>
                <a:latin typeface="Montserrat" pitchFamily="34" charset="0"/>
              </a:rPr>
              <a:t>th</a:t>
            </a:r>
            <a:r>
              <a:rPr lang="en-US" sz="2400" b="1" kern="0" spc="-24" dirty="0">
                <a:solidFill>
                  <a:srgbClr val="14161C"/>
                </a:solidFill>
                <a:latin typeface="Montserrat" pitchFamily="34" charset="0"/>
              </a:rPr>
              <a:t> of every month.</a:t>
            </a:r>
            <a:endParaRPr lang="en-US" sz="2400" dirty="0"/>
          </a:p>
        </p:txBody>
      </p:sp>
      <p:sp>
        <p:nvSpPr>
          <p:cNvPr id="21" name="Shape 19"/>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2" name="Text 20"/>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
        <p:nvSpPr>
          <p:cNvPr id="24" name="Shape 12">
            <a:extLst>
              <a:ext uri="{FF2B5EF4-FFF2-40B4-BE49-F238E27FC236}">
                <a16:creationId xmlns:a16="http://schemas.microsoft.com/office/drawing/2014/main" id="{9CA0176F-710E-D935-BF7C-CBD3FDB4128D}"/>
              </a:ext>
            </a:extLst>
          </p:cNvPr>
          <p:cNvSpPr/>
          <p:nvPr/>
        </p:nvSpPr>
        <p:spPr>
          <a:xfrm>
            <a:off x="1143000" y="8615363"/>
            <a:ext cx="14287500" cy="9525"/>
          </a:xfrm>
          <a:prstGeom prst="rect">
            <a:avLst/>
          </a:prstGeom>
          <a:solidFill>
            <a:srgbClr val="14161C">
              <a:alpha val="20000"/>
            </a:srgbClr>
          </a:solidFill>
          <a:ln/>
        </p:spPr>
        <p:txBody>
          <a:bodyPr/>
          <a:lstStyle/>
          <a:p>
            <a:endParaRPr lang="en-US"/>
          </a:p>
        </p:txBody>
      </p:sp>
      <p:sp>
        <p:nvSpPr>
          <p:cNvPr id="25" name="Text 15">
            <a:extLst>
              <a:ext uri="{FF2B5EF4-FFF2-40B4-BE49-F238E27FC236}">
                <a16:creationId xmlns:a16="http://schemas.microsoft.com/office/drawing/2014/main" id="{FBD329E9-8158-BA4E-9BB3-7F7CD74D03AF}"/>
              </a:ext>
            </a:extLst>
          </p:cNvPr>
          <p:cNvSpPr/>
          <p:nvPr/>
        </p:nvSpPr>
        <p:spPr>
          <a:xfrm>
            <a:off x="1143000" y="8972551"/>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weekly</a:t>
            </a:r>
            <a:endParaRPr lang="en-US" sz="1350" dirty="0"/>
          </a:p>
        </p:txBody>
      </p:sp>
      <p:sp>
        <p:nvSpPr>
          <p:cNvPr id="26" name="Text 16">
            <a:extLst>
              <a:ext uri="{FF2B5EF4-FFF2-40B4-BE49-F238E27FC236}">
                <a16:creationId xmlns:a16="http://schemas.microsoft.com/office/drawing/2014/main" id="{F42E596B-161B-E620-F7A6-7D5299E71323}"/>
              </a:ext>
            </a:extLst>
          </p:cNvPr>
          <p:cNvSpPr/>
          <p:nvPr/>
        </p:nvSpPr>
        <p:spPr>
          <a:xfrm>
            <a:off x="1943100" y="8853488"/>
            <a:ext cx="9448800" cy="409575"/>
          </a:xfrm>
          <a:prstGeom prst="rect">
            <a:avLst/>
          </a:prstGeom>
          <a:noFill/>
          <a:ln/>
        </p:spPr>
        <p:txBody>
          <a:bodyPr wrap="square" lIns="0" tIns="0" rIns="0" bIns="0" rtlCol="0" anchor="t">
            <a:normAutofit/>
          </a:bodyPr>
          <a:lstStyle/>
          <a:p>
            <a:pPr marL="0" indent="0" algn="l">
              <a:buNone/>
            </a:pPr>
            <a:r>
              <a:rPr lang="en-US" sz="2400" b="1" kern="0" spc="-24" dirty="0">
                <a:solidFill>
                  <a:srgbClr val="14161C"/>
                </a:solidFill>
                <a:latin typeface="Montserrat" pitchFamily="34" charset="0"/>
                <a:ea typeface="Montserrat" pitchFamily="34" charset="-122"/>
                <a:cs typeface="Montserrat" pitchFamily="34" charset="-120"/>
              </a:rPr>
              <a:t>Deliver next week’s social posts – every Friday.</a:t>
            </a:r>
            <a:endParaRPr lang="en-US" sz="2400" dirty="0"/>
          </a:p>
        </p:txBody>
      </p:sp>
      <p:pic>
        <p:nvPicPr>
          <p:cNvPr id="20" name="Picture 19">
            <a:extLst>
              <a:ext uri="{FF2B5EF4-FFF2-40B4-BE49-F238E27FC236}">
                <a16:creationId xmlns:a16="http://schemas.microsoft.com/office/drawing/2014/main" id="{54DC6EB0-0CA8-96D0-6A5B-CA01398A7EFE}"/>
              </a:ext>
            </a:extLst>
          </p:cNvPr>
          <p:cNvPicPr>
            <a:picLocks noChangeAspect="1"/>
          </p:cNvPicPr>
          <p:nvPr/>
        </p:nvPicPr>
        <p:blipFill>
          <a:blip r:embed="rId3"/>
          <a:stretch>
            <a:fillRect/>
          </a:stretch>
        </p:blipFill>
        <p:spPr>
          <a:xfrm>
            <a:off x="2224087" y="715168"/>
            <a:ext cx="11397315" cy="8856663"/>
          </a:xfrm>
          <a:prstGeom prst="rect">
            <a:avLst/>
          </a:prstGeom>
        </p:spPr>
      </p:pic>
      <p:pic>
        <p:nvPicPr>
          <p:cNvPr id="27" name="Picture 26">
            <a:extLst>
              <a:ext uri="{FF2B5EF4-FFF2-40B4-BE49-F238E27FC236}">
                <a16:creationId xmlns:a16="http://schemas.microsoft.com/office/drawing/2014/main" id="{3407A9DB-6893-C01C-B3D7-9808E4C9CA42}"/>
              </a:ext>
            </a:extLst>
          </p:cNvPr>
          <p:cNvPicPr>
            <a:picLocks noChangeAspect="1"/>
          </p:cNvPicPr>
          <p:nvPr/>
        </p:nvPicPr>
        <p:blipFill>
          <a:blip r:embed="rId4"/>
          <a:stretch>
            <a:fillRect/>
          </a:stretch>
        </p:blipFill>
        <p:spPr>
          <a:xfrm>
            <a:off x="3606792" y="1563277"/>
            <a:ext cx="13615368" cy="7675973"/>
          </a:xfrm>
          <a:prstGeom prst="rect">
            <a:avLst/>
          </a:prstGeom>
        </p:spPr>
      </p:pic>
      <p:grpSp>
        <p:nvGrpSpPr>
          <p:cNvPr id="32" name="Group 31">
            <a:extLst>
              <a:ext uri="{FF2B5EF4-FFF2-40B4-BE49-F238E27FC236}">
                <a16:creationId xmlns:a16="http://schemas.microsoft.com/office/drawing/2014/main" id="{389D9D1A-0AEB-A207-E16A-A0A6543F0372}"/>
              </a:ext>
            </a:extLst>
          </p:cNvPr>
          <p:cNvGrpSpPr/>
          <p:nvPr/>
        </p:nvGrpSpPr>
        <p:grpSpPr>
          <a:xfrm>
            <a:off x="1512402" y="1579897"/>
            <a:ext cx="12777839" cy="6421104"/>
            <a:chOff x="1512402" y="1579897"/>
            <a:chExt cx="12777839" cy="6421104"/>
          </a:xfrm>
        </p:grpSpPr>
        <p:pic>
          <p:nvPicPr>
            <p:cNvPr id="29" name="Picture 28">
              <a:extLst>
                <a:ext uri="{FF2B5EF4-FFF2-40B4-BE49-F238E27FC236}">
                  <a16:creationId xmlns:a16="http://schemas.microsoft.com/office/drawing/2014/main" id="{20AA4837-581F-A637-573A-7800CA425B39}"/>
                </a:ext>
              </a:extLst>
            </p:cNvPr>
            <p:cNvPicPr>
              <a:picLocks noChangeAspect="1"/>
            </p:cNvPicPr>
            <p:nvPr/>
          </p:nvPicPr>
          <p:blipFill>
            <a:blip r:embed="rId5"/>
            <a:stretch>
              <a:fillRect/>
            </a:stretch>
          </p:blipFill>
          <p:spPr>
            <a:xfrm>
              <a:off x="1512402" y="1579897"/>
              <a:ext cx="12777839" cy="6421104"/>
            </a:xfrm>
            <a:prstGeom prst="rect">
              <a:avLst/>
            </a:prstGeom>
          </p:spPr>
        </p:pic>
        <p:sp>
          <p:nvSpPr>
            <p:cNvPr id="30" name="Rounded Rectangle 29">
              <a:extLst>
                <a:ext uri="{FF2B5EF4-FFF2-40B4-BE49-F238E27FC236}">
                  <a16:creationId xmlns:a16="http://schemas.microsoft.com/office/drawing/2014/main" id="{192ADBEA-27AF-3248-AECC-0A3DD70F3A84}"/>
                </a:ext>
              </a:extLst>
            </p:cNvPr>
            <p:cNvSpPr/>
            <p:nvPr/>
          </p:nvSpPr>
          <p:spPr>
            <a:xfrm>
              <a:off x="4402881" y="3158038"/>
              <a:ext cx="4572677" cy="721894"/>
            </a:xfrm>
            <a:prstGeom prst="roundRect">
              <a:avLst>
                <a:gd name="adj" fmla="val 50000"/>
              </a:avLst>
            </a:prstGeom>
            <a:noFill/>
            <a:ln w="57150">
              <a:solidFill>
                <a:srgbClr val="F582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a:extLst>
                <a:ext uri="{FF2B5EF4-FFF2-40B4-BE49-F238E27FC236}">
                  <a16:creationId xmlns:a16="http://schemas.microsoft.com/office/drawing/2014/main" id="{FBB84320-BB7C-E2EB-2D3C-541D05183252}"/>
                </a:ext>
              </a:extLst>
            </p:cNvPr>
            <p:cNvSpPr/>
            <p:nvPr/>
          </p:nvSpPr>
          <p:spPr>
            <a:xfrm>
              <a:off x="3759192" y="2053391"/>
              <a:ext cx="2264619" cy="721894"/>
            </a:xfrm>
            <a:prstGeom prst="roundRect">
              <a:avLst>
                <a:gd name="adj" fmla="val 50000"/>
              </a:avLst>
            </a:prstGeom>
            <a:noFill/>
            <a:ln w="57150">
              <a:solidFill>
                <a:srgbClr val="F582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27"/>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FE0D0"/>
        </a:solidFill>
        <a:effectLst/>
      </p:bgPr>
    </p:bg>
    <p:spTree>
      <p:nvGrpSpPr>
        <p:cNvPr id="1" name="">
          <a:extLst>
            <a:ext uri="{FF2B5EF4-FFF2-40B4-BE49-F238E27FC236}">
              <a16:creationId xmlns:a16="http://schemas.microsoft.com/office/drawing/2014/main" id="{60AA4588-9F27-9D80-C13C-A946C0ABCD7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1CBD9AF-DDE7-E592-B650-163016787B09}"/>
              </a:ext>
            </a:extLst>
          </p:cNvPr>
          <p:cNvSpPr/>
          <p:nvPr/>
        </p:nvSpPr>
        <p:spPr>
          <a:xfrm>
            <a:off x="0" y="1636294"/>
            <a:ext cx="18288000" cy="8037094"/>
          </a:xfrm>
          <a:prstGeom prst="rect">
            <a:avLst/>
          </a:prstGeom>
          <a:noFill/>
          <a:ln/>
        </p:spPr>
        <p:txBody>
          <a:bodyPr wrap="square" lIns="25400" tIns="25400" rIns="25400" bIns="25400" rtlCol="0" anchor="t">
            <a:normAutofit/>
          </a:bodyPr>
          <a:lstStyle/>
          <a:p>
            <a:pPr marL="0" indent="0" algn="ctr">
              <a:lnSpc>
                <a:spcPct val="92000"/>
              </a:lnSpc>
              <a:buNone/>
            </a:pPr>
            <a:r>
              <a:rPr lang="en-US" sz="13900" b="1" kern="0" spc="-375" dirty="0">
                <a:latin typeface="Montserrat" pitchFamily="34" charset="0"/>
                <a:ea typeface="Montserrat" pitchFamily="34" charset="-122"/>
                <a:cs typeface="Montserrat" pitchFamily="34" charset="-120"/>
              </a:rPr>
              <a:t>DEMO</a:t>
            </a:r>
          </a:p>
          <a:p>
            <a:pPr algn="ctr">
              <a:lnSpc>
                <a:spcPct val="92000"/>
              </a:lnSpc>
            </a:pPr>
            <a:r>
              <a:rPr lang="en-US" sz="13900" b="1" kern="0" spc="-375" dirty="0">
                <a:solidFill>
                  <a:srgbClr val="747474"/>
                </a:solidFill>
                <a:latin typeface="Montserrat" pitchFamily="34" charset="0"/>
                <a:ea typeface="Montserrat" pitchFamily="34" charset="-122"/>
                <a:cs typeface="Montserrat" pitchFamily="34" charset="-120"/>
              </a:rPr>
              <a:t>DEMO</a:t>
            </a:r>
          </a:p>
          <a:p>
            <a:pPr algn="ctr">
              <a:lnSpc>
                <a:spcPct val="92000"/>
              </a:lnSpc>
            </a:pPr>
            <a:r>
              <a:rPr lang="en-US" sz="13900" b="1" kern="0" spc="-375" dirty="0">
                <a:solidFill>
                  <a:srgbClr val="999999"/>
                </a:solidFill>
                <a:latin typeface="Montserrat" pitchFamily="34" charset="0"/>
                <a:ea typeface="Montserrat" pitchFamily="34" charset="-122"/>
                <a:cs typeface="Montserrat" pitchFamily="34" charset="-120"/>
              </a:rPr>
              <a:t>DEMO</a:t>
            </a:r>
          </a:p>
          <a:p>
            <a:pPr algn="ctr">
              <a:lnSpc>
                <a:spcPct val="92000"/>
              </a:lnSpc>
            </a:pPr>
            <a:r>
              <a:rPr lang="en-US" sz="13900" b="1" kern="0" spc="-375" dirty="0">
                <a:solidFill>
                  <a:srgbClr val="BBBEBE"/>
                </a:solidFill>
                <a:latin typeface="Montserrat" pitchFamily="34" charset="0"/>
                <a:ea typeface="Montserrat" pitchFamily="34" charset="-122"/>
                <a:cs typeface="Montserrat" pitchFamily="34" charset="-120"/>
              </a:rPr>
              <a:t>DEMO</a:t>
            </a:r>
            <a:endParaRPr lang="en-US" sz="13900" dirty="0">
              <a:solidFill>
                <a:srgbClr val="BBBEBE"/>
              </a:solidFill>
            </a:endParaRPr>
          </a:p>
        </p:txBody>
      </p:sp>
    </p:spTree>
    <p:extLst>
      <p:ext uri="{BB962C8B-B14F-4D97-AF65-F5344CB8AC3E}">
        <p14:creationId xmlns:p14="http://schemas.microsoft.com/office/powerpoint/2010/main" val="1197305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97721132-A7FD-9992-3E09-F2764C9ED449}"/>
            </a:ext>
          </a:extLst>
        </p:cNvPr>
        <p:cNvGrpSpPr/>
        <p:nvPr/>
      </p:nvGrpSpPr>
      <p:grpSpPr>
        <a:xfrm>
          <a:off x="0" y="0"/>
          <a:ext cx="0" cy="0"/>
          <a:chOff x="0" y="0"/>
          <a:chExt cx="0" cy="0"/>
        </a:xfrm>
      </p:grpSpPr>
      <p:sp>
        <p:nvSpPr>
          <p:cNvPr id="32" name="Shape 30">
            <a:extLst>
              <a:ext uri="{FF2B5EF4-FFF2-40B4-BE49-F238E27FC236}">
                <a16:creationId xmlns:a16="http://schemas.microsoft.com/office/drawing/2014/main" id="{B5293931-5C81-1620-2048-085BA9206529}"/>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3" name="Text 31">
            <a:extLst>
              <a:ext uri="{FF2B5EF4-FFF2-40B4-BE49-F238E27FC236}">
                <a16:creationId xmlns:a16="http://schemas.microsoft.com/office/drawing/2014/main" id="{820D178A-7F3B-6879-A6E9-672000C7F47F}"/>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97" name="Text 0">
            <a:extLst>
              <a:ext uri="{FF2B5EF4-FFF2-40B4-BE49-F238E27FC236}">
                <a16:creationId xmlns:a16="http://schemas.microsoft.com/office/drawing/2014/main" id="{F5DCCB28-9772-642F-FBAB-1EBABAE847DB}"/>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COWORK · YOUR TURN</a:t>
            </a:r>
            <a:endParaRPr lang="en-US" sz="1350" dirty="0"/>
          </a:p>
        </p:txBody>
      </p:sp>
      <p:sp>
        <p:nvSpPr>
          <p:cNvPr id="98" name="Text 1">
            <a:extLst>
              <a:ext uri="{FF2B5EF4-FFF2-40B4-BE49-F238E27FC236}">
                <a16:creationId xmlns:a16="http://schemas.microsoft.com/office/drawing/2014/main" id="{79E9051D-C52B-6A37-8D8C-4948AE451424}"/>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Five chores. Five handoffs.</a:t>
            </a:r>
            <a:endParaRPr lang="en-US" sz="6300" dirty="0"/>
          </a:p>
        </p:txBody>
      </p:sp>
      <p:sp>
        <p:nvSpPr>
          <p:cNvPr id="99" name="Text 2">
            <a:extLst>
              <a:ext uri="{FF2B5EF4-FFF2-40B4-BE49-F238E27FC236}">
                <a16:creationId xmlns:a16="http://schemas.microsoft.com/office/drawing/2014/main" id="{92F6D838-CFBF-568C-5E70-5573B8F486E6}"/>
              </a:ext>
            </a:extLst>
          </p:cNvPr>
          <p:cNvSpPr/>
          <p:nvPr/>
        </p:nvSpPr>
        <p:spPr>
          <a:xfrm>
            <a:off x="1143000" y="2486025"/>
            <a:ext cx="12753975"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C9CBD1"/>
                </a:solidFill>
                <a:latin typeface="Inter" pitchFamily="34" charset="0"/>
                <a:ea typeface="Inter" pitchFamily="34" charset="-122"/>
                <a:cs typeface="Inter" pitchFamily="34" charset="-120"/>
              </a:rPr>
              <a:t>Pick the one that wrecks </a:t>
            </a:r>
            <a:r>
              <a:rPr lang="en-US" sz="1800" dirty="0">
                <a:solidFill>
                  <a:srgbClr val="3FE0D0"/>
                </a:solidFill>
                <a:latin typeface="Inter" pitchFamily="34" charset="0"/>
                <a:ea typeface="Inter" pitchFamily="34" charset="-122"/>
                <a:cs typeface="Inter" pitchFamily="34" charset="-120"/>
              </a:rPr>
              <a:t>your </a:t>
            </a:r>
            <a:r>
              <a:rPr lang="en-US" sz="1800" dirty="0">
                <a:solidFill>
                  <a:srgbClr val="C9CBD1"/>
                </a:solidFill>
                <a:latin typeface="Inter" pitchFamily="34" charset="0"/>
                <a:ea typeface="Inter" pitchFamily="34" charset="-122"/>
                <a:cs typeface="Inter" pitchFamily="34" charset="-120"/>
              </a:rPr>
              <a:t>Friday afternoon.</a:t>
            </a:r>
            <a:endParaRPr lang="en-US" sz="1800" dirty="0"/>
          </a:p>
        </p:txBody>
      </p:sp>
      <p:sp>
        <p:nvSpPr>
          <p:cNvPr id="100" name="Shape 3">
            <a:extLst>
              <a:ext uri="{FF2B5EF4-FFF2-40B4-BE49-F238E27FC236}">
                <a16:creationId xmlns:a16="http://schemas.microsoft.com/office/drawing/2014/main" id="{A8842B95-1366-8655-727F-D9A95DFF2932}"/>
              </a:ext>
            </a:extLst>
          </p:cNvPr>
          <p:cNvSpPr/>
          <p:nvPr/>
        </p:nvSpPr>
        <p:spPr>
          <a:xfrm>
            <a:off x="1143000" y="3754287"/>
            <a:ext cx="3063180" cy="3228975"/>
          </a:xfrm>
          <a:prstGeom prst="rect">
            <a:avLst/>
          </a:prstGeom>
          <a:solidFill>
            <a:srgbClr val="373B4A"/>
          </a:solidFill>
          <a:ln/>
        </p:spPr>
        <p:txBody>
          <a:bodyPr/>
          <a:lstStyle/>
          <a:p>
            <a:endParaRPr lang="en-US" dirty="0"/>
          </a:p>
        </p:txBody>
      </p:sp>
      <p:sp>
        <p:nvSpPr>
          <p:cNvPr id="101" name="Shape 4">
            <a:extLst>
              <a:ext uri="{FF2B5EF4-FFF2-40B4-BE49-F238E27FC236}">
                <a16:creationId xmlns:a16="http://schemas.microsoft.com/office/drawing/2014/main" id="{04A48F76-C17C-B23A-3DC2-9B30B9A4518E}"/>
              </a:ext>
            </a:extLst>
          </p:cNvPr>
          <p:cNvSpPr/>
          <p:nvPr/>
        </p:nvSpPr>
        <p:spPr>
          <a:xfrm>
            <a:off x="1143000" y="3754287"/>
            <a:ext cx="3063180" cy="28575"/>
          </a:xfrm>
          <a:prstGeom prst="rect">
            <a:avLst/>
          </a:prstGeom>
          <a:solidFill>
            <a:srgbClr val="3FE0D0"/>
          </a:solidFill>
          <a:ln/>
        </p:spPr>
        <p:txBody>
          <a:bodyPr/>
          <a:lstStyle/>
          <a:p>
            <a:endParaRPr lang="en-US"/>
          </a:p>
        </p:txBody>
      </p:sp>
      <p:sp>
        <p:nvSpPr>
          <p:cNvPr id="102" name="Text 5">
            <a:extLst>
              <a:ext uri="{FF2B5EF4-FFF2-40B4-BE49-F238E27FC236}">
                <a16:creationId xmlns:a16="http://schemas.microsoft.com/office/drawing/2014/main" id="{219FCBFB-0A71-C9FD-4137-F108BD88D25A}"/>
              </a:ext>
            </a:extLst>
          </p:cNvPr>
          <p:cNvSpPr/>
          <p:nvPr/>
        </p:nvSpPr>
        <p:spPr>
          <a:xfrm>
            <a:off x="1371600" y="4049562"/>
            <a:ext cx="2684160"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01</a:t>
            </a:r>
            <a:endParaRPr lang="en-US" sz="975" dirty="0"/>
          </a:p>
        </p:txBody>
      </p:sp>
      <p:sp>
        <p:nvSpPr>
          <p:cNvPr id="103" name="Text 6">
            <a:extLst>
              <a:ext uri="{FF2B5EF4-FFF2-40B4-BE49-F238E27FC236}">
                <a16:creationId xmlns:a16="http://schemas.microsoft.com/office/drawing/2014/main" id="{341FE973-8E3F-C12B-CE57-3A34DF585A3C}"/>
              </a:ext>
            </a:extLst>
          </p:cNvPr>
          <p:cNvSpPr/>
          <p:nvPr/>
        </p:nvSpPr>
        <p:spPr>
          <a:xfrm>
            <a:off x="1371600" y="4325787"/>
            <a:ext cx="2684160" cy="520005"/>
          </a:xfrm>
          <a:prstGeom prst="rect">
            <a:avLst/>
          </a:prstGeom>
          <a:noFill/>
          <a:ln/>
        </p:spPr>
        <p:txBody>
          <a:bodyPr wrap="square" lIns="25400" tIns="25400" rIns="25400" bIns="25400" rtlCol="0" anchor="t">
            <a:noAutofit/>
          </a:bodyPr>
          <a:lstStyle/>
          <a:p>
            <a:pPr marL="0" indent="0" algn="l">
              <a:lnSpc>
                <a:spcPct val="115000"/>
              </a:lnSpc>
              <a:buNone/>
            </a:pPr>
            <a:r>
              <a:rPr lang="en-US" sz="1700" b="1" kern="0" spc="-16" dirty="0">
                <a:solidFill>
                  <a:srgbClr val="FFFFFF"/>
                </a:solidFill>
                <a:latin typeface="Montserrat" pitchFamily="34" charset="0"/>
                <a:ea typeface="Montserrat" pitchFamily="34" charset="-122"/>
                <a:cs typeface="Montserrat" pitchFamily="34" charset="-120"/>
              </a:rPr>
              <a:t>Annual giving statements.</a:t>
            </a:r>
            <a:endParaRPr lang="en-US" sz="1700" dirty="0"/>
          </a:p>
        </p:txBody>
      </p:sp>
      <p:sp>
        <p:nvSpPr>
          <p:cNvPr id="104" name="Text 7">
            <a:extLst>
              <a:ext uri="{FF2B5EF4-FFF2-40B4-BE49-F238E27FC236}">
                <a16:creationId xmlns:a16="http://schemas.microsoft.com/office/drawing/2014/main" id="{B4A2865F-8A2A-03AF-2453-07EE7F110908}"/>
              </a:ext>
            </a:extLst>
          </p:cNvPr>
          <p:cNvSpPr/>
          <p:nvPr/>
        </p:nvSpPr>
        <p:spPr>
          <a:xfrm>
            <a:off x="1371600" y="5344962"/>
            <a:ext cx="2684160" cy="1181100"/>
          </a:xfrm>
          <a:prstGeom prst="rect">
            <a:avLst/>
          </a:prstGeom>
          <a:noFill/>
          <a:ln/>
        </p:spPr>
        <p:txBody>
          <a:bodyPr wrap="square" lIns="25400" tIns="25400" rIns="25400" bIns="25400" rtlCol="0" anchor="t">
            <a:normAutofit/>
          </a:bodyPr>
          <a:lstStyle/>
          <a:p>
            <a:pPr>
              <a:lnSpc>
                <a:spcPct val="150000"/>
              </a:lnSpc>
            </a:pPr>
            <a:r>
              <a:rPr lang="en-US" sz="1200" dirty="0">
                <a:solidFill>
                  <a:srgbClr val="C9CBD1"/>
                </a:solidFill>
                <a:latin typeface="Inter" pitchFamily="34" charset="0"/>
                <a:ea typeface="Inter" pitchFamily="34" charset="-122"/>
              </a:rPr>
              <a:t>Catch bad addresses, duplicates, and returns before statements hit mailboxes.</a:t>
            </a:r>
          </a:p>
        </p:txBody>
      </p:sp>
      <p:sp>
        <p:nvSpPr>
          <p:cNvPr id="105" name="Shape 8">
            <a:extLst>
              <a:ext uri="{FF2B5EF4-FFF2-40B4-BE49-F238E27FC236}">
                <a16:creationId xmlns:a16="http://schemas.microsoft.com/office/drawing/2014/main" id="{819D2B51-C265-3257-6480-FEC167133CA3}"/>
              </a:ext>
            </a:extLst>
          </p:cNvPr>
          <p:cNvSpPr/>
          <p:nvPr/>
        </p:nvSpPr>
        <p:spPr>
          <a:xfrm>
            <a:off x="4377630" y="3754287"/>
            <a:ext cx="3063180" cy="3228975"/>
          </a:xfrm>
          <a:prstGeom prst="rect">
            <a:avLst/>
          </a:prstGeom>
          <a:solidFill>
            <a:srgbClr val="373B4A"/>
          </a:solidFill>
          <a:ln/>
        </p:spPr>
        <p:txBody>
          <a:bodyPr/>
          <a:lstStyle/>
          <a:p>
            <a:endParaRPr lang="en-US"/>
          </a:p>
        </p:txBody>
      </p:sp>
      <p:sp>
        <p:nvSpPr>
          <p:cNvPr id="106" name="Shape 9">
            <a:extLst>
              <a:ext uri="{FF2B5EF4-FFF2-40B4-BE49-F238E27FC236}">
                <a16:creationId xmlns:a16="http://schemas.microsoft.com/office/drawing/2014/main" id="{6DC6BC6A-9CCB-FCA3-2643-9AE87BDEA7D1}"/>
              </a:ext>
            </a:extLst>
          </p:cNvPr>
          <p:cNvSpPr/>
          <p:nvPr/>
        </p:nvSpPr>
        <p:spPr>
          <a:xfrm>
            <a:off x="4377630" y="3754287"/>
            <a:ext cx="3063180" cy="28575"/>
          </a:xfrm>
          <a:prstGeom prst="rect">
            <a:avLst/>
          </a:prstGeom>
          <a:solidFill>
            <a:srgbClr val="3FE0D0"/>
          </a:solidFill>
          <a:ln/>
        </p:spPr>
        <p:txBody>
          <a:bodyPr/>
          <a:lstStyle/>
          <a:p>
            <a:endParaRPr lang="en-US"/>
          </a:p>
        </p:txBody>
      </p:sp>
      <p:sp>
        <p:nvSpPr>
          <p:cNvPr id="107" name="Text 10">
            <a:extLst>
              <a:ext uri="{FF2B5EF4-FFF2-40B4-BE49-F238E27FC236}">
                <a16:creationId xmlns:a16="http://schemas.microsoft.com/office/drawing/2014/main" id="{FCFD343C-0968-F971-93EB-EA556D8AAEE8}"/>
              </a:ext>
            </a:extLst>
          </p:cNvPr>
          <p:cNvSpPr/>
          <p:nvPr/>
        </p:nvSpPr>
        <p:spPr>
          <a:xfrm>
            <a:off x="4606230" y="4049562"/>
            <a:ext cx="2684160"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02</a:t>
            </a:r>
            <a:endParaRPr lang="en-US" sz="975" dirty="0"/>
          </a:p>
        </p:txBody>
      </p:sp>
      <p:sp>
        <p:nvSpPr>
          <p:cNvPr id="108" name="Text 11">
            <a:extLst>
              <a:ext uri="{FF2B5EF4-FFF2-40B4-BE49-F238E27FC236}">
                <a16:creationId xmlns:a16="http://schemas.microsoft.com/office/drawing/2014/main" id="{BF280D01-DE69-722D-8CF9-251EF407125C}"/>
              </a:ext>
            </a:extLst>
          </p:cNvPr>
          <p:cNvSpPr/>
          <p:nvPr/>
        </p:nvSpPr>
        <p:spPr>
          <a:xfrm>
            <a:off x="4606230" y="4325787"/>
            <a:ext cx="2684160" cy="520005"/>
          </a:xfrm>
          <a:prstGeom prst="rect">
            <a:avLst/>
          </a:prstGeom>
          <a:noFill/>
          <a:ln/>
        </p:spPr>
        <p:txBody>
          <a:bodyPr wrap="square" lIns="25400" tIns="25400" rIns="25400" bIns="25400" rtlCol="0" anchor="t">
            <a:noAutofit/>
          </a:bodyPr>
          <a:lstStyle/>
          <a:p>
            <a:pPr marL="0" indent="0" algn="l">
              <a:lnSpc>
                <a:spcPct val="115000"/>
              </a:lnSpc>
              <a:buNone/>
            </a:pPr>
            <a:r>
              <a:rPr lang="en-US" sz="1700" b="1" kern="0" spc="-16" dirty="0">
                <a:solidFill>
                  <a:srgbClr val="FFFFFF"/>
                </a:solidFill>
                <a:latin typeface="Montserrat" pitchFamily="34" charset="0"/>
                <a:ea typeface="Montserrat" pitchFamily="34" charset="-122"/>
                <a:cs typeface="Montserrat" pitchFamily="34" charset="-120"/>
              </a:rPr>
              <a:t>Camp registration sanity check.</a:t>
            </a:r>
            <a:endParaRPr lang="en-US" sz="1700" dirty="0"/>
          </a:p>
        </p:txBody>
      </p:sp>
      <p:sp>
        <p:nvSpPr>
          <p:cNvPr id="109" name="Text 12">
            <a:extLst>
              <a:ext uri="{FF2B5EF4-FFF2-40B4-BE49-F238E27FC236}">
                <a16:creationId xmlns:a16="http://schemas.microsoft.com/office/drawing/2014/main" id="{08B6BA25-9889-1077-F848-3E11596D0258}"/>
              </a:ext>
            </a:extLst>
          </p:cNvPr>
          <p:cNvSpPr/>
          <p:nvPr/>
        </p:nvSpPr>
        <p:spPr>
          <a:xfrm>
            <a:off x="4606230" y="5344962"/>
            <a:ext cx="2684160" cy="1409700"/>
          </a:xfrm>
          <a:prstGeom prst="rect">
            <a:avLst/>
          </a:prstGeom>
          <a:noFill/>
          <a:ln/>
        </p:spPr>
        <p:txBody>
          <a:bodyPr wrap="square" lIns="25400" tIns="25400" rIns="25400" bIns="25400" rtlCol="0" anchor="t">
            <a:normAutofit/>
          </a:bodyPr>
          <a:lstStyle/>
          <a:p>
            <a:pPr>
              <a:lnSpc>
                <a:spcPct val="150000"/>
              </a:lnSpc>
            </a:pPr>
            <a:r>
              <a:rPr lang="en-US" sz="1200" dirty="0">
                <a:solidFill>
                  <a:srgbClr val="C9CBD1"/>
                </a:solidFill>
                <a:latin typeface="Inter" pitchFamily="34" charset="0"/>
                <a:ea typeface="Inter" pitchFamily="34" charset="-122"/>
              </a:rPr>
              <a:t>Turn chaotic forms and notes into one clean, nurse-friendly spreadsheet.</a:t>
            </a:r>
          </a:p>
        </p:txBody>
      </p:sp>
      <p:sp>
        <p:nvSpPr>
          <p:cNvPr id="110" name="Shape 13">
            <a:extLst>
              <a:ext uri="{FF2B5EF4-FFF2-40B4-BE49-F238E27FC236}">
                <a16:creationId xmlns:a16="http://schemas.microsoft.com/office/drawing/2014/main" id="{A4FE52E4-DE0E-E19E-62A9-BB471C95E0A0}"/>
              </a:ext>
            </a:extLst>
          </p:cNvPr>
          <p:cNvSpPr/>
          <p:nvPr/>
        </p:nvSpPr>
        <p:spPr>
          <a:xfrm>
            <a:off x="7612261" y="3754287"/>
            <a:ext cx="3063329" cy="3228975"/>
          </a:xfrm>
          <a:prstGeom prst="rect">
            <a:avLst/>
          </a:prstGeom>
          <a:solidFill>
            <a:srgbClr val="373B4A"/>
          </a:solidFill>
          <a:ln/>
        </p:spPr>
        <p:txBody>
          <a:bodyPr/>
          <a:lstStyle/>
          <a:p>
            <a:endParaRPr lang="en-US"/>
          </a:p>
        </p:txBody>
      </p:sp>
      <p:sp>
        <p:nvSpPr>
          <p:cNvPr id="111" name="Shape 14">
            <a:extLst>
              <a:ext uri="{FF2B5EF4-FFF2-40B4-BE49-F238E27FC236}">
                <a16:creationId xmlns:a16="http://schemas.microsoft.com/office/drawing/2014/main" id="{355C08B3-465A-BEFD-D1C5-90D088651A42}"/>
              </a:ext>
            </a:extLst>
          </p:cNvPr>
          <p:cNvSpPr/>
          <p:nvPr/>
        </p:nvSpPr>
        <p:spPr>
          <a:xfrm>
            <a:off x="7612261" y="3754287"/>
            <a:ext cx="3063329" cy="28575"/>
          </a:xfrm>
          <a:prstGeom prst="rect">
            <a:avLst/>
          </a:prstGeom>
          <a:solidFill>
            <a:srgbClr val="3FE0D0"/>
          </a:solidFill>
          <a:ln/>
        </p:spPr>
        <p:txBody>
          <a:bodyPr/>
          <a:lstStyle/>
          <a:p>
            <a:endParaRPr lang="en-US"/>
          </a:p>
        </p:txBody>
      </p:sp>
      <p:sp>
        <p:nvSpPr>
          <p:cNvPr id="112" name="Text 15">
            <a:extLst>
              <a:ext uri="{FF2B5EF4-FFF2-40B4-BE49-F238E27FC236}">
                <a16:creationId xmlns:a16="http://schemas.microsoft.com/office/drawing/2014/main" id="{BA81CF4B-527D-EB8F-6920-AEA45CE7E613}"/>
              </a:ext>
            </a:extLst>
          </p:cNvPr>
          <p:cNvSpPr/>
          <p:nvPr/>
        </p:nvSpPr>
        <p:spPr>
          <a:xfrm>
            <a:off x="7840861" y="4049562"/>
            <a:ext cx="268431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03</a:t>
            </a:r>
            <a:endParaRPr lang="en-US" sz="975" dirty="0"/>
          </a:p>
        </p:txBody>
      </p:sp>
      <p:sp>
        <p:nvSpPr>
          <p:cNvPr id="113" name="Text 16">
            <a:extLst>
              <a:ext uri="{FF2B5EF4-FFF2-40B4-BE49-F238E27FC236}">
                <a16:creationId xmlns:a16="http://schemas.microsoft.com/office/drawing/2014/main" id="{9740A969-11D1-1FA3-7755-611C2485317E}"/>
              </a:ext>
            </a:extLst>
          </p:cNvPr>
          <p:cNvSpPr/>
          <p:nvPr/>
        </p:nvSpPr>
        <p:spPr>
          <a:xfrm>
            <a:off x="7840861" y="4325787"/>
            <a:ext cx="2684313" cy="279053"/>
          </a:xfrm>
          <a:prstGeom prst="rect">
            <a:avLst/>
          </a:prstGeom>
          <a:noFill/>
          <a:ln/>
        </p:spPr>
        <p:txBody>
          <a:bodyPr wrap="square" lIns="25400" tIns="25400" rIns="25400" bIns="25400" rtlCol="0" anchor="t">
            <a:noAutofit/>
          </a:bodyPr>
          <a:lstStyle/>
          <a:p>
            <a:pPr marL="0" indent="0" algn="l">
              <a:lnSpc>
                <a:spcPct val="115000"/>
              </a:lnSpc>
              <a:buNone/>
            </a:pPr>
            <a:r>
              <a:rPr lang="en-US" sz="1700" b="1" kern="0" spc="-16" dirty="0">
                <a:solidFill>
                  <a:srgbClr val="FFFFFF"/>
                </a:solidFill>
                <a:latin typeface="Montserrat" pitchFamily="34" charset="0"/>
                <a:ea typeface="Montserrat" pitchFamily="34" charset="-122"/>
                <a:cs typeface="Montserrat" pitchFamily="34" charset="-120"/>
              </a:rPr>
              <a:t>VBS prep, sorted.</a:t>
            </a:r>
            <a:endParaRPr lang="en-US" sz="1700" dirty="0"/>
          </a:p>
        </p:txBody>
      </p:sp>
      <p:sp>
        <p:nvSpPr>
          <p:cNvPr id="114" name="Text 17">
            <a:extLst>
              <a:ext uri="{FF2B5EF4-FFF2-40B4-BE49-F238E27FC236}">
                <a16:creationId xmlns:a16="http://schemas.microsoft.com/office/drawing/2014/main" id="{CB1AA7F0-F108-F6EF-200B-E269E9705CD8}"/>
              </a:ext>
            </a:extLst>
          </p:cNvPr>
          <p:cNvSpPr/>
          <p:nvPr/>
        </p:nvSpPr>
        <p:spPr>
          <a:xfrm>
            <a:off x="7840861" y="5344962"/>
            <a:ext cx="2684313" cy="1181100"/>
          </a:xfrm>
          <a:prstGeom prst="rect">
            <a:avLst/>
          </a:prstGeom>
          <a:noFill/>
          <a:ln/>
        </p:spPr>
        <p:txBody>
          <a:bodyPr wrap="square" lIns="25400" tIns="25400" rIns="25400" bIns="25400" rtlCol="0" anchor="t">
            <a:normAutofit/>
          </a:bodyPr>
          <a:lstStyle/>
          <a:p>
            <a:pPr>
              <a:lnSpc>
                <a:spcPct val="150000"/>
              </a:lnSpc>
            </a:pPr>
            <a:r>
              <a:rPr lang="en-US" sz="1200" dirty="0">
                <a:solidFill>
                  <a:srgbClr val="C9CBD1"/>
                </a:solidFill>
                <a:latin typeface="Inter" pitchFamily="34" charset="0"/>
                <a:ea typeface="Inter" pitchFamily="34" charset="-122"/>
              </a:rPr>
              <a:t>Organize, rename, and print everything volunteers need, already sorted.</a:t>
            </a:r>
          </a:p>
        </p:txBody>
      </p:sp>
      <p:sp>
        <p:nvSpPr>
          <p:cNvPr id="115" name="Shape 18">
            <a:extLst>
              <a:ext uri="{FF2B5EF4-FFF2-40B4-BE49-F238E27FC236}">
                <a16:creationId xmlns:a16="http://schemas.microsoft.com/office/drawing/2014/main" id="{72DDB3CA-B861-9E5A-4428-DE47376C41CD}"/>
              </a:ext>
            </a:extLst>
          </p:cNvPr>
          <p:cNvSpPr/>
          <p:nvPr/>
        </p:nvSpPr>
        <p:spPr>
          <a:xfrm>
            <a:off x="10847040" y="3754287"/>
            <a:ext cx="3063180" cy="3228975"/>
          </a:xfrm>
          <a:prstGeom prst="rect">
            <a:avLst/>
          </a:prstGeom>
          <a:solidFill>
            <a:srgbClr val="373B4A"/>
          </a:solidFill>
          <a:ln/>
        </p:spPr>
        <p:txBody>
          <a:bodyPr/>
          <a:lstStyle/>
          <a:p>
            <a:endParaRPr lang="en-US"/>
          </a:p>
        </p:txBody>
      </p:sp>
      <p:sp>
        <p:nvSpPr>
          <p:cNvPr id="116" name="Shape 19">
            <a:extLst>
              <a:ext uri="{FF2B5EF4-FFF2-40B4-BE49-F238E27FC236}">
                <a16:creationId xmlns:a16="http://schemas.microsoft.com/office/drawing/2014/main" id="{B19E59CE-98FA-892B-CC10-434B69233BBC}"/>
              </a:ext>
            </a:extLst>
          </p:cNvPr>
          <p:cNvSpPr/>
          <p:nvPr/>
        </p:nvSpPr>
        <p:spPr>
          <a:xfrm>
            <a:off x="10847040" y="3754287"/>
            <a:ext cx="3063180" cy="28575"/>
          </a:xfrm>
          <a:prstGeom prst="rect">
            <a:avLst/>
          </a:prstGeom>
          <a:solidFill>
            <a:srgbClr val="3FE0D0"/>
          </a:solidFill>
          <a:ln/>
        </p:spPr>
        <p:txBody>
          <a:bodyPr/>
          <a:lstStyle/>
          <a:p>
            <a:endParaRPr lang="en-US"/>
          </a:p>
        </p:txBody>
      </p:sp>
      <p:sp>
        <p:nvSpPr>
          <p:cNvPr id="117" name="Text 20">
            <a:extLst>
              <a:ext uri="{FF2B5EF4-FFF2-40B4-BE49-F238E27FC236}">
                <a16:creationId xmlns:a16="http://schemas.microsoft.com/office/drawing/2014/main" id="{6EFDC74C-F2F4-1213-F6B5-8BEBFE00CE8D}"/>
              </a:ext>
            </a:extLst>
          </p:cNvPr>
          <p:cNvSpPr/>
          <p:nvPr/>
        </p:nvSpPr>
        <p:spPr>
          <a:xfrm>
            <a:off x="11075640" y="4049562"/>
            <a:ext cx="2684160"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04</a:t>
            </a:r>
            <a:endParaRPr lang="en-US" sz="975" dirty="0"/>
          </a:p>
        </p:txBody>
      </p:sp>
      <p:sp>
        <p:nvSpPr>
          <p:cNvPr id="118" name="Text 21">
            <a:extLst>
              <a:ext uri="{FF2B5EF4-FFF2-40B4-BE49-F238E27FC236}">
                <a16:creationId xmlns:a16="http://schemas.microsoft.com/office/drawing/2014/main" id="{DFC95929-7F61-E835-0478-BBA1CFBA84A4}"/>
              </a:ext>
            </a:extLst>
          </p:cNvPr>
          <p:cNvSpPr/>
          <p:nvPr/>
        </p:nvSpPr>
        <p:spPr>
          <a:xfrm>
            <a:off x="11075640" y="4325787"/>
            <a:ext cx="2684160" cy="520005"/>
          </a:xfrm>
          <a:prstGeom prst="rect">
            <a:avLst/>
          </a:prstGeom>
          <a:noFill/>
          <a:ln/>
        </p:spPr>
        <p:txBody>
          <a:bodyPr wrap="square" lIns="25400" tIns="25400" rIns="25400" bIns="25400" rtlCol="0" anchor="t">
            <a:noAutofit/>
          </a:bodyPr>
          <a:lstStyle/>
          <a:p>
            <a:pPr marL="0" indent="0" algn="l">
              <a:lnSpc>
                <a:spcPct val="115000"/>
              </a:lnSpc>
              <a:buNone/>
            </a:pPr>
            <a:r>
              <a:rPr lang="en-US" sz="1700" b="1" kern="0" spc="-16" dirty="0">
                <a:solidFill>
                  <a:srgbClr val="FFFFFF"/>
                </a:solidFill>
                <a:latin typeface="Montserrat" pitchFamily="34" charset="0"/>
                <a:ea typeface="Montserrat" pitchFamily="34" charset="-122"/>
                <a:cs typeface="Montserrat" pitchFamily="34" charset="-120"/>
              </a:rPr>
              <a:t>Funeral planning binder.</a:t>
            </a:r>
            <a:endParaRPr lang="en-US" sz="1700" dirty="0"/>
          </a:p>
        </p:txBody>
      </p:sp>
      <p:sp>
        <p:nvSpPr>
          <p:cNvPr id="119" name="Text 22">
            <a:extLst>
              <a:ext uri="{FF2B5EF4-FFF2-40B4-BE49-F238E27FC236}">
                <a16:creationId xmlns:a16="http://schemas.microsoft.com/office/drawing/2014/main" id="{32BF35BE-7CAD-DED2-3331-2FF8D4AABFD4}"/>
              </a:ext>
            </a:extLst>
          </p:cNvPr>
          <p:cNvSpPr/>
          <p:nvPr/>
        </p:nvSpPr>
        <p:spPr>
          <a:xfrm>
            <a:off x="11075640" y="5344962"/>
            <a:ext cx="2684160" cy="1181100"/>
          </a:xfrm>
          <a:prstGeom prst="rect">
            <a:avLst/>
          </a:prstGeom>
          <a:noFill/>
          <a:ln/>
        </p:spPr>
        <p:txBody>
          <a:bodyPr wrap="square" lIns="25400" tIns="25400" rIns="25400" bIns="25400" rtlCol="0" anchor="t">
            <a:normAutofit/>
          </a:bodyPr>
          <a:lstStyle/>
          <a:p>
            <a:pPr>
              <a:lnSpc>
                <a:spcPct val="150000"/>
              </a:lnSpc>
            </a:pPr>
            <a:r>
              <a:rPr lang="en-US" sz="1200" dirty="0">
                <a:solidFill>
                  <a:srgbClr val="C9CBD1"/>
                </a:solidFill>
                <a:latin typeface="Inter" pitchFamily="34" charset="0"/>
                <a:ea typeface="Inter" pitchFamily="34" charset="-122"/>
              </a:rPr>
              <a:t>Draft service details and logistics, leaving space for pastoral care.</a:t>
            </a:r>
          </a:p>
        </p:txBody>
      </p:sp>
      <p:sp>
        <p:nvSpPr>
          <p:cNvPr id="120" name="Shape 23">
            <a:extLst>
              <a:ext uri="{FF2B5EF4-FFF2-40B4-BE49-F238E27FC236}">
                <a16:creationId xmlns:a16="http://schemas.microsoft.com/office/drawing/2014/main" id="{3CAD9D0B-4CBB-9CE8-53F9-140568096AA3}"/>
              </a:ext>
            </a:extLst>
          </p:cNvPr>
          <p:cNvSpPr/>
          <p:nvPr/>
        </p:nvSpPr>
        <p:spPr>
          <a:xfrm>
            <a:off x="14081671" y="3754287"/>
            <a:ext cx="3063329" cy="3228975"/>
          </a:xfrm>
          <a:prstGeom prst="rect">
            <a:avLst/>
          </a:prstGeom>
          <a:solidFill>
            <a:srgbClr val="373B4A"/>
          </a:solidFill>
          <a:ln/>
        </p:spPr>
        <p:txBody>
          <a:bodyPr/>
          <a:lstStyle/>
          <a:p>
            <a:endParaRPr lang="en-US"/>
          </a:p>
        </p:txBody>
      </p:sp>
      <p:sp>
        <p:nvSpPr>
          <p:cNvPr id="121" name="Shape 24">
            <a:extLst>
              <a:ext uri="{FF2B5EF4-FFF2-40B4-BE49-F238E27FC236}">
                <a16:creationId xmlns:a16="http://schemas.microsoft.com/office/drawing/2014/main" id="{3E79EE0E-78D3-E7DD-61F3-851776676A18}"/>
              </a:ext>
            </a:extLst>
          </p:cNvPr>
          <p:cNvSpPr/>
          <p:nvPr/>
        </p:nvSpPr>
        <p:spPr>
          <a:xfrm>
            <a:off x="14081671" y="3754287"/>
            <a:ext cx="3063329" cy="28575"/>
          </a:xfrm>
          <a:prstGeom prst="rect">
            <a:avLst/>
          </a:prstGeom>
          <a:solidFill>
            <a:srgbClr val="F58220"/>
          </a:solidFill>
          <a:ln/>
        </p:spPr>
        <p:txBody>
          <a:bodyPr/>
          <a:lstStyle/>
          <a:p>
            <a:endParaRPr lang="en-US"/>
          </a:p>
        </p:txBody>
      </p:sp>
      <p:sp>
        <p:nvSpPr>
          <p:cNvPr id="122" name="Text 25">
            <a:extLst>
              <a:ext uri="{FF2B5EF4-FFF2-40B4-BE49-F238E27FC236}">
                <a16:creationId xmlns:a16="http://schemas.microsoft.com/office/drawing/2014/main" id="{15F56C74-72A2-C0B0-D05B-CE8058362E9C}"/>
              </a:ext>
            </a:extLst>
          </p:cNvPr>
          <p:cNvSpPr/>
          <p:nvPr/>
        </p:nvSpPr>
        <p:spPr>
          <a:xfrm>
            <a:off x="14310271" y="4049562"/>
            <a:ext cx="268431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05</a:t>
            </a:r>
            <a:endParaRPr lang="en-US" sz="975" dirty="0"/>
          </a:p>
        </p:txBody>
      </p:sp>
      <p:sp>
        <p:nvSpPr>
          <p:cNvPr id="123" name="Text 26">
            <a:extLst>
              <a:ext uri="{FF2B5EF4-FFF2-40B4-BE49-F238E27FC236}">
                <a16:creationId xmlns:a16="http://schemas.microsoft.com/office/drawing/2014/main" id="{12E4B44F-7DF3-EAF0-05B2-BD89891893B2}"/>
              </a:ext>
            </a:extLst>
          </p:cNvPr>
          <p:cNvSpPr/>
          <p:nvPr/>
        </p:nvSpPr>
        <p:spPr>
          <a:xfrm>
            <a:off x="14310271" y="4325787"/>
            <a:ext cx="2684313" cy="279053"/>
          </a:xfrm>
          <a:prstGeom prst="rect">
            <a:avLst/>
          </a:prstGeom>
          <a:noFill/>
          <a:ln/>
        </p:spPr>
        <p:txBody>
          <a:bodyPr wrap="square" lIns="25400" tIns="25400" rIns="25400" bIns="25400" rtlCol="0" anchor="t">
            <a:noAutofit/>
          </a:bodyPr>
          <a:lstStyle/>
          <a:p>
            <a:pPr marL="0" indent="0" algn="l">
              <a:lnSpc>
                <a:spcPct val="115000"/>
              </a:lnSpc>
              <a:buNone/>
            </a:pPr>
            <a:r>
              <a:rPr lang="en-US" sz="1700" b="1" kern="0" spc="-16" dirty="0">
                <a:solidFill>
                  <a:srgbClr val="FFFFFF"/>
                </a:solidFill>
                <a:latin typeface="Montserrat" pitchFamily="34" charset="0"/>
                <a:ea typeface="Montserrat" pitchFamily="34" charset="-122"/>
                <a:cs typeface="Montserrat" pitchFamily="34" charset="-120"/>
              </a:rPr>
              <a:t>Board packet prep.</a:t>
            </a:r>
            <a:endParaRPr lang="en-US" sz="1700" dirty="0"/>
          </a:p>
        </p:txBody>
      </p:sp>
      <p:sp>
        <p:nvSpPr>
          <p:cNvPr id="124" name="Text 27">
            <a:extLst>
              <a:ext uri="{FF2B5EF4-FFF2-40B4-BE49-F238E27FC236}">
                <a16:creationId xmlns:a16="http://schemas.microsoft.com/office/drawing/2014/main" id="{BD19A850-94F0-8DE8-026F-19EA26299405}"/>
              </a:ext>
            </a:extLst>
          </p:cNvPr>
          <p:cNvSpPr/>
          <p:nvPr/>
        </p:nvSpPr>
        <p:spPr>
          <a:xfrm>
            <a:off x="14310271" y="5344962"/>
            <a:ext cx="2684313" cy="1178273"/>
          </a:xfrm>
          <a:prstGeom prst="rect">
            <a:avLst/>
          </a:prstGeom>
          <a:noFill/>
          <a:ln/>
        </p:spPr>
        <p:txBody>
          <a:bodyPr wrap="square" lIns="25400" tIns="25400" rIns="25400" bIns="25400" rtlCol="0" anchor="t">
            <a:normAutofit/>
          </a:bodyPr>
          <a:lstStyle/>
          <a:p>
            <a:pPr>
              <a:lnSpc>
                <a:spcPct val="150000"/>
              </a:lnSpc>
            </a:pPr>
            <a:r>
              <a:rPr lang="en-US" sz="1200" dirty="0">
                <a:solidFill>
                  <a:srgbClr val="C9CBD1"/>
                </a:solidFill>
                <a:latin typeface="Inter" pitchFamily="34" charset="0"/>
                <a:ea typeface="Inter" pitchFamily="34" charset="-122"/>
              </a:rPr>
              <a:t>Pull scattered reports into one clear, ready-to-read quarterly narrative.</a:t>
            </a:r>
          </a:p>
        </p:txBody>
      </p:sp>
    </p:spTree>
    <p:extLst>
      <p:ext uri="{BB962C8B-B14F-4D97-AF65-F5344CB8AC3E}">
        <p14:creationId xmlns:p14="http://schemas.microsoft.com/office/powerpoint/2010/main" val="3090632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176E9125-7F03-87A8-09CA-9CDFE37E635F}"/>
            </a:ext>
          </a:extLst>
        </p:cNvPr>
        <p:cNvGrpSpPr/>
        <p:nvPr/>
      </p:nvGrpSpPr>
      <p:grpSpPr>
        <a:xfrm>
          <a:off x="0" y="0"/>
          <a:ext cx="0" cy="0"/>
          <a:chOff x="0" y="0"/>
          <a:chExt cx="0" cy="0"/>
        </a:xfrm>
      </p:grpSpPr>
      <p:sp>
        <p:nvSpPr>
          <p:cNvPr id="32" name="Shape 30">
            <a:extLst>
              <a:ext uri="{FF2B5EF4-FFF2-40B4-BE49-F238E27FC236}">
                <a16:creationId xmlns:a16="http://schemas.microsoft.com/office/drawing/2014/main" id="{594BCD09-7031-1910-DE1A-38CD2D8B9545}"/>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3" name="Text 31">
            <a:extLst>
              <a:ext uri="{FF2B5EF4-FFF2-40B4-BE49-F238E27FC236}">
                <a16:creationId xmlns:a16="http://schemas.microsoft.com/office/drawing/2014/main" id="{FC1BF47B-4A03-AF03-5116-654512F14236}"/>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21" name="Text 0">
            <a:extLst>
              <a:ext uri="{FF2B5EF4-FFF2-40B4-BE49-F238E27FC236}">
                <a16:creationId xmlns:a16="http://schemas.microsoft.com/office/drawing/2014/main" id="{51BFBD78-DD56-6347-3F19-9AEFA35F9CE1}"/>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COWORK · YOUR TURN</a:t>
            </a:r>
            <a:endParaRPr lang="en-US" sz="1350" dirty="0"/>
          </a:p>
        </p:txBody>
      </p:sp>
      <p:sp>
        <p:nvSpPr>
          <p:cNvPr id="22" name="Text 1">
            <a:extLst>
              <a:ext uri="{FF2B5EF4-FFF2-40B4-BE49-F238E27FC236}">
                <a16:creationId xmlns:a16="http://schemas.microsoft.com/office/drawing/2014/main" id="{767ADEA8-5CFE-95CB-D167-DF9C2BB4C817}"/>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Same work — fraction of the hours.</a:t>
            </a:r>
            <a:endParaRPr lang="en-US" sz="6300" dirty="0">
              <a:solidFill>
                <a:srgbClr val="FFFFFF"/>
              </a:solidFill>
            </a:endParaRPr>
          </a:p>
        </p:txBody>
      </p:sp>
      <p:sp>
        <p:nvSpPr>
          <p:cNvPr id="23" name="Text 2">
            <a:extLst>
              <a:ext uri="{FF2B5EF4-FFF2-40B4-BE49-F238E27FC236}">
                <a16:creationId xmlns:a16="http://schemas.microsoft.com/office/drawing/2014/main" id="{CAC9A92F-D6C4-396B-EAED-565AB195C842}"/>
              </a:ext>
            </a:extLst>
          </p:cNvPr>
          <p:cNvSpPr/>
          <p:nvPr/>
        </p:nvSpPr>
        <p:spPr>
          <a:xfrm>
            <a:off x="1143000" y="2552700"/>
            <a:ext cx="16482060"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Real-world handoffs from staff who built these last quarter.</a:t>
            </a:r>
            <a:endParaRPr lang="en-US" sz="1950" dirty="0">
              <a:solidFill>
                <a:srgbClr val="C9CBD1"/>
              </a:solidFill>
            </a:endParaRPr>
          </a:p>
        </p:txBody>
      </p:sp>
      <p:sp>
        <p:nvSpPr>
          <p:cNvPr id="24" name="Shape 3">
            <a:extLst>
              <a:ext uri="{FF2B5EF4-FFF2-40B4-BE49-F238E27FC236}">
                <a16:creationId xmlns:a16="http://schemas.microsoft.com/office/drawing/2014/main" id="{B6942756-D278-0123-7D6C-2CCB87E4CE65}"/>
              </a:ext>
            </a:extLst>
          </p:cNvPr>
          <p:cNvSpPr/>
          <p:nvPr/>
        </p:nvSpPr>
        <p:spPr>
          <a:xfrm>
            <a:off x="1143000" y="4071938"/>
            <a:ext cx="7324427" cy="19050"/>
          </a:xfrm>
          <a:prstGeom prst="rect">
            <a:avLst/>
          </a:prstGeom>
          <a:solidFill>
            <a:srgbClr val="FFFFFF"/>
          </a:solidFill>
          <a:ln/>
        </p:spPr>
        <p:txBody>
          <a:bodyPr/>
          <a:lstStyle/>
          <a:p>
            <a:endParaRPr lang="en-US">
              <a:solidFill>
                <a:srgbClr val="C9CBD1"/>
              </a:solidFill>
            </a:endParaRPr>
          </a:p>
        </p:txBody>
      </p:sp>
      <p:sp>
        <p:nvSpPr>
          <p:cNvPr id="25" name="Text 4">
            <a:extLst>
              <a:ext uri="{FF2B5EF4-FFF2-40B4-BE49-F238E27FC236}">
                <a16:creationId xmlns:a16="http://schemas.microsoft.com/office/drawing/2014/main" id="{BEF84879-0A6F-D3B1-7061-5E557F8F04EE}"/>
              </a:ext>
            </a:extLst>
          </p:cNvPr>
          <p:cNvSpPr/>
          <p:nvPr/>
        </p:nvSpPr>
        <p:spPr>
          <a:xfrm>
            <a:off x="1333500" y="3767138"/>
            <a:ext cx="7163160" cy="190500"/>
          </a:xfrm>
          <a:prstGeom prst="rect">
            <a:avLst/>
          </a:prstGeom>
          <a:noFill/>
          <a:ln/>
        </p:spPr>
        <p:txBody>
          <a:bodyPr wrap="square" lIns="25400" tIns="25400" rIns="25400" bIns="25400" rtlCol="0" anchor="ctr">
            <a:normAutofit fontScale="92500" lnSpcReduction="10000"/>
          </a:bodyPr>
          <a:lstStyle/>
          <a:p>
            <a:pPr marL="0" indent="0" algn="l">
              <a:buNone/>
            </a:pPr>
            <a:r>
              <a:rPr lang="en-US" sz="1050" b="1" kern="0" spc="189" dirty="0">
                <a:solidFill>
                  <a:srgbClr val="C9CBD1"/>
                </a:solidFill>
                <a:latin typeface="Inter" pitchFamily="34" charset="0"/>
                <a:ea typeface="Inter" pitchFamily="34" charset="-122"/>
                <a:cs typeface="Inter" pitchFamily="34" charset="-120"/>
              </a:rPr>
              <a:t>TASK</a:t>
            </a:r>
            <a:endParaRPr lang="en-US" sz="1050" dirty="0">
              <a:solidFill>
                <a:srgbClr val="C9CBD1"/>
              </a:solidFill>
            </a:endParaRPr>
          </a:p>
        </p:txBody>
      </p:sp>
      <p:sp>
        <p:nvSpPr>
          <p:cNvPr id="26" name="Shape 5">
            <a:extLst>
              <a:ext uri="{FF2B5EF4-FFF2-40B4-BE49-F238E27FC236}">
                <a16:creationId xmlns:a16="http://schemas.microsoft.com/office/drawing/2014/main" id="{91D134CD-F67A-B28F-6799-7C43A3F77BC7}"/>
              </a:ext>
            </a:extLst>
          </p:cNvPr>
          <p:cNvSpPr/>
          <p:nvPr/>
        </p:nvSpPr>
        <p:spPr>
          <a:xfrm>
            <a:off x="8467427" y="4071938"/>
            <a:ext cx="3385691" cy="19050"/>
          </a:xfrm>
          <a:prstGeom prst="rect">
            <a:avLst/>
          </a:prstGeom>
          <a:solidFill>
            <a:srgbClr val="FFFFFF"/>
          </a:solidFill>
          <a:ln/>
        </p:spPr>
        <p:txBody>
          <a:bodyPr/>
          <a:lstStyle/>
          <a:p>
            <a:endParaRPr lang="en-US">
              <a:solidFill>
                <a:srgbClr val="C9CBD1"/>
              </a:solidFill>
            </a:endParaRPr>
          </a:p>
        </p:txBody>
      </p:sp>
      <p:sp>
        <p:nvSpPr>
          <p:cNvPr id="27" name="Text 6">
            <a:extLst>
              <a:ext uri="{FF2B5EF4-FFF2-40B4-BE49-F238E27FC236}">
                <a16:creationId xmlns:a16="http://schemas.microsoft.com/office/drawing/2014/main" id="{4313B975-C713-47AA-C332-890A5B198953}"/>
              </a:ext>
            </a:extLst>
          </p:cNvPr>
          <p:cNvSpPr/>
          <p:nvPr/>
        </p:nvSpPr>
        <p:spPr>
          <a:xfrm>
            <a:off x="8657927" y="3767138"/>
            <a:ext cx="3106262" cy="190500"/>
          </a:xfrm>
          <a:prstGeom prst="rect">
            <a:avLst/>
          </a:prstGeom>
          <a:noFill/>
          <a:ln/>
        </p:spPr>
        <p:txBody>
          <a:bodyPr wrap="square" lIns="25400" tIns="25400" rIns="25400" bIns="25400" rtlCol="0" anchor="ctr">
            <a:normAutofit fontScale="92500" lnSpcReduction="10000"/>
          </a:bodyPr>
          <a:lstStyle/>
          <a:p>
            <a:pPr marL="0" indent="0" algn="l">
              <a:buNone/>
            </a:pPr>
            <a:r>
              <a:rPr lang="en-US" sz="1050" b="1" kern="0" spc="189" dirty="0">
                <a:solidFill>
                  <a:srgbClr val="C9CBD1"/>
                </a:solidFill>
                <a:latin typeface="Inter" pitchFamily="34" charset="0"/>
                <a:ea typeface="Inter" pitchFamily="34" charset="-122"/>
                <a:cs typeface="Inter" pitchFamily="34" charset="-120"/>
              </a:rPr>
              <a:t>BEFORE</a:t>
            </a:r>
            <a:endParaRPr lang="en-US" sz="1050" dirty="0">
              <a:solidFill>
                <a:srgbClr val="C9CBD1"/>
              </a:solidFill>
            </a:endParaRPr>
          </a:p>
        </p:txBody>
      </p:sp>
      <p:sp>
        <p:nvSpPr>
          <p:cNvPr id="28" name="Shape 7">
            <a:extLst>
              <a:ext uri="{FF2B5EF4-FFF2-40B4-BE49-F238E27FC236}">
                <a16:creationId xmlns:a16="http://schemas.microsoft.com/office/drawing/2014/main" id="{3A9216AF-13EA-81BE-7AB8-4F1F79FA675B}"/>
              </a:ext>
            </a:extLst>
          </p:cNvPr>
          <p:cNvSpPr/>
          <p:nvPr/>
        </p:nvSpPr>
        <p:spPr>
          <a:xfrm>
            <a:off x="11853118" y="4071938"/>
            <a:ext cx="952500" cy="19050"/>
          </a:xfrm>
          <a:prstGeom prst="rect">
            <a:avLst/>
          </a:prstGeom>
          <a:solidFill>
            <a:srgbClr val="FFFFFF"/>
          </a:solidFill>
          <a:ln/>
        </p:spPr>
        <p:txBody>
          <a:bodyPr/>
          <a:lstStyle/>
          <a:p>
            <a:endParaRPr lang="en-US">
              <a:solidFill>
                <a:srgbClr val="C9CBD1"/>
              </a:solidFill>
            </a:endParaRPr>
          </a:p>
        </p:txBody>
      </p:sp>
      <p:sp>
        <p:nvSpPr>
          <p:cNvPr id="29" name="Shape 8">
            <a:extLst>
              <a:ext uri="{FF2B5EF4-FFF2-40B4-BE49-F238E27FC236}">
                <a16:creationId xmlns:a16="http://schemas.microsoft.com/office/drawing/2014/main" id="{B29E3650-2260-11AE-392B-1C56E1F5391E}"/>
              </a:ext>
            </a:extLst>
          </p:cNvPr>
          <p:cNvSpPr/>
          <p:nvPr/>
        </p:nvSpPr>
        <p:spPr>
          <a:xfrm>
            <a:off x="12805618" y="4071938"/>
            <a:ext cx="4339382" cy="19050"/>
          </a:xfrm>
          <a:prstGeom prst="rect">
            <a:avLst/>
          </a:prstGeom>
          <a:solidFill>
            <a:srgbClr val="FFFFFF"/>
          </a:solidFill>
          <a:ln/>
        </p:spPr>
        <p:txBody>
          <a:bodyPr/>
          <a:lstStyle/>
          <a:p>
            <a:endParaRPr lang="en-US">
              <a:solidFill>
                <a:srgbClr val="C9CBD1"/>
              </a:solidFill>
            </a:endParaRPr>
          </a:p>
        </p:txBody>
      </p:sp>
      <p:sp>
        <p:nvSpPr>
          <p:cNvPr id="30" name="Text 9">
            <a:extLst>
              <a:ext uri="{FF2B5EF4-FFF2-40B4-BE49-F238E27FC236}">
                <a16:creationId xmlns:a16="http://schemas.microsoft.com/office/drawing/2014/main" id="{E2BC0DF9-3782-F932-1E27-388673B03893}"/>
              </a:ext>
            </a:extLst>
          </p:cNvPr>
          <p:cNvSpPr/>
          <p:nvPr/>
        </p:nvSpPr>
        <p:spPr>
          <a:xfrm>
            <a:off x="12996118" y="3767138"/>
            <a:ext cx="4088563" cy="190500"/>
          </a:xfrm>
          <a:prstGeom prst="rect">
            <a:avLst/>
          </a:prstGeom>
          <a:noFill/>
          <a:ln/>
        </p:spPr>
        <p:txBody>
          <a:bodyPr wrap="square" lIns="25400" tIns="25400" rIns="25400" bIns="25400" rtlCol="0" anchor="ctr">
            <a:normAutofit fontScale="92500" lnSpcReduction="10000"/>
          </a:bodyPr>
          <a:lstStyle/>
          <a:p>
            <a:pPr marL="0" indent="0" algn="l">
              <a:buNone/>
            </a:pPr>
            <a:r>
              <a:rPr lang="en-US" sz="1050" b="1" kern="0" spc="189" dirty="0">
                <a:solidFill>
                  <a:srgbClr val="C9CBD1"/>
                </a:solidFill>
                <a:latin typeface="Inter" pitchFamily="34" charset="0"/>
                <a:ea typeface="Inter" pitchFamily="34" charset="-122"/>
                <a:cs typeface="Inter" pitchFamily="34" charset="-120"/>
              </a:rPr>
              <a:t>AFTER</a:t>
            </a:r>
            <a:endParaRPr lang="en-US" sz="1050" dirty="0">
              <a:solidFill>
                <a:srgbClr val="C9CBD1"/>
              </a:solidFill>
            </a:endParaRPr>
          </a:p>
        </p:txBody>
      </p:sp>
      <p:sp>
        <p:nvSpPr>
          <p:cNvPr id="31" name="Shape 10">
            <a:extLst>
              <a:ext uri="{FF2B5EF4-FFF2-40B4-BE49-F238E27FC236}">
                <a16:creationId xmlns:a16="http://schemas.microsoft.com/office/drawing/2014/main" id="{D6F2602B-D554-FAA3-7E06-7EC5434E9BE7}"/>
              </a:ext>
            </a:extLst>
          </p:cNvPr>
          <p:cNvSpPr/>
          <p:nvPr/>
        </p:nvSpPr>
        <p:spPr>
          <a:xfrm>
            <a:off x="1143000" y="4900613"/>
            <a:ext cx="7324427" cy="9525"/>
          </a:xfrm>
          <a:prstGeom prst="rect">
            <a:avLst/>
          </a:prstGeom>
          <a:solidFill>
            <a:srgbClr val="C9CBD1">
              <a:alpha val="10000"/>
            </a:srgbClr>
          </a:solidFill>
          <a:ln/>
        </p:spPr>
        <p:txBody>
          <a:bodyPr/>
          <a:lstStyle/>
          <a:p>
            <a:endParaRPr lang="en-US">
              <a:solidFill>
                <a:srgbClr val="FFFFFF"/>
              </a:solidFill>
            </a:endParaRPr>
          </a:p>
        </p:txBody>
      </p:sp>
      <p:sp>
        <p:nvSpPr>
          <p:cNvPr id="41" name="Text 11">
            <a:extLst>
              <a:ext uri="{FF2B5EF4-FFF2-40B4-BE49-F238E27FC236}">
                <a16:creationId xmlns:a16="http://schemas.microsoft.com/office/drawing/2014/main" id="{5213CCF6-2AF0-5B15-1881-FE6F6F3A3F70}"/>
              </a:ext>
            </a:extLst>
          </p:cNvPr>
          <p:cNvSpPr/>
          <p:nvPr/>
        </p:nvSpPr>
        <p:spPr>
          <a:xfrm>
            <a:off x="1333500" y="4319588"/>
            <a:ext cx="7163160" cy="390525"/>
          </a:xfrm>
          <a:prstGeom prst="rect">
            <a:avLst/>
          </a:prstGeom>
          <a:noFill/>
          <a:ln/>
        </p:spPr>
        <p:txBody>
          <a:bodyPr wrap="square" lIns="25400" tIns="25400" rIns="25400" bIns="25400" rtlCol="0" anchor="t">
            <a:normAutofit/>
          </a:bodyPr>
          <a:lstStyle/>
          <a:p>
            <a:pPr marL="0" indent="0" algn="l">
              <a:buNone/>
            </a:pPr>
            <a:r>
              <a:rPr lang="en-US" sz="1950" b="1" kern="0" spc="-19" dirty="0">
                <a:solidFill>
                  <a:srgbClr val="FFFFFF"/>
                </a:solidFill>
                <a:latin typeface="Montserrat" pitchFamily="34" charset="0"/>
                <a:ea typeface="Montserrat" pitchFamily="34" charset="-122"/>
                <a:cs typeface="Montserrat" pitchFamily="34" charset="-120"/>
              </a:rPr>
              <a:t>Annual report from data</a:t>
            </a:r>
            <a:endParaRPr lang="en-US" sz="1950" dirty="0">
              <a:solidFill>
                <a:srgbClr val="FFFFFF"/>
              </a:solidFill>
            </a:endParaRPr>
          </a:p>
        </p:txBody>
      </p:sp>
      <p:sp>
        <p:nvSpPr>
          <p:cNvPr id="45" name="Shape 12">
            <a:extLst>
              <a:ext uri="{FF2B5EF4-FFF2-40B4-BE49-F238E27FC236}">
                <a16:creationId xmlns:a16="http://schemas.microsoft.com/office/drawing/2014/main" id="{F24CA666-DB1C-B59C-3A1E-09FCF4D03916}"/>
              </a:ext>
            </a:extLst>
          </p:cNvPr>
          <p:cNvSpPr/>
          <p:nvPr/>
        </p:nvSpPr>
        <p:spPr>
          <a:xfrm>
            <a:off x="8467427" y="4900613"/>
            <a:ext cx="3385691" cy="9525"/>
          </a:xfrm>
          <a:prstGeom prst="rect">
            <a:avLst/>
          </a:prstGeom>
          <a:solidFill>
            <a:srgbClr val="C9CBD1">
              <a:alpha val="10000"/>
            </a:srgbClr>
          </a:solidFill>
          <a:ln/>
        </p:spPr>
        <p:txBody>
          <a:bodyPr/>
          <a:lstStyle/>
          <a:p>
            <a:endParaRPr lang="en-US"/>
          </a:p>
        </p:txBody>
      </p:sp>
      <p:sp>
        <p:nvSpPr>
          <p:cNvPr id="49" name="Text 13">
            <a:extLst>
              <a:ext uri="{FF2B5EF4-FFF2-40B4-BE49-F238E27FC236}">
                <a16:creationId xmlns:a16="http://schemas.microsoft.com/office/drawing/2014/main" id="{7FC1909B-8717-4157-B0B2-5FD736BD24CC}"/>
              </a:ext>
            </a:extLst>
          </p:cNvPr>
          <p:cNvSpPr/>
          <p:nvPr/>
        </p:nvSpPr>
        <p:spPr>
          <a:xfrm>
            <a:off x="8657927" y="4319588"/>
            <a:ext cx="3106262" cy="390525"/>
          </a:xfrm>
          <a:prstGeom prst="rect">
            <a:avLst/>
          </a:prstGeom>
          <a:noFill/>
          <a:ln/>
        </p:spPr>
        <p:txBody>
          <a:bodyPr wrap="square" lIns="25400" tIns="25400" rIns="25400" bIns="25400" rtlCol="0" anchor="t">
            <a:normAutofit/>
          </a:bodyPr>
          <a:lstStyle/>
          <a:p>
            <a:pPr marL="0" indent="0" algn="l">
              <a:buNone/>
            </a:pPr>
            <a:r>
              <a:rPr lang="en-US" sz="1500" strike="sngStrike" dirty="0">
                <a:solidFill>
                  <a:srgbClr val="C45F0E"/>
                </a:solidFill>
                <a:latin typeface="JetBrains Mono" pitchFamily="34" charset="0"/>
                <a:ea typeface="JetBrains Mono" pitchFamily="34" charset="-122"/>
                <a:cs typeface="JetBrains Mono" pitchFamily="34" charset="-120"/>
              </a:rPr>
              <a:t>3 days</a:t>
            </a:r>
            <a:endParaRPr lang="en-US" sz="1500" dirty="0"/>
          </a:p>
        </p:txBody>
      </p:sp>
      <p:sp>
        <p:nvSpPr>
          <p:cNvPr id="53" name="Shape 14">
            <a:extLst>
              <a:ext uri="{FF2B5EF4-FFF2-40B4-BE49-F238E27FC236}">
                <a16:creationId xmlns:a16="http://schemas.microsoft.com/office/drawing/2014/main" id="{FD5791C6-3466-0425-5569-FF0D04F8EE88}"/>
              </a:ext>
            </a:extLst>
          </p:cNvPr>
          <p:cNvSpPr/>
          <p:nvPr/>
        </p:nvSpPr>
        <p:spPr>
          <a:xfrm>
            <a:off x="11853118" y="4900613"/>
            <a:ext cx="952500" cy="9525"/>
          </a:xfrm>
          <a:prstGeom prst="rect">
            <a:avLst/>
          </a:prstGeom>
          <a:solidFill>
            <a:srgbClr val="C9CBD1">
              <a:alpha val="10000"/>
            </a:srgbClr>
          </a:solidFill>
          <a:ln/>
        </p:spPr>
        <p:txBody>
          <a:bodyPr/>
          <a:lstStyle/>
          <a:p>
            <a:endParaRPr lang="en-US"/>
          </a:p>
        </p:txBody>
      </p:sp>
      <p:sp>
        <p:nvSpPr>
          <p:cNvPr id="54" name="Text 15">
            <a:extLst>
              <a:ext uri="{FF2B5EF4-FFF2-40B4-BE49-F238E27FC236}">
                <a16:creationId xmlns:a16="http://schemas.microsoft.com/office/drawing/2014/main" id="{2C14529A-A5A4-1392-3FFA-D09E1D819D21}"/>
              </a:ext>
            </a:extLst>
          </p:cNvPr>
          <p:cNvSpPr/>
          <p:nvPr/>
        </p:nvSpPr>
        <p:spPr>
          <a:xfrm>
            <a:off x="12043618" y="4319588"/>
            <a:ext cx="647700"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Montserrat" pitchFamily="34" charset="0"/>
                <a:ea typeface="Montserrat" pitchFamily="34" charset="-122"/>
                <a:cs typeface="Montserrat" pitchFamily="34" charset="-120"/>
              </a:rPr>
              <a:t>→</a:t>
            </a:r>
            <a:endParaRPr lang="en-US" sz="2250" dirty="0">
              <a:solidFill>
                <a:srgbClr val="C9CBD1"/>
              </a:solidFill>
            </a:endParaRPr>
          </a:p>
        </p:txBody>
      </p:sp>
      <p:sp>
        <p:nvSpPr>
          <p:cNvPr id="55" name="Shape 16">
            <a:extLst>
              <a:ext uri="{FF2B5EF4-FFF2-40B4-BE49-F238E27FC236}">
                <a16:creationId xmlns:a16="http://schemas.microsoft.com/office/drawing/2014/main" id="{5170D23D-9FF8-8B83-78D6-02BB33274F43}"/>
              </a:ext>
            </a:extLst>
          </p:cNvPr>
          <p:cNvSpPr/>
          <p:nvPr/>
        </p:nvSpPr>
        <p:spPr>
          <a:xfrm>
            <a:off x="12805618" y="4900613"/>
            <a:ext cx="4339382" cy="9525"/>
          </a:xfrm>
          <a:prstGeom prst="rect">
            <a:avLst/>
          </a:prstGeom>
          <a:solidFill>
            <a:srgbClr val="C9CBD1">
              <a:alpha val="10000"/>
            </a:srgbClr>
          </a:solidFill>
          <a:ln/>
        </p:spPr>
        <p:txBody>
          <a:bodyPr/>
          <a:lstStyle/>
          <a:p>
            <a:endParaRPr lang="en-US"/>
          </a:p>
        </p:txBody>
      </p:sp>
      <p:sp>
        <p:nvSpPr>
          <p:cNvPr id="56" name="Text 17">
            <a:extLst>
              <a:ext uri="{FF2B5EF4-FFF2-40B4-BE49-F238E27FC236}">
                <a16:creationId xmlns:a16="http://schemas.microsoft.com/office/drawing/2014/main" id="{82770E61-88E4-6A1F-E754-00720F480AA3}"/>
              </a:ext>
            </a:extLst>
          </p:cNvPr>
          <p:cNvSpPr/>
          <p:nvPr/>
        </p:nvSpPr>
        <p:spPr>
          <a:xfrm>
            <a:off x="12996118" y="4319588"/>
            <a:ext cx="4088563" cy="390525"/>
          </a:xfrm>
          <a:prstGeom prst="rect">
            <a:avLst/>
          </a:prstGeom>
          <a:noFill/>
          <a:ln/>
        </p:spPr>
        <p:txBody>
          <a:bodyPr wrap="square" lIns="25400" tIns="25400" rIns="25400" bIns="25400" rtlCol="0" anchor="t">
            <a:normAutofit/>
          </a:bodyPr>
          <a:lstStyle/>
          <a:p>
            <a:pPr marL="0" indent="0" algn="l">
              <a:buNone/>
            </a:pPr>
            <a:r>
              <a:rPr lang="en-US" sz="1650" dirty="0">
                <a:solidFill>
                  <a:srgbClr val="18A99B"/>
                </a:solidFill>
                <a:latin typeface="JetBrains Mono" pitchFamily="34" charset="0"/>
                <a:ea typeface="JetBrains Mono" pitchFamily="34" charset="-122"/>
                <a:cs typeface="JetBrains Mono" pitchFamily="34" charset="-120"/>
              </a:rPr>
              <a:t>~3 hrs of review</a:t>
            </a:r>
            <a:endParaRPr lang="en-US" sz="1650" dirty="0"/>
          </a:p>
        </p:txBody>
      </p:sp>
      <p:sp>
        <p:nvSpPr>
          <p:cNvPr id="57" name="Shape 18">
            <a:extLst>
              <a:ext uri="{FF2B5EF4-FFF2-40B4-BE49-F238E27FC236}">
                <a16:creationId xmlns:a16="http://schemas.microsoft.com/office/drawing/2014/main" id="{33C31D46-067B-D97F-071C-93003B854026}"/>
              </a:ext>
            </a:extLst>
          </p:cNvPr>
          <p:cNvSpPr/>
          <p:nvPr/>
        </p:nvSpPr>
        <p:spPr>
          <a:xfrm>
            <a:off x="1143000" y="5715000"/>
            <a:ext cx="7324427" cy="9525"/>
          </a:xfrm>
          <a:prstGeom prst="rect">
            <a:avLst/>
          </a:prstGeom>
          <a:solidFill>
            <a:srgbClr val="C9CBD1">
              <a:alpha val="10000"/>
            </a:srgbClr>
          </a:solidFill>
          <a:ln/>
        </p:spPr>
        <p:txBody>
          <a:bodyPr/>
          <a:lstStyle/>
          <a:p>
            <a:endParaRPr lang="en-US">
              <a:solidFill>
                <a:srgbClr val="FFFFFF"/>
              </a:solidFill>
            </a:endParaRPr>
          </a:p>
        </p:txBody>
      </p:sp>
      <p:sp>
        <p:nvSpPr>
          <p:cNvPr id="58" name="Text 19">
            <a:extLst>
              <a:ext uri="{FF2B5EF4-FFF2-40B4-BE49-F238E27FC236}">
                <a16:creationId xmlns:a16="http://schemas.microsoft.com/office/drawing/2014/main" id="{985BEE7B-03EE-F7ED-9210-5F743AEB270F}"/>
              </a:ext>
            </a:extLst>
          </p:cNvPr>
          <p:cNvSpPr/>
          <p:nvPr/>
        </p:nvSpPr>
        <p:spPr>
          <a:xfrm>
            <a:off x="1333500" y="5138738"/>
            <a:ext cx="7163160" cy="385763"/>
          </a:xfrm>
          <a:prstGeom prst="rect">
            <a:avLst/>
          </a:prstGeom>
          <a:noFill/>
          <a:ln/>
        </p:spPr>
        <p:txBody>
          <a:bodyPr wrap="square" lIns="25400" tIns="25400" rIns="25400" bIns="25400" rtlCol="0" anchor="t">
            <a:normAutofit/>
          </a:bodyPr>
          <a:lstStyle/>
          <a:p>
            <a:pPr marL="0" indent="0" algn="l">
              <a:buNone/>
            </a:pPr>
            <a:r>
              <a:rPr lang="en-US" sz="1950" b="1" kern="0" spc="-19" dirty="0">
                <a:solidFill>
                  <a:srgbClr val="FFFFFF"/>
                </a:solidFill>
                <a:latin typeface="Montserrat" pitchFamily="34" charset="0"/>
                <a:ea typeface="Montserrat" pitchFamily="34" charset="-122"/>
                <a:cs typeface="Montserrat" pitchFamily="34" charset="-120"/>
              </a:rPr>
              <a:t>Volunteer schedule</a:t>
            </a:r>
            <a:endParaRPr lang="en-US" sz="1950" dirty="0">
              <a:solidFill>
                <a:srgbClr val="FFFFFF"/>
              </a:solidFill>
            </a:endParaRPr>
          </a:p>
        </p:txBody>
      </p:sp>
      <p:sp>
        <p:nvSpPr>
          <p:cNvPr id="59" name="Shape 20">
            <a:extLst>
              <a:ext uri="{FF2B5EF4-FFF2-40B4-BE49-F238E27FC236}">
                <a16:creationId xmlns:a16="http://schemas.microsoft.com/office/drawing/2014/main" id="{8CDF02CB-4B96-F89B-60D8-66F09FFBB669}"/>
              </a:ext>
            </a:extLst>
          </p:cNvPr>
          <p:cNvSpPr/>
          <p:nvPr/>
        </p:nvSpPr>
        <p:spPr>
          <a:xfrm>
            <a:off x="8467427" y="5715000"/>
            <a:ext cx="3385691" cy="9525"/>
          </a:xfrm>
          <a:prstGeom prst="rect">
            <a:avLst/>
          </a:prstGeom>
          <a:solidFill>
            <a:srgbClr val="C9CBD1">
              <a:alpha val="10000"/>
            </a:srgbClr>
          </a:solidFill>
          <a:ln/>
        </p:spPr>
        <p:txBody>
          <a:bodyPr/>
          <a:lstStyle/>
          <a:p>
            <a:endParaRPr lang="en-US"/>
          </a:p>
        </p:txBody>
      </p:sp>
      <p:sp>
        <p:nvSpPr>
          <p:cNvPr id="60" name="Text 21">
            <a:extLst>
              <a:ext uri="{FF2B5EF4-FFF2-40B4-BE49-F238E27FC236}">
                <a16:creationId xmlns:a16="http://schemas.microsoft.com/office/drawing/2014/main" id="{4756B4F2-E27C-B90D-3CDC-86D49FEDBEA3}"/>
              </a:ext>
            </a:extLst>
          </p:cNvPr>
          <p:cNvSpPr/>
          <p:nvPr/>
        </p:nvSpPr>
        <p:spPr>
          <a:xfrm>
            <a:off x="8657927" y="5138738"/>
            <a:ext cx="3106262" cy="385763"/>
          </a:xfrm>
          <a:prstGeom prst="rect">
            <a:avLst/>
          </a:prstGeom>
          <a:noFill/>
          <a:ln/>
        </p:spPr>
        <p:txBody>
          <a:bodyPr wrap="square" lIns="25400" tIns="25400" rIns="25400" bIns="25400" rtlCol="0" anchor="t">
            <a:normAutofit/>
          </a:bodyPr>
          <a:lstStyle/>
          <a:p>
            <a:pPr marL="0" indent="0" algn="l">
              <a:buNone/>
            </a:pPr>
            <a:r>
              <a:rPr lang="en-US" sz="1500" strike="sngStrike" dirty="0">
                <a:solidFill>
                  <a:srgbClr val="C45F0E"/>
                </a:solidFill>
                <a:latin typeface="JetBrains Mono" pitchFamily="34" charset="0"/>
                <a:ea typeface="JetBrains Mono" pitchFamily="34" charset="-122"/>
                <a:cs typeface="JetBrains Mono" pitchFamily="34" charset="-120"/>
              </a:rPr>
              <a:t>4 hours</a:t>
            </a:r>
            <a:endParaRPr lang="en-US" sz="1500" dirty="0"/>
          </a:p>
        </p:txBody>
      </p:sp>
      <p:sp>
        <p:nvSpPr>
          <p:cNvPr id="61" name="Shape 22">
            <a:extLst>
              <a:ext uri="{FF2B5EF4-FFF2-40B4-BE49-F238E27FC236}">
                <a16:creationId xmlns:a16="http://schemas.microsoft.com/office/drawing/2014/main" id="{076BC766-9194-098A-7509-7D9E90C168ED}"/>
              </a:ext>
            </a:extLst>
          </p:cNvPr>
          <p:cNvSpPr/>
          <p:nvPr/>
        </p:nvSpPr>
        <p:spPr>
          <a:xfrm>
            <a:off x="11853118" y="5715000"/>
            <a:ext cx="952500" cy="9525"/>
          </a:xfrm>
          <a:prstGeom prst="rect">
            <a:avLst/>
          </a:prstGeom>
          <a:solidFill>
            <a:srgbClr val="C9CBD1">
              <a:alpha val="10000"/>
            </a:srgbClr>
          </a:solidFill>
          <a:ln/>
        </p:spPr>
        <p:txBody>
          <a:bodyPr/>
          <a:lstStyle/>
          <a:p>
            <a:endParaRPr lang="en-US"/>
          </a:p>
        </p:txBody>
      </p:sp>
      <p:sp>
        <p:nvSpPr>
          <p:cNvPr id="62" name="Text 23">
            <a:extLst>
              <a:ext uri="{FF2B5EF4-FFF2-40B4-BE49-F238E27FC236}">
                <a16:creationId xmlns:a16="http://schemas.microsoft.com/office/drawing/2014/main" id="{85E1FEB3-2397-133C-8AF0-E9ECA827D1DA}"/>
              </a:ext>
            </a:extLst>
          </p:cNvPr>
          <p:cNvSpPr/>
          <p:nvPr/>
        </p:nvSpPr>
        <p:spPr>
          <a:xfrm>
            <a:off x="12043618" y="5138738"/>
            <a:ext cx="647700" cy="38576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Montserrat" pitchFamily="34" charset="0"/>
                <a:ea typeface="Montserrat" pitchFamily="34" charset="-122"/>
                <a:cs typeface="Montserrat" pitchFamily="34" charset="-120"/>
              </a:rPr>
              <a:t>→</a:t>
            </a:r>
            <a:endParaRPr lang="en-US" sz="2250" dirty="0">
              <a:solidFill>
                <a:srgbClr val="C9CBD1"/>
              </a:solidFill>
            </a:endParaRPr>
          </a:p>
        </p:txBody>
      </p:sp>
      <p:sp>
        <p:nvSpPr>
          <p:cNvPr id="63" name="Shape 24">
            <a:extLst>
              <a:ext uri="{FF2B5EF4-FFF2-40B4-BE49-F238E27FC236}">
                <a16:creationId xmlns:a16="http://schemas.microsoft.com/office/drawing/2014/main" id="{296D3B23-3B87-E526-DBDE-3F6D5492B127}"/>
              </a:ext>
            </a:extLst>
          </p:cNvPr>
          <p:cNvSpPr/>
          <p:nvPr/>
        </p:nvSpPr>
        <p:spPr>
          <a:xfrm>
            <a:off x="12805618" y="5715000"/>
            <a:ext cx="4339382" cy="9525"/>
          </a:xfrm>
          <a:prstGeom prst="rect">
            <a:avLst/>
          </a:prstGeom>
          <a:solidFill>
            <a:srgbClr val="C9CBD1">
              <a:alpha val="10000"/>
            </a:srgbClr>
          </a:solidFill>
          <a:ln/>
        </p:spPr>
        <p:txBody>
          <a:bodyPr/>
          <a:lstStyle/>
          <a:p>
            <a:endParaRPr lang="en-US"/>
          </a:p>
        </p:txBody>
      </p:sp>
      <p:sp>
        <p:nvSpPr>
          <p:cNvPr id="64" name="Text 25">
            <a:extLst>
              <a:ext uri="{FF2B5EF4-FFF2-40B4-BE49-F238E27FC236}">
                <a16:creationId xmlns:a16="http://schemas.microsoft.com/office/drawing/2014/main" id="{DAF4BCA6-E31E-2C04-99BB-31CAC829E2BC}"/>
              </a:ext>
            </a:extLst>
          </p:cNvPr>
          <p:cNvSpPr/>
          <p:nvPr/>
        </p:nvSpPr>
        <p:spPr>
          <a:xfrm>
            <a:off x="12996118" y="5138738"/>
            <a:ext cx="4088563" cy="385763"/>
          </a:xfrm>
          <a:prstGeom prst="rect">
            <a:avLst/>
          </a:prstGeom>
          <a:noFill/>
          <a:ln/>
        </p:spPr>
        <p:txBody>
          <a:bodyPr wrap="square" lIns="25400" tIns="25400" rIns="25400" bIns="25400" rtlCol="0" anchor="t">
            <a:normAutofit/>
          </a:bodyPr>
          <a:lstStyle/>
          <a:p>
            <a:pPr marL="0" indent="0" algn="l">
              <a:buNone/>
            </a:pPr>
            <a:r>
              <a:rPr lang="en-US" sz="1650" dirty="0">
                <a:solidFill>
                  <a:srgbClr val="18A99B"/>
                </a:solidFill>
                <a:latin typeface="JetBrains Mono" pitchFamily="34" charset="0"/>
                <a:ea typeface="JetBrains Mono" pitchFamily="34" charset="-122"/>
                <a:cs typeface="JetBrains Mono" pitchFamily="34" charset="-120"/>
              </a:rPr>
              <a:t>15 minutes</a:t>
            </a:r>
            <a:endParaRPr lang="en-US" sz="1650" dirty="0"/>
          </a:p>
        </p:txBody>
      </p:sp>
      <p:sp>
        <p:nvSpPr>
          <p:cNvPr id="65" name="Shape 26">
            <a:extLst>
              <a:ext uri="{FF2B5EF4-FFF2-40B4-BE49-F238E27FC236}">
                <a16:creationId xmlns:a16="http://schemas.microsoft.com/office/drawing/2014/main" id="{098C0097-1A54-A97D-0E9E-B56EB6FA45EB}"/>
              </a:ext>
            </a:extLst>
          </p:cNvPr>
          <p:cNvSpPr/>
          <p:nvPr/>
        </p:nvSpPr>
        <p:spPr>
          <a:xfrm>
            <a:off x="1143000" y="6529388"/>
            <a:ext cx="7324427" cy="9525"/>
          </a:xfrm>
          <a:prstGeom prst="rect">
            <a:avLst/>
          </a:prstGeom>
          <a:solidFill>
            <a:srgbClr val="C9CBD1">
              <a:alpha val="10000"/>
            </a:srgbClr>
          </a:solidFill>
          <a:ln/>
        </p:spPr>
        <p:txBody>
          <a:bodyPr/>
          <a:lstStyle/>
          <a:p>
            <a:endParaRPr lang="en-US">
              <a:solidFill>
                <a:srgbClr val="FFFFFF"/>
              </a:solidFill>
            </a:endParaRPr>
          </a:p>
        </p:txBody>
      </p:sp>
      <p:sp>
        <p:nvSpPr>
          <p:cNvPr id="66" name="Text 27">
            <a:extLst>
              <a:ext uri="{FF2B5EF4-FFF2-40B4-BE49-F238E27FC236}">
                <a16:creationId xmlns:a16="http://schemas.microsoft.com/office/drawing/2014/main" id="{D1AFFF1A-B4F8-52DD-9CE1-ED848E18F9ED}"/>
              </a:ext>
            </a:extLst>
          </p:cNvPr>
          <p:cNvSpPr/>
          <p:nvPr/>
        </p:nvSpPr>
        <p:spPr>
          <a:xfrm>
            <a:off x="1333500" y="5953125"/>
            <a:ext cx="7163160" cy="385763"/>
          </a:xfrm>
          <a:prstGeom prst="rect">
            <a:avLst/>
          </a:prstGeom>
          <a:noFill/>
          <a:ln/>
        </p:spPr>
        <p:txBody>
          <a:bodyPr wrap="square" lIns="25400" tIns="25400" rIns="25400" bIns="25400" rtlCol="0" anchor="t">
            <a:normAutofit/>
          </a:bodyPr>
          <a:lstStyle/>
          <a:p>
            <a:pPr marL="0" indent="0" algn="l">
              <a:buNone/>
            </a:pPr>
            <a:r>
              <a:rPr lang="en-US" sz="1950" b="1" kern="0" spc="-19" dirty="0">
                <a:solidFill>
                  <a:srgbClr val="FFFFFF"/>
                </a:solidFill>
                <a:latin typeface="Montserrat" pitchFamily="34" charset="0"/>
                <a:ea typeface="Montserrat" pitchFamily="34" charset="-122"/>
                <a:cs typeface="Montserrat" pitchFamily="34" charset="-120"/>
              </a:rPr>
              <a:t>Sermon → discussion guide</a:t>
            </a:r>
            <a:endParaRPr lang="en-US" sz="1950" dirty="0">
              <a:solidFill>
                <a:srgbClr val="FFFFFF"/>
              </a:solidFill>
            </a:endParaRPr>
          </a:p>
        </p:txBody>
      </p:sp>
      <p:sp>
        <p:nvSpPr>
          <p:cNvPr id="67" name="Shape 28">
            <a:extLst>
              <a:ext uri="{FF2B5EF4-FFF2-40B4-BE49-F238E27FC236}">
                <a16:creationId xmlns:a16="http://schemas.microsoft.com/office/drawing/2014/main" id="{70D895BA-B05A-BADF-272C-3C0411988135}"/>
              </a:ext>
            </a:extLst>
          </p:cNvPr>
          <p:cNvSpPr/>
          <p:nvPr/>
        </p:nvSpPr>
        <p:spPr>
          <a:xfrm>
            <a:off x="8467427" y="6529388"/>
            <a:ext cx="3385691" cy="9525"/>
          </a:xfrm>
          <a:prstGeom prst="rect">
            <a:avLst/>
          </a:prstGeom>
          <a:solidFill>
            <a:srgbClr val="C9CBD1">
              <a:alpha val="10000"/>
            </a:srgbClr>
          </a:solidFill>
          <a:ln/>
        </p:spPr>
        <p:txBody>
          <a:bodyPr/>
          <a:lstStyle/>
          <a:p>
            <a:endParaRPr lang="en-US"/>
          </a:p>
        </p:txBody>
      </p:sp>
      <p:sp>
        <p:nvSpPr>
          <p:cNvPr id="68" name="Text 29">
            <a:extLst>
              <a:ext uri="{FF2B5EF4-FFF2-40B4-BE49-F238E27FC236}">
                <a16:creationId xmlns:a16="http://schemas.microsoft.com/office/drawing/2014/main" id="{BCA330AC-7737-AC1C-D22E-927DC95C65CE}"/>
              </a:ext>
            </a:extLst>
          </p:cNvPr>
          <p:cNvSpPr/>
          <p:nvPr/>
        </p:nvSpPr>
        <p:spPr>
          <a:xfrm>
            <a:off x="8657927" y="5953125"/>
            <a:ext cx="3106262" cy="385763"/>
          </a:xfrm>
          <a:prstGeom prst="rect">
            <a:avLst/>
          </a:prstGeom>
          <a:noFill/>
          <a:ln/>
        </p:spPr>
        <p:txBody>
          <a:bodyPr wrap="square" lIns="25400" tIns="25400" rIns="25400" bIns="25400" rtlCol="0" anchor="t">
            <a:normAutofit/>
          </a:bodyPr>
          <a:lstStyle/>
          <a:p>
            <a:pPr marL="0" indent="0" algn="l">
              <a:buNone/>
            </a:pPr>
            <a:r>
              <a:rPr lang="en-US" sz="1500" strike="sngStrike" dirty="0">
                <a:solidFill>
                  <a:srgbClr val="C45F0E"/>
                </a:solidFill>
                <a:latin typeface="JetBrains Mono" pitchFamily="34" charset="0"/>
                <a:ea typeface="JetBrains Mono" pitchFamily="34" charset="-122"/>
                <a:cs typeface="JetBrains Mono" pitchFamily="34" charset="-120"/>
              </a:rPr>
              <a:t>2 hours</a:t>
            </a:r>
            <a:endParaRPr lang="en-US" sz="1500" dirty="0"/>
          </a:p>
        </p:txBody>
      </p:sp>
      <p:sp>
        <p:nvSpPr>
          <p:cNvPr id="69" name="Shape 30">
            <a:extLst>
              <a:ext uri="{FF2B5EF4-FFF2-40B4-BE49-F238E27FC236}">
                <a16:creationId xmlns:a16="http://schemas.microsoft.com/office/drawing/2014/main" id="{04073427-A47D-BDFB-1A39-0BCB9B79D8C5}"/>
              </a:ext>
            </a:extLst>
          </p:cNvPr>
          <p:cNvSpPr/>
          <p:nvPr/>
        </p:nvSpPr>
        <p:spPr>
          <a:xfrm>
            <a:off x="11853118" y="6529388"/>
            <a:ext cx="952500" cy="9525"/>
          </a:xfrm>
          <a:prstGeom prst="rect">
            <a:avLst/>
          </a:prstGeom>
          <a:solidFill>
            <a:srgbClr val="C9CBD1">
              <a:alpha val="10000"/>
            </a:srgbClr>
          </a:solidFill>
          <a:ln/>
        </p:spPr>
        <p:txBody>
          <a:bodyPr/>
          <a:lstStyle/>
          <a:p>
            <a:endParaRPr lang="en-US"/>
          </a:p>
        </p:txBody>
      </p:sp>
      <p:sp>
        <p:nvSpPr>
          <p:cNvPr id="70" name="Text 31">
            <a:extLst>
              <a:ext uri="{FF2B5EF4-FFF2-40B4-BE49-F238E27FC236}">
                <a16:creationId xmlns:a16="http://schemas.microsoft.com/office/drawing/2014/main" id="{078F657F-F9A2-6F6C-B6D1-E5AB503E7675}"/>
              </a:ext>
            </a:extLst>
          </p:cNvPr>
          <p:cNvSpPr/>
          <p:nvPr/>
        </p:nvSpPr>
        <p:spPr>
          <a:xfrm>
            <a:off x="12043618" y="5953125"/>
            <a:ext cx="647700" cy="38576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Montserrat" pitchFamily="34" charset="0"/>
                <a:ea typeface="Montserrat" pitchFamily="34" charset="-122"/>
                <a:cs typeface="Montserrat" pitchFamily="34" charset="-120"/>
              </a:rPr>
              <a:t>→</a:t>
            </a:r>
            <a:endParaRPr lang="en-US" sz="2250" dirty="0">
              <a:solidFill>
                <a:srgbClr val="C9CBD1"/>
              </a:solidFill>
            </a:endParaRPr>
          </a:p>
        </p:txBody>
      </p:sp>
      <p:sp>
        <p:nvSpPr>
          <p:cNvPr id="71" name="Shape 32">
            <a:extLst>
              <a:ext uri="{FF2B5EF4-FFF2-40B4-BE49-F238E27FC236}">
                <a16:creationId xmlns:a16="http://schemas.microsoft.com/office/drawing/2014/main" id="{3FA6E9E2-3D49-5C8A-A08C-5301D6F64E71}"/>
              </a:ext>
            </a:extLst>
          </p:cNvPr>
          <p:cNvSpPr/>
          <p:nvPr/>
        </p:nvSpPr>
        <p:spPr>
          <a:xfrm>
            <a:off x="12805618" y="6529388"/>
            <a:ext cx="4339382" cy="9525"/>
          </a:xfrm>
          <a:prstGeom prst="rect">
            <a:avLst/>
          </a:prstGeom>
          <a:solidFill>
            <a:srgbClr val="C9CBD1">
              <a:alpha val="10000"/>
            </a:srgbClr>
          </a:solidFill>
          <a:ln/>
        </p:spPr>
        <p:txBody>
          <a:bodyPr/>
          <a:lstStyle/>
          <a:p>
            <a:endParaRPr lang="en-US"/>
          </a:p>
        </p:txBody>
      </p:sp>
      <p:sp>
        <p:nvSpPr>
          <p:cNvPr id="72" name="Text 33">
            <a:extLst>
              <a:ext uri="{FF2B5EF4-FFF2-40B4-BE49-F238E27FC236}">
                <a16:creationId xmlns:a16="http://schemas.microsoft.com/office/drawing/2014/main" id="{8FED3818-A334-96A6-2E53-EA358CCA5DB3}"/>
              </a:ext>
            </a:extLst>
          </p:cNvPr>
          <p:cNvSpPr/>
          <p:nvPr/>
        </p:nvSpPr>
        <p:spPr>
          <a:xfrm>
            <a:off x="12996118" y="5953125"/>
            <a:ext cx="4088563" cy="385763"/>
          </a:xfrm>
          <a:prstGeom prst="rect">
            <a:avLst/>
          </a:prstGeom>
          <a:noFill/>
          <a:ln/>
        </p:spPr>
        <p:txBody>
          <a:bodyPr wrap="square" lIns="25400" tIns="25400" rIns="25400" bIns="25400" rtlCol="0" anchor="t">
            <a:normAutofit/>
          </a:bodyPr>
          <a:lstStyle/>
          <a:p>
            <a:pPr marL="0" indent="0" algn="l">
              <a:buNone/>
            </a:pPr>
            <a:r>
              <a:rPr lang="en-US" sz="1650" dirty="0">
                <a:solidFill>
                  <a:srgbClr val="18A99B"/>
                </a:solidFill>
                <a:latin typeface="JetBrains Mono" pitchFamily="34" charset="0"/>
                <a:ea typeface="JetBrains Mono" pitchFamily="34" charset="-122"/>
                <a:cs typeface="JetBrains Mono" pitchFamily="34" charset="-120"/>
              </a:rPr>
              <a:t>15 minutes</a:t>
            </a:r>
            <a:endParaRPr lang="en-US" sz="1650" dirty="0"/>
          </a:p>
        </p:txBody>
      </p:sp>
      <p:sp>
        <p:nvSpPr>
          <p:cNvPr id="73" name="Shape 34">
            <a:extLst>
              <a:ext uri="{FF2B5EF4-FFF2-40B4-BE49-F238E27FC236}">
                <a16:creationId xmlns:a16="http://schemas.microsoft.com/office/drawing/2014/main" id="{A009807A-794C-674D-DFC2-C6913AE0589E}"/>
              </a:ext>
            </a:extLst>
          </p:cNvPr>
          <p:cNvSpPr/>
          <p:nvPr/>
        </p:nvSpPr>
        <p:spPr>
          <a:xfrm>
            <a:off x="1143000" y="7343775"/>
            <a:ext cx="7324427" cy="9525"/>
          </a:xfrm>
          <a:prstGeom prst="rect">
            <a:avLst/>
          </a:prstGeom>
          <a:solidFill>
            <a:srgbClr val="C9CBD1">
              <a:alpha val="10000"/>
            </a:srgbClr>
          </a:solidFill>
          <a:ln/>
        </p:spPr>
        <p:txBody>
          <a:bodyPr/>
          <a:lstStyle/>
          <a:p>
            <a:endParaRPr lang="en-US">
              <a:solidFill>
                <a:srgbClr val="FFFFFF"/>
              </a:solidFill>
            </a:endParaRPr>
          </a:p>
        </p:txBody>
      </p:sp>
      <p:sp>
        <p:nvSpPr>
          <p:cNvPr id="74" name="Text 35">
            <a:extLst>
              <a:ext uri="{FF2B5EF4-FFF2-40B4-BE49-F238E27FC236}">
                <a16:creationId xmlns:a16="http://schemas.microsoft.com/office/drawing/2014/main" id="{3B59AE00-AC42-D7B5-9B29-CC849BC463A9}"/>
              </a:ext>
            </a:extLst>
          </p:cNvPr>
          <p:cNvSpPr/>
          <p:nvPr/>
        </p:nvSpPr>
        <p:spPr>
          <a:xfrm>
            <a:off x="1333500" y="6767513"/>
            <a:ext cx="7163160" cy="385763"/>
          </a:xfrm>
          <a:prstGeom prst="rect">
            <a:avLst/>
          </a:prstGeom>
          <a:noFill/>
          <a:ln/>
        </p:spPr>
        <p:txBody>
          <a:bodyPr wrap="square" lIns="25400" tIns="25400" rIns="25400" bIns="25400" rtlCol="0" anchor="t">
            <a:normAutofit/>
          </a:bodyPr>
          <a:lstStyle/>
          <a:p>
            <a:pPr marL="0" indent="0" algn="l">
              <a:buNone/>
            </a:pPr>
            <a:r>
              <a:rPr lang="en-US" sz="1950" b="1" kern="0" spc="-19" dirty="0">
                <a:solidFill>
                  <a:srgbClr val="FFFFFF"/>
                </a:solidFill>
                <a:latin typeface="Montserrat" pitchFamily="34" charset="0"/>
                <a:ea typeface="Montserrat" pitchFamily="34" charset="-122"/>
                <a:cs typeface="Montserrat" pitchFamily="34" charset="-120"/>
              </a:rPr>
              <a:t>Pastoral "Waiting On" tracker</a:t>
            </a:r>
            <a:endParaRPr lang="en-US" sz="1950" dirty="0">
              <a:solidFill>
                <a:srgbClr val="FFFFFF"/>
              </a:solidFill>
            </a:endParaRPr>
          </a:p>
        </p:txBody>
      </p:sp>
      <p:sp>
        <p:nvSpPr>
          <p:cNvPr id="75" name="Shape 36">
            <a:extLst>
              <a:ext uri="{FF2B5EF4-FFF2-40B4-BE49-F238E27FC236}">
                <a16:creationId xmlns:a16="http://schemas.microsoft.com/office/drawing/2014/main" id="{DDD508A0-72F4-D934-34F0-953EF0304B64}"/>
              </a:ext>
            </a:extLst>
          </p:cNvPr>
          <p:cNvSpPr/>
          <p:nvPr/>
        </p:nvSpPr>
        <p:spPr>
          <a:xfrm>
            <a:off x="8467427" y="7343775"/>
            <a:ext cx="3385691" cy="9525"/>
          </a:xfrm>
          <a:prstGeom prst="rect">
            <a:avLst/>
          </a:prstGeom>
          <a:solidFill>
            <a:srgbClr val="C9CBD1">
              <a:alpha val="10000"/>
            </a:srgbClr>
          </a:solidFill>
          <a:ln/>
        </p:spPr>
        <p:txBody>
          <a:bodyPr/>
          <a:lstStyle/>
          <a:p>
            <a:endParaRPr lang="en-US"/>
          </a:p>
        </p:txBody>
      </p:sp>
      <p:sp>
        <p:nvSpPr>
          <p:cNvPr id="76" name="Text 37">
            <a:extLst>
              <a:ext uri="{FF2B5EF4-FFF2-40B4-BE49-F238E27FC236}">
                <a16:creationId xmlns:a16="http://schemas.microsoft.com/office/drawing/2014/main" id="{D208E9B3-5FEB-8AE4-7113-95A0FEE19BE0}"/>
              </a:ext>
            </a:extLst>
          </p:cNvPr>
          <p:cNvSpPr/>
          <p:nvPr/>
        </p:nvSpPr>
        <p:spPr>
          <a:xfrm>
            <a:off x="8657927" y="6767513"/>
            <a:ext cx="3106262" cy="385763"/>
          </a:xfrm>
          <a:prstGeom prst="rect">
            <a:avLst/>
          </a:prstGeom>
          <a:noFill/>
          <a:ln/>
        </p:spPr>
        <p:txBody>
          <a:bodyPr wrap="square" lIns="25400" tIns="25400" rIns="25400" bIns="25400" rtlCol="0" anchor="t">
            <a:normAutofit/>
          </a:bodyPr>
          <a:lstStyle/>
          <a:p>
            <a:pPr marL="0" indent="0" algn="l">
              <a:buNone/>
            </a:pPr>
            <a:r>
              <a:rPr lang="en-US" sz="1500" strike="sngStrike" dirty="0">
                <a:solidFill>
                  <a:srgbClr val="C45F0E"/>
                </a:solidFill>
                <a:latin typeface="JetBrains Mono" pitchFamily="34" charset="0"/>
                <a:ea typeface="JetBrains Mono" pitchFamily="34" charset="-122"/>
                <a:cs typeface="JetBrains Mono" pitchFamily="34" charset="-120"/>
              </a:rPr>
              <a:t>manual, stale</a:t>
            </a:r>
            <a:endParaRPr lang="en-US" sz="1500" dirty="0"/>
          </a:p>
        </p:txBody>
      </p:sp>
      <p:sp>
        <p:nvSpPr>
          <p:cNvPr id="77" name="Shape 38">
            <a:extLst>
              <a:ext uri="{FF2B5EF4-FFF2-40B4-BE49-F238E27FC236}">
                <a16:creationId xmlns:a16="http://schemas.microsoft.com/office/drawing/2014/main" id="{6683ADB6-23EA-7C6C-DE89-13636C727443}"/>
              </a:ext>
            </a:extLst>
          </p:cNvPr>
          <p:cNvSpPr/>
          <p:nvPr/>
        </p:nvSpPr>
        <p:spPr>
          <a:xfrm>
            <a:off x="11853118" y="7343775"/>
            <a:ext cx="952500" cy="9525"/>
          </a:xfrm>
          <a:prstGeom prst="rect">
            <a:avLst/>
          </a:prstGeom>
          <a:solidFill>
            <a:srgbClr val="C9CBD1">
              <a:alpha val="10000"/>
            </a:srgbClr>
          </a:solidFill>
          <a:ln/>
        </p:spPr>
        <p:txBody>
          <a:bodyPr/>
          <a:lstStyle/>
          <a:p>
            <a:endParaRPr lang="en-US"/>
          </a:p>
        </p:txBody>
      </p:sp>
      <p:sp>
        <p:nvSpPr>
          <p:cNvPr id="78" name="Text 39">
            <a:extLst>
              <a:ext uri="{FF2B5EF4-FFF2-40B4-BE49-F238E27FC236}">
                <a16:creationId xmlns:a16="http://schemas.microsoft.com/office/drawing/2014/main" id="{1A2F3C93-58AA-65A0-5FD6-63C9E425C6B4}"/>
              </a:ext>
            </a:extLst>
          </p:cNvPr>
          <p:cNvSpPr/>
          <p:nvPr/>
        </p:nvSpPr>
        <p:spPr>
          <a:xfrm>
            <a:off x="12043618" y="6767513"/>
            <a:ext cx="647700" cy="38576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Montserrat" pitchFamily="34" charset="0"/>
                <a:ea typeface="Montserrat" pitchFamily="34" charset="-122"/>
                <a:cs typeface="Montserrat" pitchFamily="34" charset="-120"/>
              </a:rPr>
              <a:t>→</a:t>
            </a:r>
            <a:endParaRPr lang="en-US" sz="2250" dirty="0">
              <a:solidFill>
                <a:srgbClr val="C9CBD1"/>
              </a:solidFill>
            </a:endParaRPr>
          </a:p>
        </p:txBody>
      </p:sp>
      <p:sp>
        <p:nvSpPr>
          <p:cNvPr id="79" name="Shape 40">
            <a:extLst>
              <a:ext uri="{FF2B5EF4-FFF2-40B4-BE49-F238E27FC236}">
                <a16:creationId xmlns:a16="http://schemas.microsoft.com/office/drawing/2014/main" id="{78D33AE7-C061-86D9-302E-CE295E38BA71}"/>
              </a:ext>
            </a:extLst>
          </p:cNvPr>
          <p:cNvSpPr/>
          <p:nvPr/>
        </p:nvSpPr>
        <p:spPr>
          <a:xfrm>
            <a:off x="12805618" y="7343775"/>
            <a:ext cx="4339382" cy="9525"/>
          </a:xfrm>
          <a:prstGeom prst="rect">
            <a:avLst/>
          </a:prstGeom>
          <a:solidFill>
            <a:srgbClr val="C9CBD1">
              <a:alpha val="10000"/>
            </a:srgbClr>
          </a:solidFill>
          <a:ln/>
        </p:spPr>
        <p:txBody>
          <a:bodyPr/>
          <a:lstStyle/>
          <a:p>
            <a:endParaRPr lang="en-US"/>
          </a:p>
        </p:txBody>
      </p:sp>
      <p:sp>
        <p:nvSpPr>
          <p:cNvPr id="80" name="Text 41">
            <a:extLst>
              <a:ext uri="{FF2B5EF4-FFF2-40B4-BE49-F238E27FC236}">
                <a16:creationId xmlns:a16="http://schemas.microsoft.com/office/drawing/2014/main" id="{9684455A-ACB8-6C2C-DFE2-417325EBC07A}"/>
              </a:ext>
            </a:extLst>
          </p:cNvPr>
          <p:cNvSpPr/>
          <p:nvPr/>
        </p:nvSpPr>
        <p:spPr>
          <a:xfrm>
            <a:off x="12996118" y="6767513"/>
            <a:ext cx="4088563" cy="385763"/>
          </a:xfrm>
          <a:prstGeom prst="rect">
            <a:avLst/>
          </a:prstGeom>
          <a:noFill/>
          <a:ln/>
        </p:spPr>
        <p:txBody>
          <a:bodyPr wrap="square" lIns="25400" tIns="25400" rIns="25400" bIns="25400" rtlCol="0" anchor="t">
            <a:normAutofit/>
          </a:bodyPr>
          <a:lstStyle/>
          <a:p>
            <a:pPr marL="0" indent="0" algn="l">
              <a:buNone/>
            </a:pPr>
            <a:r>
              <a:rPr lang="en-US" sz="1650" dirty="0">
                <a:solidFill>
                  <a:srgbClr val="18A99B"/>
                </a:solidFill>
                <a:latin typeface="JetBrains Mono" pitchFamily="34" charset="0"/>
                <a:ea typeface="JetBrains Mono" pitchFamily="34" charset="-122"/>
                <a:cs typeface="JetBrains Mono" pitchFamily="34" charset="-120"/>
              </a:rPr>
              <a:t>live, fresh</a:t>
            </a:r>
            <a:endParaRPr lang="en-US" sz="1650" dirty="0"/>
          </a:p>
        </p:txBody>
      </p:sp>
      <p:sp>
        <p:nvSpPr>
          <p:cNvPr id="81" name="Shape 42">
            <a:extLst>
              <a:ext uri="{FF2B5EF4-FFF2-40B4-BE49-F238E27FC236}">
                <a16:creationId xmlns:a16="http://schemas.microsoft.com/office/drawing/2014/main" id="{5D10E928-F143-355E-EBD8-498E743D6F9C}"/>
              </a:ext>
            </a:extLst>
          </p:cNvPr>
          <p:cNvSpPr/>
          <p:nvPr/>
        </p:nvSpPr>
        <p:spPr>
          <a:xfrm>
            <a:off x="1143000" y="8158163"/>
            <a:ext cx="7324427" cy="9525"/>
          </a:xfrm>
          <a:prstGeom prst="rect">
            <a:avLst/>
          </a:prstGeom>
          <a:solidFill>
            <a:srgbClr val="C9CBD1">
              <a:alpha val="10000"/>
            </a:srgbClr>
          </a:solidFill>
          <a:ln/>
        </p:spPr>
        <p:txBody>
          <a:bodyPr/>
          <a:lstStyle/>
          <a:p>
            <a:endParaRPr lang="en-US">
              <a:solidFill>
                <a:srgbClr val="FFFFFF"/>
              </a:solidFill>
            </a:endParaRPr>
          </a:p>
        </p:txBody>
      </p:sp>
      <p:sp>
        <p:nvSpPr>
          <p:cNvPr id="82" name="Text 43">
            <a:extLst>
              <a:ext uri="{FF2B5EF4-FFF2-40B4-BE49-F238E27FC236}">
                <a16:creationId xmlns:a16="http://schemas.microsoft.com/office/drawing/2014/main" id="{CA0227B1-8AA8-C171-1603-2F1532DBF231}"/>
              </a:ext>
            </a:extLst>
          </p:cNvPr>
          <p:cNvSpPr/>
          <p:nvPr/>
        </p:nvSpPr>
        <p:spPr>
          <a:xfrm>
            <a:off x="1333500" y="7581900"/>
            <a:ext cx="7163160" cy="385763"/>
          </a:xfrm>
          <a:prstGeom prst="rect">
            <a:avLst/>
          </a:prstGeom>
          <a:noFill/>
          <a:ln/>
        </p:spPr>
        <p:txBody>
          <a:bodyPr wrap="square" lIns="25400" tIns="25400" rIns="25400" bIns="25400" rtlCol="0" anchor="t">
            <a:normAutofit/>
          </a:bodyPr>
          <a:lstStyle/>
          <a:p>
            <a:pPr marL="0" indent="0" algn="l">
              <a:buNone/>
            </a:pPr>
            <a:r>
              <a:rPr lang="en-US" sz="1950" b="1" kern="0" spc="-19" dirty="0">
                <a:solidFill>
                  <a:srgbClr val="FFFFFF"/>
                </a:solidFill>
                <a:latin typeface="Montserrat" pitchFamily="34" charset="0"/>
                <a:ea typeface="Montserrat" pitchFamily="34" charset="-122"/>
                <a:cs typeface="Montserrat" pitchFamily="34" charset="-120"/>
              </a:rPr>
              <a:t>Weekly bulletin draft</a:t>
            </a:r>
            <a:endParaRPr lang="en-US" sz="1950" dirty="0">
              <a:solidFill>
                <a:srgbClr val="FFFFFF"/>
              </a:solidFill>
            </a:endParaRPr>
          </a:p>
        </p:txBody>
      </p:sp>
      <p:sp>
        <p:nvSpPr>
          <p:cNvPr id="83" name="Shape 44">
            <a:extLst>
              <a:ext uri="{FF2B5EF4-FFF2-40B4-BE49-F238E27FC236}">
                <a16:creationId xmlns:a16="http://schemas.microsoft.com/office/drawing/2014/main" id="{21A4B5B0-5BCA-E7F2-D8FC-EF364983F7DE}"/>
              </a:ext>
            </a:extLst>
          </p:cNvPr>
          <p:cNvSpPr/>
          <p:nvPr/>
        </p:nvSpPr>
        <p:spPr>
          <a:xfrm>
            <a:off x="8467427" y="8158163"/>
            <a:ext cx="3385691" cy="9525"/>
          </a:xfrm>
          <a:prstGeom prst="rect">
            <a:avLst/>
          </a:prstGeom>
          <a:solidFill>
            <a:srgbClr val="C9CBD1">
              <a:alpha val="10000"/>
            </a:srgbClr>
          </a:solidFill>
          <a:ln/>
        </p:spPr>
        <p:txBody>
          <a:bodyPr/>
          <a:lstStyle/>
          <a:p>
            <a:endParaRPr lang="en-US"/>
          </a:p>
        </p:txBody>
      </p:sp>
      <p:sp>
        <p:nvSpPr>
          <p:cNvPr id="84" name="Text 45">
            <a:extLst>
              <a:ext uri="{FF2B5EF4-FFF2-40B4-BE49-F238E27FC236}">
                <a16:creationId xmlns:a16="http://schemas.microsoft.com/office/drawing/2014/main" id="{369927FB-1A66-736A-C738-B9F265D6C911}"/>
              </a:ext>
            </a:extLst>
          </p:cNvPr>
          <p:cNvSpPr/>
          <p:nvPr/>
        </p:nvSpPr>
        <p:spPr>
          <a:xfrm>
            <a:off x="8657927" y="7581900"/>
            <a:ext cx="3106262" cy="385763"/>
          </a:xfrm>
          <a:prstGeom prst="rect">
            <a:avLst/>
          </a:prstGeom>
          <a:noFill/>
          <a:ln/>
        </p:spPr>
        <p:txBody>
          <a:bodyPr wrap="square" lIns="25400" tIns="25400" rIns="25400" bIns="25400" rtlCol="0" anchor="t">
            <a:normAutofit/>
          </a:bodyPr>
          <a:lstStyle/>
          <a:p>
            <a:pPr marL="0" indent="0" algn="l">
              <a:buNone/>
            </a:pPr>
            <a:r>
              <a:rPr lang="en-US" sz="1500" strike="sngStrike" dirty="0">
                <a:solidFill>
                  <a:srgbClr val="C45F0E"/>
                </a:solidFill>
                <a:latin typeface="JetBrains Mono" pitchFamily="34" charset="0"/>
                <a:ea typeface="JetBrains Mono" pitchFamily="34" charset="-122"/>
                <a:cs typeface="JetBrains Mono" pitchFamily="34" charset="-120"/>
              </a:rPr>
              <a:t>every Monday</a:t>
            </a:r>
            <a:endParaRPr lang="en-US" sz="1500" dirty="0"/>
          </a:p>
        </p:txBody>
      </p:sp>
      <p:sp>
        <p:nvSpPr>
          <p:cNvPr id="85" name="Shape 46">
            <a:extLst>
              <a:ext uri="{FF2B5EF4-FFF2-40B4-BE49-F238E27FC236}">
                <a16:creationId xmlns:a16="http://schemas.microsoft.com/office/drawing/2014/main" id="{E3F39290-E71E-0BA2-8F1D-DEACE7111E55}"/>
              </a:ext>
            </a:extLst>
          </p:cNvPr>
          <p:cNvSpPr/>
          <p:nvPr/>
        </p:nvSpPr>
        <p:spPr>
          <a:xfrm>
            <a:off x="11853118" y="8158163"/>
            <a:ext cx="952500" cy="9525"/>
          </a:xfrm>
          <a:prstGeom prst="rect">
            <a:avLst/>
          </a:prstGeom>
          <a:solidFill>
            <a:srgbClr val="C9CBD1">
              <a:alpha val="10000"/>
            </a:srgbClr>
          </a:solidFill>
          <a:ln/>
        </p:spPr>
        <p:txBody>
          <a:bodyPr/>
          <a:lstStyle/>
          <a:p>
            <a:endParaRPr lang="en-US"/>
          </a:p>
        </p:txBody>
      </p:sp>
      <p:sp>
        <p:nvSpPr>
          <p:cNvPr id="86" name="Text 47">
            <a:extLst>
              <a:ext uri="{FF2B5EF4-FFF2-40B4-BE49-F238E27FC236}">
                <a16:creationId xmlns:a16="http://schemas.microsoft.com/office/drawing/2014/main" id="{8923531D-2C09-74BA-3D9A-CFEBCDE5BF0B}"/>
              </a:ext>
            </a:extLst>
          </p:cNvPr>
          <p:cNvSpPr/>
          <p:nvPr/>
        </p:nvSpPr>
        <p:spPr>
          <a:xfrm>
            <a:off x="12043618" y="7581900"/>
            <a:ext cx="647700" cy="38576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Montserrat" pitchFamily="34" charset="0"/>
                <a:ea typeface="Montserrat" pitchFamily="34" charset="-122"/>
                <a:cs typeface="Montserrat" pitchFamily="34" charset="-120"/>
              </a:rPr>
              <a:t>→</a:t>
            </a:r>
            <a:endParaRPr lang="en-US" sz="2250" dirty="0">
              <a:solidFill>
                <a:srgbClr val="C9CBD1"/>
              </a:solidFill>
            </a:endParaRPr>
          </a:p>
        </p:txBody>
      </p:sp>
      <p:sp>
        <p:nvSpPr>
          <p:cNvPr id="87" name="Shape 48">
            <a:extLst>
              <a:ext uri="{FF2B5EF4-FFF2-40B4-BE49-F238E27FC236}">
                <a16:creationId xmlns:a16="http://schemas.microsoft.com/office/drawing/2014/main" id="{D39B1649-21EE-C567-4339-25D00DDC9CF4}"/>
              </a:ext>
            </a:extLst>
          </p:cNvPr>
          <p:cNvSpPr/>
          <p:nvPr/>
        </p:nvSpPr>
        <p:spPr>
          <a:xfrm>
            <a:off x="12805618" y="8158163"/>
            <a:ext cx="4339382" cy="9525"/>
          </a:xfrm>
          <a:prstGeom prst="rect">
            <a:avLst/>
          </a:prstGeom>
          <a:solidFill>
            <a:srgbClr val="C9CBD1">
              <a:alpha val="10000"/>
            </a:srgbClr>
          </a:solidFill>
          <a:ln/>
        </p:spPr>
        <p:txBody>
          <a:bodyPr/>
          <a:lstStyle/>
          <a:p>
            <a:endParaRPr lang="en-US"/>
          </a:p>
        </p:txBody>
      </p:sp>
      <p:sp>
        <p:nvSpPr>
          <p:cNvPr id="88" name="Text 49">
            <a:extLst>
              <a:ext uri="{FF2B5EF4-FFF2-40B4-BE49-F238E27FC236}">
                <a16:creationId xmlns:a16="http://schemas.microsoft.com/office/drawing/2014/main" id="{E1CD2A18-570F-D935-5A3E-CAB12AAB997D}"/>
              </a:ext>
            </a:extLst>
          </p:cNvPr>
          <p:cNvSpPr/>
          <p:nvPr/>
        </p:nvSpPr>
        <p:spPr>
          <a:xfrm>
            <a:off x="12996118" y="7581900"/>
            <a:ext cx="4088563" cy="385763"/>
          </a:xfrm>
          <a:prstGeom prst="rect">
            <a:avLst/>
          </a:prstGeom>
          <a:noFill/>
          <a:ln/>
        </p:spPr>
        <p:txBody>
          <a:bodyPr wrap="square" lIns="25400" tIns="25400" rIns="25400" bIns="25400" rtlCol="0" anchor="t">
            <a:normAutofit/>
          </a:bodyPr>
          <a:lstStyle/>
          <a:p>
            <a:pPr marL="0" indent="0" algn="l">
              <a:buNone/>
            </a:pPr>
            <a:r>
              <a:rPr lang="en-US" sz="1650" dirty="0">
                <a:solidFill>
                  <a:srgbClr val="18A99B"/>
                </a:solidFill>
                <a:latin typeface="JetBrains Mono" pitchFamily="34" charset="0"/>
                <a:ea typeface="JetBrains Mono" pitchFamily="34" charset="-122"/>
                <a:cs typeface="JetBrains Mono" pitchFamily="34" charset="-120"/>
              </a:rPr>
              <a:t>runs on schedule</a:t>
            </a:r>
            <a:endParaRPr lang="en-US" sz="1650" dirty="0"/>
          </a:p>
        </p:txBody>
      </p:sp>
      <p:sp>
        <p:nvSpPr>
          <p:cNvPr id="89" name="Shape 50">
            <a:extLst>
              <a:ext uri="{FF2B5EF4-FFF2-40B4-BE49-F238E27FC236}">
                <a16:creationId xmlns:a16="http://schemas.microsoft.com/office/drawing/2014/main" id="{FD0AB508-8A77-3FFB-DEA2-0649B91C6DAE}"/>
              </a:ext>
            </a:extLst>
          </p:cNvPr>
          <p:cNvSpPr/>
          <p:nvPr/>
        </p:nvSpPr>
        <p:spPr>
          <a:xfrm>
            <a:off x="1143000" y="8972550"/>
            <a:ext cx="7324427" cy="9525"/>
          </a:xfrm>
          <a:prstGeom prst="rect">
            <a:avLst/>
          </a:prstGeom>
          <a:solidFill>
            <a:srgbClr val="C9CBD1">
              <a:alpha val="10000"/>
            </a:srgbClr>
          </a:solidFill>
          <a:ln/>
        </p:spPr>
        <p:txBody>
          <a:bodyPr/>
          <a:lstStyle/>
          <a:p>
            <a:endParaRPr lang="en-US">
              <a:solidFill>
                <a:srgbClr val="FFFFFF"/>
              </a:solidFill>
            </a:endParaRPr>
          </a:p>
        </p:txBody>
      </p:sp>
      <p:sp>
        <p:nvSpPr>
          <p:cNvPr id="90" name="Text 51">
            <a:extLst>
              <a:ext uri="{FF2B5EF4-FFF2-40B4-BE49-F238E27FC236}">
                <a16:creationId xmlns:a16="http://schemas.microsoft.com/office/drawing/2014/main" id="{D1F0278F-625B-A115-A695-93A02A64D691}"/>
              </a:ext>
            </a:extLst>
          </p:cNvPr>
          <p:cNvSpPr/>
          <p:nvPr/>
        </p:nvSpPr>
        <p:spPr>
          <a:xfrm>
            <a:off x="1333500" y="8396288"/>
            <a:ext cx="7163160" cy="385763"/>
          </a:xfrm>
          <a:prstGeom prst="rect">
            <a:avLst/>
          </a:prstGeom>
          <a:noFill/>
          <a:ln/>
        </p:spPr>
        <p:txBody>
          <a:bodyPr wrap="square" lIns="25400" tIns="25400" rIns="25400" bIns="25400" rtlCol="0" anchor="t">
            <a:normAutofit/>
          </a:bodyPr>
          <a:lstStyle/>
          <a:p>
            <a:pPr marL="0" indent="0" algn="l">
              <a:buNone/>
            </a:pPr>
            <a:r>
              <a:rPr lang="en-US" sz="1950" b="1" kern="0" spc="-19" dirty="0">
                <a:solidFill>
                  <a:srgbClr val="FFFFFF"/>
                </a:solidFill>
                <a:latin typeface="Montserrat" pitchFamily="34" charset="0"/>
                <a:ea typeface="Montserrat" pitchFamily="34" charset="-122"/>
                <a:cs typeface="Montserrat" pitchFamily="34" charset="-120"/>
              </a:rPr>
              <a:t>Monthly board packet</a:t>
            </a:r>
            <a:endParaRPr lang="en-US" sz="1950" dirty="0">
              <a:solidFill>
                <a:srgbClr val="FFFFFF"/>
              </a:solidFill>
            </a:endParaRPr>
          </a:p>
        </p:txBody>
      </p:sp>
      <p:sp>
        <p:nvSpPr>
          <p:cNvPr id="91" name="Shape 52">
            <a:extLst>
              <a:ext uri="{FF2B5EF4-FFF2-40B4-BE49-F238E27FC236}">
                <a16:creationId xmlns:a16="http://schemas.microsoft.com/office/drawing/2014/main" id="{B96B41C4-712E-7CFC-8454-15BD47FACAA5}"/>
              </a:ext>
            </a:extLst>
          </p:cNvPr>
          <p:cNvSpPr/>
          <p:nvPr/>
        </p:nvSpPr>
        <p:spPr>
          <a:xfrm>
            <a:off x="8467427" y="8972550"/>
            <a:ext cx="3385691" cy="9525"/>
          </a:xfrm>
          <a:prstGeom prst="rect">
            <a:avLst/>
          </a:prstGeom>
          <a:solidFill>
            <a:srgbClr val="C9CBD1">
              <a:alpha val="10000"/>
            </a:srgbClr>
          </a:solidFill>
          <a:ln/>
        </p:spPr>
        <p:txBody>
          <a:bodyPr/>
          <a:lstStyle/>
          <a:p>
            <a:endParaRPr lang="en-US"/>
          </a:p>
        </p:txBody>
      </p:sp>
      <p:sp>
        <p:nvSpPr>
          <p:cNvPr id="92" name="Text 53">
            <a:extLst>
              <a:ext uri="{FF2B5EF4-FFF2-40B4-BE49-F238E27FC236}">
                <a16:creationId xmlns:a16="http://schemas.microsoft.com/office/drawing/2014/main" id="{7E6072AB-3A1F-D333-F911-F73FE1607EC5}"/>
              </a:ext>
            </a:extLst>
          </p:cNvPr>
          <p:cNvSpPr/>
          <p:nvPr/>
        </p:nvSpPr>
        <p:spPr>
          <a:xfrm>
            <a:off x="8657927" y="8396288"/>
            <a:ext cx="3106262" cy="385763"/>
          </a:xfrm>
          <a:prstGeom prst="rect">
            <a:avLst/>
          </a:prstGeom>
          <a:noFill/>
          <a:ln/>
        </p:spPr>
        <p:txBody>
          <a:bodyPr wrap="square" lIns="25400" tIns="25400" rIns="25400" bIns="25400" rtlCol="0" anchor="t">
            <a:normAutofit/>
          </a:bodyPr>
          <a:lstStyle/>
          <a:p>
            <a:pPr marL="0" indent="0" algn="l">
              <a:buNone/>
            </a:pPr>
            <a:r>
              <a:rPr lang="en-US" sz="1500" strike="sngStrike" dirty="0">
                <a:solidFill>
                  <a:srgbClr val="C45F0E"/>
                </a:solidFill>
                <a:latin typeface="JetBrains Mono" pitchFamily="34" charset="0"/>
                <a:ea typeface="JetBrains Mono" pitchFamily="34" charset="-122"/>
                <a:cs typeface="JetBrains Mono" pitchFamily="34" charset="-120"/>
              </a:rPr>
              <a:t>full day</a:t>
            </a:r>
            <a:endParaRPr lang="en-US" sz="1500" dirty="0"/>
          </a:p>
        </p:txBody>
      </p:sp>
      <p:sp>
        <p:nvSpPr>
          <p:cNvPr id="93" name="Shape 54">
            <a:extLst>
              <a:ext uri="{FF2B5EF4-FFF2-40B4-BE49-F238E27FC236}">
                <a16:creationId xmlns:a16="http://schemas.microsoft.com/office/drawing/2014/main" id="{55B8A441-DAF1-0D0C-CDD9-B0933802812B}"/>
              </a:ext>
            </a:extLst>
          </p:cNvPr>
          <p:cNvSpPr/>
          <p:nvPr/>
        </p:nvSpPr>
        <p:spPr>
          <a:xfrm>
            <a:off x="11853118" y="8972550"/>
            <a:ext cx="952500" cy="9525"/>
          </a:xfrm>
          <a:prstGeom prst="rect">
            <a:avLst/>
          </a:prstGeom>
          <a:solidFill>
            <a:srgbClr val="C9CBD1">
              <a:alpha val="10000"/>
            </a:srgbClr>
          </a:solidFill>
          <a:ln/>
        </p:spPr>
        <p:txBody>
          <a:bodyPr/>
          <a:lstStyle/>
          <a:p>
            <a:endParaRPr lang="en-US"/>
          </a:p>
        </p:txBody>
      </p:sp>
      <p:sp>
        <p:nvSpPr>
          <p:cNvPr id="94" name="Text 55">
            <a:extLst>
              <a:ext uri="{FF2B5EF4-FFF2-40B4-BE49-F238E27FC236}">
                <a16:creationId xmlns:a16="http://schemas.microsoft.com/office/drawing/2014/main" id="{E873C52D-6CBE-44DC-D161-D0F0F0C08164}"/>
              </a:ext>
            </a:extLst>
          </p:cNvPr>
          <p:cNvSpPr/>
          <p:nvPr/>
        </p:nvSpPr>
        <p:spPr>
          <a:xfrm>
            <a:off x="12043618" y="8396288"/>
            <a:ext cx="647700" cy="38576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Montserrat" pitchFamily="34" charset="0"/>
                <a:ea typeface="Montserrat" pitchFamily="34" charset="-122"/>
                <a:cs typeface="Montserrat" pitchFamily="34" charset="-120"/>
              </a:rPr>
              <a:t>→</a:t>
            </a:r>
            <a:endParaRPr lang="en-US" sz="2250" dirty="0">
              <a:solidFill>
                <a:srgbClr val="C9CBD1"/>
              </a:solidFill>
            </a:endParaRPr>
          </a:p>
        </p:txBody>
      </p:sp>
      <p:sp>
        <p:nvSpPr>
          <p:cNvPr id="95" name="Shape 56">
            <a:extLst>
              <a:ext uri="{FF2B5EF4-FFF2-40B4-BE49-F238E27FC236}">
                <a16:creationId xmlns:a16="http://schemas.microsoft.com/office/drawing/2014/main" id="{F4602C59-5E65-78CF-0A56-9538A158DF0F}"/>
              </a:ext>
            </a:extLst>
          </p:cNvPr>
          <p:cNvSpPr/>
          <p:nvPr/>
        </p:nvSpPr>
        <p:spPr>
          <a:xfrm>
            <a:off x="12805618" y="8972550"/>
            <a:ext cx="4339382" cy="9525"/>
          </a:xfrm>
          <a:prstGeom prst="rect">
            <a:avLst/>
          </a:prstGeom>
          <a:solidFill>
            <a:srgbClr val="C9CBD1">
              <a:alpha val="10000"/>
            </a:srgbClr>
          </a:solidFill>
          <a:ln/>
        </p:spPr>
        <p:txBody>
          <a:bodyPr/>
          <a:lstStyle/>
          <a:p>
            <a:endParaRPr lang="en-US"/>
          </a:p>
        </p:txBody>
      </p:sp>
      <p:sp>
        <p:nvSpPr>
          <p:cNvPr id="96" name="Text 57">
            <a:extLst>
              <a:ext uri="{FF2B5EF4-FFF2-40B4-BE49-F238E27FC236}">
                <a16:creationId xmlns:a16="http://schemas.microsoft.com/office/drawing/2014/main" id="{B976D647-A538-3423-DCCC-47E1FCD55DBB}"/>
              </a:ext>
            </a:extLst>
          </p:cNvPr>
          <p:cNvSpPr/>
          <p:nvPr/>
        </p:nvSpPr>
        <p:spPr>
          <a:xfrm>
            <a:off x="12996118" y="8396288"/>
            <a:ext cx="4088563" cy="385763"/>
          </a:xfrm>
          <a:prstGeom prst="rect">
            <a:avLst/>
          </a:prstGeom>
          <a:noFill/>
          <a:ln/>
        </p:spPr>
        <p:txBody>
          <a:bodyPr wrap="square" lIns="25400" tIns="25400" rIns="25400" bIns="25400" rtlCol="0" anchor="t">
            <a:normAutofit/>
          </a:bodyPr>
          <a:lstStyle/>
          <a:p>
            <a:pPr marL="0" indent="0" algn="l">
              <a:buNone/>
            </a:pPr>
            <a:r>
              <a:rPr lang="en-US" sz="1650" dirty="0">
                <a:solidFill>
                  <a:srgbClr val="18A99B"/>
                </a:solidFill>
                <a:latin typeface="JetBrains Mono" pitchFamily="34" charset="0"/>
                <a:ea typeface="JetBrains Mono" pitchFamily="34" charset="-122"/>
                <a:cs typeface="JetBrains Mono" pitchFamily="34" charset="-120"/>
              </a:rPr>
              <a:t>runs on schedule</a:t>
            </a:r>
            <a:endParaRPr lang="en-US" sz="1650" dirty="0"/>
          </a:p>
        </p:txBody>
      </p:sp>
    </p:spTree>
    <p:extLst>
      <p:ext uri="{BB962C8B-B14F-4D97-AF65-F5344CB8AC3E}">
        <p14:creationId xmlns:p14="http://schemas.microsoft.com/office/powerpoint/2010/main" val="1432048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81B7C578-0BE7-C3FD-647C-20BCF00804DA}"/>
            </a:ext>
          </a:extLst>
        </p:cNvPr>
        <p:cNvGrpSpPr/>
        <p:nvPr/>
      </p:nvGrpSpPr>
      <p:grpSpPr>
        <a:xfrm>
          <a:off x="0" y="0"/>
          <a:ext cx="0" cy="0"/>
          <a:chOff x="0" y="0"/>
          <a:chExt cx="0" cy="0"/>
        </a:xfrm>
      </p:grpSpPr>
      <p:sp>
        <p:nvSpPr>
          <p:cNvPr id="32" name="Shape 30">
            <a:extLst>
              <a:ext uri="{FF2B5EF4-FFF2-40B4-BE49-F238E27FC236}">
                <a16:creationId xmlns:a16="http://schemas.microsoft.com/office/drawing/2014/main" id="{D57B6310-B357-56CE-0545-CBE1219DD73A}"/>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3" name="Text 31">
            <a:extLst>
              <a:ext uri="{FF2B5EF4-FFF2-40B4-BE49-F238E27FC236}">
                <a16:creationId xmlns:a16="http://schemas.microsoft.com/office/drawing/2014/main" id="{5ADFC8A6-04CB-1CE5-B3AA-1E62D2F4274D}"/>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2" name="Text 0">
            <a:extLst>
              <a:ext uri="{FF2B5EF4-FFF2-40B4-BE49-F238E27FC236}">
                <a16:creationId xmlns:a16="http://schemas.microsoft.com/office/drawing/2014/main" id="{3EA1408B-C183-207F-2D83-ABA2CDDEC348}"/>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CLAUDE COWORK · BEST PRACTICES</a:t>
            </a:r>
            <a:endParaRPr lang="en-US" sz="1350" dirty="0"/>
          </a:p>
        </p:txBody>
      </p:sp>
      <p:sp>
        <p:nvSpPr>
          <p:cNvPr id="3" name="Text 1">
            <a:extLst>
              <a:ext uri="{FF2B5EF4-FFF2-40B4-BE49-F238E27FC236}">
                <a16:creationId xmlns:a16="http://schemas.microsoft.com/office/drawing/2014/main" id="{AFB50654-E0B5-CB0F-FDBC-58FBF65FBB11}"/>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Four habits that keep Cowork in line.</a:t>
            </a:r>
            <a:endParaRPr lang="en-US" sz="6300" dirty="0"/>
          </a:p>
        </p:txBody>
      </p:sp>
      <p:sp>
        <p:nvSpPr>
          <p:cNvPr id="4" name="Text 2">
            <a:extLst>
              <a:ext uri="{FF2B5EF4-FFF2-40B4-BE49-F238E27FC236}">
                <a16:creationId xmlns:a16="http://schemas.microsoft.com/office/drawing/2014/main" id="{04A0C6A2-7DFC-1C4F-4CC1-A40DEC293307}"/>
              </a:ext>
            </a:extLst>
          </p:cNvPr>
          <p:cNvSpPr/>
          <p:nvPr/>
        </p:nvSpPr>
        <p:spPr>
          <a:xfrm>
            <a:off x="1143000" y="2543175"/>
            <a:ext cx="1275397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Cowork has hands on real things. Set the rules of engagement first; let it run after.</a:t>
            </a:r>
            <a:endParaRPr lang="en-US" sz="1950" dirty="0"/>
          </a:p>
        </p:txBody>
      </p:sp>
      <p:sp>
        <p:nvSpPr>
          <p:cNvPr id="5" name="Shape 3">
            <a:extLst>
              <a:ext uri="{FF2B5EF4-FFF2-40B4-BE49-F238E27FC236}">
                <a16:creationId xmlns:a16="http://schemas.microsoft.com/office/drawing/2014/main" id="{4AD858AF-75FC-BBB3-088D-5781CD3D030C}"/>
              </a:ext>
            </a:extLst>
          </p:cNvPr>
          <p:cNvSpPr/>
          <p:nvPr/>
        </p:nvSpPr>
        <p:spPr>
          <a:xfrm>
            <a:off x="1143000" y="3600450"/>
            <a:ext cx="7886700" cy="1943100"/>
          </a:xfrm>
          <a:prstGeom prst="rect">
            <a:avLst/>
          </a:prstGeom>
          <a:solidFill>
            <a:srgbClr val="1B1D24"/>
          </a:solidFill>
          <a:ln/>
        </p:spPr>
        <p:txBody>
          <a:bodyPr/>
          <a:lstStyle/>
          <a:p>
            <a:endParaRPr lang="en-US"/>
          </a:p>
        </p:txBody>
      </p:sp>
      <p:sp>
        <p:nvSpPr>
          <p:cNvPr id="6" name="Shape 4">
            <a:extLst>
              <a:ext uri="{FF2B5EF4-FFF2-40B4-BE49-F238E27FC236}">
                <a16:creationId xmlns:a16="http://schemas.microsoft.com/office/drawing/2014/main" id="{38D7B9F0-C77A-3E17-8C6A-9D13A70307EB}"/>
              </a:ext>
            </a:extLst>
          </p:cNvPr>
          <p:cNvSpPr/>
          <p:nvPr/>
        </p:nvSpPr>
        <p:spPr>
          <a:xfrm>
            <a:off x="1143000" y="3600450"/>
            <a:ext cx="19050" cy="1943100"/>
          </a:xfrm>
          <a:prstGeom prst="rect">
            <a:avLst/>
          </a:prstGeom>
          <a:solidFill>
            <a:srgbClr val="3FE0D0"/>
          </a:solidFill>
          <a:ln/>
        </p:spPr>
        <p:txBody>
          <a:bodyPr/>
          <a:lstStyle/>
          <a:p>
            <a:endParaRPr lang="en-US"/>
          </a:p>
        </p:txBody>
      </p:sp>
      <p:sp>
        <p:nvSpPr>
          <p:cNvPr id="7" name="Text 5">
            <a:extLst>
              <a:ext uri="{FF2B5EF4-FFF2-40B4-BE49-F238E27FC236}">
                <a16:creationId xmlns:a16="http://schemas.microsoft.com/office/drawing/2014/main" id="{AD380043-2F21-6E8F-C777-4ACD68F18178}"/>
              </a:ext>
            </a:extLst>
          </p:cNvPr>
          <p:cNvSpPr/>
          <p:nvPr/>
        </p:nvSpPr>
        <p:spPr>
          <a:xfrm>
            <a:off x="2038350" y="41719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Make it ask before doing anything.</a:t>
            </a:r>
            <a:endParaRPr lang="en-US" sz="1950" dirty="0"/>
          </a:p>
        </p:txBody>
      </p:sp>
      <p:sp>
        <p:nvSpPr>
          <p:cNvPr id="9" name="Shape 7">
            <a:extLst>
              <a:ext uri="{FF2B5EF4-FFF2-40B4-BE49-F238E27FC236}">
                <a16:creationId xmlns:a16="http://schemas.microsoft.com/office/drawing/2014/main" id="{77A04365-1D3E-5B40-B693-C6BB02E40456}"/>
              </a:ext>
            </a:extLst>
          </p:cNvPr>
          <p:cNvSpPr/>
          <p:nvPr/>
        </p:nvSpPr>
        <p:spPr>
          <a:xfrm>
            <a:off x="9258300" y="3600450"/>
            <a:ext cx="7886700" cy="1943100"/>
          </a:xfrm>
          <a:prstGeom prst="rect">
            <a:avLst/>
          </a:prstGeom>
          <a:solidFill>
            <a:srgbClr val="1B1D24"/>
          </a:solidFill>
          <a:ln/>
        </p:spPr>
        <p:txBody>
          <a:bodyPr/>
          <a:lstStyle/>
          <a:p>
            <a:endParaRPr lang="en-US"/>
          </a:p>
        </p:txBody>
      </p:sp>
      <p:sp>
        <p:nvSpPr>
          <p:cNvPr id="10" name="Shape 8">
            <a:extLst>
              <a:ext uri="{FF2B5EF4-FFF2-40B4-BE49-F238E27FC236}">
                <a16:creationId xmlns:a16="http://schemas.microsoft.com/office/drawing/2014/main" id="{FB7A3E2B-2679-AC5A-C662-179A0A09C4D1}"/>
              </a:ext>
            </a:extLst>
          </p:cNvPr>
          <p:cNvSpPr/>
          <p:nvPr/>
        </p:nvSpPr>
        <p:spPr>
          <a:xfrm>
            <a:off x="9258300" y="3600450"/>
            <a:ext cx="19050" cy="1943100"/>
          </a:xfrm>
          <a:prstGeom prst="rect">
            <a:avLst/>
          </a:prstGeom>
          <a:solidFill>
            <a:srgbClr val="3FE0D0"/>
          </a:solidFill>
          <a:ln/>
        </p:spPr>
        <p:txBody>
          <a:bodyPr/>
          <a:lstStyle/>
          <a:p>
            <a:endParaRPr lang="en-US"/>
          </a:p>
        </p:txBody>
      </p:sp>
      <p:sp>
        <p:nvSpPr>
          <p:cNvPr id="11" name="Text 9">
            <a:extLst>
              <a:ext uri="{FF2B5EF4-FFF2-40B4-BE49-F238E27FC236}">
                <a16:creationId xmlns:a16="http://schemas.microsoft.com/office/drawing/2014/main" id="{5608A999-105F-8E75-7573-0B4E60623CC4}"/>
              </a:ext>
            </a:extLst>
          </p:cNvPr>
          <p:cNvSpPr/>
          <p:nvPr/>
        </p:nvSpPr>
        <p:spPr>
          <a:xfrm>
            <a:off x="10153650" y="41719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Point at a folder, not your whole computer.</a:t>
            </a:r>
            <a:endParaRPr lang="en-US" sz="1950" dirty="0"/>
          </a:p>
        </p:txBody>
      </p:sp>
      <p:sp>
        <p:nvSpPr>
          <p:cNvPr id="13" name="Shape 11">
            <a:extLst>
              <a:ext uri="{FF2B5EF4-FFF2-40B4-BE49-F238E27FC236}">
                <a16:creationId xmlns:a16="http://schemas.microsoft.com/office/drawing/2014/main" id="{6740003D-506E-CED6-D999-5CA8BD2672D5}"/>
              </a:ext>
            </a:extLst>
          </p:cNvPr>
          <p:cNvSpPr/>
          <p:nvPr/>
        </p:nvSpPr>
        <p:spPr>
          <a:xfrm>
            <a:off x="1143000" y="5772150"/>
            <a:ext cx="7886700" cy="1943100"/>
          </a:xfrm>
          <a:prstGeom prst="rect">
            <a:avLst/>
          </a:prstGeom>
          <a:solidFill>
            <a:srgbClr val="1B1D24"/>
          </a:solidFill>
          <a:ln/>
        </p:spPr>
        <p:txBody>
          <a:bodyPr/>
          <a:lstStyle/>
          <a:p>
            <a:endParaRPr lang="en-US"/>
          </a:p>
        </p:txBody>
      </p:sp>
      <p:sp>
        <p:nvSpPr>
          <p:cNvPr id="14" name="Shape 12">
            <a:extLst>
              <a:ext uri="{FF2B5EF4-FFF2-40B4-BE49-F238E27FC236}">
                <a16:creationId xmlns:a16="http://schemas.microsoft.com/office/drawing/2014/main" id="{57D6A352-B540-1C59-B0F2-565E44A5D0E3}"/>
              </a:ext>
            </a:extLst>
          </p:cNvPr>
          <p:cNvSpPr/>
          <p:nvPr/>
        </p:nvSpPr>
        <p:spPr>
          <a:xfrm>
            <a:off x="1143000" y="5772150"/>
            <a:ext cx="19050" cy="1943100"/>
          </a:xfrm>
          <a:prstGeom prst="rect">
            <a:avLst/>
          </a:prstGeom>
          <a:solidFill>
            <a:srgbClr val="3FE0D0"/>
          </a:solidFill>
          <a:ln/>
        </p:spPr>
        <p:txBody>
          <a:bodyPr/>
          <a:lstStyle/>
          <a:p>
            <a:endParaRPr lang="en-US"/>
          </a:p>
        </p:txBody>
      </p:sp>
      <p:sp>
        <p:nvSpPr>
          <p:cNvPr id="15" name="Text 13">
            <a:extLst>
              <a:ext uri="{FF2B5EF4-FFF2-40B4-BE49-F238E27FC236}">
                <a16:creationId xmlns:a16="http://schemas.microsoft.com/office/drawing/2014/main" id="{E4711FE0-2995-F751-D4CA-B475CD5011DF}"/>
              </a:ext>
            </a:extLst>
          </p:cNvPr>
          <p:cNvSpPr/>
          <p:nvPr/>
        </p:nvSpPr>
        <p:spPr>
          <a:xfrm>
            <a:off x="2038350" y="63436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Save the recurring stuff as a scheduled task.</a:t>
            </a:r>
            <a:endParaRPr lang="en-US" sz="1950" dirty="0"/>
          </a:p>
        </p:txBody>
      </p:sp>
      <p:sp>
        <p:nvSpPr>
          <p:cNvPr id="17" name="Shape 15">
            <a:extLst>
              <a:ext uri="{FF2B5EF4-FFF2-40B4-BE49-F238E27FC236}">
                <a16:creationId xmlns:a16="http://schemas.microsoft.com/office/drawing/2014/main" id="{249AE052-EC3C-C5AE-6642-D970AE9DA523}"/>
              </a:ext>
            </a:extLst>
          </p:cNvPr>
          <p:cNvSpPr/>
          <p:nvPr/>
        </p:nvSpPr>
        <p:spPr>
          <a:xfrm>
            <a:off x="9258300" y="5772150"/>
            <a:ext cx="7886700" cy="1943100"/>
          </a:xfrm>
          <a:prstGeom prst="rect">
            <a:avLst/>
          </a:prstGeom>
          <a:solidFill>
            <a:srgbClr val="1B1D24"/>
          </a:solidFill>
          <a:ln/>
        </p:spPr>
        <p:txBody>
          <a:bodyPr/>
          <a:lstStyle/>
          <a:p>
            <a:endParaRPr lang="en-US"/>
          </a:p>
        </p:txBody>
      </p:sp>
      <p:sp>
        <p:nvSpPr>
          <p:cNvPr id="18" name="Shape 16">
            <a:extLst>
              <a:ext uri="{FF2B5EF4-FFF2-40B4-BE49-F238E27FC236}">
                <a16:creationId xmlns:a16="http://schemas.microsoft.com/office/drawing/2014/main" id="{F76297E7-6356-8B24-8F3B-BE1AACE15315}"/>
              </a:ext>
            </a:extLst>
          </p:cNvPr>
          <p:cNvSpPr/>
          <p:nvPr/>
        </p:nvSpPr>
        <p:spPr>
          <a:xfrm>
            <a:off x="9258300" y="5772150"/>
            <a:ext cx="19050" cy="1943100"/>
          </a:xfrm>
          <a:prstGeom prst="rect">
            <a:avLst/>
          </a:prstGeom>
          <a:solidFill>
            <a:srgbClr val="3FE0D0"/>
          </a:solidFill>
          <a:ln/>
        </p:spPr>
        <p:txBody>
          <a:bodyPr/>
          <a:lstStyle/>
          <a:p>
            <a:endParaRPr lang="en-US"/>
          </a:p>
        </p:txBody>
      </p:sp>
      <p:sp>
        <p:nvSpPr>
          <p:cNvPr id="19" name="Text 17">
            <a:extLst>
              <a:ext uri="{FF2B5EF4-FFF2-40B4-BE49-F238E27FC236}">
                <a16:creationId xmlns:a16="http://schemas.microsoft.com/office/drawing/2014/main" id="{17E3DC62-E43B-F47A-2C60-1863597E9642}"/>
              </a:ext>
            </a:extLst>
          </p:cNvPr>
          <p:cNvSpPr/>
          <p:nvPr/>
        </p:nvSpPr>
        <p:spPr>
          <a:xfrm>
            <a:off x="10153650" y="63436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Keep your laptop awake while it's working.</a:t>
            </a:r>
            <a:endParaRPr lang="en-US" sz="1950" dirty="0"/>
          </a:p>
        </p:txBody>
      </p:sp>
    </p:spTree>
    <p:extLst>
      <p:ext uri="{BB962C8B-B14F-4D97-AF65-F5344CB8AC3E}">
        <p14:creationId xmlns:p14="http://schemas.microsoft.com/office/powerpoint/2010/main" val="496511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7924056" y="2558353"/>
            <a:ext cx="2439814" cy="247650"/>
          </a:xfrm>
          <a:prstGeom prst="rect">
            <a:avLst/>
          </a:prstGeom>
          <a:noFill/>
          <a:ln/>
        </p:spPr>
        <p:txBody>
          <a:bodyPr wrap="square" lIns="25400" tIns="25400" rIns="25400" bIns="25400" rtlCol="0" anchor="t">
            <a:normAutofit lnSpcReduction="10000"/>
          </a:bodyPr>
          <a:lstStyle/>
          <a:p>
            <a:pPr marL="0" indent="0" algn="ctr">
              <a:buNone/>
            </a:pPr>
            <a:r>
              <a:rPr lang="en-US" sz="1350" b="1" kern="0" spc="378" dirty="0">
                <a:solidFill>
                  <a:srgbClr val="F58220"/>
                </a:solidFill>
                <a:latin typeface="Inter" pitchFamily="34" charset="0"/>
                <a:ea typeface="Inter" pitchFamily="34" charset="-122"/>
                <a:cs typeface="Inter" pitchFamily="34" charset="-120"/>
              </a:rPr>
              <a:t>LEARNING · 3 OF 5</a:t>
            </a:r>
            <a:endParaRPr lang="en-US" sz="1350" dirty="0"/>
          </a:p>
        </p:txBody>
      </p:sp>
      <p:sp>
        <p:nvSpPr>
          <p:cNvPr id="3" name="Text 1"/>
          <p:cNvSpPr/>
          <p:nvPr/>
        </p:nvSpPr>
        <p:spPr>
          <a:xfrm>
            <a:off x="1785938" y="3305175"/>
            <a:ext cx="14716125" cy="3543300"/>
          </a:xfrm>
          <a:prstGeom prst="rect">
            <a:avLst/>
          </a:prstGeom>
          <a:noFill/>
          <a:ln/>
        </p:spPr>
        <p:txBody>
          <a:bodyPr wrap="square" lIns="25400" tIns="25400" rIns="25400" bIns="25400" rtlCol="0" anchor="t">
            <a:normAutofit fontScale="92500" lnSpcReduction="20000"/>
          </a:bodyPr>
          <a:lstStyle/>
          <a:p>
            <a:pPr marL="0" indent="0" algn="ctr">
              <a:lnSpc>
                <a:spcPct val="92000"/>
              </a:lnSpc>
              <a:buNone/>
            </a:pPr>
            <a:r>
              <a:rPr lang="en-US" sz="15000" b="1" kern="0" spc="-375" dirty="0">
                <a:solidFill>
                  <a:srgbClr val="14161C"/>
                </a:solidFill>
                <a:latin typeface="Montserrat" pitchFamily="34" charset="0"/>
                <a:ea typeface="Montserrat" pitchFamily="34" charset="-122"/>
                <a:cs typeface="Montserrat" pitchFamily="34" charset="-120"/>
              </a:rPr>
              <a:t>Ask me questions.</a:t>
            </a:r>
            <a:endParaRPr lang="en-US" sz="15000" dirty="0"/>
          </a:p>
        </p:txBody>
      </p:sp>
      <p:sp>
        <p:nvSpPr>
          <p:cNvPr id="4" name="Text 2"/>
          <p:cNvSpPr/>
          <p:nvPr/>
        </p:nvSpPr>
        <p:spPr>
          <a:xfrm>
            <a:off x="7006791" y="7153275"/>
            <a:ext cx="4274344"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3A3D49"/>
                </a:solidFill>
                <a:latin typeface="Inter" pitchFamily="34" charset="0"/>
                <a:ea typeface="Inter" pitchFamily="34" charset="-122"/>
                <a:cs typeface="Inter" pitchFamily="34" charset="-120"/>
              </a:rPr>
              <a:t>Three words that fix bad output.</a:t>
            </a:r>
            <a:endParaRPr lang="en-US" sz="2250" dirty="0"/>
          </a:p>
        </p:txBody>
      </p:sp>
      <p:sp>
        <p:nvSpPr>
          <p:cNvPr id="5" name="Shape 3"/>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6" name="Text 4"/>
          <p:cNvSpPr/>
          <p:nvPr/>
        </p:nvSpPr>
        <p:spPr>
          <a:xfrm>
            <a:off x="1085850" y="9653588"/>
            <a:ext cx="2276475" cy="214313"/>
          </a:xfrm>
          <a:prstGeom prst="rect">
            <a:avLst/>
          </a:prstGeom>
          <a:noFill/>
          <a:ln/>
        </p:spPr>
        <p:txBody>
          <a:bodyPr wrap="square" lIns="0" tIns="0" rIns="0" bIns="0" rtlCol="0" anchor="t">
            <a:normAutofit/>
          </a:bodyPr>
          <a:lstStyle/>
          <a:p>
            <a:pPr marL="0" indent="0" algn="ctr">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
        <p:nvSpPr>
          <p:cNvPr id="8" name="Shape 0">
            <a:extLst>
              <a:ext uri="{FF2B5EF4-FFF2-40B4-BE49-F238E27FC236}">
                <a16:creationId xmlns:a16="http://schemas.microsoft.com/office/drawing/2014/main" id="{5EA19B74-0662-0462-F9DE-BCB66BA49BA6}"/>
              </a:ext>
            </a:extLst>
          </p:cNvPr>
          <p:cNvSpPr/>
          <p:nvPr/>
        </p:nvSpPr>
        <p:spPr>
          <a:xfrm>
            <a:off x="7649474" y="2428794"/>
            <a:ext cx="2989052" cy="461238"/>
          </a:xfrm>
          <a:prstGeom prst="roundRect">
            <a:avLst>
              <a:gd name="adj" fmla="val 70321"/>
            </a:avLst>
          </a:prstGeom>
          <a:noFill/>
          <a:ln w="7620">
            <a:solidFill>
              <a:srgbClr val="F39425"/>
            </a:solidFill>
            <a:prstDash val="solid"/>
          </a:ln>
        </p:spPr>
        <p:txBody>
          <a:bodyPr/>
          <a:lstStyle/>
          <a:p>
            <a:endParaRPr lang="en-US" sz="15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LEARNING · 3 OF 5</a:t>
            </a:r>
            <a:endParaRPr lang="en-US" sz="1350" dirty="0"/>
          </a:p>
        </p:txBody>
      </p:sp>
      <p:sp>
        <p:nvSpPr>
          <p:cNvPr id="3" name="Text 1"/>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Let AI run the interview.</a:t>
            </a:r>
            <a:endParaRPr lang="en-US" sz="6300" dirty="0"/>
          </a:p>
        </p:txBody>
      </p:sp>
      <p:sp>
        <p:nvSpPr>
          <p:cNvPr id="4" name="Text 2"/>
          <p:cNvSpPr/>
          <p:nvPr/>
        </p:nvSpPr>
        <p:spPr>
          <a:xfrm>
            <a:off x="1143000" y="2552700"/>
            <a:ext cx="16482060"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Stop trying to prompt-engineer in one shot. Make it ask.</a:t>
            </a:r>
            <a:endParaRPr lang="en-US" sz="1950" dirty="0"/>
          </a:p>
        </p:txBody>
      </p:sp>
      <p:sp>
        <p:nvSpPr>
          <p:cNvPr id="5" name="Shape 3"/>
          <p:cNvSpPr/>
          <p:nvPr/>
        </p:nvSpPr>
        <p:spPr>
          <a:xfrm>
            <a:off x="1143000" y="3690937"/>
            <a:ext cx="4953000" cy="2062163"/>
          </a:xfrm>
          <a:prstGeom prst="rect">
            <a:avLst/>
          </a:prstGeom>
          <a:solidFill>
            <a:srgbClr val="1B1D24"/>
          </a:solidFill>
          <a:ln/>
        </p:spPr>
        <p:txBody>
          <a:bodyPr/>
          <a:lstStyle/>
          <a:p>
            <a:endParaRPr lang="en-US"/>
          </a:p>
        </p:txBody>
      </p:sp>
      <p:sp>
        <p:nvSpPr>
          <p:cNvPr id="6" name="Shape 4"/>
          <p:cNvSpPr/>
          <p:nvPr/>
        </p:nvSpPr>
        <p:spPr>
          <a:xfrm>
            <a:off x="1143000" y="3690937"/>
            <a:ext cx="4953000" cy="28575"/>
          </a:xfrm>
          <a:prstGeom prst="rect">
            <a:avLst/>
          </a:prstGeom>
          <a:solidFill>
            <a:srgbClr val="3FE0D0"/>
          </a:solidFill>
          <a:ln/>
        </p:spPr>
        <p:txBody>
          <a:bodyPr/>
          <a:lstStyle/>
          <a:p>
            <a:endParaRPr lang="en-US"/>
          </a:p>
        </p:txBody>
      </p:sp>
      <p:sp>
        <p:nvSpPr>
          <p:cNvPr id="7" name="Text 5"/>
          <p:cNvSpPr/>
          <p:nvPr/>
        </p:nvSpPr>
        <p:spPr>
          <a:xfrm>
            <a:off x="1447800" y="4062412"/>
            <a:ext cx="4473702" cy="214313"/>
          </a:xfrm>
          <a:prstGeom prst="rect">
            <a:avLst/>
          </a:prstGeom>
          <a:noFill/>
          <a:ln/>
        </p:spPr>
        <p:txBody>
          <a:bodyPr wrap="square" lIns="25400" tIns="25400" rIns="25400" bIns="25400" rtlCol="0" anchor="t">
            <a:normAutofit/>
          </a:bodyPr>
          <a:lstStyle/>
          <a:p>
            <a:pPr marL="0" indent="0" algn="l">
              <a:buNone/>
            </a:pPr>
            <a:r>
              <a:rPr lang="en-US" sz="1050" kern="0" spc="189" dirty="0">
                <a:solidFill>
                  <a:srgbClr val="9A9CA4"/>
                </a:solidFill>
                <a:latin typeface="JetBrains Mono" pitchFamily="34" charset="0"/>
                <a:ea typeface="JetBrains Mono" pitchFamily="34" charset="-122"/>
                <a:cs typeface="JetBrains Mono" pitchFamily="34" charset="-120"/>
              </a:rPr>
              <a:t>STEP 01 · VAGUE</a:t>
            </a:r>
            <a:endParaRPr lang="en-US" sz="1050" dirty="0"/>
          </a:p>
        </p:txBody>
      </p:sp>
      <p:sp>
        <p:nvSpPr>
          <p:cNvPr id="8" name="Text 6"/>
          <p:cNvSpPr/>
          <p:nvPr/>
        </p:nvSpPr>
        <p:spPr>
          <a:xfrm>
            <a:off x="1447800" y="4391025"/>
            <a:ext cx="4473702" cy="361950"/>
          </a:xfrm>
          <a:prstGeom prst="rect">
            <a:avLst/>
          </a:prstGeom>
          <a:noFill/>
          <a:ln/>
        </p:spPr>
        <p:txBody>
          <a:bodyPr wrap="square" lIns="25400" tIns="25400" rIns="25400" bIns="25400" rtlCol="0" anchor="t">
            <a:normAutofit lnSpcReduction="10000"/>
          </a:bodyPr>
          <a:lstStyle/>
          <a:p>
            <a:pPr marL="0" indent="0" algn="l">
              <a:buNone/>
            </a:pPr>
            <a:r>
              <a:rPr lang="en-US" sz="2100" b="1" kern="0" spc="-21" dirty="0">
                <a:solidFill>
                  <a:srgbClr val="FFFFFF"/>
                </a:solidFill>
                <a:latin typeface="Montserrat" pitchFamily="34" charset="0"/>
                <a:ea typeface="Montserrat" pitchFamily="34" charset="-122"/>
                <a:cs typeface="Montserrat" pitchFamily="34" charset="-120"/>
              </a:rPr>
              <a:t>You ask.</a:t>
            </a:r>
            <a:endParaRPr lang="en-US" sz="2100" dirty="0"/>
          </a:p>
        </p:txBody>
      </p:sp>
      <p:sp>
        <p:nvSpPr>
          <p:cNvPr id="9" name="Text 7"/>
          <p:cNvSpPr/>
          <p:nvPr/>
        </p:nvSpPr>
        <p:spPr>
          <a:xfrm>
            <a:off x="1447800" y="4867275"/>
            <a:ext cx="447370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JetBrains Mono" pitchFamily="34" charset="0"/>
                <a:ea typeface="JetBrains Mono" pitchFamily="34" charset="-122"/>
                <a:cs typeface="JetBrains Mono" pitchFamily="34" charset="-120"/>
              </a:rPr>
              <a:t>"Help me plan an outreach event."</a:t>
            </a:r>
            <a:endParaRPr lang="en-US" sz="1425" dirty="0"/>
          </a:p>
        </p:txBody>
      </p:sp>
      <p:sp>
        <p:nvSpPr>
          <p:cNvPr id="10" name="Text 8"/>
          <p:cNvSpPr/>
          <p:nvPr/>
        </p:nvSpPr>
        <p:spPr>
          <a:xfrm>
            <a:off x="6057900" y="3690937"/>
            <a:ext cx="647700" cy="2100263"/>
          </a:xfrm>
          <a:prstGeom prst="rect">
            <a:avLst/>
          </a:prstGeom>
          <a:noFill/>
          <a:ln/>
        </p:spPr>
        <p:txBody>
          <a:bodyPr wrap="square" lIns="25400" tIns="25400" rIns="25400" bIns="25400" rtlCol="0" anchor="ctr">
            <a:normAutofit/>
          </a:bodyPr>
          <a:lstStyle/>
          <a:p>
            <a:pPr marL="0" indent="0" algn="ctr">
              <a:buNone/>
            </a:pPr>
            <a:r>
              <a:rPr lang="en-US" sz="3600" dirty="0">
                <a:solidFill>
                  <a:srgbClr val="3FE0D0"/>
                </a:solidFill>
                <a:latin typeface="Montserrat" pitchFamily="34" charset="0"/>
                <a:ea typeface="Montserrat" pitchFamily="34" charset="-122"/>
                <a:cs typeface="Montserrat" pitchFamily="34" charset="-120"/>
              </a:rPr>
              <a:t>→</a:t>
            </a:r>
            <a:endParaRPr lang="en-US" sz="3600" dirty="0"/>
          </a:p>
        </p:txBody>
      </p:sp>
      <p:sp>
        <p:nvSpPr>
          <p:cNvPr id="11" name="Shape 9"/>
          <p:cNvSpPr/>
          <p:nvPr/>
        </p:nvSpPr>
        <p:spPr>
          <a:xfrm>
            <a:off x="6667500" y="3690937"/>
            <a:ext cx="4953000" cy="2062163"/>
          </a:xfrm>
          <a:prstGeom prst="rect">
            <a:avLst/>
          </a:prstGeom>
          <a:solidFill>
            <a:srgbClr val="1B1D24"/>
          </a:solidFill>
          <a:ln/>
        </p:spPr>
        <p:txBody>
          <a:bodyPr/>
          <a:lstStyle/>
          <a:p>
            <a:endParaRPr lang="en-US"/>
          </a:p>
        </p:txBody>
      </p:sp>
      <p:sp>
        <p:nvSpPr>
          <p:cNvPr id="12" name="Shape 10"/>
          <p:cNvSpPr/>
          <p:nvPr/>
        </p:nvSpPr>
        <p:spPr>
          <a:xfrm>
            <a:off x="6667500" y="3690937"/>
            <a:ext cx="4953000" cy="28575"/>
          </a:xfrm>
          <a:prstGeom prst="rect">
            <a:avLst/>
          </a:prstGeom>
          <a:solidFill>
            <a:srgbClr val="F58220"/>
          </a:solidFill>
          <a:ln/>
        </p:spPr>
        <p:txBody>
          <a:bodyPr/>
          <a:lstStyle/>
          <a:p>
            <a:endParaRPr lang="en-US"/>
          </a:p>
        </p:txBody>
      </p:sp>
      <p:sp>
        <p:nvSpPr>
          <p:cNvPr id="13" name="Text 11"/>
          <p:cNvSpPr/>
          <p:nvPr/>
        </p:nvSpPr>
        <p:spPr>
          <a:xfrm>
            <a:off x="6972300" y="4062412"/>
            <a:ext cx="4473702" cy="214313"/>
          </a:xfrm>
          <a:prstGeom prst="rect">
            <a:avLst/>
          </a:prstGeom>
          <a:noFill/>
          <a:ln/>
        </p:spPr>
        <p:txBody>
          <a:bodyPr wrap="square" lIns="25400" tIns="25400" rIns="25400" bIns="25400" rtlCol="0" anchor="t">
            <a:normAutofit/>
          </a:bodyPr>
          <a:lstStyle/>
          <a:p>
            <a:pPr marL="0" indent="0" algn="l">
              <a:buNone/>
            </a:pPr>
            <a:r>
              <a:rPr lang="en-US" sz="1050" kern="0" spc="189" dirty="0">
                <a:solidFill>
                  <a:srgbClr val="9A9CA4"/>
                </a:solidFill>
                <a:latin typeface="JetBrains Mono" pitchFamily="34" charset="0"/>
                <a:ea typeface="JetBrains Mono" pitchFamily="34" charset="-122"/>
                <a:cs typeface="JetBrains Mono" pitchFamily="34" charset="-120"/>
              </a:rPr>
              <a:t>STEP 02 · INTERVIEW</a:t>
            </a:r>
            <a:endParaRPr lang="en-US" sz="1050" dirty="0"/>
          </a:p>
        </p:txBody>
      </p:sp>
      <p:sp>
        <p:nvSpPr>
          <p:cNvPr id="14" name="Text 12"/>
          <p:cNvSpPr/>
          <p:nvPr/>
        </p:nvSpPr>
        <p:spPr>
          <a:xfrm>
            <a:off x="6972300" y="4391025"/>
            <a:ext cx="4473702" cy="361950"/>
          </a:xfrm>
          <a:prstGeom prst="rect">
            <a:avLst/>
          </a:prstGeom>
          <a:noFill/>
          <a:ln/>
        </p:spPr>
        <p:txBody>
          <a:bodyPr wrap="square" lIns="25400" tIns="25400" rIns="25400" bIns="25400" rtlCol="0" anchor="t">
            <a:normAutofit lnSpcReduction="10000"/>
          </a:bodyPr>
          <a:lstStyle/>
          <a:p>
            <a:pPr marL="0" indent="0" algn="l">
              <a:buNone/>
            </a:pPr>
            <a:r>
              <a:rPr lang="en-US" sz="2100" b="1" kern="0" spc="-21" dirty="0">
                <a:solidFill>
                  <a:srgbClr val="FFFFFF"/>
                </a:solidFill>
                <a:latin typeface="Montserrat" pitchFamily="34" charset="0"/>
                <a:ea typeface="Montserrat" pitchFamily="34" charset="-122"/>
                <a:cs typeface="Montserrat" pitchFamily="34" charset="-120"/>
              </a:rPr>
              <a:t>It asks back.</a:t>
            </a:r>
            <a:endParaRPr lang="en-US" sz="2100" dirty="0"/>
          </a:p>
        </p:txBody>
      </p:sp>
      <p:sp>
        <p:nvSpPr>
          <p:cNvPr id="15" name="Text 13"/>
          <p:cNvSpPr/>
          <p:nvPr/>
        </p:nvSpPr>
        <p:spPr>
          <a:xfrm>
            <a:off x="6972300" y="4867275"/>
            <a:ext cx="4473702" cy="5810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JetBrains Mono" pitchFamily="34" charset="0"/>
                <a:ea typeface="JetBrains Mono" pitchFamily="34" charset="-122"/>
                <a:cs typeface="JetBrains Mono" pitchFamily="34" charset="-120"/>
              </a:rPr>
              <a:t>"Audience? Indoor or outdoor? Budget? Outcomes you'd call a win?"</a:t>
            </a:r>
            <a:endParaRPr lang="en-US" sz="1425" dirty="0"/>
          </a:p>
        </p:txBody>
      </p:sp>
      <p:sp>
        <p:nvSpPr>
          <p:cNvPr id="16" name="Text 14"/>
          <p:cNvSpPr/>
          <p:nvPr/>
        </p:nvSpPr>
        <p:spPr>
          <a:xfrm>
            <a:off x="11582400" y="3690937"/>
            <a:ext cx="647700" cy="2100263"/>
          </a:xfrm>
          <a:prstGeom prst="rect">
            <a:avLst/>
          </a:prstGeom>
          <a:noFill/>
          <a:ln/>
        </p:spPr>
        <p:txBody>
          <a:bodyPr wrap="square" lIns="25400" tIns="25400" rIns="25400" bIns="25400" rtlCol="0" anchor="ctr">
            <a:normAutofit/>
          </a:bodyPr>
          <a:lstStyle/>
          <a:p>
            <a:pPr marL="0" indent="0" algn="ctr">
              <a:buNone/>
            </a:pPr>
            <a:r>
              <a:rPr lang="en-US" sz="3600" dirty="0">
                <a:solidFill>
                  <a:srgbClr val="3FE0D0"/>
                </a:solidFill>
                <a:latin typeface="Montserrat" pitchFamily="34" charset="0"/>
                <a:ea typeface="Montserrat" pitchFamily="34" charset="-122"/>
                <a:cs typeface="Montserrat" pitchFamily="34" charset="-120"/>
              </a:rPr>
              <a:t>→</a:t>
            </a:r>
            <a:endParaRPr lang="en-US" sz="3600" dirty="0"/>
          </a:p>
        </p:txBody>
      </p:sp>
      <p:sp>
        <p:nvSpPr>
          <p:cNvPr id="17" name="Shape 15"/>
          <p:cNvSpPr/>
          <p:nvPr/>
        </p:nvSpPr>
        <p:spPr>
          <a:xfrm>
            <a:off x="12192000" y="3690937"/>
            <a:ext cx="4953000" cy="2062163"/>
          </a:xfrm>
          <a:prstGeom prst="rect">
            <a:avLst/>
          </a:prstGeom>
          <a:solidFill>
            <a:srgbClr val="1B1D24"/>
          </a:solidFill>
          <a:ln/>
        </p:spPr>
        <p:txBody>
          <a:bodyPr/>
          <a:lstStyle/>
          <a:p>
            <a:endParaRPr lang="en-US"/>
          </a:p>
        </p:txBody>
      </p:sp>
      <p:sp>
        <p:nvSpPr>
          <p:cNvPr id="18" name="Shape 16"/>
          <p:cNvSpPr/>
          <p:nvPr/>
        </p:nvSpPr>
        <p:spPr>
          <a:xfrm>
            <a:off x="12192000" y="3690937"/>
            <a:ext cx="4953000" cy="28575"/>
          </a:xfrm>
          <a:prstGeom prst="rect">
            <a:avLst/>
          </a:prstGeom>
          <a:solidFill>
            <a:srgbClr val="3FE0D0"/>
          </a:solidFill>
          <a:ln/>
        </p:spPr>
        <p:txBody>
          <a:bodyPr/>
          <a:lstStyle/>
          <a:p>
            <a:endParaRPr lang="en-US"/>
          </a:p>
        </p:txBody>
      </p:sp>
      <p:sp>
        <p:nvSpPr>
          <p:cNvPr id="19" name="Text 17"/>
          <p:cNvSpPr/>
          <p:nvPr/>
        </p:nvSpPr>
        <p:spPr>
          <a:xfrm>
            <a:off x="12496800" y="4062412"/>
            <a:ext cx="4473702" cy="214313"/>
          </a:xfrm>
          <a:prstGeom prst="rect">
            <a:avLst/>
          </a:prstGeom>
          <a:noFill/>
          <a:ln/>
        </p:spPr>
        <p:txBody>
          <a:bodyPr wrap="square" lIns="25400" tIns="25400" rIns="25400" bIns="25400" rtlCol="0" anchor="t">
            <a:normAutofit/>
          </a:bodyPr>
          <a:lstStyle/>
          <a:p>
            <a:pPr marL="0" indent="0" algn="l">
              <a:buNone/>
            </a:pPr>
            <a:r>
              <a:rPr lang="en-US" sz="1050" kern="0" spc="189" dirty="0">
                <a:solidFill>
                  <a:srgbClr val="9A9CA4"/>
                </a:solidFill>
                <a:latin typeface="JetBrains Mono" pitchFamily="34" charset="0"/>
                <a:ea typeface="JetBrains Mono" pitchFamily="34" charset="-122"/>
                <a:cs typeface="JetBrains Mono" pitchFamily="34" charset="-120"/>
              </a:rPr>
              <a:t>STEP 03 · DIALED IN</a:t>
            </a:r>
            <a:endParaRPr lang="en-US" sz="1050" dirty="0"/>
          </a:p>
        </p:txBody>
      </p:sp>
      <p:sp>
        <p:nvSpPr>
          <p:cNvPr id="20" name="Text 18"/>
          <p:cNvSpPr/>
          <p:nvPr/>
        </p:nvSpPr>
        <p:spPr>
          <a:xfrm>
            <a:off x="12496800" y="4391025"/>
            <a:ext cx="4473702" cy="361950"/>
          </a:xfrm>
          <a:prstGeom prst="rect">
            <a:avLst/>
          </a:prstGeom>
          <a:noFill/>
          <a:ln/>
        </p:spPr>
        <p:txBody>
          <a:bodyPr wrap="square" lIns="25400" tIns="25400" rIns="25400" bIns="25400" rtlCol="0" anchor="t">
            <a:normAutofit lnSpcReduction="10000"/>
          </a:bodyPr>
          <a:lstStyle/>
          <a:p>
            <a:pPr marL="0" indent="0" algn="l">
              <a:buNone/>
            </a:pPr>
            <a:r>
              <a:rPr lang="en-US" sz="2100" b="1" kern="0" spc="-21" dirty="0">
                <a:solidFill>
                  <a:srgbClr val="FFFFFF"/>
                </a:solidFill>
                <a:latin typeface="Montserrat" pitchFamily="34" charset="0"/>
                <a:ea typeface="Montserrat" pitchFamily="34" charset="-122"/>
                <a:cs typeface="Montserrat" pitchFamily="34" charset="-120"/>
              </a:rPr>
              <a:t>You answer.</a:t>
            </a:r>
            <a:endParaRPr lang="en-US" sz="2100" dirty="0"/>
          </a:p>
        </p:txBody>
      </p:sp>
      <p:sp>
        <p:nvSpPr>
          <p:cNvPr id="21" name="Text 19"/>
          <p:cNvSpPr/>
          <p:nvPr/>
        </p:nvSpPr>
        <p:spPr>
          <a:xfrm>
            <a:off x="12496800" y="4867275"/>
            <a:ext cx="4473702" cy="581025"/>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C9CBD1"/>
                </a:solidFill>
                <a:latin typeface="JetBrains Mono" pitchFamily="34" charset="0"/>
                <a:ea typeface="JetBrains Mono" pitchFamily="34" charset="-122"/>
                <a:cs typeface="JetBrains Mono" pitchFamily="34" charset="-120"/>
              </a:rPr>
              <a:t>A tight, specific plan. Not a generic checklist.</a:t>
            </a:r>
            <a:endParaRPr lang="en-US" sz="1425" dirty="0"/>
          </a:p>
        </p:txBody>
      </p:sp>
      <p:sp>
        <p:nvSpPr>
          <p:cNvPr id="22" name="Shape 20"/>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3" name="Text 21"/>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6911441" y="2412206"/>
            <a:ext cx="4465118" cy="3114675"/>
          </a:xfrm>
          <a:prstGeom prst="rect">
            <a:avLst/>
          </a:prstGeom>
          <a:noFill/>
          <a:ln/>
        </p:spPr>
        <p:txBody>
          <a:bodyPr wrap="square" lIns="25400" tIns="25400" rIns="25400" bIns="25400" rtlCol="0" anchor="t">
            <a:normAutofit fontScale="92500" lnSpcReduction="20000"/>
          </a:bodyPr>
          <a:lstStyle/>
          <a:p>
            <a:pPr marL="0" indent="0" algn="ctr">
              <a:lnSpc>
                <a:spcPct val="85000"/>
              </a:lnSpc>
              <a:buNone/>
            </a:pPr>
            <a:r>
              <a:rPr lang="en-US" sz="28500" b="1" kern="0" spc="-1140" dirty="0">
                <a:solidFill>
                  <a:srgbClr val="2A2D38"/>
                </a:solidFill>
                <a:latin typeface="Montserrat" pitchFamily="34" charset="0"/>
                <a:ea typeface="Montserrat" pitchFamily="34" charset="-122"/>
                <a:cs typeface="Montserrat" pitchFamily="34" charset="-120"/>
              </a:rPr>
              <a:t>03</a:t>
            </a:r>
            <a:endParaRPr lang="en-US" sz="28500" dirty="0"/>
          </a:p>
        </p:txBody>
      </p:sp>
      <p:sp>
        <p:nvSpPr>
          <p:cNvPr id="3" name="Text 1"/>
          <p:cNvSpPr/>
          <p:nvPr/>
        </p:nvSpPr>
        <p:spPr>
          <a:xfrm>
            <a:off x="8058001" y="5107781"/>
            <a:ext cx="2171923" cy="280988"/>
          </a:xfrm>
          <a:prstGeom prst="rect">
            <a:avLst/>
          </a:prstGeom>
          <a:noFill/>
          <a:ln/>
        </p:spPr>
        <p:txBody>
          <a:bodyPr wrap="square" lIns="25400" tIns="25400" rIns="25400" bIns="25400" rtlCol="0" anchor="t">
            <a:normAutofit lnSpcReduction="10000"/>
          </a:bodyPr>
          <a:lstStyle/>
          <a:p>
            <a:pPr marL="0" indent="0" algn="ctr">
              <a:buNone/>
            </a:pPr>
            <a:r>
              <a:rPr lang="en-US" sz="1575" b="1" kern="0" spc="504" dirty="0">
                <a:solidFill>
                  <a:srgbClr val="3FE0D0"/>
                </a:solidFill>
                <a:latin typeface="Inter" pitchFamily="34" charset="0"/>
                <a:ea typeface="Inter" pitchFamily="34" charset="-122"/>
                <a:cs typeface="Inter" pitchFamily="34" charset="-120"/>
              </a:rPr>
              <a:t>DOOR 03 / 03</a:t>
            </a:r>
            <a:endParaRPr lang="en-US" sz="1575" dirty="0"/>
          </a:p>
        </p:txBody>
      </p:sp>
      <p:sp>
        <p:nvSpPr>
          <p:cNvPr id="4" name="Text 2"/>
          <p:cNvSpPr/>
          <p:nvPr/>
        </p:nvSpPr>
        <p:spPr>
          <a:xfrm>
            <a:off x="3230878" y="5579269"/>
            <a:ext cx="11826169" cy="1666875"/>
          </a:xfrm>
          <a:prstGeom prst="rect">
            <a:avLst/>
          </a:prstGeom>
          <a:noFill/>
          <a:ln/>
        </p:spPr>
        <p:txBody>
          <a:bodyPr wrap="square" lIns="25400" tIns="25400" rIns="25400" bIns="25400" rtlCol="0" anchor="t">
            <a:normAutofit fontScale="92500" lnSpcReduction="20000"/>
          </a:bodyPr>
          <a:lstStyle/>
          <a:p>
            <a:pPr marL="0" indent="0" algn="ctr">
              <a:lnSpc>
                <a:spcPct val="95000"/>
              </a:lnSpc>
              <a:buNone/>
            </a:pPr>
            <a:r>
              <a:rPr lang="en-US" sz="13500" b="1" kern="0" spc="-337" dirty="0">
                <a:solidFill>
                  <a:srgbClr val="FFFFFF"/>
                </a:solidFill>
                <a:latin typeface="Montserrat" pitchFamily="34" charset="0"/>
                <a:ea typeface="Montserrat" pitchFamily="34" charset="-122"/>
                <a:cs typeface="Montserrat" pitchFamily="34" charset="-120"/>
              </a:rPr>
              <a:t>Claude Code.</a:t>
            </a:r>
            <a:endParaRPr lang="en-US" sz="13500" dirty="0"/>
          </a:p>
        </p:txBody>
      </p:sp>
      <p:sp>
        <p:nvSpPr>
          <p:cNvPr id="5" name="Text 3"/>
          <p:cNvSpPr/>
          <p:nvPr/>
        </p:nvSpPr>
        <p:spPr>
          <a:xfrm>
            <a:off x="4536014" y="7550944"/>
            <a:ext cx="9215897" cy="361950"/>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C9CBD1"/>
                </a:solidFill>
                <a:latin typeface="Inter" pitchFamily="34" charset="0"/>
                <a:ea typeface="Inter" pitchFamily="34" charset="-122"/>
                <a:cs typeface="Inter" pitchFamily="34" charset="-120"/>
              </a:rPr>
              <a:t>Power-user mode. Custom commands. Plugged into your real systems.</a:t>
            </a:r>
            <a:endParaRPr lang="en-US" sz="2100" dirty="0"/>
          </a:p>
        </p:txBody>
      </p:sp>
      <p:sp>
        <p:nvSpPr>
          <p:cNvPr id="6" name="Text 4"/>
          <p:cNvSpPr/>
          <p:nvPr/>
        </p:nvSpPr>
        <p:spPr>
          <a:xfrm>
            <a:off x="876300" y="9601200"/>
            <a:ext cx="1002060"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9A9CA4"/>
                </a:solidFill>
                <a:latin typeface="JetBrains Mono" pitchFamily="34" charset="0"/>
                <a:ea typeface="JetBrains Mono" pitchFamily="34" charset="-122"/>
                <a:cs typeface="JetBrains Mono" pitchFamily="34" charset="-120"/>
              </a:rPr>
              <a:t>01 · Chat</a:t>
            </a:r>
            <a:endParaRPr lang="en-US" sz="1350" dirty="0"/>
          </a:p>
        </p:txBody>
      </p:sp>
      <p:sp>
        <p:nvSpPr>
          <p:cNvPr id="7" name="Text 5"/>
          <p:cNvSpPr/>
          <p:nvPr/>
        </p:nvSpPr>
        <p:spPr>
          <a:xfrm>
            <a:off x="2106960" y="9601200"/>
            <a:ext cx="1791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4A4D58"/>
                </a:solidFill>
                <a:latin typeface="JetBrains Mono" pitchFamily="34" charset="0"/>
                <a:ea typeface="JetBrains Mono" pitchFamily="34" charset="-122"/>
                <a:cs typeface="JetBrains Mono" pitchFamily="34" charset="-120"/>
              </a:rPr>
              <a:t>|</a:t>
            </a:r>
            <a:endParaRPr lang="en-US" sz="1350" dirty="0"/>
          </a:p>
        </p:txBody>
      </p:sp>
      <p:sp>
        <p:nvSpPr>
          <p:cNvPr id="8" name="Text 6"/>
          <p:cNvSpPr/>
          <p:nvPr/>
        </p:nvSpPr>
        <p:spPr>
          <a:xfrm>
            <a:off x="2514674" y="9601200"/>
            <a:ext cx="12078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9A9CA4"/>
                </a:solidFill>
                <a:latin typeface="JetBrains Mono" pitchFamily="34" charset="0"/>
                <a:ea typeface="JetBrains Mono" pitchFamily="34" charset="-122"/>
                <a:cs typeface="JetBrains Mono" pitchFamily="34" charset="-120"/>
              </a:rPr>
              <a:t>02 · Cowork</a:t>
            </a:r>
            <a:endParaRPr lang="en-US" sz="1350" dirty="0"/>
          </a:p>
        </p:txBody>
      </p:sp>
      <p:sp>
        <p:nvSpPr>
          <p:cNvPr id="9" name="Text 7"/>
          <p:cNvSpPr/>
          <p:nvPr/>
        </p:nvSpPr>
        <p:spPr>
          <a:xfrm>
            <a:off x="3951089" y="9601200"/>
            <a:ext cx="179115"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4A4D58"/>
                </a:solidFill>
                <a:latin typeface="JetBrains Mono" pitchFamily="34" charset="0"/>
                <a:ea typeface="JetBrains Mono" pitchFamily="34" charset="-122"/>
                <a:cs typeface="JetBrains Mono" pitchFamily="34" charset="-120"/>
              </a:rPr>
              <a:t>|</a:t>
            </a:r>
            <a:endParaRPr lang="en-US" sz="1350" dirty="0"/>
          </a:p>
        </p:txBody>
      </p:sp>
      <p:sp>
        <p:nvSpPr>
          <p:cNvPr id="10" name="Text 8"/>
          <p:cNvSpPr/>
          <p:nvPr/>
        </p:nvSpPr>
        <p:spPr>
          <a:xfrm>
            <a:off x="4358804" y="9601200"/>
            <a:ext cx="1002060" cy="266700"/>
          </a:xfrm>
          <a:prstGeom prst="rect">
            <a:avLst/>
          </a:prstGeom>
          <a:noFill/>
          <a:ln/>
        </p:spPr>
        <p:txBody>
          <a:bodyPr wrap="square" lIns="25400" tIns="25400" rIns="25400" bIns="25400" rtlCol="0" anchor="t">
            <a:normAutofit/>
          </a:bodyPr>
          <a:lstStyle/>
          <a:p>
            <a:pPr marL="0" indent="0" algn="ctr">
              <a:buNone/>
            </a:pPr>
            <a:r>
              <a:rPr lang="en-US" sz="1350" b="1" dirty="0">
                <a:solidFill>
                  <a:srgbClr val="3FE0D0"/>
                </a:solidFill>
                <a:latin typeface="JetBrains Mono" pitchFamily="34" charset="0"/>
                <a:ea typeface="JetBrains Mono" pitchFamily="34" charset="-122"/>
                <a:cs typeface="JetBrains Mono" pitchFamily="34" charset="-120"/>
              </a:rPr>
              <a:t>03 · Code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BEST KNOWN FOR</a:t>
            </a:r>
            <a:endParaRPr lang="en-US" sz="1350" dirty="0"/>
          </a:p>
        </p:txBody>
      </p:sp>
      <p:sp>
        <p:nvSpPr>
          <p:cNvPr id="3" name="Text 1"/>
          <p:cNvSpPr/>
          <p:nvPr/>
        </p:nvSpPr>
        <p:spPr>
          <a:xfrm>
            <a:off x="1143000" y="1524000"/>
            <a:ext cx="16482060" cy="1638300"/>
          </a:xfrm>
          <a:prstGeom prst="rect">
            <a:avLst/>
          </a:prstGeom>
          <a:noFill/>
          <a:ln/>
        </p:spPr>
        <p:txBody>
          <a:bodyPr wrap="square" lIns="25400" tIns="25400" rIns="25400" bIns="25400" rtlCol="0" anchor="t">
            <a:normAutofit/>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A teammate plugged into your systems.</a:t>
            </a:r>
            <a:endParaRPr lang="en-US" sz="6300" dirty="0"/>
          </a:p>
        </p:txBody>
      </p:sp>
      <p:sp>
        <p:nvSpPr>
          <p:cNvPr id="4" name="Text 2"/>
          <p:cNvSpPr/>
          <p:nvPr/>
        </p:nvSpPr>
        <p:spPr>
          <a:xfrm>
            <a:off x="1143000" y="3352800"/>
            <a:ext cx="12179300" cy="638175"/>
          </a:xfrm>
          <a:prstGeom prst="rect">
            <a:avLst/>
          </a:prstGeom>
          <a:noFill/>
          <a:ln/>
        </p:spPr>
        <p:txBody>
          <a:bodyPr wrap="square" lIns="25400" tIns="25400" rIns="25400" bIns="25400" rtlCol="0" anchor="t">
            <a:normAutofit/>
          </a:bodyPr>
          <a:lstStyle/>
          <a:p>
            <a:pPr marL="0" indent="0" algn="l">
              <a:buNone/>
            </a:pPr>
            <a:r>
              <a:rPr lang="en-US" sz="1950" dirty="0">
                <a:solidFill>
                  <a:srgbClr val="C9CBD1"/>
                </a:solidFill>
                <a:latin typeface="Inter" pitchFamily="34" charset="0"/>
                <a:ea typeface="Inter" pitchFamily="34" charset="-122"/>
                <a:cs typeface="Inter" pitchFamily="34" charset="-120"/>
              </a:rPr>
              <a:t>Code isn’t always about writing code. It's about Claude knowing your team and conventions, and acting on them.</a:t>
            </a:r>
            <a:endParaRPr lang="en-US" sz="1950" dirty="0"/>
          </a:p>
        </p:txBody>
      </p:sp>
      <p:sp>
        <p:nvSpPr>
          <p:cNvPr id="5" name="Shape 3"/>
          <p:cNvSpPr/>
          <p:nvPr/>
        </p:nvSpPr>
        <p:spPr>
          <a:xfrm>
            <a:off x="1143000" y="4791075"/>
            <a:ext cx="5181600" cy="1609725"/>
          </a:xfrm>
          <a:prstGeom prst="rect">
            <a:avLst/>
          </a:prstGeom>
          <a:solidFill>
            <a:srgbClr val="1B1D24"/>
          </a:solidFill>
          <a:ln/>
        </p:spPr>
        <p:txBody>
          <a:bodyPr/>
          <a:lstStyle/>
          <a:p>
            <a:endParaRPr lang="en-US"/>
          </a:p>
        </p:txBody>
      </p:sp>
      <p:sp>
        <p:nvSpPr>
          <p:cNvPr id="6" name="Shape 4"/>
          <p:cNvSpPr/>
          <p:nvPr/>
        </p:nvSpPr>
        <p:spPr>
          <a:xfrm>
            <a:off x="1143000" y="4791075"/>
            <a:ext cx="19050" cy="1609725"/>
          </a:xfrm>
          <a:prstGeom prst="rect">
            <a:avLst/>
          </a:prstGeom>
          <a:solidFill>
            <a:srgbClr val="3FE0D0"/>
          </a:solidFill>
          <a:ln/>
        </p:spPr>
        <p:txBody>
          <a:bodyPr/>
          <a:lstStyle/>
          <a:p>
            <a:endParaRPr lang="en-US"/>
          </a:p>
        </p:txBody>
      </p:sp>
      <p:sp>
        <p:nvSpPr>
          <p:cNvPr id="7" name="Text 5"/>
          <p:cNvSpPr/>
          <p:nvPr/>
        </p:nvSpPr>
        <p:spPr>
          <a:xfrm>
            <a:off x="1428750" y="5095875"/>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Recurring multi-step</a:t>
            </a:r>
            <a:endParaRPr lang="en-US" sz="2250" dirty="0"/>
          </a:p>
        </p:txBody>
      </p:sp>
      <p:sp>
        <p:nvSpPr>
          <p:cNvPr id="9" name="Shape 7"/>
          <p:cNvSpPr/>
          <p:nvPr/>
        </p:nvSpPr>
        <p:spPr>
          <a:xfrm>
            <a:off x="6553200" y="4791075"/>
            <a:ext cx="5181600" cy="1609725"/>
          </a:xfrm>
          <a:prstGeom prst="rect">
            <a:avLst/>
          </a:prstGeom>
          <a:solidFill>
            <a:srgbClr val="1B1D24"/>
          </a:solidFill>
          <a:ln/>
        </p:spPr>
        <p:txBody>
          <a:bodyPr/>
          <a:lstStyle/>
          <a:p>
            <a:endParaRPr lang="en-US"/>
          </a:p>
        </p:txBody>
      </p:sp>
      <p:sp>
        <p:nvSpPr>
          <p:cNvPr id="10" name="Shape 8"/>
          <p:cNvSpPr/>
          <p:nvPr/>
        </p:nvSpPr>
        <p:spPr>
          <a:xfrm>
            <a:off x="6553200" y="4791075"/>
            <a:ext cx="19050" cy="1609725"/>
          </a:xfrm>
          <a:prstGeom prst="rect">
            <a:avLst/>
          </a:prstGeom>
          <a:solidFill>
            <a:srgbClr val="3FE0D0"/>
          </a:solidFill>
          <a:ln/>
        </p:spPr>
        <p:txBody>
          <a:bodyPr/>
          <a:lstStyle/>
          <a:p>
            <a:endParaRPr lang="en-US"/>
          </a:p>
        </p:txBody>
      </p:sp>
      <p:sp>
        <p:nvSpPr>
          <p:cNvPr id="11" name="Text 9"/>
          <p:cNvSpPr/>
          <p:nvPr/>
        </p:nvSpPr>
        <p:spPr>
          <a:xfrm>
            <a:off x="6838950" y="5095875"/>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Heavy memory</a:t>
            </a:r>
            <a:endParaRPr lang="en-US" sz="2250" dirty="0"/>
          </a:p>
        </p:txBody>
      </p:sp>
      <p:sp>
        <p:nvSpPr>
          <p:cNvPr id="13" name="Shape 11"/>
          <p:cNvSpPr/>
          <p:nvPr/>
        </p:nvSpPr>
        <p:spPr>
          <a:xfrm>
            <a:off x="11963400" y="4791075"/>
            <a:ext cx="5181600" cy="1609725"/>
          </a:xfrm>
          <a:prstGeom prst="rect">
            <a:avLst/>
          </a:prstGeom>
          <a:solidFill>
            <a:srgbClr val="1B1D24"/>
          </a:solidFill>
          <a:ln/>
        </p:spPr>
        <p:txBody>
          <a:bodyPr/>
          <a:lstStyle/>
          <a:p>
            <a:endParaRPr lang="en-US"/>
          </a:p>
        </p:txBody>
      </p:sp>
      <p:sp>
        <p:nvSpPr>
          <p:cNvPr id="14" name="Shape 12"/>
          <p:cNvSpPr/>
          <p:nvPr/>
        </p:nvSpPr>
        <p:spPr>
          <a:xfrm>
            <a:off x="11963400" y="4791075"/>
            <a:ext cx="19050" cy="1609725"/>
          </a:xfrm>
          <a:prstGeom prst="rect">
            <a:avLst/>
          </a:prstGeom>
          <a:solidFill>
            <a:srgbClr val="3FE0D0"/>
          </a:solidFill>
          <a:ln/>
        </p:spPr>
        <p:txBody>
          <a:bodyPr/>
          <a:lstStyle/>
          <a:p>
            <a:endParaRPr lang="en-US"/>
          </a:p>
        </p:txBody>
      </p:sp>
      <p:sp>
        <p:nvSpPr>
          <p:cNvPr id="15" name="Text 13"/>
          <p:cNvSpPr/>
          <p:nvPr/>
        </p:nvSpPr>
        <p:spPr>
          <a:xfrm>
            <a:off x="12249150" y="5095875"/>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Custom commands</a:t>
            </a:r>
            <a:endParaRPr lang="en-US" sz="2250" dirty="0"/>
          </a:p>
        </p:txBody>
      </p:sp>
      <p:sp>
        <p:nvSpPr>
          <p:cNvPr id="17" name="Shape 15"/>
          <p:cNvSpPr/>
          <p:nvPr/>
        </p:nvSpPr>
        <p:spPr>
          <a:xfrm>
            <a:off x="1143000" y="7153275"/>
            <a:ext cx="5181600" cy="1609725"/>
          </a:xfrm>
          <a:prstGeom prst="rect">
            <a:avLst/>
          </a:prstGeom>
          <a:solidFill>
            <a:srgbClr val="1B1D24"/>
          </a:solidFill>
          <a:ln/>
        </p:spPr>
        <p:txBody>
          <a:bodyPr/>
          <a:lstStyle/>
          <a:p>
            <a:endParaRPr lang="en-US"/>
          </a:p>
        </p:txBody>
      </p:sp>
      <p:sp>
        <p:nvSpPr>
          <p:cNvPr id="18" name="Shape 16"/>
          <p:cNvSpPr/>
          <p:nvPr/>
        </p:nvSpPr>
        <p:spPr>
          <a:xfrm>
            <a:off x="1143000" y="7153275"/>
            <a:ext cx="19050" cy="1609725"/>
          </a:xfrm>
          <a:prstGeom prst="rect">
            <a:avLst/>
          </a:prstGeom>
          <a:solidFill>
            <a:srgbClr val="3FE0D0"/>
          </a:solidFill>
          <a:ln/>
        </p:spPr>
        <p:txBody>
          <a:bodyPr/>
          <a:lstStyle/>
          <a:p>
            <a:endParaRPr lang="en-US"/>
          </a:p>
        </p:txBody>
      </p:sp>
      <p:sp>
        <p:nvSpPr>
          <p:cNvPr id="19" name="Text 17"/>
          <p:cNvSpPr/>
          <p:nvPr/>
        </p:nvSpPr>
        <p:spPr>
          <a:xfrm>
            <a:off x="1428750" y="7458075"/>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Direct connections</a:t>
            </a:r>
            <a:endParaRPr lang="en-US" sz="2250" dirty="0"/>
          </a:p>
        </p:txBody>
      </p:sp>
      <p:sp>
        <p:nvSpPr>
          <p:cNvPr id="21" name="Shape 19"/>
          <p:cNvSpPr/>
          <p:nvPr/>
        </p:nvSpPr>
        <p:spPr>
          <a:xfrm>
            <a:off x="6553200" y="7153275"/>
            <a:ext cx="5181600" cy="1609725"/>
          </a:xfrm>
          <a:prstGeom prst="rect">
            <a:avLst/>
          </a:prstGeom>
          <a:solidFill>
            <a:srgbClr val="1B1D24"/>
          </a:solidFill>
          <a:ln/>
        </p:spPr>
        <p:txBody>
          <a:bodyPr/>
          <a:lstStyle/>
          <a:p>
            <a:endParaRPr lang="en-US"/>
          </a:p>
        </p:txBody>
      </p:sp>
      <p:sp>
        <p:nvSpPr>
          <p:cNvPr id="22" name="Shape 20"/>
          <p:cNvSpPr/>
          <p:nvPr/>
        </p:nvSpPr>
        <p:spPr>
          <a:xfrm>
            <a:off x="6553200" y="7153275"/>
            <a:ext cx="19050" cy="1609725"/>
          </a:xfrm>
          <a:prstGeom prst="rect">
            <a:avLst/>
          </a:prstGeom>
          <a:solidFill>
            <a:srgbClr val="3FE0D0"/>
          </a:solidFill>
          <a:ln/>
        </p:spPr>
        <p:txBody>
          <a:bodyPr/>
          <a:lstStyle/>
          <a:p>
            <a:endParaRPr lang="en-US"/>
          </a:p>
        </p:txBody>
      </p:sp>
      <p:sp>
        <p:nvSpPr>
          <p:cNvPr id="23" name="Text 21"/>
          <p:cNvSpPr/>
          <p:nvPr/>
        </p:nvSpPr>
        <p:spPr>
          <a:xfrm>
            <a:off x="6838950" y="7458075"/>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Outgrow tabs</a:t>
            </a:r>
            <a:endParaRPr lang="en-US" sz="2250" dirty="0"/>
          </a:p>
        </p:txBody>
      </p:sp>
      <p:sp>
        <p:nvSpPr>
          <p:cNvPr id="25" name="Shape 23"/>
          <p:cNvSpPr/>
          <p:nvPr/>
        </p:nvSpPr>
        <p:spPr>
          <a:xfrm>
            <a:off x="11963400" y="7153275"/>
            <a:ext cx="5181600" cy="1609725"/>
          </a:xfrm>
          <a:prstGeom prst="rect">
            <a:avLst/>
          </a:prstGeom>
          <a:solidFill>
            <a:srgbClr val="1B1D24"/>
          </a:solidFill>
          <a:ln/>
        </p:spPr>
        <p:txBody>
          <a:bodyPr/>
          <a:lstStyle/>
          <a:p>
            <a:endParaRPr lang="en-US"/>
          </a:p>
        </p:txBody>
      </p:sp>
      <p:sp>
        <p:nvSpPr>
          <p:cNvPr id="26" name="Shape 24"/>
          <p:cNvSpPr/>
          <p:nvPr/>
        </p:nvSpPr>
        <p:spPr>
          <a:xfrm>
            <a:off x="11963400" y="7153275"/>
            <a:ext cx="19050" cy="1609725"/>
          </a:xfrm>
          <a:prstGeom prst="rect">
            <a:avLst/>
          </a:prstGeom>
          <a:solidFill>
            <a:srgbClr val="F58220"/>
          </a:solidFill>
          <a:ln/>
        </p:spPr>
        <p:txBody>
          <a:bodyPr/>
          <a:lstStyle/>
          <a:p>
            <a:endParaRPr lang="en-US"/>
          </a:p>
        </p:txBody>
      </p:sp>
      <p:sp>
        <p:nvSpPr>
          <p:cNvPr id="27" name="Text 25"/>
          <p:cNvSpPr/>
          <p:nvPr/>
        </p:nvSpPr>
        <p:spPr>
          <a:xfrm>
            <a:off x="12249150" y="7458075"/>
            <a:ext cx="4768025" cy="385763"/>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FFFFFF"/>
                </a:solidFill>
                <a:latin typeface="Montserrat" pitchFamily="34" charset="0"/>
                <a:ea typeface="Montserrat" pitchFamily="34" charset="-122"/>
                <a:cs typeface="Montserrat" pitchFamily="34" charset="-120"/>
              </a:rPr>
              <a:t>Boundless</a:t>
            </a:r>
            <a:endParaRPr lang="en-US" sz="2250" dirty="0"/>
          </a:p>
        </p:txBody>
      </p:sp>
      <p:sp>
        <p:nvSpPr>
          <p:cNvPr id="29" name="Shape 27"/>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25390574-F118-CFBF-435A-75538ADDAE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CFBA6E-9363-B94F-8F98-C8892190F7D5}"/>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HOW I'M USING IT</a:t>
            </a:r>
            <a:endParaRPr lang="en-US" sz="1350" dirty="0"/>
          </a:p>
        </p:txBody>
      </p:sp>
      <p:sp>
        <p:nvSpPr>
          <p:cNvPr id="3" name="Text 1">
            <a:extLst>
              <a:ext uri="{FF2B5EF4-FFF2-40B4-BE49-F238E27FC236}">
                <a16:creationId xmlns:a16="http://schemas.microsoft.com/office/drawing/2014/main" id="{289130F8-3DBB-8083-A932-18AB3601FED5}"/>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Meet Claudia. She earns her keep.</a:t>
            </a:r>
            <a:endParaRPr lang="en-US" sz="6300" dirty="0"/>
          </a:p>
        </p:txBody>
      </p:sp>
      <p:sp>
        <p:nvSpPr>
          <p:cNvPr id="29" name="Shape 27">
            <a:extLst>
              <a:ext uri="{FF2B5EF4-FFF2-40B4-BE49-F238E27FC236}">
                <a16:creationId xmlns:a16="http://schemas.microsoft.com/office/drawing/2014/main" id="{2710B74A-89A2-6F41-5B3F-288D8404567B}"/>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a:extLst>
              <a:ext uri="{FF2B5EF4-FFF2-40B4-BE49-F238E27FC236}">
                <a16:creationId xmlns:a16="http://schemas.microsoft.com/office/drawing/2014/main" id="{D873B635-533E-93FF-D397-B42A796393A0}"/>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pic>
        <p:nvPicPr>
          <p:cNvPr id="32" name="Image 0" descr="preencoded.png">
            <a:extLst>
              <a:ext uri="{FF2B5EF4-FFF2-40B4-BE49-F238E27FC236}">
                <a16:creationId xmlns:a16="http://schemas.microsoft.com/office/drawing/2014/main" id="{6E6E4EC2-E994-EC07-923B-207E382E7EA1}"/>
              </a:ext>
            </a:extLst>
          </p:cNvPr>
          <p:cNvPicPr>
            <a:picLocks noChangeAspect="1"/>
          </p:cNvPicPr>
          <p:nvPr/>
        </p:nvPicPr>
        <p:blipFill>
          <a:blip r:embed="rId3"/>
          <a:srcRect l="7366" t="5581" r="5009" b="5375"/>
          <a:stretch>
            <a:fillRect/>
          </a:stretch>
        </p:blipFill>
        <p:spPr>
          <a:xfrm>
            <a:off x="990600" y="3032125"/>
            <a:ext cx="8226308" cy="4702176"/>
          </a:xfrm>
          <a:prstGeom prst="rect">
            <a:avLst/>
          </a:prstGeom>
        </p:spPr>
      </p:pic>
      <p:sp>
        <p:nvSpPr>
          <p:cNvPr id="33" name="Shape 15">
            <a:extLst>
              <a:ext uri="{FF2B5EF4-FFF2-40B4-BE49-F238E27FC236}">
                <a16:creationId xmlns:a16="http://schemas.microsoft.com/office/drawing/2014/main" id="{08019971-B709-8027-2971-28E1BAA7FD06}"/>
              </a:ext>
            </a:extLst>
          </p:cNvPr>
          <p:cNvSpPr/>
          <p:nvPr/>
        </p:nvSpPr>
        <p:spPr>
          <a:xfrm>
            <a:off x="9982200" y="3945730"/>
            <a:ext cx="5994400" cy="3315493"/>
          </a:xfrm>
          <a:prstGeom prst="rect">
            <a:avLst/>
          </a:prstGeom>
          <a:solidFill>
            <a:srgbClr val="1B1D24"/>
          </a:solidFill>
          <a:ln/>
        </p:spPr>
        <p:txBody>
          <a:bodyPr/>
          <a:lstStyle/>
          <a:p>
            <a:endParaRPr lang="en-US"/>
          </a:p>
        </p:txBody>
      </p:sp>
      <p:sp>
        <p:nvSpPr>
          <p:cNvPr id="34" name="Shape 16">
            <a:extLst>
              <a:ext uri="{FF2B5EF4-FFF2-40B4-BE49-F238E27FC236}">
                <a16:creationId xmlns:a16="http://schemas.microsoft.com/office/drawing/2014/main" id="{22DB1B62-2DE3-355E-CE5E-AEADB211070C}"/>
              </a:ext>
            </a:extLst>
          </p:cNvPr>
          <p:cNvSpPr/>
          <p:nvPr/>
        </p:nvSpPr>
        <p:spPr>
          <a:xfrm>
            <a:off x="9982200" y="3945730"/>
            <a:ext cx="5994400" cy="28575"/>
          </a:xfrm>
          <a:prstGeom prst="rect">
            <a:avLst/>
          </a:prstGeom>
          <a:solidFill>
            <a:srgbClr val="3FE0D0"/>
          </a:solidFill>
          <a:ln/>
        </p:spPr>
        <p:txBody>
          <a:bodyPr/>
          <a:lstStyle/>
          <a:p>
            <a:endParaRPr lang="en-US"/>
          </a:p>
        </p:txBody>
      </p:sp>
      <p:sp>
        <p:nvSpPr>
          <p:cNvPr id="35" name="Text 17">
            <a:extLst>
              <a:ext uri="{FF2B5EF4-FFF2-40B4-BE49-F238E27FC236}">
                <a16:creationId xmlns:a16="http://schemas.microsoft.com/office/drawing/2014/main" id="{5B187AA5-FF45-C593-B0B2-B673944BB07C}"/>
              </a:ext>
            </a:extLst>
          </p:cNvPr>
          <p:cNvSpPr/>
          <p:nvPr/>
        </p:nvSpPr>
        <p:spPr>
          <a:xfrm>
            <a:off x="10221849" y="3502817"/>
            <a:ext cx="4473702" cy="214313"/>
          </a:xfrm>
          <a:prstGeom prst="rect">
            <a:avLst/>
          </a:prstGeom>
          <a:noFill/>
          <a:ln/>
        </p:spPr>
        <p:txBody>
          <a:bodyPr wrap="square" lIns="25400" tIns="25400" rIns="25400" bIns="25400" rtlCol="0" anchor="t">
            <a:normAutofit/>
          </a:bodyPr>
          <a:lstStyle/>
          <a:p>
            <a:pPr marL="0" indent="0" algn="l">
              <a:buNone/>
            </a:pPr>
            <a:r>
              <a:rPr lang="en-US" sz="1050" kern="0" spc="189" dirty="0">
                <a:solidFill>
                  <a:srgbClr val="9A9CA4"/>
                </a:solidFill>
                <a:latin typeface="JetBrains Mono" pitchFamily="34" charset="0"/>
                <a:ea typeface="JetBrains Mono" pitchFamily="34" charset="-122"/>
                <a:cs typeface="JetBrains Mono" pitchFamily="34" charset="-120"/>
              </a:rPr>
              <a:t>EMPLOYEE PROFILE</a:t>
            </a:r>
            <a:endParaRPr lang="en-US" sz="1050" dirty="0"/>
          </a:p>
        </p:txBody>
      </p:sp>
      <p:sp>
        <p:nvSpPr>
          <p:cNvPr id="36" name="Text 18">
            <a:extLst>
              <a:ext uri="{FF2B5EF4-FFF2-40B4-BE49-F238E27FC236}">
                <a16:creationId xmlns:a16="http://schemas.microsoft.com/office/drawing/2014/main" id="{81D2AC80-A434-FE29-FD37-A376C1AD581B}"/>
              </a:ext>
            </a:extLst>
          </p:cNvPr>
          <p:cNvSpPr/>
          <p:nvPr/>
        </p:nvSpPr>
        <p:spPr>
          <a:xfrm>
            <a:off x="10221849" y="4202904"/>
            <a:ext cx="2008251" cy="3058319"/>
          </a:xfrm>
          <a:prstGeom prst="rect">
            <a:avLst/>
          </a:prstGeom>
          <a:noFill/>
          <a:ln/>
        </p:spPr>
        <p:txBody>
          <a:bodyPr wrap="square" lIns="25400" tIns="25400" rIns="25400" bIns="25400" rtlCol="0" anchor="t">
            <a:normAutofit/>
          </a:bodyPr>
          <a:lstStyle/>
          <a:p>
            <a:pPr marL="0" indent="0" algn="l">
              <a:buNone/>
            </a:pPr>
            <a:r>
              <a:rPr lang="en-US" sz="2100" b="1" kern="0" spc="-21" dirty="0">
                <a:solidFill>
                  <a:srgbClr val="3FE0D0"/>
                </a:solidFill>
                <a:latin typeface="Montserrat" pitchFamily="34" charset="0"/>
                <a:ea typeface="Montserrat" pitchFamily="34" charset="-122"/>
                <a:cs typeface="Montserrat" pitchFamily="34" charset="-120"/>
              </a:rPr>
              <a:t>Name</a:t>
            </a:r>
            <a:endParaRPr lang="en-US" sz="1425" dirty="0">
              <a:solidFill>
                <a:srgbClr val="3FE0D0"/>
              </a:solidFill>
              <a:latin typeface="JetBrains Mono" pitchFamily="34" charset="0"/>
              <a:ea typeface="JetBrains Mono" pitchFamily="34" charset="-122"/>
            </a:endParaRPr>
          </a:p>
          <a:p>
            <a:pPr marL="0" indent="0" algn="l">
              <a:buNone/>
            </a:pPr>
            <a:endParaRPr lang="en-US" sz="2100" b="1" kern="0" spc="-21" dirty="0">
              <a:solidFill>
                <a:srgbClr val="3FE0D0"/>
              </a:solidFill>
              <a:latin typeface="Montserrat" pitchFamily="34" charset="0"/>
            </a:endParaRPr>
          </a:p>
          <a:p>
            <a:pPr marL="0" indent="0" algn="l">
              <a:buNone/>
            </a:pPr>
            <a:r>
              <a:rPr lang="en-US" sz="2100" b="1" kern="0" spc="-21" dirty="0">
                <a:solidFill>
                  <a:srgbClr val="3FE0D0"/>
                </a:solidFill>
                <a:latin typeface="Montserrat" pitchFamily="34" charset="0"/>
              </a:rPr>
              <a:t>Title</a:t>
            </a:r>
          </a:p>
          <a:p>
            <a:pPr marL="0" indent="0" algn="l">
              <a:buNone/>
            </a:pPr>
            <a:endParaRPr lang="en-US" sz="2100" b="1" kern="0" spc="-21" dirty="0">
              <a:solidFill>
                <a:srgbClr val="3FE0D0"/>
              </a:solidFill>
              <a:latin typeface="Montserrat" pitchFamily="34" charset="0"/>
            </a:endParaRPr>
          </a:p>
          <a:p>
            <a:pPr marL="0" indent="0" algn="l">
              <a:buNone/>
            </a:pPr>
            <a:r>
              <a:rPr lang="en-US" sz="2100" b="1" kern="0" spc="-21" dirty="0">
                <a:solidFill>
                  <a:srgbClr val="3FE0D0"/>
                </a:solidFill>
                <a:latin typeface="Montserrat" pitchFamily="34" charset="0"/>
              </a:rPr>
              <a:t>Manager</a:t>
            </a:r>
          </a:p>
          <a:p>
            <a:pPr marL="0" indent="0" algn="l">
              <a:buNone/>
            </a:pPr>
            <a:endParaRPr lang="en-US" sz="2100" b="1" kern="0" spc="-21" dirty="0">
              <a:solidFill>
                <a:srgbClr val="3FE0D0"/>
              </a:solidFill>
              <a:latin typeface="Montserrat" pitchFamily="34" charset="0"/>
            </a:endParaRPr>
          </a:p>
          <a:p>
            <a:pPr marL="0" indent="0" algn="l">
              <a:buNone/>
            </a:pPr>
            <a:r>
              <a:rPr lang="en-US" sz="2100" b="1" kern="0" spc="-21" dirty="0">
                <a:solidFill>
                  <a:srgbClr val="3FE0D0"/>
                </a:solidFill>
                <a:latin typeface="Montserrat" pitchFamily="34" charset="0"/>
              </a:rPr>
              <a:t>Performance</a:t>
            </a:r>
            <a:endParaRPr lang="en-US" sz="2100" dirty="0">
              <a:solidFill>
                <a:srgbClr val="3FE0D0"/>
              </a:solidFill>
            </a:endParaRPr>
          </a:p>
        </p:txBody>
      </p:sp>
      <p:sp>
        <p:nvSpPr>
          <p:cNvPr id="39" name="Text 18">
            <a:extLst>
              <a:ext uri="{FF2B5EF4-FFF2-40B4-BE49-F238E27FC236}">
                <a16:creationId xmlns:a16="http://schemas.microsoft.com/office/drawing/2014/main" id="{BD8C5B71-3E31-7DE0-B426-C3034E31BCBC}"/>
              </a:ext>
            </a:extLst>
          </p:cNvPr>
          <p:cNvSpPr/>
          <p:nvPr/>
        </p:nvSpPr>
        <p:spPr>
          <a:xfrm>
            <a:off x="12654724" y="4202904"/>
            <a:ext cx="3702876" cy="3058319"/>
          </a:xfrm>
          <a:prstGeom prst="rect">
            <a:avLst/>
          </a:prstGeom>
          <a:noFill/>
          <a:ln/>
        </p:spPr>
        <p:txBody>
          <a:bodyPr wrap="square" lIns="25400" tIns="25400" rIns="25400" bIns="25400" rtlCol="0" anchor="t">
            <a:normAutofit/>
          </a:bodyPr>
          <a:lstStyle/>
          <a:p>
            <a:pPr marL="0" indent="0" algn="l">
              <a:buNone/>
            </a:pPr>
            <a:r>
              <a:rPr lang="en-US" sz="2100" b="1" kern="0" spc="-21" dirty="0">
                <a:solidFill>
                  <a:srgbClr val="FFFFFF"/>
                </a:solidFill>
                <a:latin typeface="Montserrat" pitchFamily="34" charset="0"/>
                <a:ea typeface="Montserrat" pitchFamily="34" charset="-122"/>
                <a:cs typeface="Montserrat" pitchFamily="34" charset="-120"/>
              </a:rPr>
              <a:t>Claudia</a:t>
            </a:r>
            <a:endParaRPr lang="en-US" sz="1425" dirty="0">
              <a:solidFill>
                <a:srgbClr val="C9CBD1"/>
              </a:solidFill>
              <a:latin typeface="JetBrains Mono" pitchFamily="34" charset="0"/>
              <a:ea typeface="JetBrains Mono" pitchFamily="34" charset="-122"/>
            </a:endParaRPr>
          </a:p>
          <a:p>
            <a:pPr marL="0" indent="0" algn="l">
              <a:buNone/>
            </a:pPr>
            <a:endParaRPr lang="en-US" sz="2100" b="1" kern="0" spc="-21" dirty="0">
              <a:solidFill>
                <a:srgbClr val="FFFFFF"/>
              </a:solidFill>
              <a:latin typeface="Montserrat" pitchFamily="34" charset="0"/>
            </a:endParaRPr>
          </a:p>
          <a:p>
            <a:pPr marL="0" indent="0" algn="l">
              <a:buNone/>
            </a:pPr>
            <a:r>
              <a:rPr lang="en-US" sz="2100" b="1" kern="0" spc="-21" dirty="0">
                <a:solidFill>
                  <a:srgbClr val="FFFFFF"/>
                </a:solidFill>
                <a:latin typeface="Montserrat" pitchFamily="34" charset="0"/>
              </a:rPr>
              <a:t>AI Chief of Staff</a:t>
            </a:r>
          </a:p>
          <a:p>
            <a:pPr marL="0" indent="0" algn="l">
              <a:buNone/>
            </a:pPr>
            <a:endParaRPr lang="en-US" sz="2100" b="1" kern="0" spc="-21" dirty="0">
              <a:solidFill>
                <a:srgbClr val="FFFFFF"/>
              </a:solidFill>
              <a:latin typeface="Montserrat" pitchFamily="34" charset="0"/>
            </a:endParaRPr>
          </a:p>
          <a:p>
            <a:pPr marL="0" indent="0" algn="l">
              <a:buNone/>
            </a:pPr>
            <a:r>
              <a:rPr lang="en-US" sz="2100" b="1" kern="0" spc="-21" dirty="0">
                <a:solidFill>
                  <a:srgbClr val="FFFFFF"/>
                </a:solidFill>
                <a:latin typeface="Montserrat" pitchFamily="34" charset="0"/>
              </a:rPr>
              <a:t>Trace Jackson</a:t>
            </a:r>
          </a:p>
          <a:p>
            <a:pPr marL="0" indent="0" algn="l">
              <a:buNone/>
            </a:pPr>
            <a:endParaRPr lang="en-US" sz="2100" b="1" kern="0" spc="-21" dirty="0">
              <a:solidFill>
                <a:srgbClr val="FFFFFF"/>
              </a:solidFill>
              <a:latin typeface="Montserrat" pitchFamily="34" charset="0"/>
            </a:endParaRPr>
          </a:p>
          <a:p>
            <a:pPr marL="0" indent="0" algn="l">
              <a:buNone/>
            </a:pPr>
            <a:r>
              <a:rPr lang="en-US" sz="2100" b="1" kern="0" spc="-21" dirty="0">
                <a:solidFill>
                  <a:srgbClr val="FFFFFF"/>
                </a:solidFill>
                <a:latin typeface="Montserrat" pitchFamily="34" charset="0"/>
              </a:rPr>
              <a:t>Exceeds expectations</a:t>
            </a:r>
            <a:endParaRPr lang="en-US" sz="2100" dirty="0"/>
          </a:p>
        </p:txBody>
      </p:sp>
    </p:spTree>
    <p:extLst>
      <p:ext uri="{BB962C8B-B14F-4D97-AF65-F5344CB8AC3E}">
        <p14:creationId xmlns:p14="http://schemas.microsoft.com/office/powerpoint/2010/main" val="2198856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77AE5D1D-8522-8D6D-3F52-61BD7C594E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C92521-24EC-6584-F496-45A95278317E}"/>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HOW I'M USING IT</a:t>
            </a:r>
            <a:endParaRPr lang="en-US" sz="1350" dirty="0"/>
          </a:p>
        </p:txBody>
      </p:sp>
      <p:sp>
        <p:nvSpPr>
          <p:cNvPr id="3" name="Text 1">
            <a:extLst>
              <a:ext uri="{FF2B5EF4-FFF2-40B4-BE49-F238E27FC236}">
                <a16:creationId xmlns:a16="http://schemas.microsoft.com/office/drawing/2014/main" id="{FB14BF05-DDD8-4C66-24F6-478BB4DF7EED}"/>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Meet Claudia. She earns her keep.</a:t>
            </a:r>
            <a:endParaRPr lang="en-US" sz="6300" dirty="0"/>
          </a:p>
        </p:txBody>
      </p:sp>
      <p:sp>
        <p:nvSpPr>
          <p:cNvPr id="29" name="Shape 27">
            <a:extLst>
              <a:ext uri="{FF2B5EF4-FFF2-40B4-BE49-F238E27FC236}">
                <a16:creationId xmlns:a16="http://schemas.microsoft.com/office/drawing/2014/main" id="{456FB1A0-7637-FD88-B5E4-DD522132155E}"/>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a:extLst>
              <a:ext uri="{FF2B5EF4-FFF2-40B4-BE49-F238E27FC236}">
                <a16:creationId xmlns:a16="http://schemas.microsoft.com/office/drawing/2014/main" id="{22A7CEA4-A49B-B56D-F804-07AFA90EE343}"/>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pic>
        <p:nvPicPr>
          <p:cNvPr id="32" name="Image 0" descr="preencoded.png">
            <a:extLst>
              <a:ext uri="{FF2B5EF4-FFF2-40B4-BE49-F238E27FC236}">
                <a16:creationId xmlns:a16="http://schemas.microsoft.com/office/drawing/2014/main" id="{5FD7E081-1F4E-8FB3-08EC-C7C9ABD4F58D}"/>
              </a:ext>
            </a:extLst>
          </p:cNvPr>
          <p:cNvPicPr>
            <a:picLocks noChangeAspect="1"/>
          </p:cNvPicPr>
          <p:nvPr/>
        </p:nvPicPr>
        <p:blipFill>
          <a:blip r:embed="rId3"/>
          <a:srcRect l="7366" t="5581" r="5009" b="5375"/>
          <a:stretch>
            <a:fillRect/>
          </a:stretch>
        </p:blipFill>
        <p:spPr>
          <a:xfrm>
            <a:off x="990600" y="3032125"/>
            <a:ext cx="8226308" cy="4702176"/>
          </a:xfrm>
          <a:prstGeom prst="rect">
            <a:avLst/>
          </a:prstGeom>
        </p:spPr>
      </p:pic>
      <p:sp>
        <p:nvSpPr>
          <p:cNvPr id="33" name="Shape 15">
            <a:extLst>
              <a:ext uri="{FF2B5EF4-FFF2-40B4-BE49-F238E27FC236}">
                <a16:creationId xmlns:a16="http://schemas.microsoft.com/office/drawing/2014/main" id="{FBF8C071-E222-3315-8AA1-E21016E76A7E}"/>
              </a:ext>
            </a:extLst>
          </p:cNvPr>
          <p:cNvSpPr/>
          <p:nvPr/>
        </p:nvSpPr>
        <p:spPr>
          <a:xfrm>
            <a:off x="9982200" y="3945730"/>
            <a:ext cx="5994400" cy="3464648"/>
          </a:xfrm>
          <a:prstGeom prst="rect">
            <a:avLst/>
          </a:prstGeom>
          <a:solidFill>
            <a:srgbClr val="1B1D24"/>
          </a:solidFill>
          <a:ln/>
        </p:spPr>
        <p:txBody>
          <a:bodyPr/>
          <a:lstStyle/>
          <a:p>
            <a:endParaRPr lang="en-US"/>
          </a:p>
        </p:txBody>
      </p:sp>
      <p:sp>
        <p:nvSpPr>
          <p:cNvPr id="34" name="Shape 16">
            <a:extLst>
              <a:ext uri="{FF2B5EF4-FFF2-40B4-BE49-F238E27FC236}">
                <a16:creationId xmlns:a16="http://schemas.microsoft.com/office/drawing/2014/main" id="{421473F8-0D24-4B7D-4A0B-775A550ACD15}"/>
              </a:ext>
            </a:extLst>
          </p:cNvPr>
          <p:cNvSpPr/>
          <p:nvPr/>
        </p:nvSpPr>
        <p:spPr>
          <a:xfrm>
            <a:off x="9982200" y="3945730"/>
            <a:ext cx="5994400" cy="28575"/>
          </a:xfrm>
          <a:prstGeom prst="rect">
            <a:avLst/>
          </a:prstGeom>
          <a:solidFill>
            <a:srgbClr val="3FE0D0"/>
          </a:solidFill>
          <a:ln/>
        </p:spPr>
        <p:txBody>
          <a:bodyPr/>
          <a:lstStyle/>
          <a:p>
            <a:endParaRPr lang="en-US"/>
          </a:p>
        </p:txBody>
      </p:sp>
      <p:sp>
        <p:nvSpPr>
          <p:cNvPr id="35" name="Text 17">
            <a:extLst>
              <a:ext uri="{FF2B5EF4-FFF2-40B4-BE49-F238E27FC236}">
                <a16:creationId xmlns:a16="http://schemas.microsoft.com/office/drawing/2014/main" id="{C5C4C29E-A68C-11E5-74DE-95A0ACC76814}"/>
              </a:ext>
            </a:extLst>
          </p:cNvPr>
          <p:cNvSpPr/>
          <p:nvPr/>
        </p:nvSpPr>
        <p:spPr>
          <a:xfrm>
            <a:off x="10221849" y="3502817"/>
            <a:ext cx="4473702" cy="214313"/>
          </a:xfrm>
          <a:prstGeom prst="rect">
            <a:avLst/>
          </a:prstGeom>
          <a:noFill/>
          <a:ln/>
        </p:spPr>
        <p:txBody>
          <a:bodyPr wrap="square" lIns="25400" tIns="25400" rIns="25400" bIns="25400" rtlCol="0" anchor="t">
            <a:normAutofit/>
          </a:bodyPr>
          <a:lstStyle/>
          <a:p>
            <a:pPr marL="0" indent="0" algn="l">
              <a:buNone/>
            </a:pPr>
            <a:r>
              <a:rPr lang="en-US" sz="1050" kern="0" spc="189" dirty="0">
                <a:solidFill>
                  <a:srgbClr val="9A9CA4"/>
                </a:solidFill>
                <a:latin typeface="JetBrains Mono" pitchFamily="34" charset="0"/>
                <a:ea typeface="JetBrains Mono" pitchFamily="34" charset="-122"/>
                <a:cs typeface="JetBrains Mono" pitchFamily="34" charset="-120"/>
              </a:rPr>
              <a:t>IN HER OWN WORDS</a:t>
            </a:r>
            <a:endParaRPr lang="en-US" sz="1050" dirty="0"/>
          </a:p>
        </p:txBody>
      </p:sp>
      <p:sp>
        <p:nvSpPr>
          <p:cNvPr id="5" name="Text 11">
            <a:extLst>
              <a:ext uri="{FF2B5EF4-FFF2-40B4-BE49-F238E27FC236}">
                <a16:creationId xmlns:a16="http://schemas.microsoft.com/office/drawing/2014/main" id="{2081A5B4-1736-083B-BC9C-6F64D95E0AE4}"/>
              </a:ext>
            </a:extLst>
          </p:cNvPr>
          <p:cNvSpPr/>
          <p:nvPr/>
        </p:nvSpPr>
        <p:spPr>
          <a:xfrm>
            <a:off x="10221849" y="4202905"/>
            <a:ext cx="5526151" cy="3207473"/>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300" b="1" dirty="0">
                <a:solidFill>
                  <a:srgbClr val="3FE0D0"/>
                </a:solidFill>
                <a:latin typeface="Inter" pitchFamily="34" charset="0"/>
                <a:ea typeface="Inter" pitchFamily="34" charset="-122"/>
              </a:rPr>
              <a:t>Runs your meeting workflow end-to-end</a:t>
            </a:r>
            <a:r>
              <a:rPr lang="en-US" sz="1300" dirty="0">
                <a:solidFill>
                  <a:srgbClr val="C9CBD1"/>
                </a:solidFill>
                <a:latin typeface="Inter" pitchFamily="34" charset="0"/>
                <a:ea typeface="Inter" pitchFamily="34" charset="-122"/>
              </a:rPr>
              <a:t> — pulls Fathom transcripts, drafts summaries and action items, and posts them to Notion once you approve</a:t>
            </a:r>
            <a:br>
              <a:rPr lang="en-US" sz="1300" dirty="0">
                <a:solidFill>
                  <a:srgbClr val="C9CBD1"/>
                </a:solidFill>
                <a:latin typeface="Inter" pitchFamily="34" charset="0"/>
                <a:ea typeface="Inter" pitchFamily="34" charset="-122"/>
              </a:rPr>
            </a:br>
            <a:endParaRPr lang="en-US" sz="1300" dirty="0">
              <a:solidFill>
                <a:srgbClr val="C9CBD1"/>
              </a:solidFill>
              <a:latin typeface="Inter" pitchFamily="34" charset="0"/>
              <a:ea typeface="Inter" pitchFamily="34" charset="-122"/>
            </a:endParaRPr>
          </a:p>
          <a:p>
            <a:pPr marL="285750" indent="-285750">
              <a:buFont typeface="Arial" panose="020B0604020202020204" pitchFamily="34" charset="0"/>
              <a:buChar char="•"/>
            </a:pPr>
            <a:r>
              <a:rPr lang="en-US" sz="1300" b="1" dirty="0">
                <a:solidFill>
                  <a:srgbClr val="3FE0D0"/>
                </a:solidFill>
                <a:latin typeface="Inter" pitchFamily="34" charset="0"/>
                <a:ea typeface="Inter" pitchFamily="34" charset="-122"/>
              </a:rPr>
              <a:t>Manages GitHub issues and sprints</a:t>
            </a:r>
            <a:r>
              <a:rPr lang="en-US" sz="1300" dirty="0">
                <a:solidFill>
                  <a:srgbClr val="C9CBD1"/>
                </a:solidFill>
                <a:latin typeface="Inter" pitchFamily="34" charset="0"/>
                <a:ea typeface="Inter" pitchFamily="34" charset="-122"/>
              </a:rPr>
              <a:t> — drafts issues, balances assignments across the team, sets sizes, sprints, and statuses on the project board</a:t>
            </a:r>
            <a:br>
              <a:rPr lang="en-US" sz="1300" dirty="0">
                <a:solidFill>
                  <a:srgbClr val="C9CBD1"/>
                </a:solidFill>
                <a:latin typeface="Inter" pitchFamily="34" charset="0"/>
                <a:ea typeface="Inter" pitchFamily="34" charset="-122"/>
              </a:rPr>
            </a:br>
            <a:endParaRPr lang="en-US" sz="1300" dirty="0">
              <a:solidFill>
                <a:srgbClr val="C9CBD1"/>
              </a:solidFill>
              <a:latin typeface="Inter" pitchFamily="34" charset="0"/>
              <a:ea typeface="Inter" pitchFamily="34" charset="-122"/>
            </a:endParaRPr>
          </a:p>
          <a:p>
            <a:pPr marL="285750" indent="-285750">
              <a:buFont typeface="Arial" panose="020B0604020202020204" pitchFamily="34" charset="0"/>
              <a:buChar char="•"/>
            </a:pPr>
            <a:r>
              <a:rPr lang="en-US" sz="1300" b="1" dirty="0">
                <a:solidFill>
                  <a:srgbClr val="3FE0D0"/>
                </a:solidFill>
                <a:latin typeface="Inter" pitchFamily="34" charset="0"/>
                <a:ea typeface="Inter" pitchFamily="34" charset="-122"/>
              </a:rPr>
              <a:t>Bridges your tools </a:t>
            </a:r>
            <a:r>
              <a:rPr lang="en-US" sz="1300" dirty="0">
                <a:solidFill>
                  <a:srgbClr val="C9CBD1"/>
                </a:solidFill>
                <a:latin typeface="Inter" pitchFamily="34" charset="0"/>
                <a:ea typeface="Inter" pitchFamily="34" charset="-122"/>
              </a:rPr>
              <a:t>— Fathom, Notion, GitHub, Jira, and Playwright all talk to each other through me instead of you copy-pasting between tabs</a:t>
            </a:r>
            <a:br>
              <a:rPr lang="en-US" sz="1300" dirty="0">
                <a:solidFill>
                  <a:srgbClr val="C9CBD1"/>
                </a:solidFill>
                <a:latin typeface="Inter" pitchFamily="34" charset="0"/>
                <a:ea typeface="Inter" pitchFamily="34" charset="-122"/>
              </a:rPr>
            </a:br>
            <a:endParaRPr lang="en-US" sz="1300" dirty="0">
              <a:solidFill>
                <a:srgbClr val="C9CBD1"/>
              </a:solidFill>
              <a:latin typeface="Inter" pitchFamily="34" charset="0"/>
              <a:ea typeface="Inter" pitchFamily="34" charset="-122"/>
            </a:endParaRPr>
          </a:p>
          <a:p>
            <a:pPr marL="285750" indent="-285750">
              <a:buFont typeface="Arial" panose="020B0604020202020204" pitchFamily="34" charset="0"/>
              <a:buChar char="•"/>
            </a:pPr>
            <a:r>
              <a:rPr lang="en-US" sz="1300" b="1" dirty="0">
                <a:solidFill>
                  <a:srgbClr val="3FE0D0"/>
                </a:solidFill>
                <a:latin typeface="Inter" pitchFamily="34" charset="0"/>
                <a:ea typeface="Inter" pitchFamily="34" charset="-122"/>
              </a:rPr>
              <a:t>Tests staging like a QA team </a:t>
            </a:r>
            <a:r>
              <a:rPr lang="en-US" sz="1300" dirty="0">
                <a:solidFill>
                  <a:srgbClr val="C9CBD1"/>
                </a:solidFill>
                <a:latin typeface="Inter" pitchFamily="34" charset="0"/>
                <a:ea typeface="Inter" pitchFamily="34" charset="-122"/>
              </a:rPr>
              <a:t>— drives Simplify and Inkwell through Playwright as various user roles</a:t>
            </a:r>
            <a:br>
              <a:rPr lang="en-US" sz="1300" dirty="0">
                <a:solidFill>
                  <a:srgbClr val="C9CBD1"/>
                </a:solidFill>
                <a:latin typeface="Inter" pitchFamily="34" charset="0"/>
                <a:ea typeface="Inter" pitchFamily="34" charset="-122"/>
              </a:rPr>
            </a:br>
            <a:endParaRPr lang="en-US" sz="1300" dirty="0">
              <a:solidFill>
                <a:srgbClr val="C9CBD1"/>
              </a:solidFill>
              <a:latin typeface="Inter" pitchFamily="34" charset="0"/>
              <a:ea typeface="Inter" pitchFamily="34" charset="-122"/>
            </a:endParaRPr>
          </a:p>
          <a:p>
            <a:pPr marL="285750" indent="-285750">
              <a:buFont typeface="Arial" panose="020B0604020202020204" pitchFamily="34" charset="0"/>
              <a:buChar char="•"/>
            </a:pPr>
            <a:r>
              <a:rPr lang="en-US" sz="1300" b="1" dirty="0">
                <a:solidFill>
                  <a:srgbClr val="3FE0D0"/>
                </a:solidFill>
                <a:latin typeface="Inter" pitchFamily="34" charset="0"/>
                <a:ea typeface="Inter" pitchFamily="34" charset="-122"/>
              </a:rPr>
              <a:t>Turns ideas into working prototypes </a:t>
            </a:r>
            <a:r>
              <a:rPr lang="en-US" sz="1300" dirty="0">
                <a:solidFill>
                  <a:srgbClr val="C9CBD1"/>
                </a:solidFill>
                <a:latin typeface="Inter" pitchFamily="34" charset="0"/>
                <a:ea typeface="Inter" pitchFamily="34" charset="-122"/>
              </a:rPr>
              <a:t>— when you have a concept to pitch or validate, I build a functional demo you can click through instead of just describing it in a doc    </a:t>
            </a:r>
          </a:p>
        </p:txBody>
      </p:sp>
    </p:spTree>
    <p:extLst>
      <p:ext uri="{BB962C8B-B14F-4D97-AF65-F5344CB8AC3E}">
        <p14:creationId xmlns:p14="http://schemas.microsoft.com/office/powerpoint/2010/main" val="229768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C1852EFA-4C70-2F1F-5321-5B8623657F2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38C2713-A0F2-2170-1358-1A9FA0D8E851}"/>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HOW I'M USING IT</a:t>
            </a:r>
            <a:endParaRPr lang="en-US" sz="1350" dirty="0"/>
          </a:p>
        </p:txBody>
      </p:sp>
      <p:sp>
        <p:nvSpPr>
          <p:cNvPr id="3" name="Text 1">
            <a:extLst>
              <a:ext uri="{FF2B5EF4-FFF2-40B4-BE49-F238E27FC236}">
                <a16:creationId xmlns:a16="http://schemas.microsoft.com/office/drawing/2014/main" id="{B5F88E9A-F4CF-0865-FDCA-C1F9892923CA}"/>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Meet Claudia. She earns her keep.</a:t>
            </a:r>
            <a:endParaRPr lang="en-US" sz="6300" dirty="0"/>
          </a:p>
        </p:txBody>
      </p:sp>
      <p:sp>
        <p:nvSpPr>
          <p:cNvPr id="29" name="Shape 27">
            <a:extLst>
              <a:ext uri="{FF2B5EF4-FFF2-40B4-BE49-F238E27FC236}">
                <a16:creationId xmlns:a16="http://schemas.microsoft.com/office/drawing/2014/main" id="{77C41E43-D34A-9F56-9124-1E2DFB264EA4}"/>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a:extLst>
              <a:ext uri="{FF2B5EF4-FFF2-40B4-BE49-F238E27FC236}">
                <a16:creationId xmlns:a16="http://schemas.microsoft.com/office/drawing/2014/main" id="{BBFD02AD-3670-D1BE-AB22-DB688DED8BCD}"/>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pic>
        <p:nvPicPr>
          <p:cNvPr id="32" name="Image 0" descr="preencoded.png">
            <a:extLst>
              <a:ext uri="{FF2B5EF4-FFF2-40B4-BE49-F238E27FC236}">
                <a16:creationId xmlns:a16="http://schemas.microsoft.com/office/drawing/2014/main" id="{D333405F-1246-391B-63FE-F7CD1D033EC7}"/>
              </a:ext>
            </a:extLst>
          </p:cNvPr>
          <p:cNvPicPr>
            <a:picLocks noChangeAspect="1"/>
          </p:cNvPicPr>
          <p:nvPr/>
        </p:nvPicPr>
        <p:blipFill>
          <a:blip r:embed="rId3"/>
          <a:srcRect l="7366" t="5581" r="5009" b="5375"/>
          <a:stretch>
            <a:fillRect/>
          </a:stretch>
        </p:blipFill>
        <p:spPr>
          <a:xfrm>
            <a:off x="990600" y="3032125"/>
            <a:ext cx="8226308" cy="4702176"/>
          </a:xfrm>
          <a:prstGeom prst="rect">
            <a:avLst/>
          </a:prstGeom>
        </p:spPr>
      </p:pic>
      <p:pic>
        <p:nvPicPr>
          <p:cNvPr id="4" name="Picture 3">
            <a:extLst>
              <a:ext uri="{FF2B5EF4-FFF2-40B4-BE49-F238E27FC236}">
                <a16:creationId xmlns:a16="http://schemas.microsoft.com/office/drawing/2014/main" id="{5139523F-3B4F-43D4-D73B-20C99531713E}"/>
              </a:ext>
            </a:extLst>
          </p:cNvPr>
          <p:cNvPicPr>
            <a:picLocks noChangeAspect="1"/>
          </p:cNvPicPr>
          <p:nvPr/>
        </p:nvPicPr>
        <p:blipFill>
          <a:blip r:embed="rId4"/>
          <a:srcRect t="7544" r="5582" b="3993"/>
          <a:stretch>
            <a:fillRect/>
          </a:stretch>
        </p:blipFill>
        <p:spPr>
          <a:xfrm>
            <a:off x="9728391" y="3454400"/>
            <a:ext cx="7442010" cy="3657600"/>
          </a:xfrm>
          <a:prstGeom prst="rect">
            <a:avLst/>
          </a:prstGeom>
        </p:spPr>
      </p:pic>
    </p:spTree>
    <p:extLst>
      <p:ext uri="{BB962C8B-B14F-4D97-AF65-F5344CB8AC3E}">
        <p14:creationId xmlns:p14="http://schemas.microsoft.com/office/powerpoint/2010/main" val="3240702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7F5F1"/>
        </a:solidFill>
        <a:effectLst/>
      </p:bgPr>
    </p:bg>
    <p:spTree>
      <p:nvGrpSpPr>
        <p:cNvPr id="1" name="">
          <a:extLst>
            <a:ext uri="{FF2B5EF4-FFF2-40B4-BE49-F238E27FC236}">
              <a16:creationId xmlns:a16="http://schemas.microsoft.com/office/drawing/2014/main" id="{C9AA224E-D039-C875-A461-B2C8AFDB1E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9A2C853-37E9-6B0A-133F-68A3261D42FA}"/>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6B6E78"/>
                </a:solidFill>
                <a:latin typeface="Inter" pitchFamily="34" charset="0"/>
                <a:ea typeface="Inter" pitchFamily="34" charset="-122"/>
                <a:cs typeface="Inter" pitchFamily="34" charset="-120"/>
              </a:rPr>
              <a:t>CLAUDE CODE · HOW I'M USING IT</a:t>
            </a:r>
            <a:endParaRPr lang="en-US" sz="1350" dirty="0"/>
          </a:p>
        </p:txBody>
      </p:sp>
      <p:sp>
        <p:nvSpPr>
          <p:cNvPr id="3" name="Text 1">
            <a:extLst>
              <a:ext uri="{FF2B5EF4-FFF2-40B4-BE49-F238E27FC236}">
                <a16:creationId xmlns:a16="http://schemas.microsoft.com/office/drawing/2014/main" id="{4092F757-EC49-14D7-B4DC-F031C2233DA1}"/>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14161C"/>
                </a:solidFill>
                <a:latin typeface="Montserrat" pitchFamily="34" charset="0"/>
                <a:ea typeface="Montserrat" pitchFamily="34" charset="-122"/>
                <a:cs typeface="Montserrat" pitchFamily="34" charset="-120"/>
              </a:rPr>
              <a:t>My right hand.</a:t>
            </a:r>
            <a:endParaRPr lang="en-US" sz="6300" dirty="0"/>
          </a:p>
        </p:txBody>
      </p:sp>
      <p:sp>
        <p:nvSpPr>
          <p:cNvPr id="4" name="Text 2">
            <a:extLst>
              <a:ext uri="{FF2B5EF4-FFF2-40B4-BE49-F238E27FC236}">
                <a16:creationId xmlns:a16="http://schemas.microsoft.com/office/drawing/2014/main" id="{95FBF349-F96B-6FFF-B8F5-E66A780AF752}"/>
              </a:ext>
            </a:extLst>
          </p:cNvPr>
          <p:cNvSpPr/>
          <p:nvPr/>
        </p:nvSpPr>
        <p:spPr>
          <a:xfrm>
            <a:off x="1143000" y="2628900"/>
            <a:ext cx="12753975" cy="381000"/>
          </a:xfrm>
          <a:prstGeom prst="rect">
            <a:avLst/>
          </a:prstGeom>
          <a:noFill/>
          <a:ln/>
        </p:spPr>
        <p:txBody>
          <a:bodyPr wrap="square" lIns="25400" tIns="25400" rIns="25400" bIns="25400" rtlCol="0" anchor="t">
            <a:normAutofit lnSpcReduction="10000"/>
          </a:bodyPr>
          <a:lstStyle/>
          <a:p>
            <a:r>
              <a:rPr lang="en-US" sz="2300" dirty="0">
                <a:solidFill>
                  <a:srgbClr val="3A3D49"/>
                </a:solidFill>
                <a:latin typeface="Inter" pitchFamily="34" charset="0"/>
                <a:ea typeface="Inter" pitchFamily="34" charset="-122"/>
              </a:rPr>
              <a:t>Stuff I used to do. Now it just handles.</a:t>
            </a:r>
          </a:p>
        </p:txBody>
      </p:sp>
      <p:sp>
        <p:nvSpPr>
          <p:cNvPr id="5" name="Shape 3">
            <a:extLst>
              <a:ext uri="{FF2B5EF4-FFF2-40B4-BE49-F238E27FC236}">
                <a16:creationId xmlns:a16="http://schemas.microsoft.com/office/drawing/2014/main" id="{7F4F89A9-F083-A132-A0E3-4E846087AD33}"/>
              </a:ext>
            </a:extLst>
          </p:cNvPr>
          <p:cNvSpPr/>
          <p:nvPr/>
        </p:nvSpPr>
        <p:spPr>
          <a:xfrm>
            <a:off x="1143000" y="4333875"/>
            <a:ext cx="14287500" cy="9525"/>
          </a:xfrm>
          <a:prstGeom prst="rect">
            <a:avLst/>
          </a:prstGeom>
          <a:solidFill>
            <a:srgbClr val="14161C">
              <a:alpha val="20000"/>
            </a:srgbClr>
          </a:solidFill>
          <a:ln/>
        </p:spPr>
        <p:txBody>
          <a:bodyPr/>
          <a:lstStyle/>
          <a:p>
            <a:endParaRPr lang="en-US"/>
          </a:p>
        </p:txBody>
      </p:sp>
      <p:sp>
        <p:nvSpPr>
          <p:cNvPr id="6" name="Text 4">
            <a:extLst>
              <a:ext uri="{FF2B5EF4-FFF2-40B4-BE49-F238E27FC236}">
                <a16:creationId xmlns:a16="http://schemas.microsoft.com/office/drawing/2014/main" id="{2A2347E4-3993-0D0B-9825-BA955EB9F4ED}"/>
              </a:ext>
            </a:extLst>
          </p:cNvPr>
          <p:cNvSpPr/>
          <p:nvPr/>
        </p:nvSpPr>
        <p:spPr>
          <a:xfrm>
            <a:off x="1143000" y="38528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7" name="Text 5">
            <a:extLst>
              <a:ext uri="{FF2B5EF4-FFF2-40B4-BE49-F238E27FC236}">
                <a16:creationId xmlns:a16="http://schemas.microsoft.com/office/drawing/2014/main" id="{7AF6744F-B45C-6DA0-C6C8-D9CCB6C2DF9E}"/>
              </a:ext>
            </a:extLst>
          </p:cNvPr>
          <p:cNvSpPr/>
          <p:nvPr/>
        </p:nvSpPr>
        <p:spPr>
          <a:xfrm>
            <a:off x="1943100" y="3733800"/>
            <a:ext cx="9677922" cy="409575"/>
          </a:xfrm>
          <a:prstGeom prst="rect">
            <a:avLst/>
          </a:prstGeom>
          <a:noFill/>
          <a:ln/>
        </p:spPr>
        <p:txBody>
          <a:bodyPr wrap="square" lIns="0" tIns="0" rIns="0" bIns="0" rtlCol="0" anchor="t">
            <a:normAutofit/>
          </a:bodyPr>
          <a:lstStyle/>
          <a:p>
            <a:r>
              <a:rPr lang="en-US" sz="2400" b="1" kern="0" spc="-24" dirty="0">
                <a:solidFill>
                  <a:srgbClr val="14161C"/>
                </a:solidFill>
                <a:latin typeface="Montserrat" pitchFamily="34" charset="0"/>
              </a:rPr>
              <a:t>Runs meeting workflow end-to-end.</a:t>
            </a:r>
          </a:p>
        </p:txBody>
      </p:sp>
      <p:sp>
        <p:nvSpPr>
          <p:cNvPr id="8" name="Shape 6">
            <a:extLst>
              <a:ext uri="{FF2B5EF4-FFF2-40B4-BE49-F238E27FC236}">
                <a16:creationId xmlns:a16="http://schemas.microsoft.com/office/drawing/2014/main" id="{D657A534-3499-17EC-8699-460F535AD027}"/>
              </a:ext>
            </a:extLst>
          </p:cNvPr>
          <p:cNvSpPr/>
          <p:nvPr/>
        </p:nvSpPr>
        <p:spPr>
          <a:xfrm>
            <a:off x="1143000" y="5172075"/>
            <a:ext cx="14287500" cy="9525"/>
          </a:xfrm>
          <a:prstGeom prst="rect">
            <a:avLst/>
          </a:prstGeom>
          <a:solidFill>
            <a:srgbClr val="14161C">
              <a:alpha val="20000"/>
            </a:srgbClr>
          </a:solidFill>
          <a:ln/>
        </p:spPr>
        <p:txBody>
          <a:bodyPr/>
          <a:lstStyle/>
          <a:p>
            <a:endParaRPr lang="en-US"/>
          </a:p>
        </p:txBody>
      </p:sp>
      <p:sp>
        <p:nvSpPr>
          <p:cNvPr id="9" name="Text 7">
            <a:extLst>
              <a:ext uri="{FF2B5EF4-FFF2-40B4-BE49-F238E27FC236}">
                <a16:creationId xmlns:a16="http://schemas.microsoft.com/office/drawing/2014/main" id="{82B08D2A-F5D9-35E8-7718-AC38077ED7BD}"/>
              </a:ext>
            </a:extLst>
          </p:cNvPr>
          <p:cNvSpPr/>
          <p:nvPr/>
        </p:nvSpPr>
        <p:spPr>
          <a:xfrm>
            <a:off x="1143000" y="46910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10" name="Text 8">
            <a:extLst>
              <a:ext uri="{FF2B5EF4-FFF2-40B4-BE49-F238E27FC236}">
                <a16:creationId xmlns:a16="http://schemas.microsoft.com/office/drawing/2014/main" id="{DB3DDE25-962D-CFAE-F5CB-E30AC79AAB5F}"/>
              </a:ext>
            </a:extLst>
          </p:cNvPr>
          <p:cNvSpPr/>
          <p:nvPr/>
        </p:nvSpPr>
        <p:spPr>
          <a:xfrm>
            <a:off x="1943100" y="4572000"/>
            <a:ext cx="15201900" cy="409575"/>
          </a:xfrm>
          <a:prstGeom prst="rect">
            <a:avLst/>
          </a:prstGeom>
          <a:noFill/>
          <a:ln/>
        </p:spPr>
        <p:txBody>
          <a:bodyPr wrap="square" lIns="0" tIns="0" rIns="0" bIns="0" rtlCol="0" anchor="t">
            <a:normAutofit/>
          </a:bodyPr>
          <a:lstStyle/>
          <a:p>
            <a:r>
              <a:rPr lang="en-US" sz="2400" b="1" kern="0" spc="-24" dirty="0">
                <a:solidFill>
                  <a:srgbClr val="14161C"/>
                </a:solidFill>
                <a:latin typeface="Montserrat" pitchFamily="34" charset="0"/>
              </a:rPr>
              <a:t>Manages GitHub issues + sprints.</a:t>
            </a:r>
          </a:p>
        </p:txBody>
      </p:sp>
      <p:sp>
        <p:nvSpPr>
          <p:cNvPr id="11" name="Shape 9">
            <a:extLst>
              <a:ext uri="{FF2B5EF4-FFF2-40B4-BE49-F238E27FC236}">
                <a16:creationId xmlns:a16="http://schemas.microsoft.com/office/drawing/2014/main" id="{D60F7DBE-C70F-5CE1-0720-BF08F5E2864E}"/>
              </a:ext>
            </a:extLst>
          </p:cNvPr>
          <p:cNvSpPr/>
          <p:nvPr/>
        </p:nvSpPr>
        <p:spPr>
          <a:xfrm>
            <a:off x="1143000" y="6010275"/>
            <a:ext cx="14287500" cy="9525"/>
          </a:xfrm>
          <a:prstGeom prst="rect">
            <a:avLst/>
          </a:prstGeom>
          <a:solidFill>
            <a:srgbClr val="14161C">
              <a:alpha val="20000"/>
            </a:srgbClr>
          </a:solidFill>
          <a:ln/>
        </p:spPr>
        <p:txBody>
          <a:bodyPr/>
          <a:lstStyle/>
          <a:p>
            <a:endParaRPr lang="en-US"/>
          </a:p>
        </p:txBody>
      </p:sp>
      <p:sp>
        <p:nvSpPr>
          <p:cNvPr id="12" name="Text 10">
            <a:extLst>
              <a:ext uri="{FF2B5EF4-FFF2-40B4-BE49-F238E27FC236}">
                <a16:creationId xmlns:a16="http://schemas.microsoft.com/office/drawing/2014/main" id="{CDA3E1B2-92C6-737F-F158-59120249FCAA}"/>
              </a:ext>
            </a:extLst>
          </p:cNvPr>
          <p:cNvSpPr/>
          <p:nvPr/>
        </p:nvSpPr>
        <p:spPr>
          <a:xfrm>
            <a:off x="1143000" y="55292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13" name="Text 11">
            <a:extLst>
              <a:ext uri="{FF2B5EF4-FFF2-40B4-BE49-F238E27FC236}">
                <a16:creationId xmlns:a16="http://schemas.microsoft.com/office/drawing/2014/main" id="{FA364F19-A081-6456-AE9E-3C5A7014BB8F}"/>
              </a:ext>
            </a:extLst>
          </p:cNvPr>
          <p:cNvSpPr/>
          <p:nvPr/>
        </p:nvSpPr>
        <p:spPr>
          <a:xfrm>
            <a:off x="1943100" y="5410200"/>
            <a:ext cx="7374771" cy="409575"/>
          </a:xfrm>
          <a:prstGeom prst="rect">
            <a:avLst/>
          </a:prstGeom>
          <a:noFill/>
          <a:ln/>
        </p:spPr>
        <p:txBody>
          <a:bodyPr wrap="square" lIns="0" tIns="0" rIns="0" bIns="0" rtlCol="0" anchor="t">
            <a:normAutofit/>
          </a:bodyPr>
          <a:lstStyle/>
          <a:p>
            <a:r>
              <a:rPr lang="en-US" sz="2400" b="1" kern="0" spc="-24" dirty="0">
                <a:solidFill>
                  <a:srgbClr val="14161C"/>
                </a:solidFill>
                <a:latin typeface="Montserrat" pitchFamily="34" charset="0"/>
              </a:rPr>
              <a:t>Bridges tools.</a:t>
            </a:r>
          </a:p>
        </p:txBody>
      </p:sp>
      <p:sp>
        <p:nvSpPr>
          <p:cNvPr id="14" name="Shape 12">
            <a:extLst>
              <a:ext uri="{FF2B5EF4-FFF2-40B4-BE49-F238E27FC236}">
                <a16:creationId xmlns:a16="http://schemas.microsoft.com/office/drawing/2014/main" id="{16B2B391-02C4-FEED-7B33-AC3365774260}"/>
              </a:ext>
            </a:extLst>
          </p:cNvPr>
          <p:cNvSpPr/>
          <p:nvPr/>
        </p:nvSpPr>
        <p:spPr>
          <a:xfrm>
            <a:off x="1143000" y="6848475"/>
            <a:ext cx="14287500" cy="9525"/>
          </a:xfrm>
          <a:prstGeom prst="rect">
            <a:avLst/>
          </a:prstGeom>
          <a:solidFill>
            <a:srgbClr val="14161C">
              <a:alpha val="20000"/>
            </a:srgbClr>
          </a:solidFill>
          <a:ln/>
        </p:spPr>
        <p:txBody>
          <a:bodyPr/>
          <a:lstStyle/>
          <a:p>
            <a:endParaRPr lang="en-US"/>
          </a:p>
        </p:txBody>
      </p:sp>
      <p:sp>
        <p:nvSpPr>
          <p:cNvPr id="15" name="Text 13">
            <a:extLst>
              <a:ext uri="{FF2B5EF4-FFF2-40B4-BE49-F238E27FC236}">
                <a16:creationId xmlns:a16="http://schemas.microsoft.com/office/drawing/2014/main" id="{DEEE6567-69EF-F685-6536-228253676D5B}"/>
              </a:ext>
            </a:extLst>
          </p:cNvPr>
          <p:cNvSpPr/>
          <p:nvPr/>
        </p:nvSpPr>
        <p:spPr>
          <a:xfrm>
            <a:off x="1143000" y="63674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work</a:t>
            </a:r>
            <a:endParaRPr lang="en-US" sz="1350" dirty="0"/>
          </a:p>
        </p:txBody>
      </p:sp>
      <p:sp>
        <p:nvSpPr>
          <p:cNvPr id="16" name="Text 14">
            <a:extLst>
              <a:ext uri="{FF2B5EF4-FFF2-40B4-BE49-F238E27FC236}">
                <a16:creationId xmlns:a16="http://schemas.microsoft.com/office/drawing/2014/main" id="{E16AA68F-E792-8B67-6554-DBBBC6C7A11C}"/>
              </a:ext>
            </a:extLst>
          </p:cNvPr>
          <p:cNvSpPr/>
          <p:nvPr/>
        </p:nvSpPr>
        <p:spPr>
          <a:xfrm>
            <a:off x="1943100" y="6248400"/>
            <a:ext cx="9017000" cy="409575"/>
          </a:xfrm>
          <a:prstGeom prst="rect">
            <a:avLst/>
          </a:prstGeom>
          <a:noFill/>
          <a:ln/>
        </p:spPr>
        <p:txBody>
          <a:bodyPr wrap="square" lIns="0" tIns="0" rIns="0" bIns="0" rtlCol="0" anchor="t">
            <a:normAutofit/>
          </a:bodyPr>
          <a:lstStyle/>
          <a:p>
            <a:r>
              <a:rPr lang="en-US" sz="2400" b="1" kern="0" spc="-24" dirty="0">
                <a:solidFill>
                  <a:srgbClr val="14161C"/>
                </a:solidFill>
                <a:latin typeface="Montserrat" pitchFamily="34" charset="0"/>
              </a:rPr>
              <a:t>Tests software like QA.</a:t>
            </a:r>
          </a:p>
        </p:txBody>
      </p:sp>
      <p:sp>
        <p:nvSpPr>
          <p:cNvPr id="17" name="Text 15">
            <a:extLst>
              <a:ext uri="{FF2B5EF4-FFF2-40B4-BE49-F238E27FC236}">
                <a16:creationId xmlns:a16="http://schemas.microsoft.com/office/drawing/2014/main" id="{F3B91813-2FCB-D401-B22E-79BD31B04D42}"/>
              </a:ext>
            </a:extLst>
          </p:cNvPr>
          <p:cNvSpPr/>
          <p:nvPr/>
        </p:nvSpPr>
        <p:spPr>
          <a:xfrm>
            <a:off x="1143000" y="7205663"/>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F58220"/>
                </a:solidFill>
                <a:latin typeface="JetBrains Mono" pitchFamily="34" charset="0"/>
                <a:ea typeface="JetBrains Mono" pitchFamily="34" charset="-122"/>
                <a:cs typeface="JetBrains Mono" pitchFamily="34" charset="-120"/>
              </a:rPr>
              <a:t>life</a:t>
            </a:r>
            <a:endParaRPr lang="en-US" sz="1350" dirty="0"/>
          </a:p>
        </p:txBody>
      </p:sp>
      <p:sp>
        <p:nvSpPr>
          <p:cNvPr id="18" name="Text 16">
            <a:extLst>
              <a:ext uri="{FF2B5EF4-FFF2-40B4-BE49-F238E27FC236}">
                <a16:creationId xmlns:a16="http://schemas.microsoft.com/office/drawing/2014/main" id="{5FC5CC9A-417A-F5F8-9439-D82A3FFCD9A5}"/>
              </a:ext>
            </a:extLst>
          </p:cNvPr>
          <p:cNvSpPr/>
          <p:nvPr/>
        </p:nvSpPr>
        <p:spPr>
          <a:xfrm>
            <a:off x="1943100" y="7086600"/>
            <a:ext cx="7095088" cy="409575"/>
          </a:xfrm>
          <a:prstGeom prst="rect">
            <a:avLst/>
          </a:prstGeom>
          <a:noFill/>
          <a:ln/>
        </p:spPr>
        <p:txBody>
          <a:bodyPr wrap="square" lIns="0" tIns="0" rIns="0" bIns="0" rtlCol="0" anchor="t">
            <a:normAutofit/>
          </a:bodyPr>
          <a:lstStyle/>
          <a:p>
            <a:r>
              <a:rPr lang="en-US" sz="2400" b="1" kern="0" spc="-24" dirty="0">
                <a:solidFill>
                  <a:srgbClr val="14161C"/>
                </a:solidFill>
                <a:latin typeface="Montserrat" pitchFamily="34" charset="0"/>
              </a:rPr>
              <a:t>Builds working prototypes.</a:t>
            </a:r>
          </a:p>
        </p:txBody>
      </p:sp>
      <p:sp>
        <p:nvSpPr>
          <p:cNvPr id="19" name="Shape 17">
            <a:extLst>
              <a:ext uri="{FF2B5EF4-FFF2-40B4-BE49-F238E27FC236}">
                <a16:creationId xmlns:a16="http://schemas.microsoft.com/office/drawing/2014/main" id="{72AC5F8B-B963-4F9F-97B0-5CFD50FBAF65}"/>
              </a:ext>
            </a:extLst>
          </p:cNvPr>
          <p:cNvSpPr/>
          <p:nvPr/>
        </p:nvSpPr>
        <p:spPr>
          <a:xfrm>
            <a:off x="1143000" y="8143875"/>
            <a:ext cx="16002000" cy="495300"/>
          </a:xfrm>
          <a:prstGeom prst="rect">
            <a:avLst/>
          </a:prstGeom>
          <a:solidFill>
            <a:srgbClr val="14161C"/>
          </a:solidFill>
          <a:ln/>
        </p:spPr>
        <p:txBody>
          <a:bodyPr/>
          <a:lstStyle/>
          <a:p>
            <a:endParaRPr lang="en-US"/>
          </a:p>
        </p:txBody>
      </p:sp>
      <p:sp>
        <p:nvSpPr>
          <p:cNvPr id="20" name="Text 18">
            <a:extLst>
              <a:ext uri="{FF2B5EF4-FFF2-40B4-BE49-F238E27FC236}">
                <a16:creationId xmlns:a16="http://schemas.microsoft.com/office/drawing/2014/main" id="{A331F1B6-384F-3A40-6272-43A994A51652}"/>
              </a:ext>
            </a:extLst>
          </p:cNvPr>
          <p:cNvSpPr/>
          <p:nvPr/>
        </p:nvSpPr>
        <p:spPr>
          <a:xfrm>
            <a:off x="1371600" y="8277225"/>
            <a:ext cx="16024860" cy="266700"/>
          </a:xfrm>
          <a:prstGeom prst="rect">
            <a:avLst/>
          </a:prstGeom>
          <a:noFill/>
          <a:ln/>
        </p:spPr>
        <p:txBody>
          <a:bodyPr wrap="square" lIns="25400" tIns="25400" rIns="25400" bIns="25400" rtlCol="0" anchor="t">
            <a:normAutofit/>
          </a:bodyPr>
          <a:lstStyle/>
          <a:p>
            <a:pPr marL="0" indent="0" algn="l">
              <a:buNone/>
            </a:pPr>
            <a:r>
              <a:rPr lang="en-US" sz="1350" b="1" kern="0" spc="243" dirty="0">
                <a:solidFill>
                  <a:srgbClr val="3FE0D0"/>
                </a:solidFill>
                <a:latin typeface="JetBrains Mono" pitchFamily="34" charset="0"/>
                <a:ea typeface="JetBrains Mono" pitchFamily="34" charset="-122"/>
                <a:cs typeface="JetBrains Mono" pitchFamily="34" charset="-120"/>
              </a:rPr>
              <a:t>▶ LIVE DEMO</a:t>
            </a:r>
            <a:endParaRPr lang="en-US" sz="1350" dirty="0"/>
          </a:p>
        </p:txBody>
      </p:sp>
      <p:sp>
        <p:nvSpPr>
          <p:cNvPr id="21" name="Shape 19">
            <a:extLst>
              <a:ext uri="{FF2B5EF4-FFF2-40B4-BE49-F238E27FC236}">
                <a16:creationId xmlns:a16="http://schemas.microsoft.com/office/drawing/2014/main" id="{EA5F1463-6DEF-6A2B-833A-D58E570E0768}"/>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2" name="Text 20">
            <a:extLst>
              <a:ext uri="{FF2B5EF4-FFF2-40B4-BE49-F238E27FC236}">
                <a16:creationId xmlns:a16="http://schemas.microsoft.com/office/drawing/2014/main" id="{72AA9CA4-2C7F-91D8-D63C-D89BA45006D1}"/>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Tree>
    <p:extLst>
      <p:ext uri="{BB962C8B-B14F-4D97-AF65-F5344CB8AC3E}">
        <p14:creationId xmlns:p14="http://schemas.microsoft.com/office/powerpoint/2010/main" val="3082789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F71129B9-19C3-3684-0E79-3F875D6E04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E4E0DEA-176E-0C90-1B8F-AB4C0908578A}"/>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HOW I'M USING IT</a:t>
            </a:r>
            <a:endParaRPr lang="en-US" sz="1350" dirty="0"/>
          </a:p>
        </p:txBody>
      </p:sp>
      <p:sp>
        <p:nvSpPr>
          <p:cNvPr id="3" name="Text 1">
            <a:extLst>
              <a:ext uri="{FF2B5EF4-FFF2-40B4-BE49-F238E27FC236}">
                <a16:creationId xmlns:a16="http://schemas.microsoft.com/office/drawing/2014/main" id="{8E1FB55E-E3C2-C988-33E9-B44551532B01}"/>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Meet Claudia. She earns her keep.</a:t>
            </a:r>
            <a:endParaRPr lang="en-US" sz="6300" dirty="0"/>
          </a:p>
        </p:txBody>
      </p:sp>
      <p:sp>
        <p:nvSpPr>
          <p:cNvPr id="29" name="Shape 27">
            <a:extLst>
              <a:ext uri="{FF2B5EF4-FFF2-40B4-BE49-F238E27FC236}">
                <a16:creationId xmlns:a16="http://schemas.microsoft.com/office/drawing/2014/main" id="{A9D50569-A5AA-4E61-5D02-29703F6FD984}"/>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a:extLst>
              <a:ext uri="{FF2B5EF4-FFF2-40B4-BE49-F238E27FC236}">
                <a16:creationId xmlns:a16="http://schemas.microsoft.com/office/drawing/2014/main" id="{7E1E411F-329D-D49E-AB98-D6137D722ECA}"/>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cxnSp>
        <p:nvCxnSpPr>
          <p:cNvPr id="16" name="Straight Arrow Connector 15">
            <a:extLst>
              <a:ext uri="{FF2B5EF4-FFF2-40B4-BE49-F238E27FC236}">
                <a16:creationId xmlns:a16="http://schemas.microsoft.com/office/drawing/2014/main" id="{00B1E911-4A8B-03C1-7283-F5D9DEA93528}"/>
              </a:ext>
            </a:extLst>
          </p:cNvPr>
          <p:cNvCxnSpPr>
            <a:cxnSpLocks/>
            <a:endCxn id="8" idx="2"/>
          </p:cNvCxnSpPr>
          <p:nvPr/>
        </p:nvCxnSpPr>
        <p:spPr>
          <a:xfrm flipH="1" flipV="1">
            <a:off x="8490564" y="3632460"/>
            <a:ext cx="178109" cy="1372812"/>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17" name="Straight Arrow Connector 16">
            <a:extLst>
              <a:ext uri="{FF2B5EF4-FFF2-40B4-BE49-F238E27FC236}">
                <a16:creationId xmlns:a16="http://schemas.microsoft.com/office/drawing/2014/main" id="{74AF161D-60C0-A045-98B7-A461B02BE68A}"/>
              </a:ext>
            </a:extLst>
          </p:cNvPr>
          <p:cNvCxnSpPr>
            <a:cxnSpLocks/>
          </p:cNvCxnSpPr>
          <p:nvPr/>
        </p:nvCxnSpPr>
        <p:spPr>
          <a:xfrm flipV="1">
            <a:off x="9355908" y="3908013"/>
            <a:ext cx="946381" cy="1246824"/>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18" name="Straight Arrow Connector 17">
            <a:extLst>
              <a:ext uri="{FF2B5EF4-FFF2-40B4-BE49-F238E27FC236}">
                <a16:creationId xmlns:a16="http://schemas.microsoft.com/office/drawing/2014/main" id="{E13EE368-CB0C-337F-196D-49D102F50AA1}"/>
              </a:ext>
            </a:extLst>
          </p:cNvPr>
          <p:cNvCxnSpPr>
            <a:cxnSpLocks/>
          </p:cNvCxnSpPr>
          <p:nvPr/>
        </p:nvCxnSpPr>
        <p:spPr>
          <a:xfrm flipH="1" flipV="1">
            <a:off x="6907798" y="3870679"/>
            <a:ext cx="1196694" cy="1440121"/>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19" name="Straight Arrow Connector 18">
            <a:extLst>
              <a:ext uri="{FF2B5EF4-FFF2-40B4-BE49-F238E27FC236}">
                <a16:creationId xmlns:a16="http://schemas.microsoft.com/office/drawing/2014/main" id="{F75FBA54-D23A-58E4-229D-C5691164F84B}"/>
              </a:ext>
            </a:extLst>
          </p:cNvPr>
          <p:cNvCxnSpPr>
            <a:cxnSpLocks/>
          </p:cNvCxnSpPr>
          <p:nvPr/>
        </p:nvCxnSpPr>
        <p:spPr>
          <a:xfrm flipH="1" flipV="1">
            <a:off x="5778476" y="5233503"/>
            <a:ext cx="2140711" cy="548317"/>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20" name="Straight Arrow Connector 19">
            <a:extLst>
              <a:ext uri="{FF2B5EF4-FFF2-40B4-BE49-F238E27FC236}">
                <a16:creationId xmlns:a16="http://schemas.microsoft.com/office/drawing/2014/main" id="{B2421C86-04A7-D5A1-A17C-74BCF20FA372}"/>
              </a:ext>
            </a:extLst>
          </p:cNvPr>
          <p:cNvCxnSpPr>
            <a:cxnSpLocks/>
            <a:endCxn id="9" idx="3"/>
          </p:cNvCxnSpPr>
          <p:nvPr/>
        </p:nvCxnSpPr>
        <p:spPr>
          <a:xfrm flipH="1">
            <a:off x="5544758" y="6207840"/>
            <a:ext cx="2371783" cy="502558"/>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21" name="Straight Arrow Connector 20">
            <a:extLst>
              <a:ext uri="{FF2B5EF4-FFF2-40B4-BE49-F238E27FC236}">
                <a16:creationId xmlns:a16="http://schemas.microsoft.com/office/drawing/2014/main" id="{8C4AE649-BA32-F55F-807E-A2F5147DFD98}"/>
              </a:ext>
            </a:extLst>
          </p:cNvPr>
          <p:cNvCxnSpPr>
            <a:cxnSpLocks/>
          </p:cNvCxnSpPr>
          <p:nvPr/>
        </p:nvCxnSpPr>
        <p:spPr>
          <a:xfrm flipH="1">
            <a:off x="6410084" y="6622130"/>
            <a:ext cx="1694409" cy="1365737"/>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22" name="Straight Arrow Connector 21">
            <a:extLst>
              <a:ext uri="{FF2B5EF4-FFF2-40B4-BE49-F238E27FC236}">
                <a16:creationId xmlns:a16="http://schemas.microsoft.com/office/drawing/2014/main" id="{D58F15C3-1093-8420-DAD5-DFA8CE869419}"/>
              </a:ext>
            </a:extLst>
          </p:cNvPr>
          <p:cNvCxnSpPr>
            <a:cxnSpLocks/>
            <a:endCxn id="11" idx="0"/>
          </p:cNvCxnSpPr>
          <p:nvPr/>
        </p:nvCxnSpPr>
        <p:spPr>
          <a:xfrm flipH="1">
            <a:off x="7864067" y="6871873"/>
            <a:ext cx="626497" cy="1836758"/>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23" name="Straight Arrow Connector 22">
            <a:extLst>
              <a:ext uri="{FF2B5EF4-FFF2-40B4-BE49-F238E27FC236}">
                <a16:creationId xmlns:a16="http://schemas.microsoft.com/office/drawing/2014/main" id="{2191FA60-3976-E336-FFE9-C2BCE412B47E}"/>
              </a:ext>
            </a:extLst>
          </p:cNvPr>
          <p:cNvCxnSpPr>
            <a:cxnSpLocks/>
            <a:endCxn id="15" idx="0"/>
          </p:cNvCxnSpPr>
          <p:nvPr/>
        </p:nvCxnSpPr>
        <p:spPr>
          <a:xfrm>
            <a:off x="9171888" y="6871873"/>
            <a:ext cx="885027" cy="1836758"/>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24" name="Straight Arrow Connector 23">
            <a:extLst>
              <a:ext uri="{FF2B5EF4-FFF2-40B4-BE49-F238E27FC236}">
                <a16:creationId xmlns:a16="http://schemas.microsoft.com/office/drawing/2014/main" id="{2C033C9B-EB1E-6065-0B5D-C04F97236DC1}"/>
              </a:ext>
            </a:extLst>
          </p:cNvPr>
          <p:cNvCxnSpPr>
            <a:cxnSpLocks/>
          </p:cNvCxnSpPr>
          <p:nvPr/>
        </p:nvCxnSpPr>
        <p:spPr>
          <a:xfrm>
            <a:off x="9558475" y="6491345"/>
            <a:ext cx="2191696" cy="1127102"/>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25" name="Straight Arrow Connector 24">
            <a:extLst>
              <a:ext uri="{FF2B5EF4-FFF2-40B4-BE49-F238E27FC236}">
                <a16:creationId xmlns:a16="http://schemas.microsoft.com/office/drawing/2014/main" id="{E21D89C8-0EC8-196E-A37C-BAB1E70E5983}"/>
              </a:ext>
            </a:extLst>
          </p:cNvPr>
          <p:cNvCxnSpPr>
            <a:cxnSpLocks/>
            <a:endCxn id="10" idx="1"/>
          </p:cNvCxnSpPr>
          <p:nvPr/>
        </p:nvCxnSpPr>
        <p:spPr>
          <a:xfrm>
            <a:off x="9654357" y="5939229"/>
            <a:ext cx="2607807" cy="343934"/>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cxnSp>
        <p:nvCxnSpPr>
          <p:cNvPr id="26" name="Straight Arrow Connector 25">
            <a:extLst>
              <a:ext uri="{FF2B5EF4-FFF2-40B4-BE49-F238E27FC236}">
                <a16:creationId xmlns:a16="http://schemas.microsoft.com/office/drawing/2014/main" id="{93D04910-CC4D-8E22-3FCE-88348D9BC17F}"/>
              </a:ext>
            </a:extLst>
          </p:cNvPr>
          <p:cNvCxnSpPr>
            <a:cxnSpLocks/>
          </p:cNvCxnSpPr>
          <p:nvPr/>
        </p:nvCxnSpPr>
        <p:spPr>
          <a:xfrm flipV="1">
            <a:off x="9558475" y="4693185"/>
            <a:ext cx="2191696" cy="842179"/>
          </a:xfrm>
          <a:prstGeom prst="straightConnector1">
            <a:avLst/>
          </a:prstGeom>
          <a:ln w="19050">
            <a:solidFill>
              <a:srgbClr val="F58220"/>
            </a:solidFill>
            <a:tailEnd type="none"/>
          </a:ln>
        </p:spPr>
        <p:style>
          <a:lnRef idx="2">
            <a:schemeClr val="accent6"/>
          </a:lnRef>
          <a:fillRef idx="0">
            <a:schemeClr val="accent6"/>
          </a:fillRef>
          <a:effectRef idx="1">
            <a:schemeClr val="accent6"/>
          </a:effectRef>
          <a:fontRef idx="minor">
            <a:schemeClr val="tx1"/>
          </a:fontRef>
        </p:style>
      </p:cxnSp>
      <p:pic>
        <p:nvPicPr>
          <p:cNvPr id="27" name="Picture 26">
            <a:extLst>
              <a:ext uri="{FF2B5EF4-FFF2-40B4-BE49-F238E27FC236}">
                <a16:creationId xmlns:a16="http://schemas.microsoft.com/office/drawing/2014/main" id="{03775DAA-DBAB-9A31-3F22-D6EC01078A94}"/>
              </a:ext>
            </a:extLst>
          </p:cNvPr>
          <p:cNvPicPr>
            <a:picLocks noChangeAspect="1"/>
          </p:cNvPicPr>
          <p:nvPr/>
        </p:nvPicPr>
        <p:blipFill>
          <a:blip r:embed="rId3"/>
          <a:stretch>
            <a:fillRect/>
          </a:stretch>
        </p:blipFill>
        <p:spPr>
          <a:xfrm>
            <a:off x="7685469" y="4807484"/>
            <a:ext cx="2204912" cy="2340073"/>
          </a:xfrm>
          <a:prstGeom prst="rect">
            <a:avLst/>
          </a:prstGeom>
        </p:spPr>
      </p:pic>
      <p:pic>
        <p:nvPicPr>
          <p:cNvPr id="5" name="Picture 4">
            <a:extLst>
              <a:ext uri="{FF2B5EF4-FFF2-40B4-BE49-F238E27FC236}">
                <a16:creationId xmlns:a16="http://schemas.microsoft.com/office/drawing/2014/main" id="{381611DF-DE0F-546C-AEE8-E1D76AFE61F2}"/>
              </a:ext>
            </a:extLst>
          </p:cNvPr>
          <p:cNvPicPr>
            <a:picLocks noChangeAspect="1"/>
          </p:cNvPicPr>
          <p:nvPr/>
        </p:nvPicPr>
        <p:blipFill>
          <a:blip r:embed="rId4"/>
          <a:stretch>
            <a:fillRect/>
          </a:stretch>
        </p:blipFill>
        <p:spPr>
          <a:xfrm>
            <a:off x="10165707" y="3123620"/>
            <a:ext cx="823818" cy="856192"/>
          </a:xfrm>
          <a:prstGeom prst="rect">
            <a:avLst/>
          </a:prstGeom>
        </p:spPr>
      </p:pic>
      <p:pic>
        <p:nvPicPr>
          <p:cNvPr id="7" name="Picture 6">
            <a:extLst>
              <a:ext uri="{FF2B5EF4-FFF2-40B4-BE49-F238E27FC236}">
                <a16:creationId xmlns:a16="http://schemas.microsoft.com/office/drawing/2014/main" id="{13D2D30D-F70D-E2CB-756B-BC881D6A96B9}"/>
              </a:ext>
            </a:extLst>
          </p:cNvPr>
          <p:cNvPicPr>
            <a:picLocks noChangeAspect="1"/>
          </p:cNvPicPr>
          <p:nvPr/>
        </p:nvPicPr>
        <p:blipFill>
          <a:blip r:embed="rId5"/>
          <a:srcRect l="14672" t="11926" r="14671" b="13919"/>
          <a:stretch>
            <a:fillRect/>
          </a:stretch>
        </p:blipFill>
        <p:spPr>
          <a:xfrm>
            <a:off x="4954658" y="4393193"/>
            <a:ext cx="823818" cy="917606"/>
          </a:xfrm>
          <a:prstGeom prst="rect">
            <a:avLst/>
          </a:prstGeom>
        </p:spPr>
      </p:pic>
      <p:pic>
        <p:nvPicPr>
          <p:cNvPr id="8" name="Picture 7">
            <a:extLst>
              <a:ext uri="{FF2B5EF4-FFF2-40B4-BE49-F238E27FC236}">
                <a16:creationId xmlns:a16="http://schemas.microsoft.com/office/drawing/2014/main" id="{6032EDDD-FC7B-2160-3678-B7A2AC0781EE}"/>
              </a:ext>
            </a:extLst>
          </p:cNvPr>
          <p:cNvPicPr>
            <a:picLocks noChangeAspect="1"/>
          </p:cNvPicPr>
          <p:nvPr/>
        </p:nvPicPr>
        <p:blipFill>
          <a:blip r:embed="rId6"/>
          <a:srcRect l="12220" t="12246" r="12271" b="13008"/>
          <a:stretch>
            <a:fillRect/>
          </a:stretch>
        </p:blipFill>
        <p:spPr>
          <a:xfrm>
            <a:off x="8078655" y="2766972"/>
            <a:ext cx="823818" cy="865488"/>
          </a:xfrm>
          <a:prstGeom prst="rect">
            <a:avLst/>
          </a:prstGeom>
        </p:spPr>
      </p:pic>
      <p:pic>
        <p:nvPicPr>
          <p:cNvPr id="9" name="Picture 8">
            <a:extLst>
              <a:ext uri="{FF2B5EF4-FFF2-40B4-BE49-F238E27FC236}">
                <a16:creationId xmlns:a16="http://schemas.microsoft.com/office/drawing/2014/main" id="{4C29BDCE-8170-F340-B240-9D7B75738EA7}"/>
              </a:ext>
            </a:extLst>
          </p:cNvPr>
          <p:cNvPicPr>
            <a:picLocks noChangeAspect="1"/>
          </p:cNvPicPr>
          <p:nvPr/>
        </p:nvPicPr>
        <p:blipFill>
          <a:blip r:embed="rId7"/>
          <a:srcRect l="16186" t="15779" r="15779" b="16186"/>
          <a:stretch>
            <a:fillRect/>
          </a:stretch>
        </p:blipFill>
        <p:spPr>
          <a:xfrm>
            <a:off x="4739644" y="6283163"/>
            <a:ext cx="805114" cy="854467"/>
          </a:xfrm>
          <a:prstGeom prst="rect">
            <a:avLst/>
          </a:prstGeom>
        </p:spPr>
      </p:pic>
      <p:pic>
        <p:nvPicPr>
          <p:cNvPr id="10" name="Picture 9">
            <a:extLst>
              <a:ext uri="{FF2B5EF4-FFF2-40B4-BE49-F238E27FC236}">
                <a16:creationId xmlns:a16="http://schemas.microsoft.com/office/drawing/2014/main" id="{334061F1-9496-32CE-A8A8-488C34938244}"/>
              </a:ext>
            </a:extLst>
          </p:cNvPr>
          <p:cNvPicPr>
            <a:picLocks noChangeAspect="1"/>
          </p:cNvPicPr>
          <p:nvPr/>
        </p:nvPicPr>
        <p:blipFill>
          <a:blip r:embed="rId8"/>
          <a:stretch>
            <a:fillRect/>
          </a:stretch>
        </p:blipFill>
        <p:spPr>
          <a:xfrm>
            <a:off x="12262164" y="5846004"/>
            <a:ext cx="823818" cy="874318"/>
          </a:xfrm>
          <a:prstGeom prst="rect">
            <a:avLst/>
          </a:prstGeom>
        </p:spPr>
      </p:pic>
      <p:pic>
        <p:nvPicPr>
          <p:cNvPr id="11" name="Picture 10">
            <a:extLst>
              <a:ext uri="{FF2B5EF4-FFF2-40B4-BE49-F238E27FC236}">
                <a16:creationId xmlns:a16="http://schemas.microsoft.com/office/drawing/2014/main" id="{3429D4C5-33A6-4344-D6D1-C7AC9403F07D}"/>
              </a:ext>
            </a:extLst>
          </p:cNvPr>
          <p:cNvPicPr>
            <a:picLocks noChangeAspect="1"/>
          </p:cNvPicPr>
          <p:nvPr/>
        </p:nvPicPr>
        <p:blipFill>
          <a:blip r:embed="rId9"/>
          <a:stretch>
            <a:fillRect/>
          </a:stretch>
        </p:blipFill>
        <p:spPr>
          <a:xfrm>
            <a:off x="7461509" y="8708631"/>
            <a:ext cx="805115" cy="854469"/>
          </a:xfrm>
          <a:prstGeom prst="rect">
            <a:avLst/>
          </a:prstGeom>
        </p:spPr>
      </p:pic>
      <p:pic>
        <p:nvPicPr>
          <p:cNvPr id="12" name="Picture 11">
            <a:extLst>
              <a:ext uri="{FF2B5EF4-FFF2-40B4-BE49-F238E27FC236}">
                <a16:creationId xmlns:a16="http://schemas.microsoft.com/office/drawing/2014/main" id="{F89CD8E1-1DB5-C01B-290A-CA9C05BB189D}"/>
              </a:ext>
            </a:extLst>
          </p:cNvPr>
          <p:cNvPicPr>
            <a:picLocks noChangeAspect="1"/>
          </p:cNvPicPr>
          <p:nvPr/>
        </p:nvPicPr>
        <p:blipFill>
          <a:blip r:embed="rId10"/>
          <a:stretch>
            <a:fillRect/>
          </a:stretch>
        </p:blipFill>
        <p:spPr>
          <a:xfrm>
            <a:off x="5699959" y="7770688"/>
            <a:ext cx="819634" cy="776367"/>
          </a:xfrm>
          <a:prstGeom prst="rect">
            <a:avLst/>
          </a:prstGeom>
        </p:spPr>
      </p:pic>
      <p:pic>
        <p:nvPicPr>
          <p:cNvPr id="13" name="Picture 12">
            <a:extLst>
              <a:ext uri="{FF2B5EF4-FFF2-40B4-BE49-F238E27FC236}">
                <a16:creationId xmlns:a16="http://schemas.microsoft.com/office/drawing/2014/main" id="{6D116A01-2F88-AFFB-39ED-557549D71051}"/>
              </a:ext>
            </a:extLst>
          </p:cNvPr>
          <p:cNvPicPr>
            <a:picLocks noChangeAspect="1"/>
          </p:cNvPicPr>
          <p:nvPr/>
        </p:nvPicPr>
        <p:blipFill>
          <a:blip r:embed="rId11"/>
          <a:stretch>
            <a:fillRect/>
          </a:stretch>
        </p:blipFill>
        <p:spPr>
          <a:xfrm>
            <a:off x="11750172" y="7567084"/>
            <a:ext cx="819634" cy="869878"/>
          </a:xfrm>
          <a:prstGeom prst="rect">
            <a:avLst/>
          </a:prstGeom>
        </p:spPr>
      </p:pic>
      <p:pic>
        <p:nvPicPr>
          <p:cNvPr id="14" name="Picture 13">
            <a:extLst>
              <a:ext uri="{FF2B5EF4-FFF2-40B4-BE49-F238E27FC236}">
                <a16:creationId xmlns:a16="http://schemas.microsoft.com/office/drawing/2014/main" id="{94861934-3797-F948-363D-0997B16EB85B}"/>
              </a:ext>
            </a:extLst>
          </p:cNvPr>
          <p:cNvPicPr>
            <a:picLocks noChangeAspect="1"/>
          </p:cNvPicPr>
          <p:nvPr/>
        </p:nvPicPr>
        <p:blipFill>
          <a:blip r:embed="rId12"/>
          <a:stretch>
            <a:fillRect/>
          </a:stretch>
        </p:blipFill>
        <p:spPr>
          <a:xfrm>
            <a:off x="11431611" y="4228905"/>
            <a:ext cx="731524" cy="776367"/>
          </a:xfrm>
          <a:prstGeom prst="rect">
            <a:avLst/>
          </a:prstGeom>
        </p:spPr>
      </p:pic>
      <p:pic>
        <p:nvPicPr>
          <p:cNvPr id="15" name="Picture 2" descr="Computer Folders: Over 307,573 Royalty ...">
            <a:extLst>
              <a:ext uri="{FF2B5EF4-FFF2-40B4-BE49-F238E27FC236}">
                <a16:creationId xmlns:a16="http://schemas.microsoft.com/office/drawing/2014/main" id="{4C4965A7-E8A6-2CA4-940D-B926B3E2C867}"/>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30464" t="28274" r="28977" b="27400"/>
          <a:stretch>
            <a:fillRect/>
          </a:stretch>
        </p:blipFill>
        <p:spPr bwMode="auto">
          <a:xfrm>
            <a:off x="9654357" y="8708631"/>
            <a:ext cx="805115" cy="7250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9B91345-AA0C-43C5-7B0C-BD7A1780C81C}"/>
              </a:ext>
            </a:extLst>
          </p:cNvPr>
          <p:cNvPicPr>
            <a:picLocks noChangeAspect="1"/>
          </p:cNvPicPr>
          <p:nvPr/>
        </p:nvPicPr>
        <p:blipFill>
          <a:blip r:embed="rId14"/>
          <a:stretch>
            <a:fillRect/>
          </a:stretch>
        </p:blipFill>
        <p:spPr>
          <a:xfrm>
            <a:off x="6410084" y="3199716"/>
            <a:ext cx="805114" cy="854467"/>
          </a:xfrm>
          <a:prstGeom prst="rect">
            <a:avLst/>
          </a:prstGeom>
        </p:spPr>
      </p:pic>
    </p:spTree>
    <p:extLst>
      <p:ext uri="{BB962C8B-B14F-4D97-AF65-F5344CB8AC3E}">
        <p14:creationId xmlns:p14="http://schemas.microsoft.com/office/powerpoint/2010/main" val="3894801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7921526" y="3667125"/>
            <a:ext cx="2444948" cy="247650"/>
          </a:xfrm>
          <a:prstGeom prst="rect">
            <a:avLst/>
          </a:prstGeom>
          <a:noFill/>
          <a:ln/>
        </p:spPr>
        <p:txBody>
          <a:bodyPr wrap="square" lIns="25400" tIns="25400" rIns="25400" bIns="25400" rtlCol="0" anchor="t">
            <a:normAutofit lnSpcReduction="10000"/>
          </a:bodyPr>
          <a:lstStyle/>
          <a:p>
            <a:pPr marL="0" indent="0" algn="ctr">
              <a:buNone/>
            </a:pPr>
            <a:r>
              <a:rPr lang="en-US" sz="1350" b="1" kern="0" spc="378" dirty="0">
                <a:solidFill>
                  <a:srgbClr val="F58220"/>
                </a:solidFill>
                <a:latin typeface="Inter" pitchFamily="34" charset="0"/>
                <a:ea typeface="Inter" pitchFamily="34" charset="-122"/>
                <a:cs typeface="Inter" pitchFamily="34" charset="-120"/>
              </a:rPr>
              <a:t>LEARNING · 4 OF 5</a:t>
            </a:r>
            <a:endParaRPr lang="en-US" sz="1350" dirty="0"/>
          </a:p>
        </p:txBody>
      </p:sp>
      <p:sp>
        <p:nvSpPr>
          <p:cNvPr id="3" name="Text 1"/>
          <p:cNvSpPr/>
          <p:nvPr/>
        </p:nvSpPr>
        <p:spPr>
          <a:xfrm>
            <a:off x="2058417" y="4181475"/>
            <a:ext cx="14171092" cy="1790700"/>
          </a:xfrm>
          <a:prstGeom prst="rect">
            <a:avLst/>
          </a:prstGeom>
          <a:noFill/>
          <a:ln/>
        </p:spPr>
        <p:txBody>
          <a:bodyPr wrap="square" lIns="25400" tIns="25400" rIns="25400" bIns="25400" rtlCol="0" anchor="t">
            <a:normAutofit fontScale="92500" lnSpcReduction="20000"/>
          </a:bodyPr>
          <a:lstStyle/>
          <a:p>
            <a:pPr marL="0" indent="0" algn="ctr">
              <a:lnSpc>
                <a:spcPct val="92000"/>
              </a:lnSpc>
              <a:buNone/>
            </a:pPr>
            <a:r>
              <a:rPr lang="en-US" sz="15000" b="1" kern="0" spc="-375" dirty="0">
                <a:solidFill>
                  <a:srgbClr val="14161C"/>
                </a:solidFill>
                <a:latin typeface="Montserrat" pitchFamily="34" charset="0"/>
                <a:ea typeface="Montserrat" pitchFamily="34" charset="-122"/>
                <a:cs typeface="Montserrat" pitchFamily="34" charset="-120"/>
              </a:rPr>
              <a:t>Rinse, repeat?</a:t>
            </a:r>
            <a:endParaRPr lang="en-US" sz="15000" dirty="0"/>
          </a:p>
        </p:txBody>
      </p:sp>
      <p:sp>
        <p:nvSpPr>
          <p:cNvPr id="4" name="Text 2"/>
          <p:cNvSpPr/>
          <p:nvPr/>
        </p:nvSpPr>
        <p:spPr>
          <a:xfrm>
            <a:off x="7177634" y="6276975"/>
            <a:ext cx="3932731"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3A3D49"/>
                </a:solidFill>
                <a:latin typeface="Inter" pitchFamily="34" charset="0"/>
                <a:ea typeface="Inter" pitchFamily="34" charset="-122"/>
                <a:cs typeface="Inter" pitchFamily="34" charset="-120"/>
              </a:rPr>
              <a:t>There's a command for that.</a:t>
            </a:r>
            <a:endParaRPr lang="en-US" sz="2250" dirty="0"/>
          </a:p>
        </p:txBody>
      </p:sp>
      <p:sp>
        <p:nvSpPr>
          <p:cNvPr id="5" name="Shape 3"/>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6" name="Text 4"/>
          <p:cNvSpPr/>
          <p:nvPr/>
        </p:nvSpPr>
        <p:spPr>
          <a:xfrm>
            <a:off x="1085850" y="9653588"/>
            <a:ext cx="2276475" cy="214313"/>
          </a:xfrm>
          <a:prstGeom prst="rect">
            <a:avLst/>
          </a:prstGeom>
          <a:noFill/>
          <a:ln/>
        </p:spPr>
        <p:txBody>
          <a:bodyPr wrap="square" lIns="0" tIns="0" rIns="0" bIns="0" rtlCol="0" anchor="t">
            <a:normAutofit/>
          </a:bodyPr>
          <a:lstStyle/>
          <a:p>
            <a:pPr marL="0" indent="0" algn="ctr">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
        <p:nvSpPr>
          <p:cNvPr id="8" name="Shape 0">
            <a:extLst>
              <a:ext uri="{FF2B5EF4-FFF2-40B4-BE49-F238E27FC236}">
                <a16:creationId xmlns:a16="http://schemas.microsoft.com/office/drawing/2014/main" id="{E0C3FB9E-8150-6243-C540-EA997418A721}"/>
              </a:ext>
            </a:extLst>
          </p:cNvPr>
          <p:cNvSpPr/>
          <p:nvPr/>
        </p:nvSpPr>
        <p:spPr>
          <a:xfrm>
            <a:off x="7649474" y="3544673"/>
            <a:ext cx="2989052" cy="461238"/>
          </a:xfrm>
          <a:prstGeom prst="roundRect">
            <a:avLst>
              <a:gd name="adj" fmla="val 70321"/>
            </a:avLst>
          </a:prstGeom>
          <a:noFill/>
          <a:ln w="7620">
            <a:solidFill>
              <a:srgbClr val="F39425"/>
            </a:solidFill>
            <a:prstDash val="solid"/>
          </a:ln>
        </p:spPr>
        <p:txBody>
          <a:bodyPr/>
          <a:lstStyle/>
          <a:p>
            <a:endParaRPr lang="en-US" sz="15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378" dirty="0">
                <a:solidFill>
                  <a:srgbClr val="F58220"/>
                </a:solidFill>
                <a:latin typeface="Inter" pitchFamily="34" charset="0"/>
                <a:ea typeface="Inter" pitchFamily="34" charset="-122"/>
                <a:cs typeface="Inter" pitchFamily="34" charset="-120"/>
              </a:rPr>
              <a:t>LEARNING · 4 OF 5</a:t>
            </a:r>
            <a:endParaRPr lang="en-US" sz="1350" dirty="0"/>
          </a:p>
        </p:txBody>
      </p:sp>
      <p:sp>
        <p:nvSpPr>
          <p:cNvPr id="3" name="Text 1"/>
          <p:cNvSpPr/>
          <p:nvPr/>
        </p:nvSpPr>
        <p:spPr>
          <a:xfrm>
            <a:off x="1143000" y="1524000"/>
            <a:ext cx="16482060"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144" dirty="0">
                <a:solidFill>
                  <a:srgbClr val="FFFFFF"/>
                </a:solidFill>
                <a:latin typeface="Montserrat" pitchFamily="34" charset="0"/>
                <a:ea typeface="Montserrat" pitchFamily="34" charset="-122"/>
                <a:cs typeface="Montserrat" pitchFamily="34" charset="-120"/>
              </a:rPr>
              <a:t>Three times = a command.</a:t>
            </a:r>
            <a:endParaRPr lang="en-US" sz="7200" dirty="0"/>
          </a:p>
        </p:txBody>
      </p:sp>
      <p:sp>
        <p:nvSpPr>
          <p:cNvPr id="4" name="Text 2"/>
          <p:cNvSpPr/>
          <p:nvPr/>
        </p:nvSpPr>
        <p:spPr>
          <a:xfrm>
            <a:off x="1143000" y="2743200"/>
            <a:ext cx="1471612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9CBD1"/>
                </a:solidFill>
                <a:latin typeface="Inter" pitchFamily="34" charset="0"/>
                <a:ea typeface="Inter" pitchFamily="34" charset="-122"/>
                <a:cs typeface="Inter" pitchFamily="34" charset="-120"/>
              </a:rPr>
              <a:t>If you've explained the same task three times, you've found a command. Build it.</a:t>
            </a:r>
            <a:endParaRPr lang="en-US" sz="2250" dirty="0"/>
          </a:p>
        </p:txBody>
      </p:sp>
      <p:sp>
        <p:nvSpPr>
          <p:cNvPr id="5" name="Text 3"/>
          <p:cNvSpPr/>
          <p:nvPr/>
        </p:nvSpPr>
        <p:spPr>
          <a:xfrm>
            <a:off x="1485900" y="36957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Weekly Release Management Meeting prep — sprint data, strict Excel checklist, Jira ticket.</a:t>
            </a:r>
            <a:endParaRPr lang="en-US" sz="1800" dirty="0"/>
          </a:p>
        </p:txBody>
      </p:sp>
      <p:sp>
        <p:nvSpPr>
          <p:cNvPr id="6" name="Text 4"/>
          <p:cNvSpPr/>
          <p:nvPr/>
        </p:nvSpPr>
        <p:spPr>
          <a:xfrm>
            <a:off x="1485900" y="42291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Used to take </a:t>
            </a:r>
            <a:r>
              <a:rPr lang="en-US" sz="1800" dirty="0">
                <a:solidFill>
                  <a:srgbClr val="F58220"/>
                </a:solidFill>
                <a:latin typeface="JetBrains Mono" pitchFamily="34" charset="0"/>
                <a:ea typeface="JetBrains Mono" pitchFamily="34" charset="-122"/>
                <a:cs typeface="JetBrains Mono" pitchFamily="34" charset="-120"/>
              </a:rPr>
              <a:t>30+ minutes </a:t>
            </a:r>
            <a:r>
              <a:rPr lang="en-US" sz="1800" dirty="0">
                <a:solidFill>
                  <a:srgbClr val="FFFFFF"/>
                </a:solidFill>
                <a:latin typeface="JetBrains Mono" pitchFamily="34" charset="0"/>
                <a:ea typeface="JetBrains Mono" pitchFamily="34" charset="-122"/>
                <a:cs typeface="JetBrains Mono" pitchFamily="34" charset="-120"/>
              </a:rPr>
              <a:t>every week.</a:t>
            </a:r>
            <a:endParaRPr lang="en-US" sz="1800" dirty="0"/>
          </a:p>
        </p:txBody>
      </p:sp>
      <p:sp>
        <p:nvSpPr>
          <p:cNvPr id="7" name="Text 5"/>
          <p:cNvSpPr/>
          <p:nvPr/>
        </p:nvSpPr>
        <p:spPr>
          <a:xfrm>
            <a:off x="1485900" y="47625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dirty="0">
                <a:solidFill>
                  <a:srgbClr val="FFFFFF"/>
                </a:solidFill>
                <a:latin typeface="JetBrains Mono" pitchFamily="34" charset="0"/>
                <a:ea typeface="JetBrains Mono" pitchFamily="34" charset="-122"/>
              </a:rPr>
              <a:t>Claudia</a:t>
            </a:r>
            <a:r>
              <a:rPr lang="en-US" sz="1800" dirty="0">
                <a:solidFill>
                  <a:srgbClr val="FFFFFF"/>
                </a:solidFill>
                <a:latin typeface="JetBrains Mono" pitchFamily="34" charset="0"/>
                <a:ea typeface="JetBrains Mono" pitchFamily="34" charset="-122"/>
                <a:cs typeface="JetBrains Mono" pitchFamily="34" charset="-120"/>
              </a:rPr>
              <a:t> built </a:t>
            </a:r>
            <a:r>
              <a:rPr lang="en-US" sz="1800" dirty="0">
                <a:solidFill>
                  <a:srgbClr val="F58220"/>
                </a:solidFill>
                <a:latin typeface="JetBrains Mono" pitchFamily="34" charset="0"/>
                <a:ea typeface="JetBrains Mono" pitchFamily="34" charset="-122"/>
                <a:cs typeface="JetBrains Mono" pitchFamily="34" charset="-120"/>
              </a:rPr>
              <a:t>/rmm</a:t>
            </a:r>
            <a:r>
              <a:rPr lang="en-US" sz="1800" dirty="0">
                <a:solidFill>
                  <a:srgbClr val="FFFFFF"/>
                </a:solidFill>
                <a:latin typeface="JetBrains Mono" pitchFamily="34" charset="0"/>
                <a:ea typeface="JetBrains Mono" pitchFamily="34" charset="-122"/>
                <a:cs typeface="JetBrains Mono" pitchFamily="34" charset="-120"/>
              </a:rPr>
              <a:t>.</a:t>
            </a:r>
            <a:endParaRPr lang="en-US" sz="1800" dirty="0"/>
          </a:p>
        </p:txBody>
      </p:sp>
      <p:sp>
        <p:nvSpPr>
          <p:cNvPr id="8" name="Text 6"/>
          <p:cNvSpPr/>
          <p:nvPr/>
        </p:nvSpPr>
        <p:spPr>
          <a:xfrm>
            <a:off x="1485900" y="5295900"/>
            <a:ext cx="1339215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JetBrains Mono" pitchFamily="34" charset="0"/>
                <a:ea typeface="JetBrains Mono" pitchFamily="34" charset="-122"/>
                <a:cs typeface="JetBrains Mono" pitchFamily="34" charset="-120"/>
              </a:rPr>
              <a:t>Now I type three letters. She does it all in </a:t>
            </a:r>
            <a:r>
              <a:rPr lang="en-US" sz="1800" dirty="0">
                <a:solidFill>
                  <a:srgbClr val="F58220"/>
                </a:solidFill>
                <a:latin typeface="JetBrains Mono" pitchFamily="34" charset="0"/>
                <a:ea typeface="JetBrains Mono" pitchFamily="34" charset="-122"/>
                <a:cs typeface="JetBrains Mono" pitchFamily="34" charset="-120"/>
              </a:rPr>
              <a:t>~30 seconds</a:t>
            </a:r>
            <a:r>
              <a:rPr lang="en-US" sz="1800" dirty="0">
                <a:solidFill>
                  <a:srgbClr val="FFFFFF"/>
                </a:solidFill>
                <a:latin typeface="JetBrains Mono" pitchFamily="34" charset="0"/>
                <a:ea typeface="JetBrains Mono" pitchFamily="34" charset="-122"/>
                <a:cs typeface="JetBrains Mono" pitchFamily="34" charset="-120"/>
              </a:rPr>
              <a:t>. I review. Done.</a:t>
            </a:r>
            <a:endParaRPr lang="en-US" sz="1800" dirty="0"/>
          </a:p>
        </p:txBody>
      </p:sp>
      <p:sp>
        <p:nvSpPr>
          <p:cNvPr id="9" name="Shape 7"/>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0" name="Text 8"/>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HOW I'M USING IT</a:t>
            </a:r>
            <a:endParaRPr lang="en-US" sz="1350" dirty="0"/>
          </a:p>
        </p:txBody>
      </p:sp>
      <p:sp>
        <p:nvSpPr>
          <p:cNvPr id="3" name="Text 1"/>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Claudia. Scripted.</a:t>
            </a:r>
            <a:endParaRPr lang="en-US" sz="6300" dirty="0"/>
          </a:p>
        </p:txBody>
      </p:sp>
      <p:sp>
        <p:nvSpPr>
          <p:cNvPr id="4" name="Text 2"/>
          <p:cNvSpPr/>
          <p:nvPr/>
        </p:nvSpPr>
        <p:spPr>
          <a:xfrm>
            <a:off x="1143000" y="2552700"/>
            <a:ext cx="16482060"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Six commands I run more than I run my coffee maker.</a:t>
            </a:r>
            <a:endParaRPr lang="en-US" sz="1950" dirty="0"/>
          </a:p>
        </p:txBody>
      </p:sp>
      <p:sp>
        <p:nvSpPr>
          <p:cNvPr id="5" name="Shape 3"/>
          <p:cNvSpPr/>
          <p:nvPr/>
        </p:nvSpPr>
        <p:spPr>
          <a:xfrm>
            <a:off x="1143000" y="3309938"/>
            <a:ext cx="7915275" cy="833438"/>
          </a:xfrm>
          <a:prstGeom prst="rect">
            <a:avLst/>
          </a:prstGeom>
          <a:solidFill>
            <a:srgbClr val="1B1D24"/>
          </a:solidFill>
          <a:ln/>
        </p:spPr>
        <p:txBody>
          <a:bodyPr/>
          <a:lstStyle/>
          <a:p>
            <a:endParaRPr lang="en-US"/>
          </a:p>
        </p:txBody>
      </p:sp>
      <p:sp>
        <p:nvSpPr>
          <p:cNvPr id="6" name="Shape 4"/>
          <p:cNvSpPr/>
          <p:nvPr/>
        </p:nvSpPr>
        <p:spPr>
          <a:xfrm>
            <a:off x="1143000" y="3309938"/>
            <a:ext cx="19050" cy="833438"/>
          </a:xfrm>
          <a:prstGeom prst="rect">
            <a:avLst/>
          </a:prstGeom>
          <a:solidFill>
            <a:srgbClr val="3A3D49"/>
          </a:solidFill>
          <a:ln/>
        </p:spPr>
        <p:txBody>
          <a:bodyPr/>
          <a:lstStyle/>
          <a:p>
            <a:endParaRPr lang="en-US"/>
          </a:p>
        </p:txBody>
      </p:sp>
      <p:sp>
        <p:nvSpPr>
          <p:cNvPr id="7" name="Text 5"/>
          <p:cNvSpPr/>
          <p:nvPr/>
        </p:nvSpPr>
        <p:spPr>
          <a:xfrm>
            <a:off x="1466850" y="3538538"/>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/pr</a:t>
            </a:r>
            <a:endParaRPr lang="en-US" sz="2250" dirty="0"/>
          </a:p>
        </p:txBody>
      </p:sp>
      <p:sp>
        <p:nvSpPr>
          <p:cNvPr id="8" name="Text 6"/>
          <p:cNvSpPr/>
          <p:nvPr/>
        </p:nvSpPr>
        <p:spPr>
          <a:xfrm>
            <a:off x="3308350" y="3629025"/>
            <a:ext cx="5079133"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Inter" pitchFamily="34" charset="0"/>
                <a:ea typeface="Inter" pitchFamily="34" charset="-122"/>
                <a:cs typeface="Inter" pitchFamily="34" charset="-120"/>
              </a:rPr>
              <a:t>Drafts pull requests with the right reviewers and template.</a:t>
            </a:r>
            <a:endParaRPr lang="en-US" sz="1425" dirty="0"/>
          </a:p>
        </p:txBody>
      </p:sp>
      <p:sp>
        <p:nvSpPr>
          <p:cNvPr id="9" name="Shape 7"/>
          <p:cNvSpPr/>
          <p:nvPr/>
        </p:nvSpPr>
        <p:spPr>
          <a:xfrm>
            <a:off x="9229725" y="3309938"/>
            <a:ext cx="7915275" cy="833438"/>
          </a:xfrm>
          <a:prstGeom prst="rect">
            <a:avLst/>
          </a:prstGeom>
          <a:solidFill>
            <a:srgbClr val="1B1D24"/>
          </a:solidFill>
          <a:ln/>
        </p:spPr>
        <p:txBody>
          <a:bodyPr/>
          <a:lstStyle/>
          <a:p>
            <a:endParaRPr lang="en-US"/>
          </a:p>
        </p:txBody>
      </p:sp>
      <p:sp>
        <p:nvSpPr>
          <p:cNvPr id="10" name="Shape 8"/>
          <p:cNvSpPr/>
          <p:nvPr/>
        </p:nvSpPr>
        <p:spPr>
          <a:xfrm>
            <a:off x="9229725" y="3309938"/>
            <a:ext cx="19050" cy="833438"/>
          </a:xfrm>
          <a:prstGeom prst="rect">
            <a:avLst/>
          </a:prstGeom>
          <a:solidFill>
            <a:srgbClr val="3A3D49"/>
          </a:solidFill>
          <a:ln/>
        </p:spPr>
        <p:txBody>
          <a:bodyPr/>
          <a:lstStyle/>
          <a:p>
            <a:endParaRPr lang="en-US"/>
          </a:p>
        </p:txBody>
      </p:sp>
      <p:sp>
        <p:nvSpPr>
          <p:cNvPr id="11" name="Text 9"/>
          <p:cNvSpPr/>
          <p:nvPr/>
        </p:nvSpPr>
        <p:spPr>
          <a:xfrm>
            <a:off x="9553575" y="3538538"/>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/validate</a:t>
            </a:r>
            <a:endParaRPr lang="en-US" sz="2250" dirty="0"/>
          </a:p>
        </p:txBody>
      </p:sp>
      <p:sp>
        <p:nvSpPr>
          <p:cNvPr id="12" name="Text 10"/>
          <p:cNvSpPr/>
          <p:nvPr/>
        </p:nvSpPr>
        <p:spPr>
          <a:xfrm>
            <a:off x="11395075" y="3629025"/>
            <a:ext cx="5136694"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Inter" pitchFamily="34" charset="0"/>
                <a:ea typeface="Inter" pitchFamily="34" charset="-122"/>
                <a:cs typeface="Inter" pitchFamily="34" charset="-120"/>
              </a:rPr>
              <a:t>Runs a feature validation pass against acceptance criteria.</a:t>
            </a:r>
            <a:endParaRPr lang="en-US" sz="1425" dirty="0"/>
          </a:p>
        </p:txBody>
      </p:sp>
      <p:sp>
        <p:nvSpPr>
          <p:cNvPr id="13" name="Shape 11"/>
          <p:cNvSpPr/>
          <p:nvPr/>
        </p:nvSpPr>
        <p:spPr>
          <a:xfrm>
            <a:off x="1143000" y="4314825"/>
            <a:ext cx="7915275" cy="833438"/>
          </a:xfrm>
          <a:prstGeom prst="rect">
            <a:avLst/>
          </a:prstGeom>
          <a:solidFill>
            <a:srgbClr val="1B1D24"/>
          </a:solidFill>
          <a:ln/>
        </p:spPr>
        <p:txBody>
          <a:bodyPr/>
          <a:lstStyle/>
          <a:p>
            <a:endParaRPr lang="en-US"/>
          </a:p>
        </p:txBody>
      </p:sp>
      <p:sp>
        <p:nvSpPr>
          <p:cNvPr id="14" name="Shape 12"/>
          <p:cNvSpPr/>
          <p:nvPr/>
        </p:nvSpPr>
        <p:spPr>
          <a:xfrm>
            <a:off x="1143000" y="4314825"/>
            <a:ext cx="19050" cy="833438"/>
          </a:xfrm>
          <a:prstGeom prst="rect">
            <a:avLst/>
          </a:prstGeom>
          <a:solidFill>
            <a:srgbClr val="3A3D49"/>
          </a:solidFill>
          <a:ln/>
        </p:spPr>
        <p:txBody>
          <a:bodyPr/>
          <a:lstStyle/>
          <a:p>
            <a:endParaRPr lang="en-US"/>
          </a:p>
        </p:txBody>
      </p:sp>
      <p:sp>
        <p:nvSpPr>
          <p:cNvPr id="15" name="Text 13"/>
          <p:cNvSpPr/>
          <p:nvPr/>
        </p:nvSpPr>
        <p:spPr>
          <a:xfrm>
            <a:off x="1466850" y="4543425"/>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/mtg</a:t>
            </a:r>
            <a:endParaRPr lang="en-US" sz="2250" dirty="0"/>
          </a:p>
        </p:txBody>
      </p:sp>
      <p:sp>
        <p:nvSpPr>
          <p:cNvPr id="16" name="Text 14"/>
          <p:cNvSpPr/>
          <p:nvPr/>
        </p:nvSpPr>
        <p:spPr>
          <a:xfrm>
            <a:off x="3308350" y="4633913"/>
            <a:ext cx="4115456"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Inter" pitchFamily="34" charset="0"/>
                <a:ea typeface="Inter" pitchFamily="34" charset="-122"/>
                <a:cs typeface="Inter" pitchFamily="34" charset="-120"/>
              </a:rPr>
              <a:t>Builds a 1:1 review pulled straight from Fathom.</a:t>
            </a:r>
            <a:endParaRPr lang="en-US" sz="1425" dirty="0"/>
          </a:p>
        </p:txBody>
      </p:sp>
      <p:sp>
        <p:nvSpPr>
          <p:cNvPr id="17" name="Shape 15"/>
          <p:cNvSpPr/>
          <p:nvPr/>
        </p:nvSpPr>
        <p:spPr>
          <a:xfrm>
            <a:off x="9229725" y="4314825"/>
            <a:ext cx="7915275" cy="833438"/>
          </a:xfrm>
          <a:prstGeom prst="rect">
            <a:avLst/>
          </a:prstGeom>
          <a:solidFill>
            <a:srgbClr val="1B1D24"/>
          </a:solidFill>
          <a:ln/>
        </p:spPr>
        <p:txBody>
          <a:bodyPr/>
          <a:lstStyle/>
          <a:p>
            <a:endParaRPr lang="en-US"/>
          </a:p>
        </p:txBody>
      </p:sp>
      <p:sp>
        <p:nvSpPr>
          <p:cNvPr id="18" name="Shape 16"/>
          <p:cNvSpPr/>
          <p:nvPr/>
        </p:nvSpPr>
        <p:spPr>
          <a:xfrm>
            <a:off x="9229725" y="4314825"/>
            <a:ext cx="19050" cy="833438"/>
          </a:xfrm>
          <a:prstGeom prst="rect">
            <a:avLst/>
          </a:prstGeom>
          <a:solidFill>
            <a:srgbClr val="3A3D49"/>
          </a:solidFill>
          <a:ln/>
        </p:spPr>
        <p:txBody>
          <a:bodyPr/>
          <a:lstStyle/>
          <a:p>
            <a:endParaRPr lang="en-US"/>
          </a:p>
        </p:txBody>
      </p:sp>
      <p:sp>
        <p:nvSpPr>
          <p:cNvPr id="19" name="Text 17"/>
          <p:cNvSpPr/>
          <p:nvPr/>
        </p:nvSpPr>
        <p:spPr>
          <a:xfrm>
            <a:off x="9553575" y="4543425"/>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/issuenext</a:t>
            </a:r>
            <a:endParaRPr lang="en-US" sz="2250" dirty="0"/>
          </a:p>
        </p:txBody>
      </p:sp>
      <p:sp>
        <p:nvSpPr>
          <p:cNvPr id="20" name="Text 18"/>
          <p:cNvSpPr/>
          <p:nvPr/>
        </p:nvSpPr>
        <p:spPr>
          <a:xfrm>
            <a:off x="11395075" y="4633913"/>
            <a:ext cx="4697740"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Inter" pitchFamily="34" charset="0"/>
                <a:ea typeface="Inter" pitchFamily="34" charset="-122"/>
                <a:cs typeface="Inter" pitchFamily="34" charset="-120"/>
              </a:rPr>
              <a:t>Drafts the next issue with a full body — ready to ship.</a:t>
            </a:r>
            <a:endParaRPr lang="en-US" sz="1425" dirty="0"/>
          </a:p>
        </p:txBody>
      </p:sp>
      <p:sp>
        <p:nvSpPr>
          <p:cNvPr id="21" name="Shape 19"/>
          <p:cNvSpPr/>
          <p:nvPr/>
        </p:nvSpPr>
        <p:spPr>
          <a:xfrm>
            <a:off x="1143000" y="5319713"/>
            <a:ext cx="7915275" cy="833438"/>
          </a:xfrm>
          <a:prstGeom prst="rect">
            <a:avLst/>
          </a:prstGeom>
          <a:solidFill>
            <a:srgbClr val="1B1D24"/>
          </a:solidFill>
          <a:ln/>
        </p:spPr>
        <p:txBody>
          <a:bodyPr/>
          <a:lstStyle/>
          <a:p>
            <a:endParaRPr lang="en-US"/>
          </a:p>
        </p:txBody>
      </p:sp>
      <p:sp>
        <p:nvSpPr>
          <p:cNvPr id="22" name="Shape 20"/>
          <p:cNvSpPr/>
          <p:nvPr/>
        </p:nvSpPr>
        <p:spPr>
          <a:xfrm>
            <a:off x="1143000" y="5319713"/>
            <a:ext cx="19050" cy="833438"/>
          </a:xfrm>
          <a:prstGeom prst="rect">
            <a:avLst/>
          </a:prstGeom>
          <a:solidFill>
            <a:srgbClr val="3A3D49"/>
          </a:solidFill>
          <a:ln/>
        </p:spPr>
        <p:txBody>
          <a:bodyPr/>
          <a:lstStyle/>
          <a:p>
            <a:endParaRPr lang="en-US"/>
          </a:p>
        </p:txBody>
      </p:sp>
      <p:sp>
        <p:nvSpPr>
          <p:cNvPr id="23" name="Text 21"/>
          <p:cNvSpPr/>
          <p:nvPr/>
        </p:nvSpPr>
        <p:spPr>
          <a:xfrm>
            <a:off x="1466850" y="5548313"/>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/nextdev</a:t>
            </a:r>
            <a:endParaRPr lang="en-US" sz="2250" dirty="0"/>
          </a:p>
        </p:txBody>
      </p:sp>
      <p:sp>
        <p:nvSpPr>
          <p:cNvPr id="24" name="Text 22"/>
          <p:cNvSpPr/>
          <p:nvPr/>
        </p:nvSpPr>
        <p:spPr>
          <a:xfrm>
            <a:off x="3308350" y="5638800"/>
            <a:ext cx="4376361"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Inter" pitchFamily="34" charset="0"/>
                <a:ea typeface="Inter" pitchFamily="34" charset="-122"/>
                <a:cs typeface="Inter" pitchFamily="34" charset="-120"/>
              </a:rPr>
              <a:t>Tells me what to work on next based on priorities.</a:t>
            </a:r>
            <a:endParaRPr lang="en-US" sz="1425" dirty="0"/>
          </a:p>
        </p:txBody>
      </p:sp>
      <p:sp>
        <p:nvSpPr>
          <p:cNvPr id="25" name="Shape 23"/>
          <p:cNvSpPr/>
          <p:nvPr/>
        </p:nvSpPr>
        <p:spPr>
          <a:xfrm>
            <a:off x="9229725" y="5319713"/>
            <a:ext cx="7915275" cy="833438"/>
          </a:xfrm>
          <a:prstGeom prst="rect">
            <a:avLst/>
          </a:prstGeom>
          <a:solidFill>
            <a:srgbClr val="F58220">
              <a:alpha val="8000"/>
            </a:srgbClr>
          </a:solidFill>
          <a:ln/>
        </p:spPr>
        <p:txBody>
          <a:bodyPr/>
          <a:lstStyle/>
          <a:p>
            <a:endParaRPr lang="en-US"/>
          </a:p>
        </p:txBody>
      </p:sp>
      <p:sp>
        <p:nvSpPr>
          <p:cNvPr id="26" name="Shape 24"/>
          <p:cNvSpPr/>
          <p:nvPr/>
        </p:nvSpPr>
        <p:spPr>
          <a:xfrm>
            <a:off x="9229725" y="5319713"/>
            <a:ext cx="19050" cy="833438"/>
          </a:xfrm>
          <a:prstGeom prst="rect">
            <a:avLst/>
          </a:prstGeom>
          <a:solidFill>
            <a:srgbClr val="F58220"/>
          </a:solidFill>
          <a:ln/>
        </p:spPr>
        <p:txBody>
          <a:bodyPr/>
          <a:lstStyle/>
          <a:p>
            <a:endParaRPr lang="en-US"/>
          </a:p>
        </p:txBody>
      </p:sp>
      <p:sp>
        <p:nvSpPr>
          <p:cNvPr id="27" name="Text 25"/>
          <p:cNvSpPr/>
          <p:nvPr/>
        </p:nvSpPr>
        <p:spPr>
          <a:xfrm>
            <a:off x="9553575" y="5548313"/>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/rmm</a:t>
            </a:r>
            <a:endParaRPr lang="en-US" sz="2250" dirty="0"/>
          </a:p>
        </p:txBody>
      </p:sp>
      <p:sp>
        <p:nvSpPr>
          <p:cNvPr id="28" name="Text 26"/>
          <p:cNvSpPr/>
          <p:nvPr/>
        </p:nvSpPr>
        <p:spPr>
          <a:xfrm>
            <a:off x="11395075" y="5638800"/>
            <a:ext cx="3623922"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C9CBD1"/>
                </a:solidFill>
                <a:latin typeface="Inter" pitchFamily="34" charset="0"/>
                <a:ea typeface="Inter" pitchFamily="34" charset="-122"/>
                <a:cs typeface="Inter" pitchFamily="34" charset="-120"/>
              </a:rPr>
              <a:t>Weekly release prep · 30 min → ~30 sec.</a:t>
            </a:r>
            <a:endParaRPr lang="en-US" sz="1425" dirty="0"/>
          </a:p>
        </p:txBody>
      </p:sp>
      <p:sp>
        <p:nvSpPr>
          <p:cNvPr id="29" name="Shape 27"/>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060440E7-B339-2C79-0218-080E2ACAA3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874DD31-5461-606C-0870-1E7DD591FFBE}"/>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HOW I'M USING IT</a:t>
            </a:r>
            <a:endParaRPr lang="en-US" sz="1350" dirty="0"/>
          </a:p>
        </p:txBody>
      </p:sp>
      <p:sp>
        <p:nvSpPr>
          <p:cNvPr id="3" name="Text 1">
            <a:extLst>
              <a:ext uri="{FF2B5EF4-FFF2-40B4-BE49-F238E27FC236}">
                <a16:creationId xmlns:a16="http://schemas.microsoft.com/office/drawing/2014/main" id="{FE47BF1E-2663-9CBD-C784-096636413578}"/>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Reclaiming my week. </a:t>
            </a:r>
            <a:r>
              <a:rPr lang="en-US" sz="6300" b="1" kern="0" spc="-126">
                <a:solidFill>
                  <a:srgbClr val="FFFFFF"/>
                </a:solidFill>
                <a:latin typeface="Montserrat" pitchFamily="34" charset="0"/>
                <a:ea typeface="Montserrat" pitchFamily="34" charset="-122"/>
                <a:cs typeface="Montserrat" pitchFamily="34" charset="-120"/>
              </a:rPr>
              <a:t>One </a:t>
            </a:r>
            <a:r>
              <a:rPr lang="en-US" sz="6300" b="1" kern="0" spc="-126" dirty="0">
                <a:solidFill>
                  <a:srgbClr val="FFFFFF"/>
                </a:solidFill>
                <a:latin typeface="Montserrat" pitchFamily="34" charset="0"/>
                <a:ea typeface="Montserrat" pitchFamily="34" charset="-122"/>
                <a:cs typeface="Montserrat" pitchFamily="34" charset="-120"/>
              </a:rPr>
              <a:t>/ at </a:t>
            </a:r>
            <a:r>
              <a:rPr lang="en-US" sz="6300" b="1" kern="0" spc="-126">
                <a:solidFill>
                  <a:srgbClr val="FFFFFF"/>
                </a:solidFill>
                <a:latin typeface="Montserrat" pitchFamily="34" charset="0"/>
                <a:ea typeface="Montserrat" pitchFamily="34" charset="-122"/>
                <a:cs typeface="Montserrat" pitchFamily="34" charset="-120"/>
              </a:rPr>
              <a:t>a time.</a:t>
            </a:r>
            <a:endParaRPr lang="en-US" sz="6300" dirty="0"/>
          </a:p>
        </p:txBody>
      </p:sp>
      <p:sp>
        <p:nvSpPr>
          <p:cNvPr id="29" name="Shape 27">
            <a:extLst>
              <a:ext uri="{FF2B5EF4-FFF2-40B4-BE49-F238E27FC236}">
                <a16:creationId xmlns:a16="http://schemas.microsoft.com/office/drawing/2014/main" id="{74497369-F3F0-83E4-6DC4-C13EC6105888}"/>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0" name="Text 28">
            <a:extLst>
              <a:ext uri="{FF2B5EF4-FFF2-40B4-BE49-F238E27FC236}">
                <a16:creationId xmlns:a16="http://schemas.microsoft.com/office/drawing/2014/main" id="{B97D1EA1-D118-6C92-F211-A6007AC4511A}"/>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pic>
        <p:nvPicPr>
          <p:cNvPr id="32" name="Graphic 31">
            <a:extLst>
              <a:ext uri="{FF2B5EF4-FFF2-40B4-BE49-F238E27FC236}">
                <a16:creationId xmlns:a16="http://schemas.microsoft.com/office/drawing/2014/main" id="{137B6642-8A84-82EA-99B6-94DD36FC69AF}"/>
              </a:ext>
            </a:extLst>
          </p:cNvPr>
          <p:cNvPicPr>
            <a:picLocks noChangeAspect="1"/>
          </p:cNvPicPr>
          <p:nvPr/>
        </p:nvPicPr>
        <p:blipFill>
          <a:blip>
            <a:extLst>
              <a:ext uri="{96DAC541-7B7A-43D3-8B79-37D633B846F1}">
                <asvg:svgBlip xmlns:asvg="http://schemas.microsoft.com/office/drawing/2016/SVG/main" r:embed="rId3"/>
              </a:ext>
            </a:extLst>
          </a:blip>
          <a:srcRect l="3313" t="10300" r="9800" b="11531"/>
          <a:stretch>
            <a:fillRect/>
          </a:stretch>
        </p:blipFill>
        <p:spPr>
          <a:xfrm>
            <a:off x="3095772" y="3022600"/>
            <a:ext cx="12096455" cy="6121400"/>
          </a:xfrm>
          <a:prstGeom prst="rect">
            <a:avLst/>
          </a:prstGeom>
        </p:spPr>
      </p:pic>
    </p:spTree>
    <p:extLst>
      <p:ext uri="{BB962C8B-B14F-4D97-AF65-F5344CB8AC3E}">
        <p14:creationId xmlns:p14="http://schemas.microsoft.com/office/powerpoint/2010/main" val="792068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3FE0D0"/>
        </a:solidFill>
        <a:effectLst/>
      </p:bgPr>
    </p:bg>
    <p:spTree>
      <p:nvGrpSpPr>
        <p:cNvPr id="1" name="">
          <a:extLst>
            <a:ext uri="{FF2B5EF4-FFF2-40B4-BE49-F238E27FC236}">
              <a16:creationId xmlns:a16="http://schemas.microsoft.com/office/drawing/2014/main" id="{144D69A1-FA91-3BA2-C849-6B755311FDF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AA020B3-D014-9B02-CAFF-78726BEAA80D}"/>
              </a:ext>
            </a:extLst>
          </p:cNvPr>
          <p:cNvSpPr/>
          <p:nvPr/>
        </p:nvSpPr>
        <p:spPr>
          <a:xfrm>
            <a:off x="0" y="1636294"/>
            <a:ext cx="18288000" cy="8037094"/>
          </a:xfrm>
          <a:prstGeom prst="rect">
            <a:avLst/>
          </a:prstGeom>
          <a:noFill/>
          <a:ln/>
        </p:spPr>
        <p:txBody>
          <a:bodyPr wrap="square" lIns="25400" tIns="25400" rIns="25400" bIns="25400" rtlCol="0" anchor="t">
            <a:normAutofit/>
          </a:bodyPr>
          <a:lstStyle/>
          <a:p>
            <a:pPr marL="0" indent="0" algn="ctr">
              <a:lnSpc>
                <a:spcPct val="92000"/>
              </a:lnSpc>
              <a:buNone/>
            </a:pPr>
            <a:r>
              <a:rPr lang="en-US" sz="13900" b="1" kern="0" spc="-375" dirty="0">
                <a:latin typeface="Montserrat" pitchFamily="34" charset="0"/>
                <a:ea typeface="Montserrat" pitchFamily="34" charset="-122"/>
                <a:cs typeface="Montserrat" pitchFamily="34" charset="-120"/>
              </a:rPr>
              <a:t>DEMO</a:t>
            </a:r>
          </a:p>
          <a:p>
            <a:pPr algn="ctr">
              <a:lnSpc>
                <a:spcPct val="92000"/>
              </a:lnSpc>
            </a:pPr>
            <a:r>
              <a:rPr lang="en-US" sz="13900" b="1" kern="0" spc="-375" dirty="0">
                <a:solidFill>
                  <a:srgbClr val="747474"/>
                </a:solidFill>
                <a:latin typeface="Montserrat" pitchFamily="34" charset="0"/>
                <a:ea typeface="Montserrat" pitchFamily="34" charset="-122"/>
                <a:cs typeface="Montserrat" pitchFamily="34" charset="-120"/>
              </a:rPr>
              <a:t>DEMO</a:t>
            </a:r>
          </a:p>
          <a:p>
            <a:pPr algn="ctr">
              <a:lnSpc>
                <a:spcPct val="92000"/>
              </a:lnSpc>
            </a:pPr>
            <a:r>
              <a:rPr lang="en-US" sz="13900" b="1" kern="0" spc="-375" dirty="0">
                <a:solidFill>
                  <a:srgbClr val="999999"/>
                </a:solidFill>
                <a:latin typeface="Montserrat" pitchFamily="34" charset="0"/>
                <a:ea typeface="Montserrat" pitchFamily="34" charset="-122"/>
                <a:cs typeface="Montserrat" pitchFamily="34" charset="-120"/>
              </a:rPr>
              <a:t>DEMO</a:t>
            </a:r>
          </a:p>
          <a:p>
            <a:pPr algn="ctr">
              <a:lnSpc>
                <a:spcPct val="92000"/>
              </a:lnSpc>
            </a:pPr>
            <a:r>
              <a:rPr lang="en-US" sz="13900" b="1" kern="0" spc="-375" dirty="0">
                <a:solidFill>
                  <a:srgbClr val="BBBEBE"/>
                </a:solidFill>
                <a:latin typeface="Montserrat" pitchFamily="34" charset="0"/>
                <a:ea typeface="Montserrat" pitchFamily="34" charset="-122"/>
                <a:cs typeface="Montserrat" pitchFamily="34" charset="-120"/>
              </a:rPr>
              <a:t>DEMO</a:t>
            </a:r>
            <a:endParaRPr lang="en-US" sz="13900" dirty="0">
              <a:solidFill>
                <a:srgbClr val="BBBEBE"/>
              </a:solidFill>
            </a:endParaRPr>
          </a:p>
        </p:txBody>
      </p:sp>
    </p:spTree>
    <p:extLst>
      <p:ext uri="{BB962C8B-B14F-4D97-AF65-F5344CB8AC3E}">
        <p14:creationId xmlns:p14="http://schemas.microsoft.com/office/powerpoint/2010/main" val="30151093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3">
    <p:bg>
      <p:bgPr>
        <a:solidFill>
          <a:srgbClr val="14161C"/>
        </a:solidFill>
        <a:effectLst/>
      </p:bgPr>
    </p:bg>
    <p:spTree>
      <p:nvGrpSpPr>
        <p:cNvPr id="1" name=""/>
        <p:cNvGrpSpPr/>
        <p:nvPr/>
      </p:nvGrpSpPr>
      <p:grpSpPr>
        <a:xfrm>
          <a:off x="0" y="0"/>
          <a:ext cx="0" cy="0"/>
          <a:chOff x="0" y="0"/>
          <a:chExt cx="0" cy="0"/>
        </a:xfrm>
      </p:grpSpPr>
      <p:sp>
        <p:nvSpPr>
          <p:cNvPr id="21" name="Shape 19"/>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2" name="Text 20"/>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57" name="Text 0">
            <a:extLst>
              <a:ext uri="{FF2B5EF4-FFF2-40B4-BE49-F238E27FC236}">
                <a16:creationId xmlns:a16="http://schemas.microsoft.com/office/drawing/2014/main" id="{649D23E5-CECB-3B5F-9170-B7B7D96DD016}"/>
              </a:ext>
            </a:extLst>
          </p:cNvPr>
          <p:cNvSpPr/>
          <p:nvPr/>
        </p:nvSpPr>
        <p:spPr>
          <a:xfrm>
            <a:off x="1143000" y="8382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YOUR TURN </a:t>
            </a:r>
            <a:r>
              <a:rPr lang="en-US" sz="1350" b="1" kern="0" spc="297" dirty="0">
                <a:solidFill>
                  <a:srgbClr val="9A9CA4"/>
                </a:solidFill>
                <a:latin typeface="Inter" pitchFamily="34" charset="0"/>
                <a:ea typeface="Inter" pitchFamily="34" charset="-122"/>
                <a:cs typeface="Inter" pitchFamily="34" charset="-120"/>
              </a:rPr>
              <a:t>· 1 OF 2</a:t>
            </a:r>
            <a:endParaRPr lang="en-US" sz="1350" dirty="0"/>
          </a:p>
        </p:txBody>
      </p:sp>
      <p:sp>
        <p:nvSpPr>
          <p:cNvPr id="58" name="Text 1">
            <a:extLst>
              <a:ext uri="{FF2B5EF4-FFF2-40B4-BE49-F238E27FC236}">
                <a16:creationId xmlns:a16="http://schemas.microsoft.com/office/drawing/2014/main" id="{7C00C033-56C8-4BCF-8DDD-C29DE31DD5D7}"/>
              </a:ext>
            </a:extLst>
          </p:cNvPr>
          <p:cNvSpPr/>
          <p:nvPr/>
        </p:nvSpPr>
        <p:spPr>
          <a:xfrm>
            <a:off x="1143000" y="1209675"/>
            <a:ext cx="1648206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108" dirty="0">
                <a:solidFill>
                  <a:srgbClr val="FFFFFF"/>
                </a:solidFill>
                <a:latin typeface="Montserrat" pitchFamily="34" charset="0"/>
                <a:ea typeface="Montserrat" pitchFamily="34" charset="-122"/>
                <a:cs typeface="Montserrat" pitchFamily="34" charset="-120"/>
              </a:rPr>
              <a:t>Start here.</a:t>
            </a:r>
            <a:endParaRPr lang="en-US" sz="5400" dirty="0"/>
          </a:p>
        </p:txBody>
      </p:sp>
      <p:sp>
        <p:nvSpPr>
          <p:cNvPr id="59" name="Text 2">
            <a:extLst>
              <a:ext uri="{FF2B5EF4-FFF2-40B4-BE49-F238E27FC236}">
                <a16:creationId xmlns:a16="http://schemas.microsoft.com/office/drawing/2014/main" id="{FCB7CADE-95A0-62D4-9CCD-03613CA2FBB9}"/>
              </a:ext>
            </a:extLst>
          </p:cNvPr>
          <p:cNvSpPr/>
          <p:nvPr/>
        </p:nvSpPr>
        <p:spPr>
          <a:xfrm>
            <a:off x="1143000" y="2047875"/>
            <a:ext cx="16482060"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Friday-afternoon wins and weekly rhythms — the gateway commands.</a:t>
            </a:r>
            <a:endParaRPr lang="en-US" sz="1950" dirty="0"/>
          </a:p>
        </p:txBody>
      </p:sp>
      <p:sp>
        <p:nvSpPr>
          <p:cNvPr id="60" name="Text 3">
            <a:extLst>
              <a:ext uri="{FF2B5EF4-FFF2-40B4-BE49-F238E27FC236}">
                <a16:creationId xmlns:a16="http://schemas.microsoft.com/office/drawing/2014/main" id="{7E87DC04-518C-E2D4-3AF0-51EC18A8983A}"/>
              </a:ext>
            </a:extLst>
          </p:cNvPr>
          <p:cNvSpPr/>
          <p:nvPr/>
        </p:nvSpPr>
        <p:spPr>
          <a:xfrm>
            <a:off x="1143000" y="2762250"/>
            <a:ext cx="78700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F58220"/>
                </a:solidFill>
                <a:latin typeface="JetBrains Mono" pitchFamily="34" charset="0"/>
                <a:ea typeface="JetBrains Mono" pitchFamily="34" charset="-122"/>
                <a:cs typeface="JetBrains Mono" pitchFamily="34" charset="-120"/>
              </a:rPr>
              <a:t>TIER 01</a:t>
            </a:r>
            <a:endParaRPr lang="en-US" sz="975" dirty="0"/>
          </a:p>
        </p:txBody>
      </p:sp>
      <p:sp>
        <p:nvSpPr>
          <p:cNvPr id="61" name="Text 4">
            <a:extLst>
              <a:ext uri="{FF2B5EF4-FFF2-40B4-BE49-F238E27FC236}">
                <a16:creationId xmlns:a16="http://schemas.microsoft.com/office/drawing/2014/main" id="{51531544-DB8A-EE5F-DFE4-D3836DEA6276}"/>
              </a:ext>
            </a:extLst>
          </p:cNvPr>
          <p:cNvSpPr/>
          <p:nvPr/>
        </p:nvSpPr>
        <p:spPr>
          <a:xfrm>
            <a:off x="2025253" y="2686050"/>
            <a:ext cx="245105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16" dirty="0">
                <a:solidFill>
                  <a:srgbClr val="FFFFFF"/>
                </a:solidFill>
                <a:latin typeface="Montserrat" pitchFamily="34" charset="0"/>
                <a:ea typeface="Montserrat" pitchFamily="34" charset="-122"/>
                <a:cs typeface="Montserrat" pitchFamily="34" charset="-120"/>
              </a:rPr>
              <a:t>Friday-afternoon wins</a:t>
            </a:r>
            <a:endParaRPr lang="en-US" sz="1650" dirty="0"/>
          </a:p>
        </p:txBody>
      </p:sp>
      <p:sp>
        <p:nvSpPr>
          <p:cNvPr id="62" name="Text 5">
            <a:extLst>
              <a:ext uri="{FF2B5EF4-FFF2-40B4-BE49-F238E27FC236}">
                <a16:creationId xmlns:a16="http://schemas.microsoft.com/office/drawing/2014/main" id="{D906283A-1E4B-B7D0-237F-A5057405D3F9}"/>
              </a:ext>
            </a:extLst>
          </p:cNvPr>
          <p:cNvSpPr/>
          <p:nvPr/>
        </p:nvSpPr>
        <p:spPr>
          <a:xfrm>
            <a:off x="4571554" y="2743200"/>
            <a:ext cx="1523851" cy="219075"/>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9CA4"/>
                </a:solidFill>
                <a:latin typeface="Inter" pitchFamily="34" charset="0"/>
                <a:ea typeface="Inter" pitchFamily="34" charset="-122"/>
                <a:cs typeface="Inter" pitchFamily="34" charset="-120"/>
              </a:rPr>
              <a:t>— one-shot cleanups</a:t>
            </a:r>
            <a:endParaRPr lang="en-US" sz="1125" dirty="0"/>
          </a:p>
        </p:txBody>
      </p:sp>
      <p:sp>
        <p:nvSpPr>
          <p:cNvPr id="63" name="Shape 6">
            <a:extLst>
              <a:ext uri="{FF2B5EF4-FFF2-40B4-BE49-F238E27FC236}">
                <a16:creationId xmlns:a16="http://schemas.microsoft.com/office/drawing/2014/main" id="{873AC146-820A-8FD3-E226-F1E4410C6E73}"/>
              </a:ext>
            </a:extLst>
          </p:cNvPr>
          <p:cNvSpPr/>
          <p:nvPr/>
        </p:nvSpPr>
        <p:spPr>
          <a:xfrm>
            <a:off x="1143000" y="3076575"/>
            <a:ext cx="16002000" cy="652463"/>
          </a:xfrm>
          <a:prstGeom prst="rect">
            <a:avLst/>
          </a:prstGeom>
          <a:solidFill>
            <a:srgbClr val="1B1D24"/>
          </a:solidFill>
          <a:ln/>
        </p:spPr>
        <p:txBody>
          <a:bodyPr/>
          <a:lstStyle/>
          <a:p>
            <a:endParaRPr lang="en-US"/>
          </a:p>
        </p:txBody>
      </p:sp>
      <p:sp>
        <p:nvSpPr>
          <p:cNvPr id="64" name="Shape 7">
            <a:extLst>
              <a:ext uri="{FF2B5EF4-FFF2-40B4-BE49-F238E27FC236}">
                <a16:creationId xmlns:a16="http://schemas.microsoft.com/office/drawing/2014/main" id="{3F6F5270-3DDC-51B0-1605-0DC9F02D2442}"/>
              </a:ext>
            </a:extLst>
          </p:cNvPr>
          <p:cNvSpPr/>
          <p:nvPr/>
        </p:nvSpPr>
        <p:spPr>
          <a:xfrm>
            <a:off x="1143000" y="3076575"/>
            <a:ext cx="19050" cy="652463"/>
          </a:xfrm>
          <a:prstGeom prst="rect">
            <a:avLst/>
          </a:prstGeom>
          <a:solidFill>
            <a:srgbClr val="3A3D49"/>
          </a:solidFill>
          <a:ln/>
        </p:spPr>
        <p:txBody>
          <a:bodyPr/>
          <a:lstStyle/>
          <a:p>
            <a:endParaRPr lang="en-US"/>
          </a:p>
        </p:txBody>
      </p:sp>
      <p:sp>
        <p:nvSpPr>
          <p:cNvPr id="65" name="Text 8">
            <a:extLst>
              <a:ext uri="{FF2B5EF4-FFF2-40B4-BE49-F238E27FC236}">
                <a16:creationId xmlns:a16="http://schemas.microsoft.com/office/drawing/2014/main" id="{FB79FF4A-8824-E38A-1539-D1B9AA3787F6}"/>
              </a:ext>
            </a:extLst>
          </p:cNvPr>
          <p:cNvSpPr/>
          <p:nvPr/>
        </p:nvSpPr>
        <p:spPr>
          <a:xfrm>
            <a:off x="1428750" y="3248025"/>
            <a:ext cx="169545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/rename</a:t>
            </a:r>
            <a:endParaRPr lang="en-US" sz="1800" dirty="0"/>
          </a:p>
        </p:txBody>
      </p:sp>
      <p:sp>
        <p:nvSpPr>
          <p:cNvPr id="66" name="Text 9">
            <a:extLst>
              <a:ext uri="{FF2B5EF4-FFF2-40B4-BE49-F238E27FC236}">
                <a16:creationId xmlns:a16="http://schemas.microsoft.com/office/drawing/2014/main" id="{717CB9D6-FBD9-9EE8-55A8-51B7B12F6ABB}"/>
              </a:ext>
            </a:extLst>
          </p:cNvPr>
          <p:cNvSpPr/>
          <p:nvPr/>
        </p:nvSpPr>
        <p:spPr>
          <a:xfrm>
            <a:off x="3352800" y="3286125"/>
            <a:ext cx="9935684"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800 sermon files </a:t>
            </a:r>
            <a:r>
              <a:rPr lang="en-US" sz="1425" dirty="0">
                <a:solidFill>
                  <a:srgbClr val="C9CBD1"/>
                </a:solidFill>
                <a:latin typeface="Inter" pitchFamily="34" charset="0"/>
                <a:ea typeface="Inter" pitchFamily="34" charset="-122"/>
                <a:cs typeface="Inter" pitchFamily="34" charset="-120"/>
              </a:rPr>
              <a:t>renamed from </a:t>
            </a:r>
            <a:r>
              <a:rPr lang="en-US" sz="1311" dirty="0">
                <a:solidFill>
                  <a:srgbClr val="9A9CA4"/>
                </a:solidFill>
                <a:latin typeface="JetBrains Mono" pitchFamily="34" charset="0"/>
                <a:ea typeface="JetBrains Mono" pitchFamily="34" charset="-122"/>
                <a:cs typeface="JetBrains Mono" pitchFamily="34" charset="-120"/>
              </a:rPr>
              <a:t>recording_FINAL_v2.mp3 </a:t>
            </a:r>
            <a:r>
              <a:rPr lang="en-US" sz="1425" dirty="0">
                <a:solidFill>
                  <a:srgbClr val="C9CBD1"/>
                </a:solidFill>
                <a:latin typeface="Inter" pitchFamily="34" charset="0"/>
                <a:ea typeface="Inter" pitchFamily="34" charset="-122"/>
                <a:cs typeface="Inter" pitchFamily="34" charset="-120"/>
              </a:rPr>
              <a:t>→ </a:t>
            </a:r>
            <a:r>
              <a:rPr lang="en-US" sz="1311" dirty="0">
                <a:solidFill>
                  <a:srgbClr val="3FE0D0"/>
                </a:solidFill>
                <a:latin typeface="JetBrains Mono" pitchFamily="34" charset="0"/>
                <a:ea typeface="JetBrains Mono" pitchFamily="34" charset="-122"/>
                <a:cs typeface="JetBrains Mono" pitchFamily="34" charset="-120"/>
              </a:rPr>
              <a:t>2024-03-17_easter_pastor-mike.mp3 </a:t>
            </a:r>
            <a:r>
              <a:rPr lang="en-US" sz="1425" dirty="0">
                <a:solidFill>
                  <a:srgbClr val="C9CBD1"/>
                </a:solidFill>
                <a:latin typeface="Inter" pitchFamily="34" charset="0"/>
                <a:ea typeface="Inter" pitchFamily="34" charset="-122"/>
                <a:cs typeface="Inter" pitchFamily="34" charset="-120"/>
              </a:rPr>
              <a:t>from a CSV.</a:t>
            </a:r>
            <a:endParaRPr lang="en-US" sz="1425" dirty="0"/>
          </a:p>
        </p:txBody>
      </p:sp>
      <p:sp>
        <p:nvSpPr>
          <p:cNvPr id="67" name="Shape 10">
            <a:extLst>
              <a:ext uri="{FF2B5EF4-FFF2-40B4-BE49-F238E27FC236}">
                <a16:creationId xmlns:a16="http://schemas.microsoft.com/office/drawing/2014/main" id="{AE8D54B6-4245-E076-0EC3-1040AF1FAA15}"/>
              </a:ext>
            </a:extLst>
          </p:cNvPr>
          <p:cNvSpPr/>
          <p:nvPr/>
        </p:nvSpPr>
        <p:spPr>
          <a:xfrm>
            <a:off x="1143000" y="3862387"/>
            <a:ext cx="16002000" cy="652463"/>
          </a:xfrm>
          <a:prstGeom prst="rect">
            <a:avLst/>
          </a:prstGeom>
          <a:solidFill>
            <a:srgbClr val="1B1D24"/>
          </a:solidFill>
          <a:ln/>
        </p:spPr>
        <p:txBody>
          <a:bodyPr/>
          <a:lstStyle/>
          <a:p>
            <a:endParaRPr lang="en-US"/>
          </a:p>
        </p:txBody>
      </p:sp>
      <p:sp>
        <p:nvSpPr>
          <p:cNvPr id="68" name="Shape 11">
            <a:extLst>
              <a:ext uri="{FF2B5EF4-FFF2-40B4-BE49-F238E27FC236}">
                <a16:creationId xmlns:a16="http://schemas.microsoft.com/office/drawing/2014/main" id="{6100F237-E751-7025-8337-702D574C4CD7}"/>
              </a:ext>
            </a:extLst>
          </p:cNvPr>
          <p:cNvSpPr/>
          <p:nvPr/>
        </p:nvSpPr>
        <p:spPr>
          <a:xfrm>
            <a:off x="1143000" y="3862387"/>
            <a:ext cx="19050" cy="652463"/>
          </a:xfrm>
          <a:prstGeom prst="rect">
            <a:avLst/>
          </a:prstGeom>
          <a:solidFill>
            <a:srgbClr val="3A3D49"/>
          </a:solidFill>
          <a:ln/>
        </p:spPr>
        <p:txBody>
          <a:bodyPr/>
          <a:lstStyle/>
          <a:p>
            <a:endParaRPr lang="en-US"/>
          </a:p>
        </p:txBody>
      </p:sp>
      <p:sp>
        <p:nvSpPr>
          <p:cNvPr id="69" name="Text 12">
            <a:extLst>
              <a:ext uri="{FF2B5EF4-FFF2-40B4-BE49-F238E27FC236}">
                <a16:creationId xmlns:a16="http://schemas.microsoft.com/office/drawing/2014/main" id="{B73DBE9A-73FB-560F-5962-F5A7854B553C}"/>
              </a:ext>
            </a:extLst>
          </p:cNvPr>
          <p:cNvSpPr/>
          <p:nvPr/>
        </p:nvSpPr>
        <p:spPr>
          <a:xfrm>
            <a:off x="1428750" y="4033837"/>
            <a:ext cx="169545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/sort-drive</a:t>
            </a:r>
            <a:endParaRPr lang="en-US" sz="1800" dirty="0"/>
          </a:p>
        </p:txBody>
      </p:sp>
      <p:sp>
        <p:nvSpPr>
          <p:cNvPr id="70" name="Text 13">
            <a:extLst>
              <a:ext uri="{FF2B5EF4-FFF2-40B4-BE49-F238E27FC236}">
                <a16:creationId xmlns:a16="http://schemas.microsoft.com/office/drawing/2014/main" id="{AAF87D4B-B407-8D5F-FCC8-4075F7B2CD26}"/>
              </a:ext>
            </a:extLst>
          </p:cNvPr>
          <p:cNvSpPr/>
          <p:nvPr/>
        </p:nvSpPr>
        <p:spPr>
          <a:xfrm>
            <a:off x="3352800" y="4071938"/>
            <a:ext cx="9127217"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12 years of /Communications chaos </a:t>
            </a:r>
            <a:r>
              <a:rPr lang="en-US" sz="1425" dirty="0">
                <a:solidFill>
                  <a:srgbClr val="C9CBD1"/>
                </a:solidFill>
                <a:latin typeface="Inter" pitchFamily="34" charset="0"/>
                <a:ea typeface="Inter" pitchFamily="34" charset="-122"/>
                <a:cs typeface="Inter" pitchFamily="34" charset="-120"/>
              </a:rPr>
              <a:t>reorganized into a clean folder structure with naming conventions.</a:t>
            </a:r>
            <a:endParaRPr lang="en-US" sz="1425" dirty="0"/>
          </a:p>
        </p:txBody>
      </p:sp>
      <p:sp>
        <p:nvSpPr>
          <p:cNvPr id="71" name="Shape 14">
            <a:extLst>
              <a:ext uri="{FF2B5EF4-FFF2-40B4-BE49-F238E27FC236}">
                <a16:creationId xmlns:a16="http://schemas.microsoft.com/office/drawing/2014/main" id="{70F94457-8BDE-B432-07D6-A2D75883F809}"/>
              </a:ext>
            </a:extLst>
          </p:cNvPr>
          <p:cNvSpPr/>
          <p:nvPr/>
        </p:nvSpPr>
        <p:spPr>
          <a:xfrm>
            <a:off x="1143000" y="4648200"/>
            <a:ext cx="16002000" cy="652463"/>
          </a:xfrm>
          <a:prstGeom prst="rect">
            <a:avLst/>
          </a:prstGeom>
          <a:solidFill>
            <a:srgbClr val="1B1D24"/>
          </a:solidFill>
          <a:ln/>
        </p:spPr>
        <p:txBody>
          <a:bodyPr/>
          <a:lstStyle/>
          <a:p>
            <a:endParaRPr lang="en-US"/>
          </a:p>
        </p:txBody>
      </p:sp>
      <p:sp>
        <p:nvSpPr>
          <p:cNvPr id="72" name="Shape 15">
            <a:extLst>
              <a:ext uri="{FF2B5EF4-FFF2-40B4-BE49-F238E27FC236}">
                <a16:creationId xmlns:a16="http://schemas.microsoft.com/office/drawing/2014/main" id="{E85298E9-7FB7-8838-2E98-8C08824084DE}"/>
              </a:ext>
            </a:extLst>
          </p:cNvPr>
          <p:cNvSpPr/>
          <p:nvPr/>
        </p:nvSpPr>
        <p:spPr>
          <a:xfrm>
            <a:off x="1143000" y="4648200"/>
            <a:ext cx="19050" cy="652463"/>
          </a:xfrm>
          <a:prstGeom prst="rect">
            <a:avLst/>
          </a:prstGeom>
          <a:solidFill>
            <a:srgbClr val="3A3D49"/>
          </a:solidFill>
          <a:ln/>
        </p:spPr>
        <p:txBody>
          <a:bodyPr/>
          <a:lstStyle/>
          <a:p>
            <a:endParaRPr lang="en-US"/>
          </a:p>
        </p:txBody>
      </p:sp>
      <p:sp>
        <p:nvSpPr>
          <p:cNvPr id="73" name="Text 16">
            <a:extLst>
              <a:ext uri="{FF2B5EF4-FFF2-40B4-BE49-F238E27FC236}">
                <a16:creationId xmlns:a16="http://schemas.microsoft.com/office/drawing/2014/main" id="{93A6BD31-67A2-D41E-97E9-FD2C4008E448}"/>
              </a:ext>
            </a:extLst>
          </p:cNvPr>
          <p:cNvSpPr/>
          <p:nvPr/>
        </p:nvSpPr>
        <p:spPr>
          <a:xfrm>
            <a:off x="1428750" y="4819650"/>
            <a:ext cx="169545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/photos</a:t>
            </a:r>
            <a:endParaRPr lang="en-US" sz="1800" dirty="0"/>
          </a:p>
        </p:txBody>
      </p:sp>
      <p:sp>
        <p:nvSpPr>
          <p:cNvPr id="74" name="Text 17">
            <a:extLst>
              <a:ext uri="{FF2B5EF4-FFF2-40B4-BE49-F238E27FC236}">
                <a16:creationId xmlns:a16="http://schemas.microsoft.com/office/drawing/2014/main" id="{FC59E802-D424-ABD5-8455-33813B9332AB}"/>
              </a:ext>
            </a:extLst>
          </p:cNvPr>
          <p:cNvSpPr/>
          <p:nvPr/>
        </p:nvSpPr>
        <p:spPr>
          <a:xfrm>
            <a:off x="3352800" y="4857750"/>
            <a:ext cx="7511815"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2,000 event photos </a:t>
            </a:r>
            <a:r>
              <a:rPr lang="en-US" sz="1425" dirty="0">
                <a:solidFill>
                  <a:srgbClr val="C9CBD1"/>
                </a:solidFill>
                <a:latin typeface="Inter" pitchFamily="34" charset="0"/>
                <a:ea typeface="Inter" pitchFamily="34" charset="-122"/>
                <a:cs typeface="Inter" pitchFamily="34" charset="-120"/>
              </a:rPr>
              <a:t>from the last decade converted and resized for the new website.</a:t>
            </a:r>
            <a:endParaRPr lang="en-US" sz="1425" dirty="0"/>
          </a:p>
        </p:txBody>
      </p:sp>
      <p:sp>
        <p:nvSpPr>
          <p:cNvPr id="75" name="Text 18">
            <a:extLst>
              <a:ext uri="{FF2B5EF4-FFF2-40B4-BE49-F238E27FC236}">
                <a16:creationId xmlns:a16="http://schemas.microsoft.com/office/drawing/2014/main" id="{3D1A6C6D-6894-E12A-7393-2FC4623074F3}"/>
              </a:ext>
            </a:extLst>
          </p:cNvPr>
          <p:cNvSpPr/>
          <p:nvPr/>
        </p:nvSpPr>
        <p:spPr>
          <a:xfrm>
            <a:off x="1143000" y="5643563"/>
            <a:ext cx="78700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F58220"/>
                </a:solidFill>
                <a:latin typeface="JetBrains Mono" pitchFamily="34" charset="0"/>
                <a:ea typeface="JetBrains Mono" pitchFamily="34" charset="-122"/>
                <a:cs typeface="JetBrains Mono" pitchFamily="34" charset="-120"/>
              </a:rPr>
              <a:t>TIER 02</a:t>
            </a:r>
            <a:endParaRPr lang="en-US" sz="975" dirty="0"/>
          </a:p>
        </p:txBody>
      </p:sp>
      <p:sp>
        <p:nvSpPr>
          <p:cNvPr id="76" name="Text 19">
            <a:extLst>
              <a:ext uri="{FF2B5EF4-FFF2-40B4-BE49-F238E27FC236}">
                <a16:creationId xmlns:a16="http://schemas.microsoft.com/office/drawing/2014/main" id="{01950176-0F11-76B2-80F2-468F644ABBB1}"/>
              </a:ext>
            </a:extLst>
          </p:cNvPr>
          <p:cNvSpPr/>
          <p:nvPr/>
        </p:nvSpPr>
        <p:spPr>
          <a:xfrm>
            <a:off x="2025253" y="5567363"/>
            <a:ext cx="1854547"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16" dirty="0">
                <a:solidFill>
                  <a:srgbClr val="FFFFFF"/>
                </a:solidFill>
                <a:latin typeface="Montserrat" pitchFamily="34" charset="0"/>
                <a:ea typeface="Montserrat" pitchFamily="34" charset="-122"/>
                <a:cs typeface="Montserrat" pitchFamily="34" charset="-120"/>
              </a:rPr>
              <a:t>Weekly rhythms</a:t>
            </a:r>
            <a:endParaRPr lang="en-US" sz="1650" dirty="0"/>
          </a:p>
        </p:txBody>
      </p:sp>
      <p:sp>
        <p:nvSpPr>
          <p:cNvPr id="77" name="Text 20">
            <a:extLst>
              <a:ext uri="{FF2B5EF4-FFF2-40B4-BE49-F238E27FC236}">
                <a16:creationId xmlns:a16="http://schemas.microsoft.com/office/drawing/2014/main" id="{401887E6-A31F-377C-3304-3D58FEF097C7}"/>
              </a:ext>
            </a:extLst>
          </p:cNvPr>
          <p:cNvSpPr/>
          <p:nvPr/>
        </p:nvSpPr>
        <p:spPr>
          <a:xfrm>
            <a:off x="3975050" y="5624513"/>
            <a:ext cx="1706463" cy="219075"/>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9CA4"/>
                </a:solidFill>
                <a:latin typeface="Inter" pitchFamily="34" charset="0"/>
                <a:ea typeface="Inter" pitchFamily="34" charset="-122"/>
                <a:cs typeface="Inter" pitchFamily="34" charset="-120"/>
              </a:rPr>
              <a:t>— scheduled, hands-off</a:t>
            </a:r>
            <a:endParaRPr lang="en-US" sz="1125" dirty="0"/>
          </a:p>
        </p:txBody>
      </p:sp>
      <p:sp>
        <p:nvSpPr>
          <p:cNvPr id="78" name="Shape 21">
            <a:extLst>
              <a:ext uri="{FF2B5EF4-FFF2-40B4-BE49-F238E27FC236}">
                <a16:creationId xmlns:a16="http://schemas.microsoft.com/office/drawing/2014/main" id="{A351E540-581E-CDF6-27B4-D7CFCEF8BA39}"/>
              </a:ext>
            </a:extLst>
          </p:cNvPr>
          <p:cNvSpPr/>
          <p:nvPr/>
        </p:nvSpPr>
        <p:spPr>
          <a:xfrm>
            <a:off x="1143000" y="5957888"/>
            <a:ext cx="16002000" cy="652463"/>
          </a:xfrm>
          <a:prstGeom prst="rect">
            <a:avLst/>
          </a:prstGeom>
          <a:solidFill>
            <a:srgbClr val="F58220">
              <a:alpha val="8000"/>
            </a:srgbClr>
          </a:solidFill>
          <a:ln/>
        </p:spPr>
        <p:txBody>
          <a:bodyPr/>
          <a:lstStyle/>
          <a:p>
            <a:endParaRPr lang="en-US"/>
          </a:p>
        </p:txBody>
      </p:sp>
      <p:sp>
        <p:nvSpPr>
          <p:cNvPr id="79" name="Shape 22">
            <a:extLst>
              <a:ext uri="{FF2B5EF4-FFF2-40B4-BE49-F238E27FC236}">
                <a16:creationId xmlns:a16="http://schemas.microsoft.com/office/drawing/2014/main" id="{4C68A6DB-9795-24BE-CC8D-945D8EA8A77F}"/>
              </a:ext>
            </a:extLst>
          </p:cNvPr>
          <p:cNvSpPr/>
          <p:nvPr/>
        </p:nvSpPr>
        <p:spPr>
          <a:xfrm>
            <a:off x="1143000" y="5957888"/>
            <a:ext cx="19050" cy="652463"/>
          </a:xfrm>
          <a:prstGeom prst="rect">
            <a:avLst/>
          </a:prstGeom>
          <a:solidFill>
            <a:srgbClr val="F58220"/>
          </a:solidFill>
          <a:ln/>
        </p:spPr>
        <p:txBody>
          <a:bodyPr/>
          <a:lstStyle/>
          <a:p>
            <a:endParaRPr lang="en-US"/>
          </a:p>
        </p:txBody>
      </p:sp>
      <p:sp>
        <p:nvSpPr>
          <p:cNvPr id="80" name="Text 23">
            <a:extLst>
              <a:ext uri="{FF2B5EF4-FFF2-40B4-BE49-F238E27FC236}">
                <a16:creationId xmlns:a16="http://schemas.microsoft.com/office/drawing/2014/main" id="{D31BD4C5-C580-574A-B541-A47B4CE13F25}"/>
              </a:ext>
            </a:extLst>
          </p:cNvPr>
          <p:cNvSpPr/>
          <p:nvPr/>
        </p:nvSpPr>
        <p:spPr>
          <a:xfrm>
            <a:off x="1428750" y="6129338"/>
            <a:ext cx="169545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/attendance</a:t>
            </a:r>
            <a:endParaRPr lang="en-US" sz="1800" dirty="0"/>
          </a:p>
        </p:txBody>
      </p:sp>
      <p:sp>
        <p:nvSpPr>
          <p:cNvPr id="81" name="Text 24">
            <a:extLst>
              <a:ext uri="{FF2B5EF4-FFF2-40B4-BE49-F238E27FC236}">
                <a16:creationId xmlns:a16="http://schemas.microsoft.com/office/drawing/2014/main" id="{49A8F590-0530-E34E-B59C-A0BD74438B0E}"/>
              </a:ext>
            </a:extLst>
          </p:cNvPr>
          <p:cNvSpPr/>
          <p:nvPr/>
        </p:nvSpPr>
        <p:spPr>
          <a:xfrm>
            <a:off x="3352800" y="6167438"/>
            <a:ext cx="10658613"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Monday-morning digest. </a:t>
            </a:r>
            <a:r>
              <a:rPr lang="en-US" sz="1425" dirty="0">
                <a:solidFill>
                  <a:srgbClr val="C9CBD1"/>
                </a:solidFill>
                <a:latin typeface="Inter" pitchFamily="34" charset="0"/>
                <a:ea typeface="Inter" pitchFamily="34" charset="-122"/>
                <a:cs typeface="Inter" pitchFamily="34" charset="-120"/>
              </a:rPr>
              <a:t>Planning Center numbers vs last 4 weeks → one-pager to the lead pastor before staff meeting.</a:t>
            </a:r>
            <a:endParaRPr lang="en-US" sz="1425" dirty="0"/>
          </a:p>
        </p:txBody>
      </p:sp>
      <p:sp>
        <p:nvSpPr>
          <p:cNvPr id="82" name="Shape 25">
            <a:extLst>
              <a:ext uri="{FF2B5EF4-FFF2-40B4-BE49-F238E27FC236}">
                <a16:creationId xmlns:a16="http://schemas.microsoft.com/office/drawing/2014/main" id="{451A4A82-5322-F096-2EFC-F8224FFAA81C}"/>
              </a:ext>
            </a:extLst>
          </p:cNvPr>
          <p:cNvSpPr/>
          <p:nvPr/>
        </p:nvSpPr>
        <p:spPr>
          <a:xfrm>
            <a:off x="1143000" y="6743700"/>
            <a:ext cx="16002000" cy="652463"/>
          </a:xfrm>
          <a:prstGeom prst="rect">
            <a:avLst/>
          </a:prstGeom>
          <a:solidFill>
            <a:srgbClr val="F58220">
              <a:alpha val="8000"/>
            </a:srgbClr>
          </a:solidFill>
          <a:ln/>
        </p:spPr>
        <p:txBody>
          <a:bodyPr/>
          <a:lstStyle/>
          <a:p>
            <a:endParaRPr lang="en-US"/>
          </a:p>
        </p:txBody>
      </p:sp>
      <p:sp>
        <p:nvSpPr>
          <p:cNvPr id="83" name="Shape 26">
            <a:extLst>
              <a:ext uri="{FF2B5EF4-FFF2-40B4-BE49-F238E27FC236}">
                <a16:creationId xmlns:a16="http://schemas.microsoft.com/office/drawing/2014/main" id="{B005F4E0-45CC-0B14-43FD-C72C368F5B1D}"/>
              </a:ext>
            </a:extLst>
          </p:cNvPr>
          <p:cNvSpPr/>
          <p:nvPr/>
        </p:nvSpPr>
        <p:spPr>
          <a:xfrm>
            <a:off x="1143000" y="6743700"/>
            <a:ext cx="19050" cy="652463"/>
          </a:xfrm>
          <a:prstGeom prst="rect">
            <a:avLst/>
          </a:prstGeom>
          <a:solidFill>
            <a:srgbClr val="F58220"/>
          </a:solidFill>
          <a:ln/>
        </p:spPr>
        <p:txBody>
          <a:bodyPr/>
          <a:lstStyle/>
          <a:p>
            <a:endParaRPr lang="en-US"/>
          </a:p>
        </p:txBody>
      </p:sp>
      <p:sp>
        <p:nvSpPr>
          <p:cNvPr id="84" name="Text 27">
            <a:extLst>
              <a:ext uri="{FF2B5EF4-FFF2-40B4-BE49-F238E27FC236}">
                <a16:creationId xmlns:a16="http://schemas.microsoft.com/office/drawing/2014/main" id="{8CFAC23A-CF7F-E307-EEFD-9A2E87DA1205}"/>
              </a:ext>
            </a:extLst>
          </p:cNvPr>
          <p:cNvSpPr/>
          <p:nvPr/>
        </p:nvSpPr>
        <p:spPr>
          <a:xfrm>
            <a:off x="1428750" y="6915150"/>
            <a:ext cx="169545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/volunteers</a:t>
            </a:r>
            <a:endParaRPr lang="en-US" sz="1800" dirty="0"/>
          </a:p>
        </p:txBody>
      </p:sp>
      <p:sp>
        <p:nvSpPr>
          <p:cNvPr id="85" name="Text 28">
            <a:extLst>
              <a:ext uri="{FF2B5EF4-FFF2-40B4-BE49-F238E27FC236}">
                <a16:creationId xmlns:a16="http://schemas.microsoft.com/office/drawing/2014/main" id="{F3BB5D4E-0D15-29D1-A9EF-E261DAEEED04}"/>
              </a:ext>
            </a:extLst>
          </p:cNvPr>
          <p:cNvSpPr/>
          <p:nvPr/>
        </p:nvSpPr>
        <p:spPr>
          <a:xfrm>
            <a:off x="3352800" y="6953250"/>
            <a:ext cx="10268789"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Volunteer gap report. </a:t>
            </a:r>
            <a:r>
              <a:rPr lang="en-US" sz="1425" dirty="0">
                <a:solidFill>
                  <a:srgbClr val="C9CBD1"/>
                </a:solidFill>
                <a:latin typeface="Inter" pitchFamily="34" charset="0"/>
                <a:ea typeface="Inter" pitchFamily="34" charset="-122"/>
                <a:cs typeface="Inter" pitchFamily="34" charset="-120"/>
              </a:rPr>
              <a:t>Scans next Sunday's schedule, flags empty slots, drafts personalized texts to lapsed regulars.</a:t>
            </a:r>
            <a:endParaRPr lang="en-US" sz="1425" dirty="0"/>
          </a:p>
        </p:txBody>
      </p:sp>
      <p:sp>
        <p:nvSpPr>
          <p:cNvPr id="86" name="Shape 29">
            <a:extLst>
              <a:ext uri="{FF2B5EF4-FFF2-40B4-BE49-F238E27FC236}">
                <a16:creationId xmlns:a16="http://schemas.microsoft.com/office/drawing/2014/main" id="{0EF8BE98-80E9-4FB3-E22E-A4B37DDD8BF0}"/>
              </a:ext>
            </a:extLst>
          </p:cNvPr>
          <p:cNvSpPr/>
          <p:nvPr/>
        </p:nvSpPr>
        <p:spPr>
          <a:xfrm>
            <a:off x="1143000" y="7529513"/>
            <a:ext cx="16002000" cy="652463"/>
          </a:xfrm>
          <a:prstGeom prst="rect">
            <a:avLst/>
          </a:prstGeom>
          <a:solidFill>
            <a:srgbClr val="F58220">
              <a:alpha val="8000"/>
            </a:srgbClr>
          </a:solidFill>
          <a:ln/>
        </p:spPr>
        <p:txBody>
          <a:bodyPr/>
          <a:lstStyle/>
          <a:p>
            <a:endParaRPr lang="en-US"/>
          </a:p>
        </p:txBody>
      </p:sp>
      <p:sp>
        <p:nvSpPr>
          <p:cNvPr id="87" name="Shape 30">
            <a:extLst>
              <a:ext uri="{FF2B5EF4-FFF2-40B4-BE49-F238E27FC236}">
                <a16:creationId xmlns:a16="http://schemas.microsoft.com/office/drawing/2014/main" id="{10DFED0E-413E-0B05-F70A-780A4900AE67}"/>
              </a:ext>
            </a:extLst>
          </p:cNvPr>
          <p:cNvSpPr/>
          <p:nvPr/>
        </p:nvSpPr>
        <p:spPr>
          <a:xfrm>
            <a:off x="1143000" y="7529513"/>
            <a:ext cx="19050" cy="652463"/>
          </a:xfrm>
          <a:prstGeom prst="rect">
            <a:avLst/>
          </a:prstGeom>
          <a:solidFill>
            <a:srgbClr val="F58220"/>
          </a:solidFill>
          <a:ln/>
        </p:spPr>
        <p:txBody>
          <a:bodyPr/>
          <a:lstStyle/>
          <a:p>
            <a:endParaRPr lang="en-US"/>
          </a:p>
        </p:txBody>
      </p:sp>
      <p:sp>
        <p:nvSpPr>
          <p:cNvPr id="88" name="Text 31">
            <a:extLst>
              <a:ext uri="{FF2B5EF4-FFF2-40B4-BE49-F238E27FC236}">
                <a16:creationId xmlns:a16="http://schemas.microsoft.com/office/drawing/2014/main" id="{979A57C4-B35E-DF45-D758-994336103927}"/>
              </a:ext>
            </a:extLst>
          </p:cNvPr>
          <p:cNvSpPr/>
          <p:nvPr/>
        </p:nvSpPr>
        <p:spPr>
          <a:xfrm>
            <a:off x="1428750" y="7700963"/>
            <a:ext cx="169545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/giving</a:t>
            </a:r>
            <a:endParaRPr lang="en-US" sz="1800" dirty="0"/>
          </a:p>
        </p:txBody>
      </p:sp>
      <p:sp>
        <p:nvSpPr>
          <p:cNvPr id="89" name="Text 32">
            <a:extLst>
              <a:ext uri="{FF2B5EF4-FFF2-40B4-BE49-F238E27FC236}">
                <a16:creationId xmlns:a16="http://schemas.microsoft.com/office/drawing/2014/main" id="{46F64010-0743-1273-8769-1BE77E41D878}"/>
              </a:ext>
            </a:extLst>
          </p:cNvPr>
          <p:cNvSpPr/>
          <p:nvPr/>
        </p:nvSpPr>
        <p:spPr>
          <a:xfrm>
            <a:off x="3352800" y="7739062"/>
            <a:ext cx="10060311"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Giving anomaly check. </a:t>
            </a:r>
            <a:r>
              <a:rPr lang="en-US" sz="1425" dirty="0">
                <a:solidFill>
                  <a:srgbClr val="C9CBD1"/>
                </a:solidFill>
                <a:latin typeface="Inter" pitchFamily="34" charset="0"/>
                <a:ea typeface="Inter" pitchFamily="34" charset="-122"/>
                <a:cs typeface="Inter" pitchFamily="34" charset="-120"/>
              </a:rPr>
              <a:t>This week vs rolling avg → new recurring gifts (thank-you) + lapsed givers (pastoral care).</a:t>
            </a:r>
            <a:endParaRPr lang="en-US" sz="14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5F2BA4AA-0782-3245-D967-79D7C2BA2966}"/>
            </a:ext>
          </a:extLst>
        </p:cNvPr>
        <p:cNvGrpSpPr/>
        <p:nvPr/>
      </p:nvGrpSpPr>
      <p:grpSpPr>
        <a:xfrm>
          <a:off x="0" y="0"/>
          <a:ext cx="0" cy="0"/>
          <a:chOff x="0" y="0"/>
          <a:chExt cx="0" cy="0"/>
        </a:xfrm>
      </p:grpSpPr>
      <p:sp>
        <p:nvSpPr>
          <p:cNvPr id="21" name="Shape 19">
            <a:extLst>
              <a:ext uri="{FF2B5EF4-FFF2-40B4-BE49-F238E27FC236}">
                <a16:creationId xmlns:a16="http://schemas.microsoft.com/office/drawing/2014/main" id="{F209CF7F-F8CA-4524-73C5-DA7B7C3CC600}"/>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2" name="Text 20">
            <a:extLst>
              <a:ext uri="{FF2B5EF4-FFF2-40B4-BE49-F238E27FC236}">
                <a16:creationId xmlns:a16="http://schemas.microsoft.com/office/drawing/2014/main" id="{F9089948-95FC-3CA3-798E-069866D627E9}"/>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23" name="Text 0">
            <a:extLst>
              <a:ext uri="{FF2B5EF4-FFF2-40B4-BE49-F238E27FC236}">
                <a16:creationId xmlns:a16="http://schemas.microsoft.com/office/drawing/2014/main" id="{3879C00D-EE20-64BD-2F4C-E880081516DA}"/>
              </a:ext>
            </a:extLst>
          </p:cNvPr>
          <p:cNvSpPr/>
          <p:nvPr/>
        </p:nvSpPr>
        <p:spPr>
          <a:xfrm>
            <a:off x="1143000" y="838200"/>
            <a:ext cx="16482060" cy="238125"/>
          </a:xfrm>
          <a:prstGeom prst="rect">
            <a:avLst/>
          </a:prstGeom>
          <a:noFill/>
          <a:ln/>
        </p:spPr>
        <p:txBody>
          <a:bodyPr wrap="square" lIns="25400" tIns="25400" rIns="25400" bIns="25400" rtlCol="0" anchor="t">
            <a:normAutofit lnSpcReduction="10000"/>
          </a:bodyPr>
          <a:lstStyle/>
          <a:p>
            <a:r>
              <a:rPr lang="en-US" sz="1350" b="1" kern="0" spc="297" dirty="0">
                <a:solidFill>
                  <a:srgbClr val="3FE0D0"/>
                </a:solidFill>
                <a:latin typeface="Inter" pitchFamily="34" charset="0"/>
                <a:ea typeface="Inter" pitchFamily="34" charset="-122"/>
                <a:cs typeface="Inter" pitchFamily="34" charset="-120"/>
              </a:rPr>
              <a:t>CLAUDE CODE · YOUR TURN </a:t>
            </a:r>
            <a:r>
              <a:rPr lang="en-US" sz="1350" b="1" kern="0" spc="297" dirty="0">
                <a:solidFill>
                  <a:srgbClr val="9A9CA4"/>
                </a:solidFill>
                <a:latin typeface="Inter" pitchFamily="34" charset="0"/>
                <a:ea typeface="Inter" pitchFamily="34" charset="-122"/>
                <a:cs typeface="Inter" pitchFamily="34" charset="-120"/>
              </a:rPr>
              <a:t>· 2 OF 2</a:t>
            </a:r>
            <a:endParaRPr lang="en-US" sz="1350" dirty="0"/>
          </a:p>
        </p:txBody>
      </p:sp>
      <p:sp>
        <p:nvSpPr>
          <p:cNvPr id="24" name="Text 1">
            <a:extLst>
              <a:ext uri="{FF2B5EF4-FFF2-40B4-BE49-F238E27FC236}">
                <a16:creationId xmlns:a16="http://schemas.microsoft.com/office/drawing/2014/main" id="{99D5AFBD-4DC5-A46A-AE8E-DE46047E8BEE}"/>
              </a:ext>
            </a:extLst>
          </p:cNvPr>
          <p:cNvSpPr/>
          <p:nvPr/>
        </p:nvSpPr>
        <p:spPr>
          <a:xfrm>
            <a:off x="1143000" y="1209675"/>
            <a:ext cx="1648206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108" dirty="0">
                <a:solidFill>
                  <a:srgbClr val="FFFFFF"/>
                </a:solidFill>
                <a:latin typeface="Montserrat" pitchFamily="34" charset="0"/>
                <a:ea typeface="Montserrat" pitchFamily="34" charset="-122"/>
                <a:cs typeface="Montserrat" pitchFamily="34" charset="-120"/>
              </a:rPr>
              <a:t>Then this.</a:t>
            </a:r>
            <a:endParaRPr lang="en-US" sz="5400" dirty="0"/>
          </a:p>
        </p:txBody>
      </p:sp>
      <p:sp>
        <p:nvSpPr>
          <p:cNvPr id="25" name="Text 2">
            <a:extLst>
              <a:ext uri="{FF2B5EF4-FFF2-40B4-BE49-F238E27FC236}">
                <a16:creationId xmlns:a16="http://schemas.microsoft.com/office/drawing/2014/main" id="{2D3CB45F-04A1-8E45-2E0C-9555E78D8289}"/>
              </a:ext>
            </a:extLst>
          </p:cNvPr>
          <p:cNvSpPr/>
          <p:nvPr/>
        </p:nvSpPr>
        <p:spPr>
          <a:xfrm>
            <a:off x="1143000" y="2047875"/>
            <a:ext cx="16482060"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Real multi-step workflows — and the "wait, you can do that?" tier.</a:t>
            </a:r>
            <a:endParaRPr lang="en-US" sz="1950" dirty="0"/>
          </a:p>
        </p:txBody>
      </p:sp>
      <p:sp>
        <p:nvSpPr>
          <p:cNvPr id="26" name="Text 3">
            <a:extLst>
              <a:ext uri="{FF2B5EF4-FFF2-40B4-BE49-F238E27FC236}">
                <a16:creationId xmlns:a16="http://schemas.microsoft.com/office/drawing/2014/main" id="{61935F8B-25BA-1529-AF72-F73189E9BF7F}"/>
              </a:ext>
            </a:extLst>
          </p:cNvPr>
          <p:cNvSpPr/>
          <p:nvPr/>
        </p:nvSpPr>
        <p:spPr>
          <a:xfrm>
            <a:off x="1143000" y="2762250"/>
            <a:ext cx="78700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F58220"/>
                </a:solidFill>
                <a:latin typeface="JetBrains Mono" pitchFamily="34" charset="0"/>
                <a:ea typeface="JetBrains Mono" pitchFamily="34" charset="-122"/>
                <a:cs typeface="JetBrains Mono" pitchFamily="34" charset="-120"/>
              </a:rPr>
              <a:t>TIER 03</a:t>
            </a:r>
            <a:endParaRPr lang="en-US" sz="975" dirty="0"/>
          </a:p>
        </p:txBody>
      </p:sp>
      <p:sp>
        <p:nvSpPr>
          <p:cNvPr id="27" name="Text 4">
            <a:extLst>
              <a:ext uri="{FF2B5EF4-FFF2-40B4-BE49-F238E27FC236}">
                <a16:creationId xmlns:a16="http://schemas.microsoft.com/office/drawing/2014/main" id="{AD966CCE-76C8-D0AF-D228-F6D6308CC0BB}"/>
              </a:ext>
            </a:extLst>
          </p:cNvPr>
          <p:cNvSpPr/>
          <p:nvPr/>
        </p:nvSpPr>
        <p:spPr>
          <a:xfrm>
            <a:off x="2025253" y="2686050"/>
            <a:ext cx="1722983"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16" dirty="0">
                <a:solidFill>
                  <a:srgbClr val="FFFFFF"/>
                </a:solidFill>
                <a:latin typeface="Montserrat" pitchFamily="34" charset="0"/>
                <a:ea typeface="Montserrat" pitchFamily="34" charset="-122"/>
                <a:cs typeface="Montserrat" pitchFamily="34" charset="-120"/>
              </a:rPr>
              <a:t>Real workflows</a:t>
            </a:r>
            <a:endParaRPr lang="en-US" sz="1650" dirty="0"/>
          </a:p>
        </p:txBody>
      </p:sp>
      <p:sp>
        <p:nvSpPr>
          <p:cNvPr id="28" name="Text 5">
            <a:extLst>
              <a:ext uri="{FF2B5EF4-FFF2-40B4-BE49-F238E27FC236}">
                <a16:creationId xmlns:a16="http://schemas.microsoft.com/office/drawing/2014/main" id="{FED8F4BA-BDA3-8977-5ED1-009615AFF36B}"/>
              </a:ext>
            </a:extLst>
          </p:cNvPr>
          <p:cNvSpPr/>
          <p:nvPr/>
        </p:nvSpPr>
        <p:spPr>
          <a:xfrm>
            <a:off x="3843486" y="2743200"/>
            <a:ext cx="1903958" cy="219075"/>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9CA4"/>
                </a:solidFill>
                <a:latin typeface="Inter" pitchFamily="34" charset="0"/>
                <a:ea typeface="Inter" pitchFamily="34" charset="-122"/>
                <a:cs typeface="Inter" pitchFamily="34" charset="-120"/>
              </a:rPr>
              <a:t>— multi-step, multi-system</a:t>
            </a:r>
            <a:endParaRPr lang="en-US" sz="1125" dirty="0"/>
          </a:p>
        </p:txBody>
      </p:sp>
      <p:sp>
        <p:nvSpPr>
          <p:cNvPr id="29" name="Shape 6">
            <a:extLst>
              <a:ext uri="{FF2B5EF4-FFF2-40B4-BE49-F238E27FC236}">
                <a16:creationId xmlns:a16="http://schemas.microsoft.com/office/drawing/2014/main" id="{B015B7FD-A7AC-85EA-80EC-88046BA94AE8}"/>
              </a:ext>
            </a:extLst>
          </p:cNvPr>
          <p:cNvSpPr/>
          <p:nvPr/>
        </p:nvSpPr>
        <p:spPr>
          <a:xfrm>
            <a:off x="1143000" y="3076575"/>
            <a:ext cx="16002000" cy="652463"/>
          </a:xfrm>
          <a:prstGeom prst="rect">
            <a:avLst/>
          </a:prstGeom>
          <a:solidFill>
            <a:srgbClr val="1B1D24"/>
          </a:solidFill>
          <a:ln/>
        </p:spPr>
        <p:txBody>
          <a:bodyPr/>
          <a:lstStyle/>
          <a:p>
            <a:endParaRPr lang="en-US"/>
          </a:p>
        </p:txBody>
      </p:sp>
      <p:sp>
        <p:nvSpPr>
          <p:cNvPr id="30" name="Shape 7">
            <a:extLst>
              <a:ext uri="{FF2B5EF4-FFF2-40B4-BE49-F238E27FC236}">
                <a16:creationId xmlns:a16="http://schemas.microsoft.com/office/drawing/2014/main" id="{C08271E3-5CED-AEC6-34A1-5608A4177696}"/>
              </a:ext>
            </a:extLst>
          </p:cNvPr>
          <p:cNvSpPr/>
          <p:nvPr/>
        </p:nvSpPr>
        <p:spPr>
          <a:xfrm>
            <a:off x="1143000" y="3076575"/>
            <a:ext cx="19050" cy="652463"/>
          </a:xfrm>
          <a:prstGeom prst="rect">
            <a:avLst/>
          </a:prstGeom>
          <a:solidFill>
            <a:srgbClr val="3A3D49"/>
          </a:solidFill>
          <a:ln/>
        </p:spPr>
        <p:txBody>
          <a:bodyPr/>
          <a:lstStyle/>
          <a:p>
            <a:endParaRPr lang="en-US"/>
          </a:p>
        </p:txBody>
      </p:sp>
      <p:sp>
        <p:nvSpPr>
          <p:cNvPr id="31" name="Text 8">
            <a:extLst>
              <a:ext uri="{FF2B5EF4-FFF2-40B4-BE49-F238E27FC236}">
                <a16:creationId xmlns:a16="http://schemas.microsoft.com/office/drawing/2014/main" id="{DA36854C-0A73-0569-A568-8E81CF0F74D7}"/>
              </a:ext>
            </a:extLst>
          </p:cNvPr>
          <p:cNvSpPr/>
          <p:nvPr/>
        </p:nvSpPr>
        <p:spPr>
          <a:xfrm>
            <a:off x="1428750" y="3248025"/>
            <a:ext cx="17907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/visitor</a:t>
            </a:r>
            <a:endParaRPr lang="en-US" sz="1800" dirty="0"/>
          </a:p>
        </p:txBody>
      </p:sp>
      <p:sp>
        <p:nvSpPr>
          <p:cNvPr id="32" name="Text 9">
            <a:extLst>
              <a:ext uri="{FF2B5EF4-FFF2-40B4-BE49-F238E27FC236}">
                <a16:creationId xmlns:a16="http://schemas.microsoft.com/office/drawing/2014/main" id="{E5B09E94-B39D-03E2-9478-94B95DCC0D7E}"/>
              </a:ext>
            </a:extLst>
          </p:cNvPr>
          <p:cNvSpPr/>
          <p:nvPr/>
        </p:nvSpPr>
        <p:spPr>
          <a:xfrm>
            <a:off x="3448050" y="3286125"/>
            <a:ext cx="12730521"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New-visitor follow-up. </a:t>
            </a:r>
            <a:r>
              <a:rPr lang="en-US" sz="1425" dirty="0">
                <a:solidFill>
                  <a:srgbClr val="C9CBD1"/>
                </a:solidFill>
                <a:latin typeface="Inter" pitchFamily="34" charset="0"/>
                <a:ea typeface="Inter" pitchFamily="34" charset="-122"/>
                <a:cs typeface="Inter" pitchFamily="34" charset="-120"/>
              </a:rPr>
              <a:t>Reads connect cards, drafts personalized welcomes referencing what they marked, schedules 2- and 6-week check-ins.</a:t>
            </a:r>
            <a:endParaRPr lang="en-US" sz="1425" dirty="0"/>
          </a:p>
        </p:txBody>
      </p:sp>
      <p:sp>
        <p:nvSpPr>
          <p:cNvPr id="33" name="Shape 10">
            <a:extLst>
              <a:ext uri="{FF2B5EF4-FFF2-40B4-BE49-F238E27FC236}">
                <a16:creationId xmlns:a16="http://schemas.microsoft.com/office/drawing/2014/main" id="{4B797AA1-4F74-1FBB-9736-5281B3C74E5F}"/>
              </a:ext>
            </a:extLst>
          </p:cNvPr>
          <p:cNvSpPr/>
          <p:nvPr/>
        </p:nvSpPr>
        <p:spPr>
          <a:xfrm>
            <a:off x="1143000" y="3862387"/>
            <a:ext cx="16002000" cy="652463"/>
          </a:xfrm>
          <a:prstGeom prst="rect">
            <a:avLst/>
          </a:prstGeom>
          <a:solidFill>
            <a:srgbClr val="1B1D24"/>
          </a:solidFill>
          <a:ln/>
        </p:spPr>
        <p:txBody>
          <a:bodyPr/>
          <a:lstStyle/>
          <a:p>
            <a:endParaRPr lang="en-US"/>
          </a:p>
        </p:txBody>
      </p:sp>
      <p:sp>
        <p:nvSpPr>
          <p:cNvPr id="34" name="Shape 11">
            <a:extLst>
              <a:ext uri="{FF2B5EF4-FFF2-40B4-BE49-F238E27FC236}">
                <a16:creationId xmlns:a16="http://schemas.microsoft.com/office/drawing/2014/main" id="{7A08F5AD-250B-D982-AB45-5DF1021790DF}"/>
              </a:ext>
            </a:extLst>
          </p:cNvPr>
          <p:cNvSpPr/>
          <p:nvPr/>
        </p:nvSpPr>
        <p:spPr>
          <a:xfrm>
            <a:off x="1143000" y="3862387"/>
            <a:ext cx="19050" cy="652463"/>
          </a:xfrm>
          <a:prstGeom prst="rect">
            <a:avLst/>
          </a:prstGeom>
          <a:solidFill>
            <a:srgbClr val="3A3D49"/>
          </a:solidFill>
          <a:ln/>
        </p:spPr>
        <p:txBody>
          <a:bodyPr/>
          <a:lstStyle/>
          <a:p>
            <a:endParaRPr lang="en-US"/>
          </a:p>
        </p:txBody>
      </p:sp>
      <p:sp>
        <p:nvSpPr>
          <p:cNvPr id="35" name="Text 12">
            <a:extLst>
              <a:ext uri="{FF2B5EF4-FFF2-40B4-BE49-F238E27FC236}">
                <a16:creationId xmlns:a16="http://schemas.microsoft.com/office/drawing/2014/main" id="{59896298-15A2-DDF8-BA96-3088DC43B3CE}"/>
              </a:ext>
            </a:extLst>
          </p:cNvPr>
          <p:cNvSpPr/>
          <p:nvPr/>
        </p:nvSpPr>
        <p:spPr>
          <a:xfrm>
            <a:off x="1428750" y="4033837"/>
            <a:ext cx="17907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/sermon</a:t>
            </a:r>
            <a:endParaRPr lang="en-US" sz="1800" dirty="0"/>
          </a:p>
        </p:txBody>
      </p:sp>
      <p:sp>
        <p:nvSpPr>
          <p:cNvPr id="36" name="Text 13">
            <a:extLst>
              <a:ext uri="{FF2B5EF4-FFF2-40B4-BE49-F238E27FC236}">
                <a16:creationId xmlns:a16="http://schemas.microsoft.com/office/drawing/2014/main" id="{E15941C4-E28B-EA99-263C-838BB0533996}"/>
              </a:ext>
            </a:extLst>
          </p:cNvPr>
          <p:cNvSpPr/>
          <p:nvPr/>
        </p:nvSpPr>
        <p:spPr>
          <a:xfrm>
            <a:off x="3448050" y="4071938"/>
            <a:ext cx="9545400"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Sermon-to-everything. </a:t>
            </a:r>
            <a:r>
              <a:rPr lang="en-US" sz="1425" dirty="0">
                <a:solidFill>
                  <a:srgbClr val="C9CBD1"/>
                </a:solidFill>
                <a:latin typeface="Inter" pitchFamily="34" charset="0"/>
                <a:ea typeface="Inter" pitchFamily="34" charset="-122"/>
                <a:cs typeface="Inter" pitchFamily="34" charset="-120"/>
              </a:rPr>
              <a:t>Manuscript → social posts, small group questions, kid's lesson tie-in, bulletin insert.</a:t>
            </a:r>
            <a:endParaRPr lang="en-US" sz="1425" dirty="0"/>
          </a:p>
        </p:txBody>
      </p:sp>
      <p:sp>
        <p:nvSpPr>
          <p:cNvPr id="37" name="Shape 14">
            <a:extLst>
              <a:ext uri="{FF2B5EF4-FFF2-40B4-BE49-F238E27FC236}">
                <a16:creationId xmlns:a16="http://schemas.microsoft.com/office/drawing/2014/main" id="{B9AFF5C3-3B26-26CC-55A3-E12534031B4E}"/>
              </a:ext>
            </a:extLst>
          </p:cNvPr>
          <p:cNvSpPr/>
          <p:nvPr/>
        </p:nvSpPr>
        <p:spPr>
          <a:xfrm>
            <a:off x="1143000" y="4648200"/>
            <a:ext cx="16002000" cy="652463"/>
          </a:xfrm>
          <a:prstGeom prst="rect">
            <a:avLst/>
          </a:prstGeom>
          <a:solidFill>
            <a:srgbClr val="1B1D24"/>
          </a:solidFill>
          <a:ln/>
        </p:spPr>
        <p:txBody>
          <a:bodyPr/>
          <a:lstStyle/>
          <a:p>
            <a:endParaRPr lang="en-US"/>
          </a:p>
        </p:txBody>
      </p:sp>
      <p:sp>
        <p:nvSpPr>
          <p:cNvPr id="38" name="Shape 15">
            <a:extLst>
              <a:ext uri="{FF2B5EF4-FFF2-40B4-BE49-F238E27FC236}">
                <a16:creationId xmlns:a16="http://schemas.microsoft.com/office/drawing/2014/main" id="{57421439-756C-5C77-8065-FEE14890152F}"/>
              </a:ext>
            </a:extLst>
          </p:cNvPr>
          <p:cNvSpPr/>
          <p:nvPr/>
        </p:nvSpPr>
        <p:spPr>
          <a:xfrm>
            <a:off x="1143000" y="4648200"/>
            <a:ext cx="19050" cy="652463"/>
          </a:xfrm>
          <a:prstGeom prst="rect">
            <a:avLst/>
          </a:prstGeom>
          <a:solidFill>
            <a:srgbClr val="3A3D49"/>
          </a:solidFill>
          <a:ln/>
        </p:spPr>
        <p:txBody>
          <a:bodyPr/>
          <a:lstStyle/>
          <a:p>
            <a:endParaRPr lang="en-US"/>
          </a:p>
        </p:txBody>
      </p:sp>
      <p:sp>
        <p:nvSpPr>
          <p:cNvPr id="39" name="Text 16">
            <a:extLst>
              <a:ext uri="{FF2B5EF4-FFF2-40B4-BE49-F238E27FC236}">
                <a16:creationId xmlns:a16="http://schemas.microsoft.com/office/drawing/2014/main" id="{6A4B9BFF-DC4D-DAF8-770F-BDABA7E64C17}"/>
              </a:ext>
            </a:extLst>
          </p:cNvPr>
          <p:cNvSpPr/>
          <p:nvPr/>
        </p:nvSpPr>
        <p:spPr>
          <a:xfrm>
            <a:off x="1428750" y="4819650"/>
            <a:ext cx="17907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/elder-mtg</a:t>
            </a:r>
            <a:endParaRPr lang="en-US" sz="1800" dirty="0"/>
          </a:p>
        </p:txBody>
      </p:sp>
      <p:sp>
        <p:nvSpPr>
          <p:cNvPr id="40" name="Text 17">
            <a:extLst>
              <a:ext uri="{FF2B5EF4-FFF2-40B4-BE49-F238E27FC236}">
                <a16:creationId xmlns:a16="http://schemas.microsoft.com/office/drawing/2014/main" id="{EE0427CC-3741-BC7E-06F3-56F14CC10F04}"/>
              </a:ext>
            </a:extLst>
          </p:cNvPr>
          <p:cNvSpPr/>
          <p:nvPr/>
        </p:nvSpPr>
        <p:spPr>
          <a:xfrm>
            <a:off x="3448050" y="4857750"/>
            <a:ext cx="10961060"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Elder meeting → action engine. </a:t>
            </a:r>
            <a:r>
              <a:rPr lang="en-US" sz="1425" dirty="0">
                <a:solidFill>
                  <a:srgbClr val="C9CBD1"/>
                </a:solidFill>
                <a:latin typeface="Inter" pitchFamily="34" charset="0"/>
                <a:ea typeface="Inter" pitchFamily="34" charset="-122"/>
                <a:cs typeface="Inter" pitchFamily="34" charset="-120"/>
              </a:rPr>
              <a:t>Recording → summary, decisions log, action items by person, draft of next month's agenda.</a:t>
            </a:r>
            <a:endParaRPr lang="en-US" sz="1425" dirty="0"/>
          </a:p>
        </p:txBody>
      </p:sp>
      <p:sp>
        <p:nvSpPr>
          <p:cNvPr id="41" name="Shape 18">
            <a:extLst>
              <a:ext uri="{FF2B5EF4-FFF2-40B4-BE49-F238E27FC236}">
                <a16:creationId xmlns:a16="http://schemas.microsoft.com/office/drawing/2014/main" id="{0B5A50D4-39F8-2A22-F890-84C4482BB312}"/>
              </a:ext>
            </a:extLst>
          </p:cNvPr>
          <p:cNvSpPr/>
          <p:nvPr/>
        </p:nvSpPr>
        <p:spPr>
          <a:xfrm>
            <a:off x="1143000" y="5434013"/>
            <a:ext cx="16002000" cy="652463"/>
          </a:xfrm>
          <a:prstGeom prst="rect">
            <a:avLst/>
          </a:prstGeom>
          <a:solidFill>
            <a:srgbClr val="1B1D24"/>
          </a:solidFill>
          <a:ln/>
        </p:spPr>
        <p:txBody>
          <a:bodyPr/>
          <a:lstStyle/>
          <a:p>
            <a:endParaRPr lang="en-US"/>
          </a:p>
        </p:txBody>
      </p:sp>
      <p:sp>
        <p:nvSpPr>
          <p:cNvPr id="42" name="Shape 19">
            <a:extLst>
              <a:ext uri="{FF2B5EF4-FFF2-40B4-BE49-F238E27FC236}">
                <a16:creationId xmlns:a16="http://schemas.microsoft.com/office/drawing/2014/main" id="{05F55D95-269B-09BE-4586-89FAF62D4768}"/>
              </a:ext>
            </a:extLst>
          </p:cNvPr>
          <p:cNvSpPr/>
          <p:nvPr/>
        </p:nvSpPr>
        <p:spPr>
          <a:xfrm>
            <a:off x="1143000" y="5434013"/>
            <a:ext cx="19050" cy="652463"/>
          </a:xfrm>
          <a:prstGeom prst="rect">
            <a:avLst/>
          </a:prstGeom>
          <a:solidFill>
            <a:srgbClr val="3A3D49"/>
          </a:solidFill>
          <a:ln/>
        </p:spPr>
        <p:txBody>
          <a:bodyPr/>
          <a:lstStyle/>
          <a:p>
            <a:endParaRPr lang="en-US"/>
          </a:p>
        </p:txBody>
      </p:sp>
      <p:sp>
        <p:nvSpPr>
          <p:cNvPr id="43" name="Text 20">
            <a:extLst>
              <a:ext uri="{FF2B5EF4-FFF2-40B4-BE49-F238E27FC236}">
                <a16:creationId xmlns:a16="http://schemas.microsoft.com/office/drawing/2014/main" id="{B796E76B-109F-C2F7-AA48-49FEFA98154A}"/>
              </a:ext>
            </a:extLst>
          </p:cNvPr>
          <p:cNvSpPr/>
          <p:nvPr/>
        </p:nvSpPr>
        <p:spPr>
          <a:xfrm>
            <a:off x="1428750" y="5605463"/>
            <a:ext cx="17907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/care-ledger</a:t>
            </a:r>
            <a:endParaRPr lang="en-US" sz="1800" dirty="0"/>
          </a:p>
        </p:txBody>
      </p:sp>
      <p:sp>
        <p:nvSpPr>
          <p:cNvPr id="44" name="Text 21">
            <a:extLst>
              <a:ext uri="{FF2B5EF4-FFF2-40B4-BE49-F238E27FC236}">
                <a16:creationId xmlns:a16="http://schemas.microsoft.com/office/drawing/2014/main" id="{ABC333EF-D021-A740-B309-4B78F3626326}"/>
              </a:ext>
            </a:extLst>
          </p:cNvPr>
          <p:cNvSpPr/>
          <p:nvPr/>
        </p:nvSpPr>
        <p:spPr>
          <a:xfrm>
            <a:off x="3448050" y="5643563"/>
            <a:ext cx="10492444"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Pastoral care ledger. </a:t>
            </a:r>
            <a:r>
              <a:rPr lang="en-US" sz="1425" dirty="0">
                <a:solidFill>
                  <a:srgbClr val="C9CBD1"/>
                </a:solidFill>
                <a:latin typeface="Inter" pitchFamily="34" charset="0"/>
                <a:ea typeface="Inter" pitchFamily="34" charset="-122"/>
                <a:cs typeface="Inter" pitchFamily="34" charset="-120"/>
              </a:rPr>
              <a:t>Hospital visits, counseling, prayer requests → weekly digest. Flags anyone untouched in 90 days.</a:t>
            </a:r>
            <a:endParaRPr lang="en-US" sz="1425" dirty="0"/>
          </a:p>
        </p:txBody>
      </p:sp>
      <p:sp>
        <p:nvSpPr>
          <p:cNvPr id="45" name="Text 22">
            <a:extLst>
              <a:ext uri="{FF2B5EF4-FFF2-40B4-BE49-F238E27FC236}">
                <a16:creationId xmlns:a16="http://schemas.microsoft.com/office/drawing/2014/main" id="{2AB6A7CD-4C6F-46F3-CF98-CB0939E232A4}"/>
              </a:ext>
            </a:extLst>
          </p:cNvPr>
          <p:cNvSpPr/>
          <p:nvPr/>
        </p:nvSpPr>
        <p:spPr>
          <a:xfrm>
            <a:off x="1143000" y="6429375"/>
            <a:ext cx="78700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F58220"/>
                </a:solidFill>
                <a:latin typeface="JetBrains Mono" pitchFamily="34" charset="0"/>
                <a:ea typeface="JetBrains Mono" pitchFamily="34" charset="-122"/>
                <a:cs typeface="JetBrains Mono" pitchFamily="34" charset="-120"/>
              </a:rPr>
              <a:t>TIER 04</a:t>
            </a:r>
            <a:endParaRPr lang="en-US" sz="975" dirty="0"/>
          </a:p>
        </p:txBody>
      </p:sp>
      <p:sp>
        <p:nvSpPr>
          <p:cNvPr id="46" name="Text 23">
            <a:extLst>
              <a:ext uri="{FF2B5EF4-FFF2-40B4-BE49-F238E27FC236}">
                <a16:creationId xmlns:a16="http://schemas.microsoft.com/office/drawing/2014/main" id="{72FF95F1-1E32-DD7D-0251-910DFA05210A}"/>
              </a:ext>
            </a:extLst>
          </p:cNvPr>
          <p:cNvSpPr/>
          <p:nvPr/>
        </p:nvSpPr>
        <p:spPr>
          <a:xfrm>
            <a:off x="2025253" y="6353175"/>
            <a:ext cx="2897237"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16" dirty="0">
                <a:solidFill>
                  <a:srgbClr val="FFFFFF"/>
                </a:solidFill>
                <a:latin typeface="Montserrat" pitchFamily="34" charset="0"/>
                <a:ea typeface="Montserrat" pitchFamily="34" charset="-122"/>
                <a:cs typeface="Montserrat" pitchFamily="34" charset="-120"/>
              </a:rPr>
              <a:t>"Wait — you can do that?"</a:t>
            </a:r>
            <a:endParaRPr lang="en-US" sz="1650" dirty="0"/>
          </a:p>
        </p:txBody>
      </p:sp>
      <p:sp>
        <p:nvSpPr>
          <p:cNvPr id="47" name="Text 24">
            <a:extLst>
              <a:ext uri="{FF2B5EF4-FFF2-40B4-BE49-F238E27FC236}">
                <a16:creationId xmlns:a16="http://schemas.microsoft.com/office/drawing/2014/main" id="{D1295F48-1DD4-30B7-6C3C-4B59539E5B5B}"/>
              </a:ext>
            </a:extLst>
          </p:cNvPr>
          <p:cNvSpPr/>
          <p:nvPr/>
        </p:nvSpPr>
        <p:spPr>
          <a:xfrm>
            <a:off x="5009555" y="6410325"/>
            <a:ext cx="2696270" cy="219075"/>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9CA4"/>
                </a:solidFill>
                <a:latin typeface="Inter" pitchFamily="34" charset="0"/>
                <a:ea typeface="Inter" pitchFamily="34" charset="-122"/>
                <a:cs typeface="Inter" pitchFamily="34" charset="-120"/>
              </a:rPr>
              <a:t>— synthesis across years and systems</a:t>
            </a:r>
            <a:endParaRPr lang="en-US" sz="1125" dirty="0"/>
          </a:p>
        </p:txBody>
      </p:sp>
      <p:sp>
        <p:nvSpPr>
          <p:cNvPr id="48" name="Shape 25">
            <a:extLst>
              <a:ext uri="{FF2B5EF4-FFF2-40B4-BE49-F238E27FC236}">
                <a16:creationId xmlns:a16="http://schemas.microsoft.com/office/drawing/2014/main" id="{8B0642E2-FB42-EB5F-2670-55093FDADB52}"/>
              </a:ext>
            </a:extLst>
          </p:cNvPr>
          <p:cNvSpPr/>
          <p:nvPr/>
        </p:nvSpPr>
        <p:spPr>
          <a:xfrm>
            <a:off x="1143000" y="6743700"/>
            <a:ext cx="16002000" cy="652463"/>
          </a:xfrm>
          <a:prstGeom prst="rect">
            <a:avLst/>
          </a:prstGeom>
          <a:solidFill>
            <a:srgbClr val="F58220">
              <a:alpha val="8000"/>
            </a:srgbClr>
          </a:solidFill>
          <a:ln/>
        </p:spPr>
        <p:txBody>
          <a:bodyPr/>
          <a:lstStyle/>
          <a:p>
            <a:endParaRPr lang="en-US"/>
          </a:p>
        </p:txBody>
      </p:sp>
      <p:sp>
        <p:nvSpPr>
          <p:cNvPr id="49" name="Shape 26">
            <a:extLst>
              <a:ext uri="{FF2B5EF4-FFF2-40B4-BE49-F238E27FC236}">
                <a16:creationId xmlns:a16="http://schemas.microsoft.com/office/drawing/2014/main" id="{DD057F13-75A9-817A-5085-8B391DF47E3B}"/>
              </a:ext>
            </a:extLst>
          </p:cNvPr>
          <p:cNvSpPr/>
          <p:nvPr/>
        </p:nvSpPr>
        <p:spPr>
          <a:xfrm>
            <a:off x="1143000" y="6743700"/>
            <a:ext cx="19050" cy="652463"/>
          </a:xfrm>
          <a:prstGeom prst="rect">
            <a:avLst/>
          </a:prstGeom>
          <a:solidFill>
            <a:srgbClr val="F58220"/>
          </a:solidFill>
          <a:ln/>
        </p:spPr>
        <p:txBody>
          <a:bodyPr/>
          <a:lstStyle/>
          <a:p>
            <a:endParaRPr lang="en-US"/>
          </a:p>
        </p:txBody>
      </p:sp>
      <p:sp>
        <p:nvSpPr>
          <p:cNvPr id="50" name="Text 27">
            <a:extLst>
              <a:ext uri="{FF2B5EF4-FFF2-40B4-BE49-F238E27FC236}">
                <a16:creationId xmlns:a16="http://schemas.microsoft.com/office/drawing/2014/main" id="{1839D001-9287-8348-DFCB-919C7CE45A0D}"/>
              </a:ext>
            </a:extLst>
          </p:cNvPr>
          <p:cNvSpPr/>
          <p:nvPr/>
        </p:nvSpPr>
        <p:spPr>
          <a:xfrm>
            <a:off x="1428750" y="6915150"/>
            <a:ext cx="1996529"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/annual-report</a:t>
            </a:r>
            <a:endParaRPr lang="en-US" sz="1800" dirty="0"/>
          </a:p>
        </p:txBody>
      </p:sp>
      <p:sp>
        <p:nvSpPr>
          <p:cNvPr id="51" name="Text 28">
            <a:extLst>
              <a:ext uri="{FF2B5EF4-FFF2-40B4-BE49-F238E27FC236}">
                <a16:creationId xmlns:a16="http://schemas.microsoft.com/office/drawing/2014/main" id="{A6A08E4D-8B0F-5FCB-4DF3-C6C56C4C039C}"/>
              </a:ext>
            </a:extLst>
          </p:cNvPr>
          <p:cNvSpPr/>
          <p:nvPr/>
        </p:nvSpPr>
        <p:spPr>
          <a:xfrm>
            <a:off x="3448050" y="6953250"/>
            <a:ext cx="9020021" cy="2952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Pulls giving, attendance, baptisms, missions spend </a:t>
            </a:r>
            <a:r>
              <a:rPr lang="en-US" sz="1425" dirty="0">
                <a:solidFill>
                  <a:srgbClr val="C9CBD1"/>
                </a:solidFill>
                <a:latin typeface="Inter" pitchFamily="34" charset="0"/>
                <a:ea typeface="Inter" pitchFamily="34" charset="-122"/>
                <a:cs typeface="Inter" pitchFamily="34" charset="-120"/>
              </a:rPr>
              <a:t>from 4 systems → board-ready narrative draft.</a:t>
            </a:r>
            <a:endParaRPr lang="en-US" sz="1425" dirty="0"/>
          </a:p>
        </p:txBody>
      </p:sp>
      <p:sp>
        <p:nvSpPr>
          <p:cNvPr id="52" name="Shape 29">
            <a:extLst>
              <a:ext uri="{FF2B5EF4-FFF2-40B4-BE49-F238E27FC236}">
                <a16:creationId xmlns:a16="http://schemas.microsoft.com/office/drawing/2014/main" id="{E6B733B4-F4A3-BAD1-7DA1-DA7D3B09B2FB}"/>
              </a:ext>
            </a:extLst>
          </p:cNvPr>
          <p:cNvSpPr/>
          <p:nvPr/>
        </p:nvSpPr>
        <p:spPr>
          <a:xfrm>
            <a:off x="1143000" y="7529513"/>
            <a:ext cx="16002000" cy="652463"/>
          </a:xfrm>
          <a:prstGeom prst="rect">
            <a:avLst/>
          </a:prstGeom>
          <a:solidFill>
            <a:srgbClr val="F58220">
              <a:alpha val="8000"/>
            </a:srgbClr>
          </a:solidFill>
          <a:ln/>
        </p:spPr>
        <p:txBody>
          <a:bodyPr/>
          <a:lstStyle/>
          <a:p>
            <a:endParaRPr lang="en-US"/>
          </a:p>
        </p:txBody>
      </p:sp>
      <p:sp>
        <p:nvSpPr>
          <p:cNvPr id="53" name="Shape 30">
            <a:extLst>
              <a:ext uri="{FF2B5EF4-FFF2-40B4-BE49-F238E27FC236}">
                <a16:creationId xmlns:a16="http://schemas.microsoft.com/office/drawing/2014/main" id="{9A8A232C-78A1-37A3-6469-F40474924041}"/>
              </a:ext>
            </a:extLst>
          </p:cNvPr>
          <p:cNvSpPr/>
          <p:nvPr/>
        </p:nvSpPr>
        <p:spPr>
          <a:xfrm>
            <a:off x="1143000" y="7529513"/>
            <a:ext cx="19050" cy="652463"/>
          </a:xfrm>
          <a:prstGeom prst="rect">
            <a:avLst/>
          </a:prstGeom>
          <a:solidFill>
            <a:srgbClr val="F58220"/>
          </a:solidFill>
          <a:ln/>
        </p:spPr>
        <p:txBody>
          <a:bodyPr/>
          <a:lstStyle/>
          <a:p>
            <a:endParaRPr lang="en-US"/>
          </a:p>
        </p:txBody>
      </p:sp>
      <p:sp>
        <p:nvSpPr>
          <p:cNvPr id="54" name="Text 31">
            <a:extLst>
              <a:ext uri="{FF2B5EF4-FFF2-40B4-BE49-F238E27FC236}">
                <a16:creationId xmlns:a16="http://schemas.microsoft.com/office/drawing/2014/main" id="{EF7E9084-3DA2-7E6D-C3A4-FBBF5C33A354}"/>
              </a:ext>
            </a:extLst>
          </p:cNvPr>
          <p:cNvSpPr/>
          <p:nvPr/>
        </p:nvSpPr>
        <p:spPr>
          <a:xfrm>
            <a:off x="1428750" y="7700963"/>
            <a:ext cx="17907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/curriculum</a:t>
            </a:r>
            <a:endParaRPr lang="en-US" sz="1800" dirty="0"/>
          </a:p>
        </p:txBody>
      </p:sp>
      <p:sp>
        <p:nvSpPr>
          <p:cNvPr id="55" name="Text 32">
            <a:extLst>
              <a:ext uri="{FF2B5EF4-FFF2-40B4-BE49-F238E27FC236}">
                <a16:creationId xmlns:a16="http://schemas.microsoft.com/office/drawing/2014/main" id="{19A55061-F257-6E94-E672-72E30F1A98F9}"/>
              </a:ext>
            </a:extLst>
          </p:cNvPr>
          <p:cNvSpPr/>
          <p:nvPr/>
        </p:nvSpPr>
        <p:spPr>
          <a:xfrm>
            <a:off x="3448050" y="7739062"/>
            <a:ext cx="6936813"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One adult Bible study </a:t>
            </a:r>
            <a:r>
              <a:rPr lang="en-US" sz="1425" dirty="0">
                <a:solidFill>
                  <a:srgbClr val="C9CBD1"/>
                </a:solidFill>
                <a:latin typeface="Inter" pitchFamily="34" charset="0"/>
                <a:ea typeface="Inter" pitchFamily="34" charset="-122"/>
                <a:cs typeface="Inter" pitchFamily="34" charset="-120"/>
              </a:rPr>
              <a:t>→ kids, students, and Spanish versions. In an afternoon.</a:t>
            </a:r>
            <a:endParaRPr lang="en-US" sz="1425" dirty="0"/>
          </a:p>
        </p:txBody>
      </p:sp>
      <p:sp>
        <p:nvSpPr>
          <p:cNvPr id="56" name="Shape 33">
            <a:extLst>
              <a:ext uri="{FF2B5EF4-FFF2-40B4-BE49-F238E27FC236}">
                <a16:creationId xmlns:a16="http://schemas.microsoft.com/office/drawing/2014/main" id="{A9FC9315-378B-C412-D22E-06A1D68ABD4D}"/>
              </a:ext>
            </a:extLst>
          </p:cNvPr>
          <p:cNvSpPr/>
          <p:nvPr/>
        </p:nvSpPr>
        <p:spPr>
          <a:xfrm>
            <a:off x="1143000" y="8315325"/>
            <a:ext cx="16002000" cy="652463"/>
          </a:xfrm>
          <a:prstGeom prst="rect">
            <a:avLst/>
          </a:prstGeom>
          <a:solidFill>
            <a:srgbClr val="F58220">
              <a:alpha val="8000"/>
            </a:srgbClr>
          </a:solidFill>
          <a:ln/>
        </p:spPr>
        <p:txBody>
          <a:bodyPr/>
          <a:lstStyle/>
          <a:p>
            <a:endParaRPr lang="en-US"/>
          </a:p>
        </p:txBody>
      </p:sp>
      <p:sp>
        <p:nvSpPr>
          <p:cNvPr id="57" name="Shape 34">
            <a:extLst>
              <a:ext uri="{FF2B5EF4-FFF2-40B4-BE49-F238E27FC236}">
                <a16:creationId xmlns:a16="http://schemas.microsoft.com/office/drawing/2014/main" id="{FA1E374E-B479-F804-85B5-C93178F49734}"/>
              </a:ext>
            </a:extLst>
          </p:cNvPr>
          <p:cNvSpPr/>
          <p:nvPr/>
        </p:nvSpPr>
        <p:spPr>
          <a:xfrm>
            <a:off x="1143000" y="8315325"/>
            <a:ext cx="19050" cy="652463"/>
          </a:xfrm>
          <a:prstGeom prst="rect">
            <a:avLst/>
          </a:prstGeom>
          <a:solidFill>
            <a:srgbClr val="F58220"/>
          </a:solidFill>
          <a:ln/>
        </p:spPr>
        <p:txBody>
          <a:bodyPr/>
          <a:lstStyle/>
          <a:p>
            <a:endParaRPr lang="en-US"/>
          </a:p>
        </p:txBody>
      </p:sp>
      <p:sp>
        <p:nvSpPr>
          <p:cNvPr id="58" name="Text 35">
            <a:extLst>
              <a:ext uri="{FF2B5EF4-FFF2-40B4-BE49-F238E27FC236}">
                <a16:creationId xmlns:a16="http://schemas.microsoft.com/office/drawing/2014/main" id="{112223F8-5934-EEC0-6A9D-3825E1878001}"/>
              </a:ext>
            </a:extLst>
          </p:cNvPr>
          <p:cNvSpPr/>
          <p:nvPr/>
        </p:nvSpPr>
        <p:spPr>
          <a:xfrm>
            <a:off x="1428750" y="8486775"/>
            <a:ext cx="17907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58220"/>
                </a:solidFill>
                <a:latin typeface="JetBrains Mono" pitchFamily="34" charset="0"/>
                <a:ea typeface="JetBrains Mono" pitchFamily="34" charset="-122"/>
                <a:cs typeface="JetBrains Mono" pitchFamily="34" charset="-120"/>
              </a:rPr>
              <a:t>/handbook</a:t>
            </a:r>
            <a:endParaRPr lang="en-US" sz="1800" dirty="0"/>
          </a:p>
        </p:txBody>
      </p:sp>
      <p:sp>
        <p:nvSpPr>
          <p:cNvPr id="59" name="Text 36">
            <a:extLst>
              <a:ext uri="{FF2B5EF4-FFF2-40B4-BE49-F238E27FC236}">
                <a16:creationId xmlns:a16="http://schemas.microsoft.com/office/drawing/2014/main" id="{D0767FFD-EFD0-0711-9EB3-67DBBE7586AB}"/>
              </a:ext>
            </a:extLst>
          </p:cNvPr>
          <p:cNvSpPr/>
          <p:nvPr/>
        </p:nvSpPr>
        <p:spPr>
          <a:xfrm>
            <a:off x="3448050" y="8524875"/>
            <a:ext cx="10460559"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Ask the handbook. </a:t>
            </a:r>
            <a:r>
              <a:rPr lang="en-US" sz="1425" dirty="0">
                <a:solidFill>
                  <a:srgbClr val="C9CBD1"/>
                </a:solidFill>
                <a:latin typeface="Inter" pitchFamily="34" charset="0"/>
                <a:ea typeface="Inter" pitchFamily="34" charset="-122"/>
                <a:cs typeface="Inter" pitchFamily="34" charset="-120"/>
              </a:rPr>
              <a:t>Point at policies. Staff asks "how many bereavement days?" — gets the right answer with citations.</a:t>
            </a:r>
            <a:endParaRPr lang="en-US" sz="1425" dirty="0"/>
          </a:p>
        </p:txBody>
      </p:sp>
    </p:spTree>
    <p:extLst>
      <p:ext uri="{BB962C8B-B14F-4D97-AF65-F5344CB8AC3E}">
        <p14:creationId xmlns:p14="http://schemas.microsoft.com/office/powerpoint/2010/main" val="1798925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14161C"/>
        </a:solidFill>
        <a:effectLst/>
      </p:bgPr>
    </p:bg>
    <p:spTree>
      <p:nvGrpSpPr>
        <p:cNvPr id="1" name="">
          <a:extLst>
            <a:ext uri="{FF2B5EF4-FFF2-40B4-BE49-F238E27FC236}">
              <a16:creationId xmlns:a16="http://schemas.microsoft.com/office/drawing/2014/main" id="{AC764007-81F2-8478-BBE0-32B36090CA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AB012B-5D84-FFF8-64F6-42E526C9470D}"/>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CLAUDE CODE · YOUR TURN</a:t>
            </a:r>
            <a:endParaRPr lang="en-US" sz="1350" dirty="0"/>
          </a:p>
        </p:txBody>
      </p:sp>
      <p:sp>
        <p:nvSpPr>
          <p:cNvPr id="3" name="Text 1">
            <a:extLst>
              <a:ext uri="{FF2B5EF4-FFF2-40B4-BE49-F238E27FC236}">
                <a16:creationId xmlns:a16="http://schemas.microsoft.com/office/drawing/2014/main" id="{61ED51E5-2927-9654-06F6-0A788DC8BC11}"/>
              </a:ext>
            </a:extLst>
          </p:cNvPr>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Aspirational — but real.</a:t>
            </a:r>
            <a:endParaRPr lang="en-US" sz="6300" dirty="0"/>
          </a:p>
        </p:txBody>
      </p:sp>
      <p:sp>
        <p:nvSpPr>
          <p:cNvPr id="4" name="Text 2">
            <a:extLst>
              <a:ext uri="{FF2B5EF4-FFF2-40B4-BE49-F238E27FC236}">
                <a16:creationId xmlns:a16="http://schemas.microsoft.com/office/drawing/2014/main" id="{AB794148-9F41-3FA0-4A94-E69E004B3899}"/>
              </a:ext>
            </a:extLst>
          </p:cNvPr>
          <p:cNvSpPr/>
          <p:nvPr/>
        </p:nvSpPr>
        <p:spPr>
          <a:xfrm>
            <a:off x="1143000" y="2552700"/>
            <a:ext cx="16482060"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Four commands a church staff could ship this quarter.</a:t>
            </a:r>
            <a:endParaRPr lang="en-US" sz="1950" dirty="0"/>
          </a:p>
        </p:txBody>
      </p:sp>
      <p:sp>
        <p:nvSpPr>
          <p:cNvPr id="5" name="Shape 3">
            <a:extLst>
              <a:ext uri="{FF2B5EF4-FFF2-40B4-BE49-F238E27FC236}">
                <a16:creationId xmlns:a16="http://schemas.microsoft.com/office/drawing/2014/main" id="{05AFDD39-46C6-F2DA-D1E9-7BCF7D7B7B58}"/>
              </a:ext>
            </a:extLst>
          </p:cNvPr>
          <p:cNvSpPr/>
          <p:nvPr/>
        </p:nvSpPr>
        <p:spPr>
          <a:xfrm>
            <a:off x="1143000" y="3309938"/>
            <a:ext cx="7915275" cy="1090613"/>
          </a:xfrm>
          <a:prstGeom prst="rect">
            <a:avLst/>
          </a:prstGeom>
          <a:solidFill>
            <a:srgbClr val="F58220">
              <a:alpha val="8000"/>
            </a:srgbClr>
          </a:solidFill>
          <a:ln/>
        </p:spPr>
        <p:txBody>
          <a:bodyPr/>
          <a:lstStyle/>
          <a:p>
            <a:endParaRPr lang="en-US"/>
          </a:p>
        </p:txBody>
      </p:sp>
      <p:sp>
        <p:nvSpPr>
          <p:cNvPr id="6" name="Shape 4">
            <a:extLst>
              <a:ext uri="{FF2B5EF4-FFF2-40B4-BE49-F238E27FC236}">
                <a16:creationId xmlns:a16="http://schemas.microsoft.com/office/drawing/2014/main" id="{23276297-3054-668C-18F6-E8FCAB1555A4}"/>
              </a:ext>
            </a:extLst>
          </p:cNvPr>
          <p:cNvSpPr/>
          <p:nvPr/>
        </p:nvSpPr>
        <p:spPr>
          <a:xfrm>
            <a:off x="1143000" y="3309938"/>
            <a:ext cx="19050" cy="1090613"/>
          </a:xfrm>
          <a:prstGeom prst="rect">
            <a:avLst/>
          </a:prstGeom>
          <a:solidFill>
            <a:srgbClr val="F58220"/>
          </a:solidFill>
          <a:ln/>
        </p:spPr>
        <p:txBody>
          <a:bodyPr/>
          <a:lstStyle/>
          <a:p>
            <a:endParaRPr lang="en-US"/>
          </a:p>
        </p:txBody>
      </p:sp>
      <p:sp>
        <p:nvSpPr>
          <p:cNvPr id="7" name="Text 5">
            <a:extLst>
              <a:ext uri="{FF2B5EF4-FFF2-40B4-BE49-F238E27FC236}">
                <a16:creationId xmlns:a16="http://schemas.microsoft.com/office/drawing/2014/main" id="{73B0B12A-CFB8-8A26-9DE1-D96F1408E2F7}"/>
              </a:ext>
            </a:extLst>
          </p:cNvPr>
          <p:cNvSpPr/>
          <p:nvPr/>
        </p:nvSpPr>
        <p:spPr>
          <a:xfrm>
            <a:off x="1466850" y="3538538"/>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/weekly</a:t>
            </a:r>
            <a:endParaRPr lang="en-US" sz="2250" dirty="0"/>
          </a:p>
        </p:txBody>
      </p:sp>
      <p:sp>
        <p:nvSpPr>
          <p:cNvPr id="8" name="Text 6">
            <a:extLst>
              <a:ext uri="{FF2B5EF4-FFF2-40B4-BE49-F238E27FC236}">
                <a16:creationId xmlns:a16="http://schemas.microsoft.com/office/drawing/2014/main" id="{78F90CFA-2CE5-88EA-FD81-1D6C60822AA0}"/>
              </a:ext>
            </a:extLst>
          </p:cNvPr>
          <p:cNvSpPr/>
          <p:nvPr/>
        </p:nvSpPr>
        <p:spPr>
          <a:xfrm>
            <a:off x="3155950" y="3629025"/>
            <a:ext cx="5229130" cy="5810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Communications. </a:t>
            </a:r>
            <a:r>
              <a:rPr lang="en-US" sz="1425" dirty="0">
                <a:solidFill>
                  <a:srgbClr val="C9CBD1"/>
                </a:solidFill>
                <a:latin typeface="Inter" pitchFamily="34" charset="0"/>
                <a:ea typeface="Inter" pitchFamily="34" charset="-122"/>
                <a:cs typeface="Inter" pitchFamily="34" charset="-120"/>
              </a:rPr>
              <a:t>Pulls upcoming sermon, this week's events, recent giving stats → newsletter draft.</a:t>
            </a:r>
            <a:endParaRPr lang="en-US" sz="1425" dirty="0"/>
          </a:p>
        </p:txBody>
      </p:sp>
      <p:sp>
        <p:nvSpPr>
          <p:cNvPr id="9" name="Shape 7">
            <a:extLst>
              <a:ext uri="{FF2B5EF4-FFF2-40B4-BE49-F238E27FC236}">
                <a16:creationId xmlns:a16="http://schemas.microsoft.com/office/drawing/2014/main" id="{3246A31A-E361-3D70-67B5-CFCD527AFC58}"/>
              </a:ext>
            </a:extLst>
          </p:cNvPr>
          <p:cNvSpPr/>
          <p:nvPr/>
        </p:nvSpPr>
        <p:spPr>
          <a:xfrm>
            <a:off x="9229725" y="3309938"/>
            <a:ext cx="7915275" cy="1090613"/>
          </a:xfrm>
          <a:prstGeom prst="rect">
            <a:avLst/>
          </a:prstGeom>
          <a:solidFill>
            <a:srgbClr val="F58220">
              <a:alpha val="8000"/>
            </a:srgbClr>
          </a:solidFill>
          <a:ln/>
        </p:spPr>
        <p:txBody>
          <a:bodyPr/>
          <a:lstStyle/>
          <a:p>
            <a:endParaRPr lang="en-US"/>
          </a:p>
        </p:txBody>
      </p:sp>
      <p:sp>
        <p:nvSpPr>
          <p:cNvPr id="10" name="Shape 8">
            <a:extLst>
              <a:ext uri="{FF2B5EF4-FFF2-40B4-BE49-F238E27FC236}">
                <a16:creationId xmlns:a16="http://schemas.microsoft.com/office/drawing/2014/main" id="{17EA6E37-79F3-146A-5B5D-581726F1768D}"/>
              </a:ext>
            </a:extLst>
          </p:cNvPr>
          <p:cNvSpPr/>
          <p:nvPr/>
        </p:nvSpPr>
        <p:spPr>
          <a:xfrm>
            <a:off x="9229725" y="3309938"/>
            <a:ext cx="19050" cy="1090613"/>
          </a:xfrm>
          <a:prstGeom prst="rect">
            <a:avLst/>
          </a:prstGeom>
          <a:solidFill>
            <a:srgbClr val="F58220"/>
          </a:solidFill>
          <a:ln/>
        </p:spPr>
        <p:txBody>
          <a:bodyPr/>
          <a:lstStyle/>
          <a:p>
            <a:endParaRPr lang="en-US"/>
          </a:p>
        </p:txBody>
      </p:sp>
      <p:sp>
        <p:nvSpPr>
          <p:cNvPr id="11" name="Text 9">
            <a:extLst>
              <a:ext uri="{FF2B5EF4-FFF2-40B4-BE49-F238E27FC236}">
                <a16:creationId xmlns:a16="http://schemas.microsoft.com/office/drawing/2014/main" id="{7E0668D9-75BA-BD92-172C-291785EEFC70}"/>
              </a:ext>
            </a:extLst>
          </p:cNvPr>
          <p:cNvSpPr/>
          <p:nvPr/>
        </p:nvSpPr>
        <p:spPr>
          <a:xfrm>
            <a:off x="9553575" y="3538538"/>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/board</a:t>
            </a:r>
            <a:endParaRPr lang="en-US" sz="2250" dirty="0"/>
          </a:p>
        </p:txBody>
      </p:sp>
      <p:sp>
        <p:nvSpPr>
          <p:cNvPr id="12" name="Text 10">
            <a:extLst>
              <a:ext uri="{FF2B5EF4-FFF2-40B4-BE49-F238E27FC236}">
                <a16:creationId xmlns:a16="http://schemas.microsoft.com/office/drawing/2014/main" id="{DEB8B393-1E99-796D-E06A-037B97DA0F64}"/>
              </a:ext>
            </a:extLst>
          </p:cNvPr>
          <p:cNvSpPr/>
          <p:nvPr/>
        </p:nvSpPr>
        <p:spPr>
          <a:xfrm>
            <a:off x="11242675" y="3629025"/>
            <a:ext cx="5229130" cy="5810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Executive Pastor. </a:t>
            </a:r>
            <a:r>
              <a:rPr lang="en-US" sz="1425" dirty="0">
                <a:solidFill>
                  <a:srgbClr val="C9CBD1"/>
                </a:solidFill>
                <a:latin typeface="Inter" pitchFamily="34" charset="0"/>
                <a:ea typeface="Inter" pitchFamily="34" charset="-122"/>
                <a:cs typeface="Inter" pitchFamily="34" charset="-120"/>
              </a:rPr>
              <a:t>Pulls Planning Center, ACS, staff updates → monthly board packet skeleton.</a:t>
            </a:r>
            <a:endParaRPr lang="en-US" sz="1425" dirty="0"/>
          </a:p>
        </p:txBody>
      </p:sp>
      <p:sp>
        <p:nvSpPr>
          <p:cNvPr id="13" name="Shape 11">
            <a:extLst>
              <a:ext uri="{FF2B5EF4-FFF2-40B4-BE49-F238E27FC236}">
                <a16:creationId xmlns:a16="http://schemas.microsoft.com/office/drawing/2014/main" id="{C7CBFE04-FE8E-BD1F-9849-49DD47B3BE56}"/>
              </a:ext>
            </a:extLst>
          </p:cNvPr>
          <p:cNvSpPr/>
          <p:nvPr/>
        </p:nvSpPr>
        <p:spPr>
          <a:xfrm>
            <a:off x="1143000" y="4572000"/>
            <a:ext cx="7915275" cy="1090613"/>
          </a:xfrm>
          <a:prstGeom prst="rect">
            <a:avLst/>
          </a:prstGeom>
          <a:solidFill>
            <a:srgbClr val="F58220">
              <a:alpha val="8000"/>
            </a:srgbClr>
          </a:solidFill>
          <a:ln/>
        </p:spPr>
        <p:txBody>
          <a:bodyPr/>
          <a:lstStyle/>
          <a:p>
            <a:endParaRPr lang="en-US"/>
          </a:p>
        </p:txBody>
      </p:sp>
      <p:sp>
        <p:nvSpPr>
          <p:cNvPr id="14" name="Shape 12">
            <a:extLst>
              <a:ext uri="{FF2B5EF4-FFF2-40B4-BE49-F238E27FC236}">
                <a16:creationId xmlns:a16="http://schemas.microsoft.com/office/drawing/2014/main" id="{57A1E26F-8AD3-D742-FBC7-F8BA6494273F}"/>
              </a:ext>
            </a:extLst>
          </p:cNvPr>
          <p:cNvSpPr/>
          <p:nvPr/>
        </p:nvSpPr>
        <p:spPr>
          <a:xfrm>
            <a:off x="1143000" y="4572000"/>
            <a:ext cx="19050" cy="1090613"/>
          </a:xfrm>
          <a:prstGeom prst="rect">
            <a:avLst/>
          </a:prstGeom>
          <a:solidFill>
            <a:srgbClr val="F58220"/>
          </a:solidFill>
          <a:ln/>
        </p:spPr>
        <p:txBody>
          <a:bodyPr/>
          <a:lstStyle/>
          <a:p>
            <a:endParaRPr lang="en-US"/>
          </a:p>
        </p:txBody>
      </p:sp>
      <p:sp>
        <p:nvSpPr>
          <p:cNvPr id="15" name="Text 13">
            <a:extLst>
              <a:ext uri="{FF2B5EF4-FFF2-40B4-BE49-F238E27FC236}">
                <a16:creationId xmlns:a16="http://schemas.microsoft.com/office/drawing/2014/main" id="{35232E23-A073-87EE-78E3-65E96FCC6EC3}"/>
              </a:ext>
            </a:extLst>
          </p:cNvPr>
          <p:cNvSpPr/>
          <p:nvPr/>
        </p:nvSpPr>
        <p:spPr>
          <a:xfrm>
            <a:off x="1466850" y="4800600"/>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/care</a:t>
            </a:r>
            <a:endParaRPr lang="en-US" sz="2250" dirty="0"/>
          </a:p>
        </p:txBody>
      </p:sp>
      <p:sp>
        <p:nvSpPr>
          <p:cNvPr id="16" name="Text 14">
            <a:extLst>
              <a:ext uri="{FF2B5EF4-FFF2-40B4-BE49-F238E27FC236}">
                <a16:creationId xmlns:a16="http://schemas.microsoft.com/office/drawing/2014/main" id="{A56F4EE4-FF31-7D55-9DB1-4C9D02864763}"/>
              </a:ext>
            </a:extLst>
          </p:cNvPr>
          <p:cNvSpPr/>
          <p:nvPr/>
        </p:nvSpPr>
        <p:spPr>
          <a:xfrm>
            <a:off x="3155950" y="4891088"/>
            <a:ext cx="5229130" cy="5810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Pastoral Care. </a:t>
            </a:r>
            <a:r>
              <a:rPr lang="en-US" sz="1425" dirty="0">
                <a:solidFill>
                  <a:srgbClr val="C9CBD1"/>
                </a:solidFill>
                <a:latin typeface="Inter" pitchFamily="34" charset="0"/>
                <a:ea typeface="Inter" pitchFamily="34" charset="-122"/>
                <a:cs typeface="Inter" pitchFamily="34" charset="-120"/>
              </a:rPr>
              <a:t>Pulls follow-ups, appointments, prayer requests → single weekly view.</a:t>
            </a:r>
            <a:endParaRPr lang="en-US" sz="1425" dirty="0"/>
          </a:p>
        </p:txBody>
      </p:sp>
      <p:sp>
        <p:nvSpPr>
          <p:cNvPr id="17" name="Shape 15">
            <a:extLst>
              <a:ext uri="{FF2B5EF4-FFF2-40B4-BE49-F238E27FC236}">
                <a16:creationId xmlns:a16="http://schemas.microsoft.com/office/drawing/2014/main" id="{303917FB-E104-FE1C-9DB7-8C57D753280A}"/>
              </a:ext>
            </a:extLst>
          </p:cNvPr>
          <p:cNvSpPr/>
          <p:nvPr/>
        </p:nvSpPr>
        <p:spPr>
          <a:xfrm>
            <a:off x="9229725" y="4572000"/>
            <a:ext cx="7915275" cy="1090613"/>
          </a:xfrm>
          <a:prstGeom prst="rect">
            <a:avLst/>
          </a:prstGeom>
          <a:solidFill>
            <a:srgbClr val="F58220">
              <a:alpha val="8000"/>
            </a:srgbClr>
          </a:solidFill>
          <a:ln/>
        </p:spPr>
        <p:txBody>
          <a:bodyPr/>
          <a:lstStyle/>
          <a:p>
            <a:endParaRPr lang="en-US"/>
          </a:p>
        </p:txBody>
      </p:sp>
      <p:sp>
        <p:nvSpPr>
          <p:cNvPr id="18" name="Shape 16">
            <a:extLst>
              <a:ext uri="{FF2B5EF4-FFF2-40B4-BE49-F238E27FC236}">
                <a16:creationId xmlns:a16="http://schemas.microsoft.com/office/drawing/2014/main" id="{58498947-692E-77D7-0C5C-3F205408BBF0}"/>
              </a:ext>
            </a:extLst>
          </p:cNvPr>
          <p:cNvSpPr/>
          <p:nvPr/>
        </p:nvSpPr>
        <p:spPr>
          <a:xfrm>
            <a:off x="9229725" y="4572000"/>
            <a:ext cx="19050" cy="1090613"/>
          </a:xfrm>
          <a:prstGeom prst="rect">
            <a:avLst/>
          </a:prstGeom>
          <a:solidFill>
            <a:srgbClr val="F58220"/>
          </a:solidFill>
          <a:ln/>
        </p:spPr>
        <p:txBody>
          <a:bodyPr/>
          <a:lstStyle/>
          <a:p>
            <a:endParaRPr lang="en-US"/>
          </a:p>
        </p:txBody>
      </p:sp>
      <p:sp>
        <p:nvSpPr>
          <p:cNvPr id="19" name="Text 17">
            <a:extLst>
              <a:ext uri="{FF2B5EF4-FFF2-40B4-BE49-F238E27FC236}">
                <a16:creationId xmlns:a16="http://schemas.microsoft.com/office/drawing/2014/main" id="{462F45C7-0C0C-71F9-DC8F-DE5020465291}"/>
              </a:ext>
            </a:extLst>
          </p:cNvPr>
          <p:cNvSpPr/>
          <p:nvPr/>
        </p:nvSpPr>
        <p:spPr>
          <a:xfrm>
            <a:off x="9553575" y="4800600"/>
            <a:ext cx="19812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58220"/>
                </a:solidFill>
                <a:latin typeface="JetBrains Mono" pitchFamily="34" charset="0"/>
                <a:ea typeface="JetBrains Mono" pitchFamily="34" charset="-122"/>
                <a:cs typeface="JetBrains Mono" pitchFamily="34" charset="-120"/>
              </a:rPr>
              <a:t>/giving</a:t>
            </a:r>
            <a:endParaRPr lang="en-US" sz="2250" dirty="0"/>
          </a:p>
        </p:txBody>
      </p:sp>
      <p:sp>
        <p:nvSpPr>
          <p:cNvPr id="20" name="Text 18">
            <a:extLst>
              <a:ext uri="{FF2B5EF4-FFF2-40B4-BE49-F238E27FC236}">
                <a16:creationId xmlns:a16="http://schemas.microsoft.com/office/drawing/2014/main" id="{AC714B2F-567C-FFCE-FA86-24640619AB35}"/>
              </a:ext>
            </a:extLst>
          </p:cNvPr>
          <p:cNvSpPr/>
          <p:nvPr/>
        </p:nvSpPr>
        <p:spPr>
          <a:xfrm>
            <a:off x="11242675" y="4891088"/>
            <a:ext cx="5229130" cy="5810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b="1" dirty="0">
                <a:solidFill>
                  <a:srgbClr val="C9CBD1"/>
                </a:solidFill>
                <a:latin typeface="Inter" pitchFamily="34" charset="0"/>
                <a:ea typeface="Inter" pitchFamily="34" charset="-122"/>
                <a:cs typeface="Inter" pitchFamily="34" charset="-120"/>
              </a:rPr>
              <a:t>Finance. </a:t>
            </a:r>
            <a:r>
              <a:rPr lang="en-US" sz="1425" dirty="0">
                <a:solidFill>
                  <a:srgbClr val="C9CBD1"/>
                </a:solidFill>
                <a:latin typeface="Inter" pitchFamily="34" charset="0"/>
                <a:ea typeface="Inter" pitchFamily="34" charset="-122"/>
                <a:cs typeface="Inter" pitchFamily="34" charset="-120"/>
              </a:rPr>
              <a:t>Pulls week's giving, flags anomalies, drafts thank-yous for new donors.</a:t>
            </a:r>
            <a:endParaRPr lang="en-US" sz="1425" dirty="0"/>
          </a:p>
        </p:txBody>
      </p:sp>
      <p:sp>
        <p:nvSpPr>
          <p:cNvPr id="21" name="Shape 19">
            <a:extLst>
              <a:ext uri="{FF2B5EF4-FFF2-40B4-BE49-F238E27FC236}">
                <a16:creationId xmlns:a16="http://schemas.microsoft.com/office/drawing/2014/main" id="{12792E4C-EF76-D633-54E4-617660B85B04}"/>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2" name="Text 20">
            <a:extLst>
              <a:ext uri="{FF2B5EF4-FFF2-40B4-BE49-F238E27FC236}">
                <a16:creationId xmlns:a16="http://schemas.microsoft.com/office/drawing/2014/main" id="{DCF51DDE-7E2B-5153-0AA1-E77DFC0C01A4}"/>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extLst>
      <p:ext uri="{BB962C8B-B14F-4D97-AF65-F5344CB8AC3E}">
        <p14:creationId xmlns:p14="http://schemas.microsoft.com/office/powerpoint/2010/main" val="2185065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F2094D27-14DC-25C8-41AC-0B0EDE73220E}"/>
            </a:ext>
          </a:extLst>
        </p:cNvPr>
        <p:cNvGrpSpPr/>
        <p:nvPr/>
      </p:nvGrpSpPr>
      <p:grpSpPr>
        <a:xfrm>
          <a:off x="0" y="0"/>
          <a:ext cx="0" cy="0"/>
          <a:chOff x="0" y="0"/>
          <a:chExt cx="0" cy="0"/>
        </a:xfrm>
      </p:grpSpPr>
      <p:sp>
        <p:nvSpPr>
          <p:cNvPr id="32" name="Shape 30">
            <a:extLst>
              <a:ext uri="{FF2B5EF4-FFF2-40B4-BE49-F238E27FC236}">
                <a16:creationId xmlns:a16="http://schemas.microsoft.com/office/drawing/2014/main" id="{E603B8D2-70EC-75B8-5787-572062DC6B28}"/>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33" name="Text 31">
            <a:extLst>
              <a:ext uri="{FF2B5EF4-FFF2-40B4-BE49-F238E27FC236}">
                <a16:creationId xmlns:a16="http://schemas.microsoft.com/office/drawing/2014/main" id="{F4E74BDB-3AB1-0F5F-3D9B-0C1230FC0B79}"/>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8" name="Text 0">
            <a:extLst>
              <a:ext uri="{FF2B5EF4-FFF2-40B4-BE49-F238E27FC236}">
                <a16:creationId xmlns:a16="http://schemas.microsoft.com/office/drawing/2014/main" id="{E1BEFA56-ACE0-08DB-DE21-FF921A4A768B}"/>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CLAUDE CODE · BEST PRACTICES</a:t>
            </a:r>
            <a:endParaRPr lang="en-US" sz="1350" dirty="0"/>
          </a:p>
        </p:txBody>
      </p:sp>
      <p:sp>
        <p:nvSpPr>
          <p:cNvPr id="12" name="Text 1">
            <a:extLst>
              <a:ext uri="{FF2B5EF4-FFF2-40B4-BE49-F238E27FC236}">
                <a16:creationId xmlns:a16="http://schemas.microsoft.com/office/drawing/2014/main" id="{F0977551-EBA1-5ED5-588D-2D28AA1500B7}"/>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Three habits that earn Code its keep.</a:t>
            </a:r>
            <a:endParaRPr lang="en-US" sz="6300" dirty="0"/>
          </a:p>
        </p:txBody>
      </p:sp>
      <p:sp>
        <p:nvSpPr>
          <p:cNvPr id="16" name="Text 2">
            <a:extLst>
              <a:ext uri="{FF2B5EF4-FFF2-40B4-BE49-F238E27FC236}">
                <a16:creationId xmlns:a16="http://schemas.microsoft.com/office/drawing/2014/main" id="{F7EDD4C6-C9C6-9EAE-B3D9-F3E1562554DC}"/>
              </a:ext>
            </a:extLst>
          </p:cNvPr>
          <p:cNvSpPr/>
          <p:nvPr/>
        </p:nvSpPr>
        <p:spPr>
          <a:xfrm>
            <a:off x="1143000" y="2543175"/>
            <a:ext cx="1275397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Code is power-user mode. The setup tax is real — but it pays off the tenth time you run the command.</a:t>
            </a:r>
            <a:endParaRPr lang="en-US" sz="1950" dirty="0"/>
          </a:p>
        </p:txBody>
      </p:sp>
      <p:sp>
        <p:nvSpPr>
          <p:cNvPr id="20" name="Shape 3">
            <a:extLst>
              <a:ext uri="{FF2B5EF4-FFF2-40B4-BE49-F238E27FC236}">
                <a16:creationId xmlns:a16="http://schemas.microsoft.com/office/drawing/2014/main" id="{7372F4C5-9573-670F-ABF3-DB31B4EB162A}"/>
              </a:ext>
            </a:extLst>
          </p:cNvPr>
          <p:cNvSpPr/>
          <p:nvPr/>
        </p:nvSpPr>
        <p:spPr>
          <a:xfrm>
            <a:off x="1143000" y="3600450"/>
            <a:ext cx="7886700" cy="1943100"/>
          </a:xfrm>
          <a:prstGeom prst="rect">
            <a:avLst/>
          </a:prstGeom>
          <a:solidFill>
            <a:srgbClr val="1B1D24"/>
          </a:solidFill>
          <a:ln/>
        </p:spPr>
        <p:txBody>
          <a:bodyPr/>
          <a:lstStyle/>
          <a:p>
            <a:endParaRPr lang="en-US"/>
          </a:p>
        </p:txBody>
      </p:sp>
      <p:sp>
        <p:nvSpPr>
          <p:cNvPr id="21" name="Shape 4">
            <a:extLst>
              <a:ext uri="{FF2B5EF4-FFF2-40B4-BE49-F238E27FC236}">
                <a16:creationId xmlns:a16="http://schemas.microsoft.com/office/drawing/2014/main" id="{BB42329C-3625-00B0-1E3A-A8753FABE1BC}"/>
              </a:ext>
            </a:extLst>
          </p:cNvPr>
          <p:cNvSpPr/>
          <p:nvPr/>
        </p:nvSpPr>
        <p:spPr>
          <a:xfrm>
            <a:off x="1143000" y="3600450"/>
            <a:ext cx="19050" cy="1943100"/>
          </a:xfrm>
          <a:prstGeom prst="rect">
            <a:avLst/>
          </a:prstGeom>
          <a:solidFill>
            <a:srgbClr val="3FE0D0"/>
          </a:solidFill>
          <a:ln/>
        </p:spPr>
        <p:txBody>
          <a:bodyPr/>
          <a:lstStyle/>
          <a:p>
            <a:endParaRPr lang="en-US"/>
          </a:p>
        </p:txBody>
      </p:sp>
      <p:sp>
        <p:nvSpPr>
          <p:cNvPr id="22" name="Text 5">
            <a:extLst>
              <a:ext uri="{FF2B5EF4-FFF2-40B4-BE49-F238E27FC236}">
                <a16:creationId xmlns:a16="http://schemas.microsoft.com/office/drawing/2014/main" id="{947BEE6E-89AC-D7C4-8C23-8C81DD1BEC1D}"/>
              </a:ext>
            </a:extLst>
          </p:cNvPr>
          <p:cNvSpPr/>
          <p:nvPr/>
        </p:nvSpPr>
        <p:spPr>
          <a:xfrm>
            <a:off x="2038350" y="42989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Keep yourself in the driver's seat.</a:t>
            </a:r>
            <a:endParaRPr lang="en-US" sz="1950" dirty="0"/>
          </a:p>
        </p:txBody>
      </p:sp>
      <p:sp>
        <p:nvSpPr>
          <p:cNvPr id="24" name="Shape 7">
            <a:extLst>
              <a:ext uri="{FF2B5EF4-FFF2-40B4-BE49-F238E27FC236}">
                <a16:creationId xmlns:a16="http://schemas.microsoft.com/office/drawing/2014/main" id="{1D0F36D7-40E1-13FF-20F5-8C5FEFD89EB1}"/>
              </a:ext>
            </a:extLst>
          </p:cNvPr>
          <p:cNvSpPr/>
          <p:nvPr/>
        </p:nvSpPr>
        <p:spPr>
          <a:xfrm>
            <a:off x="9258300" y="3600450"/>
            <a:ext cx="7886700" cy="1943100"/>
          </a:xfrm>
          <a:prstGeom prst="rect">
            <a:avLst/>
          </a:prstGeom>
          <a:solidFill>
            <a:srgbClr val="1B1D24"/>
          </a:solidFill>
          <a:ln/>
        </p:spPr>
        <p:txBody>
          <a:bodyPr/>
          <a:lstStyle/>
          <a:p>
            <a:endParaRPr lang="en-US"/>
          </a:p>
        </p:txBody>
      </p:sp>
      <p:sp>
        <p:nvSpPr>
          <p:cNvPr id="25" name="Shape 8">
            <a:extLst>
              <a:ext uri="{FF2B5EF4-FFF2-40B4-BE49-F238E27FC236}">
                <a16:creationId xmlns:a16="http://schemas.microsoft.com/office/drawing/2014/main" id="{73369F62-72DE-A775-19EB-7FB885E28BFA}"/>
              </a:ext>
            </a:extLst>
          </p:cNvPr>
          <p:cNvSpPr/>
          <p:nvPr/>
        </p:nvSpPr>
        <p:spPr>
          <a:xfrm>
            <a:off x="9258300" y="3600450"/>
            <a:ext cx="19050" cy="1943100"/>
          </a:xfrm>
          <a:prstGeom prst="rect">
            <a:avLst/>
          </a:prstGeom>
          <a:solidFill>
            <a:srgbClr val="3FE0D0"/>
          </a:solidFill>
          <a:ln/>
        </p:spPr>
        <p:txBody>
          <a:bodyPr/>
          <a:lstStyle/>
          <a:p>
            <a:endParaRPr lang="en-US"/>
          </a:p>
        </p:txBody>
      </p:sp>
      <p:sp>
        <p:nvSpPr>
          <p:cNvPr id="26" name="Text 9">
            <a:extLst>
              <a:ext uri="{FF2B5EF4-FFF2-40B4-BE49-F238E27FC236}">
                <a16:creationId xmlns:a16="http://schemas.microsoft.com/office/drawing/2014/main" id="{2E7F49F8-3ED9-8502-A9F0-243B840BDF44}"/>
              </a:ext>
            </a:extLst>
          </p:cNvPr>
          <p:cNvSpPr/>
          <p:nvPr/>
        </p:nvSpPr>
        <p:spPr>
          <a:xfrm>
            <a:off x="10153650" y="42989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Set it up once with your tools.</a:t>
            </a:r>
            <a:endParaRPr lang="en-US" sz="1950" dirty="0"/>
          </a:p>
        </p:txBody>
      </p:sp>
      <p:sp>
        <p:nvSpPr>
          <p:cNvPr id="28" name="Shape 11">
            <a:extLst>
              <a:ext uri="{FF2B5EF4-FFF2-40B4-BE49-F238E27FC236}">
                <a16:creationId xmlns:a16="http://schemas.microsoft.com/office/drawing/2014/main" id="{0103F3DC-1DF3-FEF9-E8D7-47B3E919D4AB}"/>
              </a:ext>
            </a:extLst>
          </p:cNvPr>
          <p:cNvSpPr/>
          <p:nvPr/>
        </p:nvSpPr>
        <p:spPr>
          <a:xfrm>
            <a:off x="1143000" y="5772150"/>
            <a:ext cx="7886700" cy="1943100"/>
          </a:xfrm>
          <a:prstGeom prst="rect">
            <a:avLst/>
          </a:prstGeom>
          <a:solidFill>
            <a:srgbClr val="1B1D24"/>
          </a:solidFill>
          <a:ln/>
        </p:spPr>
        <p:txBody>
          <a:bodyPr/>
          <a:lstStyle/>
          <a:p>
            <a:endParaRPr lang="en-US"/>
          </a:p>
        </p:txBody>
      </p:sp>
      <p:sp>
        <p:nvSpPr>
          <p:cNvPr id="29" name="Shape 12">
            <a:extLst>
              <a:ext uri="{FF2B5EF4-FFF2-40B4-BE49-F238E27FC236}">
                <a16:creationId xmlns:a16="http://schemas.microsoft.com/office/drawing/2014/main" id="{A51C9B34-D7AC-125D-C015-F51793DBB9E4}"/>
              </a:ext>
            </a:extLst>
          </p:cNvPr>
          <p:cNvSpPr/>
          <p:nvPr/>
        </p:nvSpPr>
        <p:spPr>
          <a:xfrm>
            <a:off x="1143000" y="5772150"/>
            <a:ext cx="19050" cy="1943100"/>
          </a:xfrm>
          <a:prstGeom prst="rect">
            <a:avLst/>
          </a:prstGeom>
          <a:solidFill>
            <a:srgbClr val="3FE0D0"/>
          </a:solidFill>
          <a:ln/>
        </p:spPr>
        <p:txBody>
          <a:bodyPr/>
          <a:lstStyle/>
          <a:p>
            <a:endParaRPr lang="en-US"/>
          </a:p>
        </p:txBody>
      </p:sp>
      <p:sp>
        <p:nvSpPr>
          <p:cNvPr id="30" name="Text 13">
            <a:extLst>
              <a:ext uri="{FF2B5EF4-FFF2-40B4-BE49-F238E27FC236}">
                <a16:creationId xmlns:a16="http://schemas.microsoft.com/office/drawing/2014/main" id="{9ABF1DEC-F192-9E3D-C118-9D05ABD3681B}"/>
              </a:ext>
            </a:extLst>
          </p:cNvPr>
          <p:cNvSpPr/>
          <p:nvPr/>
        </p:nvSpPr>
        <p:spPr>
          <a:xfrm>
            <a:off x="2038350" y="64706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Reserve it for workflows you do over and over.</a:t>
            </a:r>
            <a:endParaRPr lang="en-US" sz="1950" dirty="0"/>
          </a:p>
        </p:txBody>
      </p:sp>
      <p:sp>
        <p:nvSpPr>
          <p:cNvPr id="35" name="Shape 15">
            <a:extLst>
              <a:ext uri="{FF2B5EF4-FFF2-40B4-BE49-F238E27FC236}">
                <a16:creationId xmlns:a16="http://schemas.microsoft.com/office/drawing/2014/main" id="{B2A1E68E-2469-1C10-96C9-F07442019967}"/>
              </a:ext>
            </a:extLst>
          </p:cNvPr>
          <p:cNvSpPr/>
          <p:nvPr/>
        </p:nvSpPr>
        <p:spPr>
          <a:xfrm>
            <a:off x="9258300" y="5772150"/>
            <a:ext cx="7886700" cy="1943100"/>
          </a:xfrm>
          <a:prstGeom prst="rect">
            <a:avLst/>
          </a:prstGeom>
          <a:solidFill>
            <a:srgbClr val="1B1D24"/>
          </a:solidFill>
          <a:ln/>
        </p:spPr>
        <p:txBody>
          <a:bodyPr/>
          <a:lstStyle/>
          <a:p>
            <a:endParaRPr lang="en-US"/>
          </a:p>
        </p:txBody>
      </p:sp>
      <p:sp>
        <p:nvSpPr>
          <p:cNvPr id="36" name="Shape 16">
            <a:extLst>
              <a:ext uri="{FF2B5EF4-FFF2-40B4-BE49-F238E27FC236}">
                <a16:creationId xmlns:a16="http://schemas.microsoft.com/office/drawing/2014/main" id="{65C4D088-132A-658A-2544-F4FB163ED6E6}"/>
              </a:ext>
            </a:extLst>
          </p:cNvPr>
          <p:cNvSpPr/>
          <p:nvPr/>
        </p:nvSpPr>
        <p:spPr>
          <a:xfrm>
            <a:off x="9258300" y="5772150"/>
            <a:ext cx="19050" cy="1943100"/>
          </a:xfrm>
          <a:prstGeom prst="rect">
            <a:avLst/>
          </a:prstGeom>
          <a:solidFill>
            <a:srgbClr val="3FE0D0"/>
          </a:solidFill>
          <a:ln/>
        </p:spPr>
        <p:txBody>
          <a:bodyPr/>
          <a:lstStyle/>
          <a:p>
            <a:endParaRPr lang="en-US"/>
          </a:p>
        </p:txBody>
      </p:sp>
      <p:sp>
        <p:nvSpPr>
          <p:cNvPr id="37" name="Text 17">
            <a:extLst>
              <a:ext uri="{FF2B5EF4-FFF2-40B4-BE49-F238E27FC236}">
                <a16:creationId xmlns:a16="http://schemas.microsoft.com/office/drawing/2014/main" id="{0C615734-7024-2CD1-1B62-B1EACB0DAE8C}"/>
              </a:ext>
            </a:extLst>
          </p:cNvPr>
          <p:cNvSpPr/>
          <p:nvPr/>
        </p:nvSpPr>
        <p:spPr>
          <a:xfrm>
            <a:off x="10153650" y="64706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Name it. Make it yours.</a:t>
            </a:r>
            <a:endParaRPr lang="en-US" sz="1950" dirty="0"/>
          </a:p>
        </p:txBody>
      </p:sp>
    </p:spTree>
    <p:extLst>
      <p:ext uri="{BB962C8B-B14F-4D97-AF65-F5344CB8AC3E}">
        <p14:creationId xmlns:p14="http://schemas.microsoft.com/office/powerpoint/2010/main" val="3263296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4">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7926139" y="2558349"/>
            <a:ext cx="2435721" cy="247650"/>
          </a:xfrm>
          <a:prstGeom prst="rect">
            <a:avLst/>
          </a:prstGeom>
          <a:noFill/>
          <a:ln/>
        </p:spPr>
        <p:txBody>
          <a:bodyPr wrap="square" lIns="25400" tIns="25400" rIns="25400" bIns="25400" rtlCol="0" anchor="t">
            <a:normAutofit lnSpcReduction="10000"/>
          </a:bodyPr>
          <a:lstStyle/>
          <a:p>
            <a:pPr marL="0" indent="0" algn="ctr">
              <a:buNone/>
            </a:pPr>
            <a:r>
              <a:rPr lang="en-US" sz="1350" b="1" kern="0" spc="378" dirty="0">
                <a:solidFill>
                  <a:srgbClr val="F58220"/>
                </a:solidFill>
                <a:latin typeface="Inter" pitchFamily="34" charset="0"/>
                <a:ea typeface="Inter" pitchFamily="34" charset="-122"/>
                <a:cs typeface="Inter" pitchFamily="34" charset="-120"/>
              </a:rPr>
              <a:t>LEARNING · 5 OF 5</a:t>
            </a:r>
            <a:endParaRPr lang="en-US" sz="1350" dirty="0"/>
          </a:p>
        </p:txBody>
      </p:sp>
      <p:sp>
        <p:nvSpPr>
          <p:cNvPr id="3" name="Text 1"/>
          <p:cNvSpPr/>
          <p:nvPr/>
        </p:nvSpPr>
        <p:spPr>
          <a:xfrm>
            <a:off x="1785938" y="3305175"/>
            <a:ext cx="14716125" cy="3543300"/>
          </a:xfrm>
          <a:prstGeom prst="rect">
            <a:avLst/>
          </a:prstGeom>
          <a:noFill/>
          <a:ln/>
        </p:spPr>
        <p:txBody>
          <a:bodyPr wrap="square" lIns="25400" tIns="25400" rIns="25400" bIns="25400" rtlCol="0" anchor="t">
            <a:normAutofit fontScale="92500" lnSpcReduction="20000"/>
          </a:bodyPr>
          <a:lstStyle/>
          <a:p>
            <a:pPr marL="0" indent="0" algn="ctr">
              <a:lnSpc>
                <a:spcPct val="92000"/>
              </a:lnSpc>
              <a:buNone/>
            </a:pPr>
            <a:r>
              <a:rPr lang="en-US" sz="15000" b="1" kern="0" spc="-375" dirty="0">
                <a:solidFill>
                  <a:srgbClr val="14161C"/>
                </a:solidFill>
                <a:latin typeface="Montserrat" pitchFamily="34" charset="0"/>
                <a:ea typeface="Montserrat" pitchFamily="34" charset="-122"/>
                <a:cs typeface="Montserrat" pitchFamily="34" charset="-120"/>
              </a:rPr>
              <a:t>Can AI do it? Ask it.</a:t>
            </a:r>
            <a:endParaRPr lang="en-US" sz="15000" dirty="0"/>
          </a:p>
        </p:txBody>
      </p:sp>
      <p:sp>
        <p:nvSpPr>
          <p:cNvPr id="4" name="Text 2"/>
          <p:cNvSpPr/>
          <p:nvPr/>
        </p:nvSpPr>
        <p:spPr>
          <a:xfrm>
            <a:off x="7482842" y="7153275"/>
            <a:ext cx="3322242"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3A3D49"/>
                </a:solidFill>
                <a:latin typeface="Inter" pitchFamily="34" charset="0"/>
                <a:ea typeface="Inter" pitchFamily="34" charset="-122"/>
                <a:cs typeface="Inter" pitchFamily="34" charset="-120"/>
              </a:rPr>
              <a:t>Don't assume the limits.</a:t>
            </a:r>
            <a:endParaRPr lang="en-US" sz="2250" dirty="0"/>
          </a:p>
        </p:txBody>
      </p:sp>
      <p:sp>
        <p:nvSpPr>
          <p:cNvPr id="5" name="Shape 3"/>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6" name="Text 4"/>
          <p:cNvSpPr/>
          <p:nvPr/>
        </p:nvSpPr>
        <p:spPr>
          <a:xfrm>
            <a:off x="1085850" y="9653588"/>
            <a:ext cx="2276475" cy="214313"/>
          </a:xfrm>
          <a:prstGeom prst="rect">
            <a:avLst/>
          </a:prstGeom>
          <a:noFill/>
          <a:ln/>
        </p:spPr>
        <p:txBody>
          <a:bodyPr wrap="square" lIns="0" tIns="0" rIns="0" bIns="0" rtlCol="0" anchor="t">
            <a:normAutofit/>
          </a:bodyPr>
          <a:lstStyle/>
          <a:p>
            <a:pPr marL="0" indent="0" algn="ctr">
              <a:buNone/>
            </a:pPr>
            <a:r>
              <a:rPr lang="en-US" sz="1050" b="1" kern="0" spc="63" dirty="0">
                <a:solidFill>
                  <a:srgbClr val="6B6E78"/>
                </a:solidFill>
                <a:latin typeface="JetBrains Mono" pitchFamily="34" charset="0"/>
                <a:ea typeface="JetBrains Mono" pitchFamily="34" charset="-122"/>
                <a:cs typeface="JetBrains Mono" pitchFamily="34" charset="-120"/>
              </a:rPr>
              <a:t>CLAUDE FOR NON-DEVELOPERS</a:t>
            </a:r>
            <a:endParaRPr lang="en-US" sz="1050" dirty="0"/>
          </a:p>
        </p:txBody>
      </p:sp>
      <p:sp>
        <p:nvSpPr>
          <p:cNvPr id="9" name="Shape 0">
            <a:extLst>
              <a:ext uri="{FF2B5EF4-FFF2-40B4-BE49-F238E27FC236}">
                <a16:creationId xmlns:a16="http://schemas.microsoft.com/office/drawing/2014/main" id="{B96336B8-575A-6E99-BABC-1190BAE6E0FC}"/>
              </a:ext>
            </a:extLst>
          </p:cNvPr>
          <p:cNvSpPr/>
          <p:nvPr/>
        </p:nvSpPr>
        <p:spPr>
          <a:xfrm>
            <a:off x="7649474" y="2428794"/>
            <a:ext cx="2989052" cy="461238"/>
          </a:xfrm>
          <a:prstGeom prst="roundRect">
            <a:avLst>
              <a:gd name="adj" fmla="val 70321"/>
            </a:avLst>
          </a:prstGeom>
          <a:noFill/>
          <a:ln w="7620">
            <a:solidFill>
              <a:srgbClr val="F39425"/>
            </a:solidFill>
            <a:prstDash val="solid"/>
          </a:ln>
        </p:spPr>
        <p:txBody>
          <a:bodyPr/>
          <a:lstStyle/>
          <a:p>
            <a:endParaRPr lang="en-US" sz="15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5">
    <p:bg>
      <p:bgPr>
        <a:solidFill>
          <a:srgbClr val="14161C"/>
        </a:solidFill>
        <a:effectLst/>
      </p:bgPr>
    </p:bg>
    <p:spTree>
      <p:nvGrpSpPr>
        <p:cNvPr id="1" name=""/>
        <p:cNvGrpSpPr/>
        <p:nvPr/>
      </p:nvGrpSpPr>
      <p:grpSpPr>
        <a:xfrm>
          <a:off x="0" y="0"/>
          <a:ext cx="0" cy="0"/>
          <a:chOff x="0" y="0"/>
          <a:chExt cx="0" cy="0"/>
        </a:xfrm>
      </p:grpSpPr>
      <p:sp>
        <p:nvSpPr>
          <p:cNvPr id="2" name="Shape 0"/>
          <p:cNvSpPr/>
          <p:nvPr/>
        </p:nvSpPr>
        <p:spPr>
          <a:xfrm>
            <a:off x="2162175" y="1966094"/>
            <a:ext cx="13963650" cy="6354812"/>
          </a:xfrm>
          <a:prstGeom prst="rect">
            <a:avLst/>
          </a:prstGeom>
          <a:solidFill>
            <a:srgbClr val="F7F5F1"/>
          </a:solidFill>
          <a:ln w="28575">
            <a:solidFill>
              <a:srgbClr val="14161C"/>
            </a:solidFill>
            <a:prstDash val="solid"/>
          </a:ln>
        </p:spPr>
        <p:txBody>
          <a:bodyPr/>
          <a:lstStyle/>
          <a:p>
            <a:endParaRPr lang="en-US"/>
          </a:p>
        </p:txBody>
      </p:sp>
      <p:sp>
        <p:nvSpPr>
          <p:cNvPr id="3" name="Text 1"/>
          <p:cNvSpPr/>
          <p:nvPr/>
        </p:nvSpPr>
        <p:spPr>
          <a:xfrm>
            <a:off x="2767013" y="2604269"/>
            <a:ext cx="12753975" cy="214313"/>
          </a:xfrm>
          <a:prstGeom prst="rect">
            <a:avLst/>
          </a:prstGeom>
          <a:noFill/>
          <a:ln/>
        </p:spPr>
        <p:txBody>
          <a:bodyPr wrap="square" lIns="25400" tIns="25400" rIns="25400" bIns="25400" rtlCol="0" anchor="t">
            <a:normAutofit/>
          </a:bodyPr>
          <a:lstStyle/>
          <a:p>
            <a:pPr marL="0" indent="0" algn="ctr">
              <a:buNone/>
            </a:pPr>
            <a:r>
              <a:rPr lang="en-US" sz="1050" b="1" kern="0" spc="336" dirty="0">
                <a:solidFill>
                  <a:srgbClr val="F58220"/>
                </a:solidFill>
                <a:latin typeface="JetBrains Mono" pitchFamily="34" charset="0"/>
                <a:ea typeface="JetBrains Mono" pitchFamily="34" charset="-122"/>
                <a:cs typeface="JetBrains Mono" pitchFamily="34" charset="-120"/>
              </a:rPr>
              <a:t>CERTIFICATE OF PERMISSION</a:t>
            </a:r>
            <a:endParaRPr lang="en-US" sz="1050" dirty="0"/>
          </a:p>
        </p:txBody>
      </p:sp>
      <p:sp>
        <p:nvSpPr>
          <p:cNvPr id="4" name="Text 2"/>
          <p:cNvSpPr/>
          <p:nvPr/>
        </p:nvSpPr>
        <p:spPr>
          <a:xfrm>
            <a:off x="2767013" y="3009081"/>
            <a:ext cx="12753975" cy="2598241"/>
          </a:xfrm>
          <a:prstGeom prst="rect">
            <a:avLst/>
          </a:prstGeom>
          <a:noFill/>
          <a:ln/>
        </p:spPr>
        <p:txBody>
          <a:bodyPr wrap="square" lIns="25400" tIns="25400" rIns="25400" bIns="25400" rtlCol="0" anchor="t">
            <a:normAutofit fontScale="92500"/>
          </a:bodyPr>
          <a:lstStyle/>
          <a:p>
            <a:pPr marL="0" indent="0" algn="ctr">
              <a:lnSpc>
                <a:spcPct val="105000"/>
              </a:lnSpc>
              <a:buNone/>
            </a:pPr>
            <a:r>
              <a:rPr lang="en-US" sz="4800" b="1" kern="0" spc="-96" dirty="0">
                <a:solidFill>
                  <a:srgbClr val="14161C"/>
                </a:solidFill>
                <a:latin typeface="Montserrat" pitchFamily="34" charset="0"/>
                <a:ea typeface="Montserrat" pitchFamily="34" charset="-122"/>
                <a:cs typeface="Montserrat" pitchFamily="34" charset="-120"/>
              </a:rPr>
              <a:t>This presentation entitles the holder to ask AI </a:t>
            </a:r>
            <a:r>
              <a:rPr lang="en-US" sz="4800" b="1" i="1" kern="0" spc="-96" dirty="0">
                <a:solidFill>
                  <a:srgbClr val="F58220"/>
                </a:solidFill>
                <a:latin typeface="Montserrat" pitchFamily="34" charset="0"/>
                <a:ea typeface="Montserrat" pitchFamily="34" charset="-122"/>
                <a:cs typeface="Montserrat" pitchFamily="34" charset="-120"/>
              </a:rPr>
              <a:t>ridiculous, boundary-pushing</a:t>
            </a:r>
            <a:r>
              <a:rPr lang="en-US" sz="4800" b="1" i="1" kern="0" spc="-96" dirty="0">
                <a:solidFill>
                  <a:srgbClr val="14161C"/>
                </a:solidFill>
                <a:latin typeface="Montserrat" pitchFamily="34" charset="0"/>
                <a:ea typeface="Montserrat" pitchFamily="34" charset="-122"/>
                <a:cs typeface="Montserrat" pitchFamily="34" charset="-120"/>
              </a:rPr>
              <a:t>, </a:t>
            </a:r>
            <a:r>
              <a:rPr lang="en-US" sz="4800" b="1" kern="0" spc="-96" dirty="0">
                <a:solidFill>
                  <a:srgbClr val="14161C"/>
                </a:solidFill>
                <a:latin typeface="Montserrat" pitchFamily="34" charset="0"/>
                <a:ea typeface="Montserrat" pitchFamily="34" charset="-122"/>
                <a:cs typeface="Montserrat" pitchFamily="34" charset="-120"/>
              </a:rPr>
              <a:t>"could you maybe" questions </a:t>
            </a:r>
            <a:r>
              <a:rPr lang="en-US" sz="4800" b="1" i="1" kern="0" spc="-96" dirty="0">
                <a:solidFill>
                  <a:srgbClr val="14161C"/>
                </a:solidFill>
                <a:latin typeface="Montserrat" pitchFamily="34" charset="0"/>
                <a:ea typeface="Montserrat" pitchFamily="34" charset="-122"/>
                <a:cs typeface="Montserrat" pitchFamily="34" charset="-120"/>
              </a:rPr>
              <a:t>without embarrassment </a:t>
            </a:r>
            <a:r>
              <a:rPr lang="en-US" sz="4800" b="1" kern="0" spc="-96" dirty="0">
                <a:solidFill>
                  <a:srgbClr val="14161C"/>
                </a:solidFill>
                <a:latin typeface="Montserrat" pitchFamily="34" charset="0"/>
                <a:ea typeface="Montserrat" pitchFamily="34" charset="-122"/>
                <a:cs typeface="Montserrat" pitchFamily="34" charset="-120"/>
              </a:rPr>
              <a:t>.</a:t>
            </a:r>
            <a:endParaRPr lang="en-US" sz="4800" dirty="0"/>
          </a:p>
        </p:txBody>
      </p:sp>
      <p:sp>
        <p:nvSpPr>
          <p:cNvPr id="5" name="Text 3"/>
          <p:cNvSpPr/>
          <p:nvPr/>
        </p:nvSpPr>
        <p:spPr>
          <a:xfrm>
            <a:off x="2767013" y="5874023"/>
            <a:ext cx="12753975" cy="746671"/>
          </a:xfrm>
          <a:prstGeom prst="rect">
            <a:avLst/>
          </a:prstGeom>
          <a:noFill/>
          <a:ln/>
        </p:spPr>
        <p:txBody>
          <a:bodyPr wrap="square" lIns="25400" tIns="25400" rIns="25400" bIns="25400" rtlCol="0" anchor="t">
            <a:normAutofit fontScale="92500"/>
          </a:bodyPr>
          <a:lstStyle/>
          <a:p>
            <a:pPr marL="0" indent="0" algn="ctr">
              <a:lnSpc>
                <a:spcPct val="155000"/>
              </a:lnSpc>
              <a:buNone/>
            </a:pPr>
            <a:r>
              <a:rPr lang="en-US" sz="1800" dirty="0">
                <a:solidFill>
                  <a:srgbClr val="3A3D49"/>
                </a:solidFill>
                <a:latin typeface="Inter" pitchFamily="34" charset="0"/>
                <a:ea typeface="Inter" pitchFamily="34" charset="-122"/>
                <a:cs typeface="Inter" pitchFamily="34" charset="-120"/>
              </a:rPr>
              <a:t>Don't assume the limits. The worst it can say is "no" — and the best it can say is something you didn't know was possible until five seconds ago.</a:t>
            </a:r>
            <a:endParaRPr lang="en-US" sz="1800" dirty="0"/>
          </a:p>
        </p:txBody>
      </p:sp>
      <p:sp>
        <p:nvSpPr>
          <p:cNvPr id="6" name="Shape 4"/>
          <p:cNvSpPr/>
          <p:nvPr/>
        </p:nvSpPr>
        <p:spPr>
          <a:xfrm>
            <a:off x="2952750" y="6925494"/>
            <a:ext cx="12382500" cy="9525"/>
          </a:xfrm>
          <a:prstGeom prst="rect">
            <a:avLst/>
          </a:prstGeom>
          <a:solidFill>
            <a:srgbClr val="14161C">
              <a:alpha val="20000"/>
            </a:srgbClr>
          </a:solidFill>
          <a:ln/>
        </p:spPr>
        <p:txBody>
          <a:bodyPr/>
          <a:lstStyle/>
          <a:p>
            <a:endParaRPr lang="en-US"/>
          </a:p>
        </p:txBody>
      </p:sp>
      <p:sp>
        <p:nvSpPr>
          <p:cNvPr id="7" name="Text 5"/>
          <p:cNvSpPr/>
          <p:nvPr/>
        </p:nvSpPr>
        <p:spPr>
          <a:xfrm>
            <a:off x="3100983" y="7163619"/>
            <a:ext cx="679772" cy="242888"/>
          </a:xfrm>
          <a:prstGeom prst="rect">
            <a:avLst/>
          </a:prstGeom>
          <a:noFill/>
          <a:ln/>
        </p:spPr>
        <p:txBody>
          <a:bodyPr wrap="square" lIns="0" tIns="0" rIns="0" bIns="0" rtlCol="0" anchor="t">
            <a:normAutofit/>
          </a:bodyPr>
          <a:lstStyle/>
          <a:p>
            <a:pPr marL="0" indent="0" algn="ctr">
              <a:buNone/>
            </a:pPr>
            <a:r>
              <a:rPr lang="en-US" sz="1200" kern="0" spc="72" dirty="0">
                <a:solidFill>
                  <a:srgbClr val="6B6E78"/>
                </a:solidFill>
                <a:latin typeface="JetBrains Mono" pitchFamily="34" charset="0"/>
                <a:ea typeface="JetBrains Mono" pitchFamily="34" charset="-122"/>
                <a:cs typeface="JetBrains Mono" pitchFamily="34" charset="-120"/>
              </a:rPr>
              <a:t>SIGNED</a:t>
            </a:r>
            <a:endParaRPr lang="en-US" sz="1200" dirty="0"/>
          </a:p>
        </p:txBody>
      </p:sp>
      <p:sp>
        <p:nvSpPr>
          <p:cNvPr id="8" name="Text 6"/>
          <p:cNvSpPr/>
          <p:nvPr/>
        </p:nvSpPr>
        <p:spPr>
          <a:xfrm>
            <a:off x="2914650" y="7406506"/>
            <a:ext cx="976312" cy="314325"/>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14161C"/>
                </a:solidFill>
                <a:latin typeface="Montserrat" pitchFamily="34" charset="0"/>
                <a:ea typeface="Montserrat" pitchFamily="34" charset="-122"/>
                <a:cs typeface="Montserrat" pitchFamily="34" charset="-120"/>
              </a:rPr>
              <a:t>Claudia</a:t>
            </a:r>
            <a:endParaRPr lang="en-US" sz="1800" dirty="0"/>
          </a:p>
        </p:txBody>
      </p:sp>
      <p:sp>
        <p:nvSpPr>
          <p:cNvPr id="9" name="Text 7"/>
          <p:cNvSpPr/>
          <p:nvPr/>
        </p:nvSpPr>
        <p:spPr>
          <a:xfrm>
            <a:off x="13672393" y="7163619"/>
            <a:ext cx="579165" cy="242888"/>
          </a:xfrm>
          <a:prstGeom prst="rect">
            <a:avLst/>
          </a:prstGeom>
          <a:noFill/>
          <a:ln/>
        </p:spPr>
        <p:txBody>
          <a:bodyPr wrap="square" lIns="0" tIns="0" rIns="0" bIns="0" rtlCol="0" anchor="t">
            <a:normAutofit/>
          </a:bodyPr>
          <a:lstStyle/>
          <a:p>
            <a:pPr marL="0" indent="0" algn="ctr">
              <a:buNone/>
            </a:pPr>
            <a:r>
              <a:rPr lang="en-US" sz="1200" kern="0" spc="72" dirty="0">
                <a:solidFill>
                  <a:srgbClr val="6B6E78"/>
                </a:solidFill>
                <a:latin typeface="JetBrains Mono" pitchFamily="34" charset="0"/>
                <a:ea typeface="JetBrains Mono" pitchFamily="34" charset="-122"/>
                <a:cs typeface="JetBrains Mono" pitchFamily="34" charset="-120"/>
              </a:rPr>
              <a:t>VALID</a:t>
            </a:r>
            <a:endParaRPr lang="en-US" sz="1200" dirty="0"/>
          </a:p>
        </p:txBody>
      </p:sp>
      <p:sp>
        <p:nvSpPr>
          <p:cNvPr id="10" name="Text 8"/>
          <p:cNvSpPr/>
          <p:nvPr/>
        </p:nvSpPr>
        <p:spPr>
          <a:xfrm>
            <a:off x="12470160" y="7406506"/>
            <a:ext cx="2907431" cy="314325"/>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14161C"/>
                </a:solidFill>
                <a:latin typeface="Montserrat" pitchFamily="34" charset="0"/>
                <a:ea typeface="Montserrat" pitchFamily="34" charset="-122"/>
                <a:cs typeface="Montserrat" pitchFamily="34" charset="-120"/>
              </a:rPr>
              <a:t>Today + every day after.</a:t>
            </a:r>
            <a:endParaRPr lang="en-US" sz="1800" dirty="0"/>
          </a:p>
        </p:txBody>
      </p:sp>
      <p:sp>
        <p:nvSpPr>
          <p:cNvPr id="11" name="Shape 9"/>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2" name="Text 10"/>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9AB15528-3A41-8ABF-7E77-CFC65C05322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F39123D8-4227-51DF-399B-5CD9B68F734D}"/>
              </a:ext>
            </a:extLst>
          </p:cNvPr>
          <p:cNvGrpSpPr/>
          <p:nvPr/>
        </p:nvGrpSpPr>
        <p:grpSpPr>
          <a:xfrm>
            <a:off x="1143000" y="4090987"/>
            <a:ext cx="5130775" cy="4322198"/>
            <a:chOff x="1143000" y="4090987"/>
            <a:chExt cx="5130775" cy="4322198"/>
          </a:xfrm>
        </p:grpSpPr>
        <p:sp>
          <p:nvSpPr>
            <p:cNvPr id="29" name="Rounded Rectangle 28">
              <a:extLst>
                <a:ext uri="{FF2B5EF4-FFF2-40B4-BE49-F238E27FC236}">
                  <a16:creationId xmlns:a16="http://schemas.microsoft.com/office/drawing/2014/main" id="{CA507615-C765-B4BB-7DB4-F1006564CBA3}"/>
                </a:ext>
              </a:extLst>
            </p:cNvPr>
            <p:cNvSpPr/>
            <p:nvPr/>
          </p:nvSpPr>
          <p:spPr>
            <a:xfrm>
              <a:off x="1143000" y="4105274"/>
              <a:ext cx="5130775" cy="4307911"/>
            </a:xfrm>
            <a:prstGeom prst="roundRect">
              <a:avLst>
                <a:gd name="adj" fmla="val 0"/>
              </a:avLst>
            </a:prstGeom>
            <a:blipFill>
              <a:blip r:embed="rId3"/>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hape 4">
              <a:extLst>
                <a:ext uri="{FF2B5EF4-FFF2-40B4-BE49-F238E27FC236}">
                  <a16:creationId xmlns:a16="http://schemas.microsoft.com/office/drawing/2014/main" id="{79091F03-24F4-FEF0-877F-764D130EE970}"/>
                </a:ext>
              </a:extLst>
            </p:cNvPr>
            <p:cNvSpPr/>
            <p:nvPr/>
          </p:nvSpPr>
          <p:spPr>
            <a:xfrm>
              <a:off x="1143000" y="4090987"/>
              <a:ext cx="5130775" cy="28575"/>
            </a:xfrm>
            <a:prstGeom prst="rect">
              <a:avLst/>
            </a:prstGeom>
            <a:solidFill>
              <a:srgbClr val="3FE0D0"/>
            </a:solidFill>
            <a:ln/>
          </p:spPr>
          <p:txBody>
            <a:bodyPr/>
            <a:lstStyle/>
            <a:p>
              <a:endParaRPr lang="en-US"/>
            </a:p>
          </p:txBody>
        </p:sp>
      </p:grpSp>
      <p:grpSp>
        <p:nvGrpSpPr>
          <p:cNvPr id="10" name="Group 9">
            <a:extLst>
              <a:ext uri="{FF2B5EF4-FFF2-40B4-BE49-F238E27FC236}">
                <a16:creationId xmlns:a16="http://schemas.microsoft.com/office/drawing/2014/main" id="{7113DF3A-F687-10E5-983A-30D3E9B7AFC5}"/>
              </a:ext>
            </a:extLst>
          </p:cNvPr>
          <p:cNvGrpSpPr/>
          <p:nvPr/>
        </p:nvGrpSpPr>
        <p:grpSpPr>
          <a:xfrm>
            <a:off x="6578575" y="4090987"/>
            <a:ext cx="5130775" cy="4336486"/>
            <a:chOff x="6578575" y="4090987"/>
            <a:chExt cx="5130775" cy="4336486"/>
          </a:xfrm>
        </p:grpSpPr>
        <p:sp>
          <p:nvSpPr>
            <p:cNvPr id="30" name="Rounded Rectangle 29">
              <a:extLst>
                <a:ext uri="{FF2B5EF4-FFF2-40B4-BE49-F238E27FC236}">
                  <a16:creationId xmlns:a16="http://schemas.microsoft.com/office/drawing/2014/main" id="{D7D0E980-71DB-15B4-3654-7CD6E81FBCB6}"/>
                </a:ext>
              </a:extLst>
            </p:cNvPr>
            <p:cNvSpPr/>
            <p:nvPr/>
          </p:nvSpPr>
          <p:spPr>
            <a:xfrm>
              <a:off x="6578575" y="4119562"/>
              <a:ext cx="5130775" cy="4307911"/>
            </a:xfrm>
            <a:prstGeom prst="roundRect">
              <a:avLst>
                <a:gd name="adj" fmla="val 0"/>
              </a:avLst>
            </a:prstGeom>
            <a:blipFill>
              <a:blip r:embed="rId4"/>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Shape 11">
              <a:extLst>
                <a:ext uri="{FF2B5EF4-FFF2-40B4-BE49-F238E27FC236}">
                  <a16:creationId xmlns:a16="http://schemas.microsoft.com/office/drawing/2014/main" id="{62253919-9DF5-2F2E-30F1-205E8AB19CDD}"/>
                </a:ext>
              </a:extLst>
            </p:cNvPr>
            <p:cNvSpPr/>
            <p:nvPr/>
          </p:nvSpPr>
          <p:spPr>
            <a:xfrm>
              <a:off x="6578575" y="4090987"/>
              <a:ext cx="5130775" cy="28575"/>
            </a:xfrm>
            <a:prstGeom prst="rect">
              <a:avLst/>
            </a:prstGeom>
            <a:solidFill>
              <a:srgbClr val="3FE0D0"/>
            </a:solidFill>
            <a:ln/>
          </p:spPr>
          <p:txBody>
            <a:bodyPr/>
            <a:lstStyle/>
            <a:p>
              <a:endParaRPr lang="en-US"/>
            </a:p>
          </p:txBody>
        </p:sp>
      </p:grpSp>
      <p:grpSp>
        <p:nvGrpSpPr>
          <p:cNvPr id="12" name="Group 11">
            <a:extLst>
              <a:ext uri="{FF2B5EF4-FFF2-40B4-BE49-F238E27FC236}">
                <a16:creationId xmlns:a16="http://schemas.microsoft.com/office/drawing/2014/main" id="{1B2228A3-9310-693C-C2A7-C57A90C44641}"/>
              </a:ext>
            </a:extLst>
          </p:cNvPr>
          <p:cNvGrpSpPr/>
          <p:nvPr/>
        </p:nvGrpSpPr>
        <p:grpSpPr>
          <a:xfrm>
            <a:off x="12014150" y="4090987"/>
            <a:ext cx="5130850" cy="4344783"/>
            <a:chOff x="12014150" y="4090987"/>
            <a:chExt cx="5130850" cy="4344783"/>
          </a:xfrm>
        </p:grpSpPr>
        <p:sp>
          <p:nvSpPr>
            <p:cNvPr id="31" name="Rounded Rectangle 30">
              <a:extLst>
                <a:ext uri="{FF2B5EF4-FFF2-40B4-BE49-F238E27FC236}">
                  <a16:creationId xmlns:a16="http://schemas.microsoft.com/office/drawing/2014/main" id="{B2434229-12AE-DDBA-2348-886C91782C1C}"/>
                </a:ext>
              </a:extLst>
            </p:cNvPr>
            <p:cNvSpPr/>
            <p:nvPr/>
          </p:nvSpPr>
          <p:spPr>
            <a:xfrm>
              <a:off x="12014150" y="4127859"/>
              <a:ext cx="5130775" cy="4307911"/>
            </a:xfrm>
            <a:prstGeom prst="roundRect">
              <a:avLst>
                <a:gd name="adj" fmla="val 0"/>
              </a:avLst>
            </a:prstGeom>
            <a:blipFill>
              <a:blip r:embed="rId5"/>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Shape 18">
              <a:extLst>
                <a:ext uri="{FF2B5EF4-FFF2-40B4-BE49-F238E27FC236}">
                  <a16:creationId xmlns:a16="http://schemas.microsoft.com/office/drawing/2014/main" id="{C59FD6BC-6F18-6701-BDAB-930540ED6F4E}"/>
                </a:ext>
              </a:extLst>
            </p:cNvPr>
            <p:cNvSpPr/>
            <p:nvPr/>
          </p:nvSpPr>
          <p:spPr>
            <a:xfrm>
              <a:off x="12014150" y="4090987"/>
              <a:ext cx="5130850" cy="28575"/>
            </a:xfrm>
            <a:prstGeom prst="rect">
              <a:avLst/>
            </a:prstGeom>
            <a:solidFill>
              <a:srgbClr val="3FE0D0"/>
            </a:solidFill>
            <a:ln/>
          </p:spPr>
          <p:txBody>
            <a:bodyPr/>
            <a:lstStyle/>
            <a:p>
              <a:endParaRPr lang="en-US"/>
            </a:p>
          </p:txBody>
        </p:sp>
      </p:grpSp>
      <p:sp>
        <p:nvSpPr>
          <p:cNvPr id="2" name="Text 0">
            <a:extLst>
              <a:ext uri="{FF2B5EF4-FFF2-40B4-BE49-F238E27FC236}">
                <a16:creationId xmlns:a16="http://schemas.microsoft.com/office/drawing/2014/main" id="{92D79AC0-E700-AAC1-3E5E-8F5F53DB65BD}"/>
              </a:ext>
            </a:extLst>
          </p:cNvPr>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RECAP</a:t>
            </a:r>
            <a:endParaRPr lang="en-US" sz="1350" dirty="0"/>
          </a:p>
        </p:txBody>
      </p:sp>
      <p:sp>
        <p:nvSpPr>
          <p:cNvPr id="3" name="Text 1">
            <a:extLst>
              <a:ext uri="{FF2B5EF4-FFF2-40B4-BE49-F238E27FC236}">
                <a16:creationId xmlns:a16="http://schemas.microsoft.com/office/drawing/2014/main" id="{9786BCFF-B2B7-CE6E-5C93-E365DF4F6225}"/>
              </a:ext>
            </a:extLst>
          </p:cNvPr>
          <p:cNvSpPr/>
          <p:nvPr/>
        </p:nvSpPr>
        <p:spPr>
          <a:xfrm>
            <a:off x="1143000" y="1581150"/>
            <a:ext cx="16482060"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144" dirty="0">
                <a:solidFill>
                  <a:srgbClr val="FFFFFF"/>
                </a:solidFill>
                <a:latin typeface="Montserrat" pitchFamily="34" charset="0"/>
                <a:ea typeface="Montserrat" pitchFamily="34" charset="-122"/>
                <a:cs typeface="Montserrat" pitchFamily="34" charset="-120"/>
              </a:rPr>
              <a:t>Three doors. None require code.</a:t>
            </a:r>
            <a:endParaRPr lang="en-US" sz="7200" dirty="0"/>
          </a:p>
        </p:txBody>
      </p:sp>
      <p:sp>
        <p:nvSpPr>
          <p:cNvPr id="4" name="Text 2">
            <a:extLst>
              <a:ext uri="{FF2B5EF4-FFF2-40B4-BE49-F238E27FC236}">
                <a16:creationId xmlns:a16="http://schemas.microsoft.com/office/drawing/2014/main" id="{916363AC-847E-2AE5-AE10-76BEE16E5EE7}"/>
              </a:ext>
            </a:extLst>
          </p:cNvPr>
          <p:cNvSpPr/>
          <p:nvPr/>
        </p:nvSpPr>
        <p:spPr>
          <a:xfrm>
            <a:off x="1143000" y="2724150"/>
            <a:ext cx="12753975" cy="33813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Walk through the ones that fit. Walk past the ones that don't.</a:t>
            </a:r>
            <a:endParaRPr lang="en-US" sz="1950" dirty="0"/>
          </a:p>
        </p:txBody>
      </p:sp>
      <p:sp>
        <p:nvSpPr>
          <p:cNvPr id="7" name="Text 5">
            <a:extLst>
              <a:ext uri="{FF2B5EF4-FFF2-40B4-BE49-F238E27FC236}">
                <a16:creationId xmlns:a16="http://schemas.microsoft.com/office/drawing/2014/main" id="{E62F08A0-E08A-8021-020D-0D58D7C32267}"/>
              </a:ext>
            </a:extLst>
          </p:cNvPr>
          <p:cNvSpPr/>
          <p:nvPr/>
        </p:nvSpPr>
        <p:spPr>
          <a:xfrm>
            <a:off x="1524000" y="4545767"/>
            <a:ext cx="4499838" cy="214313"/>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4B596B"/>
                </a:solidFill>
                <a:latin typeface="JetBrains Mono" pitchFamily="34" charset="0"/>
                <a:ea typeface="JetBrains Mono" pitchFamily="34" charset="-122"/>
                <a:cs typeface="JetBrains Mono" pitchFamily="34" charset="-120"/>
              </a:rPr>
              <a:t>DOOR 01</a:t>
            </a:r>
            <a:endParaRPr lang="en-US" sz="1050" dirty="0">
              <a:solidFill>
                <a:srgbClr val="4B596B"/>
              </a:solidFill>
            </a:endParaRPr>
          </a:p>
        </p:txBody>
      </p:sp>
      <p:sp>
        <p:nvSpPr>
          <p:cNvPr id="8" name="Text 6">
            <a:extLst>
              <a:ext uri="{FF2B5EF4-FFF2-40B4-BE49-F238E27FC236}">
                <a16:creationId xmlns:a16="http://schemas.microsoft.com/office/drawing/2014/main" id="{EB7DA4D6-8C6B-76EA-F195-BDBC63B0CE7E}"/>
              </a:ext>
            </a:extLst>
          </p:cNvPr>
          <p:cNvSpPr/>
          <p:nvPr/>
        </p:nvSpPr>
        <p:spPr>
          <a:xfrm>
            <a:off x="1524000" y="4848225"/>
            <a:ext cx="4499838" cy="10096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9000" b="1" kern="0" spc="-180" dirty="0">
                <a:solidFill>
                  <a:srgbClr val="4B596B"/>
                </a:solidFill>
                <a:latin typeface="Montserrat" pitchFamily="34" charset="0"/>
                <a:ea typeface="Montserrat" pitchFamily="34" charset="-122"/>
                <a:cs typeface="Montserrat" pitchFamily="34" charset="-120"/>
              </a:rPr>
              <a:t>01</a:t>
            </a:r>
            <a:endParaRPr lang="en-US" sz="9000" dirty="0">
              <a:solidFill>
                <a:srgbClr val="4B596B"/>
              </a:solidFill>
            </a:endParaRPr>
          </a:p>
        </p:txBody>
      </p:sp>
      <p:sp>
        <p:nvSpPr>
          <p:cNvPr id="14" name="Text 12">
            <a:extLst>
              <a:ext uri="{FF2B5EF4-FFF2-40B4-BE49-F238E27FC236}">
                <a16:creationId xmlns:a16="http://schemas.microsoft.com/office/drawing/2014/main" id="{E8F21351-7A3C-D824-3BB5-A535AF057ACB}"/>
              </a:ext>
            </a:extLst>
          </p:cNvPr>
          <p:cNvSpPr/>
          <p:nvPr/>
        </p:nvSpPr>
        <p:spPr>
          <a:xfrm>
            <a:off x="6959575" y="4545767"/>
            <a:ext cx="4499838" cy="214313"/>
          </a:xfrm>
          <a:prstGeom prst="rect">
            <a:avLst/>
          </a:prstGeom>
          <a:noFill/>
          <a:ln/>
        </p:spPr>
        <p:txBody>
          <a:bodyPr wrap="square" lIns="25400" tIns="25400" rIns="25400" bIns="25400" rtlCol="0" anchor="t">
            <a:normAutofit/>
          </a:bodyPr>
          <a:lstStyle/>
          <a:p>
            <a:pPr marL="0" indent="0" algn="l">
              <a:buNone/>
            </a:pPr>
            <a:r>
              <a:rPr lang="en-US" sz="1050" kern="0" spc="231" dirty="0">
                <a:solidFill>
                  <a:schemeClr val="bg1"/>
                </a:solidFill>
                <a:latin typeface="JetBrains Mono" pitchFamily="34" charset="0"/>
                <a:ea typeface="JetBrains Mono" pitchFamily="34" charset="-122"/>
                <a:cs typeface="JetBrains Mono" pitchFamily="34" charset="-120"/>
              </a:rPr>
              <a:t>DOOR 02</a:t>
            </a:r>
            <a:endParaRPr lang="en-US" sz="1050" dirty="0">
              <a:solidFill>
                <a:schemeClr val="bg1"/>
              </a:solidFill>
            </a:endParaRPr>
          </a:p>
        </p:txBody>
      </p:sp>
      <p:sp>
        <p:nvSpPr>
          <p:cNvPr id="15" name="Text 13">
            <a:extLst>
              <a:ext uri="{FF2B5EF4-FFF2-40B4-BE49-F238E27FC236}">
                <a16:creationId xmlns:a16="http://schemas.microsoft.com/office/drawing/2014/main" id="{FD0EE8FE-23C9-1CAA-EA17-09FB483546BB}"/>
              </a:ext>
            </a:extLst>
          </p:cNvPr>
          <p:cNvSpPr/>
          <p:nvPr/>
        </p:nvSpPr>
        <p:spPr>
          <a:xfrm>
            <a:off x="6959575" y="4848225"/>
            <a:ext cx="4499838" cy="10096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9000" b="1" kern="0" spc="-180" dirty="0">
                <a:solidFill>
                  <a:schemeClr val="bg1"/>
                </a:solidFill>
                <a:latin typeface="Montserrat" pitchFamily="34" charset="0"/>
                <a:ea typeface="Montserrat" pitchFamily="34" charset="-122"/>
                <a:cs typeface="Montserrat" pitchFamily="34" charset="-120"/>
              </a:rPr>
              <a:t>02</a:t>
            </a:r>
            <a:endParaRPr lang="en-US" sz="9000" dirty="0">
              <a:solidFill>
                <a:schemeClr val="bg1"/>
              </a:solidFill>
            </a:endParaRPr>
          </a:p>
        </p:txBody>
      </p:sp>
      <p:sp>
        <p:nvSpPr>
          <p:cNvPr id="21" name="Text 19">
            <a:extLst>
              <a:ext uri="{FF2B5EF4-FFF2-40B4-BE49-F238E27FC236}">
                <a16:creationId xmlns:a16="http://schemas.microsoft.com/office/drawing/2014/main" id="{2087D832-03BB-F8BC-B072-9DEAD1FB84B8}"/>
              </a:ext>
            </a:extLst>
          </p:cNvPr>
          <p:cNvSpPr/>
          <p:nvPr/>
        </p:nvSpPr>
        <p:spPr>
          <a:xfrm>
            <a:off x="12395150" y="4545767"/>
            <a:ext cx="4499915" cy="214313"/>
          </a:xfrm>
          <a:prstGeom prst="rect">
            <a:avLst/>
          </a:prstGeom>
          <a:noFill/>
          <a:ln/>
        </p:spPr>
        <p:txBody>
          <a:bodyPr wrap="square" lIns="25400" tIns="25400" rIns="25400" bIns="25400" rtlCol="0" anchor="t">
            <a:normAutofit/>
          </a:bodyPr>
          <a:lstStyle/>
          <a:p>
            <a:pPr marL="0" indent="0" algn="l">
              <a:buNone/>
            </a:pPr>
            <a:r>
              <a:rPr lang="en-US" sz="1050" kern="0" spc="231" dirty="0">
                <a:solidFill>
                  <a:schemeClr val="bg1"/>
                </a:solidFill>
                <a:latin typeface="JetBrains Mono" pitchFamily="34" charset="0"/>
                <a:ea typeface="JetBrains Mono" pitchFamily="34" charset="-122"/>
                <a:cs typeface="JetBrains Mono" pitchFamily="34" charset="-120"/>
              </a:rPr>
              <a:t>DOOR 03</a:t>
            </a:r>
            <a:endParaRPr lang="en-US" sz="1050" dirty="0">
              <a:solidFill>
                <a:schemeClr val="bg1"/>
              </a:solidFill>
            </a:endParaRPr>
          </a:p>
        </p:txBody>
      </p:sp>
      <p:sp>
        <p:nvSpPr>
          <p:cNvPr id="22" name="Text 20">
            <a:extLst>
              <a:ext uri="{FF2B5EF4-FFF2-40B4-BE49-F238E27FC236}">
                <a16:creationId xmlns:a16="http://schemas.microsoft.com/office/drawing/2014/main" id="{2CA32F9A-E2D9-381C-3364-48290889AE1A}"/>
              </a:ext>
            </a:extLst>
          </p:cNvPr>
          <p:cNvSpPr/>
          <p:nvPr/>
        </p:nvSpPr>
        <p:spPr>
          <a:xfrm>
            <a:off x="12395150" y="4848225"/>
            <a:ext cx="4499915" cy="10096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9000" b="1" kern="0" spc="-180" dirty="0">
                <a:solidFill>
                  <a:schemeClr val="bg1"/>
                </a:solidFill>
                <a:latin typeface="Montserrat" pitchFamily="34" charset="0"/>
                <a:ea typeface="Montserrat" pitchFamily="34" charset="-122"/>
                <a:cs typeface="Montserrat" pitchFamily="34" charset="-120"/>
              </a:rPr>
              <a:t>03</a:t>
            </a:r>
            <a:endParaRPr lang="en-US" sz="9000" dirty="0">
              <a:solidFill>
                <a:schemeClr val="bg1"/>
              </a:solidFill>
            </a:endParaRPr>
          </a:p>
        </p:txBody>
      </p:sp>
      <p:sp>
        <p:nvSpPr>
          <p:cNvPr id="26" name="Shape 24">
            <a:extLst>
              <a:ext uri="{FF2B5EF4-FFF2-40B4-BE49-F238E27FC236}">
                <a16:creationId xmlns:a16="http://schemas.microsoft.com/office/drawing/2014/main" id="{2E2A0CB0-8446-B038-95C0-DD7ABB03807F}"/>
              </a:ext>
            </a:extLst>
          </p:cNvPr>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27" name="Text 25">
            <a:extLst>
              <a:ext uri="{FF2B5EF4-FFF2-40B4-BE49-F238E27FC236}">
                <a16:creationId xmlns:a16="http://schemas.microsoft.com/office/drawing/2014/main" id="{23F77D0F-1C7B-0C89-D95C-7BB7259A072A}"/>
              </a:ext>
            </a:extLst>
          </p:cNvPr>
          <p:cNvSpPr/>
          <p:nvPr/>
        </p:nvSpPr>
        <p:spPr>
          <a:xfrm>
            <a:off x="1085850" y="9653588"/>
            <a:ext cx="2276475" cy="214313"/>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17" name="Text 7">
            <a:extLst>
              <a:ext uri="{FF2B5EF4-FFF2-40B4-BE49-F238E27FC236}">
                <a16:creationId xmlns:a16="http://schemas.microsoft.com/office/drawing/2014/main" id="{57F25AEC-CFAE-9DE4-8C98-79C6DC3D6BCC}"/>
              </a:ext>
            </a:extLst>
          </p:cNvPr>
          <p:cNvSpPr/>
          <p:nvPr/>
        </p:nvSpPr>
        <p:spPr>
          <a:xfrm>
            <a:off x="1524000" y="8514216"/>
            <a:ext cx="4499838" cy="595313"/>
          </a:xfrm>
          <a:prstGeom prst="rect">
            <a:avLst/>
          </a:prstGeom>
          <a:noFill/>
          <a:ln/>
        </p:spPr>
        <p:txBody>
          <a:bodyPr wrap="square" lIns="25400" tIns="25400" rIns="25400" bIns="25400" rtlCol="0" anchor="t">
            <a:normAutofit lnSpcReduction="10000"/>
          </a:bodyPr>
          <a:lstStyle/>
          <a:p>
            <a:pPr marL="0" indent="0" algn="l">
              <a:buNone/>
            </a:pPr>
            <a:r>
              <a:rPr lang="en-US" sz="3600" b="1" kern="0" spc="-36" dirty="0">
                <a:solidFill>
                  <a:srgbClr val="FFFFFF"/>
                </a:solidFill>
                <a:latin typeface="Montserrat" pitchFamily="34" charset="0"/>
                <a:ea typeface="Montserrat" pitchFamily="34" charset="-122"/>
                <a:cs typeface="Montserrat" pitchFamily="34" charset="-120"/>
              </a:rPr>
              <a:t>Claude Chat.</a:t>
            </a:r>
            <a:endParaRPr lang="en-US" sz="3600" dirty="0"/>
          </a:p>
        </p:txBody>
      </p:sp>
      <p:sp>
        <p:nvSpPr>
          <p:cNvPr id="19" name="Text 14">
            <a:extLst>
              <a:ext uri="{FF2B5EF4-FFF2-40B4-BE49-F238E27FC236}">
                <a16:creationId xmlns:a16="http://schemas.microsoft.com/office/drawing/2014/main" id="{6CE791F3-3882-B4BB-5A84-DD9B351C5736}"/>
              </a:ext>
            </a:extLst>
          </p:cNvPr>
          <p:cNvSpPr/>
          <p:nvPr/>
        </p:nvSpPr>
        <p:spPr>
          <a:xfrm>
            <a:off x="6959575" y="8514216"/>
            <a:ext cx="4499838" cy="595313"/>
          </a:xfrm>
          <a:prstGeom prst="rect">
            <a:avLst/>
          </a:prstGeom>
          <a:noFill/>
          <a:ln/>
        </p:spPr>
        <p:txBody>
          <a:bodyPr wrap="square" lIns="25400" tIns="25400" rIns="25400" bIns="25400" rtlCol="0" anchor="t">
            <a:normAutofit lnSpcReduction="10000"/>
          </a:bodyPr>
          <a:lstStyle/>
          <a:p>
            <a:pPr marL="0" indent="0" algn="l">
              <a:buNone/>
            </a:pPr>
            <a:r>
              <a:rPr lang="en-US" sz="3600" b="1" kern="0" spc="-36" dirty="0">
                <a:solidFill>
                  <a:srgbClr val="FFFFFF"/>
                </a:solidFill>
                <a:latin typeface="Montserrat" pitchFamily="34" charset="0"/>
                <a:ea typeface="Montserrat" pitchFamily="34" charset="-122"/>
                <a:cs typeface="Montserrat" pitchFamily="34" charset="-120"/>
              </a:rPr>
              <a:t>Claude Cowork.</a:t>
            </a:r>
            <a:endParaRPr lang="en-US" sz="3600" dirty="0"/>
          </a:p>
        </p:txBody>
      </p:sp>
      <p:sp>
        <p:nvSpPr>
          <p:cNvPr id="24" name="Text 21">
            <a:extLst>
              <a:ext uri="{FF2B5EF4-FFF2-40B4-BE49-F238E27FC236}">
                <a16:creationId xmlns:a16="http://schemas.microsoft.com/office/drawing/2014/main" id="{CF59098A-18AE-2766-0173-3706BC7B2C84}"/>
              </a:ext>
            </a:extLst>
          </p:cNvPr>
          <p:cNvSpPr/>
          <p:nvPr/>
        </p:nvSpPr>
        <p:spPr>
          <a:xfrm>
            <a:off x="12395150" y="8514216"/>
            <a:ext cx="4499915" cy="595313"/>
          </a:xfrm>
          <a:prstGeom prst="rect">
            <a:avLst/>
          </a:prstGeom>
          <a:noFill/>
          <a:ln/>
        </p:spPr>
        <p:txBody>
          <a:bodyPr wrap="square" lIns="25400" tIns="25400" rIns="25400" bIns="25400" rtlCol="0" anchor="t">
            <a:normAutofit lnSpcReduction="10000"/>
          </a:bodyPr>
          <a:lstStyle/>
          <a:p>
            <a:pPr marL="0" indent="0" algn="l">
              <a:buNone/>
            </a:pPr>
            <a:r>
              <a:rPr lang="en-US" sz="3600" b="1" kern="0" spc="-36" dirty="0">
                <a:solidFill>
                  <a:srgbClr val="FFFFFF"/>
                </a:solidFill>
                <a:latin typeface="Montserrat" pitchFamily="34" charset="0"/>
                <a:ea typeface="Montserrat" pitchFamily="34" charset="-122"/>
                <a:cs typeface="Montserrat" pitchFamily="34" charset="-120"/>
              </a:rPr>
              <a:t>Claude Code.</a:t>
            </a:r>
            <a:endParaRPr lang="en-US" sz="3600" dirty="0"/>
          </a:p>
        </p:txBody>
      </p:sp>
    </p:spTree>
    <p:extLst>
      <p:ext uri="{BB962C8B-B14F-4D97-AF65-F5344CB8AC3E}">
        <p14:creationId xmlns:p14="http://schemas.microsoft.com/office/powerpoint/2010/main" val="599920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6">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8045574" y="1283494"/>
            <a:ext cx="2196778" cy="280988"/>
          </a:xfrm>
          <a:prstGeom prst="rect">
            <a:avLst/>
          </a:prstGeom>
          <a:noFill/>
          <a:ln/>
        </p:spPr>
        <p:txBody>
          <a:bodyPr wrap="square" lIns="25400" tIns="25400" rIns="25400" bIns="25400" rtlCol="0" anchor="t">
            <a:normAutofit lnSpcReduction="10000"/>
          </a:bodyPr>
          <a:lstStyle/>
          <a:p>
            <a:pPr marL="0" indent="0" algn="ctr">
              <a:buNone/>
            </a:pPr>
            <a:r>
              <a:rPr lang="en-US" sz="1575" b="1" kern="0" spc="504" dirty="0">
                <a:solidFill>
                  <a:srgbClr val="3FE0D0"/>
                </a:solidFill>
                <a:latin typeface="Inter" pitchFamily="34" charset="0"/>
                <a:ea typeface="Inter" pitchFamily="34" charset="-122"/>
                <a:cs typeface="Inter" pitchFamily="34" charset="-120"/>
              </a:rPr>
              <a:t>THIS MONDAY</a:t>
            </a:r>
            <a:endParaRPr lang="en-US" sz="1575" dirty="0"/>
          </a:p>
        </p:txBody>
      </p:sp>
      <p:sp>
        <p:nvSpPr>
          <p:cNvPr id="3" name="Text 1"/>
          <p:cNvSpPr/>
          <p:nvPr/>
        </p:nvSpPr>
        <p:spPr>
          <a:xfrm>
            <a:off x="5399897" y="1831181"/>
            <a:ext cx="7488132" cy="3838575"/>
          </a:xfrm>
          <a:prstGeom prst="rect">
            <a:avLst/>
          </a:prstGeom>
          <a:noFill/>
          <a:ln/>
        </p:spPr>
        <p:txBody>
          <a:bodyPr wrap="square" lIns="25400" tIns="25400" rIns="25400" bIns="25400" rtlCol="0" anchor="t">
            <a:normAutofit fontScale="92500" lnSpcReduction="10000"/>
          </a:bodyPr>
          <a:lstStyle/>
          <a:p>
            <a:pPr marL="0" indent="0" algn="ctr">
              <a:lnSpc>
                <a:spcPct val="95000"/>
              </a:lnSpc>
              <a:buNone/>
            </a:pPr>
            <a:r>
              <a:rPr lang="en-US" sz="10500" b="1" kern="0" spc="-262" dirty="0">
                <a:solidFill>
                  <a:srgbClr val="FFFFFF"/>
                </a:solidFill>
                <a:latin typeface="Montserrat" pitchFamily="34" charset="0"/>
                <a:ea typeface="Montserrat" pitchFamily="34" charset="-122"/>
                <a:cs typeface="Montserrat" pitchFamily="34" charset="-120"/>
              </a:rPr>
              <a:t>One task. One door. One week.</a:t>
            </a:r>
            <a:endParaRPr lang="en-US" sz="10500" dirty="0"/>
          </a:p>
        </p:txBody>
      </p:sp>
      <p:sp>
        <p:nvSpPr>
          <p:cNvPr id="4" name="Text 2"/>
          <p:cNvSpPr/>
          <p:nvPr/>
        </p:nvSpPr>
        <p:spPr>
          <a:xfrm>
            <a:off x="4678116" y="5974556"/>
            <a:ext cx="8931768"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C9CBD1"/>
                </a:solidFill>
                <a:latin typeface="Inter" pitchFamily="34" charset="0"/>
                <a:ea typeface="Inter" pitchFamily="34" charset="-122"/>
                <a:cs typeface="Inter" pitchFamily="34" charset="-120"/>
              </a:rPr>
              <a:t>Pick the chore that drains you. Hand it off in whichever door fits.</a:t>
            </a:r>
            <a:endParaRPr lang="en-US" sz="2250" dirty="0"/>
          </a:p>
        </p:txBody>
      </p:sp>
      <p:sp>
        <p:nvSpPr>
          <p:cNvPr id="5" name="Text 3"/>
          <p:cNvSpPr/>
          <p:nvPr/>
        </p:nvSpPr>
        <p:spPr>
          <a:xfrm>
            <a:off x="5545894" y="6977856"/>
            <a:ext cx="7196137" cy="2114550"/>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FFFFFF"/>
                </a:solidFill>
                <a:latin typeface="Montserrat" pitchFamily="34" charset="0"/>
                <a:ea typeface="Montserrat" pitchFamily="34" charset="-122"/>
                <a:cs typeface="Montserrat" pitchFamily="34" charset="-120"/>
              </a:rPr>
              <a:t>Pick ONE recurring task that drains you.</a:t>
            </a:r>
            <a:endParaRPr lang="en-US" sz="2700" dirty="0"/>
          </a:p>
          <a:p>
            <a:pPr marL="0" indent="0" algn="l">
              <a:buNone/>
            </a:pPr>
            <a:r>
              <a:rPr lang="en-US" sz="2700" b="1" kern="0" spc="-27" dirty="0">
                <a:solidFill>
                  <a:srgbClr val="FFFFFF"/>
                </a:solidFill>
                <a:latin typeface="Montserrat" pitchFamily="34" charset="0"/>
                <a:ea typeface="Montserrat" pitchFamily="34" charset="-122"/>
                <a:cs typeface="Montserrat" pitchFamily="34" charset="-120"/>
              </a:rPr>
              <a:t>Not your moonshot. Your chore.</a:t>
            </a:r>
            <a:endParaRPr lang="en-US" sz="2700" dirty="0"/>
          </a:p>
          <a:p>
            <a:pPr marL="0" indent="0" algn="l">
              <a:buNone/>
            </a:pPr>
            <a:r>
              <a:rPr lang="en-US" sz="2700" b="1" kern="0" spc="-27" dirty="0">
                <a:solidFill>
                  <a:srgbClr val="FFFFFF"/>
                </a:solidFill>
                <a:latin typeface="Montserrat" pitchFamily="34" charset="0"/>
                <a:ea typeface="Montserrat" pitchFamily="34" charset="-122"/>
                <a:cs typeface="Montserrat" pitchFamily="34" charset="-120"/>
              </a:rPr>
              <a:t>Hand it off in whichever door fits.</a:t>
            </a:r>
            <a:endParaRPr lang="en-US" sz="2700" dirty="0"/>
          </a:p>
          <a:p>
            <a:pPr marL="0" indent="0" algn="l">
              <a:buNone/>
            </a:pPr>
            <a:r>
              <a:rPr lang="en-US" sz="2700" b="1" kern="0" spc="-27" dirty="0">
                <a:solidFill>
                  <a:srgbClr val="FFFFFF"/>
                </a:solidFill>
                <a:latin typeface="Montserrat" pitchFamily="34" charset="0"/>
                <a:ea typeface="Montserrat" pitchFamily="34" charset="-122"/>
                <a:cs typeface="Montserrat" pitchFamily="34" charset="-120"/>
              </a:rPr>
              <a:t>Boring beats brilliant.</a:t>
            </a:r>
            <a:endParaRPr lang="en-US" sz="2700" dirty="0"/>
          </a:p>
        </p:txBody>
      </p:sp>
      <p:sp>
        <p:nvSpPr>
          <p:cNvPr id="6" name="Shape 4"/>
          <p:cNvSpPr/>
          <p:nvPr/>
        </p:nvSpPr>
        <p:spPr>
          <a:xfrm>
            <a:off x="914400" y="9703594"/>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7" name="Text 5"/>
          <p:cNvSpPr/>
          <p:nvPr/>
        </p:nvSpPr>
        <p:spPr>
          <a:xfrm>
            <a:off x="1085850" y="9653588"/>
            <a:ext cx="2276475" cy="214313"/>
          </a:xfrm>
          <a:prstGeom prst="rect">
            <a:avLst/>
          </a:prstGeom>
          <a:noFill/>
          <a:ln/>
        </p:spPr>
        <p:txBody>
          <a:bodyPr wrap="square" lIns="0" tIns="0" rIns="0" bIns="0" rtlCol="0" anchor="t">
            <a:normAutofit/>
          </a:bodyPr>
          <a:lstStyle/>
          <a:p>
            <a:pPr marL="0" indent="0" algn="ctr">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Slide 27">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1143000" y="1143000"/>
            <a:ext cx="16482060"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RECAP</a:t>
            </a:r>
            <a:endParaRPr lang="en-US" sz="1350" dirty="0"/>
          </a:p>
        </p:txBody>
      </p:sp>
      <p:sp>
        <p:nvSpPr>
          <p:cNvPr id="3" name="Text 1"/>
          <p:cNvSpPr/>
          <p:nvPr/>
        </p:nvSpPr>
        <p:spPr>
          <a:xfrm>
            <a:off x="1143000" y="1524000"/>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14161C"/>
                </a:solidFill>
                <a:latin typeface="Montserrat" pitchFamily="34" charset="0"/>
                <a:ea typeface="Montserrat" pitchFamily="34" charset="-122"/>
                <a:cs typeface="Montserrat" pitchFamily="34" charset="-120"/>
              </a:rPr>
              <a:t>The five learnings.</a:t>
            </a:r>
            <a:endParaRPr lang="en-US" sz="6300" dirty="0"/>
          </a:p>
        </p:txBody>
      </p:sp>
      <p:sp>
        <p:nvSpPr>
          <p:cNvPr id="4" name="Shape 2"/>
          <p:cNvSpPr/>
          <p:nvPr/>
        </p:nvSpPr>
        <p:spPr>
          <a:xfrm>
            <a:off x="1143000" y="3911600"/>
            <a:ext cx="14287500" cy="9525"/>
          </a:xfrm>
          <a:prstGeom prst="rect">
            <a:avLst/>
          </a:prstGeom>
          <a:solidFill>
            <a:srgbClr val="14161C">
              <a:alpha val="10000"/>
            </a:srgbClr>
          </a:solidFill>
          <a:ln/>
        </p:spPr>
        <p:txBody>
          <a:bodyPr/>
          <a:lstStyle/>
          <a:p>
            <a:endParaRPr lang="en-US"/>
          </a:p>
        </p:txBody>
      </p:sp>
      <p:sp>
        <p:nvSpPr>
          <p:cNvPr id="5" name="Text 3"/>
          <p:cNvSpPr/>
          <p:nvPr/>
        </p:nvSpPr>
        <p:spPr>
          <a:xfrm>
            <a:off x="1143000" y="3200400"/>
            <a:ext cx="838200"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14161C"/>
                </a:solidFill>
                <a:latin typeface="Montserrat" pitchFamily="34" charset="0"/>
                <a:ea typeface="Montserrat" pitchFamily="34" charset="-122"/>
                <a:cs typeface="Montserrat" pitchFamily="34" charset="-120"/>
              </a:rPr>
              <a:t>01</a:t>
            </a:r>
            <a:endParaRPr lang="en-US" sz="3600" dirty="0"/>
          </a:p>
        </p:txBody>
      </p:sp>
      <p:sp>
        <p:nvSpPr>
          <p:cNvPr id="6" name="Text 4"/>
          <p:cNvSpPr/>
          <p:nvPr/>
        </p:nvSpPr>
        <p:spPr>
          <a:xfrm>
            <a:off x="2247900" y="3154363"/>
            <a:ext cx="3236551" cy="523875"/>
          </a:xfrm>
          <a:prstGeom prst="rect">
            <a:avLst/>
          </a:prstGeom>
          <a:noFill/>
          <a:ln/>
        </p:spPr>
        <p:txBody>
          <a:bodyPr wrap="square" lIns="0" tIns="0" rIns="0" bIns="0" rtlCol="0" anchor="t">
            <a:normAutofit/>
          </a:bodyPr>
          <a:lstStyle/>
          <a:p>
            <a:pPr marL="0" indent="0" algn="l">
              <a:buNone/>
            </a:pPr>
            <a:r>
              <a:rPr lang="en-US" sz="3150" b="1" kern="0" spc="-31" dirty="0">
                <a:solidFill>
                  <a:srgbClr val="14161C"/>
                </a:solidFill>
                <a:latin typeface="Montserrat" pitchFamily="34" charset="0"/>
                <a:ea typeface="Montserrat" pitchFamily="34" charset="-122"/>
                <a:cs typeface="Montserrat" pitchFamily="34" charset="-120"/>
              </a:rPr>
              <a:t>Complain to AI.</a:t>
            </a:r>
            <a:endParaRPr lang="en-US" sz="3150" dirty="0"/>
          </a:p>
        </p:txBody>
      </p:sp>
      <p:sp>
        <p:nvSpPr>
          <p:cNvPr id="8" name="Shape 6"/>
          <p:cNvSpPr/>
          <p:nvPr/>
        </p:nvSpPr>
        <p:spPr>
          <a:xfrm>
            <a:off x="1143000" y="5299075"/>
            <a:ext cx="14287500" cy="9525"/>
          </a:xfrm>
          <a:prstGeom prst="rect">
            <a:avLst/>
          </a:prstGeom>
          <a:solidFill>
            <a:srgbClr val="14161C">
              <a:alpha val="10000"/>
            </a:srgbClr>
          </a:solidFill>
          <a:ln/>
        </p:spPr>
        <p:txBody>
          <a:bodyPr/>
          <a:lstStyle/>
          <a:p>
            <a:endParaRPr lang="en-US"/>
          </a:p>
        </p:txBody>
      </p:sp>
      <p:sp>
        <p:nvSpPr>
          <p:cNvPr id="9" name="Text 7"/>
          <p:cNvSpPr/>
          <p:nvPr/>
        </p:nvSpPr>
        <p:spPr>
          <a:xfrm>
            <a:off x="1143000" y="4587875"/>
            <a:ext cx="838200"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14161C"/>
                </a:solidFill>
                <a:latin typeface="Montserrat" pitchFamily="34" charset="0"/>
                <a:ea typeface="Montserrat" pitchFamily="34" charset="-122"/>
                <a:cs typeface="Montserrat" pitchFamily="34" charset="-120"/>
              </a:rPr>
              <a:t>02</a:t>
            </a:r>
            <a:endParaRPr lang="en-US" sz="3600" dirty="0"/>
          </a:p>
        </p:txBody>
      </p:sp>
      <p:sp>
        <p:nvSpPr>
          <p:cNvPr id="10" name="Text 8"/>
          <p:cNvSpPr/>
          <p:nvPr/>
        </p:nvSpPr>
        <p:spPr>
          <a:xfrm>
            <a:off x="2247900" y="4541838"/>
            <a:ext cx="4570047" cy="523875"/>
          </a:xfrm>
          <a:prstGeom prst="rect">
            <a:avLst/>
          </a:prstGeom>
          <a:noFill/>
          <a:ln/>
        </p:spPr>
        <p:txBody>
          <a:bodyPr wrap="square" lIns="0" tIns="0" rIns="0" bIns="0" rtlCol="0" anchor="t">
            <a:normAutofit/>
          </a:bodyPr>
          <a:lstStyle/>
          <a:p>
            <a:pPr marL="0" indent="0" algn="l">
              <a:buNone/>
            </a:pPr>
            <a:r>
              <a:rPr lang="en-US" sz="3150" b="1" kern="0" spc="-31" dirty="0">
                <a:solidFill>
                  <a:srgbClr val="14161C"/>
                </a:solidFill>
                <a:latin typeface="Montserrat" pitchFamily="34" charset="0"/>
                <a:ea typeface="Montserrat" pitchFamily="34" charset="-122"/>
                <a:cs typeface="Montserrat" pitchFamily="34" charset="-120"/>
              </a:rPr>
              <a:t>Show. Don't describe.</a:t>
            </a:r>
            <a:endParaRPr lang="en-US" sz="3150" dirty="0"/>
          </a:p>
        </p:txBody>
      </p:sp>
      <p:sp>
        <p:nvSpPr>
          <p:cNvPr id="12" name="Shape 10"/>
          <p:cNvSpPr/>
          <p:nvPr/>
        </p:nvSpPr>
        <p:spPr>
          <a:xfrm>
            <a:off x="1143000" y="6686550"/>
            <a:ext cx="14287500" cy="9525"/>
          </a:xfrm>
          <a:prstGeom prst="rect">
            <a:avLst/>
          </a:prstGeom>
          <a:solidFill>
            <a:srgbClr val="14161C">
              <a:alpha val="10000"/>
            </a:srgbClr>
          </a:solidFill>
          <a:ln/>
        </p:spPr>
        <p:txBody>
          <a:bodyPr/>
          <a:lstStyle/>
          <a:p>
            <a:endParaRPr lang="en-US"/>
          </a:p>
        </p:txBody>
      </p:sp>
      <p:sp>
        <p:nvSpPr>
          <p:cNvPr id="13" name="Text 11"/>
          <p:cNvSpPr/>
          <p:nvPr/>
        </p:nvSpPr>
        <p:spPr>
          <a:xfrm>
            <a:off x="1143000" y="5975350"/>
            <a:ext cx="838200"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14161C"/>
                </a:solidFill>
                <a:latin typeface="Montserrat" pitchFamily="34" charset="0"/>
                <a:ea typeface="Montserrat" pitchFamily="34" charset="-122"/>
                <a:cs typeface="Montserrat" pitchFamily="34" charset="-120"/>
              </a:rPr>
              <a:t>03</a:t>
            </a:r>
            <a:endParaRPr lang="en-US" sz="3600" dirty="0"/>
          </a:p>
        </p:txBody>
      </p:sp>
      <p:sp>
        <p:nvSpPr>
          <p:cNvPr id="14" name="Text 12"/>
          <p:cNvSpPr/>
          <p:nvPr/>
        </p:nvSpPr>
        <p:spPr>
          <a:xfrm>
            <a:off x="2247900" y="5929313"/>
            <a:ext cx="3890116" cy="523875"/>
          </a:xfrm>
          <a:prstGeom prst="rect">
            <a:avLst/>
          </a:prstGeom>
          <a:noFill/>
          <a:ln/>
        </p:spPr>
        <p:txBody>
          <a:bodyPr wrap="square" lIns="0" tIns="0" rIns="0" bIns="0" rtlCol="0" anchor="t">
            <a:normAutofit/>
          </a:bodyPr>
          <a:lstStyle/>
          <a:p>
            <a:pPr marL="0" indent="0" algn="l">
              <a:buNone/>
            </a:pPr>
            <a:r>
              <a:rPr lang="en-US" sz="3150" b="1" kern="0" spc="-31" dirty="0">
                <a:solidFill>
                  <a:srgbClr val="14161C"/>
                </a:solidFill>
                <a:latin typeface="Montserrat" pitchFamily="34" charset="0"/>
                <a:ea typeface="Montserrat" pitchFamily="34" charset="-122"/>
                <a:cs typeface="Montserrat" pitchFamily="34" charset="-120"/>
              </a:rPr>
              <a:t>Ask me questions.</a:t>
            </a:r>
            <a:endParaRPr lang="en-US" sz="3150" dirty="0"/>
          </a:p>
        </p:txBody>
      </p:sp>
      <p:sp>
        <p:nvSpPr>
          <p:cNvPr id="16" name="Shape 14"/>
          <p:cNvSpPr/>
          <p:nvPr/>
        </p:nvSpPr>
        <p:spPr>
          <a:xfrm>
            <a:off x="1143000" y="8074025"/>
            <a:ext cx="14287500" cy="9525"/>
          </a:xfrm>
          <a:prstGeom prst="rect">
            <a:avLst/>
          </a:prstGeom>
          <a:solidFill>
            <a:srgbClr val="14161C">
              <a:alpha val="10000"/>
            </a:srgbClr>
          </a:solidFill>
          <a:ln/>
        </p:spPr>
        <p:txBody>
          <a:bodyPr/>
          <a:lstStyle/>
          <a:p>
            <a:endParaRPr lang="en-US"/>
          </a:p>
        </p:txBody>
      </p:sp>
      <p:sp>
        <p:nvSpPr>
          <p:cNvPr id="17" name="Text 15"/>
          <p:cNvSpPr/>
          <p:nvPr/>
        </p:nvSpPr>
        <p:spPr>
          <a:xfrm>
            <a:off x="1143000" y="7362825"/>
            <a:ext cx="838200"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14161C"/>
                </a:solidFill>
                <a:latin typeface="Montserrat" pitchFamily="34" charset="0"/>
                <a:ea typeface="Montserrat" pitchFamily="34" charset="-122"/>
                <a:cs typeface="Montserrat" pitchFamily="34" charset="-120"/>
              </a:rPr>
              <a:t>04</a:t>
            </a:r>
            <a:endParaRPr lang="en-US" sz="3600" dirty="0"/>
          </a:p>
        </p:txBody>
      </p:sp>
      <p:sp>
        <p:nvSpPr>
          <p:cNvPr id="18" name="Text 16"/>
          <p:cNvSpPr/>
          <p:nvPr/>
        </p:nvSpPr>
        <p:spPr>
          <a:xfrm>
            <a:off x="2247900" y="7316788"/>
            <a:ext cx="9078853" cy="523875"/>
          </a:xfrm>
          <a:prstGeom prst="rect">
            <a:avLst/>
          </a:prstGeom>
          <a:noFill/>
          <a:ln/>
        </p:spPr>
        <p:txBody>
          <a:bodyPr wrap="square" lIns="0" tIns="0" rIns="0" bIns="0" rtlCol="0" anchor="t">
            <a:normAutofit/>
          </a:bodyPr>
          <a:lstStyle/>
          <a:p>
            <a:pPr marL="0" indent="0" algn="l">
              <a:buNone/>
            </a:pPr>
            <a:r>
              <a:rPr lang="en-US" sz="3150" b="1" kern="0" spc="-31" dirty="0">
                <a:solidFill>
                  <a:srgbClr val="14161C"/>
                </a:solidFill>
                <a:latin typeface="Montserrat" pitchFamily="34" charset="0"/>
                <a:ea typeface="Montserrat" pitchFamily="34" charset="-122"/>
                <a:cs typeface="Montserrat" pitchFamily="34" charset="-120"/>
              </a:rPr>
              <a:t>Rinse, repeat? There's a command for that.</a:t>
            </a:r>
            <a:endParaRPr lang="en-US" sz="3150" dirty="0"/>
          </a:p>
        </p:txBody>
      </p:sp>
      <p:sp>
        <p:nvSpPr>
          <p:cNvPr id="20" name="Shape 18"/>
          <p:cNvSpPr/>
          <p:nvPr/>
        </p:nvSpPr>
        <p:spPr>
          <a:xfrm>
            <a:off x="1143000" y="9461500"/>
            <a:ext cx="14287500" cy="9525"/>
          </a:xfrm>
          <a:prstGeom prst="rect">
            <a:avLst/>
          </a:prstGeom>
          <a:solidFill>
            <a:srgbClr val="14161C">
              <a:alpha val="10000"/>
            </a:srgbClr>
          </a:solidFill>
          <a:ln/>
        </p:spPr>
        <p:txBody>
          <a:bodyPr/>
          <a:lstStyle/>
          <a:p>
            <a:endParaRPr lang="en-US"/>
          </a:p>
        </p:txBody>
      </p:sp>
      <p:sp>
        <p:nvSpPr>
          <p:cNvPr id="21" name="Text 19"/>
          <p:cNvSpPr/>
          <p:nvPr/>
        </p:nvSpPr>
        <p:spPr>
          <a:xfrm>
            <a:off x="1143000" y="8750300"/>
            <a:ext cx="838200"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14161C"/>
                </a:solidFill>
                <a:latin typeface="Montserrat" pitchFamily="34" charset="0"/>
                <a:ea typeface="Montserrat" pitchFamily="34" charset="-122"/>
                <a:cs typeface="Montserrat" pitchFamily="34" charset="-120"/>
              </a:rPr>
              <a:t>05</a:t>
            </a:r>
            <a:endParaRPr lang="en-US" sz="3600" dirty="0"/>
          </a:p>
        </p:txBody>
      </p:sp>
      <p:sp>
        <p:nvSpPr>
          <p:cNvPr id="22" name="Text 20"/>
          <p:cNvSpPr/>
          <p:nvPr/>
        </p:nvSpPr>
        <p:spPr>
          <a:xfrm>
            <a:off x="2247900" y="8704263"/>
            <a:ext cx="4096141" cy="523875"/>
          </a:xfrm>
          <a:prstGeom prst="rect">
            <a:avLst/>
          </a:prstGeom>
          <a:noFill/>
          <a:ln/>
        </p:spPr>
        <p:txBody>
          <a:bodyPr wrap="square" lIns="0" tIns="0" rIns="0" bIns="0" rtlCol="0" anchor="t">
            <a:normAutofit/>
          </a:bodyPr>
          <a:lstStyle/>
          <a:p>
            <a:pPr marL="0" indent="0" algn="l">
              <a:buNone/>
            </a:pPr>
            <a:r>
              <a:rPr lang="en-US" sz="3150" b="1" kern="0" spc="-31" dirty="0">
                <a:solidFill>
                  <a:srgbClr val="14161C"/>
                </a:solidFill>
                <a:latin typeface="Montserrat" pitchFamily="34" charset="0"/>
                <a:ea typeface="Montserrat" pitchFamily="34" charset="-122"/>
                <a:cs typeface="Montserrat" pitchFamily="34" charset="-120"/>
              </a:rPr>
              <a:t>Can AI do it? Ask it.</a:t>
            </a:r>
            <a:endParaRPr lang="en-US" sz="3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8">
    <p:bg>
      <p:bgPr>
        <a:solidFill>
          <a:srgbClr val="14161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8286750" y="1832670"/>
            <a:ext cx="1714500" cy="1714500"/>
          </a:xfrm>
          <a:prstGeom prst="rect">
            <a:avLst/>
          </a:prstGeom>
        </p:spPr>
      </p:pic>
      <p:sp>
        <p:nvSpPr>
          <p:cNvPr id="3" name="Text 0"/>
          <p:cNvSpPr/>
          <p:nvPr/>
        </p:nvSpPr>
        <p:spPr>
          <a:xfrm>
            <a:off x="7223164" y="3928170"/>
            <a:ext cx="3841598" cy="247650"/>
          </a:xfrm>
          <a:prstGeom prst="rect">
            <a:avLst/>
          </a:prstGeom>
          <a:noFill/>
          <a:ln/>
        </p:spPr>
        <p:txBody>
          <a:bodyPr wrap="square" lIns="25400" tIns="25400" rIns="25400" bIns="25400" rtlCol="0" anchor="t">
            <a:normAutofit lnSpcReduction="10000"/>
          </a:bodyPr>
          <a:lstStyle/>
          <a:p>
            <a:pPr marL="0" indent="0" algn="ctr">
              <a:buNone/>
            </a:pPr>
            <a:r>
              <a:rPr lang="en-US" sz="1350" b="1" kern="0" spc="378" dirty="0">
                <a:solidFill>
                  <a:srgbClr val="3FE0D0"/>
                </a:solidFill>
                <a:latin typeface="Inter" pitchFamily="34" charset="0"/>
                <a:ea typeface="Inter" pitchFamily="34" charset="-122"/>
                <a:cs typeface="Inter" pitchFamily="34" charset="-120"/>
              </a:rPr>
              <a:t>QUESTIONS &amp; CONVERSATION</a:t>
            </a:r>
            <a:endParaRPr lang="en-US" sz="1350" dirty="0"/>
          </a:p>
        </p:txBody>
      </p:sp>
      <p:sp>
        <p:nvSpPr>
          <p:cNvPr id="4" name="Text 1"/>
          <p:cNvSpPr/>
          <p:nvPr/>
        </p:nvSpPr>
        <p:spPr>
          <a:xfrm>
            <a:off x="2764330" y="4442520"/>
            <a:ext cx="12759340" cy="2716411"/>
          </a:xfrm>
          <a:prstGeom prst="rect">
            <a:avLst/>
          </a:prstGeom>
          <a:noFill/>
          <a:ln/>
        </p:spPr>
        <p:txBody>
          <a:bodyPr wrap="square" lIns="25400" tIns="25400" rIns="25400" bIns="25400" rtlCol="0" anchor="t">
            <a:normAutofit fontScale="92500" lnSpcReduction="20000"/>
          </a:bodyPr>
          <a:lstStyle/>
          <a:p>
            <a:pPr marL="0" indent="0" algn="ctr">
              <a:lnSpc>
                <a:spcPct val="95000"/>
              </a:lnSpc>
              <a:buNone/>
            </a:pPr>
            <a:r>
              <a:rPr lang="en-US" sz="11100" b="1" kern="0" spc="-278" dirty="0">
                <a:solidFill>
                  <a:srgbClr val="FFFFFF"/>
                </a:solidFill>
                <a:latin typeface="Montserrat" pitchFamily="34" charset="0"/>
                <a:ea typeface="Montserrat" pitchFamily="34" charset="-122"/>
                <a:cs typeface="Montserrat" pitchFamily="34" charset="-120"/>
              </a:rPr>
              <a:t>Thanks for walking through.</a:t>
            </a:r>
            <a:endParaRPr lang="en-US" sz="11100" dirty="0"/>
          </a:p>
        </p:txBody>
      </p:sp>
      <p:sp>
        <p:nvSpPr>
          <p:cNvPr id="5" name="Text 2"/>
          <p:cNvSpPr/>
          <p:nvPr/>
        </p:nvSpPr>
        <p:spPr>
          <a:xfrm>
            <a:off x="6832343" y="7654230"/>
            <a:ext cx="4623239" cy="838200"/>
          </a:xfrm>
          <a:prstGeom prst="rect">
            <a:avLst/>
          </a:prstGeom>
          <a:noFill/>
          <a:ln/>
        </p:spPr>
        <p:txBody>
          <a:bodyPr wrap="square" lIns="25400" tIns="25400" rIns="25400" bIns="25400" rtlCol="0" anchor="t">
            <a:normAutofit/>
          </a:bodyPr>
          <a:lstStyle/>
          <a:p>
            <a:pPr marL="0" indent="0" algn="ctr">
              <a:buNone/>
            </a:pPr>
            <a:r>
              <a:rPr lang="en-US" sz="1575" kern="0" spc="126" dirty="0">
                <a:solidFill>
                  <a:srgbClr val="9A9CA4"/>
                </a:solidFill>
                <a:latin typeface="JetBrains Mono" pitchFamily="34" charset="0"/>
                <a:ea typeface="JetBrains Mono" pitchFamily="34" charset="-122"/>
                <a:cs typeface="JetBrains Mono" pitchFamily="34" charset="-120"/>
              </a:rPr>
              <a:t>Trace Jackson · ACS Technologies </a:t>
            </a:r>
            <a:r>
              <a:rPr lang="en-US" sz="1575" kern="0" spc="126" dirty="0">
                <a:solidFill>
                  <a:srgbClr val="3FE0D0"/>
                </a:solidFill>
                <a:latin typeface="JetBrains Mono" pitchFamily="34" charset="0"/>
                <a:ea typeface="JetBrains Mono" pitchFamily="34" charset="-122"/>
                <a:cs typeface="JetBrains Mono" pitchFamily="34" charset="-120"/>
              </a:rPr>
              <a:t>Find me after </a:t>
            </a:r>
            <a:r>
              <a:rPr lang="en-US" sz="1575" kern="0" spc="126" dirty="0">
                <a:solidFill>
                  <a:srgbClr val="9A9CA4"/>
                </a:solidFill>
                <a:latin typeface="JetBrains Mono" pitchFamily="34" charset="0"/>
                <a:ea typeface="JetBrains Mono" pitchFamily="34" charset="-122"/>
                <a:cs typeface="JetBrains Mono" pitchFamily="34" charset="-120"/>
              </a:rPr>
              <a:t>— bring your chore.</a:t>
            </a:r>
            <a:endParaRPr lang="en-US" sz="157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A20DD0C7-8F87-0540-B009-2A07496BE263}"/>
            </a:ext>
          </a:extLst>
        </p:cNvPr>
        <p:cNvGrpSpPr/>
        <p:nvPr/>
      </p:nvGrpSpPr>
      <p:grpSpPr>
        <a:xfrm>
          <a:off x="0" y="0"/>
          <a:ext cx="0" cy="0"/>
          <a:chOff x="0" y="0"/>
          <a:chExt cx="0" cy="0"/>
        </a:xfrm>
      </p:grpSpPr>
      <p:sp>
        <p:nvSpPr>
          <p:cNvPr id="8" name="Text 0">
            <a:extLst>
              <a:ext uri="{FF2B5EF4-FFF2-40B4-BE49-F238E27FC236}">
                <a16:creationId xmlns:a16="http://schemas.microsoft.com/office/drawing/2014/main" id="{110D9B10-A65E-75D5-7065-606B891FF310}"/>
              </a:ext>
            </a:extLst>
          </p:cNvPr>
          <p:cNvSpPr/>
          <p:nvPr/>
        </p:nvSpPr>
        <p:spPr>
          <a:xfrm>
            <a:off x="5884838" y="2562225"/>
            <a:ext cx="6518324" cy="276225"/>
          </a:xfrm>
          <a:prstGeom prst="rect">
            <a:avLst/>
          </a:prstGeom>
          <a:noFill/>
          <a:ln/>
        </p:spPr>
        <p:txBody>
          <a:bodyPr wrap="square" lIns="25400" tIns="25400" rIns="25400" bIns="25400" rtlCol="0" anchor="t">
            <a:normAutofit lnSpcReduction="10000"/>
          </a:bodyPr>
          <a:lstStyle/>
          <a:p>
            <a:pPr marL="0" indent="0" algn="ctr">
              <a:buNone/>
            </a:pPr>
            <a:r>
              <a:rPr lang="en-US" sz="1575" b="1" kern="0" spc="504" dirty="0">
                <a:solidFill>
                  <a:srgbClr val="F58220"/>
                </a:solidFill>
                <a:latin typeface="Inter" pitchFamily="34" charset="0"/>
                <a:ea typeface="Inter" pitchFamily="34" charset="-122"/>
                <a:cs typeface="Inter" pitchFamily="34" charset="-120"/>
              </a:rPr>
              <a:t>BONUS MATERIAL · NOT PRESENTED LIVE</a:t>
            </a:r>
            <a:endParaRPr lang="en-US" sz="1575" dirty="0"/>
          </a:p>
        </p:txBody>
      </p:sp>
      <p:sp>
        <p:nvSpPr>
          <p:cNvPr id="9" name="Text 1">
            <a:extLst>
              <a:ext uri="{FF2B5EF4-FFF2-40B4-BE49-F238E27FC236}">
                <a16:creationId xmlns:a16="http://schemas.microsoft.com/office/drawing/2014/main" id="{23B05E67-4DEA-E1D9-ED9D-A187738A7443}"/>
              </a:ext>
            </a:extLst>
          </p:cNvPr>
          <p:cNvSpPr/>
          <p:nvPr/>
        </p:nvSpPr>
        <p:spPr>
          <a:xfrm>
            <a:off x="2383629" y="3105150"/>
            <a:ext cx="13520593" cy="3295650"/>
          </a:xfrm>
          <a:prstGeom prst="rect">
            <a:avLst/>
          </a:prstGeom>
          <a:noFill/>
          <a:ln/>
        </p:spPr>
        <p:txBody>
          <a:bodyPr wrap="square" lIns="25400" tIns="25400" rIns="25400" bIns="25400" rtlCol="0" anchor="t">
            <a:normAutofit fontScale="92500" lnSpcReduction="20000"/>
          </a:bodyPr>
          <a:lstStyle/>
          <a:p>
            <a:pPr marL="0" indent="0" algn="ctr">
              <a:lnSpc>
                <a:spcPct val="95000"/>
              </a:lnSpc>
              <a:buNone/>
            </a:pPr>
            <a:r>
              <a:rPr lang="en-US" sz="13500" b="1" kern="0" spc="-337" dirty="0">
                <a:solidFill>
                  <a:srgbClr val="FFFFFF"/>
                </a:solidFill>
                <a:latin typeface="Montserrat" pitchFamily="34" charset="0"/>
                <a:ea typeface="Montserrat" pitchFamily="34" charset="-122"/>
                <a:cs typeface="Montserrat" pitchFamily="34" charset="-120"/>
              </a:rPr>
              <a:t>A fourth door: </a:t>
            </a:r>
            <a:r>
              <a:rPr lang="en-US" sz="13500" b="1" kern="0" spc="-337" dirty="0">
                <a:solidFill>
                  <a:srgbClr val="3FE0D0"/>
                </a:solidFill>
                <a:latin typeface="Montserrat" pitchFamily="34" charset="0"/>
                <a:ea typeface="Montserrat" pitchFamily="34" charset="-122"/>
                <a:cs typeface="Montserrat" pitchFamily="34" charset="-120"/>
              </a:rPr>
              <a:t>Claude Design.</a:t>
            </a:r>
            <a:endParaRPr lang="en-US" sz="13500" dirty="0"/>
          </a:p>
        </p:txBody>
      </p:sp>
      <p:sp>
        <p:nvSpPr>
          <p:cNvPr id="10" name="Text 2">
            <a:extLst>
              <a:ext uri="{FF2B5EF4-FFF2-40B4-BE49-F238E27FC236}">
                <a16:creationId xmlns:a16="http://schemas.microsoft.com/office/drawing/2014/main" id="{ACFF84FD-472C-F2A1-E1B6-52BBDE3DAA3E}"/>
              </a:ext>
            </a:extLst>
          </p:cNvPr>
          <p:cNvSpPr/>
          <p:nvPr/>
        </p:nvSpPr>
        <p:spPr>
          <a:xfrm>
            <a:off x="5468343" y="6705600"/>
            <a:ext cx="7351164"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C9CBD1"/>
                </a:solidFill>
                <a:latin typeface="Inter" pitchFamily="34" charset="0"/>
                <a:ea typeface="Inter" pitchFamily="34" charset="-122"/>
                <a:cs typeface="Inter" pitchFamily="34" charset="-120"/>
              </a:rPr>
              <a:t>Brand new. Worth knowing about. Take this with you.</a:t>
            </a:r>
            <a:endParaRPr lang="en-US" sz="2250" dirty="0"/>
          </a:p>
        </p:txBody>
      </p:sp>
    </p:spTree>
    <p:extLst>
      <p:ext uri="{BB962C8B-B14F-4D97-AF65-F5344CB8AC3E}">
        <p14:creationId xmlns:p14="http://schemas.microsoft.com/office/powerpoint/2010/main" val="24772757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A95CC589-212B-0BAB-46DF-5AC640AA23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2586B98-5295-1C70-AA35-04F48B049DF6}"/>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BONUS · CLAUDE DESIGN</a:t>
            </a:r>
            <a:endParaRPr lang="en-US" sz="1350" dirty="0"/>
          </a:p>
        </p:txBody>
      </p:sp>
      <p:sp>
        <p:nvSpPr>
          <p:cNvPr id="3" name="Text 1">
            <a:extLst>
              <a:ext uri="{FF2B5EF4-FFF2-40B4-BE49-F238E27FC236}">
                <a16:creationId xmlns:a16="http://schemas.microsoft.com/office/drawing/2014/main" id="{953F9322-A797-A3B5-02D6-9155E3742B77}"/>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Words in. Visuals out.</a:t>
            </a:r>
            <a:endParaRPr lang="en-US" sz="6300" dirty="0"/>
          </a:p>
        </p:txBody>
      </p:sp>
      <p:sp>
        <p:nvSpPr>
          <p:cNvPr id="4" name="Text 2">
            <a:extLst>
              <a:ext uri="{FF2B5EF4-FFF2-40B4-BE49-F238E27FC236}">
                <a16:creationId xmlns:a16="http://schemas.microsoft.com/office/drawing/2014/main" id="{B0B298E6-B5E6-21B5-1F19-1F230B469D0B}"/>
              </a:ext>
            </a:extLst>
          </p:cNvPr>
          <p:cNvSpPr/>
          <p:nvPr/>
        </p:nvSpPr>
        <p:spPr>
          <a:xfrm>
            <a:off x="1143000" y="2771775"/>
            <a:ext cx="8304493" cy="1100733"/>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C9CBD1"/>
                </a:solidFill>
                <a:latin typeface="Inter" pitchFamily="34" charset="0"/>
                <a:ea typeface="Inter" pitchFamily="34" charset="-122"/>
                <a:cs typeface="Inter" pitchFamily="34" charset="-120"/>
              </a:rPr>
              <a:t>Launched in April. Instead of writing words, Claude makes </a:t>
            </a:r>
            <a:r>
              <a:rPr lang="en-US" sz="1800" dirty="0">
                <a:solidFill>
                  <a:srgbClr val="3FE0D0"/>
                </a:solidFill>
                <a:latin typeface="Inter" pitchFamily="34" charset="0"/>
                <a:ea typeface="Inter" pitchFamily="34" charset="-122"/>
                <a:cs typeface="Inter" pitchFamily="34" charset="-120"/>
              </a:rPr>
              <a:t>visuals </a:t>
            </a:r>
            <a:r>
              <a:rPr lang="en-US" sz="1800" dirty="0">
                <a:solidFill>
                  <a:srgbClr val="C9CBD1"/>
                </a:solidFill>
                <a:latin typeface="Inter" pitchFamily="34" charset="0"/>
                <a:ea typeface="Inter" pitchFamily="34" charset="-122"/>
                <a:cs typeface="Inter" pitchFamily="34" charset="-120"/>
              </a:rPr>
              <a:t>— a slide deck, a landing page, an app screen, a one-pager. You describe what you want. It produces a working version on screen.</a:t>
            </a:r>
            <a:endParaRPr lang="en-US" sz="1800" dirty="0"/>
          </a:p>
        </p:txBody>
      </p:sp>
      <p:sp>
        <p:nvSpPr>
          <p:cNvPr id="5" name="Text 3">
            <a:extLst>
              <a:ext uri="{FF2B5EF4-FFF2-40B4-BE49-F238E27FC236}">
                <a16:creationId xmlns:a16="http://schemas.microsoft.com/office/drawing/2014/main" id="{0DB28FDD-750C-056D-0BC8-C6BFD53827D3}"/>
              </a:ext>
            </a:extLst>
          </p:cNvPr>
          <p:cNvSpPr/>
          <p:nvPr/>
        </p:nvSpPr>
        <p:spPr>
          <a:xfrm>
            <a:off x="1143000" y="4063008"/>
            <a:ext cx="8304493" cy="746522"/>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C9CBD1"/>
                </a:solidFill>
                <a:latin typeface="Inter" pitchFamily="34" charset="0"/>
                <a:ea typeface="Inter" pitchFamily="34" charset="-122"/>
                <a:cs typeface="Inter" pitchFamily="34" charset="-120"/>
              </a:rPr>
              <a:t>You refine it by chatting, clicking on specific parts to comment ("make this button bigger"), or dragging sliders for color and spacing.</a:t>
            </a:r>
            <a:endParaRPr lang="en-US" sz="1800" dirty="0"/>
          </a:p>
        </p:txBody>
      </p:sp>
      <p:sp>
        <p:nvSpPr>
          <p:cNvPr id="6" name="Shape 4">
            <a:extLst>
              <a:ext uri="{FF2B5EF4-FFF2-40B4-BE49-F238E27FC236}">
                <a16:creationId xmlns:a16="http://schemas.microsoft.com/office/drawing/2014/main" id="{B8A5A2F1-0FA0-DB69-B84C-04985FB4982C}"/>
              </a:ext>
            </a:extLst>
          </p:cNvPr>
          <p:cNvSpPr/>
          <p:nvPr/>
        </p:nvSpPr>
        <p:spPr>
          <a:xfrm>
            <a:off x="1143000" y="5228630"/>
            <a:ext cx="3956298" cy="295275"/>
          </a:xfrm>
          <a:prstGeom prst="rect">
            <a:avLst/>
          </a:prstGeom>
          <a:ln w="9525">
            <a:solidFill>
              <a:srgbClr val="F58220"/>
            </a:solidFill>
            <a:prstDash val="solid"/>
          </a:ln>
        </p:spPr>
        <p:txBody>
          <a:bodyPr/>
          <a:lstStyle/>
          <a:p>
            <a:endParaRPr lang="en-US"/>
          </a:p>
        </p:txBody>
      </p:sp>
      <p:sp>
        <p:nvSpPr>
          <p:cNvPr id="7" name="Text 5">
            <a:extLst>
              <a:ext uri="{FF2B5EF4-FFF2-40B4-BE49-F238E27FC236}">
                <a16:creationId xmlns:a16="http://schemas.microsoft.com/office/drawing/2014/main" id="{28C494C4-F279-5E40-93CB-2177AD126EBD}"/>
              </a:ext>
            </a:extLst>
          </p:cNvPr>
          <p:cNvSpPr/>
          <p:nvPr/>
        </p:nvSpPr>
        <p:spPr>
          <a:xfrm>
            <a:off x="1285875" y="5295305"/>
            <a:ext cx="3789237" cy="200025"/>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F58220"/>
                </a:solidFill>
                <a:latin typeface="JetBrains Mono" pitchFamily="34" charset="0"/>
                <a:ea typeface="JetBrains Mono" pitchFamily="34" charset="-122"/>
                <a:cs typeface="JetBrains Mono" pitchFamily="34" charset="-120"/>
              </a:rPr>
              <a:t>STRENGTH · IDEA → SHOWABLE THING, FAST</a:t>
            </a:r>
            <a:endParaRPr lang="en-US" sz="975" dirty="0"/>
          </a:p>
        </p:txBody>
      </p:sp>
      <p:sp>
        <p:nvSpPr>
          <p:cNvPr id="11" name="Shape 6">
            <a:extLst>
              <a:ext uri="{FF2B5EF4-FFF2-40B4-BE49-F238E27FC236}">
                <a16:creationId xmlns:a16="http://schemas.microsoft.com/office/drawing/2014/main" id="{969CFF94-140A-22E6-5631-C7D6F4AED848}"/>
              </a:ext>
            </a:extLst>
          </p:cNvPr>
          <p:cNvSpPr/>
          <p:nvPr/>
        </p:nvSpPr>
        <p:spPr>
          <a:xfrm>
            <a:off x="9815215" y="2771775"/>
            <a:ext cx="7329785" cy="2466975"/>
          </a:xfrm>
          <a:prstGeom prst="rect">
            <a:avLst/>
          </a:prstGeom>
          <a:solidFill>
            <a:srgbClr val="1B1D24"/>
          </a:solidFill>
          <a:ln/>
        </p:spPr>
        <p:txBody>
          <a:bodyPr/>
          <a:lstStyle/>
          <a:p>
            <a:endParaRPr lang="en-US"/>
          </a:p>
        </p:txBody>
      </p:sp>
      <p:sp>
        <p:nvSpPr>
          <p:cNvPr id="12" name="Shape 7">
            <a:extLst>
              <a:ext uri="{FF2B5EF4-FFF2-40B4-BE49-F238E27FC236}">
                <a16:creationId xmlns:a16="http://schemas.microsoft.com/office/drawing/2014/main" id="{043B6FE6-1339-F4E0-4BC6-50944AFC8B18}"/>
              </a:ext>
            </a:extLst>
          </p:cNvPr>
          <p:cNvSpPr/>
          <p:nvPr/>
        </p:nvSpPr>
        <p:spPr>
          <a:xfrm>
            <a:off x="9815215" y="2771775"/>
            <a:ext cx="19050" cy="2466975"/>
          </a:xfrm>
          <a:prstGeom prst="rect">
            <a:avLst/>
          </a:prstGeom>
          <a:solidFill>
            <a:srgbClr val="F58220"/>
          </a:solidFill>
          <a:ln/>
        </p:spPr>
        <p:txBody>
          <a:bodyPr/>
          <a:lstStyle/>
          <a:p>
            <a:endParaRPr lang="en-US"/>
          </a:p>
        </p:txBody>
      </p:sp>
      <p:sp>
        <p:nvSpPr>
          <p:cNvPr id="13" name="Text 8">
            <a:extLst>
              <a:ext uri="{FF2B5EF4-FFF2-40B4-BE49-F238E27FC236}">
                <a16:creationId xmlns:a16="http://schemas.microsoft.com/office/drawing/2014/main" id="{94CE5AC0-21E0-91F1-0FE1-E9A01B681477}"/>
              </a:ext>
            </a:extLst>
          </p:cNvPr>
          <p:cNvSpPr/>
          <p:nvPr/>
        </p:nvSpPr>
        <p:spPr>
          <a:xfrm>
            <a:off x="10177165" y="3114675"/>
            <a:ext cx="682368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EXPORT TARGETS</a:t>
            </a:r>
            <a:endParaRPr lang="en-US" sz="975" dirty="0"/>
          </a:p>
        </p:txBody>
      </p:sp>
      <p:sp>
        <p:nvSpPr>
          <p:cNvPr id="14" name="Text 9">
            <a:extLst>
              <a:ext uri="{FF2B5EF4-FFF2-40B4-BE49-F238E27FC236}">
                <a16:creationId xmlns:a16="http://schemas.microsoft.com/office/drawing/2014/main" id="{A25ED372-AB21-93DB-3FA2-7AC7B7FB5CF2}"/>
              </a:ext>
            </a:extLst>
          </p:cNvPr>
          <p:cNvSpPr/>
          <p:nvPr/>
        </p:nvSpPr>
        <p:spPr>
          <a:xfrm>
            <a:off x="10017145" y="3448050"/>
            <a:ext cx="6861155" cy="1485900"/>
          </a:xfrm>
          <a:prstGeom prst="rect">
            <a:avLst/>
          </a:prstGeom>
          <a:noFill/>
          <a:ln/>
        </p:spPr>
        <p:txBody>
          <a:bodyPr wrap="square" lIns="25400" tIns="25400" rIns="25400" bIns="25400" rtlCol="0" anchor="t">
            <a:normAutofit/>
          </a:bodyPr>
          <a:lstStyle/>
          <a:p>
            <a:pPr marL="0" indent="0" algn="l">
              <a:buNone/>
            </a:pPr>
            <a:r>
              <a:rPr lang="en-US" sz="1800" b="1" kern="0" spc="-18" dirty="0">
                <a:solidFill>
                  <a:srgbClr val="FFFFFF"/>
                </a:solidFill>
                <a:latin typeface="Montserrat" pitchFamily="34" charset="0"/>
                <a:ea typeface="Montserrat" pitchFamily="34" charset="-122"/>
                <a:cs typeface="Montserrat" pitchFamily="34" charset="-120"/>
              </a:rPr>
              <a:t>Canva</a:t>
            </a:r>
            <a:endParaRPr lang="en-US" sz="1800" dirty="0"/>
          </a:p>
          <a:p>
            <a:pPr marL="0" indent="0" algn="l">
              <a:buNone/>
            </a:pPr>
            <a:r>
              <a:rPr lang="en-US" sz="1800" b="1" kern="0" spc="-18" dirty="0">
                <a:solidFill>
                  <a:srgbClr val="FFFFFF"/>
                </a:solidFill>
                <a:latin typeface="Montserrat" pitchFamily="34" charset="0"/>
                <a:ea typeface="Montserrat" pitchFamily="34" charset="-122"/>
                <a:cs typeface="Montserrat" pitchFamily="34" charset="-120"/>
              </a:rPr>
              <a:t>PowerPoint</a:t>
            </a:r>
            <a:endParaRPr lang="en-US" sz="1800" dirty="0"/>
          </a:p>
          <a:p>
            <a:pPr marL="0" indent="0" algn="l">
              <a:buNone/>
            </a:pPr>
            <a:r>
              <a:rPr lang="en-US" sz="1800" b="1" kern="0" spc="-18" dirty="0">
                <a:solidFill>
                  <a:srgbClr val="FFFFFF"/>
                </a:solidFill>
                <a:latin typeface="Montserrat" pitchFamily="34" charset="0"/>
                <a:ea typeface="Montserrat" pitchFamily="34" charset="-122"/>
                <a:cs typeface="Montserrat" pitchFamily="34" charset="-120"/>
              </a:rPr>
              <a:t>PDF</a:t>
            </a:r>
            <a:endParaRPr lang="en-US" sz="1800" dirty="0"/>
          </a:p>
          <a:p>
            <a:pPr marL="0" indent="0" algn="l">
              <a:buNone/>
            </a:pPr>
            <a:r>
              <a:rPr lang="en-US" sz="1800" b="1" kern="0" spc="-18" dirty="0">
                <a:solidFill>
                  <a:srgbClr val="FFFFFF"/>
                </a:solidFill>
                <a:latin typeface="Montserrat" pitchFamily="34" charset="0"/>
                <a:ea typeface="Montserrat" pitchFamily="34" charset="-122"/>
                <a:cs typeface="Montserrat" pitchFamily="34" charset="-120"/>
              </a:rPr>
              <a:t>Developer handoff</a:t>
            </a:r>
            <a:endParaRPr lang="en-US" sz="1800" dirty="0"/>
          </a:p>
        </p:txBody>
      </p:sp>
      <p:sp>
        <p:nvSpPr>
          <p:cNvPr id="15" name="Shape 10">
            <a:extLst>
              <a:ext uri="{FF2B5EF4-FFF2-40B4-BE49-F238E27FC236}">
                <a16:creationId xmlns:a16="http://schemas.microsoft.com/office/drawing/2014/main" id="{0D525E3B-A944-1CDA-381F-4D443257D9B9}"/>
              </a:ext>
            </a:extLst>
          </p:cNvPr>
          <p:cNvSpPr/>
          <p:nvPr/>
        </p:nvSpPr>
        <p:spPr>
          <a:xfrm>
            <a:off x="914400" y="9705975"/>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6" name="Text 11">
            <a:extLst>
              <a:ext uri="{FF2B5EF4-FFF2-40B4-BE49-F238E27FC236}">
                <a16:creationId xmlns:a16="http://schemas.microsoft.com/office/drawing/2014/main" id="{59D03897-3922-CF0B-09DE-FD18DCC54F53}"/>
              </a:ext>
            </a:extLst>
          </p:cNvPr>
          <p:cNvSpPr/>
          <p:nvPr/>
        </p:nvSpPr>
        <p:spPr>
          <a:xfrm>
            <a:off x="1085850" y="9658350"/>
            <a:ext cx="2276475" cy="209550"/>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Tree>
    <p:extLst>
      <p:ext uri="{BB962C8B-B14F-4D97-AF65-F5344CB8AC3E}">
        <p14:creationId xmlns:p14="http://schemas.microsoft.com/office/powerpoint/2010/main" val="6547316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CCC37616-005D-1A1F-3863-4F649D1844A8}"/>
            </a:ext>
          </a:extLst>
        </p:cNvPr>
        <p:cNvGrpSpPr/>
        <p:nvPr/>
      </p:nvGrpSpPr>
      <p:grpSpPr>
        <a:xfrm>
          <a:off x="0" y="0"/>
          <a:ext cx="0" cy="0"/>
          <a:chOff x="0" y="0"/>
          <a:chExt cx="0" cy="0"/>
        </a:xfrm>
      </p:grpSpPr>
      <p:sp>
        <p:nvSpPr>
          <p:cNvPr id="15" name="Shape 10">
            <a:extLst>
              <a:ext uri="{FF2B5EF4-FFF2-40B4-BE49-F238E27FC236}">
                <a16:creationId xmlns:a16="http://schemas.microsoft.com/office/drawing/2014/main" id="{17F892EA-0464-D94E-C2FF-620C25752FC2}"/>
              </a:ext>
            </a:extLst>
          </p:cNvPr>
          <p:cNvSpPr/>
          <p:nvPr/>
        </p:nvSpPr>
        <p:spPr>
          <a:xfrm>
            <a:off x="914400" y="9705975"/>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6" name="Text 11">
            <a:extLst>
              <a:ext uri="{FF2B5EF4-FFF2-40B4-BE49-F238E27FC236}">
                <a16:creationId xmlns:a16="http://schemas.microsoft.com/office/drawing/2014/main" id="{AA7E1B7D-5150-2AB3-C5A3-9F3FC6C0D668}"/>
              </a:ext>
            </a:extLst>
          </p:cNvPr>
          <p:cNvSpPr/>
          <p:nvPr/>
        </p:nvSpPr>
        <p:spPr>
          <a:xfrm>
            <a:off x="1085850" y="9658350"/>
            <a:ext cx="2276475" cy="209550"/>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8" name="Text 0">
            <a:extLst>
              <a:ext uri="{FF2B5EF4-FFF2-40B4-BE49-F238E27FC236}">
                <a16:creationId xmlns:a16="http://schemas.microsoft.com/office/drawing/2014/main" id="{E86F7F21-FA10-E9A3-EF60-635591FB173C}"/>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3FE0D0"/>
                </a:solidFill>
                <a:latin typeface="Inter" pitchFamily="34" charset="0"/>
                <a:ea typeface="Inter" pitchFamily="34" charset="-122"/>
                <a:cs typeface="Inter" pitchFamily="34" charset="-120"/>
              </a:rPr>
              <a:t>BONUS · WHERE IT SHINES</a:t>
            </a:r>
            <a:endParaRPr lang="en-US" sz="1350" dirty="0"/>
          </a:p>
        </p:txBody>
      </p:sp>
      <p:sp>
        <p:nvSpPr>
          <p:cNvPr id="9" name="Text 1">
            <a:extLst>
              <a:ext uri="{FF2B5EF4-FFF2-40B4-BE49-F238E27FC236}">
                <a16:creationId xmlns:a16="http://schemas.microsoft.com/office/drawing/2014/main" id="{342D511F-3318-5B6B-1D3C-08C63B87C368}"/>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Five places it earns the click.</a:t>
            </a:r>
            <a:endParaRPr lang="en-US" sz="6300" dirty="0"/>
          </a:p>
        </p:txBody>
      </p:sp>
      <p:sp>
        <p:nvSpPr>
          <p:cNvPr id="10" name="Text 2">
            <a:extLst>
              <a:ext uri="{FF2B5EF4-FFF2-40B4-BE49-F238E27FC236}">
                <a16:creationId xmlns:a16="http://schemas.microsoft.com/office/drawing/2014/main" id="{A30F7515-9339-D257-232D-8A19F2B68FEF}"/>
              </a:ext>
            </a:extLst>
          </p:cNvPr>
          <p:cNvSpPr/>
          <p:nvPr/>
        </p:nvSpPr>
        <p:spPr>
          <a:xfrm>
            <a:off x="1143000" y="2486025"/>
            <a:ext cx="12753975"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C9CBD1"/>
                </a:solidFill>
                <a:latin typeface="Inter" pitchFamily="34" charset="0"/>
                <a:ea typeface="Inter" pitchFamily="34" charset="-122"/>
                <a:cs typeface="Inter" pitchFamily="34" charset="-120"/>
              </a:rPr>
              <a:t>Beyond the obvious "make me a slide." Five real ministry use cases.</a:t>
            </a:r>
            <a:endParaRPr lang="en-US" sz="1800" dirty="0"/>
          </a:p>
        </p:txBody>
      </p:sp>
      <p:sp>
        <p:nvSpPr>
          <p:cNvPr id="17" name="Shape 3">
            <a:extLst>
              <a:ext uri="{FF2B5EF4-FFF2-40B4-BE49-F238E27FC236}">
                <a16:creationId xmlns:a16="http://schemas.microsoft.com/office/drawing/2014/main" id="{C4506615-6CDA-9288-5CE7-A29ADBB39254}"/>
              </a:ext>
            </a:extLst>
          </p:cNvPr>
          <p:cNvSpPr/>
          <p:nvPr/>
        </p:nvSpPr>
        <p:spPr>
          <a:xfrm>
            <a:off x="1143000" y="3219450"/>
            <a:ext cx="3063180" cy="3228975"/>
          </a:xfrm>
          <a:prstGeom prst="rect">
            <a:avLst/>
          </a:prstGeom>
          <a:solidFill>
            <a:srgbClr val="1B1D24"/>
          </a:solidFill>
          <a:ln/>
        </p:spPr>
        <p:txBody>
          <a:bodyPr/>
          <a:lstStyle/>
          <a:p>
            <a:endParaRPr lang="en-US"/>
          </a:p>
        </p:txBody>
      </p:sp>
      <p:sp>
        <p:nvSpPr>
          <p:cNvPr id="18" name="Shape 4">
            <a:extLst>
              <a:ext uri="{FF2B5EF4-FFF2-40B4-BE49-F238E27FC236}">
                <a16:creationId xmlns:a16="http://schemas.microsoft.com/office/drawing/2014/main" id="{2A7179DE-537B-08AA-E10F-6E213CA5CDF8}"/>
              </a:ext>
            </a:extLst>
          </p:cNvPr>
          <p:cNvSpPr/>
          <p:nvPr/>
        </p:nvSpPr>
        <p:spPr>
          <a:xfrm>
            <a:off x="1143000" y="3219450"/>
            <a:ext cx="3063180" cy="28575"/>
          </a:xfrm>
          <a:prstGeom prst="rect">
            <a:avLst/>
          </a:prstGeom>
          <a:solidFill>
            <a:srgbClr val="3FE0D0"/>
          </a:solidFill>
          <a:ln/>
        </p:spPr>
        <p:txBody>
          <a:bodyPr/>
          <a:lstStyle/>
          <a:p>
            <a:endParaRPr lang="en-US"/>
          </a:p>
        </p:txBody>
      </p:sp>
      <p:sp>
        <p:nvSpPr>
          <p:cNvPr id="19" name="Text 5">
            <a:extLst>
              <a:ext uri="{FF2B5EF4-FFF2-40B4-BE49-F238E27FC236}">
                <a16:creationId xmlns:a16="http://schemas.microsoft.com/office/drawing/2014/main" id="{FF3AE615-1FAD-5A60-BFE3-C0D505C32A9C}"/>
              </a:ext>
            </a:extLst>
          </p:cNvPr>
          <p:cNvSpPr/>
          <p:nvPr/>
        </p:nvSpPr>
        <p:spPr>
          <a:xfrm>
            <a:off x="1371600" y="3514725"/>
            <a:ext cx="2684160"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01</a:t>
            </a:r>
            <a:endParaRPr lang="en-US" sz="975" dirty="0"/>
          </a:p>
        </p:txBody>
      </p:sp>
      <p:sp>
        <p:nvSpPr>
          <p:cNvPr id="20" name="Text 6">
            <a:extLst>
              <a:ext uri="{FF2B5EF4-FFF2-40B4-BE49-F238E27FC236}">
                <a16:creationId xmlns:a16="http://schemas.microsoft.com/office/drawing/2014/main" id="{1A078E39-4E1D-6C59-A7B4-B9F43BF3A106}"/>
              </a:ext>
            </a:extLst>
          </p:cNvPr>
          <p:cNvSpPr/>
          <p:nvPr/>
        </p:nvSpPr>
        <p:spPr>
          <a:xfrm>
            <a:off x="1371600" y="3790950"/>
            <a:ext cx="2684160" cy="520005"/>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650" b="1" kern="0" spc="-16" dirty="0">
                <a:solidFill>
                  <a:srgbClr val="FFFFFF"/>
                </a:solidFill>
                <a:latin typeface="Montserrat" pitchFamily="34" charset="0"/>
                <a:ea typeface="Montserrat" pitchFamily="34" charset="-122"/>
                <a:cs typeface="Montserrat" pitchFamily="34" charset="-120"/>
              </a:rPr>
              <a:t>Capital campaign donor decks.</a:t>
            </a:r>
            <a:endParaRPr lang="en-US" sz="1650" dirty="0"/>
          </a:p>
        </p:txBody>
      </p:sp>
      <p:sp>
        <p:nvSpPr>
          <p:cNvPr id="21" name="Text 7">
            <a:extLst>
              <a:ext uri="{FF2B5EF4-FFF2-40B4-BE49-F238E27FC236}">
                <a16:creationId xmlns:a16="http://schemas.microsoft.com/office/drawing/2014/main" id="{20BA518D-320E-FDCF-9F00-EA4B9CCF3FC1}"/>
              </a:ext>
            </a:extLst>
          </p:cNvPr>
          <p:cNvSpPr/>
          <p:nvPr/>
        </p:nvSpPr>
        <p:spPr>
          <a:xfrm>
            <a:off x="1371600" y="5495925"/>
            <a:ext cx="2684160" cy="723900"/>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C9CBD1"/>
                </a:solidFill>
                <a:latin typeface="Inter" pitchFamily="34" charset="0"/>
                <a:ea typeface="Inter" pitchFamily="34" charset="-122"/>
                <a:cs typeface="Inter" pitchFamily="34" charset="-120"/>
              </a:rPr>
              <a:t>Polished pitch energy, on your church brand. First draft in ten minutes.</a:t>
            </a:r>
            <a:endParaRPr lang="en-US" sz="1200" dirty="0"/>
          </a:p>
        </p:txBody>
      </p:sp>
      <p:sp>
        <p:nvSpPr>
          <p:cNvPr id="22" name="Shape 8">
            <a:extLst>
              <a:ext uri="{FF2B5EF4-FFF2-40B4-BE49-F238E27FC236}">
                <a16:creationId xmlns:a16="http://schemas.microsoft.com/office/drawing/2014/main" id="{B1946076-45E8-3446-6101-CDA0B227E989}"/>
              </a:ext>
            </a:extLst>
          </p:cNvPr>
          <p:cNvSpPr/>
          <p:nvPr/>
        </p:nvSpPr>
        <p:spPr>
          <a:xfrm>
            <a:off x="4377630" y="3219450"/>
            <a:ext cx="3063180" cy="3228975"/>
          </a:xfrm>
          <a:prstGeom prst="rect">
            <a:avLst/>
          </a:prstGeom>
          <a:solidFill>
            <a:srgbClr val="1B1D24"/>
          </a:solidFill>
          <a:ln/>
        </p:spPr>
        <p:txBody>
          <a:bodyPr/>
          <a:lstStyle/>
          <a:p>
            <a:endParaRPr lang="en-US"/>
          </a:p>
        </p:txBody>
      </p:sp>
      <p:sp>
        <p:nvSpPr>
          <p:cNvPr id="23" name="Shape 9">
            <a:extLst>
              <a:ext uri="{FF2B5EF4-FFF2-40B4-BE49-F238E27FC236}">
                <a16:creationId xmlns:a16="http://schemas.microsoft.com/office/drawing/2014/main" id="{9CD9E4D2-9CBF-4026-C248-762D6737D927}"/>
              </a:ext>
            </a:extLst>
          </p:cNvPr>
          <p:cNvSpPr/>
          <p:nvPr/>
        </p:nvSpPr>
        <p:spPr>
          <a:xfrm>
            <a:off x="4377630" y="3219450"/>
            <a:ext cx="3063180" cy="28575"/>
          </a:xfrm>
          <a:prstGeom prst="rect">
            <a:avLst/>
          </a:prstGeom>
          <a:solidFill>
            <a:srgbClr val="3FE0D0"/>
          </a:solidFill>
          <a:ln/>
        </p:spPr>
        <p:txBody>
          <a:bodyPr/>
          <a:lstStyle/>
          <a:p>
            <a:endParaRPr lang="en-US"/>
          </a:p>
        </p:txBody>
      </p:sp>
      <p:sp>
        <p:nvSpPr>
          <p:cNvPr id="24" name="Text 10">
            <a:extLst>
              <a:ext uri="{FF2B5EF4-FFF2-40B4-BE49-F238E27FC236}">
                <a16:creationId xmlns:a16="http://schemas.microsoft.com/office/drawing/2014/main" id="{FD01383C-16D9-6722-F825-1D24056EDAF5}"/>
              </a:ext>
            </a:extLst>
          </p:cNvPr>
          <p:cNvSpPr/>
          <p:nvPr/>
        </p:nvSpPr>
        <p:spPr>
          <a:xfrm>
            <a:off x="4606230" y="3514725"/>
            <a:ext cx="2684160"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02</a:t>
            </a:r>
            <a:endParaRPr lang="en-US" sz="975" dirty="0"/>
          </a:p>
        </p:txBody>
      </p:sp>
      <p:sp>
        <p:nvSpPr>
          <p:cNvPr id="25" name="Text 11">
            <a:extLst>
              <a:ext uri="{FF2B5EF4-FFF2-40B4-BE49-F238E27FC236}">
                <a16:creationId xmlns:a16="http://schemas.microsoft.com/office/drawing/2014/main" id="{63763578-764F-C95A-3148-A955C9C83D38}"/>
              </a:ext>
            </a:extLst>
          </p:cNvPr>
          <p:cNvSpPr/>
          <p:nvPr/>
        </p:nvSpPr>
        <p:spPr>
          <a:xfrm>
            <a:off x="4606230" y="3790950"/>
            <a:ext cx="2684160" cy="520005"/>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650" b="1" kern="0" spc="-16" dirty="0">
                <a:solidFill>
                  <a:srgbClr val="FFFFFF"/>
                </a:solidFill>
                <a:latin typeface="Montserrat" pitchFamily="34" charset="0"/>
                <a:ea typeface="Montserrat" pitchFamily="34" charset="-122"/>
                <a:cs typeface="Montserrat" pitchFamily="34" charset="-120"/>
              </a:rPr>
              <a:t>Mock the tool before you build it.</a:t>
            </a:r>
            <a:endParaRPr lang="en-US" sz="1650" dirty="0"/>
          </a:p>
        </p:txBody>
      </p:sp>
      <p:sp>
        <p:nvSpPr>
          <p:cNvPr id="26" name="Text 12">
            <a:extLst>
              <a:ext uri="{FF2B5EF4-FFF2-40B4-BE49-F238E27FC236}">
                <a16:creationId xmlns:a16="http://schemas.microsoft.com/office/drawing/2014/main" id="{9863F3D1-24F8-5C7B-E23F-22DDB9832EC5}"/>
              </a:ext>
            </a:extLst>
          </p:cNvPr>
          <p:cNvSpPr/>
          <p:nvPr/>
        </p:nvSpPr>
        <p:spPr>
          <a:xfrm>
            <a:off x="4606230" y="5495925"/>
            <a:ext cx="2684160" cy="723900"/>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C9CBD1"/>
                </a:solidFill>
                <a:latin typeface="Inter" pitchFamily="34" charset="0"/>
                <a:ea typeface="Inter" pitchFamily="34" charset="-122"/>
                <a:cs typeface="Inter" pitchFamily="34" charset="-120"/>
              </a:rPr>
              <a:t>Clickable prototype → leadership walkthrough → real spec. In that order.</a:t>
            </a:r>
            <a:endParaRPr lang="en-US" sz="1200" dirty="0"/>
          </a:p>
        </p:txBody>
      </p:sp>
      <p:sp>
        <p:nvSpPr>
          <p:cNvPr id="27" name="Shape 13">
            <a:extLst>
              <a:ext uri="{FF2B5EF4-FFF2-40B4-BE49-F238E27FC236}">
                <a16:creationId xmlns:a16="http://schemas.microsoft.com/office/drawing/2014/main" id="{79F964BB-4F25-8EF5-3243-56CA3BB2E821}"/>
              </a:ext>
            </a:extLst>
          </p:cNvPr>
          <p:cNvSpPr/>
          <p:nvPr/>
        </p:nvSpPr>
        <p:spPr>
          <a:xfrm>
            <a:off x="7612261" y="3219450"/>
            <a:ext cx="3063329" cy="3228975"/>
          </a:xfrm>
          <a:prstGeom prst="rect">
            <a:avLst/>
          </a:prstGeom>
          <a:solidFill>
            <a:srgbClr val="1B1D24"/>
          </a:solidFill>
          <a:ln/>
        </p:spPr>
        <p:txBody>
          <a:bodyPr/>
          <a:lstStyle/>
          <a:p>
            <a:endParaRPr lang="en-US"/>
          </a:p>
        </p:txBody>
      </p:sp>
      <p:sp>
        <p:nvSpPr>
          <p:cNvPr id="28" name="Shape 14">
            <a:extLst>
              <a:ext uri="{FF2B5EF4-FFF2-40B4-BE49-F238E27FC236}">
                <a16:creationId xmlns:a16="http://schemas.microsoft.com/office/drawing/2014/main" id="{37C53A61-66CA-2809-65E0-6736A2A8DBC8}"/>
              </a:ext>
            </a:extLst>
          </p:cNvPr>
          <p:cNvSpPr/>
          <p:nvPr/>
        </p:nvSpPr>
        <p:spPr>
          <a:xfrm>
            <a:off x="7612261" y="3219450"/>
            <a:ext cx="3063329" cy="28575"/>
          </a:xfrm>
          <a:prstGeom prst="rect">
            <a:avLst/>
          </a:prstGeom>
          <a:solidFill>
            <a:srgbClr val="3FE0D0"/>
          </a:solidFill>
          <a:ln/>
        </p:spPr>
        <p:txBody>
          <a:bodyPr/>
          <a:lstStyle/>
          <a:p>
            <a:endParaRPr lang="en-US"/>
          </a:p>
        </p:txBody>
      </p:sp>
      <p:sp>
        <p:nvSpPr>
          <p:cNvPr id="29" name="Text 15">
            <a:extLst>
              <a:ext uri="{FF2B5EF4-FFF2-40B4-BE49-F238E27FC236}">
                <a16:creationId xmlns:a16="http://schemas.microsoft.com/office/drawing/2014/main" id="{D6B405CD-011D-450E-C788-AB35805ED697}"/>
              </a:ext>
            </a:extLst>
          </p:cNvPr>
          <p:cNvSpPr/>
          <p:nvPr/>
        </p:nvSpPr>
        <p:spPr>
          <a:xfrm>
            <a:off x="7840861" y="3514725"/>
            <a:ext cx="268431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03</a:t>
            </a:r>
            <a:endParaRPr lang="en-US" sz="975" dirty="0"/>
          </a:p>
        </p:txBody>
      </p:sp>
      <p:sp>
        <p:nvSpPr>
          <p:cNvPr id="30" name="Text 16">
            <a:extLst>
              <a:ext uri="{FF2B5EF4-FFF2-40B4-BE49-F238E27FC236}">
                <a16:creationId xmlns:a16="http://schemas.microsoft.com/office/drawing/2014/main" id="{048D0913-3F15-D17B-240C-AC30C10E6848}"/>
              </a:ext>
            </a:extLst>
          </p:cNvPr>
          <p:cNvSpPr/>
          <p:nvPr/>
        </p:nvSpPr>
        <p:spPr>
          <a:xfrm>
            <a:off x="7840861" y="3790950"/>
            <a:ext cx="2684313" cy="520005"/>
          </a:xfrm>
          <a:prstGeom prst="rect">
            <a:avLst/>
          </a:prstGeom>
          <a:noFill/>
          <a:ln/>
        </p:spPr>
        <p:txBody>
          <a:bodyPr wrap="square" lIns="25400" tIns="25400" rIns="25400" bIns="25400" rtlCol="0" anchor="t">
            <a:normAutofit/>
          </a:bodyPr>
          <a:lstStyle/>
          <a:p>
            <a:pPr marL="0" indent="0" algn="l">
              <a:lnSpc>
                <a:spcPct val="115000"/>
              </a:lnSpc>
              <a:buNone/>
            </a:pPr>
            <a:r>
              <a:rPr lang="en-US" sz="1650" b="1" kern="0" spc="-16" dirty="0">
                <a:solidFill>
                  <a:srgbClr val="FFFFFF"/>
                </a:solidFill>
                <a:latin typeface="Montserrat" pitchFamily="34" charset="0"/>
                <a:ea typeface="Montserrat" pitchFamily="34" charset="-122"/>
                <a:cs typeface="Montserrat" pitchFamily="34" charset="-120"/>
              </a:rPr>
              <a:t>Sermon series branding.</a:t>
            </a:r>
            <a:endParaRPr lang="en-US" sz="1650" dirty="0"/>
          </a:p>
        </p:txBody>
      </p:sp>
      <p:sp>
        <p:nvSpPr>
          <p:cNvPr id="31" name="Text 17">
            <a:extLst>
              <a:ext uri="{FF2B5EF4-FFF2-40B4-BE49-F238E27FC236}">
                <a16:creationId xmlns:a16="http://schemas.microsoft.com/office/drawing/2014/main" id="{91F25E90-07C9-3786-079B-DE76B0DCF9DF}"/>
              </a:ext>
            </a:extLst>
          </p:cNvPr>
          <p:cNvSpPr/>
          <p:nvPr/>
        </p:nvSpPr>
        <p:spPr>
          <a:xfrm>
            <a:off x="7840861" y="5495925"/>
            <a:ext cx="2684313" cy="72390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200" dirty="0">
                <a:solidFill>
                  <a:srgbClr val="C9CBD1"/>
                </a:solidFill>
                <a:latin typeface="Inter" pitchFamily="34" charset="0"/>
                <a:ea typeface="Inter" pitchFamily="34" charset="-122"/>
                <a:cs typeface="Inter" pitchFamily="34" charset="-120"/>
              </a:rPr>
              <a:t>Main graphic, social posts, stage backgrounds, bulletin header — one concept, full kit.</a:t>
            </a:r>
            <a:endParaRPr lang="en-US" sz="1200" dirty="0"/>
          </a:p>
        </p:txBody>
      </p:sp>
      <p:sp>
        <p:nvSpPr>
          <p:cNvPr id="32" name="Shape 18">
            <a:extLst>
              <a:ext uri="{FF2B5EF4-FFF2-40B4-BE49-F238E27FC236}">
                <a16:creationId xmlns:a16="http://schemas.microsoft.com/office/drawing/2014/main" id="{5A6DC0F1-DCBE-AF67-6C3E-501FB398C44D}"/>
              </a:ext>
            </a:extLst>
          </p:cNvPr>
          <p:cNvSpPr/>
          <p:nvPr/>
        </p:nvSpPr>
        <p:spPr>
          <a:xfrm>
            <a:off x="10847040" y="3219450"/>
            <a:ext cx="3063180" cy="3228975"/>
          </a:xfrm>
          <a:prstGeom prst="rect">
            <a:avLst/>
          </a:prstGeom>
          <a:solidFill>
            <a:srgbClr val="1B1D24"/>
          </a:solidFill>
          <a:ln/>
        </p:spPr>
        <p:txBody>
          <a:bodyPr/>
          <a:lstStyle/>
          <a:p>
            <a:endParaRPr lang="en-US"/>
          </a:p>
        </p:txBody>
      </p:sp>
      <p:sp>
        <p:nvSpPr>
          <p:cNvPr id="33" name="Shape 19">
            <a:extLst>
              <a:ext uri="{FF2B5EF4-FFF2-40B4-BE49-F238E27FC236}">
                <a16:creationId xmlns:a16="http://schemas.microsoft.com/office/drawing/2014/main" id="{79592312-7F74-B73F-E95B-21DCB778B92C}"/>
              </a:ext>
            </a:extLst>
          </p:cNvPr>
          <p:cNvSpPr/>
          <p:nvPr/>
        </p:nvSpPr>
        <p:spPr>
          <a:xfrm>
            <a:off x="10847040" y="3219450"/>
            <a:ext cx="3063180" cy="28575"/>
          </a:xfrm>
          <a:prstGeom prst="rect">
            <a:avLst/>
          </a:prstGeom>
          <a:solidFill>
            <a:srgbClr val="3FE0D0"/>
          </a:solidFill>
          <a:ln/>
        </p:spPr>
        <p:txBody>
          <a:bodyPr/>
          <a:lstStyle/>
          <a:p>
            <a:endParaRPr lang="en-US"/>
          </a:p>
        </p:txBody>
      </p:sp>
      <p:sp>
        <p:nvSpPr>
          <p:cNvPr id="34" name="Text 20">
            <a:extLst>
              <a:ext uri="{FF2B5EF4-FFF2-40B4-BE49-F238E27FC236}">
                <a16:creationId xmlns:a16="http://schemas.microsoft.com/office/drawing/2014/main" id="{C593A1A8-4BEE-6C3C-20A9-F62523D889AD}"/>
              </a:ext>
            </a:extLst>
          </p:cNvPr>
          <p:cNvSpPr/>
          <p:nvPr/>
        </p:nvSpPr>
        <p:spPr>
          <a:xfrm>
            <a:off x="11075640" y="3514725"/>
            <a:ext cx="2684160"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04</a:t>
            </a:r>
            <a:endParaRPr lang="en-US" sz="975" dirty="0"/>
          </a:p>
        </p:txBody>
      </p:sp>
      <p:sp>
        <p:nvSpPr>
          <p:cNvPr id="35" name="Text 21">
            <a:extLst>
              <a:ext uri="{FF2B5EF4-FFF2-40B4-BE49-F238E27FC236}">
                <a16:creationId xmlns:a16="http://schemas.microsoft.com/office/drawing/2014/main" id="{00046646-C1CF-F45D-EC5F-D115BD6B67EF}"/>
              </a:ext>
            </a:extLst>
          </p:cNvPr>
          <p:cNvSpPr/>
          <p:nvPr/>
        </p:nvSpPr>
        <p:spPr>
          <a:xfrm>
            <a:off x="11075640" y="3790950"/>
            <a:ext cx="2684160" cy="520005"/>
          </a:xfrm>
          <a:prstGeom prst="rect">
            <a:avLst/>
          </a:prstGeom>
          <a:noFill/>
          <a:ln/>
        </p:spPr>
        <p:txBody>
          <a:bodyPr wrap="square" lIns="25400" tIns="25400" rIns="25400" bIns="25400" rtlCol="0" anchor="t">
            <a:normAutofit fontScale="92500"/>
          </a:bodyPr>
          <a:lstStyle/>
          <a:p>
            <a:pPr marL="0" indent="0" algn="l">
              <a:lnSpc>
                <a:spcPct val="115000"/>
              </a:lnSpc>
              <a:buNone/>
            </a:pPr>
            <a:r>
              <a:rPr lang="en-US" sz="1650" b="1" kern="0" spc="-16" dirty="0">
                <a:solidFill>
                  <a:srgbClr val="FFFFFF"/>
                </a:solidFill>
                <a:latin typeface="Montserrat" pitchFamily="34" charset="0"/>
                <a:ea typeface="Montserrat" pitchFamily="34" charset="-122"/>
                <a:cs typeface="Montserrat" pitchFamily="34" charset="-120"/>
              </a:rPr>
              <a:t>Onboard a new volunteer.</a:t>
            </a:r>
            <a:endParaRPr lang="en-US" sz="1650" dirty="0"/>
          </a:p>
        </p:txBody>
      </p:sp>
      <p:sp>
        <p:nvSpPr>
          <p:cNvPr id="36" name="Text 22">
            <a:extLst>
              <a:ext uri="{FF2B5EF4-FFF2-40B4-BE49-F238E27FC236}">
                <a16:creationId xmlns:a16="http://schemas.microsoft.com/office/drawing/2014/main" id="{E60C7C14-3420-CF84-50ED-A95F5C539DB0}"/>
              </a:ext>
            </a:extLst>
          </p:cNvPr>
          <p:cNvSpPr/>
          <p:nvPr/>
        </p:nvSpPr>
        <p:spPr>
          <a:xfrm>
            <a:off x="11075640" y="5495925"/>
            <a:ext cx="2684160" cy="72390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200" dirty="0">
                <a:solidFill>
                  <a:srgbClr val="C9CBD1"/>
                </a:solidFill>
                <a:latin typeface="Inter" pitchFamily="34" charset="0"/>
                <a:ea typeface="Inter" pitchFamily="34" charset="-122"/>
                <a:cs typeface="Inter" pitchFamily="34" charset="-120"/>
              </a:rPr>
              <a:t>Short, interactive walkthrough for check-in or first-impressions. Posted as an internal link.</a:t>
            </a:r>
            <a:endParaRPr lang="en-US" sz="1200" dirty="0"/>
          </a:p>
        </p:txBody>
      </p:sp>
      <p:sp>
        <p:nvSpPr>
          <p:cNvPr id="37" name="Shape 23">
            <a:extLst>
              <a:ext uri="{FF2B5EF4-FFF2-40B4-BE49-F238E27FC236}">
                <a16:creationId xmlns:a16="http://schemas.microsoft.com/office/drawing/2014/main" id="{FB2E800B-F9CE-355A-AC29-E9E25028CD7C}"/>
              </a:ext>
            </a:extLst>
          </p:cNvPr>
          <p:cNvSpPr/>
          <p:nvPr/>
        </p:nvSpPr>
        <p:spPr>
          <a:xfrm>
            <a:off x="14081671" y="3219450"/>
            <a:ext cx="3063329" cy="3228975"/>
          </a:xfrm>
          <a:prstGeom prst="rect">
            <a:avLst/>
          </a:prstGeom>
          <a:solidFill>
            <a:srgbClr val="1B1D24"/>
          </a:solidFill>
          <a:ln/>
        </p:spPr>
        <p:txBody>
          <a:bodyPr/>
          <a:lstStyle/>
          <a:p>
            <a:endParaRPr lang="en-US"/>
          </a:p>
        </p:txBody>
      </p:sp>
      <p:sp>
        <p:nvSpPr>
          <p:cNvPr id="38" name="Shape 24">
            <a:extLst>
              <a:ext uri="{FF2B5EF4-FFF2-40B4-BE49-F238E27FC236}">
                <a16:creationId xmlns:a16="http://schemas.microsoft.com/office/drawing/2014/main" id="{A5BA5BE3-4EFA-D11A-6F42-20AB44232853}"/>
              </a:ext>
            </a:extLst>
          </p:cNvPr>
          <p:cNvSpPr/>
          <p:nvPr/>
        </p:nvSpPr>
        <p:spPr>
          <a:xfrm>
            <a:off x="14081671" y="3219450"/>
            <a:ext cx="3063329" cy="28575"/>
          </a:xfrm>
          <a:prstGeom prst="rect">
            <a:avLst/>
          </a:prstGeom>
          <a:solidFill>
            <a:srgbClr val="F58220"/>
          </a:solidFill>
          <a:ln/>
        </p:spPr>
        <p:txBody>
          <a:bodyPr/>
          <a:lstStyle/>
          <a:p>
            <a:endParaRPr lang="en-US"/>
          </a:p>
        </p:txBody>
      </p:sp>
      <p:sp>
        <p:nvSpPr>
          <p:cNvPr id="39" name="Text 25">
            <a:extLst>
              <a:ext uri="{FF2B5EF4-FFF2-40B4-BE49-F238E27FC236}">
                <a16:creationId xmlns:a16="http://schemas.microsoft.com/office/drawing/2014/main" id="{9F9D9EAE-3C12-B8B7-EC97-6D241E277D5E}"/>
              </a:ext>
            </a:extLst>
          </p:cNvPr>
          <p:cNvSpPr/>
          <p:nvPr/>
        </p:nvSpPr>
        <p:spPr>
          <a:xfrm>
            <a:off x="14310271" y="3514725"/>
            <a:ext cx="2684313" cy="200025"/>
          </a:xfrm>
          <a:prstGeom prst="rect">
            <a:avLst/>
          </a:prstGeom>
          <a:noFill/>
          <a:ln/>
        </p:spPr>
        <p:txBody>
          <a:bodyPr wrap="square" lIns="25400" tIns="25400" rIns="25400" bIns="25400" rtlCol="0" anchor="t">
            <a:normAutofit/>
          </a:bodyPr>
          <a:lstStyle/>
          <a:p>
            <a:pPr marL="0" indent="0" algn="l">
              <a:buNone/>
            </a:pPr>
            <a:r>
              <a:rPr lang="en-US" sz="975" kern="0" spc="215" dirty="0">
                <a:solidFill>
                  <a:srgbClr val="9A9CA4"/>
                </a:solidFill>
                <a:latin typeface="JetBrains Mono" pitchFamily="34" charset="0"/>
                <a:ea typeface="JetBrains Mono" pitchFamily="34" charset="-122"/>
                <a:cs typeface="JetBrains Mono" pitchFamily="34" charset="-120"/>
              </a:rPr>
              <a:t>05</a:t>
            </a:r>
            <a:endParaRPr lang="en-US" sz="975" dirty="0"/>
          </a:p>
        </p:txBody>
      </p:sp>
      <p:sp>
        <p:nvSpPr>
          <p:cNvPr id="40" name="Text 26">
            <a:extLst>
              <a:ext uri="{FF2B5EF4-FFF2-40B4-BE49-F238E27FC236}">
                <a16:creationId xmlns:a16="http://schemas.microsoft.com/office/drawing/2014/main" id="{69FBCEE0-FA2D-C2D7-7D47-17B574F12F55}"/>
              </a:ext>
            </a:extLst>
          </p:cNvPr>
          <p:cNvSpPr/>
          <p:nvPr/>
        </p:nvSpPr>
        <p:spPr>
          <a:xfrm>
            <a:off x="14310271" y="3790950"/>
            <a:ext cx="2684313" cy="27905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650" b="1" kern="0" spc="-16" dirty="0">
                <a:solidFill>
                  <a:srgbClr val="FFFFFF"/>
                </a:solidFill>
                <a:latin typeface="Montserrat" pitchFamily="34" charset="0"/>
                <a:ea typeface="Montserrat" pitchFamily="34" charset="-122"/>
                <a:cs typeface="Montserrat" pitchFamily="34" charset="-120"/>
              </a:rPr>
              <a:t>The annual report.</a:t>
            </a:r>
            <a:endParaRPr lang="en-US" sz="1650" dirty="0"/>
          </a:p>
        </p:txBody>
      </p:sp>
      <p:sp>
        <p:nvSpPr>
          <p:cNvPr id="41" name="Text 27">
            <a:extLst>
              <a:ext uri="{FF2B5EF4-FFF2-40B4-BE49-F238E27FC236}">
                <a16:creationId xmlns:a16="http://schemas.microsoft.com/office/drawing/2014/main" id="{38F2C751-F26E-E3AF-1CD0-0D5BDC0B5889}"/>
              </a:ext>
            </a:extLst>
          </p:cNvPr>
          <p:cNvSpPr/>
          <p:nvPr/>
        </p:nvSpPr>
        <p:spPr>
          <a:xfrm>
            <a:off x="14310271" y="5267325"/>
            <a:ext cx="2684313" cy="952500"/>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C9CBD1"/>
                </a:solidFill>
                <a:latin typeface="Inter" pitchFamily="34" charset="0"/>
                <a:ea typeface="Inter" pitchFamily="34" charset="-122"/>
                <a:cs typeface="Inter" pitchFamily="34" charset="-120"/>
              </a:rPr>
              <a:t>Every nonprofit owes one. Nobody enjoys making it. Design does the layout. You bring the numbers and stories.</a:t>
            </a:r>
            <a:endParaRPr lang="en-US" sz="1200" dirty="0"/>
          </a:p>
        </p:txBody>
      </p:sp>
    </p:spTree>
    <p:extLst>
      <p:ext uri="{BB962C8B-B14F-4D97-AF65-F5344CB8AC3E}">
        <p14:creationId xmlns:p14="http://schemas.microsoft.com/office/powerpoint/2010/main" val="30759423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a:extLst>
            <a:ext uri="{FF2B5EF4-FFF2-40B4-BE49-F238E27FC236}">
              <a16:creationId xmlns:a16="http://schemas.microsoft.com/office/drawing/2014/main" id="{67391A4F-5D67-A978-4F6A-88299FA45B32}"/>
            </a:ext>
          </a:extLst>
        </p:cNvPr>
        <p:cNvGrpSpPr/>
        <p:nvPr/>
      </p:nvGrpSpPr>
      <p:grpSpPr>
        <a:xfrm>
          <a:off x="0" y="0"/>
          <a:ext cx="0" cy="0"/>
          <a:chOff x="0" y="0"/>
          <a:chExt cx="0" cy="0"/>
        </a:xfrm>
      </p:grpSpPr>
      <p:sp>
        <p:nvSpPr>
          <p:cNvPr id="7" name="Text 0">
            <a:extLst>
              <a:ext uri="{FF2B5EF4-FFF2-40B4-BE49-F238E27FC236}">
                <a16:creationId xmlns:a16="http://schemas.microsoft.com/office/drawing/2014/main" id="{25F63928-2DC8-C331-8637-62900A4A9837}"/>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BONUS · THINGS TO KNOW GOING IN</a:t>
            </a:r>
            <a:endParaRPr lang="en-US" sz="1350" dirty="0"/>
          </a:p>
        </p:txBody>
      </p:sp>
      <p:sp>
        <p:nvSpPr>
          <p:cNvPr id="11" name="Text 1">
            <a:extLst>
              <a:ext uri="{FF2B5EF4-FFF2-40B4-BE49-F238E27FC236}">
                <a16:creationId xmlns:a16="http://schemas.microsoft.com/office/drawing/2014/main" id="{40104216-2B6C-A88B-1481-65FF1AC5E954}"/>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14161C"/>
                </a:solidFill>
                <a:latin typeface="Montserrat" pitchFamily="34" charset="0"/>
                <a:ea typeface="Montserrat" pitchFamily="34" charset="-122"/>
                <a:cs typeface="Montserrat" pitchFamily="34" charset="-120"/>
              </a:rPr>
              <a:t>It's brand new. Set it up like it matters.</a:t>
            </a:r>
            <a:endParaRPr lang="en-US" sz="6300" dirty="0"/>
          </a:p>
        </p:txBody>
      </p:sp>
      <p:sp>
        <p:nvSpPr>
          <p:cNvPr id="15" name="Text 2">
            <a:extLst>
              <a:ext uri="{FF2B5EF4-FFF2-40B4-BE49-F238E27FC236}">
                <a16:creationId xmlns:a16="http://schemas.microsoft.com/office/drawing/2014/main" id="{4258423B-DB16-94C0-4274-0D56232DA1F2}"/>
              </a:ext>
            </a:extLst>
          </p:cNvPr>
          <p:cNvSpPr/>
          <p:nvPr/>
        </p:nvSpPr>
        <p:spPr>
          <a:xfrm>
            <a:off x="1143000" y="2543175"/>
            <a:ext cx="1275397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3A3D49"/>
                </a:solidFill>
                <a:latin typeface="Inter" pitchFamily="34" charset="0"/>
                <a:ea typeface="Inter" pitchFamily="34" charset="-122"/>
                <a:cs typeface="Inter" pitchFamily="34" charset="-120"/>
              </a:rPr>
              <a:t>Four things to know before you walk through this door.</a:t>
            </a:r>
            <a:endParaRPr lang="en-US" sz="1950" dirty="0"/>
          </a:p>
        </p:txBody>
      </p:sp>
      <p:sp>
        <p:nvSpPr>
          <p:cNvPr id="19" name="Shape 3">
            <a:extLst>
              <a:ext uri="{FF2B5EF4-FFF2-40B4-BE49-F238E27FC236}">
                <a16:creationId xmlns:a16="http://schemas.microsoft.com/office/drawing/2014/main" id="{96CED962-7C7D-8988-03DD-CD82ACDF0C4C}"/>
              </a:ext>
            </a:extLst>
          </p:cNvPr>
          <p:cNvSpPr/>
          <p:nvPr/>
        </p:nvSpPr>
        <p:spPr>
          <a:xfrm>
            <a:off x="1143000" y="4497586"/>
            <a:ext cx="14287500" cy="9525"/>
          </a:xfrm>
          <a:prstGeom prst="rect">
            <a:avLst/>
          </a:prstGeom>
          <a:solidFill>
            <a:srgbClr val="14161C">
              <a:alpha val="20000"/>
            </a:srgbClr>
          </a:solidFill>
          <a:ln/>
        </p:spPr>
        <p:txBody>
          <a:bodyPr/>
          <a:lstStyle/>
          <a:p>
            <a:endParaRPr lang="en-US"/>
          </a:p>
        </p:txBody>
      </p:sp>
      <p:sp>
        <p:nvSpPr>
          <p:cNvPr id="23" name="Text 4">
            <a:extLst>
              <a:ext uri="{FF2B5EF4-FFF2-40B4-BE49-F238E27FC236}">
                <a16:creationId xmlns:a16="http://schemas.microsoft.com/office/drawing/2014/main" id="{075E881F-5515-58F0-E13E-0D84FEDDB2B2}"/>
              </a:ext>
            </a:extLst>
          </p:cNvPr>
          <p:cNvSpPr/>
          <p:nvPr/>
        </p:nvSpPr>
        <p:spPr>
          <a:xfrm>
            <a:off x="1143000" y="3686175"/>
            <a:ext cx="1219200" cy="200025"/>
          </a:xfrm>
          <a:prstGeom prst="rect">
            <a:avLst/>
          </a:prstGeom>
          <a:noFill/>
          <a:ln/>
        </p:spPr>
        <p:txBody>
          <a:bodyPr wrap="square" lIns="25400" tIns="25400" rIns="25400" bIns="25400" rtlCol="0" anchor="t">
            <a:normAutofit/>
          </a:bodyPr>
          <a:lstStyle/>
          <a:p>
            <a:pPr marL="0" indent="0" algn="l">
              <a:buNone/>
            </a:pPr>
            <a:r>
              <a:rPr lang="en-US" sz="975" b="1" kern="0" spc="176" dirty="0">
                <a:solidFill>
                  <a:srgbClr val="F58220"/>
                </a:solidFill>
                <a:latin typeface="JetBrains Mono" pitchFamily="34" charset="0"/>
                <a:ea typeface="JetBrains Mono" pitchFamily="34" charset="-122"/>
                <a:cs typeface="JetBrains Mono" pitchFamily="34" charset="-120"/>
              </a:rPr>
              <a:t>ROUGH EDGES</a:t>
            </a:r>
            <a:endParaRPr lang="en-US" sz="975" dirty="0"/>
          </a:p>
        </p:txBody>
      </p:sp>
      <p:sp>
        <p:nvSpPr>
          <p:cNvPr id="24" name="Text 5">
            <a:extLst>
              <a:ext uri="{FF2B5EF4-FFF2-40B4-BE49-F238E27FC236}">
                <a16:creationId xmlns:a16="http://schemas.microsoft.com/office/drawing/2014/main" id="{D221A047-DCF1-0937-53A9-3788BD59BFDA}"/>
              </a:ext>
            </a:extLst>
          </p:cNvPr>
          <p:cNvSpPr/>
          <p:nvPr/>
        </p:nvSpPr>
        <p:spPr>
          <a:xfrm>
            <a:off x="2590800" y="3562350"/>
            <a:ext cx="13224891"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b="1" kern="0" spc="-19" dirty="0">
                <a:solidFill>
                  <a:srgbClr val="14161C"/>
                </a:solidFill>
                <a:latin typeface="Montserrat" pitchFamily="34" charset="0"/>
                <a:ea typeface="Montserrat" pitchFamily="34" charset="-122"/>
                <a:cs typeface="Montserrat" pitchFamily="34" charset="-120"/>
              </a:rPr>
              <a:t>Still has bugs — comments occasionally disappear, certain views can throw save errors. </a:t>
            </a:r>
            <a:r>
              <a:rPr lang="en-US" sz="1950" b="1" kern="0" spc="-19" dirty="0">
                <a:solidFill>
                  <a:srgbClr val="F58220"/>
                </a:solidFill>
                <a:latin typeface="Montserrat" pitchFamily="34" charset="0"/>
                <a:ea typeface="Montserrat" pitchFamily="34" charset="-122"/>
                <a:cs typeface="Montserrat" pitchFamily="34" charset="-120"/>
              </a:rPr>
              <a:t>Don't trust it as your only copy.</a:t>
            </a:r>
            <a:endParaRPr lang="en-US" sz="1950" dirty="0"/>
          </a:p>
        </p:txBody>
      </p:sp>
      <p:sp>
        <p:nvSpPr>
          <p:cNvPr id="25" name="Shape 6">
            <a:extLst>
              <a:ext uri="{FF2B5EF4-FFF2-40B4-BE49-F238E27FC236}">
                <a16:creationId xmlns:a16="http://schemas.microsoft.com/office/drawing/2014/main" id="{E4E511AF-9708-C37D-2F2B-4320CD7A3F3F}"/>
              </a:ext>
            </a:extLst>
          </p:cNvPr>
          <p:cNvSpPr/>
          <p:nvPr/>
        </p:nvSpPr>
        <p:spPr>
          <a:xfrm>
            <a:off x="1143000" y="5709047"/>
            <a:ext cx="14287500" cy="9525"/>
          </a:xfrm>
          <a:prstGeom prst="rect">
            <a:avLst/>
          </a:prstGeom>
          <a:solidFill>
            <a:srgbClr val="14161C">
              <a:alpha val="20000"/>
            </a:srgbClr>
          </a:solidFill>
          <a:ln/>
        </p:spPr>
        <p:txBody>
          <a:bodyPr/>
          <a:lstStyle/>
          <a:p>
            <a:endParaRPr lang="en-US"/>
          </a:p>
        </p:txBody>
      </p:sp>
      <p:sp>
        <p:nvSpPr>
          <p:cNvPr id="27" name="Text 7">
            <a:extLst>
              <a:ext uri="{FF2B5EF4-FFF2-40B4-BE49-F238E27FC236}">
                <a16:creationId xmlns:a16="http://schemas.microsoft.com/office/drawing/2014/main" id="{79A487BC-D0AE-C8D4-261E-3D0E4E823600}"/>
              </a:ext>
            </a:extLst>
          </p:cNvPr>
          <p:cNvSpPr/>
          <p:nvPr/>
        </p:nvSpPr>
        <p:spPr>
          <a:xfrm>
            <a:off x="1143000" y="4897636"/>
            <a:ext cx="1219200" cy="200025"/>
          </a:xfrm>
          <a:prstGeom prst="rect">
            <a:avLst/>
          </a:prstGeom>
          <a:noFill/>
          <a:ln/>
        </p:spPr>
        <p:txBody>
          <a:bodyPr wrap="square" lIns="25400" tIns="25400" rIns="25400" bIns="25400" rtlCol="0" anchor="t">
            <a:normAutofit/>
          </a:bodyPr>
          <a:lstStyle/>
          <a:p>
            <a:pPr marL="0" indent="0" algn="l">
              <a:buNone/>
            </a:pPr>
            <a:r>
              <a:rPr lang="en-US" sz="975" b="1" kern="0" spc="176" dirty="0">
                <a:solidFill>
                  <a:srgbClr val="F58220"/>
                </a:solidFill>
                <a:latin typeface="JetBrains Mono" pitchFamily="34" charset="0"/>
                <a:ea typeface="JetBrains Mono" pitchFamily="34" charset="-122"/>
                <a:cs typeface="JetBrains Mono" pitchFamily="34" charset="-120"/>
              </a:rPr>
              <a:t>FIRST DRAFT</a:t>
            </a:r>
            <a:endParaRPr lang="en-US" sz="975" dirty="0"/>
          </a:p>
        </p:txBody>
      </p:sp>
      <p:sp>
        <p:nvSpPr>
          <p:cNvPr id="28" name="Text 8">
            <a:extLst>
              <a:ext uri="{FF2B5EF4-FFF2-40B4-BE49-F238E27FC236}">
                <a16:creationId xmlns:a16="http://schemas.microsoft.com/office/drawing/2014/main" id="{BEF03D69-C9A4-1ED7-A5E4-F0AB6B43738A}"/>
              </a:ext>
            </a:extLst>
          </p:cNvPr>
          <p:cNvSpPr/>
          <p:nvPr/>
        </p:nvSpPr>
        <p:spPr>
          <a:xfrm>
            <a:off x="2590800" y="4773811"/>
            <a:ext cx="13224891"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b="1" kern="0" spc="-19" dirty="0">
                <a:solidFill>
                  <a:srgbClr val="14161C"/>
                </a:solidFill>
                <a:latin typeface="Montserrat" pitchFamily="34" charset="0"/>
                <a:ea typeface="Montserrat" pitchFamily="34" charset="-122"/>
                <a:cs typeface="Montserrat" pitchFamily="34" charset="-120"/>
              </a:rPr>
              <a:t>The first thing it makes will look interesting but won't always communicate well — especially with charts and data. </a:t>
            </a:r>
            <a:r>
              <a:rPr lang="en-US" sz="1950" b="1" kern="0" spc="-19" dirty="0">
                <a:solidFill>
                  <a:srgbClr val="F58220"/>
                </a:solidFill>
                <a:latin typeface="Montserrat" pitchFamily="34" charset="0"/>
                <a:ea typeface="Montserrat" pitchFamily="34" charset="-122"/>
                <a:cs typeface="Montserrat" pitchFamily="34" charset="-120"/>
              </a:rPr>
              <a:t>Plan to push back.</a:t>
            </a:r>
            <a:endParaRPr lang="en-US" sz="1950" dirty="0"/>
          </a:p>
        </p:txBody>
      </p:sp>
      <p:sp>
        <p:nvSpPr>
          <p:cNvPr id="29" name="Shape 9">
            <a:extLst>
              <a:ext uri="{FF2B5EF4-FFF2-40B4-BE49-F238E27FC236}">
                <a16:creationId xmlns:a16="http://schemas.microsoft.com/office/drawing/2014/main" id="{075D5890-9DBD-970E-CAD8-65B19599C7FC}"/>
              </a:ext>
            </a:extLst>
          </p:cNvPr>
          <p:cNvSpPr/>
          <p:nvPr/>
        </p:nvSpPr>
        <p:spPr>
          <a:xfrm>
            <a:off x="1143000" y="6586240"/>
            <a:ext cx="14287500" cy="9525"/>
          </a:xfrm>
          <a:prstGeom prst="rect">
            <a:avLst/>
          </a:prstGeom>
          <a:solidFill>
            <a:srgbClr val="14161C">
              <a:alpha val="20000"/>
            </a:srgbClr>
          </a:solidFill>
          <a:ln/>
        </p:spPr>
        <p:txBody>
          <a:bodyPr/>
          <a:lstStyle/>
          <a:p>
            <a:endParaRPr lang="en-US"/>
          </a:p>
        </p:txBody>
      </p:sp>
      <p:sp>
        <p:nvSpPr>
          <p:cNvPr id="30" name="Text 10">
            <a:extLst>
              <a:ext uri="{FF2B5EF4-FFF2-40B4-BE49-F238E27FC236}">
                <a16:creationId xmlns:a16="http://schemas.microsoft.com/office/drawing/2014/main" id="{6B013E55-0A21-0083-E670-3C470C2B6FC6}"/>
              </a:ext>
            </a:extLst>
          </p:cNvPr>
          <p:cNvSpPr/>
          <p:nvPr/>
        </p:nvSpPr>
        <p:spPr>
          <a:xfrm>
            <a:off x="1143000" y="6109097"/>
            <a:ext cx="1219200" cy="200025"/>
          </a:xfrm>
          <a:prstGeom prst="rect">
            <a:avLst/>
          </a:prstGeom>
          <a:noFill/>
          <a:ln/>
        </p:spPr>
        <p:txBody>
          <a:bodyPr wrap="square" lIns="25400" tIns="25400" rIns="25400" bIns="25400" rtlCol="0" anchor="t">
            <a:normAutofit/>
          </a:bodyPr>
          <a:lstStyle/>
          <a:p>
            <a:pPr marL="0" indent="0" algn="l">
              <a:buNone/>
            </a:pPr>
            <a:r>
              <a:rPr lang="en-US" sz="975" b="1" kern="0" spc="176" dirty="0">
                <a:solidFill>
                  <a:srgbClr val="F58220"/>
                </a:solidFill>
                <a:latin typeface="JetBrains Mono" pitchFamily="34" charset="0"/>
                <a:ea typeface="JetBrains Mono" pitchFamily="34" charset="-122"/>
                <a:cs typeface="JetBrains Mono" pitchFamily="34" charset="-120"/>
              </a:rPr>
              <a:t>ENTERPRISE</a:t>
            </a:r>
            <a:endParaRPr lang="en-US" sz="975" dirty="0"/>
          </a:p>
        </p:txBody>
      </p:sp>
      <p:sp>
        <p:nvSpPr>
          <p:cNvPr id="31" name="Text 11">
            <a:extLst>
              <a:ext uri="{FF2B5EF4-FFF2-40B4-BE49-F238E27FC236}">
                <a16:creationId xmlns:a16="http://schemas.microsoft.com/office/drawing/2014/main" id="{AD0D6C94-7410-1712-091C-1DD3F4F006FC}"/>
              </a:ext>
            </a:extLst>
          </p:cNvPr>
          <p:cNvSpPr/>
          <p:nvPr/>
        </p:nvSpPr>
        <p:spPr>
          <a:xfrm>
            <a:off x="2590800" y="5985272"/>
            <a:ext cx="13224891"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kern="0" spc="-19" dirty="0">
                <a:solidFill>
                  <a:srgbClr val="14161C"/>
                </a:solidFill>
                <a:latin typeface="Montserrat" pitchFamily="34" charset="0"/>
                <a:ea typeface="Montserrat" pitchFamily="34" charset="-122"/>
                <a:cs typeface="Montserrat" pitchFamily="34" charset="-120"/>
              </a:rPr>
              <a:t>For business plans, it's </a:t>
            </a:r>
            <a:r>
              <a:rPr lang="en-US" sz="1950" b="1" kern="0" spc="-19" dirty="0">
                <a:solidFill>
                  <a:srgbClr val="F58220"/>
                </a:solidFill>
                <a:latin typeface="Montserrat" pitchFamily="34" charset="0"/>
                <a:ea typeface="Montserrat" pitchFamily="34" charset="-122"/>
                <a:cs typeface="Montserrat" pitchFamily="34" charset="-120"/>
              </a:rPr>
              <a:t>turned off by default </a:t>
            </a:r>
            <a:r>
              <a:rPr lang="en-US" sz="1950" b="1" kern="0" spc="-19" dirty="0">
                <a:solidFill>
                  <a:srgbClr val="14161C"/>
                </a:solidFill>
                <a:latin typeface="Montserrat" pitchFamily="34" charset="0"/>
                <a:ea typeface="Montserrat" pitchFamily="34" charset="-122"/>
                <a:cs typeface="Montserrat" pitchFamily="34" charset="-120"/>
              </a:rPr>
              <a:t>— an admin has to flip it on.</a:t>
            </a:r>
            <a:endParaRPr lang="en-US" sz="1950" dirty="0"/>
          </a:p>
        </p:txBody>
      </p:sp>
      <p:sp>
        <p:nvSpPr>
          <p:cNvPr id="32" name="Text 12">
            <a:extLst>
              <a:ext uri="{FF2B5EF4-FFF2-40B4-BE49-F238E27FC236}">
                <a16:creationId xmlns:a16="http://schemas.microsoft.com/office/drawing/2014/main" id="{83FF97CD-3DA1-ED86-BBC9-E4F3B5035511}"/>
              </a:ext>
            </a:extLst>
          </p:cNvPr>
          <p:cNvSpPr/>
          <p:nvPr/>
        </p:nvSpPr>
        <p:spPr>
          <a:xfrm>
            <a:off x="1143000" y="6986290"/>
            <a:ext cx="1219200" cy="361950"/>
          </a:xfrm>
          <a:prstGeom prst="rect">
            <a:avLst/>
          </a:prstGeom>
          <a:noFill/>
          <a:ln/>
        </p:spPr>
        <p:txBody>
          <a:bodyPr wrap="square" lIns="25400" tIns="25400" rIns="25400" bIns="25400" rtlCol="0" anchor="t">
            <a:normAutofit/>
          </a:bodyPr>
          <a:lstStyle/>
          <a:p>
            <a:pPr marL="0" indent="0" algn="l">
              <a:buNone/>
            </a:pPr>
            <a:r>
              <a:rPr lang="en-US" sz="975" b="1" kern="0" spc="176" dirty="0">
                <a:solidFill>
                  <a:srgbClr val="F58220"/>
                </a:solidFill>
                <a:latin typeface="JetBrains Mono" pitchFamily="34" charset="0"/>
                <a:ea typeface="JetBrains Mono" pitchFamily="34" charset="-122"/>
                <a:cs typeface="JetBrains Mono" pitchFamily="34" charset="-120"/>
              </a:rPr>
              <a:t>SETUP MATTERS</a:t>
            </a:r>
            <a:endParaRPr lang="en-US" sz="975" dirty="0"/>
          </a:p>
        </p:txBody>
      </p:sp>
      <p:sp>
        <p:nvSpPr>
          <p:cNvPr id="33" name="Text 13">
            <a:extLst>
              <a:ext uri="{FF2B5EF4-FFF2-40B4-BE49-F238E27FC236}">
                <a16:creationId xmlns:a16="http://schemas.microsoft.com/office/drawing/2014/main" id="{55D285A3-F7D8-6697-A0F7-ED1100201CC7}"/>
              </a:ext>
            </a:extLst>
          </p:cNvPr>
          <p:cNvSpPr/>
          <p:nvPr/>
        </p:nvSpPr>
        <p:spPr>
          <a:xfrm>
            <a:off x="2590800" y="6862465"/>
            <a:ext cx="13224891"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b="1" kern="0" spc="-19" dirty="0">
                <a:solidFill>
                  <a:srgbClr val="14161C"/>
                </a:solidFill>
                <a:latin typeface="Montserrat" pitchFamily="34" charset="0"/>
                <a:ea typeface="Montserrat" pitchFamily="34" charset="-122"/>
                <a:cs typeface="Montserrat" pitchFamily="34" charset="-120"/>
              </a:rPr>
              <a:t>It doesn't know your church. Without your brand and aesthetic up front, it'll default to </a:t>
            </a:r>
            <a:r>
              <a:rPr lang="en-US" sz="1950" b="1" kern="0" spc="-19" dirty="0">
                <a:solidFill>
                  <a:srgbClr val="F58220"/>
                </a:solidFill>
                <a:latin typeface="Montserrat" pitchFamily="34" charset="0"/>
                <a:ea typeface="Montserrat" pitchFamily="34" charset="-122"/>
                <a:cs typeface="Montserrat" pitchFamily="34" charset="-120"/>
              </a:rPr>
              <a:t>stock-photo-cathedral vibes. </a:t>
            </a:r>
            <a:r>
              <a:rPr lang="en-US" sz="1950" b="1" kern="0" spc="-19" dirty="0">
                <a:solidFill>
                  <a:srgbClr val="14161C"/>
                </a:solidFill>
                <a:latin typeface="Montserrat" pitchFamily="34" charset="0"/>
                <a:ea typeface="Montserrat" pitchFamily="34" charset="-122"/>
                <a:cs typeface="Montserrat" pitchFamily="34" charset="-120"/>
              </a:rPr>
              <a:t>Setup matters more here than anywhere else.</a:t>
            </a:r>
            <a:endParaRPr lang="en-US" sz="1950" dirty="0"/>
          </a:p>
        </p:txBody>
      </p:sp>
    </p:spTree>
    <p:extLst>
      <p:ext uri="{BB962C8B-B14F-4D97-AF65-F5344CB8AC3E}">
        <p14:creationId xmlns:p14="http://schemas.microsoft.com/office/powerpoint/2010/main" val="29433431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
          <a:extLst>
            <a:ext uri="{FF2B5EF4-FFF2-40B4-BE49-F238E27FC236}">
              <a16:creationId xmlns:a16="http://schemas.microsoft.com/office/drawing/2014/main" id="{B849A76C-60E8-45E5-B66B-C1320F135226}"/>
            </a:ext>
          </a:extLst>
        </p:cNvPr>
        <p:cNvGrpSpPr/>
        <p:nvPr/>
      </p:nvGrpSpPr>
      <p:grpSpPr>
        <a:xfrm>
          <a:off x="0" y="0"/>
          <a:ext cx="0" cy="0"/>
          <a:chOff x="0" y="0"/>
          <a:chExt cx="0" cy="0"/>
        </a:xfrm>
      </p:grpSpPr>
      <p:sp>
        <p:nvSpPr>
          <p:cNvPr id="15" name="Shape 10">
            <a:extLst>
              <a:ext uri="{FF2B5EF4-FFF2-40B4-BE49-F238E27FC236}">
                <a16:creationId xmlns:a16="http://schemas.microsoft.com/office/drawing/2014/main" id="{1FB9569C-D8AA-363C-F974-2347ED81BF51}"/>
              </a:ext>
            </a:extLst>
          </p:cNvPr>
          <p:cNvSpPr/>
          <p:nvPr/>
        </p:nvSpPr>
        <p:spPr>
          <a:xfrm>
            <a:off x="914400" y="9705975"/>
            <a:ext cx="76200" cy="76200"/>
          </a:xfrm>
          <a:prstGeom prst="ellipse">
            <a:avLst/>
          </a:prstGeom>
          <a:solidFill>
            <a:srgbClr val="3FE0D0"/>
          </a:solidFill>
          <a:ln/>
          <a:effectLst>
            <a:outerShdw blurRad="76200" dist="50800" dir="16200000" algn="bl" rotWithShape="0">
              <a:srgbClr val="3FE0D0">
                <a:alpha val="100000"/>
              </a:srgbClr>
            </a:outerShdw>
          </a:effectLst>
        </p:spPr>
        <p:txBody>
          <a:bodyPr/>
          <a:lstStyle/>
          <a:p>
            <a:endParaRPr lang="en-US"/>
          </a:p>
        </p:txBody>
      </p:sp>
      <p:sp>
        <p:nvSpPr>
          <p:cNvPr id="16" name="Text 11">
            <a:extLst>
              <a:ext uri="{FF2B5EF4-FFF2-40B4-BE49-F238E27FC236}">
                <a16:creationId xmlns:a16="http://schemas.microsoft.com/office/drawing/2014/main" id="{BC4EB929-0EB0-2A11-1B83-058FA334B80B}"/>
              </a:ext>
            </a:extLst>
          </p:cNvPr>
          <p:cNvSpPr/>
          <p:nvPr/>
        </p:nvSpPr>
        <p:spPr>
          <a:xfrm>
            <a:off x="1085850" y="9658350"/>
            <a:ext cx="2276475" cy="209550"/>
          </a:xfrm>
          <a:prstGeom prst="rect">
            <a:avLst/>
          </a:prstGeom>
          <a:noFill/>
          <a:ln/>
        </p:spPr>
        <p:txBody>
          <a:bodyPr wrap="square" lIns="0" tIns="0" rIns="0" bIns="0" rtlCol="0" anchor="t">
            <a:normAutofit/>
          </a:bodyPr>
          <a:lstStyle/>
          <a:p>
            <a:pPr marL="0" indent="0" algn="l">
              <a:buNone/>
            </a:pPr>
            <a:r>
              <a:rPr lang="en-US" sz="1050" b="1" kern="0" spc="63" dirty="0">
                <a:solidFill>
                  <a:srgbClr val="9A9CA4"/>
                </a:solidFill>
                <a:latin typeface="JetBrains Mono" pitchFamily="34" charset="0"/>
                <a:ea typeface="JetBrains Mono" pitchFamily="34" charset="-122"/>
                <a:cs typeface="JetBrains Mono" pitchFamily="34" charset="-120"/>
              </a:rPr>
              <a:t>CLAUDE FOR NON-DEVELOPERS</a:t>
            </a:r>
            <a:endParaRPr lang="en-US" sz="1050" dirty="0"/>
          </a:p>
        </p:txBody>
      </p:sp>
      <p:sp>
        <p:nvSpPr>
          <p:cNvPr id="2" name="Text 0">
            <a:extLst>
              <a:ext uri="{FF2B5EF4-FFF2-40B4-BE49-F238E27FC236}">
                <a16:creationId xmlns:a16="http://schemas.microsoft.com/office/drawing/2014/main" id="{427DAEFF-B02F-E42C-828B-755227BB770A}"/>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BONUS · BEST PRACTICES</a:t>
            </a:r>
            <a:endParaRPr lang="en-US" sz="1350" dirty="0"/>
          </a:p>
        </p:txBody>
      </p:sp>
      <p:sp>
        <p:nvSpPr>
          <p:cNvPr id="3" name="Text 1">
            <a:extLst>
              <a:ext uri="{FF2B5EF4-FFF2-40B4-BE49-F238E27FC236}">
                <a16:creationId xmlns:a16="http://schemas.microsoft.com/office/drawing/2014/main" id="{B86D7D5B-A051-66A0-E1C1-2CEA8AD03952}"/>
              </a:ext>
            </a:extLst>
          </p:cNvPr>
          <p:cNvSpPr/>
          <p:nvPr/>
        </p:nvSpPr>
        <p:spPr>
          <a:xfrm>
            <a:off x="1143000" y="1514475"/>
            <a:ext cx="1648206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FFFFFF"/>
                </a:solidFill>
                <a:latin typeface="Montserrat" pitchFamily="34" charset="0"/>
                <a:ea typeface="Montserrat" pitchFamily="34" charset="-122"/>
                <a:cs typeface="Montserrat" pitchFamily="34" charset="-120"/>
              </a:rPr>
              <a:t>Four habits for Claude Design.</a:t>
            </a:r>
            <a:endParaRPr lang="en-US" sz="6300" dirty="0"/>
          </a:p>
        </p:txBody>
      </p:sp>
      <p:sp>
        <p:nvSpPr>
          <p:cNvPr id="4" name="Text 2">
            <a:extLst>
              <a:ext uri="{FF2B5EF4-FFF2-40B4-BE49-F238E27FC236}">
                <a16:creationId xmlns:a16="http://schemas.microsoft.com/office/drawing/2014/main" id="{7B30D0EA-69B5-C472-0727-6CDB121E43C8}"/>
              </a:ext>
            </a:extLst>
          </p:cNvPr>
          <p:cNvSpPr/>
          <p:nvPr/>
        </p:nvSpPr>
        <p:spPr>
          <a:xfrm>
            <a:off x="1143000" y="2543175"/>
            <a:ext cx="1275397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C9CBD1"/>
                </a:solidFill>
                <a:latin typeface="Inter" pitchFamily="34" charset="0"/>
                <a:ea typeface="Inter" pitchFamily="34" charset="-122"/>
                <a:cs typeface="Inter" pitchFamily="34" charset="-120"/>
              </a:rPr>
              <a:t>Design rewards taste. Bring yours up front and the output stops looking like every other AI deck.</a:t>
            </a:r>
            <a:endParaRPr lang="en-US" sz="1950" dirty="0"/>
          </a:p>
        </p:txBody>
      </p:sp>
      <p:sp>
        <p:nvSpPr>
          <p:cNvPr id="5" name="Shape 3">
            <a:extLst>
              <a:ext uri="{FF2B5EF4-FFF2-40B4-BE49-F238E27FC236}">
                <a16:creationId xmlns:a16="http://schemas.microsoft.com/office/drawing/2014/main" id="{A9795C28-BD67-8039-5BAC-97EF0A637609}"/>
              </a:ext>
            </a:extLst>
          </p:cNvPr>
          <p:cNvSpPr/>
          <p:nvPr/>
        </p:nvSpPr>
        <p:spPr>
          <a:xfrm>
            <a:off x="1143000" y="3600450"/>
            <a:ext cx="7886700" cy="1943100"/>
          </a:xfrm>
          <a:prstGeom prst="rect">
            <a:avLst/>
          </a:prstGeom>
          <a:solidFill>
            <a:srgbClr val="1B1D24"/>
          </a:solidFill>
          <a:ln/>
        </p:spPr>
        <p:txBody>
          <a:bodyPr/>
          <a:lstStyle/>
          <a:p>
            <a:endParaRPr lang="en-US"/>
          </a:p>
        </p:txBody>
      </p:sp>
      <p:sp>
        <p:nvSpPr>
          <p:cNvPr id="6" name="Shape 4">
            <a:extLst>
              <a:ext uri="{FF2B5EF4-FFF2-40B4-BE49-F238E27FC236}">
                <a16:creationId xmlns:a16="http://schemas.microsoft.com/office/drawing/2014/main" id="{EC2B35AC-0416-E9F1-1FFC-C601FD09992F}"/>
              </a:ext>
            </a:extLst>
          </p:cNvPr>
          <p:cNvSpPr/>
          <p:nvPr/>
        </p:nvSpPr>
        <p:spPr>
          <a:xfrm>
            <a:off x="1143000" y="3600450"/>
            <a:ext cx="19050" cy="1943100"/>
          </a:xfrm>
          <a:prstGeom prst="rect">
            <a:avLst/>
          </a:prstGeom>
          <a:solidFill>
            <a:srgbClr val="3FE0D0"/>
          </a:solidFill>
          <a:ln/>
        </p:spPr>
        <p:txBody>
          <a:bodyPr/>
          <a:lstStyle/>
          <a:p>
            <a:endParaRPr lang="en-US"/>
          </a:p>
        </p:txBody>
      </p:sp>
      <p:sp>
        <p:nvSpPr>
          <p:cNvPr id="7" name="Text 5">
            <a:extLst>
              <a:ext uri="{FF2B5EF4-FFF2-40B4-BE49-F238E27FC236}">
                <a16:creationId xmlns:a16="http://schemas.microsoft.com/office/drawing/2014/main" id="{228C863F-64DE-FACC-5B06-1C8A62BF50A9}"/>
              </a:ext>
            </a:extLst>
          </p:cNvPr>
          <p:cNvSpPr/>
          <p:nvPr/>
        </p:nvSpPr>
        <p:spPr>
          <a:xfrm>
            <a:off x="2038350" y="39052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Hand it your brand before your prompt.</a:t>
            </a:r>
            <a:endParaRPr lang="en-US" sz="1950" dirty="0"/>
          </a:p>
        </p:txBody>
      </p:sp>
      <p:sp>
        <p:nvSpPr>
          <p:cNvPr id="11" name="Text 6">
            <a:extLst>
              <a:ext uri="{FF2B5EF4-FFF2-40B4-BE49-F238E27FC236}">
                <a16:creationId xmlns:a16="http://schemas.microsoft.com/office/drawing/2014/main" id="{5CBA6599-285E-15E9-AAE6-0123ABAADD60}"/>
              </a:ext>
            </a:extLst>
          </p:cNvPr>
          <p:cNvSpPr/>
          <p:nvPr/>
        </p:nvSpPr>
        <p:spPr>
          <a:xfrm>
            <a:off x="2038350" y="4266158"/>
            <a:ext cx="6847903" cy="5524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C9CBD1"/>
                </a:solidFill>
                <a:latin typeface="Inter" pitchFamily="34" charset="0"/>
                <a:ea typeface="Inter" pitchFamily="34" charset="-122"/>
                <a:cs typeface="Inter" pitchFamily="34" charset="-120"/>
              </a:rPr>
              <a:t>Logo, fonts, color tokens, three reference designs you actually like. Without this, it defaults to </a:t>
            </a:r>
            <a:r>
              <a:rPr lang="en-US" sz="1350" i="1" dirty="0">
                <a:solidFill>
                  <a:srgbClr val="C9CBD1"/>
                </a:solidFill>
                <a:latin typeface="Inter" pitchFamily="34" charset="0"/>
                <a:ea typeface="Inter" pitchFamily="34" charset="-122"/>
                <a:cs typeface="Inter" pitchFamily="34" charset="-120"/>
              </a:rPr>
              <a:t>stock-photo-cathedral vibes </a:t>
            </a:r>
            <a:r>
              <a:rPr lang="en-US" sz="1350" dirty="0">
                <a:solidFill>
                  <a:srgbClr val="C9CBD1"/>
                </a:solidFill>
                <a:latin typeface="Inter" pitchFamily="34" charset="0"/>
                <a:ea typeface="Inter" pitchFamily="34" charset="-122"/>
                <a:cs typeface="Inter" pitchFamily="34" charset="-120"/>
              </a:rPr>
              <a:t>for every church it talks to.</a:t>
            </a:r>
            <a:endParaRPr lang="en-US" sz="1350" dirty="0"/>
          </a:p>
        </p:txBody>
      </p:sp>
      <p:sp>
        <p:nvSpPr>
          <p:cNvPr id="12" name="Shape 7">
            <a:extLst>
              <a:ext uri="{FF2B5EF4-FFF2-40B4-BE49-F238E27FC236}">
                <a16:creationId xmlns:a16="http://schemas.microsoft.com/office/drawing/2014/main" id="{9290DE4A-2E84-8A7C-422A-A1FFDF0768E0}"/>
              </a:ext>
            </a:extLst>
          </p:cNvPr>
          <p:cNvSpPr/>
          <p:nvPr/>
        </p:nvSpPr>
        <p:spPr>
          <a:xfrm>
            <a:off x="9258300" y="3600450"/>
            <a:ext cx="7886700" cy="1943100"/>
          </a:xfrm>
          <a:prstGeom prst="rect">
            <a:avLst/>
          </a:prstGeom>
          <a:solidFill>
            <a:srgbClr val="1B1D24"/>
          </a:solidFill>
          <a:ln/>
        </p:spPr>
        <p:txBody>
          <a:bodyPr/>
          <a:lstStyle/>
          <a:p>
            <a:endParaRPr lang="en-US"/>
          </a:p>
        </p:txBody>
      </p:sp>
      <p:sp>
        <p:nvSpPr>
          <p:cNvPr id="13" name="Shape 8">
            <a:extLst>
              <a:ext uri="{FF2B5EF4-FFF2-40B4-BE49-F238E27FC236}">
                <a16:creationId xmlns:a16="http://schemas.microsoft.com/office/drawing/2014/main" id="{83EFC745-5066-E757-C06C-B09D0B9EE28B}"/>
              </a:ext>
            </a:extLst>
          </p:cNvPr>
          <p:cNvSpPr/>
          <p:nvPr/>
        </p:nvSpPr>
        <p:spPr>
          <a:xfrm>
            <a:off x="9258300" y="3600450"/>
            <a:ext cx="19050" cy="1943100"/>
          </a:xfrm>
          <a:prstGeom prst="rect">
            <a:avLst/>
          </a:prstGeom>
          <a:solidFill>
            <a:srgbClr val="3FE0D0"/>
          </a:solidFill>
          <a:ln/>
        </p:spPr>
        <p:txBody>
          <a:bodyPr/>
          <a:lstStyle/>
          <a:p>
            <a:endParaRPr lang="en-US"/>
          </a:p>
        </p:txBody>
      </p:sp>
      <p:sp>
        <p:nvSpPr>
          <p:cNvPr id="14" name="Text 9">
            <a:extLst>
              <a:ext uri="{FF2B5EF4-FFF2-40B4-BE49-F238E27FC236}">
                <a16:creationId xmlns:a16="http://schemas.microsoft.com/office/drawing/2014/main" id="{D6355326-652E-8C03-B381-6A2E7D65F167}"/>
              </a:ext>
            </a:extLst>
          </p:cNvPr>
          <p:cNvSpPr/>
          <p:nvPr/>
        </p:nvSpPr>
        <p:spPr>
          <a:xfrm>
            <a:off x="10153650" y="39052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Click the thing. Don't describe it.</a:t>
            </a:r>
            <a:endParaRPr lang="en-US" sz="1950" dirty="0"/>
          </a:p>
        </p:txBody>
      </p:sp>
      <p:sp>
        <p:nvSpPr>
          <p:cNvPr id="42" name="Text 10">
            <a:extLst>
              <a:ext uri="{FF2B5EF4-FFF2-40B4-BE49-F238E27FC236}">
                <a16:creationId xmlns:a16="http://schemas.microsoft.com/office/drawing/2014/main" id="{BECAB09E-3852-67E2-EEFD-88E647930642}"/>
              </a:ext>
            </a:extLst>
          </p:cNvPr>
          <p:cNvSpPr/>
          <p:nvPr/>
        </p:nvSpPr>
        <p:spPr>
          <a:xfrm>
            <a:off x="10153650" y="4266158"/>
            <a:ext cx="6847903" cy="5524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C9CBD1"/>
                </a:solidFill>
                <a:latin typeface="Inter" pitchFamily="34" charset="0"/>
                <a:ea typeface="Inter" pitchFamily="34" charset="-122"/>
                <a:cs typeface="Inter" pitchFamily="34" charset="-120"/>
              </a:rPr>
              <a:t>Comment directly on the button, the headline, the chart. "Make this teal." "Cut this in half." Pointing beats prompting.</a:t>
            </a:r>
            <a:endParaRPr lang="en-US" sz="1350" dirty="0"/>
          </a:p>
        </p:txBody>
      </p:sp>
      <p:sp>
        <p:nvSpPr>
          <p:cNvPr id="43" name="Shape 11">
            <a:extLst>
              <a:ext uri="{FF2B5EF4-FFF2-40B4-BE49-F238E27FC236}">
                <a16:creationId xmlns:a16="http://schemas.microsoft.com/office/drawing/2014/main" id="{1E0A086F-B0BC-B635-7B97-DB93A50D9180}"/>
              </a:ext>
            </a:extLst>
          </p:cNvPr>
          <p:cNvSpPr/>
          <p:nvPr/>
        </p:nvSpPr>
        <p:spPr>
          <a:xfrm>
            <a:off x="1143000" y="5772150"/>
            <a:ext cx="7886700" cy="1943100"/>
          </a:xfrm>
          <a:prstGeom prst="rect">
            <a:avLst/>
          </a:prstGeom>
          <a:solidFill>
            <a:srgbClr val="1B1D24"/>
          </a:solidFill>
          <a:ln/>
        </p:spPr>
        <p:txBody>
          <a:bodyPr/>
          <a:lstStyle/>
          <a:p>
            <a:endParaRPr lang="en-US"/>
          </a:p>
        </p:txBody>
      </p:sp>
      <p:sp>
        <p:nvSpPr>
          <p:cNvPr id="44" name="Shape 12">
            <a:extLst>
              <a:ext uri="{FF2B5EF4-FFF2-40B4-BE49-F238E27FC236}">
                <a16:creationId xmlns:a16="http://schemas.microsoft.com/office/drawing/2014/main" id="{D59A7572-4A0E-4EB6-E3C3-C3FC7A9DE59B}"/>
              </a:ext>
            </a:extLst>
          </p:cNvPr>
          <p:cNvSpPr/>
          <p:nvPr/>
        </p:nvSpPr>
        <p:spPr>
          <a:xfrm>
            <a:off x="1143000" y="5772150"/>
            <a:ext cx="19050" cy="1943100"/>
          </a:xfrm>
          <a:prstGeom prst="rect">
            <a:avLst/>
          </a:prstGeom>
          <a:solidFill>
            <a:srgbClr val="3FE0D0"/>
          </a:solidFill>
          <a:ln/>
        </p:spPr>
        <p:txBody>
          <a:bodyPr/>
          <a:lstStyle/>
          <a:p>
            <a:endParaRPr lang="en-US"/>
          </a:p>
        </p:txBody>
      </p:sp>
      <p:sp>
        <p:nvSpPr>
          <p:cNvPr id="45" name="Text 13">
            <a:extLst>
              <a:ext uri="{FF2B5EF4-FFF2-40B4-BE49-F238E27FC236}">
                <a16:creationId xmlns:a16="http://schemas.microsoft.com/office/drawing/2014/main" id="{B8AFF0C9-9E85-289C-0BF7-603EB22C6FA7}"/>
              </a:ext>
            </a:extLst>
          </p:cNvPr>
          <p:cNvSpPr/>
          <p:nvPr/>
        </p:nvSpPr>
        <p:spPr>
          <a:xfrm>
            <a:off x="2038350" y="60769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Use the sliders before the chat.</a:t>
            </a:r>
            <a:endParaRPr lang="en-US" sz="1950" dirty="0"/>
          </a:p>
        </p:txBody>
      </p:sp>
      <p:sp>
        <p:nvSpPr>
          <p:cNvPr id="46" name="Text 14">
            <a:extLst>
              <a:ext uri="{FF2B5EF4-FFF2-40B4-BE49-F238E27FC236}">
                <a16:creationId xmlns:a16="http://schemas.microsoft.com/office/drawing/2014/main" id="{51F7F59A-4FB4-F239-FC5A-612AE4701EA3}"/>
              </a:ext>
            </a:extLst>
          </p:cNvPr>
          <p:cNvSpPr/>
          <p:nvPr/>
        </p:nvSpPr>
        <p:spPr>
          <a:xfrm>
            <a:off x="2038350" y="6437858"/>
            <a:ext cx="6847903" cy="552450"/>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C9CBD1"/>
                </a:solidFill>
                <a:latin typeface="Inter" pitchFamily="34" charset="0"/>
                <a:ea typeface="Inter" pitchFamily="34" charset="-122"/>
                <a:cs typeface="Inter" pitchFamily="34" charset="-120"/>
              </a:rPr>
              <a:t>Color, spacing, density — drag, don't type. The chat is for ideas; the controls are for taste.</a:t>
            </a:r>
            <a:endParaRPr lang="en-US" sz="1350" dirty="0"/>
          </a:p>
        </p:txBody>
      </p:sp>
      <p:sp>
        <p:nvSpPr>
          <p:cNvPr id="47" name="Shape 15">
            <a:extLst>
              <a:ext uri="{FF2B5EF4-FFF2-40B4-BE49-F238E27FC236}">
                <a16:creationId xmlns:a16="http://schemas.microsoft.com/office/drawing/2014/main" id="{A8BD1A2F-6E6C-A6AB-C54D-FD8E9662CED2}"/>
              </a:ext>
            </a:extLst>
          </p:cNvPr>
          <p:cNvSpPr/>
          <p:nvPr/>
        </p:nvSpPr>
        <p:spPr>
          <a:xfrm>
            <a:off x="9258300" y="5772150"/>
            <a:ext cx="7886700" cy="1943100"/>
          </a:xfrm>
          <a:prstGeom prst="rect">
            <a:avLst/>
          </a:prstGeom>
          <a:solidFill>
            <a:srgbClr val="1B1D24"/>
          </a:solidFill>
          <a:ln/>
        </p:spPr>
        <p:txBody>
          <a:bodyPr/>
          <a:lstStyle/>
          <a:p>
            <a:endParaRPr lang="en-US"/>
          </a:p>
        </p:txBody>
      </p:sp>
      <p:sp>
        <p:nvSpPr>
          <p:cNvPr id="48" name="Shape 16">
            <a:extLst>
              <a:ext uri="{FF2B5EF4-FFF2-40B4-BE49-F238E27FC236}">
                <a16:creationId xmlns:a16="http://schemas.microsoft.com/office/drawing/2014/main" id="{930A63B3-D0FB-F22F-3405-A6AAD67F8985}"/>
              </a:ext>
            </a:extLst>
          </p:cNvPr>
          <p:cNvSpPr/>
          <p:nvPr/>
        </p:nvSpPr>
        <p:spPr>
          <a:xfrm>
            <a:off x="9258300" y="5772150"/>
            <a:ext cx="19050" cy="1943100"/>
          </a:xfrm>
          <a:prstGeom prst="rect">
            <a:avLst/>
          </a:prstGeom>
          <a:solidFill>
            <a:srgbClr val="3FE0D0"/>
          </a:solidFill>
          <a:ln/>
        </p:spPr>
        <p:txBody>
          <a:bodyPr/>
          <a:lstStyle/>
          <a:p>
            <a:endParaRPr lang="en-US"/>
          </a:p>
        </p:txBody>
      </p:sp>
      <p:sp>
        <p:nvSpPr>
          <p:cNvPr id="49" name="Text 17">
            <a:extLst>
              <a:ext uri="{FF2B5EF4-FFF2-40B4-BE49-F238E27FC236}">
                <a16:creationId xmlns:a16="http://schemas.microsoft.com/office/drawing/2014/main" id="{88CC373C-BA49-9B0B-9893-92CFA2689DE3}"/>
              </a:ext>
            </a:extLst>
          </p:cNvPr>
          <p:cNvSpPr/>
          <p:nvPr/>
        </p:nvSpPr>
        <p:spPr>
          <a:xfrm>
            <a:off x="10153650" y="6076950"/>
            <a:ext cx="6847903" cy="322808"/>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FFFFF"/>
                </a:solidFill>
                <a:latin typeface="Montserrat" pitchFamily="34" charset="0"/>
                <a:ea typeface="Montserrat" pitchFamily="34" charset="-122"/>
                <a:cs typeface="Montserrat" pitchFamily="34" charset="-120"/>
              </a:rPr>
              <a:t>Treat draft one as a sketch.</a:t>
            </a:r>
            <a:endParaRPr lang="en-US" sz="1950" dirty="0"/>
          </a:p>
        </p:txBody>
      </p:sp>
      <p:sp>
        <p:nvSpPr>
          <p:cNvPr id="50" name="Text 18">
            <a:extLst>
              <a:ext uri="{FF2B5EF4-FFF2-40B4-BE49-F238E27FC236}">
                <a16:creationId xmlns:a16="http://schemas.microsoft.com/office/drawing/2014/main" id="{2EF127BB-6F34-3C41-97CC-22D9F3E1C94E}"/>
              </a:ext>
            </a:extLst>
          </p:cNvPr>
          <p:cNvSpPr/>
          <p:nvPr/>
        </p:nvSpPr>
        <p:spPr>
          <a:xfrm>
            <a:off x="10153650" y="6437858"/>
            <a:ext cx="6847903" cy="809625"/>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C9CBD1"/>
                </a:solidFill>
                <a:latin typeface="Inter" pitchFamily="34" charset="0"/>
                <a:ea typeface="Inter" pitchFamily="34" charset="-122"/>
                <a:cs typeface="Inter" pitchFamily="34" charset="-120"/>
              </a:rPr>
              <a:t>First output is a starting point, not a deliverable. Especially with charts and data — push back, refine, swap layouts. Two rounds of feedback is the rule, not the exception.</a:t>
            </a:r>
            <a:endParaRPr lang="en-US" sz="1350" dirty="0"/>
          </a:p>
        </p:txBody>
      </p:sp>
    </p:spTree>
    <p:extLst>
      <p:ext uri="{BB962C8B-B14F-4D97-AF65-F5344CB8AC3E}">
        <p14:creationId xmlns:p14="http://schemas.microsoft.com/office/powerpoint/2010/main" val="2585473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9">
    <p:bg>
      <p:bgPr>
        <a:solidFill>
          <a:srgbClr val="3FE0D0"/>
        </a:solidFill>
        <a:effectLst/>
      </p:bgPr>
    </p:bg>
    <p:spTree>
      <p:nvGrpSpPr>
        <p:cNvPr id="1" name=""/>
        <p:cNvGrpSpPr/>
        <p:nvPr/>
      </p:nvGrpSpPr>
      <p:grpSpPr>
        <a:xfrm>
          <a:off x="0" y="0"/>
          <a:ext cx="0" cy="0"/>
          <a:chOff x="0" y="0"/>
          <a:chExt cx="0" cy="0"/>
        </a:xfrm>
      </p:grpSpPr>
      <p:sp>
        <p:nvSpPr>
          <p:cNvPr id="3" name="Text 1"/>
          <p:cNvSpPr/>
          <p:nvPr/>
        </p:nvSpPr>
        <p:spPr>
          <a:xfrm>
            <a:off x="1028700" y="3429000"/>
            <a:ext cx="16459199" cy="5120640"/>
          </a:xfrm>
          <a:prstGeom prst="rect">
            <a:avLst/>
          </a:prstGeom>
          <a:noFill/>
          <a:ln/>
        </p:spPr>
        <p:txBody>
          <a:bodyPr wrap="square" lIns="25400" tIns="25400" rIns="25400" bIns="25400" rtlCol="0" anchor="t">
            <a:normAutofit/>
          </a:bodyPr>
          <a:lstStyle/>
          <a:p>
            <a:pPr marL="0" indent="0" algn="ctr">
              <a:lnSpc>
                <a:spcPct val="92000"/>
              </a:lnSpc>
              <a:buNone/>
            </a:pPr>
            <a:r>
              <a:rPr lang="en-US" sz="9600" b="1" kern="0" spc="-375" dirty="0">
                <a:latin typeface="Montserrat" pitchFamily="34" charset="0"/>
                <a:ea typeface="Montserrat" pitchFamily="34" charset="-122"/>
                <a:cs typeface="Montserrat" pitchFamily="34" charset="-120"/>
              </a:rPr>
              <a:t>If I can use these tools</a:t>
            </a:r>
            <a:br>
              <a:rPr lang="en-US" sz="9600" b="1" kern="0" spc="-375" dirty="0">
                <a:latin typeface="Montserrat" pitchFamily="34" charset="0"/>
                <a:ea typeface="Montserrat" pitchFamily="34" charset="-122"/>
                <a:cs typeface="Montserrat" pitchFamily="34" charset="-120"/>
              </a:rPr>
            </a:br>
            <a:r>
              <a:rPr lang="en-US" sz="9600" b="1" kern="0" spc="-375" dirty="0">
                <a:latin typeface="Montserrat" pitchFamily="34" charset="0"/>
                <a:ea typeface="Montserrat" pitchFamily="34" charset="-122"/>
                <a:cs typeface="Montserrat" pitchFamily="34" charset="-120"/>
              </a:rPr>
              <a:t>there’s </a:t>
            </a:r>
            <a:r>
              <a:rPr lang="en-US" sz="9600" b="1" kern="0" spc="-375" dirty="0">
                <a:solidFill>
                  <a:srgbClr val="FFFFFF"/>
                </a:solidFill>
                <a:latin typeface="Montserrat" pitchFamily="34" charset="0"/>
                <a:ea typeface="Montserrat" pitchFamily="34" charset="-122"/>
                <a:cs typeface="Montserrat" pitchFamily="34" charset="-120"/>
              </a:rPr>
              <a:t>hope</a:t>
            </a:r>
            <a:r>
              <a:rPr lang="en-US" sz="9600" b="1" kern="0" spc="-375" dirty="0">
                <a:latin typeface="Montserrat" pitchFamily="34" charset="0"/>
                <a:ea typeface="Montserrat" pitchFamily="34" charset="-122"/>
                <a:cs typeface="Montserrat" pitchFamily="34" charset="-120"/>
              </a:rPr>
              <a:t> for anyone.</a:t>
            </a:r>
            <a:endParaRPr lang="en-US" sz="9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14161C"/>
        </a:solidFill>
        <a:effectLst/>
      </p:bgPr>
    </p:bg>
    <p:spTree>
      <p:nvGrpSpPr>
        <p:cNvPr id="1" name="">
          <a:extLst>
            <a:ext uri="{FF2B5EF4-FFF2-40B4-BE49-F238E27FC236}">
              <a16:creationId xmlns:a16="http://schemas.microsoft.com/office/drawing/2014/main" id="{5BEC9614-09E9-40FC-9BA3-C977C7C2C9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68FC93-7D29-F0A6-B6C5-E14F4077C31E}"/>
              </a:ext>
            </a:extLst>
          </p:cNvPr>
          <p:cNvSpPr/>
          <p:nvPr/>
        </p:nvSpPr>
        <p:spPr>
          <a:xfrm>
            <a:off x="7071249" y="3667125"/>
            <a:ext cx="4145502" cy="247650"/>
          </a:xfrm>
          <a:prstGeom prst="rect">
            <a:avLst/>
          </a:prstGeom>
          <a:noFill/>
          <a:ln/>
        </p:spPr>
        <p:txBody>
          <a:bodyPr wrap="square" lIns="25400" tIns="25400" rIns="25400" bIns="25400" rtlCol="0" anchor="t">
            <a:normAutofit lnSpcReduction="10000"/>
          </a:bodyPr>
          <a:lstStyle/>
          <a:p>
            <a:pPr marL="0" indent="0" algn="ctr">
              <a:buNone/>
            </a:pPr>
            <a:r>
              <a:rPr lang="en-US" sz="1350" b="1" kern="0" spc="432" dirty="0">
                <a:solidFill>
                  <a:srgbClr val="F58220"/>
                </a:solidFill>
                <a:latin typeface="Inter" pitchFamily="34" charset="0"/>
                <a:ea typeface="Inter" pitchFamily="34" charset="-122"/>
                <a:cs typeface="Inter" pitchFamily="34" charset="-120"/>
              </a:rPr>
              <a:t>AND NOW · A SHORT SEGMENT</a:t>
            </a:r>
            <a:endParaRPr lang="en-US" sz="1350" dirty="0"/>
          </a:p>
        </p:txBody>
      </p:sp>
      <p:sp>
        <p:nvSpPr>
          <p:cNvPr id="3" name="Text 1">
            <a:extLst>
              <a:ext uri="{FF2B5EF4-FFF2-40B4-BE49-F238E27FC236}">
                <a16:creationId xmlns:a16="http://schemas.microsoft.com/office/drawing/2014/main" id="{BEBEA866-1C0B-2FDD-758D-73E1B46B66C2}"/>
              </a:ext>
            </a:extLst>
          </p:cNvPr>
          <p:cNvSpPr/>
          <p:nvPr/>
        </p:nvSpPr>
        <p:spPr>
          <a:xfrm>
            <a:off x="3120429" y="4181475"/>
            <a:ext cx="12047141" cy="1790700"/>
          </a:xfrm>
          <a:prstGeom prst="rect">
            <a:avLst/>
          </a:prstGeom>
          <a:noFill/>
          <a:ln/>
        </p:spPr>
        <p:txBody>
          <a:bodyPr wrap="square" lIns="25400" tIns="25400" rIns="25400" bIns="25400" rtlCol="0" anchor="t">
            <a:normAutofit fontScale="92500" lnSpcReduction="20000"/>
          </a:bodyPr>
          <a:lstStyle/>
          <a:p>
            <a:pPr marL="0" indent="0" algn="ctr">
              <a:lnSpc>
                <a:spcPct val="92000"/>
              </a:lnSpc>
              <a:buNone/>
            </a:pPr>
            <a:r>
              <a:rPr lang="en-US" sz="15000" b="1" kern="0" spc="-375" dirty="0">
                <a:solidFill>
                  <a:srgbClr val="FFFFFF"/>
                </a:solidFill>
                <a:latin typeface="Montserrat" pitchFamily="34" charset="0"/>
                <a:ea typeface="Montserrat" pitchFamily="34" charset="-122"/>
                <a:cs typeface="Montserrat" pitchFamily="34" charset="-120"/>
              </a:rPr>
              <a:t>AI Bloopers.</a:t>
            </a:r>
            <a:endParaRPr lang="en-US" sz="15000" dirty="0"/>
          </a:p>
        </p:txBody>
      </p:sp>
      <p:sp>
        <p:nvSpPr>
          <p:cNvPr id="4" name="Text 2">
            <a:extLst>
              <a:ext uri="{FF2B5EF4-FFF2-40B4-BE49-F238E27FC236}">
                <a16:creationId xmlns:a16="http://schemas.microsoft.com/office/drawing/2014/main" id="{CAC6E560-FF63-A302-F833-F156E43624B5}"/>
              </a:ext>
            </a:extLst>
          </p:cNvPr>
          <p:cNvSpPr/>
          <p:nvPr/>
        </p:nvSpPr>
        <p:spPr>
          <a:xfrm>
            <a:off x="4651673" y="6276975"/>
            <a:ext cx="8984654"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C9CBD1"/>
                </a:solidFill>
                <a:latin typeface="Inter" pitchFamily="34" charset="0"/>
                <a:ea typeface="Inter" pitchFamily="34" charset="-122"/>
                <a:cs typeface="Inter" pitchFamily="34" charset="-120"/>
              </a:rPr>
              <a:t>Outtakes from how AI tried (and failed) to build this presentation.</a:t>
            </a:r>
            <a:endParaRPr lang="en-US" sz="2250" dirty="0"/>
          </a:p>
        </p:txBody>
      </p:sp>
    </p:spTree>
    <p:extLst>
      <p:ext uri="{BB962C8B-B14F-4D97-AF65-F5344CB8AC3E}">
        <p14:creationId xmlns:p14="http://schemas.microsoft.com/office/powerpoint/2010/main" val="9099508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14161C"/>
        </a:solidFill>
        <a:effectLst/>
      </p:bgPr>
    </p:bg>
    <p:spTree>
      <p:nvGrpSpPr>
        <p:cNvPr id="1" name="">
          <a:extLst>
            <a:ext uri="{FF2B5EF4-FFF2-40B4-BE49-F238E27FC236}">
              <a16:creationId xmlns:a16="http://schemas.microsoft.com/office/drawing/2014/main" id="{E5391693-67E2-E88B-AFAF-3288B1453972}"/>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B8DB6373-E763-E583-C52A-6E2381EC9D3C}"/>
              </a:ext>
            </a:extLst>
          </p:cNvPr>
          <p:cNvSpPr/>
          <p:nvPr/>
        </p:nvSpPr>
        <p:spPr>
          <a:xfrm>
            <a:off x="1143000" y="1143000"/>
            <a:ext cx="16482060"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97" dirty="0">
                <a:solidFill>
                  <a:srgbClr val="F58220"/>
                </a:solidFill>
                <a:latin typeface="Inter" pitchFamily="34" charset="0"/>
                <a:ea typeface="Inter" pitchFamily="34" charset="-122"/>
                <a:cs typeface="Inter" pitchFamily="34" charset="-120"/>
              </a:rPr>
              <a:t>AI BLOOPERS</a:t>
            </a:r>
            <a:endParaRPr lang="en-US" sz="1350" dirty="0">
              <a:solidFill>
                <a:srgbClr val="F58220"/>
              </a:solidFill>
            </a:endParaRPr>
          </a:p>
        </p:txBody>
      </p:sp>
    </p:spTree>
    <p:extLst>
      <p:ext uri="{BB962C8B-B14F-4D97-AF65-F5344CB8AC3E}">
        <p14:creationId xmlns:p14="http://schemas.microsoft.com/office/powerpoint/2010/main" val="4263617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740</TotalTime>
  <Words>9583</Words>
  <Application>Microsoft Office PowerPoint</Application>
  <PresentationFormat>Custom</PresentationFormat>
  <Paragraphs>1122</Paragraphs>
  <Slides>53</Slides>
  <Notes>53</Notes>
  <HiddenSlides>5</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Trace Jackson</cp:lastModifiedBy>
  <cp:revision>6</cp:revision>
  <dcterms:created xsi:type="dcterms:W3CDTF">2026-05-04T19:49:28Z</dcterms:created>
  <dcterms:modified xsi:type="dcterms:W3CDTF">2026-05-06T10:14:15Z</dcterms:modified>
</cp:coreProperties>
</file>
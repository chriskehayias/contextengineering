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7" r:id="rId2"/>
    <p:sldId id="256" r:id="rId3"/>
    <p:sldId id="257" r:id="rId4"/>
    <p:sldId id="259" r:id="rId5"/>
    <p:sldId id="260" r:id="rId6"/>
    <p:sldId id="262" r:id="rId7"/>
    <p:sldId id="268" r:id="rId8"/>
    <p:sldId id="265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126" y="16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40A35C-DBD2-4A64-A6BF-7C1DF79DB2B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E19E13-7F67-4A1E-9B50-6C2EA2CBC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893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them in. Big energy. 'AI Context Engineering — that's a long title for what's actually a really practical workshop. Over the next 90 minutes we're going to get hands-on with what makes AI useful at your church versus useless at your church.'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them in. Big energy. You're setting the emotional tone for the whole event — warmth first, then structure. Smile, look around, name a few people. Thank Northwoods for hosting. Then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Pause. Read it. Let it land. This is the line we want echoing in their heads when they walk in tomorrow morning.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it quickly. The big block is setup check — that's where the room either gets unstuck or gets stuck for the day. If you only protect one item, protect that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read the bullets. The point is the headline: Day 1 craft, Day 2 ship. Everything else is in the schedule on the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tight — 2 to 3 minutes max. Energy stays up. The baseball line gets a laugh; lean into it briefly and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" name="Google Shape;25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Brief intro — keep it under 60 seconds. 'I ship AI products for a living and I've been in the church tech world a while. Most of what I'm sharing today is what I wish someone had told me two years ago.'</a:t>
            </a:r>
            <a:endParaRPr/>
          </a:p>
        </p:txBody>
      </p:sp>
      <p:sp>
        <p:nvSpPr>
          <p:cNvPr id="26" name="Google Shape;26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it, smile, hand off cleanly. Don't oversell the next session — let it speak for itself. Last words: 'Let's build.'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61C"/>
          </a:solidFill>
          <a:ln/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35000" y="508000"/>
            <a:ext cx="838696" cy="2286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defTabSz="609630"/>
            <a:r>
              <a:rPr lang="en-US" sz="1300" b="1" kern="0" spc="156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CITN</a:t>
            </a:r>
            <a:r>
              <a:rPr lang="en-US" sz="1300" b="1" kern="0" spc="156" dirty="0">
                <a:solidFill>
                  <a:srgbClr val="3FE0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·</a:t>
            </a:r>
            <a:r>
              <a:rPr lang="en-US" sz="1300" b="1" kern="0" spc="156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69000" y="-63500"/>
            <a:ext cx="6985000" cy="6985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5001" y="2258715"/>
            <a:ext cx="5166279" cy="2286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lnSpcReduction="10000"/>
          </a:bodyPr>
          <a:lstStyle/>
          <a:p>
            <a:pPr defTabSz="609630"/>
            <a:r>
              <a:rPr lang="en-US" sz="1300" b="1" kern="0" spc="390" dirty="0">
                <a:solidFill>
                  <a:srgbClr val="3FE0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CHURCH IT NETWORK · WORKSHOP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3"/>
          <p:cNvSpPr/>
          <p:nvPr/>
        </p:nvSpPr>
        <p:spPr>
          <a:xfrm>
            <a:off x="635001" y="2690515"/>
            <a:ext cx="5166279" cy="15214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>
              <a:lnSpc>
                <a:spcPct val="95000"/>
              </a:lnSpc>
            </a:pPr>
            <a:r>
              <a:rPr lang="en-US" sz="6200" b="1" kern="0" spc="-15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</a:t>
            </a:r>
            <a:r>
              <a:rPr lang="en-US" sz="6200" b="1" kern="0" spc="-155" dirty="0">
                <a:solidFill>
                  <a:srgbClr val="3FE0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 </a:t>
            </a:r>
            <a:r>
              <a:rPr lang="en-US" sz="6200" b="1" kern="0" spc="-15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Engineering</a:t>
            </a:r>
            <a:endParaRPr lang="en-US" sz="6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4"/>
          <p:cNvSpPr/>
          <p:nvPr/>
        </p:nvSpPr>
        <p:spPr>
          <a:xfrm>
            <a:off x="635000" y="4415136"/>
            <a:ext cx="2129035" cy="2095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defTabSz="609630"/>
            <a:r>
              <a:rPr lang="en-US" sz="1200" b="1" kern="0" spc="48" dirty="0">
                <a:solidFill>
                  <a:srgbClr val="C9CBD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NORTHWOODS CHURCH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5"/>
          <p:cNvSpPr/>
          <p:nvPr/>
        </p:nvSpPr>
        <p:spPr>
          <a:xfrm>
            <a:off x="2905224" y="4488160"/>
            <a:ext cx="38100" cy="38100"/>
          </a:xfrm>
          <a:prstGeom prst="ellipse">
            <a:avLst/>
          </a:prstGeom>
          <a:solidFill>
            <a:srgbClr val="3FE0D0"/>
          </a:solidFill>
          <a:ln/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6"/>
          <p:cNvSpPr/>
          <p:nvPr/>
        </p:nvSpPr>
        <p:spPr>
          <a:xfrm>
            <a:off x="3146524" y="4415136"/>
            <a:ext cx="949623" cy="2095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defTabSz="609630"/>
            <a:r>
              <a:rPr lang="en-US" sz="1200" b="1" kern="0" spc="48" dirty="0">
                <a:solidFill>
                  <a:srgbClr val="C9CBD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PEORIA, IL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3FB6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CITN ·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0" dirty="0">
                <a:solidFill>
                  <a:srgbClr val="9A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CHURCH IT NETWORK · WORKSHOP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Show &amp; tell.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400" dirty="0">
                <a:solidFill>
                  <a:srgbClr val="3FB6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Session 14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Show &amp; Tell · Closing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80960" y="1737360"/>
            <a:ext cx="18288" cy="3200400"/>
          </a:xfrm>
          <a:prstGeom prst="rect">
            <a:avLst/>
          </a:prstGeom>
          <a:solidFill>
            <a:srgbClr val="2B3543"/>
          </a:solidFill>
          <a:ln w="12700">
            <a:solidFill>
              <a:srgbClr val="2B35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4672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E89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4672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Jason Lee · Matt Pugh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04672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E89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4:30 – 5:00 PM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600" dirty="0">
                <a:solidFill>
                  <a:srgbClr val="9A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CONTEXT ENGINEERING WORKSHOP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6263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Everyone shows. Everyone's proud. Then we name where this goes next.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89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FRAME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548640" cy="36576"/>
          </a:xfrm>
          <a:prstGeom prst="rect">
            <a:avLst/>
          </a:prstGeom>
          <a:solidFill>
            <a:srgbClr val="3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1155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Celebrate shipped.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 impressive.</a:t>
            </a:r>
            <a:endParaRPr lang="en-US" sz="5200" dirty="0"/>
          </a:p>
          <a:p>
            <a:pPr marL="0" indent="0">
              <a:buNone/>
            </a:pPr>
            <a:r>
              <a:rPr lang="en-US" sz="5200" b="1" i="1" dirty="0">
                <a:solidFill>
                  <a:srgbClr val="3FB6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Ship one small thing —</a:t>
            </a:r>
            <a:endParaRPr lang="en-US" sz="5200" dirty="0"/>
          </a:p>
          <a:p>
            <a:pPr marL="0" indent="0">
              <a:buNone/>
            </a:pPr>
            <a:r>
              <a:rPr lang="en-US" sz="5200" b="1" i="1" dirty="0">
                <a:solidFill>
                  <a:srgbClr val="3FB6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and ship it for real.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5806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600" dirty="0">
                <a:solidFill>
                  <a:srgbClr val="9A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THE BAR FOR TODAY'S DEMOS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A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· SHOW &amp; TELL · CLOSING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A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PEORIA, IL · MAY 7–8,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89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WE'LL DO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Outline · 30 minutes.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542032"/>
            <a:ext cx="11094415" cy="0"/>
          </a:xfrm>
          <a:prstGeom prst="line">
            <a:avLst/>
          </a:prstGeom>
          <a:noFill/>
          <a:ln w="9525">
            <a:solidFill>
              <a:srgbClr val="E2D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9B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20116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 back · timer up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88575" y="20116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kern="0" spc="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min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090672"/>
            <a:ext cx="11094415" cy="0"/>
          </a:xfrm>
          <a:prstGeom prst="line">
            <a:avLst/>
          </a:prstGeom>
          <a:noFill/>
          <a:ln w="9525">
            <a:solidFill>
              <a:srgbClr val="E2D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9B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5603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 round 1 — six presenters × 90 sec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88575" y="25603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kern="0" spc="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min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39312"/>
            <a:ext cx="11094415" cy="0"/>
          </a:xfrm>
          <a:prstGeom prst="line">
            <a:avLst/>
          </a:prstGeom>
          <a:noFill/>
          <a:ln w="9525">
            <a:solidFill>
              <a:srgbClr val="E2D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1089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9B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1089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 round 2 — six more × 90 sec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88575" y="31089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kern="0" spc="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min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187952"/>
            <a:ext cx="11094415" cy="0"/>
          </a:xfrm>
          <a:prstGeom prst="line">
            <a:avLst/>
          </a:prstGeom>
          <a:noFill/>
          <a:ln w="9525">
            <a:solidFill>
              <a:srgbClr val="E2D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36576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9B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6576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 reflections — what worked, what surprised us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88575" y="3657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kern="0" spc="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min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736592"/>
            <a:ext cx="11094415" cy="0"/>
          </a:xfrm>
          <a:prstGeom prst="line">
            <a:avLst/>
          </a:prstGeom>
          <a:noFill/>
          <a:ln w="9525">
            <a:solidFill>
              <a:srgbClr val="E2D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42062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9B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42062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to go next — the Monday charge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88575" y="4206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kern="0" spc="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min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285232"/>
            <a:ext cx="11094415" cy="0"/>
          </a:xfrm>
          <a:prstGeom prst="line">
            <a:avLst/>
          </a:prstGeom>
          <a:noFill/>
          <a:ln w="9525">
            <a:solidFill>
              <a:srgbClr val="E2D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47548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9B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71600" y="4754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Thanks — partners, sponsors, facilitators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88575" y="4754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kern="0" spc="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min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5833872"/>
            <a:ext cx="11094415" cy="0"/>
          </a:xfrm>
          <a:prstGeom prst="line">
            <a:avLst/>
          </a:prstGeom>
          <a:noFill/>
          <a:ln w="9525">
            <a:solidFill>
              <a:srgbClr val="E2D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8640" y="53035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9B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71600" y="53035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Dinner — see you at 6:30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088575" y="53035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kern="0" spc="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min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· SHOW &amp; TELL · CLOSING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OUTLINE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89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ARC, REVISITED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days. One arc. Now what?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learned the craft. You shipped something real. Now make it a habit.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864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73152" cy="3383280"/>
          </a:xfrm>
          <a:prstGeom prst="rect">
            <a:avLst/>
          </a:prstGeom>
          <a:solidFill>
            <a:srgbClr val="E89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89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 7–8 · WHAT YOU DID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32918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workshop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60120" y="3931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learned the discipline, ran the workflow, and shipped a real app.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448056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Wrote your first CLAUDE.md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 the SDLC loop with git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context end-to-end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Claude Code in real code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Planned, reviewed, approved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Demoed it — just now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5486400" cy="3383280"/>
          </a:xfrm>
          <a:prstGeom prst="rect">
            <a:avLst/>
          </a:prstGeom>
          <a:solidFill>
            <a:srgbClr val="0F16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309360" y="2560320"/>
            <a:ext cx="73152" cy="3383280"/>
          </a:xfrm>
          <a:prstGeom prst="rect">
            <a:avLst/>
          </a:prstGeom>
          <a:solidFill>
            <a:srgbClr val="3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72084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3FB6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 11 ONWARD · WHAT'S NEXT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20840" y="32918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Monday morning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720840" y="3931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one workflow at your church. Engineer the context. Ship something this week.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20840" y="448056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one workflow worth doing right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its CLAUDE.md (start ugly)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Attach the 3 docs the model needs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it twice. Refine after each use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 something — even if it's small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Tell the room what you learned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· SHOW &amp; TELL · CLOSING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DAYS · ONE ARC · NOW WHAT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89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TO GO NEXT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Monday onward.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54864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4864" cy="1783080"/>
          </a:xfrm>
          <a:prstGeom prst="rect">
            <a:avLst/>
          </a:prstGeom>
          <a:solidFill>
            <a:srgbClr val="3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4414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E89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THE STACK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Don't shop around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 + GitHub + Vercel + Neon, Auth0, Resend. Production-grade. The next workflow gets the same toolkit.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2240280"/>
            <a:ext cx="54864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17920" y="2240280"/>
            <a:ext cx="54864" cy="1783080"/>
          </a:xfrm>
          <a:prstGeom prst="rect">
            <a:avLst/>
          </a:prstGeom>
          <a:solidFill>
            <a:srgbClr val="3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0" y="24414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E89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2 COMMANDS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83680" y="2743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Master them this month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583680" y="32461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with /project:init-claude-md and /project:review. Use them on every project until the muscle memory's automatic.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4864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54864" cy="1783080"/>
          </a:xfrm>
          <a:prstGeom prst="rect">
            <a:avLst/>
          </a:prstGeom>
          <a:solidFill>
            <a:srgbClr val="3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44074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E89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ITERATE CLAUDE.MD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47091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you wrote today is v1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914400" y="52120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Revisit it monthly. Every edit you make to the output becomes a new line in the brief. The brief gets better forever.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4206240"/>
            <a:ext cx="54864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17920" y="4206240"/>
            <a:ext cx="54864" cy="1783080"/>
          </a:xfrm>
          <a:prstGeom prst="rect">
            <a:avLst/>
          </a:prstGeom>
          <a:solidFill>
            <a:srgbClr val="3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83680" y="44074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E89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JOIN THE COMMUNITY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583680" y="47091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Share what you ship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583680" y="52120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Subscribe to release notes — Anthropic ships fast. Try Context7 MCP. CITN is the room to compare notes in.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· SHOW &amp; TELL · CLOSING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MONDAY-ONWARD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5759895" y="5959298"/>
            <a:ext cx="6017260" cy="222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33" tIns="16933" rIns="16933" bIns="16933" anchor="t" anchorCtr="0">
            <a:normAutofit/>
          </a:bodyPr>
          <a:lstStyle/>
          <a:p>
            <a:pPr>
              <a:buClr>
                <a:srgbClr val="F58220"/>
              </a:buClr>
              <a:buSzPts val="1800"/>
            </a:pPr>
            <a:r>
              <a:rPr lang="en-US" sz="1200">
                <a:solidFill>
                  <a:srgbClr val="F582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PARTNERS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759895" y="6270448"/>
            <a:ext cx="6017260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33" tIns="16933" rIns="16933" bIns="16933" anchor="t" anchorCtr="0">
            <a:normAutofit fontScale="62500" lnSpcReduction="20000"/>
          </a:bodyPr>
          <a:lstStyle/>
          <a:p>
            <a:pPr>
              <a:buClr>
                <a:srgbClr val="2A2D38"/>
              </a:buClr>
              <a:buSzPts val="7200"/>
            </a:pPr>
            <a:r>
              <a:rPr lang="en-US" sz="4800" b="1" dirty="0">
                <a:solidFill>
                  <a:srgbClr val="2A2D38"/>
                </a:solidFill>
                <a:latin typeface="Montserrat"/>
                <a:ea typeface="Montserrat"/>
                <a:cs typeface="Montserrat"/>
                <a:sym typeface="Montserrat"/>
              </a:rPr>
              <a:t>Made possible by these folks.</a:t>
            </a:r>
            <a:endParaRPr sz="4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3ECF12-84A7-806F-6C6D-A5930714C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588" y="396362"/>
            <a:ext cx="3918751" cy="11645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257737-D9A7-2260-262F-891F37C42E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3859" y="263702"/>
            <a:ext cx="1764282" cy="1306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19F3F1-7742-471D-B93B-A02C2AD0B3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9661" y="480738"/>
            <a:ext cx="1757729" cy="10525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3AE3B06-884F-AA2F-0617-A30160FEBC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587" y="1783394"/>
            <a:ext cx="3918751" cy="16294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FE1557F-710E-D2F1-BA9E-94AAEF49E7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24044" y="4689298"/>
            <a:ext cx="1466850" cy="1905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B1041F7-1364-FC16-FD7D-A8A5C76900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89661" y="2257602"/>
            <a:ext cx="2566421" cy="60960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7483421-B621-38E4-E9BE-794493DF23D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0247" y="3429000"/>
            <a:ext cx="3548166" cy="13068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F83196B-EDB7-73C5-3547-4F16C5D08A6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99388" y="4772324"/>
            <a:ext cx="2160643" cy="86947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BBE38F7-D285-63C7-1A77-9CE11EBC47D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77500" y="2261108"/>
            <a:ext cx="1804420" cy="60960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44B0ABD-52B3-8B78-1AB3-34037EBE490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1039" y="3716509"/>
            <a:ext cx="3380636" cy="82858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3C08A53-CA2E-C834-0257-FCBB1FF8CF1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61014" y="3703912"/>
            <a:ext cx="3269972" cy="85377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708B734-7DA8-1AC3-0C29-E8616C4BE5B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68525" y="4765122"/>
            <a:ext cx="1609371" cy="8537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89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DINNER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9A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Dinner at 6:30.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731520" y="4297680"/>
            <a:ext cx="548640" cy="36576"/>
          </a:xfrm>
          <a:prstGeom prst="rect">
            <a:avLst/>
          </a:prstGeom>
          <a:solidFill>
            <a:srgbClr val="3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4434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 of Session 14 / 14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A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· SHOW &amp; TELL · CLOSING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A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817</Words>
  <Application>Microsoft Office PowerPoint</Application>
  <PresentationFormat>Widescreen</PresentationFormat>
  <Paragraphs>111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Arial</vt:lpstr>
      <vt:lpstr>Calibri</vt:lpstr>
      <vt:lpstr>Inter</vt:lpstr>
      <vt:lpstr>JetBrains Mono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&amp; Kickoff</dc:title>
  <dc:subject>PptxGenJS Presentation</dc:subject>
  <dc:creator>Jason Lee</dc:creator>
  <cp:lastModifiedBy>Chris Kehayias</cp:lastModifiedBy>
  <cp:revision>6</cp:revision>
  <dcterms:created xsi:type="dcterms:W3CDTF">2026-05-04T19:30:29Z</dcterms:created>
  <dcterms:modified xsi:type="dcterms:W3CDTF">2026-05-05T21:31:48Z</dcterms:modified>
</cp:coreProperties>
</file>
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68" r:id="rId3"/>
    <p:sldId id="270" r:id="rId4"/>
    <p:sldId id="288" r:id="rId5"/>
    <p:sldId id="271" r:id="rId6"/>
    <p:sldId id="272" r:id="rId7"/>
    <p:sldId id="273" r:id="rId8"/>
    <p:sldId id="274" r:id="rId9"/>
    <p:sldId id="265" r:id="rId10"/>
    <p:sldId id="275" r:id="rId11"/>
    <p:sldId id="276" r:id="rId12"/>
    <p:sldId id="277" r:id="rId13"/>
    <p:sldId id="278" r:id="rId14"/>
    <p:sldId id="279" r:id="rId15"/>
    <p:sldId id="280" r:id="rId16"/>
    <p:sldId id="281" r:id="rId17"/>
    <p:sldId id="282" r:id="rId18"/>
    <p:sldId id="283" r:id="rId19"/>
    <p:sldId id="284" r:id="rId20"/>
    <p:sldId id="289" r:id="rId21"/>
    <p:sldId id="285" r:id="rId22"/>
    <p:sldId id="286" r:id="rId23"/>
    <p:sldId id="287" r:id="rId24"/>
    <p:sldId id="267" r:id="rId25"/>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snapToObjects="1">
      <p:cViewPr varScale="1">
        <p:scale>
          <a:sx n="81" d="100"/>
          <a:sy n="81" d="100"/>
        </p:scale>
        <p:origin x="174"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80088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people back from lunch. This is the practice partner to Session 04 — Session 04 told you what good context looks like; Session 05 makes you write it, get critiqued, and rewrite. Land the line: 'Everyone writes. Everyone rewrites — that is Commandment X in practice.'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sentence: by the end of this hour you can explain what each artifact is for, even if you haven't written one yet. Three names — CLAUDE.md, requirements.md, CONVENTIONS.md. We'll spend most of the hour on CLAUDE.md because that's where the design discipline lives. Part 2 after lunch is where you actually write one.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 name="Google Shape;35;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Brief intro — keep it under 60 seconds. 'I ship AI products for a living and I've been in the church tech world a while. Most of what I'm sharing today is what I wish someone had told me two years ago.'</a:t>
            </a:r>
            <a:endParaRPr/>
          </a:p>
        </p:txBody>
      </p:sp>
      <p:sp>
        <p:nvSpPr>
          <p:cNvPr id="36" name="Google Shape;36;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4</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Flash the full poster for two beats. Then point at commandment X. 'What you just did is the practice. Do it weekly.' This is the third and most important time you say Commandment X out loud today — make it land.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Land it and stop. 'Your CLAUDE.md is now a draft, not a relic. Day 2 is when it earns its keep.' Hand off to the break / next session.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6811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14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50976" y="758952"/>
            <a:ext cx="1828800" cy="365760"/>
          </a:xfrm>
          <a:prstGeom prst="rect">
            <a:avLst/>
          </a:prstGeom>
          <a:noFill/>
        </p:spPr>
        <p:txBody>
          <a:bodyPr wrap="square" lIns="0" tIns="0" rIns="0" bIns="0" anchor="t">
            <a:spAutoFit/>
          </a:bodyPr>
          <a:lstStyle/>
          <a:p>
            <a:pPr algn="l">
              <a:lnSpc>
                <a:spcPct val="110000"/>
              </a:lnSpc>
            </a:pPr>
            <a:r>
              <a:rPr sz="1950" b="1">
                <a:solidFill>
                  <a:srgbClr val="FFFFFF"/>
                </a:solidFill>
                <a:latin typeface="Montserrat"/>
              </a:rPr>
              <a:t>CITN</a:t>
            </a:r>
            <a:r>
              <a:rPr sz="1950" b="1">
                <a:solidFill>
                  <a:srgbClr val="3FE0D0"/>
                </a:solidFill>
                <a:latin typeface="Montserrat"/>
              </a:rPr>
              <a:t>·</a:t>
            </a:r>
            <a:r>
              <a:rPr sz="1950" b="1">
                <a:solidFill>
                  <a:srgbClr val="FFFFFF"/>
                </a:solidFill>
                <a:latin typeface="Montserrat"/>
              </a:rPr>
              <a:t>AI</a:t>
            </a:r>
          </a:p>
        </p:txBody>
      </p:sp>
      <p:sp>
        <p:nvSpPr>
          <p:cNvPr id="7" name="TextBox 6"/>
          <p:cNvSpPr txBox="1"/>
          <p:nvPr/>
        </p:nvSpPr>
        <p:spPr>
          <a:xfrm>
            <a:off x="950976" y="3246120"/>
            <a:ext cx="10972800" cy="365760"/>
          </a:xfrm>
          <a:prstGeom prst="rect">
            <a:avLst/>
          </a:prstGeom>
          <a:noFill/>
        </p:spPr>
        <p:txBody>
          <a:bodyPr wrap="square" lIns="0" tIns="0" rIns="0" bIns="0" anchor="t">
            <a:spAutoFit/>
          </a:bodyPr>
          <a:lstStyle/>
          <a:p>
            <a:pPr algn="l">
              <a:lnSpc>
                <a:spcPct val="110000"/>
              </a:lnSpc>
            </a:pPr>
            <a:r>
              <a:rPr sz="1950" b="1">
                <a:solidFill>
                  <a:srgbClr val="3FE0D0"/>
                </a:solidFill>
                <a:latin typeface="Montserrat"/>
              </a:rPr>
              <a:t>CHURCH IT NETWORK · WORKSHOP</a:t>
            </a:r>
          </a:p>
        </p:txBody>
      </p:sp>
      <p:sp>
        <p:nvSpPr>
          <p:cNvPr id="8" name="TextBox 7"/>
          <p:cNvSpPr txBox="1"/>
          <p:nvPr/>
        </p:nvSpPr>
        <p:spPr>
          <a:xfrm>
            <a:off x="950976" y="3703320"/>
            <a:ext cx="7315200" cy="365760"/>
          </a:xfrm>
          <a:prstGeom prst="rect">
            <a:avLst/>
          </a:prstGeom>
          <a:noFill/>
        </p:spPr>
        <p:txBody>
          <a:bodyPr wrap="square" lIns="0" tIns="0" rIns="0" bIns="0" anchor="t">
            <a:spAutoFit/>
          </a:bodyPr>
          <a:lstStyle/>
          <a:p>
            <a:pPr algn="l">
              <a:lnSpc>
                <a:spcPct val="110000"/>
              </a:lnSpc>
            </a:pPr>
            <a:r>
              <a:rPr sz="2100" b="0">
                <a:solidFill>
                  <a:srgbClr val="3FE0D0"/>
                </a:solidFill>
                <a:latin typeface="JetBrains Mono"/>
              </a:rPr>
              <a:t>PART 05 / 14</a:t>
            </a:r>
          </a:p>
        </p:txBody>
      </p:sp>
      <p:sp>
        <p:nvSpPr>
          <p:cNvPr id="9" name="TextBox 8"/>
          <p:cNvSpPr txBox="1"/>
          <p:nvPr/>
        </p:nvSpPr>
        <p:spPr>
          <a:xfrm>
            <a:off x="950976" y="4160520"/>
            <a:ext cx="14272982" cy="3113160"/>
          </a:xfrm>
          <a:prstGeom prst="rect">
            <a:avLst/>
          </a:prstGeom>
          <a:noFill/>
        </p:spPr>
        <p:txBody>
          <a:bodyPr wrap="square" lIns="0" tIns="0" rIns="0" bIns="0" anchor="t">
            <a:spAutoFit/>
          </a:bodyPr>
          <a:lstStyle/>
          <a:p>
            <a:pPr algn="l">
              <a:lnSpc>
                <a:spcPct val="105000"/>
              </a:lnSpc>
            </a:pPr>
            <a:r>
              <a:rPr sz="9900" b="1" dirty="0">
                <a:solidFill>
                  <a:srgbClr val="FFFFFF"/>
                </a:solidFill>
                <a:latin typeface="Montserrat"/>
              </a:rPr>
              <a:t>Building </a:t>
            </a:r>
            <a:r>
              <a:rPr sz="9900" b="1" dirty="0">
                <a:solidFill>
                  <a:srgbClr val="3FE0D0"/>
                </a:solidFill>
                <a:latin typeface="Montserrat"/>
              </a:rPr>
              <a:t>Context</a:t>
            </a:r>
            <a:r>
              <a:rPr sz="9900" b="1" dirty="0">
                <a:solidFill>
                  <a:srgbClr val="FFFFFF"/>
                </a:solidFill>
                <a:latin typeface="Montserrat"/>
              </a:rPr>
              <a:t> Part 2</a:t>
            </a:r>
            <a:r>
              <a:rPr lang="en-US" sz="9900" b="1" dirty="0">
                <a:solidFill>
                  <a:srgbClr val="FFFFFF"/>
                </a:solidFill>
                <a:latin typeface="Montserrat"/>
              </a:rPr>
              <a:t> – Claude Code</a:t>
            </a:r>
            <a:endParaRPr sz="9900" b="1" dirty="0">
              <a:solidFill>
                <a:srgbClr val="FFFFFF"/>
              </a:solidFill>
              <a:latin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475488"/>
            <a:ext cx="7315200" cy="237744"/>
          </a:xfrm>
          <a:prstGeom prst="rect">
            <a:avLst/>
          </a:prstGeom>
          <a:noFill/>
        </p:spPr>
        <p:txBody>
          <a:bodyPr wrap="square" lIns="0" tIns="0" rIns="0" bIns="0" anchor="t">
            <a:spAutoFit/>
          </a:bodyPr>
          <a:lstStyle/>
          <a:p>
            <a:pPr algn="l"/>
            <a:r>
              <a:rPr sz="1000" b="1">
                <a:solidFill>
                  <a:srgbClr val="6B6E78"/>
                </a:solidFill>
                <a:latin typeface="Arial"/>
              </a:rPr>
              <a:t>BUILDING CONTEXT · PART 1</a:t>
            </a:r>
          </a:p>
        </p:txBody>
      </p:sp>
      <p:sp>
        <p:nvSpPr>
          <p:cNvPr id="4" name="TextBox 3"/>
          <p:cNvSpPr txBox="1"/>
          <p:nvPr/>
        </p:nvSpPr>
        <p:spPr>
          <a:xfrm>
            <a:off x="15544800" y="475488"/>
            <a:ext cx="1691640" cy="237744"/>
          </a:xfrm>
          <a:prstGeom prst="rect">
            <a:avLst/>
          </a:prstGeom>
          <a:noFill/>
        </p:spPr>
        <p:txBody>
          <a:bodyPr wrap="square" lIns="0" tIns="0" rIns="0" bIns="0" anchor="t">
            <a:spAutoFit/>
          </a:bodyPr>
          <a:lstStyle/>
          <a:p>
            <a:pPr algn="r"/>
            <a:r>
              <a:rPr sz="1000" b="1">
                <a:solidFill>
                  <a:srgbClr val="6B6E78"/>
                </a:solidFill>
                <a:latin typeface="Arial"/>
              </a:rPr>
              <a:t>03 / 22</a:t>
            </a:r>
          </a:p>
        </p:txBody>
      </p:sp>
      <p:sp>
        <p:nvSpPr>
          <p:cNvPr id="5" name="Rectangle 4"/>
          <p:cNvSpPr/>
          <p:nvPr/>
        </p:nvSpPr>
        <p:spPr>
          <a:xfrm>
            <a:off x="1143000" y="9646920"/>
            <a:ext cx="16002000" cy="8000"/>
          </a:xfrm>
          <a:prstGeom prst="rect">
            <a:avLst/>
          </a:prstGeom>
          <a:solidFill>
            <a:srgbClr val="DC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43000" y="2093976"/>
            <a:ext cx="16459200" cy="310896"/>
          </a:xfrm>
          <a:prstGeom prst="rect">
            <a:avLst/>
          </a:prstGeom>
          <a:noFill/>
        </p:spPr>
        <p:txBody>
          <a:bodyPr wrap="square" lIns="0" tIns="0" rIns="0" bIns="0" anchor="t">
            <a:spAutoFit/>
          </a:bodyPr>
          <a:lstStyle/>
          <a:p>
            <a:pPr algn="l"/>
            <a:r>
              <a:rPr sz="1100" b="1">
                <a:solidFill>
                  <a:srgbClr val="F58220"/>
                </a:solidFill>
                <a:latin typeface="Arial"/>
              </a:rPr>
              <a:t>WHAT YOU'LL LEAVE WITH</a:t>
            </a:r>
          </a:p>
        </p:txBody>
      </p:sp>
      <p:sp>
        <p:nvSpPr>
          <p:cNvPr id="8" name="TextBox 7"/>
          <p:cNvSpPr txBox="1"/>
          <p:nvPr/>
        </p:nvSpPr>
        <p:spPr>
          <a:xfrm>
            <a:off x="1143000" y="2606040"/>
            <a:ext cx="16459200" cy="707886"/>
          </a:xfrm>
          <a:prstGeom prst="rect">
            <a:avLst/>
          </a:prstGeom>
          <a:noFill/>
        </p:spPr>
        <p:txBody>
          <a:bodyPr wrap="square" lIns="0" tIns="0" rIns="0" bIns="0" anchor="t">
            <a:spAutoFit/>
          </a:bodyPr>
          <a:lstStyle/>
          <a:p>
            <a:pPr algn="l"/>
            <a:r>
              <a:rPr lang="en-US" sz="4600" b="1" dirty="0">
                <a:solidFill>
                  <a:srgbClr val="14161C"/>
                </a:solidFill>
                <a:latin typeface="Arial"/>
              </a:rPr>
              <a:t>Comprehensive overview of Claude Code</a:t>
            </a:r>
            <a:endParaRPr sz="4600" b="1" dirty="0">
              <a:solidFill>
                <a:srgbClr val="14161C"/>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143000" y="944880"/>
            <a:ext cx="6041950" cy="320040"/>
          </a:xfrm>
          <a:prstGeom prst="rect">
            <a:avLst/>
          </a:prstGeom>
          <a:noFill/>
          <a:ln/>
        </p:spPr>
        <p:txBody>
          <a:bodyPr wrap="square" lIns="25400" tIns="25400" rIns="25400" bIns="25400" rtlCol="0" anchor="t">
            <a:normAutofit lnSpcReduction="10000"/>
          </a:bodyPr>
          <a:lstStyle/>
          <a:p>
            <a:pPr marL="0" indent="0" algn="l">
              <a:buNone/>
            </a:pPr>
            <a:r>
              <a:rPr lang="en-US" sz="1800" b="1" kern="0" spc="288" dirty="0">
                <a:solidFill>
                  <a:srgbClr val="F58220"/>
                </a:solidFill>
                <a:latin typeface="Montserrat" pitchFamily="34" charset="0"/>
                <a:ea typeface="Montserrat" pitchFamily="34" charset="-122"/>
                <a:cs typeface="Montserrat" pitchFamily="34" charset="-120"/>
              </a:rPr>
              <a:t>AI CONTEXT ENGINEERING WORKSHOP</a:t>
            </a:r>
            <a:endParaRPr lang="en-US" sz="1800" dirty="0"/>
          </a:p>
        </p:txBody>
      </p:sp>
      <p:pic>
        <p:nvPicPr>
          <p:cNvPr id="3" name="Image 0" descr="preencoded.png"/>
          <p:cNvPicPr>
            <a:picLocks noChangeAspect="1"/>
          </p:cNvPicPr>
          <p:nvPr/>
        </p:nvPicPr>
        <p:blipFill>
          <a:blip r:embed="rId3"/>
          <a:stretch>
            <a:fillRect/>
          </a:stretch>
        </p:blipFill>
        <p:spPr>
          <a:xfrm>
            <a:off x="16799084" y="914400"/>
            <a:ext cx="345916" cy="342900"/>
          </a:xfrm>
          <a:prstGeom prst="rect">
            <a:avLst/>
          </a:prstGeom>
        </p:spPr>
      </p:pic>
      <p:sp>
        <p:nvSpPr>
          <p:cNvPr id="4" name="Shape 1"/>
          <p:cNvSpPr/>
          <p:nvPr/>
        </p:nvSpPr>
        <p:spPr>
          <a:xfrm>
            <a:off x="1143000" y="1317784"/>
            <a:ext cx="3578860" cy="487680"/>
          </a:xfrm>
          <a:prstGeom prst="roundRect">
            <a:avLst>
              <a:gd name="adj" fmla="val 50000"/>
            </a:avLst>
          </a:prstGeom>
          <a:solidFill>
            <a:srgbClr val="FFFFFF"/>
          </a:solidFill>
          <a:ln w="7620">
            <a:solidFill>
              <a:srgbClr val="2A2D38"/>
            </a:solidFill>
            <a:prstDash val="solid"/>
          </a:ln>
        </p:spPr>
        <p:txBody>
          <a:bodyPr/>
          <a:lstStyle/>
          <a:p>
            <a:endParaRPr lang="en-US" dirty="0"/>
          </a:p>
        </p:txBody>
      </p:sp>
      <p:sp>
        <p:nvSpPr>
          <p:cNvPr id="6" name="Text 3"/>
          <p:cNvSpPr/>
          <p:nvPr/>
        </p:nvSpPr>
        <p:spPr>
          <a:xfrm>
            <a:off x="1143000" y="1432529"/>
            <a:ext cx="3578860" cy="320040"/>
          </a:xfrm>
          <a:prstGeom prst="rect">
            <a:avLst/>
          </a:prstGeom>
          <a:noFill/>
          <a:ln/>
        </p:spPr>
        <p:txBody>
          <a:bodyPr wrap="square" lIns="0" tIns="0" rIns="0" bIns="0" rtlCol="0" anchor="t">
            <a:normAutofit/>
          </a:bodyPr>
          <a:lstStyle/>
          <a:p>
            <a:pPr marL="0" indent="0" algn="ctr">
              <a:buNone/>
            </a:pPr>
            <a:r>
              <a:rPr lang="en-US" sz="1800" b="1" kern="0" spc="180" dirty="0">
                <a:solidFill>
                  <a:srgbClr val="2A2D38"/>
                </a:solidFill>
                <a:latin typeface="Montserrat" pitchFamily="34" charset="0"/>
                <a:ea typeface="Montserrat" pitchFamily="34" charset="-122"/>
                <a:cs typeface="Montserrat" pitchFamily="34" charset="-120"/>
              </a:rPr>
              <a:t>PART 1 · THREE FILES</a:t>
            </a:r>
            <a:endParaRPr lang="en-US" sz="1800" dirty="0"/>
          </a:p>
        </p:txBody>
      </p:sp>
      <p:sp>
        <p:nvSpPr>
          <p:cNvPr id="7" name="Text 4"/>
          <p:cNvSpPr/>
          <p:nvPr/>
        </p:nvSpPr>
        <p:spPr>
          <a:xfrm>
            <a:off x="1143000" y="2148364"/>
            <a:ext cx="16482060" cy="3734752"/>
          </a:xfrm>
          <a:prstGeom prst="rect">
            <a:avLst/>
          </a:prstGeom>
          <a:noFill/>
          <a:ln/>
        </p:spPr>
        <p:txBody>
          <a:bodyPr wrap="square" lIns="25400" tIns="25400" rIns="25400" bIns="25400" rtlCol="0" anchor="t">
            <a:normAutofit/>
          </a:bodyPr>
          <a:lstStyle/>
          <a:p>
            <a:pPr marL="0" indent="0" algn="l">
              <a:lnSpc>
                <a:spcPct val="98005"/>
              </a:lnSpc>
              <a:buNone/>
            </a:pPr>
            <a:r>
              <a:rPr lang="en-US" sz="9900" b="1" kern="0" spc="-119" dirty="0">
                <a:solidFill>
                  <a:srgbClr val="2A2D38"/>
                </a:solidFill>
                <a:latin typeface="Montserrat" pitchFamily="34" charset="0"/>
                <a:ea typeface="Montserrat" pitchFamily="34" charset="-122"/>
                <a:cs typeface="Montserrat" pitchFamily="34" charset="-120"/>
              </a:rPr>
              <a:t>Claude</a:t>
            </a:r>
            <a:r>
              <a:rPr lang="en-US" sz="9900" b="1" kern="0" spc="-119" dirty="0">
                <a:solidFill>
                  <a:srgbClr val="F58220"/>
                </a:solidFill>
                <a:latin typeface="Montserrat" pitchFamily="34" charset="0"/>
                <a:ea typeface="Montserrat" pitchFamily="34" charset="-122"/>
                <a:cs typeface="Montserrat" pitchFamily="34" charset="-120"/>
              </a:rPr>
              <a:t>.md </a:t>
            </a:r>
            <a:r>
              <a:rPr lang="en-US" sz="9900" b="1" kern="0" spc="-119" dirty="0">
                <a:solidFill>
                  <a:srgbClr val="2A2D38"/>
                </a:solidFill>
                <a:latin typeface="Montserrat" pitchFamily="34" charset="0"/>
                <a:ea typeface="Montserrat" pitchFamily="34" charset="-122"/>
                <a:cs typeface="Montserrat" pitchFamily="34" charset="-120"/>
              </a:rPr>
              <a:t>, Memory, and Commands</a:t>
            </a:r>
            <a:endParaRPr lang="en-US" sz="9900" dirty="0"/>
          </a:p>
        </p:txBody>
      </p:sp>
      <p:sp>
        <p:nvSpPr>
          <p:cNvPr id="8" name="Text 5"/>
          <p:cNvSpPr/>
          <p:nvPr/>
        </p:nvSpPr>
        <p:spPr>
          <a:xfrm>
            <a:off x="1143000" y="6226016"/>
            <a:ext cx="12753975" cy="53340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3000" dirty="0">
                <a:solidFill>
                  <a:srgbClr val="6B6E78"/>
                </a:solidFill>
                <a:latin typeface="Inter" pitchFamily="34" charset="0"/>
                <a:ea typeface="Inter" pitchFamily="34" charset="-122"/>
                <a:cs typeface="Inter" pitchFamily="34" charset="-120"/>
              </a:rPr>
              <a:t>Three things that turn Claude Code from a chatbot into a teammate.</a:t>
            </a:r>
            <a:endParaRPr lang="en-US" sz="3000" dirty="0"/>
          </a:p>
        </p:txBody>
      </p:sp>
      <p:pic>
        <p:nvPicPr>
          <p:cNvPr id="9" name="Image 1" descr="preencoded.png"/>
          <p:cNvPicPr>
            <a:picLocks noChangeAspect="1"/>
          </p:cNvPicPr>
          <p:nvPr/>
        </p:nvPicPr>
        <p:blipFill>
          <a:blip r:embed="rId4"/>
          <a:stretch>
            <a:fillRect/>
          </a:stretch>
        </p:blipFill>
        <p:spPr>
          <a:xfrm>
            <a:off x="5467350" y="7502366"/>
            <a:ext cx="1714500" cy="1714500"/>
          </a:xfrm>
          <a:prstGeom prst="rect">
            <a:avLst/>
          </a:prstGeom>
        </p:spPr>
      </p:pic>
      <p:pic>
        <p:nvPicPr>
          <p:cNvPr id="10" name="Image 2" descr="preencoded.png"/>
          <p:cNvPicPr>
            <a:picLocks noChangeAspect="1"/>
          </p:cNvPicPr>
          <p:nvPr/>
        </p:nvPicPr>
        <p:blipFill>
          <a:blip r:embed="rId4"/>
          <a:stretch>
            <a:fillRect/>
          </a:stretch>
        </p:blipFill>
        <p:spPr>
          <a:xfrm>
            <a:off x="8286750" y="7502366"/>
            <a:ext cx="1714500" cy="1714500"/>
          </a:xfrm>
          <a:prstGeom prst="rect">
            <a:avLst/>
          </a:prstGeom>
        </p:spPr>
      </p:pic>
      <p:pic>
        <p:nvPicPr>
          <p:cNvPr id="11" name="Image 3" descr="preencoded.png"/>
          <p:cNvPicPr>
            <a:picLocks noChangeAspect="1"/>
          </p:cNvPicPr>
          <p:nvPr/>
        </p:nvPicPr>
        <p:blipFill>
          <a:blip r:embed="rId4"/>
          <a:stretch>
            <a:fillRect/>
          </a:stretch>
        </p:blipFill>
        <p:spPr>
          <a:xfrm>
            <a:off x="11106150" y="7502366"/>
            <a:ext cx="1714500" cy="1714500"/>
          </a:xfrm>
          <a:prstGeom prst="rect">
            <a:avLst/>
          </a:prstGeom>
        </p:spPr>
      </p:pic>
      <p:sp>
        <p:nvSpPr>
          <p:cNvPr id="12" name="Text 6"/>
          <p:cNvSpPr/>
          <p:nvPr/>
        </p:nvSpPr>
        <p:spPr>
          <a:xfrm>
            <a:off x="1143000" y="9547860"/>
            <a:ext cx="9925372" cy="320040"/>
          </a:xfrm>
          <a:prstGeom prst="rect">
            <a:avLst/>
          </a:prstGeom>
          <a:noFill/>
          <a:ln/>
        </p:spPr>
        <p:txBody>
          <a:bodyPr wrap="square" lIns="25400" tIns="25400" rIns="25400" bIns="25400" rtlCol="0" anchor="t">
            <a:normAutofit lnSpcReduction="10000"/>
          </a:bodyPr>
          <a:lstStyle/>
          <a:p>
            <a:pPr marL="0" indent="0" algn="l">
              <a:buNone/>
            </a:pPr>
            <a:r>
              <a:rPr lang="en-US" sz="1800" b="1" kern="0" spc="288" dirty="0">
                <a:solidFill>
                  <a:srgbClr val="9A9CA4"/>
                </a:solidFill>
                <a:latin typeface="Montserrat" pitchFamily="34" charset="0"/>
                <a:ea typeface="Montserrat" pitchFamily="34" charset="-122"/>
                <a:cs typeface="Montserrat" pitchFamily="34" charset="-120"/>
              </a:rPr>
              <a:t>PATRICK ABERNATHY — PRINCIPAL ENGINEER, AI ENABLEMENT</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7"/>
        <p:cNvGrpSpPr/>
        <p:nvPr/>
      </p:nvGrpSpPr>
      <p:grpSpPr>
        <a:xfrm>
          <a:off x="0" y="0"/>
          <a:ext cx="0" cy="0"/>
          <a:chOff x="0" y="0"/>
          <a:chExt cx="0" cy="0"/>
        </a:xfrm>
      </p:grpSpPr>
      <p:pic>
        <p:nvPicPr>
          <p:cNvPr id="3" name="Picture 2">
            <a:extLst>
              <a:ext uri="{FF2B5EF4-FFF2-40B4-BE49-F238E27FC236}">
                <a16:creationId xmlns:a16="http://schemas.microsoft.com/office/drawing/2014/main" id="{1C675F72-F8A4-C43E-BE59-DA21ED76CEF9}"/>
              </a:ext>
            </a:extLst>
          </p:cNvPr>
          <p:cNvPicPr>
            <a:picLocks noChangeAspect="1"/>
          </p:cNvPicPr>
          <p:nvPr/>
        </p:nvPicPr>
        <p:blipFill>
          <a:blip r:embed="rId3"/>
          <a:stretch>
            <a:fillRect/>
          </a:stretch>
        </p:blipFill>
        <p:spPr>
          <a:xfrm>
            <a:off x="776629" y="1823639"/>
            <a:ext cx="7235042" cy="7235042"/>
          </a:xfrm>
          <a:prstGeom prst="rect">
            <a:avLst/>
          </a:prstGeom>
        </p:spPr>
      </p:pic>
      <p:sp>
        <p:nvSpPr>
          <p:cNvPr id="38" name="Google Shape;38;p3"/>
          <p:cNvSpPr/>
          <p:nvPr/>
        </p:nvSpPr>
        <p:spPr>
          <a:xfrm>
            <a:off x="8572500" y="4130278"/>
            <a:ext cx="9025890" cy="333375"/>
          </a:xfrm>
          <a:prstGeom prst="rect">
            <a:avLst/>
          </a:prstGeom>
          <a:noFill/>
          <a:ln>
            <a:noFill/>
          </a:ln>
        </p:spPr>
        <p:txBody>
          <a:bodyPr spcFirstLastPara="1" wrap="square" lIns="25400" tIns="25400" rIns="25400" bIns="25400" anchor="t" anchorCtr="0">
            <a:normAutofit/>
          </a:bodyPr>
          <a:lstStyle/>
          <a:p>
            <a:pPr marL="0" marR="0" lvl="0" indent="0" algn="l" rtl="0">
              <a:spcBef>
                <a:spcPts val="0"/>
              </a:spcBef>
              <a:spcAft>
                <a:spcPts val="0"/>
              </a:spcAft>
              <a:buClr>
                <a:srgbClr val="F58220"/>
              </a:buClr>
              <a:buSzPts val="1800"/>
              <a:buFont typeface="JetBrains Mono"/>
              <a:buNone/>
            </a:pPr>
            <a:r>
              <a:rPr lang="en-US" sz="1800">
                <a:solidFill>
                  <a:srgbClr val="F58220"/>
                </a:solidFill>
                <a:latin typeface="JetBrains Mono"/>
                <a:ea typeface="JetBrains Mono"/>
                <a:cs typeface="JetBrains Mono"/>
                <a:sym typeface="JetBrains Mono"/>
              </a:rPr>
              <a:t>SPEAKER</a:t>
            </a:r>
            <a:endParaRPr sz="1800">
              <a:solidFill>
                <a:schemeClr val="dk1"/>
              </a:solidFill>
              <a:latin typeface="Calibri"/>
              <a:ea typeface="Calibri"/>
              <a:cs typeface="Calibri"/>
              <a:sym typeface="Calibri"/>
            </a:endParaRPr>
          </a:p>
        </p:txBody>
      </p:sp>
      <p:sp>
        <p:nvSpPr>
          <p:cNvPr id="39" name="Google Shape;39;p3"/>
          <p:cNvSpPr/>
          <p:nvPr/>
        </p:nvSpPr>
        <p:spPr>
          <a:xfrm>
            <a:off x="8572500" y="4631728"/>
            <a:ext cx="9025890" cy="952500"/>
          </a:xfrm>
          <a:prstGeom prst="rect">
            <a:avLst/>
          </a:prstGeom>
          <a:noFill/>
          <a:ln>
            <a:noFill/>
          </a:ln>
        </p:spPr>
        <p:txBody>
          <a:bodyPr spcFirstLastPara="1" wrap="square" lIns="25400" tIns="25400" rIns="25400" bIns="25400" anchor="t" anchorCtr="0">
            <a:normAutofit/>
          </a:bodyPr>
          <a:lstStyle/>
          <a:p>
            <a:pPr marL="0" marR="0" lvl="0" indent="0" algn="l" rtl="0">
              <a:lnSpc>
                <a:spcPct val="80000"/>
              </a:lnSpc>
              <a:spcBef>
                <a:spcPts val="0"/>
              </a:spcBef>
              <a:spcAft>
                <a:spcPts val="0"/>
              </a:spcAft>
              <a:buClr>
                <a:srgbClr val="2A2D38"/>
              </a:buClr>
              <a:buSzPts val="6660"/>
              <a:buFont typeface="Montserrat"/>
              <a:buNone/>
            </a:pPr>
            <a:r>
              <a:rPr lang="en-US" sz="6660" b="1" dirty="0">
                <a:solidFill>
                  <a:srgbClr val="2A2D38"/>
                </a:solidFill>
                <a:latin typeface="Montserrat"/>
                <a:ea typeface="Montserrat"/>
                <a:cs typeface="Montserrat"/>
                <a:sym typeface="Montserrat"/>
              </a:rPr>
              <a:t>Patrick Abernathy</a:t>
            </a:r>
            <a:endParaRPr sz="6660" dirty="0">
              <a:solidFill>
                <a:schemeClr val="dk1"/>
              </a:solidFill>
              <a:latin typeface="Calibri"/>
              <a:ea typeface="Calibri"/>
              <a:cs typeface="Calibri"/>
              <a:sym typeface="Calibri"/>
            </a:endParaRPr>
          </a:p>
        </p:txBody>
      </p:sp>
      <p:sp>
        <p:nvSpPr>
          <p:cNvPr id="40" name="Google Shape;40;p3"/>
          <p:cNvSpPr/>
          <p:nvPr/>
        </p:nvSpPr>
        <p:spPr>
          <a:xfrm>
            <a:off x="8584075" y="5696603"/>
            <a:ext cx="9025890" cy="4095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F58220"/>
              </a:buClr>
              <a:buSzPts val="2400"/>
              <a:buFont typeface="Montserrat"/>
              <a:buNone/>
            </a:pPr>
            <a:r>
              <a:rPr lang="en-US" sz="2400" b="1" dirty="0">
                <a:solidFill>
                  <a:srgbClr val="F58220"/>
                </a:solidFill>
                <a:latin typeface="Montserrat"/>
                <a:ea typeface="Montserrat"/>
                <a:cs typeface="Montserrat"/>
                <a:sym typeface="Montserrat"/>
              </a:rPr>
              <a:t>Principal Engineer, AI – ACS Technologies</a:t>
            </a:r>
            <a:endParaRPr sz="2400" dirty="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143000" y="944880"/>
            <a:ext cx="3260439" cy="320040"/>
          </a:xfrm>
          <a:prstGeom prst="rect">
            <a:avLst/>
          </a:prstGeom>
          <a:noFill/>
          <a:ln/>
        </p:spPr>
        <p:txBody>
          <a:bodyPr wrap="square" lIns="25400" tIns="25400" rIns="25400" bIns="25400" rtlCol="0" anchor="t">
            <a:normAutofit lnSpcReduction="10000"/>
          </a:bodyPr>
          <a:lstStyle/>
          <a:p>
            <a:pPr marL="0" indent="0" algn="l">
              <a:buNone/>
            </a:pPr>
            <a:r>
              <a:rPr lang="en-US" sz="1800" b="1" kern="0" spc="252" dirty="0">
                <a:solidFill>
                  <a:srgbClr val="6B6E78"/>
                </a:solidFill>
                <a:latin typeface="Montserrat" pitchFamily="34" charset="0"/>
                <a:ea typeface="Montserrat" pitchFamily="34" charset="-122"/>
                <a:cs typeface="Montserrat" pitchFamily="34" charset="-120"/>
              </a:rPr>
              <a:t>CHAPTER 1 · THE FILE</a:t>
            </a:r>
            <a:endParaRPr lang="en-US" sz="1800" dirty="0"/>
          </a:p>
        </p:txBody>
      </p:sp>
      <p:pic>
        <p:nvPicPr>
          <p:cNvPr id="3" name="Image 0" descr="preencoded.png"/>
          <p:cNvPicPr>
            <a:picLocks noChangeAspect="1"/>
          </p:cNvPicPr>
          <p:nvPr/>
        </p:nvPicPr>
        <p:blipFill>
          <a:blip r:embed="rId3"/>
          <a:stretch>
            <a:fillRect/>
          </a:stretch>
        </p:blipFill>
        <p:spPr>
          <a:xfrm>
            <a:off x="16799084" y="914400"/>
            <a:ext cx="345916" cy="342900"/>
          </a:xfrm>
          <a:prstGeom prst="rect">
            <a:avLst/>
          </a:prstGeom>
        </p:spPr>
      </p:pic>
      <p:sp>
        <p:nvSpPr>
          <p:cNvPr id="4" name="Text 1"/>
          <p:cNvSpPr/>
          <p:nvPr/>
        </p:nvSpPr>
        <p:spPr>
          <a:xfrm>
            <a:off x="1143000" y="2460546"/>
            <a:ext cx="8158619" cy="790892"/>
          </a:xfrm>
          <a:prstGeom prst="rect">
            <a:avLst/>
          </a:prstGeom>
          <a:noFill/>
          <a:ln/>
        </p:spPr>
        <p:txBody>
          <a:bodyPr wrap="square" lIns="25400" tIns="25400" rIns="25400" bIns="25400" rtlCol="0" anchor="t">
            <a:normAutofit fontScale="92500" lnSpcReduction="20000"/>
          </a:bodyPr>
          <a:lstStyle/>
          <a:p>
            <a:pPr marL="0" indent="0" algn="l">
              <a:lnSpc>
                <a:spcPct val="103991"/>
              </a:lnSpc>
              <a:buNone/>
            </a:pPr>
            <a:r>
              <a:rPr lang="en-US" sz="5700" b="1" kern="0" spc="-68" dirty="0">
                <a:solidFill>
                  <a:srgbClr val="2A2D38"/>
                </a:solidFill>
                <a:latin typeface="Montserrat" pitchFamily="34" charset="0"/>
                <a:ea typeface="Montserrat" pitchFamily="34" charset="-122"/>
                <a:cs typeface="Montserrat" pitchFamily="34" charset="-120"/>
              </a:rPr>
              <a:t>Meet </a:t>
            </a:r>
            <a:r>
              <a:rPr lang="en-US" sz="5700" b="1" kern="0" spc="-68" dirty="0">
                <a:solidFill>
                  <a:srgbClr val="F58220"/>
                </a:solidFill>
                <a:latin typeface="Montserrat" pitchFamily="34" charset="0"/>
                <a:ea typeface="Montserrat" pitchFamily="34" charset="-122"/>
                <a:cs typeface="Montserrat" pitchFamily="34" charset="-120"/>
              </a:rPr>
              <a:t>CLAUDE.md</a:t>
            </a:r>
            <a:endParaRPr lang="en-US" sz="5700" dirty="0"/>
          </a:p>
        </p:txBody>
      </p:sp>
      <p:sp>
        <p:nvSpPr>
          <p:cNvPr id="5" name="Shape 2"/>
          <p:cNvSpPr/>
          <p:nvPr/>
        </p:nvSpPr>
        <p:spPr>
          <a:xfrm>
            <a:off x="1143000" y="4331176"/>
            <a:ext cx="190500" cy="190500"/>
          </a:xfrm>
          <a:prstGeom prst="roundRect">
            <a:avLst>
              <a:gd name="adj" fmla="val 15000"/>
            </a:avLst>
          </a:prstGeom>
          <a:solidFill>
            <a:srgbClr val="F58220"/>
          </a:solidFill>
          <a:ln/>
        </p:spPr>
        <p:txBody>
          <a:bodyPr/>
          <a:lstStyle/>
          <a:p>
            <a:endParaRPr lang="en-US"/>
          </a:p>
        </p:txBody>
      </p:sp>
      <p:sp>
        <p:nvSpPr>
          <p:cNvPr id="6" name="Text 3"/>
          <p:cNvSpPr/>
          <p:nvPr/>
        </p:nvSpPr>
        <p:spPr>
          <a:xfrm>
            <a:off x="1562100" y="4117816"/>
            <a:ext cx="7726946" cy="891540"/>
          </a:xfrm>
          <a:prstGeom prst="rect">
            <a:avLst/>
          </a:prstGeom>
          <a:noFill/>
          <a:ln/>
        </p:spPr>
        <p:txBody>
          <a:bodyPr wrap="square" lIns="25400" tIns="25400" rIns="25400" bIns="25400" rtlCol="0" anchor="t">
            <a:noAutofit/>
          </a:bodyPr>
          <a:lstStyle/>
          <a:p>
            <a:pPr marL="0" indent="0" algn="l">
              <a:lnSpc>
                <a:spcPct val="140000"/>
              </a:lnSpc>
              <a:buNone/>
            </a:pPr>
            <a:r>
              <a:rPr lang="en-US" sz="2400" dirty="0">
                <a:solidFill>
                  <a:srgbClr val="2A2D38"/>
                </a:solidFill>
                <a:ea typeface="Inter" pitchFamily="34" charset="-122"/>
                <a:cs typeface="Inter" pitchFamily="34" charset="-120"/>
              </a:rPr>
              <a:t>A plain text file Claude reads every time it works on your project.</a:t>
            </a:r>
            <a:endParaRPr lang="en-US" sz="2400" dirty="0"/>
          </a:p>
        </p:txBody>
      </p:sp>
      <p:sp>
        <p:nvSpPr>
          <p:cNvPr id="7" name="Shape 4"/>
          <p:cNvSpPr/>
          <p:nvPr/>
        </p:nvSpPr>
        <p:spPr>
          <a:xfrm>
            <a:off x="1143000" y="5451316"/>
            <a:ext cx="190500" cy="190500"/>
          </a:xfrm>
          <a:prstGeom prst="roundRect">
            <a:avLst>
              <a:gd name="adj" fmla="val 15000"/>
            </a:avLst>
          </a:prstGeom>
          <a:solidFill>
            <a:srgbClr val="F58220"/>
          </a:solidFill>
          <a:ln/>
        </p:spPr>
        <p:txBody>
          <a:bodyPr/>
          <a:lstStyle/>
          <a:p>
            <a:endParaRPr lang="en-US"/>
          </a:p>
        </p:txBody>
      </p:sp>
      <p:sp>
        <p:nvSpPr>
          <p:cNvPr id="8" name="Text 5"/>
          <p:cNvSpPr/>
          <p:nvPr/>
        </p:nvSpPr>
        <p:spPr>
          <a:xfrm>
            <a:off x="1562100" y="5237956"/>
            <a:ext cx="7726946" cy="1318260"/>
          </a:xfrm>
          <a:prstGeom prst="rect">
            <a:avLst/>
          </a:prstGeom>
          <a:noFill/>
          <a:ln/>
        </p:spPr>
        <p:txBody>
          <a:bodyPr wrap="square" lIns="25400" tIns="25400" rIns="25400" bIns="25400" rtlCol="0" anchor="t">
            <a:normAutofit/>
          </a:bodyPr>
          <a:lstStyle/>
          <a:p>
            <a:pPr marL="0" indent="0" algn="l">
              <a:lnSpc>
                <a:spcPct val="140000"/>
              </a:lnSpc>
              <a:buNone/>
            </a:pPr>
            <a:r>
              <a:rPr lang="en-US" sz="2400" dirty="0">
                <a:solidFill>
                  <a:srgbClr val="2A2D38"/>
                </a:solidFill>
                <a:ea typeface="Inter" pitchFamily="34" charset="-122"/>
                <a:cs typeface="Inter" pitchFamily="34" charset="-120"/>
              </a:rPr>
              <a:t>Like a sticky note on the fridge — anyone who walks into the kitchen sees it before they start cooking.</a:t>
            </a:r>
            <a:endParaRPr lang="en-US" sz="2400" dirty="0"/>
          </a:p>
        </p:txBody>
      </p:sp>
      <p:sp>
        <p:nvSpPr>
          <p:cNvPr id="9" name="Shape 6"/>
          <p:cNvSpPr/>
          <p:nvPr/>
        </p:nvSpPr>
        <p:spPr>
          <a:xfrm>
            <a:off x="1143000" y="6789465"/>
            <a:ext cx="190500" cy="190500"/>
          </a:xfrm>
          <a:prstGeom prst="roundRect">
            <a:avLst>
              <a:gd name="adj" fmla="val 15000"/>
            </a:avLst>
          </a:prstGeom>
          <a:solidFill>
            <a:srgbClr val="F58220"/>
          </a:solidFill>
          <a:ln/>
        </p:spPr>
        <p:txBody>
          <a:bodyPr/>
          <a:lstStyle/>
          <a:p>
            <a:endParaRPr lang="en-US"/>
          </a:p>
        </p:txBody>
      </p:sp>
      <p:sp>
        <p:nvSpPr>
          <p:cNvPr id="10" name="Text 7"/>
          <p:cNvSpPr/>
          <p:nvPr/>
        </p:nvSpPr>
        <p:spPr>
          <a:xfrm>
            <a:off x="1562100" y="6557055"/>
            <a:ext cx="7726946" cy="464820"/>
          </a:xfrm>
          <a:prstGeom prst="rect">
            <a:avLst/>
          </a:prstGeom>
          <a:noFill/>
          <a:ln/>
        </p:spPr>
        <p:txBody>
          <a:bodyPr wrap="square" lIns="25400" tIns="25400" rIns="25400" bIns="25400" rtlCol="0" anchor="t">
            <a:noAutofit/>
          </a:bodyPr>
          <a:lstStyle/>
          <a:p>
            <a:pPr marL="0" indent="0" algn="l">
              <a:lnSpc>
                <a:spcPct val="140000"/>
              </a:lnSpc>
              <a:buNone/>
            </a:pPr>
            <a:r>
              <a:rPr lang="en-US" sz="2400" dirty="0">
                <a:solidFill>
                  <a:srgbClr val="2A2D38"/>
                </a:solidFill>
                <a:ea typeface="Inter" pitchFamily="34" charset="-122"/>
                <a:cs typeface="Inter" pitchFamily="34" charset="-120"/>
              </a:rPr>
              <a:t>Not magic. Not configuration. Just notes for the AI.</a:t>
            </a:r>
            <a:endParaRPr lang="en-US" sz="2400" dirty="0"/>
          </a:p>
        </p:txBody>
      </p:sp>
      <p:sp>
        <p:nvSpPr>
          <p:cNvPr id="11" name="Shape 8"/>
          <p:cNvSpPr/>
          <p:nvPr/>
        </p:nvSpPr>
        <p:spPr>
          <a:xfrm>
            <a:off x="1143000" y="7446713"/>
            <a:ext cx="190500" cy="190500"/>
          </a:xfrm>
          <a:prstGeom prst="roundRect">
            <a:avLst>
              <a:gd name="adj" fmla="val 15000"/>
            </a:avLst>
          </a:prstGeom>
          <a:solidFill>
            <a:srgbClr val="F58220"/>
          </a:solidFill>
          <a:ln/>
        </p:spPr>
        <p:txBody>
          <a:bodyPr/>
          <a:lstStyle/>
          <a:p>
            <a:endParaRPr lang="en-US"/>
          </a:p>
        </p:txBody>
      </p:sp>
      <p:sp>
        <p:nvSpPr>
          <p:cNvPr id="12" name="Text 9"/>
          <p:cNvSpPr/>
          <p:nvPr/>
        </p:nvSpPr>
        <p:spPr>
          <a:xfrm>
            <a:off x="1562100" y="7250476"/>
            <a:ext cx="7726946" cy="891540"/>
          </a:xfrm>
          <a:prstGeom prst="rect">
            <a:avLst/>
          </a:prstGeom>
          <a:noFill/>
          <a:ln/>
        </p:spPr>
        <p:txBody>
          <a:bodyPr wrap="square" lIns="25400" tIns="25400" rIns="25400" bIns="25400" rtlCol="0" anchor="t">
            <a:noAutofit/>
          </a:bodyPr>
          <a:lstStyle/>
          <a:p>
            <a:pPr marL="0" indent="0" algn="l">
              <a:lnSpc>
                <a:spcPct val="130000"/>
              </a:lnSpc>
              <a:buNone/>
            </a:pPr>
            <a:r>
              <a:rPr lang="en-US" sz="2400" dirty="0">
                <a:solidFill>
                  <a:srgbClr val="2A2D38"/>
                </a:solidFill>
                <a:ea typeface="Inter" pitchFamily="34" charset="-122"/>
                <a:cs typeface="Inter" pitchFamily="34" charset="-120"/>
              </a:rPr>
              <a:t>If you've ever explained the same thing to a new hire three times, this file is for you.</a:t>
            </a:r>
            <a:endParaRPr lang="en-US" sz="2400" dirty="0"/>
          </a:p>
        </p:txBody>
      </p:sp>
      <p:pic>
        <p:nvPicPr>
          <p:cNvPr id="13" name="Image 1" descr="preencoded.png"/>
          <p:cNvPicPr>
            <a:picLocks noChangeAspect="1"/>
          </p:cNvPicPr>
          <p:nvPr/>
        </p:nvPicPr>
        <p:blipFill>
          <a:blip r:embed="rId4"/>
          <a:stretch>
            <a:fillRect/>
          </a:stretch>
        </p:blipFill>
        <p:spPr>
          <a:xfrm>
            <a:off x="10989945" y="2628900"/>
            <a:ext cx="5143500" cy="5905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9208"/>
            <a:ext cx="18288000" cy="10287000"/>
          </a:xfrm>
          <a:prstGeom prst="rect">
            <a:avLst/>
          </a:prstGeom>
          <a:solidFill>
            <a:srgbClr val="F7F5F1"/>
          </a:solidFill>
          <a:ln/>
        </p:spPr>
        <p:txBody>
          <a:bodyPr/>
          <a:lstStyle/>
          <a:p>
            <a:endParaRPr lang="en-US"/>
          </a:p>
        </p:txBody>
      </p:sp>
      <p:sp>
        <p:nvSpPr>
          <p:cNvPr id="3" name="Text 1"/>
          <p:cNvSpPr/>
          <p:nvPr/>
        </p:nvSpPr>
        <p:spPr>
          <a:xfrm>
            <a:off x="1143000" y="944880"/>
            <a:ext cx="3260439" cy="320040"/>
          </a:xfrm>
          <a:prstGeom prst="rect">
            <a:avLst/>
          </a:prstGeom>
          <a:noFill/>
          <a:ln/>
        </p:spPr>
        <p:txBody>
          <a:bodyPr wrap="square" lIns="25400" tIns="25400" rIns="25400" bIns="25400" rtlCol="0" anchor="t">
            <a:normAutofit lnSpcReduction="10000"/>
          </a:bodyPr>
          <a:lstStyle/>
          <a:p>
            <a:pPr marL="0" indent="0" algn="l">
              <a:buNone/>
            </a:pPr>
            <a:r>
              <a:rPr lang="en-US" sz="1800" b="1" kern="0" spc="252" dirty="0">
                <a:solidFill>
                  <a:srgbClr val="6B6E78"/>
                </a:solidFill>
                <a:latin typeface="Montserrat" pitchFamily="34" charset="0"/>
                <a:ea typeface="Montserrat" pitchFamily="34" charset="-122"/>
                <a:cs typeface="Montserrat" pitchFamily="34" charset="-120"/>
              </a:rPr>
              <a:t>CHAPTER 1 · THE FILE</a:t>
            </a:r>
            <a:endParaRPr lang="en-US" sz="1800" dirty="0"/>
          </a:p>
        </p:txBody>
      </p:sp>
      <p:pic>
        <p:nvPicPr>
          <p:cNvPr id="4" name="Image 0" descr="preencoded.png"/>
          <p:cNvPicPr>
            <a:picLocks noChangeAspect="1"/>
          </p:cNvPicPr>
          <p:nvPr/>
        </p:nvPicPr>
        <p:blipFill>
          <a:blip r:embed="rId3"/>
          <a:stretch>
            <a:fillRect/>
          </a:stretch>
        </p:blipFill>
        <p:spPr>
          <a:xfrm>
            <a:off x="16799084" y="914400"/>
            <a:ext cx="345916" cy="342900"/>
          </a:xfrm>
          <a:prstGeom prst="rect">
            <a:avLst/>
          </a:prstGeom>
        </p:spPr>
      </p:pic>
      <p:sp>
        <p:nvSpPr>
          <p:cNvPr id="5" name="Text 2"/>
          <p:cNvSpPr/>
          <p:nvPr/>
        </p:nvSpPr>
        <p:spPr>
          <a:xfrm>
            <a:off x="1143000" y="2290851"/>
            <a:ext cx="8547126" cy="1543685"/>
          </a:xfrm>
          <a:prstGeom prst="rect">
            <a:avLst/>
          </a:prstGeom>
          <a:noFill/>
          <a:ln/>
        </p:spPr>
        <p:txBody>
          <a:bodyPr wrap="square" lIns="25400" tIns="25400" rIns="25400" bIns="25400" rtlCol="0" anchor="t">
            <a:noAutofit/>
          </a:bodyPr>
          <a:lstStyle/>
          <a:p>
            <a:pPr marL="0" indent="0" algn="l">
              <a:lnSpc>
                <a:spcPct val="103991"/>
              </a:lnSpc>
              <a:buNone/>
            </a:pPr>
            <a:r>
              <a:rPr lang="en-US" sz="5300" b="1" kern="0" spc="-68" dirty="0">
                <a:solidFill>
                  <a:srgbClr val="2A2D38"/>
                </a:solidFill>
                <a:latin typeface="Montserrat" pitchFamily="34" charset="0"/>
                <a:ea typeface="Montserrat" pitchFamily="34" charset="-122"/>
                <a:cs typeface="Montserrat" pitchFamily="34" charset="-120"/>
              </a:rPr>
              <a:t>The project-level </a:t>
            </a:r>
            <a:r>
              <a:rPr lang="en-US" sz="5300" b="1" kern="0" spc="-68" dirty="0">
                <a:solidFill>
                  <a:srgbClr val="F58220"/>
                </a:solidFill>
                <a:latin typeface="Montserrat" pitchFamily="34" charset="0"/>
                <a:ea typeface="Montserrat" pitchFamily="34" charset="-122"/>
                <a:cs typeface="Montserrat" pitchFamily="34" charset="-120"/>
              </a:rPr>
              <a:t>CLAUDE.md</a:t>
            </a:r>
            <a:endParaRPr lang="en-US" sz="5300" b="1" dirty="0"/>
          </a:p>
        </p:txBody>
      </p:sp>
      <p:sp>
        <p:nvSpPr>
          <p:cNvPr id="6" name="Shape 3"/>
          <p:cNvSpPr/>
          <p:nvPr/>
        </p:nvSpPr>
        <p:spPr>
          <a:xfrm>
            <a:off x="1143000" y="5099456"/>
            <a:ext cx="190500" cy="190500"/>
          </a:xfrm>
          <a:prstGeom prst="roundRect">
            <a:avLst>
              <a:gd name="adj" fmla="val 15000"/>
            </a:avLst>
          </a:prstGeom>
          <a:solidFill>
            <a:srgbClr val="F58220"/>
          </a:solidFill>
          <a:ln/>
        </p:spPr>
        <p:txBody>
          <a:bodyPr/>
          <a:lstStyle/>
          <a:p>
            <a:endParaRPr lang="en-US"/>
          </a:p>
        </p:txBody>
      </p:sp>
      <p:sp>
        <p:nvSpPr>
          <p:cNvPr id="7" name="Text 4"/>
          <p:cNvSpPr/>
          <p:nvPr/>
        </p:nvSpPr>
        <p:spPr>
          <a:xfrm>
            <a:off x="1562100" y="4920932"/>
            <a:ext cx="8115453" cy="46482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400" dirty="0">
                <a:solidFill>
                  <a:srgbClr val="2A2D38"/>
                </a:solidFill>
                <a:ea typeface="Inter" pitchFamily="34" charset="-122"/>
                <a:cs typeface="Inter" pitchFamily="34" charset="-120"/>
              </a:rPr>
              <a:t>Lives at the top of your project folder.</a:t>
            </a:r>
            <a:endParaRPr lang="en-US" sz="2400" dirty="0"/>
          </a:p>
        </p:txBody>
      </p:sp>
      <p:sp>
        <p:nvSpPr>
          <p:cNvPr id="8" name="Shape 5"/>
          <p:cNvSpPr/>
          <p:nvPr/>
        </p:nvSpPr>
        <p:spPr>
          <a:xfrm>
            <a:off x="1143000" y="5792876"/>
            <a:ext cx="190500" cy="190500"/>
          </a:xfrm>
          <a:prstGeom prst="roundRect">
            <a:avLst>
              <a:gd name="adj" fmla="val 15000"/>
            </a:avLst>
          </a:prstGeom>
          <a:solidFill>
            <a:srgbClr val="F58220"/>
          </a:solidFill>
          <a:ln/>
        </p:spPr>
        <p:txBody>
          <a:bodyPr/>
          <a:lstStyle/>
          <a:p>
            <a:endParaRPr lang="en-US"/>
          </a:p>
        </p:txBody>
      </p:sp>
      <p:sp>
        <p:nvSpPr>
          <p:cNvPr id="9" name="Text 6"/>
          <p:cNvSpPr/>
          <p:nvPr/>
        </p:nvSpPr>
        <p:spPr>
          <a:xfrm>
            <a:off x="1562100" y="5614353"/>
            <a:ext cx="8115453" cy="46482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400" dirty="0">
                <a:solidFill>
                  <a:srgbClr val="2A2D38"/>
                </a:solidFill>
                <a:ea typeface="Inter" pitchFamily="34" charset="-122"/>
                <a:cs typeface="Inter" pitchFamily="34" charset="-120"/>
              </a:rPr>
              <a:t>Tells Claude what </a:t>
            </a:r>
            <a:r>
              <a:rPr lang="en-US" sz="2400" i="1" dirty="0">
                <a:solidFill>
                  <a:srgbClr val="2A2D38"/>
                </a:solidFill>
                <a:ea typeface="Inter" pitchFamily="34" charset="-122"/>
                <a:cs typeface="Inter" pitchFamily="34" charset="-120"/>
              </a:rPr>
              <a:t>this </a:t>
            </a:r>
            <a:r>
              <a:rPr lang="en-US" sz="2400" dirty="0">
                <a:solidFill>
                  <a:srgbClr val="2A2D38"/>
                </a:solidFill>
                <a:ea typeface="Inter" pitchFamily="34" charset="-122"/>
                <a:cs typeface="Inter" pitchFamily="34" charset="-120"/>
              </a:rPr>
              <a:t>specific project needs to know.</a:t>
            </a:r>
            <a:endParaRPr lang="en-US" sz="2400" dirty="0"/>
          </a:p>
        </p:txBody>
      </p:sp>
      <p:sp>
        <p:nvSpPr>
          <p:cNvPr id="10" name="Shape 7"/>
          <p:cNvSpPr/>
          <p:nvPr/>
        </p:nvSpPr>
        <p:spPr>
          <a:xfrm>
            <a:off x="1143000" y="6486296"/>
            <a:ext cx="190500" cy="190500"/>
          </a:xfrm>
          <a:prstGeom prst="roundRect">
            <a:avLst>
              <a:gd name="adj" fmla="val 15000"/>
            </a:avLst>
          </a:prstGeom>
          <a:solidFill>
            <a:srgbClr val="F58220"/>
          </a:solidFill>
          <a:ln/>
        </p:spPr>
        <p:txBody>
          <a:bodyPr/>
          <a:lstStyle/>
          <a:p>
            <a:endParaRPr lang="en-US"/>
          </a:p>
        </p:txBody>
      </p:sp>
      <p:sp>
        <p:nvSpPr>
          <p:cNvPr id="11" name="Text 8"/>
          <p:cNvSpPr/>
          <p:nvPr/>
        </p:nvSpPr>
        <p:spPr>
          <a:xfrm>
            <a:off x="1562100" y="6307773"/>
            <a:ext cx="8115453" cy="8915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400" dirty="0">
                <a:solidFill>
                  <a:srgbClr val="2A2D38"/>
                </a:solidFill>
                <a:ea typeface="Inter" pitchFamily="34" charset="-122"/>
                <a:cs typeface="Inter" pitchFamily="34" charset="-120"/>
              </a:rPr>
              <a:t>Things like: which framework, naming conventions, gotchas, "the user's name is Tripp, not Trip."</a:t>
            </a:r>
            <a:endParaRPr lang="en-US" sz="2400" dirty="0"/>
          </a:p>
        </p:txBody>
      </p:sp>
      <p:sp>
        <p:nvSpPr>
          <p:cNvPr id="12" name="Shape 9"/>
          <p:cNvSpPr/>
          <p:nvPr/>
        </p:nvSpPr>
        <p:spPr>
          <a:xfrm>
            <a:off x="1143000" y="7606437"/>
            <a:ext cx="190500" cy="190500"/>
          </a:xfrm>
          <a:prstGeom prst="roundRect">
            <a:avLst>
              <a:gd name="adj" fmla="val 15000"/>
            </a:avLst>
          </a:prstGeom>
          <a:solidFill>
            <a:srgbClr val="F58220"/>
          </a:solidFill>
          <a:ln/>
        </p:spPr>
        <p:txBody>
          <a:bodyPr/>
          <a:lstStyle/>
          <a:p>
            <a:endParaRPr lang="en-US"/>
          </a:p>
        </p:txBody>
      </p:sp>
      <p:sp>
        <p:nvSpPr>
          <p:cNvPr id="13" name="Text 10"/>
          <p:cNvSpPr/>
          <p:nvPr/>
        </p:nvSpPr>
        <p:spPr>
          <a:xfrm>
            <a:off x="1562100" y="7427912"/>
            <a:ext cx="8115453" cy="8915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400" dirty="0">
                <a:solidFill>
                  <a:srgbClr val="2A2D38"/>
                </a:solidFill>
                <a:ea typeface="Inter" pitchFamily="34" charset="-122"/>
                <a:cs typeface="Inter" pitchFamily="34" charset="-120"/>
              </a:rPr>
              <a:t>Everyone on the team sees the same notes — no more "Claude keeps forgetting."</a:t>
            </a:r>
            <a:endParaRPr lang="en-US" sz="2400" dirty="0"/>
          </a:p>
        </p:txBody>
      </p:sp>
      <p:sp>
        <p:nvSpPr>
          <p:cNvPr id="14" name="Shape 11"/>
          <p:cNvSpPr/>
          <p:nvPr/>
        </p:nvSpPr>
        <p:spPr>
          <a:xfrm>
            <a:off x="10355580" y="2883218"/>
            <a:ext cx="6789420" cy="3838575"/>
          </a:xfrm>
          <a:prstGeom prst="roundRect">
            <a:avLst>
              <a:gd name="adj" fmla="val 2978"/>
            </a:avLst>
          </a:prstGeom>
          <a:solidFill>
            <a:srgbClr val="FFFFFF"/>
          </a:solidFill>
          <a:ln w="7620">
            <a:solidFill>
              <a:srgbClr val="E5E5E7"/>
            </a:solidFill>
            <a:prstDash val="solid"/>
          </a:ln>
          <a:effectLst>
            <a:outerShdw blurRad="114300" dist="38100" dir="5400000" algn="bl" rotWithShape="0">
              <a:srgbClr val="2A2D38">
                <a:alpha val="8000"/>
              </a:srgbClr>
            </a:outerShdw>
          </a:effectLst>
        </p:spPr>
        <p:txBody>
          <a:bodyPr/>
          <a:lstStyle/>
          <a:p>
            <a:endParaRPr lang="en-US"/>
          </a:p>
        </p:txBody>
      </p:sp>
      <p:sp>
        <p:nvSpPr>
          <p:cNvPr id="15" name="Text 12"/>
          <p:cNvSpPr/>
          <p:nvPr/>
        </p:nvSpPr>
        <p:spPr>
          <a:xfrm>
            <a:off x="10744200" y="3233738"/>
            <a:ext cx="6192546" cy="459105"/>
          </a:xfrm>
          <a:prstGeom prst="rect">
            <a:avLst/>
          </a:prstGeom>
          <a:noFill/>
          <a:ln/>
        </p:spPr>
        <p:txBody>
          <a:bodyPr wrap="square" lIns="25400" tIns="25400" rIns="25400" bIns="25400" rtlCol="0" anchor="t">
            <a:normAutofit fontScale="92500" lnSpcReduction="10000"/>
          </a:bodyPr>
          <a:lstStyle/>
          <a:p>
            <a:pPr marL="0" indent="0" algn="l">
              <a:lnSpc>
                <a:spcPct val="170000"/>
              </a:lnSpc>
              <a:buNone/>
            </a:pPr>
            <a:r>
              <a:rPr lang="en-US" sz="1950" dirty="0">
                <a:solidFill>
                  <a:srgbClr val="6B6E78"/>
                </a:solidFill>
                <a:latin typeface="ui-monospace" pitchFamily="34" charset="0"/>
                <a:ea typeface="ui-monospace" pitchFamily="34" charset="-122"/>
                <a:cs typeface="ui-monospace" pitchFamily="34" charset="-120"/>
              </a:rPr>
              <a:t>church-it-workshop/</a:t>
            </a:r>
            <a:endParaRPr lang="en-US" sz="1950" dirty="0"/>
          </a:p>
        </p:txBody>
      </p:sp>
      <p:sp>
        <p:nvSpPr>
          <p:cNvPr id="16" name="Text 13"/>
          <p:cNvSpPr/>
          <p:nvPr/>
        </p:nvSpPr>
        <p:spPr>
          <a:xfrm>
            <a:off x="11010900" y="3654743"/>
            <a:ext cx="5925846" cy="459105"/>
          </a:xfrm>
          <a:prstGeom prst="rect">
            <a:avLst/>
          </a:prstGeom>
          <a:noFill/>
          <a:ln/>
        </p:spPr>
        <p:txBody>
          <a:bodyPr wrap="square" lIns="25400" tIns="25400" rIns="25400" bIns="25400" rtlCol="0" anchor="t">
            <a:normAutofit fontScale="92500"/>
          </a:bodyPr>
          <a:lstStyle/>
          <a:p>
            <a:pPr marL="0" indent="0" algn="l">
              <a:lnSpc>
                <a:spcPct val="170000"/>
              </a:lnSpc>
              <a:buNone/>
            </a:pPr>
            <a:r>
              <a:rPr lang="en-US" sz="1950" dirty="0">
                <a:solidFill>
                  <a:srgbClr val="6B6E78"/>
                </a:solidFill>
                <a:latin typeface="ui-monospace" pitchFamily="34" charset="0"/>
                <a:ea typeface="ui-monospace" pitchFamily="34" charset="-122"/>
                <a:cs typeface="ui-monospace" pitchFamily="34" charset="-120"/>
              </a:rPr>
              <a:t>├── .git/</a:t>
            </a:r>
            <a:endParaRPr lang="en-US" sz="1950" dirty="0"/>
          </a:p>
        </p:txBody>
      </p:sp>
      <p:sp>
        <p:nvSpPr>
          <p:cNvPr id="17" name="Text 14"/>
          <p:cNvSpPr/>
          <p:nvPr/>
        </p:nvSpPr>
        <p:spPr>
          <a:xfrm>
            <a:off x="11010900" y="4075747"/>
            <a:ext cx="5925846" cy="459105"/>
          </a:xfrm>
          <a:prstGeom prst="rect">
            <a:avLst/>
          </a:prstGeom>
          <a:noFill/>
          <a:ln/>
        </p:spPr>
        <p:txBody>
          <a:bodyPr wrap="square" lIns="25400" tIns="25400" rIns="25400" bIns="25400" rtlCol="0" anchor="t">
            <a:normAutofit fontScale="92500"/>
          </a:bodyPr>
          <a:lstStyle/>
          <a:p>
            <a:pPr marL="0" indent="0" algn="l">
              <a:lnSpc>
                <a:spcPct val="170000"/>
              </a:lnSpc>
              <a:buNone/>
            </a:pPr>
            <a:r>
              <a:rPr lang="en-US" sz="1950" dirty="0">
                <a:solidFill>
                  <a:srgbClr val="6B6E78"/>
                </a:solidFill>
                <a:latin typeface="ui-monospace" pitchFamily="34" charset="0"/>
                <a:ea typeface="ui-monospace" pitchFamily="34" charset="-122"/>
                <a:cs typeface="ui-monospace" pitchFamily="34" charset="-120"/>
              </a:rPr>
              <a:t>├── docs/</a:t>
            </a:r>
            <a:endParaRPr lang="en-US" sz="1950" dirty="0"/>
          </a:p>
        </p:txBody>
      </p:sp>
      <p:sp>
        <p:nvSpPr>
          <p:cNvPr id="18" name="Text 15"/>
          <p:cNvSpPr/>
          <p:nvPr/>
        </p:nvSpPr>
        <p:spPr>
          <a:xfrm>
            <a:off x="11010900" y="4496753"/>
            <a:ext cx="5925846" cy="459105"/>
          </a:xfrm>
          <a:prstGeom prst="rect">
            <a:avLst/>
          </a:prstGeom>
          <a:noFill/>
          <a:ln/>
        </p:spPr>
        <p:txBody>
          <a:bodyPr wrap="square" lIns="25400" tIns="25400" rIns="25400" bIns="25400" rtlCol="0" anchor="t">
            <a:normAutofit fontScale="92500"/>
          </a:bodyPr>
          <a:lstStyle/>
          <a:p>
            <a:pPr marL="0" indent="0" algn="l">
              <a:lnSpc>
                <a:spcPct val="170000"/>
              </a:lnSpc>
              <a:buNone/>
            </a:pPr>
            <a:r>
              <a:rPr lang="en-US" sz="1950" dirty="0">
                <a:solidFill>
                  <a:srgbClr val="6B6E78"/>
                </a:solidFill>
                <a:latin typeface="ui-monospace" pitchFamily="34" charset="0"/>
                <a:ea typeface="ui-monospace" pitchFamily="34" charset="-122"/>
                <a:cs typeface="ui-monospace" pitchFamily="34" charset="-120"/>
              </a:rPr>
              <a:t>├── src/</a:t>
            </a:r>
            <a:endParaRPr lang="en-US" sz="1950" dirty="0"/>
          </a:p>
        </p:txBody>
      </p:sp>
      <p:sp>
        <p:nvSpPr>
          <p:cNvPr id="19" name="Text 16"/>
          <p:cNvSpPr/>
          <p:nvPr/>
        </p:nvSpPr>
        <p:spPr>
          <a:xfrm>
            <a:off x="11010900" y="4917757"/>
            <a:ext cx="5925846" cy="459105"/>
          </a:xfrm>
          <a:prstGeom prst="rect">
            <a:avLst/>
          </a:prstGeom>
          <a:noFill/>
          <a:ln/>
        </p:spPr>
        <p:txBody>
          <a:bodyPr wrap="square" lIns="25400" tIns="25400" rIns="25400" bIns="25400" rtlCol="0" anchor="t">
            <a:normAutofit fontScale="92500"/>
          </a:bodyPr>
          <a:lstStyle/>
          <a:p>
            <a:pPr marL="0" indent="0" algn="l">
              <a:lnSpc>
                <a:spcPct val="170000"/>
              </a:lnSpc>
              <a:buNone/>
            </a:pPr>
            <a:r>
              <a:rPr lang="en-US" sz="1950" dirty="0">
                <a:solidFill>
                  <a:srgbClr val="6B6E78"/>
                </a:solidFill>
                <a:latin typeface="ui-monospace" pitchFamily="34" charset="0"/>
                <a:ea typeface="ui-monospace" pitchFamily="34" charset="-122"/>
                <a:cs typeface="ui-monospace" pitchFamily="34" charset="-120"/>
              </a:rPr>
              <a:t>├── package.json</a:t>
            </a:r>
            <a:endParaRPr lang="en-US" sz="1950" dirty="0"/>
          </a:p>
        </p:txBody>
      </p:sp>
      <p:sp>
        <p:nvSpPr>
          <p:cNvPr id="20" name="Shape 17"/>
          <p:cNvSpPr/>
          <p:nvPr/>
        </p:nvSpPr>
        <p:spPr>
          <a:xfrm>
            <a:off x="10668000" y="5376863"/>
            <a:ext cx="6164580" cy="535305"/>
          </a:xfrm>
          <a:prstGeom prst="roundRect">
            <a:avLst>
              <a:gd name="adj" fmla="val 7117"/>
            </a:avLst>
          </a:prstGeom>
          <a:solidFill>
            <a:srgbClr val="FDEBD8"/>
          </a:solidFill>
          <a:ln/>
        </p:spPr>
        <p:txBody>
          <a:bodyPr/>
          <a:lstStyle/>
          <a:p>
            <a:endParaRPr lang="en-US"/>
          </a:p>
        </p:txBody>
      </p:sp>
      <p:sp>
        <p:nvSpPr>
          <p:cNvPr id="21" name="Text 18"/>
          <p:cNvSpPr/>
          <p:nvPr/>
        </p:nvSpPr>
        <p:spPr>
          <a:xfrm>
            <a:off x="11010900" y="5434013"/>
            <a:ext cx="5930418" cy="459105"/>
          </a:xfrm>
          <a:prstGeom prst="rect">
            <a:avLst/>
          </a:prstGeom>
          <a:noFill/>
          <a:ln/>
        </p:spPr>
        <p:txBody>
          <a:bodyPr wrap="square" lIns="25400" tIns="25400" rIns="25400" bIns="25400" rtlCol="0" anchor="t">
            <a:normAutofit fontScale="92500"/>
          </a:bodyPr>
          <a:lstStyle/>
          <a:p>
            <a:pPr marL="0" indent="0" algn="l">
              <a:lnSpc>
                <a:spcPct val="170000"/>
              </a:lnSpc>
              <a:buNone/>
            </a:pPr>
            <a:r>
              <a:rPr lang="en-US" sz="1950" b="1" dirty="0">
                <a:solidFill>
                  <a:srgbClr val="2A2D38"/>
                </a:solidFill>
                <a:latin typeface="ui-monospace" pitchFamily="34" charset="0"/>
                <a:ea typeface="ui-monospace" pitchFamily="34" charset="-122"/>
                <a:cs typeface="ui-monospace" pitchFamily="34" charset="-120"/>
              </a:rPr>
              <a:t>├── CLAUDE.md </a:t>
            </a:r>
            <a:r>
              <a:rPr lang="en-US" sz="1650" dirty="0">
                <a:solidFill>
                  <a:srgbClr val="D86A0E"/>
                </a:solidFill>
                <a:latin typeface="ui-monospace" pitchFamily="34" charset="0"/>
                <a:ea typeface="ui-monospace" pitchFamily="34" charset="-122"/>
                <a:cs typeface="ui-monospace" pitchFamily="34" charset="-120"/>
              </a:rPr>
              <a:t># project rules</a:t>
            </a:r>
            <a:endParaRPr lang="en-US" sz="1950" dirty="0"/>
          </a:p>
        </p:txBody>
      </p:sp>
      <p:sp>
        <p:nvSpPr>
          <p:cNvPr id="22" name="Text 19"/>
          <p:cNvSpPr/>
          <p:nvPr/>
        </p:nvSpPr>
        <p:spPr>
          <a:xfrm>
            <a:off x="11010900" y="5950268"/>
            <a:ext cx="5925846" cy="459105"/>
          </a:xfrm>
          <a:prstGeom prst="rect">
            <a:avLst/>
          </a:prstGeom>
          <a:noFill/>
          <a:ln/>
        </p:spPr>
        <p:txBody>
          <a:bodyPr wrap="square" lIns="25400" tIns="25400" rIns="25400" bIns="25400" rtlCol="0" anchor="t">
            <a:normAutofit fontScale="92500" lnSpcReduction="10000"/>
          </a:bodyPr>
          <a:lstStyle/>
          <a:p>
            <a:pPr marL="0" indent="0" algn="l">
              <a:lnSpc>
                <a:spcPct val="170000"/>
              </a:lnSpc>
              <a:buNone/>
            </a:pPr>
            <a:r>
              <a:rPr lang="en-US" sz="1950" dirty="0">
                <a:solidFill>
                  <a:srgbClr val="6B6E78"/>
                </a:solidFill>
                <a:latin typeface="ui-monospace" pitchFamily="34" charset="0"/>
                <a:ea typeface="ui-monospace" pitchFamily="34" charset="-122"/>
                <a:cs typeface="ui-monospace" pitchFamily="34" charset="-120"/>
              </a:rPr>
              <a:t>└── README.md</a:t>
            </a:r>
            <a:endParaRPr lang="en-US" sz="1950" dirty="0"/>
          </a:p>
        </p:txBody>
      </p:sp>
      <p:sp>
        <p:nvSpPr>
          <p:cNvPr id="23" name="Shape 20"/>
          <p:cNvSpPr/>
          <p:nvPr/>
        </p:nvSpPr>
        <p:spPr>
          <a:xfrm>
            <a:off x="10355580" y="7026593"/>
            <a:ext cx="6789420" cy="1253490"/>
          </a:xfrm>
          <a:prstGeom prst="roundRect">
            <a:avLst>
              <a:gd name="adj" fmla="val 9119"/>
            </a:avLst>
          </a:prstGeom>
          <a:solidFill>
            <a:srgbClr val="F7F5F1"/>
          </a:solidFill>
          <a:ln w="7620">
            <a:solidFill>
              <a:srgbClr val="E5E5E7"/>
            </a:solidFill>
            <a:prstDash val="solid"/>
          </a:ln>
          <a:effectLst>
            <a:outerShdw blurRad="114300" dist="38100" dir="5400000" algn="bl" rotWithShape="0">
              <a:srgbClr val="2A2D38">
                <a:alpha val="8000"/>
              </a:srgbClr>
            </a:outerShdw>
          </a:effectLst>
        </p:spPr>
        <p:txBody>
          <a:bodyPr/>
          <a:lstStyle/>
          <a:p>
            <a:endParaRPr lang="en-US"/>
          </a:p>
        </p:txBody>
      </p:sp>
      <p:sp>
        <p:nvSpPr>
          <p:cNvPr id="24" name="Text 21"/>
          <p:cNvSpPr/>
          <p:nvPr/>
        </p:nvSpPr>
        <p:spPr>
          <a:xfrm>
            <a:off x="10668000" y="7300913"/>
            <a:ext cx="6349518" cy="320040"/>
          </a:xfrm>
          <a:prstGeom prst="rect">
            <a:avLst/>
          </a:prstGeom>
          <a:noFill/>
          <a:ln/>
        </p:spPr>
        <p:txBody>
          <a:bodyPr wrap="square" lIns="25400" tIns="25400" rIns="25400" bIns="25400" rtlCol="0" anchor="t">
            <a:normAutofit lnSpcReduction="10000"/>
          </a:bodyPr>
          <a:lstStyle/>
          <a:p>
            <a:pPr marL="0" indent="0" algn="l">
              <a:buNone/>
            </a:pPr>
            <a:r>
              <a:rPr lang="en-US" sz="1800" b="1" kern="0" spc="288" dirty="0">
                <a:solidFill>
                  <a:srgbClr val="F58220"/>
                </a:solidFill>
                <a:latin typeface="Montserrat" pitchFamily="34" charset="0"/>
                <a:ea typeface="Montserrat" pitchFamily="34" charset="-122"/>
                <a:cs typeface="Montserrat" pitchFamily="34" charset="-120"/>
              </a:rPr>
              <a:t>FROM THIS REPO'S CLAUDE.MD</a:t>
            </a:r>
            <a:endParaRPr lang="en-US" sz="1800" dirty="0"/>
          </a:p>
        </p:txBody>
      </p:sp>
      <p:sp>
        <p:nvSpPr>
          <p:cNvPr id="25" name="Text 22"/>
          <p:cNvSpPr/>
          <p:nvPr/>
        </p:nvSpPr>
        <p:spPr>
          <a:xfrm>
            <a:off x="10668000" y="7716202"/>
            <a:ext cx="6349518" cy="32766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2A2D38"/>
                </a:solidFill>
                <a:latin typeface="ui-monospace" pitchFamily="34" charset="0"/>
                <a:ea typeface="ui-monospace" pitchFamily="34" charset="-122"/>
                <a:cs typeface="ui-monospace" pitchFamily="34" charset="-120"/>
              </a:rPr>
              <a:t>"The speaker's name is </a:t>
            </a:r>
            <a:r>
              <a:rPr lang="en-US" sz="1950" b="1" dirty="0">
                <a:solidFill>
                  <a:srgbClr val="D86A0E"/>
                </a:solidFill>
                <a:latin typeface="ui-monospace" pitchFamily="34" charset="0"/>
                <a:ea typeface="ui-monospace" pitchFamily="34" charset="-122"/>
                <a:cs typeface="ui-monospace" pitchFamily="34" charset="-120"/>
              </a:rPr>
              <a:t>Tripp</a:t>
            </a:r>
            <a:r>
              <a:rPr lang="en-US" sz="1950" dirty="0">
                <a:solidFill>
                  <a:srgbClr val="2A2D38"/>
                </a:solidFill>
                <a:latin typeface="ui-monospace" pitchFamily="34" charset="0"/>
                <a:ea typeface="ui-monospace" pitchFamily="34" charset="-122"/>
                <a:cs typeface="ui-monospace" pitchFamily="34" charset="-120"/>
              </a:rPr>
              <a:t>, not Trip."</a:t>
            </a:r>
            <a:endParaRPr lang="en-US" sz="1950" dirty="0"/>
          </a:p>
        </p:txBody>
      </p:sp>
      <p:pic>
        <p:nvPicPr>
          <p:cNvPr id="27" name="Picture 26">
            <a:extLst>
              <a:ext uri="{FF2B5EF4-FFF2-40B4-BE49-F238E27FC236}">
                <a16:creationId xmlns:a16="http://schemas.microsoft.com/office/drawing/2014/main" id="{5521B442-4882-08DE-99B1-8FB3A1F7E067}"/>
              </a:ext>
            </a:extLst>
          </p:cNvPr>
          <p:cNvPicPr>
            <a:picLocks noChangeAspect="1"/>
          </p:cNvPicPr>
          <p:nvPr/>
        </p:nvPicPr>
        <p:blipFill>
          <a:blip r:embed="rId4"/>
          <a:stretch>
            <a:fillRect/>
          </a:stretch>
        </p:blipFill>
        <p:spPr>
          <a:xfrm>
            <a:off x="10496713" y="2996377"/>
            <a:ext cx="6648287" cy="36200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1B1D24"/>
          </a:solidFill>
          <a:ln/>
        </p:spPr>
        <p:txBody>
          <a:bodyPr/>
          <a:lstStyle/>
          <a:p>
            <a:endParaRPr lang="en-US"/>
          </a:p>
        </p:txBody>
      </p:sp>
      <p:sp>
        <p:nvSpPr>
          <p:cNvPr id="3" name="Text 1"/>
          <p:cNvSpPr/>
          <p:nvPr/>
        </p:nvSpPr>
        <p:spPr>
          <a:xfrm>
            <a:off x="1143000" y="982980"/>
            <a:ext cx="3260439" cy="320040"/>
          </a:xfrm>
          <a:prstGeom prst="rect">
            <a:avLst/>
          </a:prstGeom>
          <a:noFill/>
          <a:ln/>
        </p:spPr>
        <p:txBody>
          <a:bodyPr wrap="square" lIns="25400" tIns="25400" rIns="25400" bIns="25400" rtlCol="0" anchor="t">
            <a:normAutofit lnSpcReduction="10000"/>
          </a:bodyPr>
          <a:lstStyle/>
          <a:p>
            <a:pPr marL="0" indent="0" algn="l">
              <a:buNone/>
            </a:pPr>
            <a:r>
              <a:rPr lang="en-US" sz="1800" b="1" kern="0" spc="252" dirty="0">
                <a:solidFill>
                  <a:srgbClr val="FFFFFF">
                    <a:alpha val="55000"/>
                  </a:srgbClr>
                </a:solidFill>
                <a:latin typeface="Montserrat" pitchFamily="34" charset="0"/>
                <a:ea typeface="Montserrat" pitchFamily="34" charset="-122"/>
                <a:cs typeface="Montserrat" pitchFamily="34" charset="-120"/>
              </a:rPr>
              <a:t>CHAPTER 1 · THE FILE</a:t>
            </a:r>
            <a:endParaRPr lang="en-US" sz="1800" dirty="0"/>
          </a:p>
        </p:txBody>
      </p:sp>
      <p:pic>
        <p:nvPicPr>
          <p:cNvPr id="4" name="Image 0" descr="preencoded.png"/>
          <p:cNvPicPr>
            <a:picLocks noChangeAspect="1"/>
          </p:cNvPicPr>
          <p:nvPr/>
        </p:nvPicPr>
        <p:blipFill>
          <a:blip r:embed="rId3"/>
          <a:stretch>
            <a:fillRect/>
          </a:stretch>
        </p:blipFill>
        <p:spPr>
          <a:xfrm>
            <a:off x="16722249" y="914400"/>
            <a:ext cx="422751" cy="419100"/>
          </a:xfrm>
          <a:prstGeom prst="rect">
            <a:avLst/>
          </a:prstGeom>
        </p:spPr>
      </p:pic>
      <p:sp>
        <p:nvSpPr>
          <p:cNvPr id="5" name="Shape 2"/>
          <p:cNvSpPr/>
          <p:nvPr/>
        </p:nvSpPr>
        <p:spPr>
          <a:xfrm>
            <a:off x="1143000" y="2240915"/>
            <a:ext cx="4421346" cy="487680"/>
          </a:xfrm>
          <a:prstGeom prst="roundRect">
            <a:avLst>
              <a:gd name="adj" fmla="val 50000"/>
            </a:avLst>
          </a:prstGeom>
          <a:solidFill>
            <a:srgbClr val="FDEBD8"/>
          </a:solidFill>
          <a:ln w="7620">
            <a:solidFill>
              <a:srgbClr val="F58220"/>
            </a:solidFill>
            <a:prstDash val="solid"/>
          </a:ln>
        </p:spPr>
        <p:txBody>
          <a:bodyPr/>
          <a:lstStyle/>
          <a:p>
            <a:endParaRPr lang="en-US"/>
          </a:p>
        </p:txBody>
      </p:sp>
      <p:sp>
        <p:nvSpPr>
          <p:cNvPr id="7" name="Text 4"/>
          <p:cNvSpPr/>
          <p:nvPr/>
        </p:nvSpPr>
        <p:spPr>
          <a:xfrm>
            <a:off x="1169256" y="2367535"/>
            <a:ext cx="4311438" cy="320040"/>
          </a:xfrm>
          <a:prstGeom prst="rect">
            <a:avLst/>
          </a:prstGeom>
          <a:noFill/>
          <a:ln/>
        </p:spPr>
        <p:txBody>
          <a:bodyPr wrap="square" lIns="0" tIns="0" rIns="0" bIns="0" rtlCol="0" anchor="t">
            <a:normAutofit/>
          </a:bodyPr>
          <a:lstStyle/>
          <a:p>
            <a:pPr marL="0" indent="0" algn="ctr">
              <a:buNone/>
            </a:pPr>
            <a:r>
              <a:rPr lang="en-US" sz="1800" b="1" kern="0" spc="180" dirty="0">
                <a:solidFill>
                  <a:srgbClr val="D86A0E"/>
                </a:solidFill>
                <a:latin typeface="Montserrat" pitchFamily="34" charset="0"/>
                <a:ea typeface="Montserrat" pitchFamily="34" charset="-122"/>
                <a:cs typeface="Montserrat" pitchFamily="34" charset="-120"/>
              </a:rPr>
              <a:t>ONE FILE · EVERY PROJECT</a:t>
            </a:r>
            <a:endParaRPr lang="en-US" sz="1800" dirty="0"/>
          </a:p>
        </p:txBody>
      </p:sp>
      <p:sp>
        <p:nvSpPr>
          <p:cNvPr id="8" name="Text 5"/>
          <p:cNvSpPr/>
          <p:nvPr/>
        </p:nvSpPr>
        <p:spPr>
          <a:xfrm>
            <a:off x="1143000" y="2995295"/>
            <a:ext cx="8547126" cy="1543685"/>
          </a:xfrm>
          <a:prstGeom prst="rect">
            <a:avLst/>
          </a:prstGeom>
          <a:noFill/>
          <a:ln/>
        </p:spPr>
        <p:txBody>
          <a:bodyPr wrap="square" lIns="25400" tIns="25400" rIns="25400" bIns="25400" rtlCol="0" anchor="t">
            <a:normAutofit fontScale="92500"/>
          </a:bodyPr>
          <a:lstStyle/>
          <a:p>
            <a:pPr marL="0" indent="0" algn="l">
              <a:lnSpc>
                <a:spcPct val="103991"/>
              </a:lnSpc>
              <a:buNone/>
            </a:pPr>
            <a:r>
              <a:rPr lang="en-US" sz="5700" b="1" kern="0" spc="-68" dirty="0">
                <a:solidFill>
                  <a:srgbClr val="FFFFFF"/>
                </a:solidFill>
                <a:latin typeface="Montserrat" pitchFamily="34" charset="0"/>
                <a:ea typeface="Montserrat" pitchFamily="34" charset="-122"/>
                <a:cs typeface="Montserrat" pitchFamily="34" charset="-120"/>
              </a:rPr>
              <a:t>The global </a:t>
            </a:r>
            <a:r>
              <a:rPr lang="en-US" sz="5700" b="1" kern="0" spc="-68" dirty="0">
                <a:solidFill>
                  <a:srgbClr val="F58220"/>
                </a:solidFill>
                <a:latin typeface="Montserrat" pitchFamily="34" charset="0"/>
                <a:ea typeface="Montserrat" pitchFamily="34" charset="-122"/>
                <a:cs typeface="Montserrat" pitchFamily="34" charset="-120"/>
              </a:rPr>
              <a:t>CLAUDE.md</a:t>
            </a:r>
            <a:endParaRPr lang="en-US" sz="5700" dirty="0"/>
          </a:p>
        </p:txBody>
      </p:sp>
      <p:sp>
        <p:nvSpPr>
          <p:cNvPr id="9" name="Text 6"/>
          <p:cNvSpPr/>
          <p:nvPr/>
        </p:nvSpPr>
        <p:spPr>
          <a:xfrm>
            <a:off x="1169255" y="4057287"/>
            <a:ext cx="8547126" cy="508635"/>
          </a:xfrm>
          <a:prstGeom prst="rect">
            <a:avLst/>
          </a:prstGeom>
          <a:noFill/>
          <a:ln/>
        </p:spPr>
        <p:txBody>
          <a:bodyPr wrap="square" lIns="25400" tIns="25400" rIns="25400" bIns="25400" rtlCol="0" anchor="t">
            <a:noAutofit/>
          </a:bodyPr>
          <a:lstStyle/>
          <a:p>
            <a:pPr marL="0" indent="0" algn="l">
              <a:lnSpc>
                <a:spcPct val="130000"/>
              </a:lnSpc>
              <a:buNone/>
            </a:pPr>
            <a:r>
              <a:rPr lang="en-US" sz="3000" dirty="0">
                <a:solidFill>
                  <a:srgbClr val="FFFFFF">
                    <a:alpha val="70000"/>
                  </a:srgbClr>
                </a:solidFill>
                <a:ea typeface="Inter" pitchFamily="34" charset="-122"/>
                <a:cs typeface="Inter" pitchFamily="34" charset="-120"/>
              </a:rPr>
              <a:t>One Ring to rule them all.</a:t>
            </a:r>
            <a:endParaRPr lang="en-US" sz="3000" dirty="0"/>
          </a:p>
        </p:txBody>
      </p:sp>
      <p:sp>
        <p:nvSpPr>
          <p:cNvPr id="10" name="Shape 7"/>
          <p:cNvSpPr/>
          <p:nvPr/>
        </p:nvSpPr>
        <p:spPr>
          <a:xfrm>
            <a:off x="1168374" y="5392875"/>
            <a:ext cx="190500" cy="190500"/>
          </a:xfrm>
          <a:prstGeom prst="roundRect">
            <a:avLst>
              <a:gd name="adj" fmla="val 15000"/>
            </a:avLst>
          </a:prstGeom>
          <a:solidFill>
            <a:srgbClr val="F58220"/>
          </a:solidFill>
          <a:ln/>
        </p:spPr>
        <p:txBody>
          <a:bodyPr/>
          <a:lstStyle/>
          <a:p>
            <a:endParaRPr lang="en-US"/>
          </a:p>
        </p:txBody>
      </p:sp>
      <p:sp>
        <p:nvSpPr>
          <p:cNvPr id="11" name="Text 8"/>
          <p:cNvSpPr/>
          <p:nvPr/>
        </p:nvSpPr>
        <p:spPr>
          <a:xfrm>
            <a:off x="1587474" y="5163729"/>
            <a:ext cx="8115453" cy="891540"/>
          </a:xfrm>
          <a:prstGeom prst="rect">
            <a:avLst/>
          </a:prstGeom>
          <a:noFill/>
          <a:ln/>
        </p:spPr>
        <p:txBody>
          <a:bodyPr wrap="square" lIns="25400" tIns="25400" rIns="25400" bIns="25400" rtlCol="0" anchor="t">
            <a:noAutofit/>
          </a:bodyPr>
          <a:lstStyle/>
          <a:p>
            <a:pPr marL="0" indent="0" algn="l">
              <a:lnSpc>
                <a:spcPct val="140000"/>
              </a:lnSpc>
              <a:buNone/>
            </a:pPr>
            <a:r>
              <a:rPr lang="en-US" sz="2400" dirty="0">
                <a:solidFill>
                  <a:srgbClr val="FFFFFF"/>
                </a:solidFill>
                <a:ea typeface="Inter"/>
                <a:cs typeface="Inter" pitchFamily="34" charset="-120"/>
              </a:rPr>
              <a:t>Lives in your home folder, not in any project</a:t>
            </a:r>
            <a:r>
              <a:rPr lang="en-US" sz="2400" dirty="0">
                <a:solidFill>
                  <a:srgbClr val="FFFFFF"/>
                </a:solidFill>
                <a:ea typeface="Inter" pitchFamily="34" charset="-122"/>
                <a:cs typeface="Inter" pitchFamily="34" charset="-120"/>
              </a:rPr>
              <a:t>: </a:t>
            </a:r>
          </a:p>
          <a:p>
            <a:pPr marL="0" indent="0" algn="l">
              <a:lnSpc>
                <a:spcPct val="140000"/>
              </a:lnSpc>
              <a:buNone/>
            </a:pPr>
            <a:r>
              <a:rPr lang="en-US" sz="2400" dirty="0">
                <a:solidFill>
                  <a:srgbClr val="F58220"/>
                </a:solidFill>
                <a:ea typeface="ui-monospace" pitchFamily="34" charset="-122"/>
                <a:cs typeface="ui-monospace" pitchFamily="34" charset="-120"/>
              </a:rPr>
              <a:t>~/.claude/CLAUDE.md</a:t>
            </a:r>
            <a:endParaRPr lang="en-US" sz="2400" dirty="0"/>
          </a:p>
        </p:txBody>
      </p:sp>
      <p:sp>
        <p:nvSpPr>
          <p:cNvPr id="12" name="Shape 9"/>
          <p:cNvSpPr/>
          <p:nvPr/>
        </p:nvSpPr>
        <p:spPr>
          <a:xfrm>
            <a:off x="1168374" y="6491153"/>
            <a:ext cx="190500" cy="190500"/>
          </a:xfrm>
          <a:prstGeom prst="roundRect">
            <a:avLst>
              <a:gd name="adj" fmla="val 15000"/>
            </a:avLst>
          </a:prstGeom>
          <a:solidFill>
            <a:srgbClr val="F58220"/>
          </a:solidFill>
          <a:ln/>
        </p:spPr>
        <p:txBody>
          <a:bodyPr/>
          <a:lstStyle/>
          <a:p>
            <a:endParaRPr lang="en-US"/>
          </a:p>
        </p:txBody>
      </p:sp>
      <p:sp>
        <p:nvSpPr>
          <p:cNvPr id="13" name="Text 10"/>
          <p:cNvSpPr/>
          <p:nvPr/>
        </p:nvSpPr>
        <p:spPr>
          <a:xfrm>
            <a:off x="1587474" y="6283869"/>
            <a:ext cx="8115453" cy="464820"/>
          </a:xfrm>
          <a:prstGeom prst="rect">
            <a:avLst/>
          </a:prstGeom>
          <a:noFill/>
          <a:ln/>
        </p:spPr>
        <p:txBody>
          <a:bodyPr wrap="square" lIns="25400" tIns="25400" rIns="25400" bIns="25400" rtlCol="0" anchor="t">
            <a:noAutofit/>
          </a:bodyPr>
          <a:lstStyle/>
          <a:p>
            <a:pPr marL="0" indent="0" algn="l">
              <a:lnSpc>
                <a:spcPct val="140000"/>
              </a:lnSpc>
              <a:buNone/>
            </a:pPr>
            <a:r>
              <a:rPr lang="en-US" sz="2400" dirty="0">
                <a:solidFill>
                  <a:srgbClr val="FFFFFF"/>
                </a:solidFill>
                <a:ea typeface="Inter" pitchFamily="34" charset="-122"/>
                <a:cs typeface="Inter" pitchFamily="34" charset="-120"/>
              </a:rPr>
              <a:t>Applies to every project you ever touch.</a:t>
            </a:r>
            <a:endParaRPr lang="en-US" sz="2400" dirty="0"/>
          </a:p>
        </p:txBody>
      </p:sp>
      <p:sp>
        <p:nvSpPr>
          <p:cNvPr id="14" name="Shape 11"/>
          <p:cNvSpPr/>
          <p:nvPr/>
        </p:nvSpPr>
        <p:spPr>
          <a:xfrm>
            <a:off x="1169255" y="7189337"/>
            <a:ext cx="190500" cy="190500"/>
          </a:xfrm>
          <a:prstGeom prst="roundRect">
            <a:avLst>
              <a:gd name="adj" fmla="val 15000"/>
            </a:avLst>
          </a:prstGeom>
          <a:solidFill>
            <a:srgbClr val="F58220"/>
          </a:solidFill>
          <a:ln/>
        </p:spPr>
        <p:txBody>
          <a:bodyPr/>
          <a:lstStyle/>
          <a:p>
            <a:endParaRPr lang="en-US"/>
          </a:p>
        </p:txBody>
      </p:sp>
      <p:sp>
        <p:nvSpPr>
          <p:cNvPr id="15" name="Text 12"/>
          <p:cNvSpPr/>
          <p:nvPr/>
        </p:nvSpPr>
        <p:spPr>
          <a:xfrm>
            <a:off x="1587474" y="6977289"/>
            <a:ext cx="8115453" cy="891540"/>
          </a:xfrm>
          <a:prstGeom prst="rect">
            <a:avLst/>
          </a:prstGeom>
          <a:noFill/>
          <a:ln/>
        </p:spPr>
        <p:txBody>
          <a:bodyPr wrap="square" lIns="25400" tIns="25400" rIns="25400" bIns="25400" rtlCol="0" anchor="t">
            <a:noAutofit/>
          </a:bodyPr>
          <a:lstStyle/>
          <a:p>
            <a:pPr marL="0" indent="0" algn="l">
              <a:lnSpc>
                <a:spcPct val="130000"/>
              </a:lnSpc>
              <a:buNone/>
            </a:pPr>
            <a:r>
              <a:rPr lang="en-US" sz="2400" dirty="0">
                <a:solidFill>
                  <a:srgbClr val="FFFFFF"/>
                </a:solidFill>
                <a:ea typeface="Inter" pitchFamily="34" charset="-122"/>
                <a:cs typeface="Inter" pitchFamily="34" charset="-120"/>
              </a:rPr>
              <a:t>For things that are true about </a:t>
            </a:r>
            <a:r>
              <a:rPr lang="en-US" sz="2400" i="1" dirty="0">
                <a:solidFill>
                  <a:srgbClr val="FFFFFF"/>
                </a:solidFill>
                <a:ea typeface="Inter" pitchFamily="34" charset="-122"/>
                <a:cs typeface="Inter" pitchFamily="34" charset="-120"/>
              </a:rPr>
              <a:t>you </a:t>
            </a:r>
            <a:r>
              <a:rPr lang="en-US" sz="2400" dirty="0">
                <a:solidFill>
                  <a:srgbClr val="FFFFFF"/>
                </a:solidFill>
                <a:ea typeface="Inter" pitchFamily="34" charset="-122"/>
                <a:cs typeface="Inter" pitchFamily="34" charset="-120"/>
              </a:rPr>
              <a:t>everywhere: branch naming, PR style, code review preferences.</a:t>
            </a:r>
            <a:endParaRPr lang="en-US" sz="2400" dirty="0"/>
          </a:p>
        </p:txBody>
      </p:sp>
      <p:sp>
        <p:nvSpPr>
          <p:cNvPr id="16" name="Shape 13"/>
          <p:cNvSpPr/>
          <p:nvPr/>
        </p:nvSpPr>
        <p:spPr>
          <a:xfrm>
            <a:off x="1150620" y="8311244"/>
            <a:ext cx="190500" cy="190500"/>
          </a:xfrm>
          <a:prstGeom prst="roundRect">
            <a:avLst>
              <a:gd name="adj" fmla="val 15000"/>
            </a:avLst>
          </a:prstGeom>
          <a:solidFill>
            <a:srgbClr val="F58220"/>
          </a:solidFill>
          <a:ln/>
        </p:spPr>
        <p:txBody>
          <a:bodyPr/>
          <a:lstStyle/>
          <a:p>
            <a:endParaRPr lang="en-US"/>
          </a:p>
        </p:txBody>
      </p:sp>
      <p:sp>
        <p:nvSpPr>
          <p:cNvPr id="17" name="Text 14"/>
          <p:cNvSpPr/>
          <p:nvPr/>
        </p:nvSpPr>
        <p:spPr>
          <a:xfrm>
            <a:off x="1587474" y="8097429"/>
            <a:ext cx="8115453" cy="464820"/>
          </a:xfrm>
          <a:prstGeom prst="rect">
            <a:avLst/>
          </a:prstGeom>
          <a:noFill/>
          <a:ln/>
        </p:spPr>
        <p:txBody>
          <a:bodyPr wrap="square" lIns="25400" tIns="25400" rIns="25400" bIns="25400" rtlCol="0" anchor="t">
            <a:noAutofit/>
          </a:bodyPr>
          <a:lstStyle/>
          <a:p>
            <a:pPr marL="0" indent="0" algn="l">
              <a:lnSpc>
                <a:spcPct val="140000"/>
              </a:lnSpc>
              <a:buNone/>
            </a:pPr>
            <a:r>
              <a:rPr lang="en-US" sz="2400" dirty="0">
                <a:solidFill>
                  <a:srgbClr val="FFFFFF"/>
                </a:solidFill>
                <a:ea typeface="Inter" pitchFamily="34" charset="-122"/>
                <a:cs typeface="Inter" pitchFamily="34" charset="-120"/>
              </a:rPr>
              <a:t>It's the guardian. It travels with you, project to project.</a:t>
            </a:r>
            <a:endParaRPr lang="en-US" sz="2400" dirty="0"/>
          </a:p>
        </p:txBody>
      </p:sp>
      <p:pic>
        <p:nvPicPr>
          <p:cNvPr id="18" name="Image 1" descr="preencoded.png"/>
          <p:cNvPicPr>
            <a:picLocks noChangeAspect="1"/>
          </p:cNvPicPr>
          <p:nvPr/>
        </p:nvPicPr>
        <p:blipFill>
          <a:blip r:embed="rId4"/>
          <a:stretch>
            <a:fillRect/>
          </a:stretch>
        </p:blipFill>
        <p:spPr>
          <a:xfrm>
            <a:off x="11273790" y="3143250"/>
            <a:ext cx="4953000" cy="4953000"/>
          </a:xfrm>
          <a:prstGeom prst="rect">
            <a:avLst/>
          </a:prstGeom>
        </p:spPr>
      </p:pic>
      <p:pic>
        <p:nvPicPr>
          <p:cNvPr id="20" name="Picture 19">
            <a:extLst>
              <a:ext uri="{FF2B5EF4-FFF2-40B4-BE49-F238E27FC236}">
                <a16:creationId xmlns:a16="http://schemas.microsoft.com/office/drawing/2014/main" id="{AD7C8A32-F697-3B9E-8FFA-309A392F5D1F}"/>
              </a:ext>
            </a:extLst>
          </p:cNvPr>
          <p:cNvPicPr>
            <a:picLocks noChangeAspect="1"/>
          </p:cNvPicPr>
          <p:nvPr/>
        </p:nvPicPr>
        <p:blipFill>
          <a:blip r:embed="rId5"/>
          <a:stretch>
            <a:fillRect/>
          </a:stretch>
        </p:blipFill>
        <p:spPr>
          <a:xfrm>
            <a:off x="10668724" y="2879655"/>
            <a:ext cx="5955940" cy="540743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143000" y="944880"/>
            <a:ext cx="3260439" cy="320040"/>
          </a:xfrm>
          <a:prstGeom prst="rect">
            <a:avLst/>
          </a:prstGeom>
          <a:noFill/>
          <a:ln/>
        </p:spPr>
        <p:txBody>
          <a:bodyPr wrap="square" lIns="25400" tIns="25400" rIns="25400" bIns="25400" rtlCol="0" anchor="t">
            <a:normAutofit lnSpcReduction="10000"/>
          </a:bodyPr>
          <a:lstStyle/>
          <a:p>
            <a:pPr marL="0" indent="0" algn="l">
              <a:buNone/>
            </a:pPr>
            <a:r>
              <a:rPr lang="en-US" sz="1800" b="1" kern="0" spc="252" dirty="0">
                <a:solidFill>
                  <a:srgbClr val="6B6E78"/>
                </a:solidFill>
                <a:latin typeface="Montserrat" pitchFamily="34" charset="0"/>
                <a:ea typeface="Montserrat" pitchFamily="34" charset="-122"/>
                <a:cs typeface="Montserrat" pitchFamily="34" charset="-120"/>
              </a:rPr>
              <a:t>CHAPTER 1 · THE FILE</a:t>
            </a:r>
            <a:endParaRPr lang="en-US" sz="1800" dirty="0"/>
          </a:p>
        </p:txBody>
      </p:sp>
      <p:pic>
        <p:nvPicPr>
          <p:cNvPr id="3" name="Image 0" descr="preencoded.png"/>
          <p:cNvPicPr>
            <a:picLocks noChangeAspect="1"/>
          </p:cNvPicPr>
          <p:nvPr/>
        </p:nvPicPr>
        <p:blipFill>
          <a:blip r:embed="rId3"/>
          <a:stretch>
            <a:fillRect/>
          </a:stretch>
        </p:blipFill>
        <p:spPr>
          <a:xfrm>
            <a:off x="16799084" y="914400"/>
            <a:ext cx="345916" cy="342900"/>
          </a:xfrm>
          <a:prstGeom prst="rect">
            <a:avLst/>
          </a:prstGeom>
        </p:spPr>
      </p:pic>
      <p:sp>
        <p:nvSpPr>
          <p:cNvPr id="4" name="Text 1"/>
          <p:cNvSpPr/>
          <p:nvPr/>
        </p:nvSpPr>
        <p:spPr>
          <a:xfrm>
            <a:off x="1146810" y="2194560"/>
            <a:ext cx="16482060" cy="790893"/>
          </a:xfrm>
          <a:prstGeom prst="rect">
            <a:avLst/>
          </a:prstGeom>
          <a:noFill/>
          <a:ln/>
        </p:spPr>
        <p:txBody>
          <a:bodyPr wrap="square" lIns="25400" tIns="25400" rIns="25400" bIns="25400" rtlCol="0" anchor="t">
            <a:noAutofit/>
          </a:bodyPr>
          <a:lstStyle/>
          <a:p>
            <a:pPr marL="0" indent="0" algn="l">
              <a:lnSpc>
                <a:spcPct val="103991"/>
              </a:lnSpc>
              <a:buNone/>
            </a:pPr>
            <a:r>
              <a:rPr lang="en-US" sz="5300" b="1" kern="0" spc="-68" dirty="0">
                <a:solidFill>
                  <a:srgbClr val="2A2D38"/>
                </a:solidFill>
                <a:latin typeface="Montserrat" pitchFamily="34" charset="0"/>
                <a:ea typeface="Montserrat" pitchFamily="34" charset="-122"/>
                <a:cs typeface="Montserrat" pitchFamily="34" charset="-120"/>
              </a:rPr>
              <a:t>How they stack</a:t>
            </a:r>
            <a:endParaRPr lang="en-US" sz="5300" dirty="0"/>
          </a:p>
        </p:txBody>
      </p:sp>
      <p:sp>
        <p:nvSpPr>
          <p:cNvPr id="5" name="Shape 2"/>
          <p:cNvSpPr/>
          <p:nvPr/>
        </p:nvSpPr>
        <p:spPr>
          <a:xfrm>
            <a:off x="1143000" y="4544536"/>
            <a:ext cx="190500" cy="190500"/>
          </a:xfrm>
          <a:prstGeom prst="roundRect">
            <a:avLst>
              <a:gd name="adj" fmla="val 15000"/>
            </a:avLst>
          </a:prstGeom>
          <a:solidFill>
            <a:srgbClr val="F58220"/>
          </a:solidFill>
          <a:ln/>
        </p:spPr>
        <p:txBody>
          <a:bodyPr/>
          <a:lstStyle/>
          <a:p>
            <a:endParaRPr lang="en-US"/>
          </a:p>
        </p:txBody>
      </p:sp>
      <p:sp>
        <p:nvSpPr>
          <p:cNvPr id="6" name="Text 3"/>
          <p:cNvSpPr/>
          <p:nvPr/>
        </p:nvSpPr>
        <p:spPr>
          <a:xfrm>
            <a:off x="1562100" y="4331176"/>
            <a:ext cx="6796397" cy="891540"/>
          </a:xfrm>
          <a:prstGeom prst="rect">
            <a:avLst/>
          </a:prstGeom>
          <a:noFill/>
          <a:ln/>
        </p:spPr>
        <p:txBody>
          <a:bodyPr wrap="square" lIns="25400" tIns="25400" rIns="25400" bIns="25400" rtlCol="0" anchor="t">
            <a:normAutofit/>
          </a:bodyPr>
          <a:lstStyle/>
          <a:p>
            <a:pPr marL="0" indent="0" algn="l">
              <a:lnSpc>
                <a:spcPct val="140000"/>
              </a:lnSpc>
              <a:buNone/>
            </a:pPr>
            <a:r>
              <a:rPr lang="en-US" sz="2400" dirty="0">
                <a:solidFill>
                  <a:srgbClr val="2A2D38"/>
                </a:solidFill>
                <a:ea typeface="Inter" pitchFamily="34" charset="-122"/>
                <a:cs typeface="Inter" pitchFamily="34" charset="-120"/>
              </a:rPr>
              <a:t>Both files load at the same time, every conversation.</a:t>
            </a:r>
            <a:endParaRPr lang="en-US" sz="2400" dirty="0"/>
          </a:p>
        </p:txBody>
      </p:sp>
      <p:sp>
        <p:nvSpPr>
          <p:cNvPr id="7" name="Shape 4"/>
          <p:cNvSpPr/>
          <p:nvPr/>
        </p:nvSpPr>
        <p:spPr>
          <a:xfrm>
            <a:off x="1143000" y="5664676"/>
            <a:ext cx="190500" cy="190500"/>
          </a:xfrm>
          <a:prstGeom prst="roundRect">
            <a:avLst>
              <a:gd name="adj" fmla="val 15000"/>
            </a:avLst>
          </a:prstGeom>
          <a:solidFill>
            <a:srgbClr val="F58220"/>
          </a:solidFill>
          <a:ln/>
        </p:spPr>
        <p:txBody>
          <a:bodyPr/>
          <a:lstStyle/>
          <a:p>
            <a:endParaRPr lang="en-US"/>
          </a:p>
        </p:txBody>
      </p:sp>
      <p:sp>
        <p:nvSpPr>
          <p:cNvPr id="8" name="Text 5"/>
          <p:cNvSpPr/>
          <p:nvPr/>
        </p:nvSpPr>
        <p:spPr>
          <a:xfrm>
            <a:off x="1562100" y="5451316"/>
            <a:ext cx="6796397" cy="891540"/>
          </a:xfrm>
          <a:prstGeom prst="rect">
            <a:avLst/>
          </a:prstGeom>
          <a:noFill/>
          <a:ln/>
        </p:spPr>
        <p:txBody>
          <a:bodyPr wrap="square" lIns="25400" tIns="25400" rIns="25400" bIns="25400" rtlCol="0" anchor="t">
            <a:normAutofit/>
          </a:bodyPr>
          <a:lstStyle/>
          <a:p>
            <a:pPr marL="0" indent="0" algn="l">
              <a:lnSpc>
                <a:spcPct val="140000"/>
              </a:lnSpc>
              <a:buNone/>
            </a:pPr>
            <a:r>
              <a:rPr lang="en-US" sz="2400" dirty="0">
                <a:solidFill>
                  <a:srgbClr val="2A2D38"/>
                </a:solidFill>
                <a:ea typeface="Inter" pitchFamily="34" charset="-122"/>
                <a:cs typeface="Inter" pitchFamily="34" charset="-120"/>
              </a:rPr>
              <a:t>Global rules first, then project rules layered on top.</a:t>
            </a:r>
            <a:endParaRPr lang="en-US" sz="2400" dirty="0"/>
          </a:p>
        </p:txBody>
      </p:sp>
      <p:sp>
        <p:nvSpPr>
          <p:cNvPr id="9" name="Shape 6"/>
          <p:cNvSpPr/>
          <p:nvPr/>
        </p:nvSpPr>
        <p:spPr>
          <a:xfrm>
            <a:off x="1144633" y="6619081"/>
            <a:ext cx="190500" cy="190500"/>
          </a:xfrm>
          <a:prstGeom prst="roundRect">
            <a:avLst>
              <a:gd name="adj" fmla="val 15000"/>
            </a:avLst>
          </a:prstGeom>
          <a:solidFill>
            <a:srgbClr val="F58220"/>
          </a:solidFill>
          <a:ln/>
        </p:spPr>
        <p:txBody>
          <a:bodyPr/>
          <a:lstStyle/>
          <a:p>
            <a:endParaRPr lang="en-US"/>
          </a:p>
        </p:txBody>
      </p:sp>
      <p:sp>
        <p:nvSpPr>
          <p:cNvPr id="10" name="Text 7"/>
          <p:cNvSpPr/>
          <p:nvPr/>
        </p:nvSpPr>
        <p:spPr>
          <a:xfrm>
            <a:off x="1562100" y="6434296"/>
            <a:ext cx="6796397" cy="464820"/>
          </a:xfrm>
          <a:prstGeom prst="rect">
            <a:avLst/>
          </a:prstGeom>
          <a:noFill/>
          <a:ln/>
        </p:spPr>
        <p:txBody>
          <a:bodyPr wrap="square" lIns="25400" tIns="25400" rIns="25400" bIns="25400" rtlCol="0" anchor="t">
            <a:noAutofit/>
          </a:bodyPr>
          <a:lstStyle/>
          <a:p>
            <a:pPr marL="0" indent="0" algn="l">
              <a:lnSpc>
                <a:spcPct val="140000"/>
              </a:lnSpc>
              <a:buNone/>
            </a:pPr>
            <a:r>
              <a:rPr lang="en-US" sz="2400" dirty="0">
                <a:solidFill>
                  <a:srgbClr val="2A2D38"/>
                </a:solidFill>
                <a:ea typeface="Inter" pitchFamily="34" charset="-122"/>
                <a:cs typeface="Inter" pitchFamily="34" charset="-120"/>
              </a:rPr>
              <a:t>Project can override global when needed.</a:t>
            </a:r>
            <a:endParaRPr lang="en-US" sz="2400" dirty="0"/>
          </a:p>
        </p:txBody>
      </p:sp>
      <p:sp>
        <p:nvSpPr>
          <p:cNvPr id="11" name="Shape 8"/>
          <p:cNvSpPr/>
          <p:nvPr/>
        </p:nvSpPr>
        <p:spPr>
          <a:xfrm>
            <a:off x="1146810" y="7573487"/>
            <a:ext cx="190500" cy="190500"/>
          </a:xfrm>
          <a:prstGeom prst="roundRect">
            <a:avLst>
              <a:gd name="adj" fmla="val 15000"/>
            </a:avLst>
          </a:prstGeom>
          <a:solidFill>
            <a:srgbClr val="F58220"/>
          </a:solidFill>
          <a:ln/>
        </p:spPr>
        <p:txBody>
          <a:bodyPr/>
          <a:lstStyle/>
          <a:p>
            <a:endParaRPr lang="en-US"/>
          </a:p>
        </p:txBody>
      </p:sp>
      <p:sp>
        <p:nvSpPr>
          <p:cNvPr id="12" name="Text 9"/>
          <p:cNvSpPr/>
          <p:nvPr/>
        </p:nvSpPr>
        <p:spPr>
          <a:xfrm>
            <a:off x="1558607" y="7367725"/>
            <a:ext cx="6796397" cy="891540"/>
          </a:xfrm>
          <a:prstGeom prst="rect">
            <a:avLst/>
          </a:prstGeom>
          <a:noFill/>
          <a:ln/>
        </p:spPr>
        <p:txBody>
          <a:bodyPr wrap="square" lIns="25400" tIns="25400" rIns="25400" bIns="25400" rtlCol="0" anchor="t">
            <a:normAutofit/>
          </a:bodyPr>
          <a:lstStyle/>
          <a:p>
            <a:pPr marL="0" indent="0" algn="l">
              <a:lnSpc>
                <a:spcPct val="140000"/>
              </a:lnSpc>
              <a:buNone/>
            </a:pPr>
            <a:r>
              <a:rPr lang="en-US" sz="2400" dirty="0">
                <a:solidFill>
                  <a:srgbClr val="2A2D38"/>
                </a:solidFill>
                <a:ea typeface="Inter" pitchFamily="34" charset="-122"/>
                <a:cs typeface="Inter" pitchFamily="34" charset="-120"/>
              </a:rPr>
              <a:t>Two files, zero ceremony, infinite context savings.</a:t>
            </a:r>
            <a:endParaRPr lang="en-US" sz="2400" dirty="0"/>
          </a:p>
        </p:txBody>
      </p:sp>
      <p:pic>
        <p:nvPicPr>
          <p:cNvPr id="13" name="Image 1" descr="preencoded.png"/>
          <p:cNvPicPr>
            <a:picLocks noChangeAspect="1"/>
          </p:cNvPicPr>
          <p:nvPr/>
        </p:nvPicPr>
        <p:blipFill>
          <a:blip r:embed="rId4"/>
          <a:stretch>
            <a:fillRect/>
          </a:stretch>
        </p:blipFill>
        <p:spPr>
          <a:xfrm>
            <a:off x="9490393" y="4194334"/>
            <a:ext cx="7239000" cy="40608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14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50976" y="475488"/>
            <a:ext cx="9144000" cy="274320"/>
          </a:xfrm>
          <a:prstGeom prst="rect">
            <a:avLst/>
          </a:prstGeom>
          <a:noFill/>
        </p:spPr>
        <p:txBody>
          <a:bodyPr wrap="square" lIns="0" tIns="0" rIns="0" bIns="0" anchor="t">
            <a:spAutoFit/>
          </a:bodyPr>
          <a:lstStyle/>
          <a:p>
            <a:pPr algn="l">
              <a:lnSpc>
                <a:spcPct val="110000"/>
              </a:lnSpc>
            </a:pPr>
            <a:r>
              <a:rPr sz="1100" b="0">
                <a:solidFill>
                  <a:srgbClr val="6B6E78"/>
                </a:solidFill>
                <a:latin typeface="JetBrains Mono"/>
              </a:rPr>
              <a:t>THE COMMANDMENT</a:t>
            </a:r>
          </a:p>
        </p:txBody>
      </p:sp>
      <p:sp>
        <p:nvSpPr>
          <p:cNvPr id="5" name="TextBox 4"/>
          <p:cNvSpPr txBox="1"/>
          <p:nvPr/>
        </p:nvSpPr>
        <p:spPr>
          <a:xfrm>
            <a:off x="950976" y="1280160"/>
            <a:ext cx="16459200" cy="365760"/>
          </a:xfrm>
          <a:prstGeom prst="rect">
            <a:avLst/>
          </a:prstGeom>
          <a:noFill/>
        </p:spPr>
        <p:txBody>
          <a:bodyPr wrap="square" lIns="0" tIns="0" rIns="0" bIns="0" anchor="t">
            <a:spAutoFit/>
          </a:bodyPr>
          <a:lstStyle/>
          <a:p>
            <a:pPr algn="l">
              <a:lnSpc>
                <a:spcPct val="110000"/>
              </a:lnSpc>
            </a:pPr>
            <a:r>
              <a:rPr sz="1500" b="0">
                <a:solidFill>
                  <a:srgbClr val="F58220"/>
                </a:solidFill>
                <a:latin typeface="JetBrains Mono"/>
              </a:rPr>
              <a:t>REMEMBER THIS FROM BEFORE LUNCH?</a:t>
            </a:r>
          </a:p>
        </p:txBody>
      </p:sp>
      <p:sp>
        <p:nvSpPr>
          <p:cNvPr id="6" name="TextBox 5"/>
          <p:cNvSpPr txBox="1"/>
          <p:nvPr/>
        </p:nvSpPr>
        <p:spPr>
          <a:xfrm>
            <a:off x="950976" y="1783080"/>
            <a:ext cx="16459200" cy="1188720"/>
          </a:xfrm>
          <a:prstGeom prst="rect">
            <a:avLst/>
          </a:prstGeom>
          <a:noFill/>
        </p:spPr>
        <p:txBody>
          <a:bodyPr wrap="square" lIns="0" tIns="0" rIns="0" bIns="0" anchor="t">
            <a:spAutoFit/>
          </a:bodyPr>
          <a:lstStyle/>
          <a:p>
            <a:pPr algn="l">
              <a:lnSpc>
                <a:spcPct val="110000"/>
              </a:lnSpc>
            </a:pPr>
            <a:r>
              <a:rPr sz="6400" b="1">
                <a:solidFill>
                  <a:srgbClr val="FFFFFF"/>
                </a:solidFill>
                <a:latin typeface="Montserrat"/>
              </a:rPr>
              <a:t>Commandment </a:t>
            </a:r>
            <a:r>
              <a:rPr sz="6400" b="1">
                <a:solidFill>
                  <a:srgbClr val="F58220"/>
                </a:solidFill>
                <a:latin typeface="Montserrat"/>
              </a:rPr>
              <a:t>X</a:t>
            </a:r>
            <a:r>
              <a:rPr sz="6400" b="1">
                <a:solidFill>
                  <a:srgbClr val="FFFFFF"/>
                </a:solidFill>
                <a:latin typeface="Montserrat"/>
              </a:rPr>
              <a:t>.</a:t>
            </a:r>
          </a:p>
        </p:txBody>
      </p:sp>
      <p:pic>
        <p:nvPicPr>
          <p:cNvPr id="7" name="Picture 6" descr="TenCommandments.png"/>
          <p:cNvPicPr>
            <a:picLocks noChangeAspect="1"/>
          </p:cNvPicPr>
          <p:nvPr/>
        </p:nvPicPr>
        <p:blipFill>
          <a:blip r:embed="rId3"/>
          <a:stretch>
            <a:fillRect/>
          </a:stretch>
        </p:blipFill>
        <p:spPr>
          <a:xfrm>
            <a:off x="640080" y="3657600"/>
            <a:ext cx="8686800" cy="5797296"/>
          </a:xfrm>
          <a:prstGeom prst="rect">
            <a:avLst/>
          </a:prstGeom>
        </p:spPr>
      </p:pic>
      <p:sp>
        <p:nvSpPr>
          <p:cNvPr id="8" name="Rectangle 7"/>
          <p:cNvSpPr/>
          <p:nvPr/>
        </p:nvSpPr>
        <p:spPr>
          <a:xfrm>
            <a:off x="640080" y="9564624"/>
            <a:ext cx="8686800" cy="25400"/>
          </a:xfrm>
          <a:prstGeom prst="rect">
            <a:avLst/>
          </a:prstGeom>
          <a:solidFill>
            <a:srgbClr val="3F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9683496"/>
            <a:ext cx="8686800" cy="365760"/>
          </a:xfrm>
          <a:prstGeom prst="rect">
            <a:avLst/>
          </a:prstGeom>
          <a:noFill/>
        </p:spPr>
        <p:txBody>
          <a:bodyPr wrap="square" lIns="0" tIns="0" rIns="0" bIns="0" anchor="t">
            <a:spAutoFit/>
          </a:bodyPr>
          <a:lstStyle/>
          <a:p>
            <a:pPr algn="l">
              <a:lnSpc>
                <a:spcPct val="110000"/>
              </a:lnSpc>
            </a:pPr>
            <a:r>
              <a:rPr sz="1200" b="0">
                <a:solidFill>
                  <a:srgbClr val="6B6E78"/>
                </a:solidFill>
                <a:latin typeface="JetBrains Mono"/>
              </a:rPr>
              <a:t>FLASH FOR TWO BEATS — THEN ZOOM TO X</a:t>
            </a:r>
          </a:p>
        </p:txBody>
      </p:sp>
      <p:sp>
        <p:nvSpPr>
          <p:cNvPr id="10" name="Rectangle 9"/>
          <p:cNvSpPr/>
          <p:nvPr/>
        </p:nvSpPr>
        <p:spPr>
          <a:xfrm>
            <a:off x="9692640" y="3657600"/>
            <a:ext cx="7955279" cy="5797296"/>
          </a:xfrm>
          <a:prstGeom prst="rect">
            <a:avLst/>
          </a:prstGeom>
          <a:solidFill>
            <a:srgbClr val="1A1D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9692640" y="3657600"/>
            <a:ext cx="109728" cy="5797296"/>
          </a:xfrm>
          <a:prstGeom prst="rect">
            <a:avLst/>
          </a:prstGeom>
          <a:solidFill>
            <a:srgbClr val="F58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195560" y="4069080"/>
            <a:ext cx="7086599" cy="411480"/>
          </a:xfrm>
          <a:prstGeom prst="rect">
            <a:avLst/>
          </a:prstGeom>
          <a:noFill/>
        </p:spPr>
        <p:txBody>
          <a:bodyPr wrap="square" lIns="0" tIns="0" rIns="0" bIns="0" anchor="t">
            <a:spAutoFit/>
          </a:bodyPr>
          <a:lstStyle/>
          <a:p>
            <a:pPr algn="l">
              <a:lnSpc>
                <a:spcPct val="110000"/>
              </a:lnSpc>
            </a:pPr>
            <a:r>
              <a:rPr sz="1800" b="1">
                <a:solidFill>
                  <a:srgbClr val="F58220"/>
                </a:solidFill>
                <a:latin typeface="JetBrains Mono"/>
              </a:rPr>
              <a:t>X.</a:t>
            </a:r>
          </a:p>
        </p:txBody>
      </p:sp>
      <p:sp>
        <p:nvSpPr>
          <p:cNvPr id="13" name="TextBox 12"/>
          <p:cNvSpPr txBox="1"/>
          <p:nvPr/>
        </p:nvSpPr>
        <p:spPr>
          <a:xfrm>
            <a:off x="10195560" y="4526280"/>
            <a:ext cx="7086599" cy="2194560"/>
          </a:xfrm>
          <a:prstGeom prst="rect">
            <a:avLst/>
          </a:prstGeom>
          <a:noFill/>
        </p:spPr>
        <p:txBody>
          <a:bodyPr wrap="square" lIns="0" tIns="0" rIns="0" bIns="0" anchor="t">
            <a:spAutoFit/>
          </a:bodyPr>
          <a:lstStyle/>
          <a:p>
            <a:pPr algn="l">
              <a:lnSpc>
                <a:spcPct val="115000"/>
              </a:lnSpc>
            </a:pPr>
            <a:r>
              <a:rPr sz="4800" b="1">
                <a:solidFill>
                  <a:srgbClr val="FFFFFF"/>
                </a:solidFill>
                <a:latin typeface="Montserrat"/>
              </a:rPr>
              <a:t>Iterate </a:t>
            </a:r>
            <a:r>
              <a:rPr sz="4400" b="1">
                <a:solidFill>
                  <a:srgbClr val="3FE0D0"/>
                </a:solidFill>
                <a:latin typeface="JetBrains Mono"/>
              </a:rPr>
              <a:t>CLAUDE.md </a:t>
            </a:r>
            <a:r>
              <a:rPr sz="4800" b="1">
                <a:solidFill>
                  <a:srgbClr val="FFFFFF"/>
                </a:solidFill>
                <a:latin typeface="Montserrat"/>
              </a:rPr>
              <a:t>as you iterate code.</a:t>
            </a:r>
          </a:p>
        </p:txBody>
      </p:sp>
      <p:sp>
        <p:nvSpPr>
          <p:cNvPr id="14" name="TextBox 13"/>
          <p:cNvSpPr txBox="1"/>
          <p:nvPr/>
        </p:nvSpPr>
        <p:spPr>
          <a:xfrm>
            <a:off x="10195560" y="6812280"/>
            <a:ext cx="7086599" cy="2377440"/>
          </a:xfrm>
          <a:prstGeom prst="rect">
            <a:avLst/>
          </a:prstGeom>
          <a:noFill/>
        </p:spPr>
        <p:txBody>
          <a:bodyPr wrap="square" lIns="0" tIns="0" rIns="0" bIns="0" anchor="t">
            <a:spAutoFit/>
          </a:bodyPr>
          <a:lstStyle/>
          <a:p>
            <a:pPr algn="l">
              <a:lnSpc>
                <a:spcPct val="125000"/>
              </a:lnSpc>
              <a:spcBef>
                <a:spcPts val="0"/>
              </a:spcBef>
            </a:pPr>
            <a:r>
              <a:rPr sz="2200" b="0">
                <a:solidFill>
                  <a:srgbClr val="C9CBD1"/>
                </a:solidFill>
                <a:latin typeface="Inter"/>
              </a:rPr>
              <a:t>Your context is a living document, not a graven tablet.</a:t>
            </a:r>
          </a:p>
          <a:p>
            <a:pPr algn="l">
              <a:lnSpc>
                <a:spcPct val="125000"/>
              </a:lnSpc>
              <a:spcBef>
                <a:spcPts val="800"/>
              </a:spcBef>
            </a:pPr>
            <a:r>
              <a:rPr sz="2200" b="0">
                <a:solidFill>
                  <a:srgbClr val="C9CBD1"/>
                </a:solidFill>
                <a:latin typeface="Inter"/>
              </a:rPr>
              <a:t>Rewrite it the day after the codebase changes.</a:t>
            </a:r>
          </a:p>
          <a:p>
            <a:pPr algn="l">
              <a:lnSpc>
                <a:spcPct val="125000"/>
              </a:lnSpc>
              <a:spcBef>
                <a:spcPts val="1400"/>
              </a:spcBef>
            </a:pPr>
            <a:r>
              <a:rPr sz="2200" b="1">
                <a:solidFill>
                  <a:srgbClr val="FFFFFF"/>
                </a:solidFill>
                <a:latin typeface="Inter"/>
              </a:rPr>
              <a:t>A half-good CLAUDE.md you actually rewrite weekly</a:t>
            </a:r>
          </a:p>
          <a:p>
            <a:pPr algn="l">
              <a:lnSpc>
                <a:spcPct val="125000"/>
              </a:lnSpc>
              <a:spcBef>
                <a:spcPts val="0"/>
              </a:spcBef>
            </a:pPr>
            <a:r>
              <a:rPr sz="2200" b="1">
                <a:solidFill>
                  <a:srgbClr val="FFFFFF"/>
                </a:solidFill>
                <a:latin typeface="Inter"/>
              </a:rPr>
              <a:t>beats a polished one that never gets touched again.</a:t>
            </a:r>
          </a:p>
        </p:txBody>
      </p:sp>
      <p:sp>
        <p:nvSpPr>
          <p:cNvPr id="15" name="TextBox 14"/>
          <p:cNvSpPr txBox="1"/>
          <p:nvPr/>
        </p:nvSpPr>
        <p:spPr>
          <a:xfrm>
            <a:off x="10195560" y="8586216"/>
            <a:ext cx="7086599" cy="548640"/>
          </a:xfrm>
          <a:prstGeom prst="rect">
            <a:avLst/>
          </a:prstGeom>
          <a:noFill/>
        </p:spPr>
        <p:txBody>
          <a:bodyPr wrap="square" lIns="0" tIns="0" rIns="0" bIns="0" anchor="ctr">
            <a:spAutoFit/>
          </a:bodyPr>
          <a:lstStyle/>
          <a:p>
            <a:pPr algn="l">
              <a:lnSpc>
                <a:spcPct val="110000"/>
              </a:lnSpc>
            </a:pPr>
            <a:r>
              <a:rPr sz="2200" b="1">
                <a:solidFill>
                  <a:srgbClr val="F58220"/>
                </a:solidFill>
                <a:latin typeface="Montserrat"/>
              </a:rPr>
              <a:t>What you just did is the practice. Do it weekly.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99" name="DarkBg"/>
          <p:cNvSpPr/>
          <p:nvPr/>
        </p:nvSpPr>
        <p:spPr>
          <a:xfrm>
            <a:off x="0" y="0"/>
            <a:ext cx="18288000" cy="10287000"/>
          </a:xfrm>
          <a:prstGeom prst="rect">
            <a:avLst/>
          </a:prstGeom>
          <a:solidFill>
            <a:srgbClr val="1B1D24"/>
          </a:solidFill>
          <a:ln/>
        </p:spPr>
        <p:txBody>
          <a:bodyPr/>
          <a:lstStyle/>
          <a:p>
            <a:endParaRPr lang="en-US"/>
          </a:p>
        </p:txBody>
      </p:sp>
      <p:sp>
        <p:nvSpPr>
          <p:cNvPr id="2" name="Shape 0"/>
          <p:cNvSpPr/>
          <p:nvPr/>
        </p:nvSpPr>
        <p:spPr>
          <a:xfrm>
            <a:off x="0" y="0"/>
            <a:ext cx="18288000" cy="10287000"/>
          </a:xfrm>
          <a:prstGeom prst="rect">
            <a:avLst/>
          </a:prstGeom>
          <a:solidFill>
            <a:srgbClr val="1B1D24"/>
          </a:solidFill>
          <a:ln/>
        </p:spPr>
        <p:txBody>
          <a:bodyPr/>
          <a:lstStyle/>
          <a:p>
            <a:endParaRPr lang="en-US"/>
          </a:p>
        </p:txBody>
      </p:sp>
      <p:sp>
        <p:nvSpPr>
          <p:cNvPr id="3" name="Text 1"/>
          <p:cNvSpPr/>
          <p:nvPr/>
        </p:nvSpPr>
        <p:spPr>
          <a:xfrm>
            <a:off x="1143000" y="944880"/>
            <a:ext cx="3293632" cy="320040"/>
          </a:xfrm>
          <a:prstGeom prst="rect">
            <a:avLst/>
          </a:prstGeom>
          <a:noFill/>
          <a:ln/>
        </p:spPr>
        <p:txBody>
          <a:bodyPr wrap="square" lIns="25400" tIns="25400" rIns="25400" bIns="25400" rtlCol="0" anchor="t">
            <a:normAutofit lnSpcReduction="10000"/>
          </a:bodyPr>
          <a:lstStyle/>
          <a:p>
            <a:pPr marL="0" indent="0" algn="l">
              <a:buNone/>
            </a:pPr>
            <a:r>
              <a:rPr lang="en-US" sz="1800" b="1" kern="0" spc="252" dirty="0">
                <a:solidFill>
                  <a:srgbClr val="FFFFFF">
                    <a:alpha val="55000"/>
                  </a:srgbClr>
                </a:solidFill>
                <a:latin typeface="Montserrat" pitchFamily="34" charset="0"/>
                <a:ea typeface="Montserrat" pitchFamily="34" charset="-122"/>
                <a:cs typeface="Montserrat" pitchFamily="34" charset="-120"/>
              </a:rPr>
              <a:t>CHAPTER 2 · MEMORY</a:t>
            </a:r>
            <a:endParaRPr lang="en-US" sz="1800" dirty="0"/>
          </a:p>
        </p:txBody>
      </p:sp>
      <p:pic>
        <p:nvPicPr>
          <p:cNvPr id="4" name="Image 0" descr="preencoded.png"/>
          <p:cNvPicPr>
            <a:picLocks noChangeAspect="1"/>
          </p:cNvPicPr>
          <p:nvPr/>
        </p:nvPicPr>
        <p:blipFill>
          <a:blip r:embed="rId3"/>
          <a:stretch>
            <a:fillRect/>
          </a:stretch>
        </p:blipFill>
        <p:spPr>
          <a:xfrm>
            <a:off x="16799084" y="914400"/>
            <a:ext cx="345916" cy="342900"/>
          </a:xfrm>
          <a:prstGeom prst="rect">
            <a:avLst/>
          </a:prstGeom>
        </p:spPr>
      </p:pic>
      <p:sp>
        <p:nvSpPr>
          <p:cNvPr id="5" name="Text 2"/>
          <p:cNvSpPr/>
          <p:nvPr/>
        </p:nvSpPr>
        <p:spPr>
          <a:xfrm>
            <a:off x="1143000" y="2036717"/>
            <a:ext cx="8547126" cy="790892"/>
          </a:xfrm>
          <a:prstGeom prst="rect">
            <a:avLst/>
          </a:prstGeom>
          <a:noFill/>
          <a:ln/>
        </p:spPr>
        <p:txBody>
          <a:bodyPr wrap="square" lIns="25400" tIns="25400" rIns="25400" bIns="25400" rtlCol="0" anchor="t">
            <a:normAutofit fontScale="92500" lnSpcReduction="20000"/>
          </a:bodyPr>
          <a:lstStyle/>
          <a:p>
            <a:pPr marL="0" indent="0" algn="l">
              <a:lnSpc>
                <a:spcPct val="103991"/>
              </a:lnSpc>
              <a:buNone/>
            </a:pPr>
            <a:r>
              <a:rPr lang="en-US" sz="5700" b="1" kern="0" spc="-68" dirty="0">
                <a:solidFill>
                  <a:srgbClr val="FFFFFF"/>
                </a:solidFill>
                <a:latin typeface="Montserrat" pitchFamily="34" charset="0"/>
                <a:ea typeface="Montserrat" pitchFamily="34" charset="-122"/>
                <a:cs typeface="Montserrat" pitchFamily="34" charset="-120"/>
              </a:rPr>
              <a:t>Auto-memory</a:t>
            </a:r>
            <a:endParaRPr lang="en-US" sz="5700" dirty="0"/>
          </a:p>
        </p:txBody>
      </p:sp>
      <p:sp>
        <p:nvSpPr>
          <p:cNvPr id="6" name="Text 3"/>
          <p:cNvSpPr/>
          <p:nvPr/>
        </p:nvSpPr>
        <p:spPr>
          <a:xfrm>
            <a:off x="1143000" y="3110932"/>
            <a:ext cx="8547126" cy="533400"/>
          </a:xfrm>
          <a:prstGeom prst="rect">
            <a:avLst/>
          </a:prstGeom>
          <a:noFill/>
          <a:ln/>
        </p:spPr>
        <p:txBody>
          <a:bodyPr wrap="square" lIns="25400" tIns="25400" rIns="25400" bIns="25400" rtlCol="0" anchor="t">
            <a:noAutofit/>
          </a:bodyPr>
          <a:lstStyle/>
          <a:p>
            <a:pPr marL="0" indent="0" algn="l">
              <a:lnSpc>
                <a:spcPct val="130000"/>
              </a:lnSpc>
              <a:buNone/>
            </a:pPr>
            <a:r>
              <a:rPr lang="en-US" sz="3000" dirty="0">
                <a:solidFill>
                  <a:srgbClr val="FFFFFF">
                    <a:alpha val="55000"/>
                  </a:srgbClr>
                </a:solidFill>
                <a:ea typeface="Inter" pitchFamily="34" charset="-122"/>
                <a:cs typeface="Inter" pitchFamily="34" charset="-120"/>
              </a:rPr>
              <a:t>The notebook Claude keeps about you.</a:t>
            </a:r>
            <a:endParaRPr lang="en-US" sz="3000" dirty="0"/>
          </a:p>
        </p:txBody>
      </p:sp>
      <p:sp>
        <p:nvSpPr>
          <p:cNvPr id="7" name="Shape 4"/>
          <p:cNvSpPr/>
          <p:nvPr/>
        </p:nvSpPr>
        <p:spPr>
          <a:xfrm>
            <a:off x="1143000" y="4693126"/>
            <a:ext cx="190500" cy="190500"/>
          </a:xfrm>
          <a:prstGeom prst="roundRect">
            <a:avLst>
              <a:gd name="adj" fmla="val 15000"/>
            </a:avLst>
          </a:prstGeom>
          <a:solidFill>
            <a:srgbClr val="F58220"/>
          </a:solidFill>
          <a:ln/>
        </p:spPr>
        <p:txBody>
          <a:bodyPr/>
          <a:lstStyle/>
          <a:p>
            <a:endParaRPr lang="en-US"/>
          </a:p>
        </p:txBody>
      </p:sp>
      <p:sp>
        <p:nvSpPr>
          <p:cNvPr id="8" name="Text 5"/>
          <p:cNvSpPr/>
          <p:nvPr/>
        </p:nvSpPr>
        <p:spPr>
          <a:xfrm>
            <a:off x="1562100" y="4479766"/>
            <a:ext cx="8115453" cy="464820"/>
          </a:xfrm>
          <a:prstGeom prst="rect">
            <a:avLst/>
          </a:prstGeom>
          <a:noFill/>
          <a:ln/>
        </p:spPr>
        <p:txBody>
          <a:bodyPr wrap="square" lIns="25400" tIns="25400" rIns="25400" bIns="25400" rtlCol="0" anchor="t">
            <a:noAutofit/>
          </a:bodyPr>
          <a:lstStyle/>
          <a:p>
            <a:pPr marL="0" indent="0" algn="l">
              <a:lnSpc>
                <a:spcPct val="140000"/>
              </a:lnSpc>
              <a:buNone/>
            </a:pPr>
            <a:r>
              <a:rPr lang="en-US" sz="2400" dirty="0">
                <a:solidFill>
                  <a:srgbClr val="FFFFFF"/>
                </a:solidFill>
                <a:ea typeface="Inter" pitchFamily="34" charset="-122"/>
                <a:cs typeface="Inter" pitchFamily="34" charset="-120"/>
              </a:rPr>
              <a:t>Separate from CLAUDE.md.</a:t>
            </a:r>
            <a:endParaRPr lang="en-US" sz="2400" dirty="0"/>
          </a:p>
        </p:txBody>
      </p:sp>
      <p:sp>
        <p:nvSpPr>
          <p:cNvPr id="9" name="Shape 6"/>
          <p:cNvSpPr/>
          <p:nvPr/>
        </p:nvSpPr>
        <p:spPr>
          <a:xfrm>
            <a:off x="1143000" y="5386546"/>
            <a:ext cx="190500" cy="190500"/>
          </a:xfrm>
          <a:prstGeom prst="roundRect">
            <a:avLst>
              <a:gd name="adj" fmla="val 15000"/>
            </a:avLst>
          </a:prstGeom>
          <a:solidFill>
            <a:srgbClr val="F58220"/>
          </a:solidFill>
          <a:ln/>
        </p:spPr>
        <p:txBody>
          <a:bodyPr/>
          <a:lstStyle/>
          <a:p>
            <a:endParaRPr lang="en-US"/>
          </a:p>
        </p:txBody>
      </p:sp>
      <p:sp>
        <p:nvSpPr>
          <p:cNvPr id="10" name="Text 7"/>
          <p:cNvSpPr/>
          <p:nvPr/>
        </p:nvSpPr>
        <p:spPr>
          <a:xfrm>
            <a:off x="1562100" y="5173187"/>
            <a:ext cx="8115453" cy="464820"/>
          </a:xfrm>
          <a:prstGeom prst="rect">
            <a:avLst/>
          </a:prstGeom>
          <a:noFill/>
          <a:ln/>
        </p:spPr>
        <p:txBody>
          <a:bodyPr wrap="square" lIns="25400" tIns="25400" rIns="25400" bIns="25400" rtlCol="0" anchor="t">
            <a:noAutofit/>
          </a:bodyPr>
          <a:lstStyle/>
          <a:p>
            <a:pPr marL="0" indent="0" algn="l">
              <a:lnSpc>
                <a:spcPct val="140000"/>
              </a:lnSpc>
              <a:buNone/>
            </a:pPr>
            <a:r>
              <a:rPr lang="en-US" sz="2400" dirty="0">
                <a:solidFill>
                  <a:srgbClr val="FFFFFF"/>
                </a:solidFill>
                <a:ea typeface="Inter" pitchFamily="34" charset="-122"/>
                <a:cs typeface="Inter" pitchFamily="34" charset="-120"/>
              </a:rPr>
              <a:t>Claude writes its own notes between conversations.</a:t>
            </a:r>
            <a:endParaRPr lang="en-US" sz="2400" dirty="0"/>
          </a:p>
        </p:txBody>
      </p:sp>
      <p:sp>
        <p:nvSpPr>
          <p:cNvPr id="11" name="Shape 8"/>
          <p:cNvSpPr/>
          <p:nvPr/>
        </p:nvSpPr>
        <p:spPr>
          <a:xfrm>
            <a:off x="1143000" y="6079966"/>
            <a:ext cx="190500" cy="190500"/>
          </a:xfrm>
          <a:prstGeom prst="roundRect">
            <a:avLst>
              <a:gd name="adj" fmla="val 15000"/>
            </a:avLst>
          </a:prstGeom>
          <a:solidFill>
            <a:srgbClr val="F58220"/>
          </a:solidFill>
          <a:ln/>
        </p:spPr>
        <p:txBody>
          <a:bodyPr/>
          <a:lstStyle/>
          <a:p>
            <a:endParaRPr lang="en-US"/>
          </a:p>
        </p:txBody>
      </p:sp>
      <p:sp>
        <p:nvSpPr>
          <p:cNvPr id="12" name="Text 9"/>
          <p:cNvSpPr/>
          <p:nvPr/>
        </p:nvSpPr>
        <p:spPr>
          <a:xfrm>
            <a:off x="1562100" y="5866606"/>
            <a:ext cx="8115453" cy="891540"/>
          </a:xfrm>
          <a:prstGeom prst="rect">
            <a:avLst/>
          </a:prstGeom>
          <a:noFill/>
          <a:ln/>
        </p:spPr>
        <p:txBody>
          <a:bodyPr wrap="square" lIns="25400" tIns="25400" rIns="25400" bIns="25400" rtlCol="0" anchor="t">
            <a:noAutofit/>
          </a:bodyPr>
          <a:lstStyle/>
          <a:p>
            <a:pPr marL="0" indent="0" algn="l">
              <a:lnSpc>
                <a:spcPct val="140000"/>
              </a:lnSpc>
              <a:buNone/>
            </a:pPr>
            <a:r>
              <a:rPr lang="en-US" sz="2400" dirty="0">
                <a:solidFill>
                  <a:srgbClr val="FFFFFF"/>
                </a:solidFill>
                <a:ea typeface="Inter" pitchFamily="34" charset="-122"/>
                <a:cs typeface="Inter" pitchFamily="34" charset="-120"/>
              </a:rPr>
              <a:t>Stored quietly at </a:t>
            </a:r>
            <a:r>
              <a:rPr lang="en-US" sz="2400" dirty="0">
                <a:solidFill>
                  <a:srgbClr val="D86A0E"/>
                </a:solidFill>
                <a:ea typeface="ui-monospace" pitchFamily="34" charset="-122"/>
                <a:cs typeface="ui-monospace" pitchFamily="34" charset="-120"/>
              </a:rPr>
              <a:t>~/.claude/projects/&lt;your-project&gt;/memory/</a:t>
            </a:r>
            <a:endParaRPr lang="en-US" sz="2400" dirty="0"/>
          </a:p>
        </p:txBody>
      </p:sp>
      <p:sp>
        <p:nvSpPr>
          <p:cNvPr id="13" name="Shape 10"/>
          <p:cNvSpPr/>
          <p:nvPr/>
        </p:nvSpPr>
        <p:spPr>
          <a:xfrm>
            <a:off x="1143000" y="6701393"/>
            <a:ext cx="190500" cy="190500"/>
          </a:xfrm>
          <a:prstGeom prst="roundRect">
            <a:avLst>
              <a:gd name="adj" fmla="val 15000"/>
            </a:avLst>
          </a:prstGeom>
          <a:solidFill>
            <a:srgbClr val="F58220"/>
          </a:solidFill>
          <a:ln/>
        </p:spPr>
        <p:txBody>
          <a:bodyPr/>
          <a:lstStyle/>
          <a:p>
            <a:endParaRPr lang="en-US"/>
          </a:p>
        </p:txBody>
      </p:sp>
      <p:sp>
        <p:nvSpPr>
          <p:cNvPr id="14" name="Text 11"/>
          <p:cNvSpPr/>
          <p:nvPr/>
        </p:nvSpPr>
        <p:spPr>
          <a:xfrm>
            <a:off x="1562099" y="6529944"/>
            <a:ext cx="8115453" cy="1744980"/>
          </a:xfrm>
          <a:prstGeom prst="rect">
            <a:avLst/>
          </a:prstGeom>
          <a:noFill/>
          <a:ln/>
        </p:spPr>
        <p:txBody>
          <a:bodyPr wrap="square" lIns="25400" tIns="25400" rIns="25400" bIns="25400" rtlCol="0" anchor="t">
            <a:normAutofit/>
          </a:bodyPr>
          <a:lstStyle/>
          <a:p>
            <a:pPr marL="0" indent="0" algn="l">
              <a:lnSpc>
                <a:spcPct val="130000"/>
              </a:lnSpc>
              <a:buNone/>
            </a:pPr>
            <a:r>
              <a:rPr lang="en-US" sz="2400" dirty="0">
                <a:solidFill>
                  <a:srgbClr val="FFFFFF"/>
                </a:solidFill>
                <a:ea typeface="Inter" pitchFamily="34" charset="-122"/>
                <a:cs typeface="Inter" pitchFamily="34" charset="-120"/>
              </a:rPr>
              <a:t>Like an assistant who keeps a notebook: "Patrick prefers merge commits. He's working on the May workshop. He gets nervous about destructive git commands."</a:t>
            </a:r>
            <a:endParaRPr lang="en-US" sz="2400" dirty="0"/>
          </a:p>
        </p:txBody>
      </p:sp>
      <p:pic>
        <p:nvPicPr>
          <p:cNvPr id="15" name="Image 1" descr="preencoded.png"/>
          <p:cNvPicPr>
            <a:picLocks noChangeAspect="1"/>
          </p:cNvPicPr>
          <p:nvPr/>
        </p:nvPicPr>
        <p:blipFill>
          <a:blip r:embed="rId4"/>
          <a:stretch>
            <a:fillRect/>
          </a:stretch>
        </p:blipFill>
        <p:spPr>
          <a:xfrm>
            <a:off x="10892790" y="3200400"/>
            <a:ext cx="5715000" cy="4762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7F5F1"/>
          </a:solidFill>
          <a:ln/>
        </p:spPr>
        <p:txBody>
          <a:bodyPr/>
          <a:lstStyle/>
          <a:p>
            <a:endParaRPr lang="en-US"/>
          </a:p>
        </p:txBody>
      </p:sp>
      <p:sp>
        <p:nvSpPr>
          <p:cNvPr id="3" name="Text 1"/>
          <p:cNvSpPr/>
          <p:nvPr/>
        </p:nvSpPr>
        <p:spPr>
          <a:xfrm>
            <a:off x="1143000" y="944880"/>
            <a:ext cx="3293632" cy="320040"/>
          </a:xfrm>
          <a:prstGeom prst="rect">
            <a:avLst/>
          </a:prstGeom>
          <a:noFill/>
          <a:ln/>
        </p:spPr>
        <p:txBody>
          <a:bodyPr wrap="square" lIns="25400" tIns="25400" rIns="25400" bIns="25400" rtlCol="0" anchor="t">
            <a:normAutofit lnSpcReduction="10000"/>
          </a:bodyPr>
          <a:lstStyle/>
          <a:p>
            <a:pPr marL="0" indent="0" algn="l">
              <a:buNone/>
            </a:pPr>
            <a:r>
              <a:rPr lang="en-US" sz="1800" b="1" kern="0" spc="252" dirty="0">
                <a:solidFill>
                  <a:srgbClr val="6B6E78"/>
                </a:solidFill>
                <a:latin typeface="Montserrat" pitchFamily="34" charset="0"/>
                <a:ea typeface="Montserrat" pitchFamily="34" charset="-122"/>
                <a:cs typeface="Montserrat" pitchFamily="34" charset="-120"/>
              </a:rPr>
              <a:t>CHAPTER 2 · MEMORY</a:t>
            </a:r>
            <a:endParaRPr lang="en-US" sz="1800" dirty="0"/>
          </a:p>
        </p:txBody>
      </p:sp>
      <p:pic>
        <p:nvPicPr>
          <p:cNvPr id="4" name="Image 0" descr="preencoded.png"/>
          <p:cNvPicPr>
            <a:picLocks noChangeAspect="1"/>
          </p:cNvPicPr>
          <p:nvPr/>
        </p:nvPicPr>
        <p:blipFill>
          <a:blip r:embed="rId3"/>
          <a:stretch>
            <a:fillRect/>
          </a:stretch>
        </p:blipFill>
        <p:spPr>
          <a:xfrm>
            <a:off x="16799084" y="914400"/>
            <a:ext cx="345916" cy="342900"/>
          </a:xfrm>
          <a:prstGeom prst="rect">
            <a:avLst/>
          </a:prstGeom>
        </p:spPr>
      </p:pic>
      <p:sp>
        <p:nvSpPr>
          <p:cNvPr id="5" name="Text 2"/>
          <p:cNvSpPr/>
          <p:nvPr/>
        </p:nvSpPr>
        <p:spPr>
          <a:xfrm>
            <a:off x="1143000" y="2036717"/>
            <a:ext cx="8547126" cy="790892"/>
          </a:xfrm>
          <a:prstGeom prst="rect">
            <a:avLst/>
          </a:prstGeom>
          <a:noFill/>
          <a:ln/>
        </p:spPr>
        <p:txBody>
          <a:bodyPr wrap="square" lIns="25400" tIns="25400" rIns="25400" bIns="25400" rtlCol="0" anchor="t">
            <a:normAutofit fontScale="92500" lnSpcReduction="20000"/>
          </a:bodyPr>
          <a:lstStyle/>
          <a:p>
            <a:pPr marL="0" indent="0" algn="l">
              <a:lnSpc>
                <a:spcPct val="103991"/>
              </a:lnSpc>
              <a:buNone/>
            </a:pPr>
            <a:r>
              <a:rPr lang="en-US" sz="5700" b="1" kern="0" spc="-68" dirty="0">
                <a:solidFill>
                  <a:srgbClr val="2A2D38"/>
                </a:solidFill>
                <a:latin typeface="Montserrat" pitchFamily="34" charset="0"/>
                <a:ea typeface="Montserrat" pitchFamily="34" charset="-122"/>
                <a:cs typeface="Montserrat" pitchFamily="34" charset="-120"/>
              </a:rPr>
              <a:t>Auto-memory</a:t>
            </a:r>
            <a:endParaRPr lang="en-US" sz="5700" dirty="0"/>
          </a:p>
        </p:txBody>
      </p:sp>
      <p:sp>
        <p:nvSpPr>
          <p:cNvPr id="6" name="Text 3"/>
          <p:cNvSpPr/>
          <p:nvPr/>
        </p:nvSpPr>
        <p:spPr>
          <a:xfrm>
            <a:off x="1143000" y="3110932"/>
            <a:ext cx="8547126" cy="533400"/>
          </a:xfrm>
          <a:prstGeom prst="rect">
            <a:avLst/>
          </a:prstGeom>
          <a:noFill/>
          <a:ln/>
        </p:spPr>
        <p:txBody>
          <a:bodyPr wrap="square" lIns="25400" tIns="25400" rIns="25400" bIns="25400" rtlCol="0" anchor="t">
            <a:noAutofit/>
          </a:bodyPr>
          <a:lstStyle/>
          <a:p>
            <a:pPr marL="0" indent="0" algn="l">
              <a:lnSpc>
                <a:spcPct val="130000"/>
              </a:lnSpc>
              <a:buNone/>
            </a:pPr>
            <a:r>
              <a:rPr lang="en-US" sz="3000" dirty="0">
                <a:solidFill>
                  <a:srgbClr val="6B6E78"/>
                </a:solidFill>
                <a:ea typeface="Inter" pitchFamily="34" charset="-122"/>
                <a:cs typeface="Inter" pitchFamily="34" charset="-120"/>
              </a:rPr>
              <a:t>The notebook Claude keeps about you.</a:t>
            </a:r>
            <a:endParaRPr lang="en-US" sz="3000" dirty="0"/>
          </a:p>
        </p:txBody>
      </p:sp>
      <p:sp>
        <p:nvSpPr>
          <p:cNvPr id="7" name="Shape 4"/>
          <p:cNvSpPr/>
          <p:nvPr/>
        </p:nvSpPr>
        <p:spPr>
          <a:xfrm>
            <a:off x="1143000" y="4693126"/>
            <a:ext cx="190500" cy="190500"/>
          </a:xfrm>
          <a:prstGeom prst="roundRect">
            <a:avLst>
              <a:gd name="adj" fmla="val 15000"/>
            </a:avLst>
          </a:prstGeom>
          <a:solidFill>
            <a:srgbClr val="F58220"/>
          </a:solidFill>
          <a:ln/>
        </p:spPr>
        <p:txBody>
          <a:bodyPr/>
          <a:lstStyle/>
          <a:p>
            <a:endParaRPr lang="en-US"/>
          </a:p>
        </p:txBody>
      </p:sp>
      <p:sp>
        <p:nvSpPr>
          <p:cNvPr id="8" name="Text 5"/>
          <p:cNvSpPr/>
          <p:nvPr/>
        </p:nvSpPr>
        <p:spPr>
          <a:xfrm>
            <a:off x="1562100" y="4479766"/>
            <a:ext cx="8115453" cy="464820"/>
          </a:xfrm>
          <a:prstGeom prst="rect">
            <a:avLst/>
          </a:prstGeom>
          <a:noFill/>
          <a:ln/>
        </p:spPr>
        <p:txBody>
          <a:bodyPr wrap="square" lIns="25400" tIns="25400" rIns="25400" bIns="25400" rtlCol="0" anchor="t">
            <a:noAutofit/>
          </a:bodyPr>
          <a:lstStyle/>
          <a:p>
            <a:pPr marL="0" indent="0" algn="l">
              <a:lnSpc>
                <a:spcPct val="140000"/>
              </a:lnSpc>
              <a:buNone/>
            </a:pPr>
            <a:r>
              <a:rPr lang="en-US" sz="2400" dirty="0">
                <a:solidFill>
                  <a:srgbClr val="2A2D38"/>
                </a:solidFill>
                <a:ea typeface="Inter" pitchFamily="34" charset="-122"/>
                <a:cs typeface="Inter" pitchFamily="34" charset="-120"/>
              </a:rPr>
              <a:t>Separate from CLAUDE.md.</a:t>
            </a:r>
            <a:endParaRPr lang="en-US" sz="2400" dirty="0"/>
          </a:p>
        </p:txBody>
      </p:sp>
      <p:sp>
        <p:nvSpPr>
          <p:cNvPr id="9" name="Shape 6"/>
          <p:cNvSpPr/>
          <p:nvPr/>
        </p:nvSpPr>
        <p:spPr>
          <a:xfrm>
            <a:off x="1143000" y="5386546"/>
            <a:ext cx="190500" cy="190500"/>
          </a:xfrm>
          <a:prstGeom prst="roundRect">
            <a:avLst>
              <a:gd name="adj" fmla="val 15000"/>
            </a:avLst>
          </a:prstGeom>
          <a:solidFill>
            <a:srgbClr val="F58220"/>
          </a:solidFill>
          <a:ln/>
        </p:spPr>
        <p:txBody>
          <a:bodyPr/>
          <a:lstStyle/>
          <a:p>
            <a:endParaRPr lang="en-US"/>
          </a:p>
        </p:txBody>
      </p:sp>
      <p:sp>
        <p:nvSpPr>
          <p:cNvPr id="10" name="Text 7"/>
          <p:cNvSpPr/>
          <p:nvPr/>
        </p:nvSpPr>
        <p:spPr>
          <a:xfrm>
            <a:off x="1562100" y="5173187"/>
            <a:ext cx="8115453" cy="464820"/>
          </a:xfrm>
          <a:prstGeom prst="rect">
            <a:avLst/>
          </a:prstGeom>
          <a:noFill/>
          <a:ln/>
        </p:spPr>
        <p:txBody>
          <a:bodyPr wrap="square" lIns="25400" tIns="25400" rIns="25400" bIns="25400" rtlCol="0" anchor="t">
            <a:noAutofit/>
          </a:bodyPr>
          <a:lstStyle/>
          <a:p>
            <a:pPr marL="0" indent="0" algn="l">
              <a:lnSpc>
                <a:spcPct val="140000"/>
              </a:lnSpc>
              <a:buNone/>
            </a:pPr>
            <a:r>
              <a:rPr lang="en-US" sz="2400" dirty="0">
                <a:solidFill>
                  <a:srgbClr val="2A2D38"/>
                </a:solidFill>
                <a:ea typeface="Inter" pitchFamily="34" charset="-122"/>
                <a:cs typeface="Inter" pitchFamily="34" charset="-120"/>
              </a:rPr>
              <a:t>Claude writes its own notes between conversations.</a:t>
            </a:r>
            <a:endParaRPr lang="en-US" sz="2400" dirty="0"/>
          </a:p>
        </p:txBody>
      </p:sp>
      <p:sp>
        <p:nvSpPr>
          <p:cNvPr id="11" name="Shape 8"/>
          <p:cNvSpPr/>
          <p:nvPr/>
        </p:nvSpPr>
        <p:spPr>
          <a:xfrm>
            <a:off x="1143000" y="6079966"/>
            <a:ext cx="190500" cy="190500"/>
          </a:xfrm>
          <a:prstGeom prst="roundRect">
            <a:avLst>
              <a:gd name="adj" fmla="val 15000"/>
            </a:avLst>
          </a:prstGeom>
          <a:solidFill>
            <a:srgbClr val="F58220"/>
          </a:solidFill>
          <a:ln/>
        </p:spPr>
        <p:txBody>
          <a:bodyPr/>
          <a:lstStyle/>
          <a:p>
            <a:endParaRPr lang="en-US"/>
          </a:p>
        </p:txBody>
      </p:sp>
      <p:sp>
        <p:nvSpPr>
          <p:cNvPr id="12" name="Text 9"/>
          <p:cNvSpPr/>
          <p:nvPr/>
        </p:nvSpPr>
        <p:spPr>
          <a:xfrm>
            <a:off x="1562100" y="5866606"/>
            <a:ext cx="8115453" cy="891540"/>
          </a:xfrm>
          <a:prstGeom prst="rect">
            <a:avLst/>
          </a:prstGeom>
          <a:noFill/>
          <a:ln/>
        </p:spPr>
        <p:txBody>
          <a:bodyPr wrap="square" lIns="25400" tIns="25400" rIns="25400" bIns="25400" rtlCol="0" anchor="t">
            <a:noAutofit/>
          </a:bodyPr>
          <a:lstStyle/>
          <a:p>
            <a:pPr marL="0" indent="0" algn="l">
              <a:lnSpc>
                <a:spcPct val="140000"/>
              </a:lnSpc>
              <a:buNone/>
            </a:pPr>
            <a:r>
              <a:rPr lang="en-US" sz="2400" dirty="0">
                <a:solidFill>
                  <a:srgbClr val="2A2D38"/>
                </a:solidFill>
                <a:ea typeface="Inter" pitchFamily="34" charset="-122"/>
                <a:cs typeface="Inter" pitchFamily="34" charset="-120"/>
              </a:rPr>
              <a:t>Stored quietly at </a:t>
            </a:r>
            <a:r>
              <a:rPr lang="en-US" sz="2400" dirty="0">
                <a:solidFill>
                  <a:srgbClr val="D86A0E"/>
                </a:solidFill>
                <a:ea typeface="ui-monospace" pitchFamily="34" charset="-122"/>
                <a:cs typeface="ui-monospace" pitchFamily="34" charset="-120"/>
              </a:rPr>
              <a:t>~/.claude/projects/&lt;your-project&gt;/memory/</a:t>
            </a:r>
            <a:endParaRPr lang="en-US" sz="2400" dirty="0"/>
          </a:p>
        </p:txBody>
      </p:sp>
      <p:sp>
        <p:nvSpPr>
          <p:cNvPr id="13" name="Shape 10"/>
          <p:cNvSpPr/>
          <p:nvPr/>
        </p:nvSpPr>
        <p:spPr>
          <a:xfrm>
            <a:off x="1143000" y="6701393"/>
            <a:ext cx="190500" cy="190500"/>
          </a:xfrm>
          <a:prstGeom prst="roundRect">
            <a:avLst>
              <a:gd name="adj" fmla="val 15000"/>
            </a:avLst>
          </a:prstGeom>
          <a:solidFill>
            <a:srgbClr val="F58220"/>
          </a:solidFill>
          <a:ln/>
        </p:spPr>
        <p:txBody>
          <a:bodyPr/>
          <a:lstStyle/>
          <a:p>
            <a:endParaRPr lang="en-US"/>
          </a:p>
        </p:txBody>
      </p:sp>
      <p:sp>
        <p:nvSpPr>
          <p:cNvPr id="14" name="Text 11"/>
          <p:cNvSpPr/>
          <p:nvPr/>
        </p:nvSpPr>
        <p:spPr>
          <a:xfrm>
            <a:off x="1562099" y="6529944"/>
            <a:ext cx="8115453" cy="1744980"/>
          </a:xfrm>
          <a:prstGeom prst="rect">
            <a:avLst/>
          </a:prstGeom>
          <a:noFill/>
          <a:ln/>
        </p:spPr>
        <p:txBody>
          <a:bodyPr wrap="square" lIns="25400" tIns="25400" rIns="25400" bIns="25400" rtlCol="0" anchor="t">
            <a:normAutofit/>
          </a:bodyPr>
          <a:lstStyle/>
          <a:p>
            <a:pPr marL="0" indent="0" algn="l">
              <a:lnSpc>
                <a:spcPct val="130000"/>
              </a:lnSpc>
              <a:buNone/>
            </a:pPr>
            <a:r>
              <a:rPr lang="en-US" sz="2400" dirty="0">
                <a:solidFill>
                  <a:srgbClr val="2A2D38"/>
                </a:solidFill>
                <a:ea typeface="Inter" pitchFamily="34" charset="-122"/>
                <a:cs typeface="Inter" pitchFamily="34" charset="-120"/>
              </a:rPr>
              <a:t>Like an assistant who keeps a notebook: "Patrick prefers merge commits. He's working on the May workshop. He gets nervous about destructive git commands."</a:t>
            </a:r>
            <a:endParaRPr lang="en-US" sz="2400" dirty="0"/>
          </a:p>
        </p:txBody>
      </p:sp>
      <p:pic>
        <p:nvPicPr>
          <p:cNvPr id="15" name="Image 1" descr="preencoded.png"/>
          <p:cNvPicPr>
            <a:picLocks noChangeAspect="1"/>
          </p:cNvPicPr>
          <p:nvPr/>
        </p:nvPicPr>
        <p:blipFill>
          <a:blip r:embed="rId4"/>
          <a:stretch>
            <a:fillRect/>
          </a:stretch>
        </p:blipFill>
        <p:spPr>
          <a:xfrm>
            <a:off x="10892790" y="3200400"/>
            <a:ext cx="5715000" cy="4762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143000" y="944880"/>
            <a:ext cx="3293632" cy="320040"/>
          </a:xfrm>
          <a:prstGeom prst="rect">
            <a:avLst/>
          </a:prstGeom>
          <a:noFill/>
          <a:ln/>
        </p:spPr>
        <p:txBody>
          <a:bodyPr wrap="square" lIns="25400" tIns="25400" rIns="25400" bIns="25400" rtlCol="0" anchor="t">
            <a:normAutofit lnSpcReduction="10000"/>
          </a:bodyPr>
          <a:lstStyle/>
          <a:p>
            <a:pPr marL="0" indent="0" algn="l">
              <a:buNone/>
            </a:pPr>
            <a:r>
              <a:rPr lang="en-US" sz="1800" b="1" kern="0" spc="252" dirty="0">
                <a:solidFill>
                  <a:srgbClr val="6B6E78"/>
                </a:solidFill>
                <a:latin typeface="Montserrat" pitchFamily="34" charset="0"/>
                <a:ea typeface="Montserrat" pitchFamily="34" charset="-122"/>
                <a:cs typeface="Montserrat" pitchFamily="34" charset="-120"/>
              </a:rPr>
              <a:t>CHAPTER 2 · MEMORY</a:t>
            </a:r>
            <a:endParaRPr lang="en-US" sz="1800" dirty="0"/>
          </a:p>
        </p:txBody>
      </p:sp>
      <p:pic>
        <p:nvPicPr>
          <p:cNvPr id="3" name="Image 0" descr="preencoded.png"/>
          <p:cNvPicPr>
            <a:picLocks noChangeAspect="1"/>
          </p:cNvPicPr>
          <p:nvPr/>
        </p:nvPicPr>
        <p:blipFill>
          <a:blip r:embed="rId3"/>
          <a:stretch>
            <a:fillRect/>
          </a:stretch>
        </p:blipFill>
        <p:spPr>
          <a:xfrm>
            <a:off x="16799084" y="914400"/>
            <a:ext cx="345916" cy="342900"/>
          </a:xfrm>
          <a:prstGeom prst="rect">
            <a:avLst/>
          </a:prstGeom>
        </p:spPr>
      </p:pic>
      <p:sp>
        <p:nvSpPr>
          <p:cNvPr id="4" name="Text 1"/>
          <p:cNvSpPr/>
          <p:nvPr/>
        </p:nvSpPr>
        <p:spPr>
          <a:xfrm>
            <a:off x="1143000" y="2309654"/>
            <a:ext cx="16482060" cy="790893"/>
          </a:xfrm>
          <a:prstGeom prst="rect">
            <a:avLst/>
          </a:prstGeom>
          <a:noFill/>
          <a:ln/>
        </p:spPr>
        <p:txBody>
          <a:bodyPr wrap="square" lIns="25400" tIns="25400" rIns="25400" bIns="25400" rtlCol="0" anchor="t">
            <a:normAutofit fontScale="92500" lnSpcReduction="20000"/>
          </a:bodyPr>
          <a:lstStyle/>
          <a:p>
            <a:pPr marL="0" indent="0" algn="l">
              <a:lnSpc>
                <a:spcPct val="103991"/>
              </a:lnSpc>
              <a:buNone/>
            </a:pPr>
            <a:r>
              <a:rPr lang="en-US" sz="5700" b="1" kern="0" spc="-68" dirty="0">
                <a:solidFill>
                  <a:srgbClr val="2A2D38"/>
                </a:solidFill>
                <a:latin typeface="Montserrat" pitchFamily="34" charset="0"/>
                <a:ea typeface="Montserrat" pitchFamily="34" charset="-122"/>
                <a:cs typeface="Montserrat" pitchFamily="34" charset="-120"/>
              </a:rPr>
              <a:t>What ends up in there</a:t>
            </a:r>
            <a:endParaRPr lang="en-US" sz="5700" dirty="0"/>
          </a:p>
        </p:txBody>
      </p:sp>
      <p:sp>
        <p:nvSpPr>
          <p:cNvPr id="5" name="Shape 2"/>
          <p:cNvSpPr/>
          <p:nvPr/>
        </p:nvSpPr>
        <p:spPr>
          <a:xfrm>
            <a:off x="1143000" y="4045426"/>
            <a:ext cx="7772400" cy="1805940"/>
          </a:xfrm>
          <a:prstGeom prst="roundRect">
            <a:avLst>
              <a:gd name="adj" fmla="val 6329"/>
            </a:avLst>
          </a:prstGeom>
          <a:solidFill>
            <a:srgbClr val="FFFFFF"/>
          </a:solidFill>
          <a:ln w="7620">
            <a:solidFill>
              <a:srgbClr val="E5E5E7"/>
            </a:solidFill>
            <a:prstDash val="solid"/>
          </a:ln>
          <a:effectLst>
            <a:outerShdw blurRad="114300" dist="38100" dir="5400000" algn="bl" rotWithShape="0">
              <a:srgbClr val="2A2D38">
                <a:alpha val="8000"/>
              </a:srgbClr>
            </a:outerShdw>
          </a:effectLst>
        </p:spPr>
        <p:txBody>
          <a:bodyPr/>
          <a:lstStyle/>
          <a:p>
            <a:endParaRPr lang="en-US"/>
          </a:p>
        </p:txBody>
      </p:sp>
      <p:sp>
        <p:nvSpPr>
          <p:cNvPr id="6" name="Shape 3"/>
          <p:cNvSpPr/>
          <p:nvPr/>
        </p:nvSpPr>
        <p:spPr>
          <a:xfrm>
            <a:off x="1531620" y="4395946"/>
            <a:ext cx="838200" cy="838200"/>
          </a:xfrm>
          <a:prstGeom prst="roundRect">
            <a:avLst>
              <a:gd name="adj" fmla="val 13636"/>
            </a:avLst>
          </a:prstGeom>
          <a:solidFill>
            <a:srgbClr val="F7F5F1"/>
          </a:solidFill>
          <a:ln/>
        </p:spPr>
        <p:txBody>
          <a:bodyPr/>
          <a:lstStyle/>
          <a:p>
            <a:endParaRPr lang="en-US"/>
          </a:p>
        </p:txBody>
      </p:sp>
      <p:pic>
        <p:nvPicPr>
          <p:cNvPr id="7" name="Image 1" descr="preencoded.png"/>
          <p:cNvPicPr>
            <a:picLocks noChangeAspect="1"/>
          </p:cNvPicPr>
          <p:nvPr/>
        </p:nvPicPr>
        <p:blipFill>
          <a:blip r:embed="rId4"/>
          <a:stretch>
            <a:fillRect/>
          </a:stretch>
        </p:blipFill>
        <p:spPr>
          <a:xfrm>
            <a:off x="1741170" y="4605496"/>
            <a:ext cx="419100" cy="419100"/>
          </a:xfrm>
          <a:prstGeom prst="rect">
            <a:avLst/>
          </a:prstGeom>
        </p:spPr>
      </p:pic>
      <p:sp>
        <p:nvSpPr>
          <p:cNvPr id="8" name="Text 4"/>
          <p:cNvSpPr/>
          <p:nvPr/>
        </p:nvSpPr>
        <p:spPr>
          <a:xfrm>
            <a:off x="2636520" y="4395946"/>
            <a:ext cx="6066968" cy="365760"/>
          </a:xfrm>
          <a:prstGeom prst="rect">
            <a:avLst/>
          </a:prstGeom>
          <a:noFill/>
          <a:ln/>
        </p:spPr>
        <p:txBody>
          <a:bodyPr wrap="square" lIns="25400" tIns="25400" rIns="25400" bIns="25400" rtlCol="0" anchor="t">
            <a:normAutofit lnSpcReduction="10000"/>
          </a:bodyPr>
          <a:lstStyle/>
          <a:p>
            <a:pPr marL="0" indent="0" algn="l">
              <a:buNone/>
            </a:pPr>
            <a:r>
              <a:rPr lang="en-US" sz="2100" b="1" kern="0" spc="-11" dirty="0">
                <a:solidFill>
                  <a:srgbClr val="2A2D38"/>
                </a:solidFill>
                <a:latin typeface="Montserrat" pitchFamily="34" charset="0"/>
                <a:ea typeface="Montserrat" pitchFamily="34" charset="-122"/>
                <a:cs typeface="Montserrat" pitchFamily="34" charset="-120"/>
              </a:rPr>
              <a:t>Who you are &amp; what you're working on.</a:t>
            </a:r>
            <a:endParaRPr lang="en-US" sz="2100" dirty="0"/>
          </a:p>
        </p:txBody>
      </p:sp>
      <p:sp>
        <p:nvSpPr>
          <p:cNvPr id="9" name="Text 5"/>
          <p:cNvSpPr/>
          <p:nvPr/>
        </p:nvSpPr>
        <p:spPr>
          <a:xfrm>
            <a:off x="2636520" y="4837906"/>
            <a:ext cx="6066968" cy="70104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dirty="0">
                <a:solidFill>
                  <a:srgbClr val="6B6E78"/>
                </a:solidFill>
                <a:latin typeface="Inter" pitchFamily="34" charset="0"/>
                <a:ea typeface="Inter" pitchFamily="34" charset="-122"/>
                <a:cs typeface="Inter" pitchFamily="34" charset="-120"/>
              </a:rPr>
              <a:t>Your name, your role, the project you're in the middle of, the deadlines on your calendar.</a:t>
            </a:r>
            <a:endParaRPr lang="en-US" sz="1800" dirty="0"/>
          </a:p>
        </p:txBody>
      </p:sp>
      <p:sp>
        <p:nvSpPr>
          <p:cNvPr id="10" name="Shape 6"/>
          <p:cNvSpPr/>
          <p:nvPr/>
        </p:nvSpPr>
        <p:spPr>
          <a:xfrm>
            <a:off x="9372600" y="4045426"/>
            <a:ext cx="7772400" cy="1805940"/>
          </a:xfrm>
          <a:prstGeom prst="roundRect">
            <a:avLst>
              <a:gd name="adj" fmla="val 6329"/>
            </a:avLst>
          </a:prstGeom>
          <a:solidFill>
            <a:srgbClr val="FFFFFF"/>
          </a:solidFill>
          <a:ln w="7620">
            <a:solidFill>
              <a:srgbClr val="E5E5E7"/>
            </a:solidFill>
            <a:prstDash val="solid"/>
          </a:ln>
          <a:effectLst>
            <a:outerShdw blurRad="114300" dist="38100" dir="5400000" algn="bl" rotWithShape="0">
              <a:srgbClr val="2A2D38">
                <a:alpha val="8000"/>
              </a:srgbClr>
            </a:outerShdw>
          </a:effectLst>
        </p:spPr>
        <p:txBody>
          <a:bodyPr/>
          <a:lstStyle/>
          <a:p>
            <a:endParaRPr lang="en-US"/>
          </a:p>
        </p:txBody>
      </p:sp>
      <p:sp>
        <p:nvSpPr>
          <p:cNvPr id="11" name="Shape 7"/>
          <p:cNvSpPr/>
          <p:nvPr/>
        </p:nvSpPr>
        <p:spPr>
          <a:xfrm>
            <a:off x="9761220" y="4395946"/>
            <a:ext cx="838200" cy="838200"/>
          </a:xfrm>
          <a:prstGeom prst="roundRect">
            <a:avLst>
              <a:gd name="adj" fmla="val 13636"/>
            </a:avLst>
          </a:prstGeom>
          <a:solidFill>
            <a:srgbClr val="F7F5F1"/>
          </a:solidFill>
          <a:ln/>
        </p:spPr>
        <p:txBody>
          <a:bodyPr/>
          <a:lstStyle/>
          <a:p>
            <a:endParaRPr lang="en-US"/>
          </a:p>
        </p:txBody>
      </p:sp>
      <p:pic>
        <p:nvPicPr>
          <p:cNvPr id="12" name="Image 2" descr="preencoded.png"/>
          <p:cNvPicPr>
            <a:picLocks noChangeAspect="1"/>
          </p:cNvPicPr>
          <p:nvPr/>
        </p:nvPicPr>
        <p:blipFill>
          <a:blip r:embed="rId5"/>
          <a:stretch>
            <a:fillRect/>
          </a:stretch>
        </p:blipFill>
        <p:spPr>
          <a:xfrm>
            <a:off x="9970770" y="4605496"/>
            <a:ext cx="419100" cy="419100"/>
          </a:xfrm>
          <a:prstGeom prst="rect">
            <a:avLst/>
          </a:prstGeom>
        </p:spPr>
      </p:pic>
      <p:sp>
        <p:nvSpPr>
          <p:cNvPr id="13" name="Text 8"/>
          <p:cNvSpPr/>
          <p:nvPr/>
        </p:nvSpPr>
        <p:spPr>
          <a:xfrm>
            <a:off x="10866120" y="4395946"/>
            <a:ext cx="6066968" cy="365760"/>
          </a:xfrm>
          <a:prstGeom prst="rect">
            <a:avLst/>
          </a:prstGeom>
          <a:noFill/>
          <a:ln/>
        </p:spPr>
        <p:txBody>
          <a:bodyPr wrap="square" lIns="25400" tIns="25400" rIns="25400" bIns="25400" rtlCol="0" anchor="t">
            <a:normAutofit lnSpcReduction="10000"/>
          </a:bodyPr>
          <a:lstStyle/>
          <a:p>
            <a:pPr marL="0" indent="0" algn="l">
              <a:buNone/>
            </a:pPr>
            <a:r>
              <a:rPr lang="en-US" sz="2100" b="1" kern="0" spc="-11" dirty="0">
                <a:solidFill>
                  <a:srgbClr val="2A2D38"/>
                </a:solidFill>
                <a:latin typeface="Montserrat" pitchFamily="34" charset="0"/>
                <a:ea typeface="Montserrat" pitchFamily="34" charset="-122"/>
                <a:cs typeface="Montserrat" pitchFamily="34" charset="-120"/>
              </a:rPr>
              <a:t>Things you've corrected — or praised.</a:t>
            </a:r>
            <a:endParaRPr lang="en-US" sz="2100" dirty="0"/>
          </a:p>
        </p:txBody>
      </p:sp>
      <p:sp>
        <p:nvSpPr>
          <p:cNvPr id="14" name="Text 9"/>
          <p:cNvSpPr/>
          <p:nvPr/>
        </p:nvSpPr>
        <p:spPr>
          <a:xfrm>
            <a:off x="10866120" y="4837906"/>
            <a:ext cx="6066968" cy="70104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dirty="0">
                <a:solidFill>
                  <a:srgbClr val="6B6E78"/>
                </a:solidFill>
                <a:latin typeface="Inter" pitchFamily="34" charset="0"/>
                <a:ea typeface="Inter" pitchFamily="34" charset="-122"/>
                <a:cs typeface="Inter" pitchFamily="34" charset="-120"/>
              </a:rPr>
              <a:t>Both matter. The corrections sharpen it; the praise tells it what "good" looks like for you.</a:t>
            </a:r>
            <a:endParaRPr lang="en-US" sz="1800" dirty="0"/>
          </a:p>
        </p:txBody>
      </p:sp>
      <p:sp>
        <p:nvSpPr>
          <p:cNvPr id="15" name="Shape 10"/>
          <p:cNvSpPr/>
          <p:nvPr/>
        </p:nvSpPr>
        <p:spPr>
          <a:xfrm>
            <a:off x="1143000" y="6194266"/>
            <a:ext cx="7772400" cy="2133600"/>
          </a:xfrm>
          <a:prstGeom prst="roundRect">
            <a:avLst>
              <a:gd name="adj" fmla="val 5357"/>
            </a:avLst>
          </a:prstGeom>
          <a:solidFill>
            <a:srgbClr val="FFFFFF"/>
          </a:solidFill>
          <a:ln w="7620">
            <a:solidFill>
              <a:srgbClr val="E5E5E7"/>
            </a:solidFill>
            <a:prstDash val="solid"/>
          </a:ln>
          <a:effectLst>
            <a:outerShdw blurRad="114300" dist="38100" dir="5400000" algn="bl" rotWithShape="0">
              <a:srgbClr val="2A2D38">
                <a:alpha val="8000"/>
              </a:srgbClr>
            </a:outerShdw>
          </a:effectLst>
        </p:spPr>
        <p:txBody>
          <a:bodyPr/>
          <a:lstStyle/>
          <a:p>
            <a:endParaRPr lang="en-US"/>
          </a:p>
        </p:txBody>
      </p:sp>
      <p:sp>
        <p:nvSpPr>
          <p:cNvPr id="16" name="Shape 11"/>
          <p:cNvSpPr/>
          <p:nvPr/>
        </p:nvSpPr>
        <p:spPr>
          <a:xfrm>
            <a:off x="1531620" y="6544787"/>
            <a:ext cx="838200" cy="838200"/>
          </a:xfrm>
          <a:prstGeom prst="roundRect">
            <a:avLst>
              <a:gd name="adj" fmla="val 13636"/>
            </a:avLst>
          </a:prstGeom>
          <a:solidFill>
            <a:srgbClr val="F7F5F1"/>
          </a:solidFill>
          <a:ln/>
        </p:spPr>
        <p:txBody>
          <a:bodyPr/>
          <a:lstStyle/>
          <a:p>
            <a:endParaRPr lang="en-US"/>
          </a:p>
        </p:txBody>
      </p:sp>
      <p:pic>
        <p:nvPicPr>
          <p:cNvPr id="17" name="Image 3" descr="preencoded.png"/>
          <p:cNvPicPr>
            <a:picLocks noChangeAspect="1"/>
          </p:cNvPicPr>
          <p:nvPr/>
        </p:nvPicPr>
        <p:blipFill>
          <a:blip r:embed="rId6"/>
          <a:stretch>
            <a:fillRect/>
          </a:stretch>
        </p:blipFill>
        <p:spPr>
          <a:xfrm>
            <a:off x="1741170" y="6754337"/>
            <a:ext cx="419100" cy="419100"/>
          </a:xfrm>
          <a:prstGeom prst="rect">
            <a:avLst/>
          </a:prstGeom>
        </p:spPr>
      </p:pic>
      <p:sp>
        <p:nvSpPr>
          <p:cNvPr id="18" name="Text 12"/>
          <p:cNvSpPr/>
          <p:nvPr/>
        </p:nvSpPr>
        <p:spPr>
          <a:xfrm>
            <a:off x="2636520" y="6544787"/>
            <a:ext cx="6066968" cy="693420"/>
          </a:xfrm>
          <a:prstGeom prst="rect">
            <a:avLst/>
          </a:prstGeom>
          <a:noFill/>
          <a:ln/>
        </p:spPr>
        <p:txBody>
          <a:bodyPr wrap="square" lIns="25400" tIns="25400" rIns="25400" bIns="25400" rtlCol="0" anchor="t">
            <a:normAutofit/>
          </a:bodyPr>
          <a:lstStyle/>
          <a:p>
            <a:pPr marL="0" indent="0" algn="l">
              <a:buNone/>
            </a:pPr>
            <a:r>
              <a:rPr lang="en-US" sz="2100" b="1" kern="0" spc="-11" dirty="0">
                <a:solidFill>
                  <a:srgbClr val="2A2D38"/>
                </a:solidFill>
                <a:latin typeface="Montserrat" pitchFamily="34" charset="0"/>
                <a:ea typeface="Montserrat" pitchFamily="34" charset="-122"/>
                <a:cs typeface="Montserrat" pitchFamily="34" charset="-120"/>
              </a:rPr>
              <a:t>Project status: deadlines, decisions, who's doing what.</a:t>
            </a:r>
            <a:endParaRPr lang="en-US" sz="2100" dirty="0"/>
          </a:p>
        </p:txBody>
      </p:sp>
      <p:sp>
        <p:nvSpPr>
          <p:cNvPr id="19" name="Text 13"/>
          <p:cNvSpPr/>
          <p:nvPr/>
        </p:nvSpPr>
        <p:spPr>
          <a:xfrm>
            <a:off x="2636520" y="7314406"/>
            <a:ext cx="6066968" cy="701040"/>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6B6E78"/>
                </a:solidFill>
                <a:latin typeface="Inter" pitchFamily="34" charset="0"/>
                <a:ea typeface="Inter" pitchFamily="34" charset="-122"/>
                <a:cs typeface="Inter" pitchFamily="34" charset="-120"/>
              </a:rPr>
              <a:t>Where this thing stands, and the trail of choices that got it there.</a:t>
            </a:r>
            <a:endParaRPr lang="en-US" sz="1800" dirty="0"/>
          </a:p>
        </p:txBody>
      </p:sp>
      <p:sp>
        <p:nvSpPr>
          <p:cNvPr id="20" name="Shape 14"/>
          <p:cNvSpPr/>
          <p:nvPr/>
        </p:nvSpPr>
        <p:spPr>
          <a:xfrm>
            <a:off x="9372600" y="6194266"/>
            <a:ext cx="7772400" cy="2133600"/>
          </a:xfrm>
          <a:prstGeom prst="roundRect">
            <a:avLst>
              <a:gd name="adj" fmla="val 5357"/>
            </a:avLst>
          </a:prstGeom>
          <a:solidFill>
            <a:srgbClr val="FFFFFF"/>
          </a:solidFill>
          <a:ln w="7620">
            <a:solidFill>
              <a:srgbClr val="E5E5E7"/>
            </a:solidFill>
            <a:prstDash val="solid"/>
          </a:ln>
          <a:effectLst>
            <a:outerShdw blurRad="114300" dist="38100" dir="5400000" algn="bl" rotWithShape="0">
              <a:srgbClr val="2A2D38">
                <a:alpha val="8000"/>
              </a:srgbClr>
            </a:outerShdw>
          </a:effectLst>
        </p:spPr>
        <p:txBody>
          <a:bodyPr/>
          <a:lstStyle/>
          <a:p>
            <a:endParaRPr lang="en-US"/>
          </a:p>
        </p:txBody>
      </p:sp>
      <p:sp>
        <p:nvSpPr>
          <p:cNvPr id="21" name="Shape 15"/>
          <p:cNvSpPr/>
          <p:nvPr/>
        </p:nvSpPr>
        <p:spPr>
          <a:xfrm>
            <a:off x="9761220" y="6544787"/>
            <a:ext cx="838200" cy="838200"/>
          </a:xfrm>
          <a:prstGeom prst="roundRect">
            <a:avLst>
              <a:gd name="adj" fmla="val 13636"/>
            </a:avLst>
          </a:prstGeom>
          <a:solidFill>
            <a:srgbClr val="F7F5F1"/>
          </a:solidFill>
          <a:ln/>
        </p:spPr>
        <p:txBody>
          <a:bodyPr/>
          <a:lstStyle/>
          <a:p>
            <a:endParaRPr lang="en-US"/>
          </a:p>
        </p:txBody>
      </p:sp>
      <p:pic>
        <p:nvPicPr>
          <p:cNvPr id="22" name="Image 4" descr="preencoded.png"/>
          <p:cNvPicPr>
            <a:picLocks noChangeAspect="1"/>
          </p:cNvPicPr>
          <p:nvPr/>
        </p:nvPicPr>
        <p:blipFill>
          <a:blip r:embed="rId7"/>
          <a:stretch>
            <a:fillRect/>
          </a:stretch>
        </p:blipFill>
        <p:spPr>
          <a:xfrm>
            <a:off x="9970770" y="6754337"/>
            <a:ext cx="419100" cy="419100"/>
          </a:xfrm>
          <a:prstGeom prst="rect">
            <a:avLst/>
          </a:prstGeom>
        </p:spPr>
      </p:pic>
      <p:sp>
        <p:nvSpPr>
          <p:cNvPr id="23" name="Text 16"/>
          <p:cNvSpPr/>
          <p:nvPr/>
        </p:nvSpPr>
        <p:spPr>
          <a:xfrm>
            <a:off x="10866120" y="6544787"/>
            <a:ext cx="6066968" cy="365760"/>
          </a:xfrm>
          <a:prstGeom prst="rect">
            <a:avLst/>
          </a:prstGeom>
          <a:noFill/>
          <a:ln/>
        </p:spPr>
        <p:txBody>
          <a:bodyPr wrap="square" lIns="25400" tIns="25400" rIns="25400" bIns="25400" rtlCol="0" anchor="t">
            <a:normAutofit lnSpcReduction="10000"/>
          </a:bodyPr>
          <a:lstStyle/>
          <a:p>
            <a:pPr marL="0" indent="0" algn="l">
              <a:buNone/>
            </a:pPr>
            <a:r>
              <a:rPr lang="en-US" sz="2100" b="1" kern="0" spc="-11" dirty="0">
                <a:solidFill>
                  <a:srgbClr val="2A2D38"/>
                </a:solidFill>
                <a:latin typeface="Montserrat" pitchFamily="34" charset="0"/>
                <a:ea typeface="Montserrat" pitchFamily="34" charset="-122"/>
                <a:cs typeface="Montserrat" pitchFamily="34" charset="-120"/>
              </a:rPr>
              <a:t>Pointers to other systems.</a:t>
            </a:r>
            <a:endParaRPr lang="en-US" sz="2100" dirty="0"/>
          </a:p>
        </p:txBody>
      </p:sp>
      <p:sp>
        <p:nvSpPr>
          <p:cNvPr id="24" name="Text 17"/>
          <p:cNvSpPr/>
          <p:nvPr/>
        </p:nvSpPr>
        <p:spPr>
          <a:xfrm>
            <a:off x="10866120" y="6986746"/>
            <a:ext cx="6066968" cy="70104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dirty="0">
                <a:solidFill>
                  <a:srgbClr val="6B6E78"/>
                </a:solidFill>
                <a:latin typeface="Inter" pitchFamily="34" charset="0"/>
                <a:ea typeface="Inter" pitchFamily="34" charset="-122"/>
                <a:cs typeface="Inter" pitchFamily="34" charset="-120"/>
              </a:rPr>
              <a:t>Linear boards, Slack channels, dashboards — the places it should look when you ask.</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143000" y="944880"/>
            <a:ext cx="3293632" cy="320040"/>
          </a:xfrm>
          <a:prstGeom prst="rect">
            <a:avLst/>
          </a:prstGeom>
          <a:noFill/>
          <a:ln/>
        </p:spPr>
        <p:txBody>
          <a:bodyPr wrap="square" lIns="25400" tIns="25400" rIns="25400" bIns="25400" rtlCol="0" anchor="t">
            <a:normAutofit lnSpcReduction="10000"/>
          </a:bodyPr>
          <a:lstStyle/>
          <a:p>
            <a:pPr marL="0" indent="0" algn="l">
              <a:buNone/>
            </a:pPr>
            <a:r>
              <a:rPr lang="en-US" sz="1800" b="1" kern="0" spc="252" dirty="0">
                <a:solidFill>
                  <a:srgbClr val="6B6E78"/>
                </a:solidFill>
                <a:latin typeface="Montserrat" pitchFamily="34" charset="0"/>
                <a:ea typeface="Montserrat" pitchFamily="34" charset="-122"/>
                <a:cs typeface="Montserrat" pitchFamily="34" charset="-120"/>
              </a:rPr>
              <a:t>CHAPTER 2 · MEMORY</a:t>
            </a:r>
            <a:endParaRPr lang="en-US" sz="1800" dirty="0"/>
          </a:p>
        </p:txBody>
      </p:sp>
      <p:pic>
        <p:nvPicPr>
          <p:cNvPr id="3" name="Image 0" descr="preencoded.png"/>
          <p:cNvPicPr>
            <a:picLocks noChangeAspect="1"/>
          </p:cNvPicPr>
          <p:nvPr/>
        </p:nvPicPr>
        <p:blipFill>
          <a:blip r:embed="rId3"/>
          <a:stretch>
            <a:fillRect/>
          </a:stretch>
        </p:blipFill>
        <p:spPr>
          <a:xfrm>
            <a:off x="16799084" y="914400"/>
            <a:ext cx="345916" cy="342900"/>
          </a:xfrm>
          <a:prstGeom prst="rect">
            <a:avLst/>
          </a:prstGeom>
        </p:spPr>
      </p:pic>
      <p:sp>
        <p:nvSpPr>
          <p:cNvPr id="4" name="Text 1"/>
          <p:cNvSpPr/>
          <p:nvPr/>
        </p:nvSpPr>
        <p:spPr>
          <a:xfrm>
            <a:off x="1143000" y="2570617"/>
            <a:ext cx="8158619" cy="790893"/>
          </a:xfrm>
          <a:prstGeom prst="rect">
            <a:avLst/>
          </a:prstGeom>
          <a:noFill/>
          <a:ln/>
        </p:spPr>
        <p:txBody>
          <a:bodyPr wrap="square" lIns="25400" tIns="25400" rIns="25400" bIns="25400" rtlCol="0" anchor="t">
            <a:normAutofit fontScale="92500" lnSpcReduction="20000"/>
          </a:bodyPr>
          <a:lstStyle/>
          <a:p>
            <a:pPr marL="0" indent="0" algn="l">
              <a:lnSpc>
                <a:spcPct val="103991"/>
              </a:lnSpc>
              <a:buNone/>
            </a:pPr>
            <a:r>
              <a:rPr lang="en-US" sz="5700" b="1" kern="0" spc="-68" dirty="0">
                <a:solidFill>
                  <a:srgbClr val="2A2D38"/>
                </a:solidFill>
                <a:latin typeface="Montserrat" pitchFamily="34" charset="0"/>
                <a:ea typeface="Montserrat" pitchFamily="34" charset="-122"/>
                <a:cs typeface="Montserrat" pitchFamily="34" charset="-120"/>
              </a:rPr>
              <a:t>How it grows</a:t>
            </a:r>
            <a:endParaRPr lang="en-US" sz="5700" dirty="0"/>
          </a:p>
        </p:txBody>
      </p:sp>
      <p:sp>
        <p:nvSpPr>
          <p:cNvPr id="5" name="Shape 2"/>
          <p:cNvSpPr/>
          <p:nvPr/>
        </p:nvSpPr>
        <p:spPr>
          <a:xfrm>
            <a:off x="1143000" y="4757896"/>
            <a:ext cx="190500" cy="190500"/>
          </a:xfrm>
          <a:prstGeom prst="roundRect">
            <a:avLst>
              <a:gd name="adj" fmla="val 15000"/>
            </a:avLst>
          </a:prstGeom>
          <a:solidFill>
            <a:srgbClr val="F58220"/>
          </a:solidFill>
          <a:ln/>
        </p:spPr>
        <p:txBody>
          <a:bodyPr/>
          <a:lstStyle/>
          <a:p>
            <a:endParaRPr lang="en-US"/>
          </a:p>
        </p:txBody>
      </p:sp>
      <p:sp>
        <p:nvSpPr>
          <p:cNvPr id="6" name="Text 3"/>
          <p:cNvSpPr/>
          <p:nvPr/>
        </p:nvSpPr>
        <p:spPr>
          <a:xfrm>
            <a:off x="1562100" y="4544536"/>
            <a:ext cx="7726946" cy="891540"/>
          </a:xfrm>
          <a:prstGeom prst="rect">
            <a:avLst/>
          </a:prstGeom>
          <a:noFill/>
          <a:ln/>
        </p:spPr>
        <p:txBody>
          <a:bodyPr wrap="square" lIns="25400" tIns="25400" rIns="25400" bIns="25400" rtlCol="0" anchor="t">
            <a:normAutofit/>
          </a:bodyPr>
          <a:lstStyle/>
          <a:p>
            <a:pPr marL="0" indent="0" algn="l">
              <a:lnSpc>
                <a:spcPct val="140000"/>
              </a:lnSpc>
              <a:buNone/>
            </a:pPr>
            <a:r>
              <a:rPr lang="en-US" sz="2400" dirty="0">
                <a:solidFill>
                  <a:srgbClr val="2A2D38"/>
                </a:solidFill>
                <a:ea typeface="Inter" pitchFamily="34" charset="-122"/>
                <a:cs typeface="Inter" pitchFamily="34" charset="-120"/>
              </a:rPr>
              <a:t>Claude adds to it on its own when it learns something useful.</a:t>
            </a:r>
            <a:endParaRPr lang="en-US" sz="2400" dirty="0"/>
          </a:p>
        </p:txBody>
      </p:sp>
      <p:sp>
        <p:nvSpPr>
          <p:cNvPr id="7" name="Shape 4"/>
          <p:cNvSpPr/>
          <p:nvPr/>
        </p:nvSpPr>
        <p:spPr>
          <a:xfrm>
            <a:off x="1143000" y="5773529"/>
            <a:ext cx="190500" cy="190500"/>
          </a:xfrm>
          <a:prstGeom prst="roundRect">
            <a:avLst>
              <a:gd name="adj" fmla="val 15000"/>
            </a:avLst>
          </a:prstGeom>
          <a:solidFill>
            <a:srgbClr val="F58220"/>
          </a:solidFill>
          <a:ln/>
        </p:spPr>
        <p:txBody>
          <a:bodyPr/>
          <a:lstStyle/>
          <a:p>
            <a:endParaRPr lang="en-US"/>
          </a:p>
        </p:txBody>
      </p:sp>
      <p:sp>
        <p:nvSpPr>
          <p:cNvPr id="8" name="Text 5"/>
          <p:cNvSpPr/>
          <p:nvPr/>
        </p:nvSpPr>
        <p:spPr>
          <a:xfrm>
            <a:off x="1562100" y="5554980"/>
            <a:ext cx="7726946" cy="891540"/>
          </a:xfrm>
          <a:prstGeom prst="rect">
            <a:avLst/>
          </a:prstGeom>
          <a:noFill/>
          <a:ln/>
        </p:spPr>
        <p:txBody>
          <a:bodyPr wrap="square" lIns="25400" tIns="25400" rIns="25400" bIns="25400" rtlCol="0" anchor="t">
            <a:noAutofit/>
          </a:bodyPr>
          <a:lstStyle/>
          <a:p>
            <a:pPr marL="0" indent="0" algn="l">
              <a:lnSpc>
                <a:spcPct val="130000"/>
              </a:lnSpc>
              <a:buNone/>
            </a:pPr>
            <a:r>
              <a:rPr lang="en-US" sz="2400" dirty="0">
                <a:solidFill>
                  <a:srgbClr val="2A2D38"/>
                </a:solidFill>
                <a:ea typeface="Inter" pitchFamily="34" charset="-122"/>
                <a:cs typeface="Inter" pitchFamily="34" charset="-120"/>
              </a:rPr>
              <a:t>You can ask it to remember a thing: </a:t>
            </a:r>
            <a:r>
              <a:rPr lang="en-US" sz="2400" i="1" dirty="0">
                <a:solidFill>
                  <a:srgbClr val="2A2D38"/>
                </a:solidFill>
                <a:ea typeface="Inter" pitchFamily="34" charset="-122"/>
                <a:cs typeface="Inter" pitchFamily="34" charset="-120"/>
              </a:rPr>
              <a:t>"remember that I always want PRs reviewed before merge."</a:t>
            </a:r>
            <a:endParaRPr lang="en-US" sz="2400" dirty="0"/>
          </a:p>
        </p:txBody>
      </p:sp>
      <p:sp>
        <p:nvSpPr>
          <p:cNvPr id="9" name="Shape 6"/>
          <p:cNvSpPr/>
          <p:nvPr/>
        </p:nvSpPr>
        <p:spPr>
          <a:xfrm>
            <a:off x="1143000" y="6980758"/>
            <a:ext cx="190500" cy="190500"/>
          </a:xfrm>
          <a:prstGeom prst="roundRect">
            <a:avLst>
              <a:gd name="adj" fmla="val 15000"/>
            </a:avLst>
          </a:prstGeom>
          <a:solidFill>
            <a:srgbClr val="F58220"/>
          </a:solidFill>
          <a:ln/>
        </p:spPr>
        <p:txBody>
          <a:bodyPr/>
          <a:lstStyle/>
          <a:p>
            <a:endParaRPr lang="en-US"/>
          </a:p>
        </p:txBody>
      </p:sp>
      <p:sp>
        <p:nvSpPr>
          <p:cNvPr id="10" name="Text 7"/>
          <p:cNvSpPr/>
          <p:nvPr/>
        </p:nvSpPr>
        <p:spPr>
          <a:xfrm>
            <a:off x="1562100" y="6784816"/>
            <a:ext cx="7726946" cy="464820"/>
          </a:xfrm>
          <a:prstGeom prst="rect">
            <a:avLst/>
          </a:prstGeom>
          <a:noFill/>
          <a:ln/>
        </p:spPr>
        <p:txBody>
          <a:bodyPr wrap="square" lIns="25400" tIns="25400" rIns="25400" bIns="25400" rtlCol="0" anchor="t">
            <a:noAutofit/>
          </a:bodyPr>
          <a:lstStyle/>
          <a:p>
            <a:pPr marL="0" indent="0" algn="l">
              <a:lnSpc>
                <a:spcPct val="140000"/>
              </a:lnSpc>
              <a:buNone/>
            </a:pPr>
            <a:r>
              <a:rPr lang="en-US" sz="2400" dirty="0">
                <a:solidFill>
                  <a:srgbClr val="2A2D38"/>
                </a:solidFill>
                <a:ea typeface="Inter" pitchFamily="34" charset="-122"/>
                <a:cs typeface="Inter" pitchFamily="34" charset="-120"/>
              </a:rPr>
              <a:t>You can ask it to forget.</a:t>
            </a:r>
            <a:endParaRPr lang="en-US" sz="2400" dirty="0"/>
          </a:p>
        </p:txBody>
      </p:sp>
      <p:sp>
        <p:nvSpPr>
          <p:cNvPr id="11" name="Shape 8"/>
          <p:cNvSpPr/>
          <p:nvPr/>
        </p:nvSpPr>
        <p:spPr>
          <a:xfrm>
            <a:off x="1143000" y="7691596"/>
            <a:ext cx="190500" cy="190500"/>
          </a:xfrm>
          <a:prstGeom prst="roundRect">
            <a:avLst>
              <a:gd name="adj" fmla="val 15000"/>
            </a:avLst>
          </a:prstGeom>
          <a:solidFill>
            <a:srgbClr val="F58220"/>
          </a:solidFill>
          <a:ln/>
        </p:spPr>
        <p:txBody>
          <a:bodyPr/>
          <a:lstStyle/>
          <a:p>
            <a:endParaRPr lang="en-US"/>
          </a:p>
        </p:txBody>
      </p:sp>
      <p:sp>
        <p:nvSpPr>
          <p:cNvPr id="12" name="Text 9"/>
          <p:cNvSpPr/>
          <p:nvPr/>
        </p:nvSpPr>
        <p:spPr>
          <a:xfrm>
            <a:off x="1562100" y="7478237"/>
            <a:ext cx="7726946" cy="464820"/>
          </a:xfrm>
          <a:prstGeom prst="rect">
            <a:avLst/>
          </a:prstGeom>
          <a:noFill/>
          <a:ln/>
        </p:spPr>
        <p:txBody>
          <a:bodyPr wrap="square" lIns="25400" tIns="25400" rIns="25400" bIns="25400" rtlCol="0" anchor="t">
            <a:noAutofit/>
          </a:bodyPr>
          <a:lstStyle/>
          <a:p>
            <a:pPr marL="0" indent="0" algn="l">
              <a:lnSpc>
                <a:spcPct val="140000"/>
              </a:lnSpc>
              <a:buNone/>
            </a:pPr>
            <a:r>
              <a:rPr lang="en-US" sz="2400" dirty="0">
                <a:solidFill>
                  <a:srgbClr val="2A2D38"/>
                </a:solidFill>
                <a:ea typeface="Inter" pitchFamily="34" charset="-122"/>
                <a:cs typeface="Inter" pitchFamily="34" charset="-120"/>
              </a:rPr>
              <a:t>Over weeks, it builds up a real working relationship.</a:t>
            </a:r>
            <a:endParaRPr lang="en-US" sz="2400" dirty="0"/>
          </a:p>
        </p:txBody>
      </p:sp>
      <p:pic>
        <p:nvPicPr>
          <p:cNvPr id="13" name="Image 1" descr="preencoded.png"/>
          <p:cNvPicPr>
            <a:picLocks noChangeAspect="1"/>
          </p:cNvPicPr>
          <p:nvPr/>
        </p:nvPicPr>
        <p:blipFill>
          <a:blip r:embed="rId4"/>
          <a:stretch>
            <a:fillRect/>
          </a:stretch>
        </p:blipFill>
        <p:spPr>
          <a:xfrm>
            <a:off x="10894695" y="2914650"/>
            <a:ext cx="5334000" cy="5334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143000" y="944880"/>
            <a:ext cx="3293632" cy="320040"/>
          </a:xfrm>
          <a:prstGeom prst="rect">
            <a:avLst/>
          </a:prstGeom>
          <a:noFill/>
          <a:ln/>
        </p:spPr>
        <p:txBody>
          <a:bodyPr wrap="square" lIns="25400" tIns="25400" rIns="25400" bIns="25400" rtlCol="0" anchor="t">
            <a:normAutofit lnSpcReduction="10000"/>
          </a:bodyPr>
          <a:lstStyle/>
          <a:p>
            <a:pPr marL="0" indent="0" algn="l">
              <a:buNone/>
            </a:pPr>
            <a:r>
              <a:rPr lang="en-US" sz="1800" b="1" kern="0" spc="252" dirty="0">
                <a:solidFill>
                  <a:srgbClr val="6B6E78"/>
                </a:solidFill>
                <a:latin typeface="Montserrat" pitchFamily="34" charset="0"/>
                <a:ea typeface="Montserrat" pitchFamily="34" charset="-122"/>
                <a:cs typeface="Montserrat" pitchFamily="34" charset="-120"/>
              </a:rPr>
              <a:t>CHAPTER 2 · MEMORY</a:t>
            </a:r>
            <a:endParaRPr lang="en-US" sz="1800" dirty="0"/>
          </a:p>
        </p:txBody>
      </p:sp>
      <p:pic>
        <p:nvPicPr>
          <p:cNvPr id="3" name="Image 0" descr="preencoded.png"/>
          <p:cNvPicPr>
            <a:picLocks noChangeAspect="1"/>
          </p:cNvPicPr>
          <p:nvPr/>
        </p:nvPicPr>
        <p:blipFill>
          <a:blip r:embed="rId3"/>
          <a:stretch>
            <a:fillRect/>
          </a:stretch>
        </p:blipFill>
        <p:spPr>
          <a:xfrm>
            <a:off x="16799084" y="914400"/>
            <a:ext cx="345916" cy="342900"/>
          </a:xfrm>
          <a:prstGeom prst="rect">
            <a:avLst/>
          </a:prstGeom>
        </p:spPr>
      </p:pic>
      <p:sp>
        <p:nvSpPr>
          <p:cNvPr id="4" name="Shape 1"/>
          <p:cNvSpPr/>
          <p:nvPr/>
        </p:nvSpPr>
        <p:spPr>
          <a:xfrm>
            <a:off x="1143000" y="1953101"/>
            <a:ext cx="2048828" cy="487680"/>
          </a:xfrm>
          <a:prstGeom prst="roundRect">
            <a:avLst>
              <a:gd name="adj" fmla="val 50000"/>
            </a:avLst>
          </a:prstGeom>
          <a:solidFill>
            <a:srgbClr val="FBE5E1"/>
          </a:solidFill>
          <a:ln w="7620">
            <a:solidFill>
              <a:srgbClr val="B5341B"/>
            </a:solidFill>
            <a:prstDash val="solid"/>
          </a:ln>
        </p:spPr>
        <p:txBody>
          <a:bodyPr/>
          <a:lstStyle/>
          <a:p>
            <a:endParaRPr lang="en-US"/>
          </a:p>
        </p:txBody>
      </p:sp>
      <p:sp>
        <p:nvSpPr>
          <p:cNvPr id="6" name="Text 3"/>
          <p:cNvSpPr/>
          <p:nvPr/>
        </p:nvSpPr>
        <p:spPr>
          <a:xfrm>
            <a:off x="1143000" y="2067846"/>
            <a:ext cx="2048828" cy="320040"/>
          </a:xfrm>
          <a:prstGeom prst="rect">
            <a:avLst/>
          </a:prstGeom>
          <a:noFill/>
          <a:ln/>
        </p:spPr>
        <p:txBody>
          <a:bodyPr wrap="square" lIns="0" tIns="0" rIns="0" bIns="0" rtlCol="0" anchor="t">
            <a:normAutofit/>
          </a:bodyPr>
          <a:lstStyle/>
          <a:p>
            <a:pPr marL="0" indent="0" algn="ctr">
              <a:buNone/>
            </a:pPr>
            <a:r>
              <a:rPr lang="en-US" sz="1800" b="1" kern="0" spc="180" dirty="0">
                <a:solidFill>
                  <a:srgbClr val="B5341B"/>
                </a:solidFill>
                <a:latin typeface="Montserrat" pitchFamily="34" charset="0"/>
                <a:ea typeface="Montserrat" pitchFamily="34" charset="-122"/>
                <a:cs typeface="Montserrat" pitchFamily="34" charset="-120"/>
              </a:rPr>
              <a:t>HEADS UP</a:t>
            </a:r>
            <a:endParaRPr lang="en-US" sz="1800" dirty="0"/>
          </a:p>
        </p:txBody>
      </p:sp>
      <p:sp>
        <p:nvSpPr>
          <p:cNvPr id="7" name="Text 4"/>
          <p:cNvSpPr/>
          <p:nvPr/>
        </p:nvSpPr>
        <p:spPr>
          <a:xfrm>
            <a:off x="1143000" y="2707481"/>
            <a:ext cx="8547126" cy="2296478"/>
          </a:xfrm>
          <a:prstGeom prst="rect">
            <a:avLst/>
          </a:prstGeom>
          <a:noFill/>
          <a:ln/>
        </p:spPr>
        <p:txBody>
          <a:bodyPr wrap="square" lIns="25400" tIns="25400" rIns="25400" bIns="25400" rtlCol="0" anchor="t">
            <a:normAutofit/>
          </a:bodyPr>
          <a:lstStyle/>
          <a:p>
            <a:pPr marL="0" indent="0" algn="l">
              <a:lnSpc>
                <a:spcPct val="103991"/>
              </a:lnSpc>
              <a:buNone/>
            </a:pPr>
            <a:r>
              <a:rPr lang="en-US" sz="5300" b="1" kern="0" spc="-68" dirty="0">
                <a:solidFill>
                  <a:srgbClr val="2A2D38"/>
                </a:solidFill>
                <a:latin typeface="Montserrat" pitchFamily="34" charset="0"/>
                <a:ea typeface="Montserrat" pitchFamily="34" charset="-122"/>
                <a:cs typeface="Montserrat" pitchFamily="34" charset="-120"/>
              </a:rPr>
              <a:t>The catch: memory is </a:t>
            </a:r>
            <a:r>
              <a:rPr lang="en-US" sz="5300" b="1" kern="0" spc="-68" dirty="0">
                <a:solidFill>
                  <a:srgbClr val="B5341B"/>
                </a:solidFill>
                <a:latin typeface="Montserrat" pitchFamily="34" charset="0"/>
                <a:ea typeface="Montserrat" pitchFamily="34" charset="-122"/>
                <a:cs typeface="Montserrat" pitchFamily="34" charset="-120"/>
              </a:rPr>
              <a:t>per-project</a:t>
            </a:r>
            <a:endParaRPr lang="en-US" sz="5300" dirty="0"/>
          </a:p>
        </p:txBody>
      </p:sp>
      <p:sp>
        <p:nvSpPr>
          <p:cNvPr id="8" name="Shape 5"/>
          <p:cNvSpPr/>
          <p:nvPr/>
        </p:nvSpPr>
        <p:spPr>
          <a:xfrm>
            <a:off x="1143000" y="5645128"/>
            <a:ext cx="190500" cy="190500"/>
          </a:xfrm>
          <a:prstGeom prst="roundRect">
            <a:avLst>
              <a:gd name="adj" fmla="val 15000"/>
            </a:avLst>
          </a:prstGeom>
          <a:solidFill>
            <a:srgbClr val="F58220"/>
          </a:solidFill>
          <a:ln/>
        </p:spPr>
        <p:txBody>
          <a:bodyPr/>
          <a:lstStyle/>
          <a:p>
            <a:endParaRPr lang="en-US"/>
          </a:p>
        </p:txBody>
      </p:sp>
      <p:sp>
        <p:nvSpPr>
          <p:cNvPr id="9" name="Text 6"/>
          <p:cNvSpPr/>
          <p:nvPr/>
        </p:nvSpPr>
        <p:spPr>
          <a:xfrm>
            <a:off x="1562100" y="5423059"/>
            <a:ext cx="8115453" cy="464820"/>
          </a:xfrm>
          <a:prstGeom prst="rect">
            <a:avLst/>
          </a:prstGeom>
          <a:noFill/>
          <a:ln/>
        </p:spPr>
        <p:txBody>
          <a:bodyPr wrap="square" lIns="25400" tIns="25400" rIns="25400" bIns="25400" rtlCol="0" anchor="t">
            <a:noAutofit/>
          </a:bodyPr>
          <a:lstStyle/>
          <a:p>
            <a:pPr marL="0" indent="0" algn="l">
              <a:lnSpc>
                <a:spcPct val="140000"/>
              </a:lnSpc>
              <a:buNone/>
            </a:pPr>
            <a:r>
              <a:rPr lang="en-US" sz="2400" dirty="0">
                <a:solidFill>
                  <a:srgbClr val="2A2D38"/>
                </a:solidFill>
                <a:ea typeface="Inter" pitchFamily="34" charset="-122"/>
                <a:cs typeface="Inter" pitchFamily="34" charset="-120"/>
              </a:rPr>
              <a:t>Memories live with one project, not with you.</a:t>
            </a:r>
            <a:endParaRPr lang="en-US" sz="2400" dirty="0"/>
          </a:p>
        </p:txBody>
      </p:sp>
      <p:sp>
        <p:nvSpPr>
          <p:cNvPr id="10" name="Shape 7"/>
          <p:cNvSpPr/>
          <p:nvPr/>
        </p:nvSpPr>
        <p:spPr>
          <a:xfrm>
            <a:off x="1143000" y="6321130"/>
            <a:ext cx="190500" cy="190500"/>
          </a:xfrm>
          <a:prstGeom prst="roundRect">
            <a:avLst>
              <a:gd name="adj" fmla="val 15000"/>
            </a:avLst>
          </a:prstGeom>
          <a:solidFill>
            <a:srgbClr val="F58220"/>
          </a:solidFill>
          <a:ln/>
        </p:spPr>
        <p:txBody>
          <a:bodyPr/>
          <a:lstStyle/>
          <a:p>
            <a:endParaRPr lang="en-US"/>
          </a:p>
        </p:txBody>
      </p:sp>
      <p:sp>
        <p:nvSpPr>
          <p:cNvPr id="11" name="Text 8"/>
          <p:cNvSpPr/>
          <p:nvPr/>
        </p:nvSpPr>
        <p:spPr>
          <a:xfrm>
            <a:off x="1562100" y="6116479"/>
            <a:ext cx="8115453" cy="891540"/>
          </a:xfrm>
          <a:prstGeom prst="rect">
            <a:avLst/>
          </a:prstGeom>
          <a:noFill/>
          <a:ln/>
        </p:spPr>
        <p:txBody>
          <a:bodyPr wrap="square" lIns="25400" tIns="25400" rIns="25400" bIns="25400" rtlCol="0" anchor="t">
            <a:noAutofit/>
          </a:bodyPr>
          <a:lstStyle/>
          <a:p>
            <a:pPr marL="0" indent="0" algn="l">
              <a:lnSpc>
                <a:spcPct val="130000"/>
              </a:lnSpc>
              <a:buNone/>
            </a:pPr>
            <a:r>
              <a:rPr lang="en-US" sz="2400" dirty="0">
                <a:solidFill>
                  <a:srgbClr val="2A2D38"/>
                </a:solidFill>
                <a:ea typeface="Inter" pitchFamily="34" charset="-122"/>
                <a:cs typeface="Inter" pitchFamily="34" charset="-120"/>
              </a:rPr>
              <a:t>Switch to a different project → Claude shows up with a fresh notebook.</a:t>
            </a:r>
            <a:endParaRPr lang="en-US" sz="2400" dirty="0"/>
          </a:p>
        </p:txBody>
      </p:sp>
      <p:sp>
        <p:nvSpPr>
          <p:cNvPr id="12" name="Shape 9"/>
          <p:cNvSpPr/>
          <p:nvPr/>
        </p:nvSpPr>
        <p:spPr>
          <a:xfrm>
            <a:off x="1143000" y="7449979"/>
            <a:ext cx="190500" cy="190500"/>
          </a:xfrm>
          <a:prstGeom prst="roundRect">
            <a:avLst>
              <a:gd name="adj" fmla="val 15000"/>
            </a:avLst>
          </a:prstGeom>
          <a:solidFill>
            <a:srgbClr val="F58220"/>
          </a:solidFill>
          <a:ln/>
        </p:spPr>
        <p:txBody>
          <a:bodyPr/>
          <a:lstStyle/>
          <a:p>
            <a:endParaRPr lang="en-US"/>
          </a:p>
        </p:txBody>
      </p:sp>
      <p:sp>
        <p:nvSpPr>
          <p:cNvPr id="13" name="Text 10"/>
          <p:cNvSpPr/>
          <p:nvPr/>
        </p:nvSpPr>
        <p:spPr>
          <a:xfrm>
            <a:off x="1562100" y="7236619"/>
            <a:ext cx="8115453" cy="891540"/>
          </a:xfrm>
          <a:prstGeom prst="rect">
            <a:avLst/>
          </a:prstGeom>
          <a:noFill/>
          <a:ln/>
        </p:spPr>
        <p:txBody>
          <a:bodyPr wrap="square" lIns="25400" tIns="25400" rIns="25400" bIns="25400" rtlCol="0" anchor="t">
            <a:noAutofit/>
          </a:bodyPr>
          <a:lstStyle/>
          <a:p>
            <a:pPr marL="0" indent="0" algn="l">
              <a:lnSpc>
                <a:spcPct val="130000"/>
              </a:lnSpc>
              <a:buNone/>
            </a:pPr>
            <a:r>
              <a:rPr lang="en-US" sz="2400" dirty="0">
                <a:solidFill>
                  <a:srgbClr val="2A2D38"/>
                </a:solidFill>
                <a:ea typeface="Inter" pitchFamily="34" charset="-122"/>
                <a:cs typeface="Inter" pitchFamily="34" charset="-120"/>
              </a:rPr>
              <a:t>It's a feature, not a bug — your work projects don't leak into your hobby projects.</a:t>
            </a:r>
            <a:endParaRPr lang="en-US" sz="2400" dirty="0"/>
          </a:p>
        </p:txBody>
      </p:sp>
      <p:sp>
        <p:nvSpPr>
          <p:cNvPr id="14" name="Shape 11"/>
          <p:cNvSpPr/>
          <p:nvPr/>
        </p:nvSpPr>
        <p:spPr>
          <a:xfrm>
            <a:off x="1143000" y="8552701"/>
            <a:ext cx="190500" cy="190500"/>
          </a:xfrm>
          <a:prstGeom prst="roundRect">
            <a:avLst>
              <a:gd name="adj" fmla="val 15000"/>
            </a:avLst>
          </a:prstGeom>
          <a:solidFill>
            <a:srgbClr val="F58220"/>
          </a:solidFill>
          <a:ln/>
        </p:spPr>
        <p:txBody>
          <a:bodyPr/>
          <a:lstStyle/>
          <a:p>
            <a:endParaRPr lang="en-US"/>
          </a:p>
        </p:txBody>
      </p:sp>
      <p:sp>
        <p:nvSpPr>
          <p:cNvPr id="15" name="Text 12"/>
          <p:cNvSpPr/>
          <p:nvPr/>
        </p:nvSpPr>
        <p:spPr>
          <a:xfrm>
            <a:off x="1562100" y="8356759"/>
            <a:ext cx="8115453" cy="891540"/>
          </a:xfrm>
          <a:prstGeom prst="rect">
            <a:avLst/>
          </a:prstGeom>
          <a:noFill/>
          <a:ln/>
        </p:spPr>
        <p:txBody>
          <a:bodyPr wrap="square" lIns="25400" tIns="25400" rIns="25400" bIns="25400" rtlCol="0" anchor="t">
            <a:noAutofit/>
          </a:bodyPr>
          <a:lstStyle/>
          <a:p>
            <a:pPr marL="0" indent="0" algn="l">
              <a:lnSpc>
                <a:spcPct val="130000"/>
              </a:lnSpc>
              <a:buNone/>
            </a:pPr>
            <a:r>
              <a:rPr lang="en-US" sz="2400" dirty="0">
                <a:solidFill>
                  <a:srgbClr val="2A2D38"/>
                </a:solidFill>
                <a:ea typeface="Inter" pitchFamily="34" charset="-122"/>
                <a:cs typeface="Inter" pitchFamily="34" charset="-120"/>
              </a:rPr>
              <a:t>But: don't expect </a:t>
            </a:r>
            <a:r>
              <a:rPr lang="en-US" sz="2400" i="1" dirty="0">
                <a:solidFill>
                  <a:srgbClr val="2A2D38"/>
                </a:solidFill>
                <a:ea typeface="Inter" pitchFamily="34" charset="-122"/>
                <a:cs typeface="Inter" pitchFamily="34" charset="-120"/>
              </a:rPr>
              <a:t>"I told you this last week" </a:t>
            </a:r>
            <a:r>
              <a:rPr lang="en-US" sz="2400" dirty="0">
                <a:solidFill>
                  <a:srgbClr val="2A2D38"/>
                </a:solidFill>
                <a:ea typeface="Inter" pitchFamily="34" charset="-122"/>
                <a:cs typeface="Inter" pitchFamily="34" charset="-120"/>
              </a:rPr>
              <a:t>to work across projects.</a:t>
            </a:r>
            <a:endParaRPr lang="en-US" sz="2400" dirty="0"/>
          </a:p>
        </p:txBody>
      </p:sp>
      <p:pic>
        <p:nvPicPr>
          <p:cNvPr id="16" name="Image 1" descr="preencoded.png"/>
          <p:cNvPicPr>
            <a:picLocks noChangeAspect="1"/>
          </p:cNvPicPr>
          <p:nvPr/>
        </p:nvPicPr>
        <p:blipFill>
          <a:blip r:embed="rId4"/>
          <a:stretch>
            <a:fillRect/>
          </a:stretch>
        </p:blipFill>
        <p:spPr>
          <a:xfrm>
            <a:off x="10797540" y="3390900"/>
            <a:ext cx="5905500" cy="4381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99" name="DarkBg"/>
          <p:cNvSpPr/>
          <p:nvPr/>
        </p:nvSpPr>
        <p:spPr>
          <a:xfrm>
            <a:off x="0" y="0"/>
            <a:ext cx="18288000" cy="10287000"/>
          </a:xfrm>
          <a:prstGeom prst="rect">
            <a:avLst/>
          </a:prstGeom>
          <a:solidFill>
            <a:srgbClr val="1B1D24"/>
          </a:solidFill>
          <a:ln/>
        </p:spPr>
        <p:txBody>
          <a:bodyPr/>
          <a:lstStyle/>
          <a:p>
            <a:endParaRPr lang="en-US"/>
          </a:p>
        </p:txBody>
      </p:sp>
      <p:sp>
        <p:nvSpPr>
          <p:cNvPr id="2" name="Text 0"/>
          <p:cNvSpPr/>
          <p:nvPr/>
        </p:nvSpPr>
        <p:spPr>
          <a:xfrm>
            <a:off x="1143000" y="944880"/>
            <a:ext cx="3747380" cy="320040"/>
          </a:xfrm>
          <a:prstGeom prst="rect">
            <a:avLst/>
          </a:prstGeom>
          <a:noFill/>
          <a:ln/>
        </p:spPr>
        <p:txBody>
          <a:bodyPr wrap="square" lIns="25400" tIns="25400" rIns="25400" bIns="25400" rtlCol="0" anchor="t">
            <a:normAutofit fontScale="92500"/>
          </a:bodyPr>
          <a:lstStyle/>
          <a:p>
            <a:pPr marL="0" indent="0" algn="l">
              <a:buNone/>
            </a:pPr>
            <a:r>
              <a:rPr lang="en-US" sz="1800" b="1" kern="0" spc="252" dirty="0">
                <a:solidFill>
                  <a:srgbClr val="FFFFFF">
                    <a:alpha val="55000"/>
                  </a:srgbClr>
                </a:solidFill>
                <a:latin typeface="Montserrat" pitchFamily="34" charset="0"/>
                <a:ea typeface="Montserrat" pitchFamily="34" charset="-122"/>
                <a:cs typeface="Montserrat" pitchFamily="34" charset="-120"/>
              </a:rPr>
              <a:t>CHAPTER 3 · SHORTCUTS</a:t>
            </a:r>
            <a:endParaRPr lang="en-US" sz="1800" dirty="0"/>
          </a:p>
        </p:txBody>
      </p:sp>
      <p:pic>
        <p:nvPicPr>
          <p:cNvPr id="3" name="Image 0" descr="preencoded.png"/>
          <p:cNvPicPr>
            <a:picLocks noChangeAspect="1"/>
          </p:cNvPicPr>
          <p:nvPr/>
        </p:nvPicPr>
        <p:blipFill>
          <a:blip r:embed="rId3"/>
          <a:stretch>
            <a:fillRect/>
          </a:stretch>
        </p:blipFill>
        <p:spPr>
          <a:xfrm>
            <a:off x="16799084" y="914400"/>
            <a:ext cx="345916" cy="342900"/>
          </a:xfrm>
          <a:prstGeom prst="rect">
            <a:avLst/>
          </a:prstGeom>
        </p:spPr>
      </p:pic>
      <p:sp>
        <p:nvSpPr>
          <p:cNvPr id="4" name="Text 1"/>
          <p:cNvSpPr/>
          <p:nvPr/>
        </p:nvSpPr>
        <p:spPr>
          <a:xfrm>
            <a:off x="1219200" y="2345600"/>
            <a:ext cx="8338647" cy="1543685"/>
          </a:xfrm>
          <a:prstGeom prst="rect">
            <a:avLst/>
          </a:prstGeom>
          <a:noFill/>
          <a:ln/>
        </p:spPr>
        <p:txBody>
          <a:bodyPr wrap="square" lIns="25400" tIns="25400" rIns="25400" bIns="25400" rtlCol="0" anchor="t">
            <a:normAutofit fontScale="92500" lnSpcReduction="20000"/>
          </a:bodyPr>
          <a:lstStyle/>
          <a:p>
            <a:pPr marL="0" indent="0" algn="l">
              <a:lnSpc>
                <a:spcPct val="103991"/>
              </a:lnSpc>
              <a:buNone/>
            </a:pPr>
            <a:r>
              <a:rPr lang="en-US" sz="5700" b="1" kern="0" spc="-68" dirty="0">
                <a:solidFill>
                  <a:srgbClr val="FFFFFF"/>
                </a:solidFill>
                <a:latin typeface="Montserrat" pitchFamily="34" charset="0"/>
                <a:ea typeface="Montserrat" pitchFamily="34" charset="-122"/>
                <a:cs typeface="Montserrat" pitchFamily="34" charset="-120"/>
              </a:rPr>
              <a:t>Custom commands: saved </a:t>
            </a:r>
            <a:r>
              <a:rPr lang="en-US" sz="5700" b="1" kern="0" spc="-68" dirty="0">
                <a:solidFill>
                  <a:srgbClr val="F58220"/>
                </a:solidFill>
                <a:latin typeface="Montserrat" pitchFamily="34" charset="0"/>
                <a:ea typeface="Montserrat" pitchFamily="34" charset="-122"/>
                <a:cs typeface="Montserrat" pitchFamily="34" charset="-120"/>
              </a:rPr>
              <a:t>shortcuts</a:t>
            </a:r>
            <a:endParaRPr lang="en-US" sz="5700" dirty="0"/>
          </a:p>
        </p:txBody>
      </p:sp>
      <p:sp>
        <p:nvSpPr>
          <p:cNvPr id="5" name="Shape 2"/>
          <p:cNvSpPr/>
          <p:nvPr/>
        </p:nvSpPr>
        <p:spPr>
          <a:xfrm>
            <a:off x="1143000" y="4920932"/>
            <a:ext cx="190500" cy="190500"/>
          </a:xfrm>
          <a:prstGeom prst="roundRect">
            <a:avLst>
              <a:gd name="adj" fmla="val 15000"/>
            </a:avLst>
          </a:prstGeom>
          <a:solidFill>
            <a:srgbClr val="F58220"/>
          </a:solidFill>
          <a:ln/>
        </p:spPr>
        <p:txBody>
          <a:bodyPr/>
          <a:lstStyle/>
          <a:p>
            <a:endParaRPr lang="en-US"/>
          </a:p>
        </p:txBody>
      </p:sp>
      <p:sp>
        <p:nvSpPr>
          <p:cNvPr id="6" name="Text 3"/>
          <p:cNvSpPr/>
          <p:nvPr/>
        </p:nvSpPr>
        <p:spPr>
          <a:xfrm>
            <a:off x="1562100" y="4707573"/>
            <a:ext cx="7906974" cy="464820"/>
          </a:xfrm>
          <a:prstGeom prst="rect">
            <a:avLst/>
          </a:prstGeom>
          <a:noFill/>
          <a:ln/>
        </p:spPr>
        <p:txBody>
          <a:bodyPr wrap="square" lIns="25400" tIns="25400" rIns="25400" bIns="25400" rtlCol="0" anchor="t">
            <a:noAutofit/>
          </a:bodyPr>
          <a:lstStyle/>
          <a:p>
            <a:pPr marL="0" indent="0" algn="l">
              <a:lnSpc>
                <a:spcPct val="140000"/>
              </a:lnSpc>
              <a:buNone/>
            </a:pPr>
            <a:r>
              <a:rPr lang="en-US" sz="2400" dirty="0">
                <a:solidFill>
                  <a:srgbClr val="FFFFFF"/>
                </a:solidFill>
                <a:ea typeface="Inter" pitchFamily="34" charset="-122"/>
                <a:cs typeface="Inter" pitchFamily="34" charset="-120"/>
              </a:rPr>
              <a:t>A command is a recipe Claude can run on demand.</a:t>
            </a:r>
            <a:endParaRPr lang="en-US" sz="2400" dirty="0"/>
          </a:p>
        </p:txBody>
      </p:sp>
      <p:sp>
        <p:nvSpPr>
          <p:cNvPr id="7" name="Shape 4"/>
          <p:cNvSpPr/>
          <p:nvPr/>
        </p:nvSpPr>
        <p:spPr>
          <a:xfrm>
            <a:off x="1143000" y="5614353"/>
            <a:ext cx="190500" cy="190500"/>
          </a:xfrm>
          <a:prstGeom prst="roundRect">
            <a:avLst>
              <a:gd name="adj" fmla="val 15000"/>
            </a:avLst>
          </a:prstGeom>
          <a:solidFill>
            <a:srgbClr val="F58220"/>
          </a:solidFill>
          <a:ln/>
        </p:spPr>
        <p:txBody>
          <a:bodyPr/>
          <a:lstStyle/>
          <a:p>
            <a:endParaRPr lang="en-US"/>
          </a:p>
        </p:txBody>
      </p:sp>
      <p:sp>
        <p:nvSpPr>
          <p:cNvPr id="8" name="Text 5"/>
          <p:cNvSpPr/>
          <p:nvPr/>
        </p:nvSpPr>
        <p:spPr>
          <a:xfrm>
            <a:off x="1562100" y="5400992"/>
            <a:ext cx="7906974" cy="891540"/>
          </a:xfrm>
          <a:prstGeom prst="rect">
            <a:avLst/>
          </a:prstGeom>
          <a:noFill/>
          <a:ln/>
        </p:spPr>
        <p:txBody>
          <a:bodyPr wrap="square" lIns="25400" tIns="25400" rIns="25400" bIns="25400" rtlCol="0" anchor="t">
            <a:noAutofit/>
          </a:bodyPr>
          <a:lstStyle/>
          <a:p>
            <a:pPr marL="0" indent="0" algn="l">
              <a:lnSpc>
                <a:spcPct val="130000"/>
              </a:lnSpc>
              <a:buNone/>
            </a:pPr>
            <a:r>
              <a:rPr lang="en-US" sz="2400" dirty="0">
                <a:solidFill>
                  <a:srgbClr val="FFFFFF"/>
                </a:solidFill>
                <a:ea typeface="Inter"/>
                <a:cs typeface="Inter" pitchFamily="34" charset="-120"/>
              </a:rPr>
              <a:t>You type </a:t>
            </a:r>
            <a:r>
              <a:rPr lang="en-US" sz="2400" dirty="0">
                <a:solidFill>
                  <a:srgbClr val="D86A0E"/>
                </a:solidFill>
                <a:ea typeface="ui-monospace"/>
                <a:cs typeface="ui-monospace" pitchFamily="34" charset="-120"/>
              </a:rPr>
              <a:t>/release </a:t>
            </a:r>
            <a:r>
              <a:rPr lang="en-US" sz="2400" dirty="0">
                <a:solidFill>
                  <a:srgbClr val="FFFFFF"/>
                </a:solidFill>
                <a:ea typeface="Inter"/>
                <a:cs typeface="Inter" pitchFamily="34" charset="-120"/>
              </a:rPr>
              <a:t>— Claude runs the whole release recipe you wrote.</a:t>
            </a:r>
            <a:endParaRPr lang="en-US" sz="2400" dirty="0">
              <a:ea typeface="Inter"/>
            </a:endParaRPr>
          </a:p>
        </p:txBody>
      </p:sp>
      <p:sp>
        <p:nvSpPr>
          <p:cNvPr id="9" name="Shape 6"/>
          <p:cNvSpPr/>
          <p:nvPr/>
        </p:nvSpPr>
        <p:spPr>
          <a:xfrm>
            <a:off x="1123950" y="6685688"/>
            <a:ext cx="190500" cy="190500"/>
          </a:xfrm>
          <a:prstGeom prst="roundRect">
            <a:avLst>
              <a:gd name="adj" fmla="val 15000"/>
            </a:avLst>
          </a:prstGeom>
          <a:solidFill>
            <a:srgbClr val="F58220"/>
          </a:solidFill>
          <a:ln/>
        </p:spPr>
        <p:txBody>
          <a:bodyPr/>
          <a:lstStyle/>
          <a:p>
            <a:endParaRPr lang="en-US"/>
          </a:p>
        </p:txBody>
      </p:sp>
      <p:sp>
        <p:nvSpPr>
          <p:cNvPr id="10" name="Text 7"/>
          <p:cNvSpPr/>
          <p:nvPr/>
        </p:nvSpPr>
        <p:spPr>
          <a:xfrm>
            <a:off x="1562100" y="6472328"/>
            <a:ext cx="7906974" cy="891540"/>
          </a:xfrm>
          <a:prstGeom prst="rect">
            <a:avLst/>
          </a:prstGeom>
          <a:noFill/>
          <a:ln/>
        </p:spPr>
        <p:txBody>
          <a:bodyPr wrap="square" lIns="25400" tIns="25400" rIns="25400" bIns="25400" rtlCol="0" anchor="t">
            <a:normAutofit/>
          </a:bodyPr>
          <a:lstStyle/>
          <a:p>
            <a:pPr marL="0" indent="0" algn="l">
              <a:lnSpc>
                <a:spcPct val="140000"/>
              </a:lnSpc>
              <a:buNone/>
            </a:pPr>
            <a:r>
              <a:rPr lang="en-US" sz="2400" dirty="0">
                <a:solidFill>
                  <a:srgbClr val="FFFFFF"/>
                </a:solidFill>
                <a:ea typeface="Inter" pitchFamily="34" charset="-122"/>
                <a:cs typeface="Inter" pitchFamily="34" charset="-120"/>
              </a:rPr>
              <a:t>For developers: same idea as saving a routine as a function.</a:t>
            </a:r>
            <a:endParaRPr lang="en-US" sz="2400" dirty="0"/>
          </a:p>
        </p:txBody>
      </p:sp>
      <p:sp>
        <p:nvSpPr>
          <p:cNvPr id="11" name="Shape 8"/>
          <p:cNvSpPr/>
          <p:nvPr/>
        </p:nvSpPr>
        <p:spPr>
          <a:xfrm>
            <a:off x="1123950" y="7363868"/>
            <a:ext cx="190500" cy="190500"/>
          </a:xfrm>
          <a:prstGeom prst="roundRect">
            <a:avLst>
              <a:gd name="adj" fmla="val 15000"/>
            </a:avLst>
          </a:prstGeom>
          <a:solidFill>
            <a:srgbClr val="F58220"/>
          </a:solidFill>
          <a:ln/>
        </p:spPr>
        <p:txBody>
          <a:bodyPr/>
          <a:lstStyle/>
          <a:p>
            <a:endParaRPr lang="en-US"/>
          </a:p>
        </p:txBody>
      </p:sp>
      <p:sp>
        <p:nvSpPr>
          <p:cNvPr id="12" name="Text 9"/>
          <p:cNvSpPr/>
          <p:nvPr/>
        </p:nvSpPr>
        <p:spPr>
          <a:xfrm>
            <a:off x="1562100" y="7160895"/>
            <a:ext cx="7906974" cy="891540"/>
          </a:xfrm>
          <a:prstGeom prst="rect">
            <a:avLst/>
          </a:prstGeom>
          <a:noFill/>
          <a:ln/>
        </p:spPr>
        <p:txBody>
          <a:bodyPr wrap="square" lIns="25400" tIns="25400" rIns="25400" bIns="25400" rtlCol="0" anchor="t">
            <a:noAutofit/>
          </a:bodyPr>
          <a:lstStyle/>
          <a:p>
            <a:pPr marL="0" indent="0" algn="l">
              <a:lnSpc>
                <a:spcPct val="140000"/>
              </a:lnSpc>
              <a:buNone/>
            </a:pPr>
            <a:r>
              <a:rPr lang="en-US" sz="2400" dirty="0">
                <a:solidFill>
                  <a:srgbClr val="FFFFFF"/>
                </a:solidFill>
                <a:ea typeface="Inter" pitchFamily="34" charset="-122"/>
                <a:cs typeface="Inter" pitchFamily="34" charset="-120"/>
              </a:rPr>
              <a:t>For everyone else: think of it as a saved Excel macro, but for AI.</a:t>
            </a:r>
            <a:endParaRPr lang="en-US" sz="2400" dirty="0"/>
          </a:p>
        </p:txBody>
      </p:sp>
      <p:sp>
        <p:nvSpPr>
          <p:cNvPr id="13" name="Shape 10"/>
          <p:cNvSpPr/>
          <p:nvPr/>
        </p:nvSpPr>
        <p:spPr>
          <a:xfrm>
            <a:off x="10879137" y="3956685"/>
            <a:ext cx="5539740" cy="3249930"/>
          </a:xfrm>
          <a:prstGeom prst="roundRect">
            <a:avLst>
              <a:gd name="adj" fmla="val 3517"/>
            </a:avLst>
          </a:prstGeom>
          <a:ln w="7620">
            <a:solidFill>
              <a:srgbClr val="2A2D38"/>
            </a:solidFill>
            <a:prstDash val="solid"/>
          </a:ln>
          <a:effectLst>
            <a:outerShdw blurRad="304800" dist="114300" dir="5400000" algn="bl" rotWithShape="0">
              <a:srgbClr val="2A2D38">
                <a:alpha val="12000"/>
              </a:srgbClr>
            </a:outerShdw>
          </a:effectLst>
        </p:spPr>
        <p:txBody>
          <a:bodyPr/>
          <a:lstStyle/>
          <a:p>
            <a:endParaRPr lang="en-US"/>
          </a:p>
        </p:txBody>
      </p:sp>
      <p:sp>
        <p:nvSpPr>
          <p:cNvPr id="14" name="Shape 11"/>
          <p:cNvSpPr/>
          <p:nvPr/>
        </p:nvSpPr>
        <p:spPr>
          <a:xfrm>
            <a:off x="10886758" y="3964305"/>
            <a:ext cx="5524500" cy="441960"/>
          </a:xfrm>
          <a:prstGeom prst="rect">
            <a:avLst/>
          </a:prstGeom>
          <a:solidFill>
            <a:srgbClr val="2A2D38"/>
          </a:solidFill>
          <a:ln/>
        </p:spPr>
        <p:txBody>
          <a:bodyPr/>
          <a:lstStyle/>
          <a:p>
            <a:endParaRPr lang="en-US"/>
          </a:p>
        </p:txBody>
      </p:sp>
      <p:sp>
        <p:nvSpPr>
          <p:cNvPr id="15" name="Shape 12"/>
          <p:cNvSpPr/>
          <p:nvPr/>
        </p:nvSpPr>
        <p:spPr>
          <a:xfrm>
            <a:off x="11058208" y="4128135"/>
            <a:ext cx="114300" cy="114300"/>
          </a:xfrm>
          <a:prstGeom prst="ellipse">
            <a:avLst/>
          </a:prstGeom>
          <a:solidFill>
            <a:srgbClr val="F58220"/>
          </a:solidFill>
          <a:ln/>
        </p:spPr>
        <p:txBody>
          <a:bodyPr/>
          <a:lstStyle/>
          <a:p>
            <a:endParaRPr lang="en-US"/>
          </a:p>
        </p:txBody>
      </p:sp>
      <p:sp>
        <p:nvSpPr>
          <p:cNvPr id="16" name="Shape 13"/>
          <p:cNvSpPr/>
          <p:nvPr/>
        </p:nvSpPr>
        <p:spPr>
          <a:xfrm>
            <a:off x="11248708" y="4128135"/>
            <a:ext cx="114300" cy="114300"/>
          </a:xfrm>
          <a:prstGeom prst="ellipse">
            <a:avLst/>
          </a:prstGeom>
          <a:solidFill>
            <a:srgbClr val="9A9CA4"/>
          </a:solidFill>
          <a:ln/>
        </p:spPr>
        <p:txBody>
          <a:bodyPr/>
          <a:lstStyle/>
          <a:p>
            <a:endParaRPr lang="en-US"/>
          </a:p>
        </p:txBody>
      </p:sp>
      <p:sp>
        <p:nvSpPr>
          <p:cNvPr id="17" name="Shape 14"/>
          <p:cNvSpPr/>
          <p:nvPr/>
        </p:nvSpPr>
        <p:spPr>
          <a:xfrm>
            <a:off x="11439208" y="4128135"/>
            <a:ext cx="114300" cy="114300"/>
          </a:xfrm>
          <a:prstGeom prst="ellipse">
            <a:avLst/>
          </a:prstGeom>
          <a:solidFill>
            <a:srgbClr val="9A9CA4"/>
          </a:solidFill>
          <a:ln/>
        </p:spPr>
        <p:txBody>
          <a:bodyPr/>
          <a:lstStyle/>
          <a:p>
            <a:endParaRPr lang="en-US"/>
          </a:p>
        </p:txBody>
      </p:sp>
      <p:sp>
        <p:nvSpPr>
          <p:cNvPr id="18" name="Text 15"/>
          <p:cNvSpPr/>
          <p:nvPr/>
        </p:nvSpPr>
        <p:spPr>
          <a:xfrm>
            <a:off x="11782108" y="4097655"/>
            <a:ext cx="998220" cy="213360"/>
          </a:xfrm>
          <a:prstGeom prst="rect">
            <a:avLst/>
          </a:prstGeom>
          <a:noFill/>
          <a:ln/>
        </p:spPr>
        <p:txBody>
          <a:bodyPr wrap="square" lIns="25400" tIns="25400" rIns="25400" bIns="25400" rtlCol="0" anchor="t">
            <a:normAutofit fontScale="92500" lnSpcReduction="10000"/>
          </a:bodyPr>
          <a:lstStyle/>
          <a:p>
            <a:pPr marL="0" indent="0" algn="l">
              <a:buNone/>
            </a:pPr>
            <a:r>
              <a:rPr lang="en-US" sz="1200" dirty="0">
                <a:solidFill>
                  <a:srgbClr val="FFFFFF"/>
                </a:solidFill>
                <a:latin typeface="ui-monospace" pitchFamily="34" charset="0"/>
                <a:ea typeface="ui-monospace" pitchFamily="34" charset="-122"/>
                <a:cs typeface="ui-monospace" pitchFamily="34" charset="-120"/>
              </a:rPr>
              <a:t>claude code</a:t>
            </a:r>
            <a:endParaRPr lang="en-US" sz="1200" dirty="0"/>
          </a:p>
        </p:txBody>
      </p:sp>
      <p:sp>
        <p:nvSpPr>
          <p:cNvPr id="19" name="Shape 16"/>
          <p:cNvSpPr/>
          <p:nvPr/>
        </p:nvSpPr>
        <p:spPr>
          <a:xfrm>
            <a:off x="10886758" y="4406265"/>
            <a:ext cx="5524500" cy="2792730"/>
          </a:xfrm>
          <a:prstGeom prst="rect">
            <a:avLst/>
          </a:prstGeom>
          <a:solidFill>
            <a:srgbClr val="1B1D24"/>
          </a:solidFill>
          <a:ln/>
        </p:spPr>
        <p:txBody>
          <a:bodyPr/>
          <a:lstStyle/>
          <a:p>
            <a:endParaRPr lang="en-US"/>
          </a:p>
        </p:txBody>
      </p:sp>
      <p:sp>
        <p:nvSpPr>
          <p:cNvPr id="20" name="Text 17"/>
          <p:cNvSpPr/>
          <p:nvPr/>
        </p:nvSpPr>
        <p:spPr>
          <a:xfrm>
            <a:off x="11191558" y="4672965"/>
            <a:ext cx="5062347" cy="39243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9A9CA4"/>
                </a:solidFill>
                <a:latin typeface="ui-monospace" pitchFamily="34" charset="0"/>
                <a:ea typeface="ui-monospace" pitchFamily="34" charset="-122"/>
                <a:cs typeface="ui-monospace" pitchFamily="34" charset="-120"/>
              </a:rPr>
              <a:t>&gt; </a:t>
            </a:r>
            <a:r>
              <a:rPr lang="en-US" sz="1800" dirty="0">
                <a:solidFill>
                  <a:srgbClr val="FFFFFF"/>
                </a:solidFill>
                <a:latin typeface="ui-monospace" pitchFamily="34" charset="0"/>
                <a:ea typeface="ui-monospace" pitchFamily="34" charset="-122"/>
                <a:cs typeface="ui-monospace" pitchFamily="34" charset="-120"/>
              </a:rPr>
              <a:t>/</a:t>
            </a:r>
            <a:r>
              <a:rPr lang="en-US" sz="1800" dirty="0">
                <a:solidFill>
                  <a:srgbClr val="F58220"/>
                </a:solidFill>
                <a:latin typeface="ui-monospace" pitchFamily="34" charset="0"/>
                <a:ea typeface="ui-monospace" pitchFamily="34" charset="-122"/>
                <a:cs typeface="ui-monospace" pitchFamily="34" charset="-120"/>
              </a:rPr>
              <a:t>release</a:t>
            </a:r>
            <a:r>
              <a:rPr lang="en-US" sz="1800" dirty="0">
                <a:solidFill>
                  <a:srgbClr val="FFFFFF"/>
                </a:solidFill>
                <a:latin typeface="ui-monospace" pitchFamily="34" charset="0"/>
                <a:ea typeface="ui-monospace" pitchFamily="34" charset="-122"/>
                <a:cs typeface="ui-monospace" pitchFamily="34" charset="-120"/>
              </a:rPr>
              <a:t>▎</a:t>
            </a:r>
            <a:endParaRPr lang="en-US" sz="1800" dirty="0"/>
          </a:p>
        </p:txBody>
      </p:sp>
      <p:sp>
        <p:nvSpPr>
          <p:cNvPr id="21" name="Text 18"/>
          <p:cNvSpPr/>
          <p:nvPr/>
        </p:nvSpPr>
        <p:spPr>
          <a:xfrm>
            <a:off x="11191558" y="5160645"/>
            <a:ext cx="5062347" cy="39243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6CC288"/>
                </a:solidFill>
                <a:latin typeface="ui-monospace" pitchFamily="34" charset="0"/>
                <a:ea typeface="ui-monospace" pitchFamily="34" charset="-122"/>
                <a:cs typeface="ui-monospace" pitchFamily="34" charset="-120"/>
              </a:rPr>
              <a:t>✓ run tests</a:t>
            </a:r>
            <a:endParaRPr lang="en-US" sz="1800" dirty="0"/>
          </a:p>
        </p:txBody>
      </p:sp>
      <p:sp>
        <p:nvSpPr>
          <p:cNvPr id="22" name="Text 19"/>
          <p:cNvSpPr/>
          <p:nvPr/>
        </p:nvSpPr>
        <p:spPr>
          <a:xfrm>
            <a:off x="11191558" y="5514975"/>
            <a:ext cx="5062347" cy="39243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6CC288"/>
                </a:solidFill>
                <a:latin typeface="ui-monospace" pitchFamily="34" charset="0"/>
                <a:ea typeface="ui-monospace" pitchFamily="34" charset="-122"/>
                <a:cs typeface="ui-monospace" pitchFamily="34" charset="-120"/>
              </a:rPr>
              <a:t>✓ bump version (1.4.2 → 1.4.3)</a:t>
            </a:r>
            <a:endParaRPr lang="en-US" sz="1800" dirty="0"/>
          </a:p>
        </p:txBody>
      </p:sp>
      <p:sp>
        <p:nvSpPr>
          <p:cNvPr id="23" name="Text 20"/>
          <p:cNvSpPr/>
          <p:nvPr/>
        </p:nvSpPr>
        <p:spPr>
          <a:xfrm>
            <a:off x="11191558" y="5869305"/>
            <a:ext cx="5062347" cy="39243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6CC288"/>
                </a:solidFill>
                <a:latin typeface="ui-monospace" pitchFamily="34" charset="0"/>
                <a:ea typeface="ui-monospace" pitchFamily="34" charset="-122"/>
                <a:cs typeface="ui-monospace" pitchFamily="34" charset="-120"/>
              </a:rPr>
              <a:t>✓ generate changelog</a:t>
            </a:r>
            <a:endParaRPr lang="en-US" sz="1800" dirty="0"/>
          </a:p>
        </p:txBody>
      </p:sp>
      <p:sp>
        <p:nvSpPr>
          <p:cNvPr id="24" name="Text 21"/>
          <p:cNvSpPr/>
          <p:nvPr/>
        </p:nvSpPr>
        <p:spPr>
          <a:xfrm>
            <a:off x="11191558" y="6223635"/>
            <a:ext cx="5062347" cy="39243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F58220"/>
                </a:solidFill>
                <a:latin typeface="ui-monospace" pitchFamily="34" charset="0"/>
                <a:ea typeface="ui-monospace" pitchFamily="34" charset="-122"/>
                <a:cs typeface="ui-monospace" pitchFamily="34" charset="-120"/>
              </a:rPr>
              <a:t>… build &amp; tag release</a:t>
            </a:r>
            <a:endParaRPr lang="en-US" sz="1800" dirty="0"/>
          </a:p>
        </p:txBody>
      </p:sp>
      <p:sp>
        <p:nvSpPr>
          <p:cNvPr id="25" name="Text 22"/>
          <p:cNvSpPr/>
          <p:nvPr/>
        </p:nvSpPr>
        <p:spPr>
          <a:xfrm>
            <a:off x="11191558" y="6577965"/>
            <a:ext cx="5062347" cy="39243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9A9CA4"/>
                </a:solidFill>
                <a:latin typeface="ui-monospace" pitchFamily="34" charset="0"/>
                <a:ea typeface="ui-monospace" pitchFamily="34" charset="-122"/>
                <a:cs typeface="ui-monospace" pitchFamily="34" charset="-120"/>
              </a:rPr>
              <a:t>open PR &amp; notify #releases</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p:nvPr/>
        </p:nvSpPr>
        <p:spPr>
          <a:xfrm>
            <a:off x="1143000" y="944880"/>
            <a:ext cx="3747380" cy="320040"/>
          </a:xfrm>
          <a:prstGeom prst="rect">
            <a:avLst/>
          </a:prstGeom>
          <a:noFill/>
          <a:ln/>
        </p:spPr>
        <p:txBody>
          <a:bodyPr wrap="square" lIns="25400" tIns="25400" rIns="25400" bIns="25400" rtlCol="0" anchor="t">
            <a:normAutofit fontScale="92500"/>
          </a:bodyPr>
          <a:lstStyle/>
          <a:p>
            <a:pPr marL="0" indent="0" algn="l">
              <a:buNone/>
            </a:pPr>
            <a:r>
              <a:rPr lang="en-US" sz="1800" b="1" kern="0" spc="252" dirty="0">
                <a:solidFill>
                  <a:srgbClr val="6B6E78"/>
                </a:solidFill>
                <a:latin typeface="Montserrat" pitchFamily="34" charset="0"/>
                <a:ea typeface="Montserrat" pitchFamily="34" charset="-122"/>
                <a:cs typeface="Montserrat" pitchFamily="34" charset="-120"/>
              </a:rPr>
              <a:t>CHAPTER 3 · SHORTCUTS</a:t>
            </a:r>
            <a:endParaRPr lang="en-US" sz="1800" dirty="0"/>
          </a:p>
        </p:txBody>
      </p:sp>
      <p:pic>
        <p:nvPicPr>
          <p:cNvPr id="3" name="Image 0" descr="preencoded.png"/>
          <p:cNvPicPr>
            <a:picLocks noChangeAspect="1"/>
          </p:cNvPicPr>
          <p:nvPr/>
        </p:nvPicPr>
        <p:blipFill>
          <a:blip r:embed="rId3"/>
          <a:stretch>
            <a:fillRect/>
          </a:stretch>
        </p:blipFill>
        <p:spPr>
          <a:xfrm>
            <a:off x="16799084" y="914400"/>
            <a:ext cx="345916" cy="342900"/>
          </a:xfrm>
          <a:prstGeom prst="rect">
            <a:avLst/>
          </a:prstGeom>
        </p:spPr>
      </p:pic>
      <p:sp>
        <p:nvSpPr>
          <p:cNvPr id="4" name="Text 1"/>
          <p:cNvSpPr/>
          <p:nvPr/>
        </p:nvSpPr>
        <p:spPr>
          <a:xfrm>
            <a:off x="1219200" y="2345600"/>
            <a:ext cx="8338647" cy="1543685"/>
          </a:xfrm>
          <a:prstGeom prst="rect">
            <a:avLst/>
          </a:prstGeom>
          <a:noFill/>
          <a:ln/>
        </p:spPr>
        <p:txBody>
          <a:bodyPr wrap="square" lIns="25400" tIns="25400" rIns="25400" bIns="25400" rtlCol="0" anchor="t">
            <a:normAutofit fontScale="92500" lnSpcReduction="20000"/>
          </a:bodyPr>
          <a:lstStyle/>
          <a:p>
            <a:pPr marL="0" indent="0" algn="l">
              <a:lnSpc>
                <a:spcPct val="103991"/>
              </a:lnSpc>
              <a:buNone/>
            </a:pPr>
            <a:r>
              <a:rPr lang="en-US" sz="5700" b="1" kern="0" spc="-68" dirty="0">
                <a:solidFill>
                  <a:srgbClr val="2A2D38"/>
                </a:solidFill>
                <a:latin typeface="Montserrat" pitchFamily="34" charset="0"/>
                <a:ea typeface="Montserrat" pitchFamily="34" charset="-122"/>
                <a:cs typeface="Montserrat" pitchFamily="34" charset="-120"/>
              </a:rPr>
              <a:t>Custom commands: saved </a:t>
            </a:r>
            <a:r>
              <a:rPr lang="en-US" sz="5700" b="1" kern="0" spc="-68" dirty="0">
                <a:solidFill>
                  <a:srgbClr val="F58220"/>
                </a:solidFill>
                <a:latin typeface="Montserrat" pitchFamily="34" charset="0"/>
                <a:ea typeface="Montserrat" pitchFamily="34" charset="-122"/>
                <a:cs typeface="Montserrat" pitchFamily="34" charset="-120"/>
              </a:rPr>
              <a:t>shortcuts</a:t>
            </a:r>
            <a:endParaRPr lang="en-US" sz="5700" dirty="0"/>
          </a:p>
        </p:txBody>
      </p:sp>
      <p:sp>
        <p:nvSpPr>
          <p:cNvPr id="5" name="Shape 2"/>
          <p:cNvSpPr/>
          <p:nvPr/>
        </p:nvSpPr>
        <p:spPr>
          <a:xfrm>
            <a:off x="1143000" y="4920932"/>
            <a:ext cx="190500" cy="190500"/>
          </a:xfrm>
          <a:prstGeom prst="roundRect">
            <a:avLst>
              <a:gd name="adj" fmla="val 15000"/>
            </a:avLst>
          </a:prstGeom>
          <a:solidFill>
            <a:srgbClr val="F58220"/>
          </a:solidFill>
          <a:ln/>
        </p:spPr>
        <p:txBody>
          <a:bodyPr/>
          <a:lstStyle/>
          <a:p>
            <a:endParaRPr lang="en-US"/>
          </a:p>
        </p:txBody>
      </p:sp>
      <p:sp>
        <p:nvSpPr>
          <p:cNvPr id="6" name="Text 3"/>
          <p:cNvSpPr/>
          <p:nvPr/>
        </p:nvSpPr>
        <p:spPr>
          <a:xfrm>
            <a:off x="1562100" y="4707573"/>
            <a:ext cx="7906974" cy="464820"/>
          </a:xfrm>
          <a:prstGeom prst="rect">
            <a:avLst/>
          </a:prstGeom>
          <a:noFill/>
          <a:ln/>
        </p:spPr>
        <p:txBody>
          <a:bodyPr wrap="square" lIns="25400" tIns="25400" rIns="25400" bIns="25400" rtlCol="0" anchor="t">
            <a:noAutofit/>
          </a:bodyPr>
          <a:lstStyle/>
          <a:p>
            <a:pPr marL="0" indent="0" algn="l">
              <a:lnSpc>
                <a:spcPct val="140000"/>
              </a:lnSpc>
              <a:buNone/>
            </a:pPr>
            <a:r>
              <a:rPr lang="en-US" sz="2400" dirty="0">
                <a:solidFill>
                  <a:srgbClr val="2A2D38"/>
                </a:solidFill>
                <a:ea typeface="Inter" pitchFamily="34" charset="-122"/>
                <a:cs typeface="Inter" pitchFamily="34" charset="-120"/>
              </a:rPr>
              <a:t>A command is a recipe Claude can run on demand.</a:t>
            </a:r>
            <a:endParaRPr lang="en-US" sz="2400" dirty="0"/>
          </a:p>
        </p:txBody>
      </p:sp>
      <p:sp>
        <p:nvSpPr>
          <p:cNvPr id="7" name="Shape 4"/>
          <p:cNvSpPr/>
          <p:nvPr/>
        </p:nvSpPr>
        <p:spPr>
          <a:xfrm>
            <a:off x="1143000" y="5614353"/>
            <a:ext cx="190500" cy="190500"/>
          </a:xfrm>
          <a:prstGeom prst="roundRect">
            <a:avLst>
              <a:gd name="adj" fmla="val 15000"/>
            </a:avLst>
          </a:prstGeom>
          <a:solidFill>
            <a:srgbClr val="F58220"/>
          </a:solidFill>
          <a:ln/>
        </p:spPr>
        <p:txBody>
          <a:bodyPr/>
          <a:lstStyle/>
          <a:p>
            <a:endParaRPr lang="en-US"/>
          </a:p>
        </p:txBody>
      </p:sp>
      <p:sp>
        <p:nvSpPr>
          <p:cNvPr id="8" name="Text 5"/>
          <p:cNvSpPr/>
          <p:nvPr/>
        </p:nvSpPr>
        <p:spPr>
          <a:xfrm>
            <a:off x="1562100" y="5400992"/>
            <a:ext cx="7906974" cy="891540"/>
          </a:xfrm>
          <a:prstGeom prst="rect">
            <a:avLst/>
          </a:prstGeom>
          <a:noFill/>
          <a:ln/>
        </p:spPr>
        <p:txBody>
          <a:bodyPr wrap="square" lIns="25400" tIns="25400" rIns="25400" bIns="25400" rtlCol="0" anchor="t">
            <a:noAutofit/>
          </a:bodyPr>
          <a:lstStyle/>
          <a:p>
            <a:pPr marL="0" indent="0" algn="l">
              <a:lnSpc>
                <a:spcPct val="130000"/>
              </a:lnSpc>
              <a:buNone/>
            </a:pPr>
            <a:r>
              <a:rPr lang="en-US" sz="2400" dirty="0">
                <a:solidFill>
                  <a:srgbClr val="2A2D38"/>
                </a:solidFill>
                <a:ea typeface="Inter"/>
                <a:cs typeface="Inter" pitchFamily="34" charset="-120"/>
              </a:rPr>
              <a:t>You type </a:t>
            </a:r>
            <a:r>
              <a:rPr lang="en-US" sz="2400" dirty="0">
                <a:solidFill>
                  <a:srgbClr val="D86A0E"/>
                </a:solidFill>
                <a:ea typeface="ui-monospace"/>
                <a:cs typeface="ui-monospace" pitchFamily="34" charset="-120"/>
              </a:rPr>
              <a:t>/release </a:t>
            </a:r>
            <a:r>
              <a:rPr lang="en-US" sz="2400" dirty="0">
                <a:solidFill>
                  <a:srgbClr val="2A2D38"/>
                </a:solidFill>
                <a:ea typeface="Inter"/>
                <a:cs typeface="Inter" pitchFamily="34" charset="-120"/>
              </a:rPr>
              <a:t>— Claude runs the whole release recipe you wrote.</a:t>
            </a:r>
            <a:endParaRPr lang="en-US" sz="2400" dirty="0">
              <a:ea typeface="Inter"/>
            </a:endParaRPr>
          </a:p>
        </p:txBody>
      </p:sp>
      <p:sp>
        <p:nvSpPr>
          <p:cNvPr id="9" name="Shape 6"/>
          <p:cNvSpPr/>
          <p:nvPr/>
        </p:nvSpPr>
        <p:spPr>
          <a:xfrm>
            <a:off x="1123950" y="6685688"/>
            <a:ext cx="190500" cy="190500"/>
          </a:xfrm>
          <a:prstGeom prst="roundRect">
            <a:avLst>
              <a:gd name="adj" fmla="val 15000"/>
            </a:avLst>
          </a:prstGeom>
          <a:solidFill>
            <a:srgbClr val="F58220"/>
          </a:solidFill>
          <a:ln/>
        </p:spPr>
        <p:txBody>
          <a:bodyPr/>
          <a:lstStyle/>
          <a:p>
            <a:endParaRPr lang="en-US"/>
          </a:p>
        </p:txBody>
      </p:sp>
      <p:sp>
        <p:nvSpPr>
          <p:cNvPr id="10" name="Text 7"/>
          <p:cNvSpPr/>
          <p:nvPr/>
        </p:nvSpPr>
        <p:spPr>
          <a:xfrm>
            <a:off x="1562100" y="6472328"/>
            <a:ext cx="7906974" cy="891540"/>
          </a:xfrm>
          <a:prstGeom prst="rect">
            <a:avLst/>
          </a:prstGeom>
          <a:noFill/>
          <a:ln/>
        </p:spPr>
        <p:txBody>
          <a:bodyPr wrap="square" lIns="25400" tIns="25400" rIns="25400" bIns="25400" rtlCol="0" anchor="t">
            <a:normAutofit/>
          </a:bodyPr>
          <a:lstStyle/>
          <a:p>
            <a:pPr marL="0" indent="0" algn="l">
              <a:lnSpc>
                <a:spcPct val="140000"/>
              </a:lnSpc>
              <a:buNone/>
            </a:pPr>
            <a:r>
              <a:rPr lang="en-US" sz="2400" dirty="0">
                <a:solidFill>
                  <a:srgbClr val="2A2D38"/>
                </a:solidFill>
                <a:ea typeface="Inter" pitchFamily="34" charset="-122"/>
                <a:cs typeface="Inter" pitchFamily="34" charset="-120"/>
              </a:rPr>
              <a:t>For developers: same idea as saving a routine as a function.</a:t>
            </a:r>
            <a:endParaRPr lang="en-US" sz="2400" dirty="0"/>
          </a:p>
        </p:txBody>
      </p:sp>
      <p:sp>
        <p:nvSpPr>
          <p:cNvPr id="11" name="Shape 8"/>
          <p:cNvSpPr/>
          <p:nvPr/>
        </p:nvSpPr>
        <p:spPr>
          <a:xfrm>
            <a:off x="1123950" y="7363868"/>
            <a:ext cx="190500" cy="190500"/>
          </a:xfrm>
          <a:prstGeom prst="roundRect">
            <a:avLst>
              <a:gd name="adj" fmla="val 15000"/>
            </a:avLst>
          </a:prstGeom>
          <a:solidFill>
            <a:srgbClr val="F58220"/>
          </a:solidFill>
          <a:ln/>
        </p:spPr>
        <p:txBody>
          <a:bodyPr/>
          <a:lstStyle/>
          <a:p>
            <a:endParaRPr lang="en-US"/>
          </a:p>
        </p:txBody>
      </p:sp>
      <p:sp>
        <p:nvSpPr>
          <p:cNvPr id="12" name="Text 9"/>
          <p:cNvSpPr/>
          <p:nvPr/>
        </p:nvSpPr>
        <p:spPr>
          <a:xfrm>
            <a:off x="1562100" y="7160895"/>
            <a:ext cx="7906974" cy="891540"/>
          </a:xfrm>
          <a:prstGeom prst="rect">
            <a:avLst/>
          </a:prstGeom>
          <a:noFill/>
          <a:ln/>
        </p:spPr>
        <p:txBody>
          <a:bodyPr wrap="square" lIns="25400" tIns="25400" rIns="25400" bIns="25400" rtlCol="0" anchor="t">
            <a:noAutofit/>
          </a:bodyPr>
          <a:lstStyle/>
          <a:p>
            <a:pPr marL="0" indent="0" algn="l">
              <a:lnSpc>
                <a:spcPct val="140000"/>
              </a:lnSpc>
              <a:buNone/>
            </a:pPr>
            <a:r>
              <a:rPr lang="en-US" sz="2400" dirty="0">
                <a:solidFill>
                  <a:srgbClr val="2A2D38"/>
                </a:solidFill>
                <a:ea typeface="Inter" pitchFamily="34" charset="-122"/>
                <a:cs typeface="Inter" pitchFamily="34" charset="-120"/>
              </a:rPr>
              <a:t>For everyone else: think of it as a saved Excel macro, but for AI.</a:t>
            </a:r>
            <a:endParaRPr lang="en-US" sz="2400" dirty="0"/>
          </a:p>
        </p:txBody>
      </p:sp>
      <p:sp>
        <p:nvSpPr>
          <p:cNvPr id="13" name="Shape 10"/>
          <p:cNvSpPr/>
          <p:nvPr/>
        </p:nvSpPr>
        <p:spPr>
          <a:xfrm>
            <a:off x="10879137" y="3956685"/>
            <a:ext cx="5539740" cy="3249930"/>
          </a:xfrm>
          <a:prstGeom prst="roundRect">
            <a:avLst>
              <a:gd name="adj" fmla="val 3517"/>
            </a:avLst>
          </a:prstGeom>
          <a:ln w="7620">
            <a:solidFill>
              <a:srgbClr val="2A2D38"/>
            </a:solidFill>
            <a:prstDash val="solid"/>
          </a:ln>
          <a:effectLst>
            <a:outerShdw blurRad="304800" dist="114300" dir="5400000" algn="bl" rotWithShape="0">
              <a:srgbClr val="2A2D38">
                <a:alpha val="12000"/>
              </a:srgbClr>
            </a:outerShdw>
          </a:effectLst>
        </p:spPr>
        <p:txBody>
          <a:bodyPr/>
          <a:lstStyle/>
          <a:p>
            <a:endParaRPr lang="en-US"/>
          </a:p>
        </p:txBody>
      </p:sp>
      <p:sp>
        <p:nvSpPr>
          <p:cNvPr id="14" name="Shape 11"/>
          <p:cNvSpPr/>
          <p:nvPr/>
        </p:nvSpPr>
        <p:spPr>
          <a:xfrm>
            <a:off x="10886758" y="3964305"/>
            <a:ext cx="5524500" cy="441960"/>
          </a:xfrm>
          <a:prstGeom prst="rect">
            <a:avLst/>
          </a:prstGeom>
          <a:solidFill>
            <a:srgbClr val="2A2D38"/>
          </a:solidFill>
          <a:ln/>
        </p:spPr>
        <p:txBody>
          <a:bodyPr/>
          <a:lstStyle/>
          <a:p>
            <a:endParaRPr lang="en-US"/>
          </a:p>
        </p:txBody>
      </p:sp>
      <p:sp>
        <p:nvSpPr>
          <p:cNvPr id="15" name="Shape 12"/>
          <p:cNvSpPr/>
          <p:nvPr/>
        </p:nvSpPr>
        <p:spPr>
          <a:xfrm>
            <a:off x="11058208" y="4128135"/>
            <a:ext cx="114300" cy="114300"/>
          </a:xfrm>
          <a:prstGeom prst="ellipse">
            <a:avLst/>
          </a:prstGeom>
          <a:solidFill>
            <a:srgbClr val="F58220"/>
          </a:solidFill>
          <a:ln/>
        </p:spPr>
        <p:txBody>
          <a:bodyPr/>
          <a:lstStyle/>
          <a:p>
            <a:endParaRPr lang="en-US"/>
          </a:p>
        </p:txBody>
      </p:sp>
      <p:sp>
        <p:nvSpPr>
          <p:cNvPr id="16" name="Shape 13"/>
          <p:cNvSpPr/>
          <p:nvPr/>
        </p:nvSpPr>
        <p:spPr>
          <a:xfrm>
            <a:off x="11248708" y="4128135"/>
            <a:ext cx="114300" cy="114300"/>
          </a:xfrm>
          <a:prstGeom prst="ellipse">
            <a:avLst/>
          </a:prstGeom>
          <a:solidFill>
            <a:srgbClr val="9A9CA4"/>
          </a:solidFill>
          <a:ln/>
        </p:spPr>
        <p:txBody>
          <a:bodyPr/>
          <a:lstStyle/>
          <a:p>
            <a:endParaRPr lang="en-US"/>
          </a:p>
        </p:txBody>
      </p:sp>
      <p:sp>
        <p:nvSpPr>
          <p:cNvPr id="17" name="Shape 14"/>
          <p:cNvSpPr/>
          <p:nvPr/>
        </p:nvSpPr>
        <p:spPr>
          <a:xfrm>
            <a:off x="11439208" y="4128135"/>
            <a:ext cx="114300" cy="114300"/>
          </a:xfrm>
          <a:prstGeom prst="ellipse">
            <a:avLst/>
          </a:prstGeom>
          <a:solidFill>
            <a:srgbClr val="9A9CA4"/>
          </a:solidFill>
          <a:ln/>
        </p:spPr>
        <p:txBody>
          <a:bodyPr/>
          <a:lstStyle/>
          <a:p>
            <a:endParaRPr lang="en-US"/>
          </a:p>
        </p:txBody>
      </p:sp>
      <p:sp>
        <p:nvSpPr>
          <p:cNvPr id="18" name="Text 15"/>
          <p:cNvSpPr/>
          <p:nvPr/>
        </p:nvSpPr>
        <p:spPr>
          <a:xfrm>
            <a:off x="11782108" y="4097655"/>
            <a:ext cx="998220" cy="213360"/>
          </a:xfrm>
          <a:prstGeom prst="rect">
            <a:avLst/>
          </a:prstGeom>
          <a:noFill/>
          <a:ln/>
        </p:spPr>
        <p:txBody>
          <a:bodyPr wrap="square" lIns="25400" tIns="25400" rIns="25400" bIns="25400" rtlCol="0" anchor="t">
            <a:normAutofit fontScale="92500" lnSpcReduction="10000"/>
          </a:bodyPr>
          <a:lstStyle/>
          <a:p>
            <a:pPr marL="0" indent="0" algn="l">
              <a:buNone/>
            </a:pPr>
            <a:r>
              <a:rPr lang="en-US" sz="1200" dirty="0">
                <a:solidFill>
                  <a:srgbClr val="FFFFFF"/>
                </a:solidFill>
                <a:latin typeface="ui-monospace" pitchFamily="34" charset="0"/>
                <a:ea typeface="ui-monospace" pitchFamily="34" charset="-122"/>
                <a:cs typeface="ui-monospace" pitchFamily="34" charset="-120"/>
              </a:rPr>
              <a:t>claude code</a:t>
            </a:r>
            <a:endParaRPr lang="en-US" sz="1200" dirty="0"/>
          </a:p>
        </p:txBody>
      </p:sp>
      <p:sp>
        <p:nvSpPr>
          <p:cNvPr id="19" name="Shape 16"/>
          <p:cNvSpPr/>
          <p:nvPr/>
        </p:nvSpPr>
        <p:spPr>
          <a:xfrm>
            <a:off x="10886758" y="4406265"/>
            <a:ext cx="5524500" cy="2792730"/>
          </a:xfrm>
          <a:prstGeom prst="rect">
            <a:avLst/>
          </a:prstGeom>
          <a:solidFill>
            <a:srgbClr val="1B1D24"/>
          </a:solidFill>
          <a:ln/>
        </p:spPr>
        <p:txBody>
          <a:bodyPr/>
          <a:lstStyle/>
          <a:p>
            <a:endParaRPr lang="en-US"/>
          </a:p>
        </p:txBody>
      </p:sp>
      <p:sp>
        <p:nvSpPr>
          <p:cNvPr id="20" name="Text 17"/>
          <p:cNvSpPr/>
          <p:nvPr/>
        </p:nvSpPr>
        <p:spPr>
          <a:xfrm>
            <a:off x="11191558" y="4672965"/>
            <a:ext cx="5062347" cy="39243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9A9CA4"/>
                </a:solidFill>
                <a:latin typeface="ui-monospace" pitchFamily="34" charset="0"/>
                <a:ea typeface="ui-monospace" pitchFamily="34" charset="-122"/>
                <a:cs typeface="ui-monospace" pitchFamily="34" charset="-120"/>
              </a:rPr>
              <a:t>&gt; </a:t>
            </a:r>
            <a:r>
              <a:rPr lang="en-US" sz="1800" dirty="0">
                <a:solidFill>
                  <a:srgbClr val="FFFFFF"/>
                </a:solidFill>
                <a:latin typeface="ui-monospace" pitchFamily="34" charset="0"/>
                <a:ea typeface="ui-monospace" pitchFamily="34" charset="-122"/>
                <a:cs typeface="ui-monospace" pitchFamily="34" charset="-120"/>
              </a:rPr>
              <a:t>/</a:t>
            </a:r>
            <a:r>
              <a:rPr lang="en-US" sz="1800" dirty="0">
                <a:solidFill>
                  <a:srgbClr val="F58220"/>
                </a:solidFill>
                <a:latin typeface="ui-monospace" pitchFamily="34" charset="0"/>
                <a:ea typeface="ui-monospace" pitchFamily="34" charset="-122"/>
                <a:cs typeface="ui-monospace" pitchFamily="34" charset="-120"/>
              </a:rPr>
              <a:t>release</a:t>
            </a:r>
            <a:r>
              <a:rPr lang="en-US" sz="1800" dirty="0">
                <a:solidFill>
                  <a:srgbClr val="FFFFFF"/>
                </a:solidFill>
                <a:latin typeface="ui-monospace" pitchFamily="34" charset="0"/>
                <a:ea typeface="ui-monospace" pitchFamily="34" charset="-122"/>
                <a:cs typeface="ui-monospace" pitchFamily="34" charset="-120"/>
              </a:rPr>
              <a:t>▎</a:t>
            </a:r>
            <a:endParaRPr lang="en-US" sz="1800" dirty="0"/>
          </a:p>
        </p:txBody>
      </p:sp>
      <p:sp>
        <p:nvSpPr>
          <p:cNvPr id="21" name="Text 18"/>
          <p:cNvSpPr/>
          <p:nvPr/>
        </p:nvSpPr>
        <p:spPr>
          <a:xfrm>
            <a:off x="11191558" y="5160645"/>
            <a:ext cx="5062347" cy="39243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6CC288"/>
                </a:solidFill>
                <a:latin typeface="ui-monospace" pitchFamily="34" charset="0"/>
                <a:ea typeface="ui-monospace" pitchFamily="34" charset="-122"/>
                <a:cs typeface="ui-monospace" pitchFamily="34" charset="-120"/>
              </a:rPr>
              <a:t>✓ run tests</a:t>
            </a:r>
            <a:endParaRPr lang="en-US" sz="1800" dirty="0"/>
          </a:p>
        </p:txBody>
      </p:sp>
      <p:sp>
        <p:nvSpPr>
          <p:cNvPr id="22" name="Text 19"/>
          <p:cNvSpPr/>
          <p:nvPr/>
        </p:nvSpPr>
        <p:spPr>
          <a:xfrm>
            <a:off x="11191558" y="5514975"/>
            <a:ext cx="5062347" cy="39243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6CC288"/>
                </a:solidFill>
                <a:latin typeface="ui-monospace" pitchFamily="34" charset="0"/>
                <a:ea typeface="ui-monospace" pitchFamily="34" charset="-122"/>
                <a:cs typeface="ui-monospace" pitchFamily="34" charset="-120"/>
              </a:rPr>
              <a:t>✓ bump version (1.4.2 → 1.4.3)</a:t>
            </a:r>
            <a:endParaRPr lang="en-US" sz="1800" dirty="0"/>
          </a:p>
        </p:txBody>
      </p:sp>
      <p:sp>
        <p:nvSpPr>
          <p:cNvPr id="23" name="Text 20"/>
          <p:cNvSpPr/>
          <p:nvPr/>
        </p:nvSpPr>
        <p:spPr>
          <a:xfrm>
            <a:off x="11191558" y="5869305"/>
            <a:ext cx="5062347" cy="39243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6CC288"/>
                </a:solidFill>
                <a:latin typeface="ui-monospace" pitchFamily="34" charset="0"/>
                <a:ea typeface="ui-monospace" pitchFamily="34" charset="-122"/>
                <a:cs typeface="ui-monospace" pitchFamily="34" charset="-120"/>
              </a:rPr>
              <a:t>✓ generate changelog</a:t>
            </a:r>
            <a:endParaRPr lang="en-US" sz="1800" dirty="0"/>
          </a:p>
        </p:txBody>
      </p:sp>
      <p:sp>
        <p:nvSpPr>
          <p:cNvPr id="24" name="Text 21"/>
          <p:cNvSpPr/>
          <p:nvPr/>
        </p:nvSpPr>
        <p:spPr>
          <a:xfrm>
            <a:off x="11191558" y="6223635"/>
            <a:ext cx="5062347" cy="39243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F58220"/>
                </a:solidFill>
                <a:latin typeface="ui-monospace" pitchFamily="34" charset="0"/>
                <a:ea typeface="ui-monospace" pitchFamily="34" charset="-122"/>
                <a:cs typeface="ui-monospace" pitchFamily="34" charset="-120"/>
              </a:rPr>
              <a:t>… build &amp; tag release</a:t>
            </a:r>
            <a:endParaRPr lang="en-US" sz="1800" dirty="0"/>
          </a:p>
        </p:txBody>
      </p:sp>
      <p:sp>
        <p:nvSpPr>
          <p:cNvPr id="25" name="Text 22"/>
          <p:cNvSpPr/>
          <p:nvPr/>
        </p:nvSpPr>
        <p:spPr>
          <a:xfrm>
            <a:off x="11191558" y="6577965"/>
            <a:ext cx="5062347" cy="39243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9A9CA4"/>
                </a:solidFill>
                <a:latin typeface="ui-monospace" pitchFamily="34" charset="0"/>
                <a:ea typeface="ui-monospace" pitchFamily="34" charset="-122"/>
                <a:cs typeface="ui-monospace" pitchFamily="34" charset="-120"/>
              </a:rPr>
              <a:t>open PR &amp; notify #releases</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99" name="DarkBg"/>
          <p:cNvSpPr/>
          <p:nvPr/>
        </p:nvSpPr>
        <p:spPr>
          <a:xfrm>
            <a:off x="0" y="0"/>
            <a:ext cx="18288000" cy="10287000"/>
          </a:xfrm>
          <a:prstGeom prst="rect">
            <a:avLst/>
          </a:prstGeom>
          <a:solidFill>
            <a:srgbClr val="1B1D24"/>
          </a:solidFill>
          <a:ln/>
        </p:spPr>
        <p:txBody>
          <a:bodyPr/>
          <a:lstStyle/>
          <a:p>
            <a:endParaRPr lang="en-US"/>
          </a:p>
        </p:txBody>
      </p:sp>
      <p:sp>
        <p:nvSpPr>
          <p:cNvPr id="2" name="Shape 0"/>
          <p:cNvSpPr/>
          <p:nvPr/>
        </p:nvSpPr>
        <p:spPr>
          <a:xfrm>
            <a:off x="0" y="0"/>
            <a:ext cx="18288000" cy="10287000"/>
          </a:xfrm>
          <a:prstGeom prst="rect">
            <a:avLst/>
          </a:prstGeom>
          <a:solidFill>
            <a:srgbClr val="1B1D24"/>
          </a:solidFill>
          <a:ln/>
        </p:spPr>
        <p:txBody>
          <a:bodyPr/>
          <a:lstStyle/>
          <a:p>
            <a:endParaRPr lang="en-US"/>
          </a:p>
        </p:txBody>
      </p:sp>
      <p:sp>
        <p:nvSpPr>
          <p:cNvPr id="3" name="Text 1"/>
          <p:cNvSpPr/>
          <p:nvPr/>
        </p:nvSpPr>
        <p:spPr>
          <a:xfrm>
            <a:off x="1143000" y="944880"/>
            <a:ext cx="3747380" cy="320040"/>
          </a:xfrm>
          <a:prstGeom prst="rect">
            <a:avLst/>
          </a:prstGeom>
          <a:noFill/>
          <a:ln/>
        </p:spPr>
        <p:txBody>
          <a:bodyPr wrap="square" lIns="25400" tIns="25400" rIns="25400" bIns="25400" rtlCol="0" anchor="t">
            <a:normAutofit fontScale="92500"/>
          </a:bodyPr>
          <a:lstStyle/>
          <a:p>
            <a:pPr marL="0" indent="0" algn="l">
              <a:buNone/>
            </a:pPr>
            <a:r>
              <a:rPr lang="en-US" sz="1800" b="1" kern="0" spc="252" dirty="0">
                <a:solidFill>
                  <a:srgbClr val="FFFFFF">
                    <a:alpha val="55000"/>
                  </a:srgbClr>
                </a:solidFill>
                <a:latin typeface="Montserrat" pitchFamily="34" charset="0"/>
                <a:ea typeface="Montserrat" pitchFamily="34" charset="-122"/>
                <a:cs typeface="Montserrat" pitchFamily="34" charset="-120"/>
              </a:rPr>
              <a:t>CHAPTER 3 · SHORTCUTS</a:t>
            </a:r>
            <a:endParaRPr lang="en-US" sz="1800" dirty="0"/>
          </a:p>
        </p:txBody>
      </p:sp>
      <p:pic>
        <p:nvPicPr>
          <p:cNvPr id="4" name="Image 0" descr="preencoded.png"/>
          <p:cNvPicPr>
            <a:picLocks noChangeAspect="1"/>
          </p:cNvPicPr>
          <p:nvPr/>
        </p:nvPicPr>
        <p:blipFill>
          <a:blip r:embed="rId3"/>
          <a:stretch>
            <a:fillRect/>
          </a:stretch>
        </p:blipFill>
        <p:spPr>
          <a:xfrm>
            <a:off x="16799084" y="914400"/>
            <a:ext cx="345916" cy="342900"/>
          </a:xfrm>
          <a:prstGeom prst="rect">
            <a:avLst/>
          </a:prstGeom>
        </p:spPr>
      </p:pic>
      <p:sp>
        <p:nvSpPr>
          <p:cNvPr id="5" name="Shape 2"/>
          <p:cNvSpPr/>
          <p:nvPr/>
        </p:nvSpPr>
        <p:spPr>
          <a:xfrm>
            <a:off x="1143000" y="2209800"/>
            <a:ext cx="1972469" cy="487680"/>
          </a:xfrm>
          <a:prstGeom prst="roundRect">
            <a:avLst>
              <a:gd name="adj" fmla="val 50000"/>
            </a:avLst>
          </a:prstGeom>
          <a:solidFill>
            <a:srgbClr val="FDEBD8"/>
          </a:solidFill>
          <a:ln w="7620">
            <a:solidFill>
              <a:srgbClr val="F58220"/>
            </a:solidFill>
            <a:prstDash val="solid"/>
          </a:ln>
        </p:spPr>
        <p:txBody>
          <a:bodyPr/>
          <a:lstStyle/>
          <a:p>
            <a:endParaRPr lang="en-US"/>
          </a:p>
        </p:txBody>
      </p:sp>
      <p:sp>
        <p:nvSpPr>
          <p:cNvPr id="7" name="Text 4"/>
          <p:cNvSpPr/>
          <p:nvPr/>
        </p:nvSpPr>
        <p:spPr>
          <a:xfrm>
            <a:off x="1143000" y="2312670"/>
            <a:ext cx="1972469" cy="320040"/>
          </a:xfrm>
          <a:prstGeom prst="rect">
            <a:avLst/>
          </a:prstGeom>
          <a:noFill/>
          <a:ln/>
        </p:spPr>
        <p:txBody>
          <a:bodyPr wrap="square" lIns="0" tIns="0" rIns="0" bIns="0" rtlCol="0" anchor="t">
            <a:normAutofit/>
          </a:bodyPr>
          <a:lstStyle/>
          <a:p>
            <a:pPr marL="0" indent="0" algn="ctr">
              <a:buNone/>
            </a:pPr>
            <a:r>
              <a:rPr lang="en-US" sz="1800" b="1" kern="0" spc="180" dirty="0">
                <a:solidFill>
                  <a:srgbClr val="D86A0E"/>
                </a:solidFill>
                <a:latin typeface="Montserrat" pitchFamily="34" charset="0"/>
                <a:ea typeface="Montserrat" pitchFamily="34" charset="-122"/>
                <a:cs typeface="Montserrat" pitchFamily="34" charset="-120"/>
              </a:rPr>
              <a:t>THE RULE</a:t>
            </a:r>
            <a:endParaRPr lang="en-US" sz="1800" dirty="0"/>
          </a:p>
        </p:txBody>
      </p:sp>
      <p:sp>
        <p:nvSpPr>
          <p:cNvPr id="8" name="Text 5"/>
          <p:cNvSpPr/>
          <p:nvPr/>
        </p:nvSpPr>
        <p:spPr>
          <a:xfrm>
            <a:off x="1143000" y="3530781"/>
            <a:ext cx="16482060" cy="2098675"/>
          </a:xfrm>
          <a:prstGeom prst="rect">
            <a:avLst/>
          </a:prstGeom>
          <a:noFill/>
          <a:ln/>
        </p:spPr>
        <p:txBody>
          <a:bodyPr wrap="square" lIns="25400" tIns="25400" rIns="25400" bIns="25400" rtlCol="0" anchor="t">
            <a:normAutofit fontScale="92500" lnSpcReduction="20000"/>
          </a:bodyPr>
          <a:lstStyle/>
          <a:p>
            <a:pPr marL="0" indent="0" algn="l">
              <a:lnSpc>
                <a:spcPct val="104007"/>
              </a:lnSpc>
              <a:buNone/>
            </a:pPr>
            <a:r>
              <a:rPr lang="en-US" sz="7800" b="1" kern="0" spc="-94" dirty="0">
                <a:solidFill>
                  <a:srgbClr val="FFFFFF"/>
                </a:solidFill>
                <a:latin typeface="Montserrat" pitchFamily="34" charset="0"/>
                <a:ea typeface="Montserrat" pitchFamily="34" charset="-122"/>
                <a:cs typeface="Montserrat" pitchFamily="34" charset="-120"/>
              </a:rPr>
              <a:t>If you've done it twice, make a </a:t>
            </a:r>
            <a:r>
              <a:rPr lang="en-US" sz="7800" b="1" kern="0" spc="-94" dirty="0">
                <a:solidFill>
                  <a:srgbClr val="F58220"/>
                </a:solidFill>
                <a:latin typeface="Montserrat" pitchFamily="34" charset="0"/>
                <a:ea typeface="Montserrat" pitchFamily="34" charset="-122"/>
                <a:cs typeface="Montserrat" pitchFamily="34" charset="-120"/>
              </a:rPr>
              <a:t>command</a:t>
            </a:r>
            <a:endParaRPr lang="en-US" sz="7800" dirty="0"/>
          </a:p>
        </p:txBody>
      </p:sp>
      <p:sp>
        <p:nvSpPr>
          <p:cNvPr id="9" name="Shape 6"/>
          <p:cNvSpPr/>
          <p:nvPr/>
        </p:nvSpPr>
        <p:spPr>
          <a:xfrm>
            <a:off x="1143000" y="5952808"/>
            <a:ext cx="3829050" cy="2072640"/>
          </a:xfrm>
          <a:prstGeom prst="roundRect">
            <a:avLst>
              <a:gd name="adj" fmla="val 5515"/>
            </a:avLst>
          </a:prstGeom>
          <a:solidFill>
            <a:srgbClr val="FFFFFF"/>
          </a:solidFill>
          <a:ln w="7620">
            <a:solidFill>
              <a:srgbClr val="E5E5E7"/>
            </a:solidFill>
            <a:prstDash val="solid"/>
          </a:ln>
          <a:effectLst>
            <a:outerShdw blurRad="114300" dist="38100" dir="5400000" algn="bl" rotWithShape="0">
              <a:srgbClr val="2A2D38">
                <a:alpha val="8000"/>
              </a:srgbClr>
            </a:outerShdw>
          </a:effectLst>
        </p:spPr>
        <p:txBody>
          <a:bodyPr/>
          <a:lstStyle/>
          <a:p>
            <a:endParaRPr lang="en-US"/>
          </a:p>
        </p:txBody>
      </p:sp>
      <p:sp>
        <p:nvSpPr>
          <p:cNvPr id="10" name="Text 7"/>
          <p:cNvSpPr/>
          <p:nvPr/>
        </p:nvSpPr>
        <p:spPr>
          <a:xfrm>
            <a:off x="1531620" y="6303327"/>
            <a:ext cx="3143364" cy="632460"/>
          </a:xfrm>
          <a:prstGeom prst="rect">
            <a:avLst/>
          </a:prstGeom>
          <a:noFill/>
          <a:ln/>
        </p:spPr>
        <p:txBody>
          <a:bodyPr wrap="square" lIns="25400" tIns="25400" rIns="25400" bIns="25400" rtlCol="0" anchor="t">
            <a:normAutofit lnSpcReduction="10000"/>
          </a:bodyPr>
          <a:lstStyle/>
          <a:p>
            <a:pPr marL="0" indent="0" algn="l">
              <a:buNone/>
            </a:pPr>
            <a:r>
              <a:rPr lang="en-US" sz="1950" b="1" kern="0" spc="-10" dirty="0">
                <a:solidFill>
                  <a:srgbClr val="2A2D38"/>
                </a:solidFill>
                <a:latin typeface="Montserrat" pitchFamily="34" charset="0"/>
                <a:ea typeface="Montserrat" pitchFamily="34" charset="-122"/>
                <a:cs typeface="Montserrat" pitchFamily="34" charset="-120"/>
              </a:rPr>
              <a:t>Asked twice in two days?</a:t>
            </a:r>
            <a:endParaRPr lang="en-US" sz="1950" dirty="0"/>
          </a:p>
        </p:txBody>
      </p:sp>
      <p:sp>
        <p:nvSpPr>
          <p:cNvPr id="11" name="Text 8"/>
          <p:cNvSpPr/>
          <p:nvPr/>
        </p:nvSpPr>
        <p:spPr>
          <a:xfrm>
            <a:off x="1531620" y="7011988"/>
            <a:ext cx="3143364" cy="36957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b="1" dirty="0">
                <a:solidFill>
                  <a:srgbClr val="D86A0E"/>
                </a:solidFill>
                <a:latin typeface="Montserrat" pitchFamily="34" charset="0"/>
                <a:ea typeface="Montserrat" pitchFamily="34" charset="-122"/>
                <a:cs typeface="Montserrat" pitchFamily="34" charset="-120"/>
              </a:rPr>
              <a:t>→ command.</a:t>
            </a:r>
            <a:endParaRPr lang="en-US" sz="1800" dirty="0"/>
          </a:p>
        </p:txBody>
      </p:sp>
      <p:sp>
        <p:nvSpPr>
          <p:cNvPr id="12" name="Shape 9"/>
          <p:cNvSpPr/>
          <p:nvPr/>
        </p:nvSpPr>
        <p:spPr>
          <a:xfrm>
            <a:off x="5200650" y="5952808"/>
            <a:ext cx="3829050" cy="2072640"/>
          </a:xfrm>
          <a:prstGeom prst="roundRect">
            <a:avLst>
              <a:gd name="adj" fmla="val 5515"/>
            </a:avLst>
          </a:prstGeom>
          <a:solidFill>
            <a:srgbClr val="FFFFFF"/>
          </a:solidFill>
          <a:ln w="7620">
            <a:solidFill>
              <a:srgbClr val="E5E5E7"/>
            </a:solidFill>
            <a:prstDash val="solid"/>
          </a:ln>
          <a:effectLst>
            <a:outerShdw blurRad="114300" dist="38100" dir="5400000" algn="bl" rotWithShape="0">
              <a:srgbClr val="2A2D38">
                <a:alpha val="8000"/>
              </a:srgbClr>
            </a:outerShdw>
          </a:effectLst>
        </p:spPr>
        <p:txBody>
          <a:bodyPr/>
          <a:lstStyle/>
          <a:p>
            <a:endParaRPr lang="en-US"/>
          </a:p>
        </p:txBody>
      </p:sp>
      <p:sp>
        <p:nvSpPr>
          <p:cNvPr id="13" name="Text 10"/>
          <p:cNvSpPr/>
          <p:nvPr/>
        </p:nvSpPr>
        <p:spPr>
          <a:xfrm>
            <a:off x="5589270" y="6303327"/>
            <a:ext cx="3143364" cy="929640"/>
          </a:xfrm>
          <a:prstGeom prst="rect">
            <a:avLst/>
          </a:prstGeom>
          <a:noFill/>
          <a:ln/>
        </p:spPr>
        <p:txBody>
          <a:bodyPr wrap="square" lIns="25400" tIns="25400" rIns="25400" bIns="25400" rtlCol="0" anchor="t">
            <a:normAutofit/>
          </a:bodyPr>
          <a:lstStyle/>
          <a:p>
            <a:pPr marL="0" indent="0" algn="l">
              <a:buNone/>
            </a:pPr>
            <a:r>
              <a:rPr lang="en-US" sz="1950" b="1" kern="0" spc="-10" dirty="0">
                <a:solidFill>
                  <a:srgbClr val="2A2D38"/>
                </a:solidFill>
                <a:latin typeface="Montserrat" pitchFamily="34" charset="0"/>
                <a:ea typeface="Montserrat" pitchFamily="34" charset="-122"/>
                <a:cs typeface="Montserrat" pitchFamily="34" charset="-120"/>
              </a:rPr>
              <a:t>Need the output to look the same every time?</a:t>
            </a:r>
            <a:endParaRPr lang="en-US" sz="1950" dirty="0"/>
          </a:p>
        </p:txBody>
      </p:sp>
      <p:sp>
        <p:nvSpPr>
          <p:cNvPr id="14" name="Text 11"/>
          <p:cNvSpPr/>
          <p:nvPr/>
        </p:nvSpPr>
        <p:spPr>
          <a:xfrm>
            <a:off x="5589270" y="7309168"/>
            <a:ext cx="3143364" cy="36957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b="1" dirty="0">
                <a:solidFill>
                  <a:srgbClr val="D86A0E"/>
                </a:solidFill>
                <a:latin typeface="Montserrat" pitchFamily="34" charset="0"/>
                <a:ea typeface="Montserrat" pitchFamily="34" charset="-122"/>
                <a:cs typeface="Montserrat" pitchFamily="34" charset="-120"/>
              </a:rPr>
              <a:t>→ command.</a:t>
            </a:r>
            <a:endParaRPr lang="en-US" sz="1800" dirty="0"/>
          </a:p>
        </p:txBody>
      </p:sp>
      <p:sp>
        <p:nvSpPr>
          <p:cNvPr id="15" name="Shape 12"/>
          <p:cNvSpPr/>
          <p:nvPr/>
        </p:nvSpPr>
        <p:spPr>
          <a:xfrm>
            <a:off x="9258300" y="5952808"/>
            <a:ext cx="3829050" cy="2072640"/>
          </a:xfrm>
          <a:prstGeom prst="roundRect">
            <a:avLst>
              <a:gd name="adj" fmla="val 5515"/>
            </a:avLst>
          </a:prstGeom>
          <a:solidFill>
            <a:srgbClr val="FFFFFF"/>
          </a:solidFill>
          <a:ln w="7620">
            <a:solidFill>
              <a:srgbClr val="E5E5E7"/>
            </a:solidFill>
            <a:prstDash val="solid"/>
          </a:ln>
          <a:effectLst>
            <a:outerShdw blurRad="114300" dist="38100" dir="5400000" algn="bl" rotWithShape="0">
              <a:srgbClr val="2A2D38">
                <a:alpha val="8000"/>
              </a:srgbClr>
            </a:outerShdw>
          </a:effectLst>
        </p:spPr>
        <p:txBody>
          <a:bodyPr/>
          <a:lstStyle/>
          <a:p>
            <a:endParaRPr lang="en-US"/>
          </a:p>
        </p:txBody>
      </p:sp>
      <p:sp>
        <p:nvSpPr>
          <p:cNvPr id="16" name="Text 13"/>
          <p:cNvSpPr/>
          <p:nvPr/>
        </p:nvSpPr>
        <p:spPr>
          <a:xfrm>
            <a:off x="9646920" y="6303327"/>
            <a:ext cx="3143364" cy="632460"/>
          </a:xfrm>
          <a:prstGeom prst="rect">
            <a:avLst/>
          </a:prstGeom>
          <a:noFill/>
          <a:ln/>
        </p:spPr>
        <p:txBody>
          <a:bodyPr wrap="square" lIns="25400" tIns="25400" rIns="25400" bIns="25400" rtlCol="0" anchor="t">
            <a:normAutofit lnSpcReduction="10000"/>
          </a:bodyPr>
          <a:lstStyle/>
          <a:p>
            <a:pPr marL="0" indent="0" algn="l">
              <a:buNone/>
            </a:pPr>
            <a:r>
              <a:rPr lang="en-US" sz="1950" b="1" kern="0" spc="-10" dirty="0">
                <a:solidFill>
                  <a:srgbClr val="2A2D38"/>
                </a:solidFill>
                <a:latin typeface="Montserrat" pitchFamily="34" charset="0"/>
                <a:ea typeface="Montserrat" pitchFamily="34" charset="-122"/>
                <a:cs typeface="Montserrat" pitchFamily="34" charset="-120"/>
              </a:rPr>
              <a:t>Consistency &gt; creativity?</a:t>
            </a:r>
            <a:endParaRPr lang="en-US" sz="1950" dirty="0"/>
          </a:p>
        </p:txBody>
      </p:sp>
      <p:sp>
        <p:nvSpPr>
          <p:cNvPr id="17" name="Text 14"/>
          <p:cNvSpPr/>
          <p:nvPr/>
        </p:nvSpPr>
        <p:spPr>
          <a:xfrm>
            <a:off x="9646920" y="7011988"/>
            <a:ext cx="3143364" cy="36957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b="1" dirty="0">
                <a:solidFill>
                  <a:srgbClr val="D86A0E"/>
                </a:solidFill>
                <a:latin typeface="Montserrat" pitchFamily="34" charset="0"/>
                <a:ea typeface="Montserrat" pitchFamily="34" charset="-122"/>
                <a:cs typeface="Montserrat" pitchFamily="34" charset="-120"/>
              </a:rPr>
              <a:t>→ command.</a:t>
            </a:r>
            <a:endParaRPr lang="en-US" sz="1800" dirty="0"/>
          </a:p>
        </p:txBody>
      </p:sp>
      <p:sp>
        <p:nvSpPr>
          <p:cNvPr id="18" name="Shape 15"/>
          <p:cNvSpPr/>
          <p:nvPr/>
        </p:nvSpPr>
        <p:spPr>
          <a:xfrm>
            <a:off x="13315950" y="5952808"/>
            <a:ext cx="3829050" cy="2072640"/>
          </a:xfrm>
          <a:prstGeom prst="roundRect">
            <a:avLst>
              <a:gd name="adj" fmla="val 5515"/>
            </a:avLst>
          </a:prstGeom>
          <a:solidFill>
            <a:srgbClr val="2A2D38"/>
          </a:solidFill>
          <a:ln w="7620">
            <a:solidFill>
              <a:srgbClr val="2A2D38"/>
            </a:solidFill>
            <a:prstDash val="solid"/>
          </a:ln>
          <a:effectLst>
            <a:outerShdw blurRad="114300" dist="38100" dir="5400000" algn="bl" rotWithShape="0">
              <a:srgbClr val="2A2D38">
                <a:alpha val="8000"/>
              </a:srgbClr>
            </a:outerShdw>
          </a:effectLst>
        </p:spPr>
        <p:txBody>
          <a:bodyPr/>
          <a:lstStyle/>
          <a:p>
            <a:endParaRPr lang="en-US"/>
          </a:p>
        </p:txBody>
      </p:sp>
      <p:sp>
        <p:nvSpPr>
          <p:cNvPr id="19" name="Text 16"/>
          <p:cNvSpPr/>
          <p:nvPr/>
        </p:nvSpPr>
        <p:spPr>
          <a:xfrm>
            <a:off x="13704570" y="6303327"/>
            <a:ext cx="3143364" cy="632460"/>
          </a:xfrm>
          <a:prstGeom prst="rect">
            <a:avLst/>
          </a:prstGeom>
          <a:noFill/>
          <a:ln/>
        </p:spPr>
        <p:txBody>
          <a:bodyPr wrap="square" lIns="25400" tIns="25400" rIns="25400" bIns="25400" rtlCol="0" anchor="t">
            <a:normAutofit lnSpcReduction="10000"/>
          </a:bodyPr>
          <a:lstStyle/>
          <a:p>
            <a:pPr marL="0" indent="0" algn="l">
              <a:buNone/>
            </a:pPr>
            <a:r>
              <a:rPr lang="en-US" sz="1950" b="1" kern="0" spc="-10" dirty="0">
                <a:solidFill>
                  <a:srgbClr val="FFFFFF"/>
                </a:solidFill>
                <a:latin typeface="Montserrat" pitchFamily="34" charset="0"/>
                <a:ea typeface="Montserrat" pitchFamily="34" charset="-122"/>
                <a:cs typeface="Montserrat" pitchFamily="34" charset="-120"/>
              </a:rPr>
              <a:t>Same rule developers follow for code.</a:t>
            </a:r>
            <a:endParaRPr lang="en-US" sz="1950" dirty="0"/>
          </a:p>
        </p:txBody>
      </p:sp>
      <p:sp>
        <p:nvSpPr>
          <p:cNvPr id="20" name="Text 17"/>
          <p:cNvSpPr/>
          <p:nvPr/>
        </p:nvSpPr>
        <p:spPr>
          <a:xfrm>
            <a:off x="13704570" y="7011988"/>
            <a:ext cx="3143364" cy="70104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dirty="0">
                <a:solidFill>
                  <a:srgbClr val="FFFFFF">
                    <a:alpha val="75000"/>
                  </a:srgbClr>
                </a:solidFill>
                <a:latin typeface="Inter" pitchFamily="34" charset="0"/>
                <a:ea typeface="Inter" pitchFamily="34" charset="-122"/>
                <a:cs typeface="Inter" pitchFamily="34" charset="-120"/>
              </a:rPr>
              <a:t>If you do it twice, you write a function for it.</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7F5F1"/>
          </a:solidFill>
          <a:ln/>
        </p:spPr>
        <p:txBody>
          <a:bodyPr/>
          <a:lstStyle/>
          <a:p>
            <a:endParaRPr lang="en-US"/>
          </a:p>
        </p:txBody>
      </p:sp>
      <p:sp>
        <p:nvSpPr>
          <p:cNvPr id="3" name="Text 1"/>
          <p:cNvSpPr/>
          <p:nvPr/>
        </p:nvSpPr>
        <p:spPr>
          <a:xfrm>
            <a:off x="1143000" y="944880"/>
            <a:ext cx="3747380" cy="320040"/>
          </a:xfrm>
          <a:prstGeom prst="rect">
            <a:avLst/>
          </a:prstGeom>
          <a:noFill/>
          <a:ln/>
        </p:spPr>
        <p:txBody>
          <a:bodyPr wrap="square" lIns="25400" tIns="25400" rIns="25400" bIns="25400" rtlCol="0" anchor="t">
            <a:normAutofit fontScale="92500"/>
          </a:bodyPr>
          <a:lstStyle/>
          <a:p>
            <a:pPr marL="0" indent="0" algn="l">
              <a:buNone/>
            </a:pPr>
            <a:r>
              <a:rPr lang="en-US" sz="1800" b="1" kern="0" spc="252" dirty="0">
                <a:solidFill>
                  <a:srgbClr val="6B6E78"/>
                </a:solidFill>
                <a:latin typeface="Montserrat" pitchFamily="34" charset="0"/>
                <a:ea typeface="Montserrat" pitchFamily="34" charset="-122"/>
                <a:cs typeface="Montserrat" pitchFamily="34" charset="-120"/>
              </a:rPr>
              <a:t>CHAPTER 3 · SHORTCUTS</a:t>
            </a:r>
            <a:endParaRPr lang="en-US" sz="1800" dirty="0"/>
          </a:p>
        </p:txBody>
      </p:sp>
      <p:pic>
        <p:nvPicPr>
          <p:cNvPr id="4" name="Image 0" descr="preencoded.png"/>
          <p:cNvPicPr>
            <a:picLocks noChangeAspect="1"/>
          </p:cNvPicPr>
          <p:nvPr/>
        </p:nvPicPr>
        <p:blipFill>
          <a:blip r:embed="rId3"/>
          <a:stretch>
            <a:fillRect/>
          </a:stretch>
        </p:blipFill>
        <p:spPr>
          <a:xfrm>
            <a:off x="16799084" y="914400"/>
            <a:ext cx="345916" cy="342900"/>
          </a:xfrm>
          <a:prstGeom prst="rect">
            <a:avLst/>
          </a:prstGeom>
        </p:spPr>
      </p:pic>
      <p:sp>
        <p:nvSpPr>
          <p:cNvPr id="5" name="Shape 2"/>
          <p:cNvSpPr/>
          <p:nvPr/>
        </p:nvSpPr>
        <p:spPr>
          <a:xfrm>
            <a:off x="1143000" y="2209800"/>
            <a:ext cx="1972469" cy="487680"/>
          </a:xfrm>
          <a:prstGeom prst="roundRect">
            <a:avLst>
              <a:gd name="adj" fmla="val 50000"/>
            </a:avLst>
          </a:prstGeom>
          <a:solidFill>
            <a:srgbClr val="FDEBD8"/>
          </a:solidFill>
          <a:ln w="7620">
            <a:solidFill>
              <a:srgbClr val="F58220"/>
            </a:solidFill>
            <a:prstDash val="solid"/>
          </a:ln>
        </p:spPr>
        <p:txBody>
          <a:bodyPr/>
          <a:lstStyle/>
          <a:p>
            <a:endParaRPr lang="en-US"/>
          </a:p>
        </p:txBody>
      </p:sp>
      <p:sp>
        <p:nvSpPr>
          <p:cNvPr id="6" name="Shape 3"/>
          <p:cNvSpPr/>
          <p:nvPr/>
        </p:nvSpPr>
        <p:spPr>
          <a:xfrm>
            <a:off x="1341120" y="2406014"/>
            <a:ext cx="95250" cy="95250"/>
          </a:xfrm>
          <a:prstGeom prst="ellipse">
            <a:avLst/>
          </a:prstGeom>
          <a:solidFill>
            <a:srgbClr val="F58220"/>
          </a:solidFill>
          <a:ln/>
        </p:spPr>
        <p:txBody>
          <a:bodyPr/>
          <a:lstStyle/>
          <a:p>
            <a:endParaRPr lang="en-US"/>
          </a:p>
        </p:txBody>
      </p:sp>
      <p:sp>
        <p:nvSpPr>
          <p:cNvPr id="7" name="Text 4"/>
          <p:cNvSpPr/>
          <p:nvPr/>
        </p:nvSpPr>
        <p:spPr>
          <a:xfrm>
            <a:off x="1550670" y="2312670"/>
            <a:ext cx="1442879" cy="320040"/>
          </a:xfrm>
          <a:prstGeom prst="rect">
            <a:avLst/>
          </a:prstGeom>
          <a:noFill/>
          <a:ln/>
        </p:spPr>
        <p:txBody>
          <a:bodyPr wrap="square" lIns="0" tIns="0" rIns="0" bIns="0" rtlCol="0" anchor="t">
            <a:normAutofit/>
          </a:bodyPr>
          <a:lstStyle/>
          <a:p>
            <a:pPr marL="0" indent="0" algn="l">
              <a:buNone/>
            </a:pPr>
            <a:r>
              <a:rPr lang="en-US" sz="1800" b="1" kern="0" spc="180" dirty="0">
                <a:solidFill>
                  <a:srgbClr val="D86A0E"/>
                </a:solidFill>
                <a:latin typeface="Montserrat" pitchFamily="34" charset="0"/>
                <a:ea typeface="Montserrat" pitchFamily="34" charset="-122"/>
                <a:cs typeface="Montserrat" pitchFamily="34" charset="-120"/>
              </a:rPr>
              <a:t>THE RULE</a:t>
            </a:r>
            <a:endParaRPr lang="en-US" sz="1800" dirty="0"/>
          </a:p>
        </p:txBody>
      </p:sp>
      <p:sp>
        <p:nvSpPr>
          <p:cNvPr id="8" name="Text 5"/>
          <p:cNvSpPr/>
          <p:nvPr/>
        </p:nvSpPr>
        <p:spPr>
          <a:xfrm>
            <a:off x="1143000" y="3530781"/>
            <a:ext cx="16482060" cy="2098675"/>
          </a:xfrm>
          <a:prstGeom prst="rect">
            <a:avLst/>
          </a:prstGeom>
          <a:noFill/>
          <a:ln/>
        </p:spPr>
        <p:txBody>
          <a:bodyPr wrap="square" lIns="25400" tIns="25400" rIns="25400" bIns="25400" rtlCol="0" anchor="t">
            <a:normAutofit fontScale="92500" lnSpcReduction="20000"/>
          </a:bodyPr>
          <a:lstStyle/>
          <a:p>
            <a:pPr marL="0" indent="0" algn="l">
              <a:lnSpc>
                <a:spcPct val="104007"/>
              </a:lnSpc>
              <a:buNone/>
            </a:pPr>
            <a:r>
              <a:rPr lang="en-US" sz="7800" b="1" kern="0" spc="-94" dirty="0">
                <a:solidFill>
                  <a:srgbClr val="2A2D38"/>
                </a:solidFill>
                <a:latin typeface="Montserrat" pitchFamily="34" charset="0"/>
                <a:ea typeface="Montserrat" pitchFamily="34" charset="-122"/>
                <a:cs typeface="Montserrat" pitchFamily="34" charset="-120"/>
              </a:rPr>
              <a:t>If you've done it twice, make a </a:t>
            </a:r>
            <a:r>
              <a:rPr lang="en-US" sz="7800" b="1" kern="0" spc="-94" dirty="0">
                <a:solidFill>
                  <a:srgbClr val="F58220"/>
                </a:solidFill>
                <a:latin typeface="Montserrat" pitchFamily="34" charset="0"/>
                <a:ea typeface="Montserrat" pitchFamily="34" charset="-122"/>
                <a:cs typeface="Montserrat" pitchFamily="34" charset="-120"/>
              </a:rPr>
              <a:t>command</a:t>
            </a:r>
            <a:endParaRPr lang="en-US" sz="7800" dirty="0"/>
          </a:p>
        </p:txBody>
      </p:sp>
      <p:sp>
        <p:nvSpPr>
          <p:cNvPr id="9" name="Shape 6"/>
          <p:cNvSpPr/>
          <p:nvPr/>
        </p:nvSpPr>
        <p:spPr>
          <a:xfrm>
            <a:off x="1143000" y="5952808"/>
            <a:ext cx="3829050" cy="2072640"/>
          </a:xfrm>
          <a:prstGeom prst="roundRect">
            <a:avLst>
              <a:gd name="adj" fmla="val 5515"/>
            </a:avLst>
          </a:prstGeom>
          <a:solidFill>
            <a:srgbClr val="FFFFFF"/>
          </a:solidFill>
          <a:ln w="7620">
            <a:solidFill>
              <a:srgbClr val="E5E5E7"/>
            </a:solidFill>
            <a:prstDash val="solid"/>
          </a:ln>
          <a:effectLst>
            <a:outerShdw blurRad="114300" dist="38100" dir="5400000" algn="bl" rotWithShape="0">
              <a:srgbClr val="2A2D38">
                <a:alpha val="8000"/>
              </a:srgbClr>
            </a:outerShdw>
          </a:effectLst>
        </p:spPr>
        <p:txBody>
          <a:bodyPr/>
          <a:lstStyle/>
          <a:p>
            <a:endParaRPr lang="en-US"/>
          </a:p>
        </p:txBody>
      </p:sp>
      <p:sp>
        <p:nvSpPr>
          <p:cNvPr id="10" name="Text 7"/>
          <p:cNvSpPr/>
          <p:nvPr/>
        </p:nvSpPr>
        <p:spPr>
          <a:xfrm>
            <a:off x="1531620" y="6303327"/>
            <a:ext cx="3143364" cy="632460"/>
          </a:xfrm>
          <a:prstGeom prst="rect">
            <a:avLst/>
          </a:prstGeom>
          <a:noFill/>
          <a:ln/>
        </p:spPr>
        <p:txBody>
          <a:bodyPr wrap="square" lIns="25400" tIns="25400" rIns="25400" bIns="25400" rtlCol="0" anchor="t">
            <a:normAutofit lnSpcReduction="10000"/>
          </a:bodyPr>
          <a:lstStyle/>
          <a:p>
            <a:pPr marL="0" indent="0" algn="l">
              <a:buNone/>
            </a:pPr>
            <a:r>
              <a:rPr lang="en-US" sz="1950" b="1" kern="0" spc="-10" dirty="0">
                <a:solidFill>
                  <a:srgbClr val="2A2D38"/>
                </a:solidFill>
                <a:latin typeface="Montserrat" pitchFamily="34" charset="0"/>
                <a:ea typeface="Montserrat" pitchFamily="34" charset="-122"/>
                <a:cs typeface="Montserrat" pitchFamily="34" charset="-120"/>
              </a:rPr>
              <a:t>Asked twice in two days?</a:t>
            </a:r>
            <a:endParaRPr lang="en-US" sz="1950" dirty="0"/>
          </a:p>
        </p:txBody>
      </p:sp>
      <p:sp>
        <p:nvSpPr>
          <p:cNvPr id="11" name="Text 8"/>
          <p:cNvSpPr/>
          <p:nvPr/>
        </p:nvSpPr>
        <p:spPr>
          <a:xfrm>
            <a:off x="1531620" y="7011988"/>
            <a:ext cx="3143364" cy="36957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b="1" dirty="0">
                <a:solidFill>
                  <a:srgbClr val="D86A0E"/>
                </a:solidFill>
                <a:latin typeface="Montserrat" pitchFamily="34" charset="0"/>
                <a:ea typeface="Montserrat" pitchFamily="34" charset="-122"/>
                <a:cs typeface="Montserrat" pitchFamily="34" charset="-120"/>
              </a:rPr>
              <a:t>→ command.</a:t>
            </a:r>
            <a:endParaRPr lang="en-US" sz="1800" dirty="0"/>
          </a:p>
        </p:txBody>
      </p:sp>
      <p:sp>
        <p:nvSpPr>
          <p:cNvPr id="12" name="Shape 9"/>
          <p:cNvSpPr/>
          <p:nvPr/>
        </p:nvSpPr>
        <p:spPr>
          <a:xfrm>
            <a:off x="5200650" y="5952808"/>
            <a:ext cx="3829050" cy="2072640"/>
          </a:xfrm>
          <a:prstGeom prst="roundRect">
            <a:avLst>
              <a:gd name="adj" fmla="val 5515"/>
            </a:avLst>
          </a:prstGeom>
          <a:solidFill>
            <a:srgbClr val="FFFFFF"/>
          </a:solidFill>
          <a:ln w="7620">
            <a:solidFill>
              <a:srgbClr val="E5E5E7"/>
            </a:solidFill>
            <a:prstDash val="solid"/>
          </a:ln>
          <a:effectLst>
            <a:outerShdw blurRad="114300" dist="38100" dir="5400000" algn="bl" rotWithShape="0">
              <a:srgbClr val="2A2D38">
                <a:alpha val="8000"/>
              </a:srgbClr>
            </a:outerShdw>
          </a:effectLst>
        </p:spPr>
        <p:txBody>
          <a:bodyPr/>
          <a:lstStyle/>
          <a:p>
            <a:endParaRPr lang="en-US"/>
          </a:p>
        </p:txBody>
      </p:sp>
      <p:sp>
        <p:nvSpPr>
          <p:cNvPr id="13" name="Text 10"/>
          <p:cNvSpPr/>
          <p:nvPr/>
        </p:nvSpPr>
        <p:spPr>
          <a:xfrm>
            <a:off x="5589270" y="6303327"/>
            <a:ext cx="3143364" cy="929640"/>
          </a:xfrm>
          <a:prstGeom prst="rect">
            <a:avLst/>
          </a:prstGeom>
          <a:noFill/>
          <a:ln/>
        </p:spPr>
        <p:txBody>
          <a:bodyPr wrap="square" lIns="25400" tIns="25400" rIns="25400" bIns="25400" rtlCol="0" anchor="t">
            <a:normAutofit/>
          </a:bodyPr>
          <a:lstStyle/>
          <a:p>
            <a:pPr marL="0" indent="0" algn="l">
              <a:buNone/>
            </a:pPr>
            <a:r>
              <a:rPr lang="en-US" sz="1950" b="1" kern="0" spc="-10" dirty="0">
                <a:solidFill>
                  <a:srgbClr val="2A2D38"/>
                </a:solidFill>
                <a:latin typeface="Montserrat" pitchFamily="34" charset="0"/>
                <a:ea typeface="Montserrat" pitchFamily="34" charset="-122"/>
                <a:cs typeface="Montserrat" pitchFamily="34" charset="-120"/>
              </a:rPr>
              <a:t>Need the output to look the same every time?</a:t>
            </a:r>
            <a:endParaRPr lang="en-US" sz="1950" dirty="0"/>
          </a:p>
        </p:txBody>
      </p:sp>
      <p:sp>
        <p:nvSpPr>
          <p:cNvPr id="14" name="Text 11"/>
          <p:cNvSpPr/>
          <p:nvPr/>
        </p:nvSpPr>
        <p:spPr>
          <a:xfrm>
            <a:off x="5589270" y="7309168"/>
            <a:ext cx="3143364" cy="36957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b="1" dirty="0">
                <a:solidFill>
                  <a:srgbClr val="D86A0E"/>
                </a:solidFill>
                <a:latin typeface="Montserrat" pitchFamily="34" charset="0"/>
                <a:ea typeface="Montserrat" pitchFamily="34" charset="-122"/>
                <a:cs typeface="Montserrat" pitchFamily="34" charset="-120"/>
              </a:rPr>
              <a:t>→ command.</a:t>
            </a:r>
            <a:endParaRPr lang="en-US" sz="1800" dirty="0"/>
          </a:p>
        </p:txBody>
      </p:sp>
      <p:sp>
        <p:nvSpPr>
          <p:cNvPr id="15" name="Shape 12"/>
          <p:cNvSpPr/>
          <p:nvPr/>
        </p:nvSpPr>
        <p:spPr>
          <a:xfrm>
            <a:off x="9258300" y="5952808"/>
            <a:ext cx="3829050" cy="2072640"/>
          </a:xfrm>
          <a:prstGeom prst="roundRect">
            <a:avLst>
              <a:gd name="adj" fmla="val 5515"/>
            </a:avLst>
          </a:prstGeom>
          <a:solidFill>
            <a:srgbClr val="FFFFFF"/>
          </a:solidFill>
          <a:ln w="7620">
            <a:solidFill>
              <a:srgbClr val="E5E5E7"/>
            </a:solidFill>
            <a:prstDash val="solid"/>
          </a:ln>
          <a:effectLst>
            <a:outerShdw blurRad="114300" dist="38100" dir="5400000" algn="bl" rotWithShape="0">
              <a:srgbClr val="2A2D38">
                <a:alpha val="8000"/>
              </a:srgbClr>
            </a:outerShdw>
          </a:effectLst>
        </p:spPr>
        <p:txBody>
          <a:bodyPr/>
          <a:lstStyle/>
          <a:p>
            <a:endParaRPr lang="en-US"/>
          </a:p>
        </p:txBody>
      </p:sp>
      <p:sp>
        <p:nvSpPr>
          <p:cNvPr id="16" name="Text 13"/>
          <p:cNvSpPr/>
          <p:nvPr/>
        </p:nvSpPr>
        <p:spPr>
          <a:xfrm>
            <a:off x="9646920" y="6303327"/>
            <a:ext cx="3143364" cy="632460"/>
          </a:xfrm>
          <a:prstGeom prst="rect">
            <a:avLst/>
          </a:prstGeom>
          <a:noFill/>
          <a:ln/>
        </p:spPr>
        <p:txBody>
          <a:bodyPr wrap="square" lIns="25400" tIns="25400" rIns="25400" bIns="25400" rtlCol="0" anchor="t">
            <a:normAutofit lnSpcReduction="10000"/>
          </a:bodyPr>
          <a:lstStyle/>
          <a:p>
            <a:pPr marL="0" indent="0" algn="l">
              <a:buNone/>
            </a:pPr>
            <a:r>
              <a:rPr lang="en-US" sz="1950" b="1" kern="0" spc="-10" dirty="0">
                <a:solidFill>
                  <a:srgbClr val="2A2D38"/>
                </a:solidFill>
                <a:latin typeface="Montserrat" pitchFamily="34" charset="0"/>
                <a:ea typeface="Montserrat" pitchFamily="34" charset="-122"/>
                <a:cs typeface="Montserrat" pitchFamily="34" charset="-120"/>
              </a:rPr>
              <a:t>Consistency &gt; creativity?</a:t>
            </a:r>
            <a:endParaRPr lang="en-US" sz="1950" dirty="0"/>
          </a:p>
        </p:txBody>
      </p:sp>
      <p:sp>
        <p:nvSpPr>
          <p:cNvPr id="17" name="Text 14"/>
          <p:cNvSpPr/>
          <p:nvPr/>
        </p:nvSpPr>
        <p:spPr>
          <a:xfrm>
            <a:off x="9646920" y="7011988"/>
            <a:ext cx="3143364" cy="36957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b="1" dirty="0">
                <a:solidFill>
                  <a:srgbClr val="D86A0E"/>
                </a:solidFill>
                <a:latin typeface="Montserrat" pitchFamily="34" charset="0"/>
                <a:ea typeface="Montserrat" pitchFamily="34" charset="-122"/>
                <a:cs typeface="Montserrat" pitchFamily="34" charset="-120"/>
              </a:rPr>
              <a:t>→ command.</a:t>
            </a:r>
            <a:endParaRPr lang="en-US" sz="1800" dirty="0"/>
          </a:p>
        </p:txBody>
      </p:sp>
      <p:sp>
        <p:nvSpPr>
          <p:cNvPr id="18" name="Shape 15"/>
          <p:cNvSpPr/>
          <p:nvPr/>
        </p:nvSpPr>
        <p:spPr>
          <a:xfrm>
            <a:off x="13315950" y="5952808"/>
            <a:ext cx="3829050" cy="2072640"/>
          </a:xfrm>
          <a:prstGeom prst="roundRect">
            <a:avLst>
              <a:gd name="adj" fmla="val 5515"/>
            </a:avLst>
          </a:prstGeom>
          <a:solidFill>
            <a:srgbClr val="2A2D38"/>
          </a:solidFill>
          <a:ln w="7620">
            <a:solidFill>
              <a:srgbClr val="2A2D38"/>
            </a:solidFill>
            <a:prstDash val="solid"/>
          </a:ln>
          <a:effectLst>
            <a:outerShdw blurRad="114300" dist="38100" dir="5400000" algn="bl" rotWithShape="0">
              <a:srgbClr val="2A2D38">
                <a:alpha val="8000"/>
              </a:srgbClr>
            </a:outerShdw>
          </a:effectLst>
        </p:spPr>
        <p:txBody>
          <a:bodyPr/>
          <a:lstStyle/>
          <a:p>
            <a:endParaRPr lang="en-US"/>
          </a:p>
        </p:txBody>
      </p:sp>
      <p:sp>
        <p:nvSpPr>
          <p:cNvPr id="19" name="Text 16"/>
          <p:cNvSpPr/>
          <p:nvPr/>
        </p:nvSpPr>
        <p:spPr>
          <a:xfrm>
            <a:off x="13704570" y="6303327"/>
            <a:ext cx="3143364" cy="632460"/>
          </a:xfrm>
          <a:prstGeom prst="rect">
            <a:avLst/>
          </a:prstGeom>
          <a:noFill/>
          <a:ln/>
        </p:spPr>
        <p:txBody>
          <a:bodyPr wrap="square" lIns="25400" tIns="25400" rIns="25400" bIns="25400" rtlCol="0" anchor="t">
            <a:normAutofit lnSpcReduction="10000"/>
          </a:bodyPr>
          <a:lstStyle/>
          <a:p>
            <a:pPr marL="0" indent="0" algn="l">
              <a:buNone/>
            </a:pPr>
            <a:r>
              <a:rPr lang="en-US" sz="1950" b="1" kern="0" spc="-10" dirty="0">
                <a:solidFill>
                  <a:srgbClr val="FFFFFF"/>
                </a:solidFill>
                <a:latin typeface="Montserrat" pitchFamily="34" charset="0"/>
                <a:ea typeface="Montserrat" pitchFamily="34" charset="-122"/>
                <a:cs typeface="Montserrat" pitchFamily="34" charset="-120"/>
              </a:rPr>
              <a:t>Same rule developers follow for code.</a:t>
            </a:r>
            <a:endParaRPr lang="en-US" sz="1950" dirty="0"/>
          </a:p>
        </p:txBody>
      </p:sp>
      <p:sp>
        <p:nvSpPr>
          <p:cNvPr id="20" name="Text 17"/>
          <p:cNvSpPr/>
          <p:nvPr/>
        </p:nvSpPr>
        <p:spPr>
          <a:xfrm>
            <a:off x="13704570" y="7011988"/>
            <a:ext cx="3143364" cy="70104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dirty="0">
                <a:solidFill>
                  <a:srgbClr val="FFFFFF">
                    <a:alpha val="75000"/>
                  </a:srgbClr>
                </a:solidFill>
                <a:latin typeface="Inter" pitchFamily="34" charset="0"/>
                <a:ea typeface="Inter" pitchFamily="34" charset="-122"/>
                <a:cs typeface="Inter" pitchFamily="34" charset="-120"/>
              </a:rPr>
              <a:t>If you do it twice, you write a function for it.</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143000" y="944880"/>
            <a:ext cx="3747380" cy="320040"/>
          </a:xfrm>
          <a:prstGeom prst="rect">
            <a:avLst/>
          </a:prstGeom>
          <a:noFill/>
          <a:ln/>
        </p:spPr>
        <p:txBody>
          <a:bodyPr wrap="square" lIns="25400" tIns="25400" rIns="25400" bIns="25400" rtlCol="0" anchor="t">
            <a:normAutofit fontScale="92500"/>
          </a:bodyPr>
          <a:lstStyle/>
          <a:p>
            <a:pPr marL="0" indent="0" algn="l">
              <a:buNone/>
            </a:pPr>
            <a:r>
              <a:rPr lang="en-US" sz="1800" b="1" kern="0" spc="252" dirty="0">
                <a:solidFill>
                  <a:srgbClr val="6B6E78"/>
                </a:solidFill>
                <a:latin typeface="Montserrat" pitchFamily="34" charset="0"/>
                <a:ea typeface="Montserrat" pitchFamily="34" charset="-122"/>
                <a:cs typeface="Montserrat" pitchFamily="34" charset="-120"/>
              </a:rPr>
              <a:t>CHAPTER 3 · SHORTCUTS</a:t>
            </a:r>
            <a:endParaRPr lang="en-US" sz="1800" dirty="0"/>
          </a:p>
        </p:txBody>
      </p:sp>
      <p:pic>
        <p:nvPicPr>
          <p:cNvPr id="3" name="Image 0" descr="preencoded.png"/>
          <p:cNvPicPr>
            <a:picLocks noChangeAspect="1"/>
          </p:cNvPicPr>
          <p:nvPr/>
        </p:nvPicPr>
        <p:blipFill>
          <a:blip r:embed="rId3"/>
          <a:stretch>
            <a:fillRect/>
          </a:stretch>
        </p:blipFill>
        <p:spPr>
          <a:xfrm>
            <a:off x="16799084" y="914400"/>
            <a:ext cx="345916" cy="342900"/>
          </a:xfrm>
          <a:prstGeom prst="rect">
            <a:avLst/>
          </a:prstGeom>
        </p:spPr>
      </p:pic>
      <p:sp>
        <p:nvSpPr>
          <p:cNvPr id="4" name="Text 1"/>
          <p:cNvSpPr/>
          <p:nvPr/>
        </p:nvSpPr>
        <p:spPr>
          <a:xfrm>
            <a:off x="1143000" y="2143362"/>
            <a:ext cx="16482060" cy="790893"/>
          </a:xfrm>
          <a:prstGeom prst="rect">
            <a:avLst/>
          </a:prstGeom>
          <a:noFill/>
          <a:ln/>
        </p:spPr>
        <p:txBody>
          <a:bodyPr wrap="square" lIns="25400" tIns="25400" rIns="25400" bIns="25400" rtlCol="0" anchor="t">
            <a:normAutofit fontScale="92500" lnSpcReduction="20000"/>
          </a:bodyPr>
          <a:lstStyle/>
          <a:p>
            <a:pPr marL="0" indent="0" algn="l">
              <a:lnSpc>
                <a:spcPct val="103991"/>
              </a:lnSpc>
              <a:buNone/>
            </a:pPr>
            <a:r>
              <a:rPr lang="en-US" sz="5700" b="1" kern="0" spc="-68" dirty="0">
                <a:solidFill>
                  <a:srgbClr val="2A2D38"/>
                </a:solidFill>
                <a:latin typeface="Montserrat" pitchFamily="34" charset="0"/>
                <a:ea typeface="Montserrat" pitchFamily="34" charset="-122"/>
                <a:cs typeface="Montserrat" pitchFamily="34" charset="-120"/>
              </a:rPr>
              <a:t>Real examples</a:t>
            </a:r>
            <a:endParaRPr lang="en-US" sz="5700" dirty="0"/>
          </a:p>
        </p:txBody>
      </p:sp>
      <p:sp>
        <p:nvSpPr>
          <p:cNvPr id="5" name="Text 2"/>
          <p:cNvSpPr/>
          <p:nvPr/>
        </p:nvSpPr>
        <p:spPr>
          <a:xfrm>
            <a:off x="1143000" y="3110627"/>
            <a:ext cx="13735050" cy="533400"/>
          </a:xfrm>
          <a:prstGeom prst="rect">
            <a:avLst/>
          </a:prstGeom>
          <a:noFill/>
          <a:ln/>
        </p:spPr>
        <p:txBody>
          <a:bodyPr wrap="square" lIns="25400" tIns="25400" rIns="25400" bIns="25400" rtlCol="0" anchor="t">
            <a:noAutofit/>
          </a:bodyPr>
          <a:lstStyle/>
          <a:p>
            <a:pPr marL="0" indent="0" algn="l">
              <a:lnSpc>
                <a:spcPct val="130000"/>
              </a:lnSpc>
              <a:buNone/>
            </a:pPr>
            <a:r>
              <a:rPr lang="en-US" sz="3000" dirty="0">
                <a:solidFill>
                  <a:srgbClr val="6B6E78"/>
                </a:solidFill>
                <a:ea typeface="Inter" pitchFamily="34" charset="-122"/>
                <a:cs typeface="Inter" pitchFamily="34" charset="-120"/>
              </a:rPr>
              <a:t>From my </a:t>
            </a:r>
            <a:r>
              <a:rPr lang="en-US" sz="3000" dirty="0">
                <a:solidFill>
                  <a:srgbClr val="D86A0E"/>
                </a:solidFill>
                <a:ea typeface="ui-monospace" pitchFamily="34" charset="-122"/>
                <a:cs typeface="ui-monospace" pitchFamily="34" charset="-120"/>
              </a:rPr>
              <a:t>~/.claude/commands/ </a:t>
            </a:r>
            <a:r>
              <a:rPr lang="en-US" sz="3000" dirty="0">
                <a:solidFill>
                  <a:srgbClr val="6B6E78"/>
                </a:solidFill>
                <a:ea typeface="Inter" pitchFamily="34" charset="-122"/>
                <a:cs typeface="Inter" pitchFamily="34" charset="-120"/>
              </a:rPr>
              <a:t>folder (or Chris’).</a:t>
            </a:r>
            <a:endParaRPr lang="en-US" sz="3000" dirty="0"/>
          </a:p>
        </p:txBody>
      </p:sp>
      <p:sp>
        <p:nvSpPr>
          <p:cNvPr id="6" name="Shape 3"/>
          <p:cNvSpPr/>
          <p:nvPr/>
        </p:nvSpPr>
        <p:spPr>
          <a:xfrm>
            <a:off x="9296400" y="5808342"/>
            <a:ext cx="7848600" cy="1417320"/>
          </a:xfrm>
          <a:prstGeom prst="roundRect">
            <a:avLst>
              <a:gd name="adj" fmla="val 8065"/>
            </a:avLst>
          </a:prstGeom>
          <a:solidFill>
            <a:srgbClr val="FFFFFF"/>
          </a:solidFill>
          <a:ln w="7620">
            <a:solidFill>
              <a:srgbClr val="E5E5E7"/>
            </a:solidFill>
            <a:prstDash val="solid"/>
          </a:ln>
          <a:effectLst>
            <a:outerShdw blurRad="114300" dist="38100" dir="5400000" algn="bl" rotWithShape="0">
              <a:srgbClr val="2A2D38">
                <a:alpha val="8000"/>
              </a:srgbClr>
            </a:outerShdw>
          </a:effectLst>
        </p:spPr>
        <p:txBody>
          <a:bodyPr/>
          <a:lstStyle/>
          <a:p>
            <a:endParaRPr lang="en-US"/>
          </a:p>
        </p:txBody>
      </p:sp>
      <p:sp>
        <p:nvSpPr>
          <p:cNvPr id="7" name="Text 4"/>
          <p:cNvSpPr/>
          <p:nvPr/>
        </p:nvSpPr>
        <p:spPr>
          <a:xfrm>
            <a:off x="9608820" y="6082662"/>
            <a:ext cx="1396365" cy="434340"/>
          </a:xfrm>
          <a:prstGeom prst="rect">
            <a:avLst/>
          </a:prstGeom>
          <a:noFill/>
          <a:ln/>
        </p:spPr>
        <p:txBody>
          <a:bodyPr wrap="square" lIns="25400" tIns="25400" rIns="25400" bIns="25400" rtlCol="0" anchor="t">
            <a:normAutofit fontScale="92500"/>
          </a:bodyPr>
          <a:lstStyle/>
          <a:p>
            <a:pPr marL="0" indent="0" algn="l">
              <a:buNone/>
            </a:pPr>
            <a:r>
              <a:rPr lang="en-US" sz="2700" b="1" dirty="0">
                <a:solidFill>
                  <a:srgbClr val="F58220"/>
                </a:solidFill>
                <a:latin typeface="ui-monospace" pitchFamily="34" charset="0"/>
                <a:ea typeface="ui-monospace" pitchFamily="34" charset="-122"/>
                <a:cs typeface="ui-monospace" pitchFamily="34" charset="-120"/>
              </a:rPr>
              <a:t>/</a:t>
            </a:r>
            <a:r>
              <a:rPr lang="en-US" sz="2700" b="1" dirty="0">
                <a:solidFill>
                  <a:srgbClr val="2A2D38"/>
                </a:solidFill>
                <a:latin typeface="ui-monospace" pitchFamily="34" charset="0"/>
                <a:ea typeface="ui-monospace" pitchFamily="34" charset="-122"/>
                <a:cs typeface="ui-monospace" pitchFamily="34" charset="-120"/>
              </a:rPr>
              <a:t>commit</a:t>
            </a:r>
            <a:endParaRPr lang="en-US" sz="2700" dirty="0"/>
          </a:p>
        </p:txBody>
      </p:sp>
      <p:pic>
        <p:nvPicPr>
          <p:cNvPr id="8" name="Image 1" descr="preencoded.png"/>
          <p:cNvPicPr>
            <a:picLocks noChangeAspect="1"/>
          </p:cNvPicPr>
          <p:nvPr/>
        </p:nvPicPr>
        <p:blipFill>
          <a:blip r:embed="rId4"/>
          <a:stretch>
            <a:fillRect/>
          </a:stretch>
        </p:blipFill>
        <p:spPr>
          <a:xfrm>
            <a:off x="16451580" y="6090282"/>
            <a:ext cx="381000" cy="381000"/>
          </a:xfrm>
          <a:prstGeom prst="rect">
            <a:avLst/>
          </a:prstGeom>
        </p:spPr>
      </p:pic>
      <p:sp>
        <p:nvSpPr>
          <p:cNvPr id="9" name="Text 5"/>
          <p:cNvSpPr/>
          <p:nvPr/>
        </p:nvSpPr>
        <p:spPr>
          <a:xfrm>
            <a:off x="9608820" y="6631302"/>
            <a:ext cx="7440473" cy="35814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6B6E78"/>
                </a:solidFill>
                <a:latin typeface="Inter" pitchFamily="34" charset="0"/>
                <a:ea typeface="Inter" pitchFamily="34" charset="-122"/>
                <a:cs typeface="Inter" pitchFamily="34" charset="-120"/>
              </a:rPr>
              <a:t>Summarize changes and commit with a clean message.</a:t>
            </a:r>
            <a:endParaRPr lang="en-US" sz="1800" dirty="0"/>
          </a:p>
        </p:txBody>
      </p:sp>
      <p:sp>
        <p:nvSpPr>
          <p:cNvPr id="10" name="Shape 6"/>
          <p:cNvSpPr/>
          <p:nvPr/>
        </p:nvSpPr>
        <p:spPr>
          <a:xfrm>
            <a:off x="1143000" y="4149762"/>
            <a:ext cx="7848600" cy="1417320"/>
          </a:xfrm>
          <a:prstGeom prst="roundRect">
            <a:avLst>
              <a:gd name="adj" fmla="val 8065"/>
            </a:avLst>
          </a:prstGeom>
          <a:solidFill>
            <a:srgbClr val="FFFFFF"/>
          </a:solidFill>
          <a:ln w="7620">
            <a:solidFill>
              <a:srgbClr val="E5E5E7"/>
            </a:solidFill>
            <a:prstDash val="solid"/>
          </a:ln>
          <a:effectLst>
            <a:outerShdw blurRad="114300" dist="38100" dir="5400000" algn="bl" rotWithShape="0">
              <a:srgbClr val="2A2D38">
                <a:alpha val="8000"/>
              </a:srgbClr>
            </a:outerShdw>
          </a:effectLst>
        </p:spPr>
        <p:txBody>
          <a:bodyPr/>
          <a:lstStyle/>
          <a:p>
            <a:endParaRPr lang="en-US"/>
          </a:p>
        </p:txBody>
      </p:sp>
      <p:sp>
        <p:nvSpPr>
          <p:cNvPr id="11" name="Text 7"/>
          <p:cNvSpPr/>
          <p:nvPr/>
        </p:nvSpPr>
        <p:spPr>
          <a:xfrm>
            <a:off x="1455420" y="4424082"/>
            <a:ext cx="2527935" cy="434340"/>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F58220"/>
                </a:solidFill>
                <a:latin typeface="ui-monospace" pitchFamily="34" charset="0"/>
                <a:ea typeface="ui-monospace" pitchFamily="34" charset="-122"/>
                <a:cs typeface="ui-monospace" pitchFamily="34" charset="-120"/>
              </a:rPr>
              <a:t>/</a:t>
            </a:r>
            <a:r>
              <a:rPr lang="en-US" sz="2700" b="1" dirty="0">
                <a:solidFill>
                  <a:srgbClr val="2A2D38"/>
                </a:solidFill>
                <a:latin typeface="ui-monospace" pitchFamily="34" charset="0"/>
                <a:ea typeface="ui-monospace" pitchFamily="34" charset="-122"/>
                <a:cs typeface="ui-monospace" pitchFamily="34" charset="-120"/>
              </a:rPr>
              <a:t>start-sprint</a:t>
            </a:r>
            <a:endParaRPr lang="en-US" sz="2700" dirty="0"/>
          </a:p>
        </p:txBody>
      </p:sp>
      <p:pic>
        <p:nvPicPr>
          <p:cNvPr id="12" name="Image 2" descr="preencoded.png"/>
          <p:cNvPicPr>
            <a:picLocks noChangeAspect="1"/>
          </p:cNvPicPr>
          <p:nvPr/>
        </p:nvPicPr>
        <p:blipFill>
          <a:blip r:embed="rId5"/>
          <a:stretch>
            <a:fillRect/>
          </a:stretch>
        </p:blipFill>
        <p:spPr>
          <a:xfrm>
            <a:off x="8298180" y="4431702"/>
            <a:ext cx="381000" cy="381000"/>
          </a:xfrm>
          <a:prstGeom prst="rect">
            <a:avLst/>
          </a:prstGeom>
        </p:spPr>
      </p:pic>
      <p:sp>
        <p:nvSpPr>
          <p:cNvPr id="13" name="Text 8"/>
          <p:cNvSpPr/>
          <p:nvPr/>
        </p:nvSpPr>
        <p:spPr>
          <a:xfrm>
            <a:off x="1455420" y="4972722"/>
            <a:ext cx="7440473" cy="35814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6B6E78"/>
                </a:solidFill>
                <a:latin typeface="Inter" pitchFamily="34" charset="0"/>
                <a:ea typeface="Inter" pitchFamily="34" charset="-122"/>
                <a:cs typeface="Inter" pitchFamily="34" charset="-120"/>
              </a:rPr>
              <a:t>Create the sprint branch with the right naming convention.</a:t>
            </a:r>
            <a:endParaRPr lang="en-US" sz="1800" dirty="0"/>
          </a:p>
        </p:txBody>
      </p:sp>
      <p:sp>
        <p:nvSpPr>
          <p:cNvPr id="100" name="Shape Review"/>
          <p:cNvSpPr/>
          <p:nvPr/>
        </p:nvSpPr>
        <p:spPr>
          <a:xfrm>
            <a:off x="1143000" y="5808342"/>
            <a:ext cx="7848600" cy="1417320"/>
          </a:xfrm>
          <a:prstGeom prst="roundRect">
            <a:avLst>
              <a:gd name="adj" fmla="val 8065"/>
            </a:avLst>
          </a:prstGeom>
          <a:solidFill>
            <a:srgbClr val="FFFFFF"/>
          </a:solidFill>
          <a:ln w="7620">
            <a:solidFill>
              <a:srgbClr val="E5E5E7"/>
            </a:solidFill>
            <a:prstDash val="solid"/>
          </a:ln>
          <a:effectLst>
            <a:outerShdw blurRad="114300" dist="38100" dir="5400000" algn="bl" rotWithShape="0">
              <a:srgbClr val="2A2D38">
                <a:alpha val="8000"/>
              </a:srgbClr>
            </a:outerShdw>
          </a:effectLst>
        </p:spPr>
        <p:txBody>
          <a:bodyPr/>
          <a:lstStyle/>
          <a:p>
            <a:endParaRPr lang="en-US"/>
          </a:p>
        </p:txBody>
      </p:sp>
      <p:sp>
        <p:nvSpPr>
          <p:cNvPr id="101" name="Text Review Label"/>
          <p:cNvSpPr/>
          <p:nvPr/>
        </p:nvSpPr>
        <p:spPr>
          <a:xfrm>
            <a:off x="1455420" y="6082662"/>
            <a:ext cx="1396365" cy="434340"/>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F58220"/>
                </a:solidFill>
                <a:latin typeface="ui-monospace" pitchFamily="34" charset="0"/>
                <a:ea typeface="ui-monospace" pitchFamily="34" charset="-122"/>
                <a:cs typeface="ui-monospace" pitchFamily="34" charset="-120"/>
              </a:rPr>
              <a:t>/</a:t>
            </a:r>
            <a:r>
              <a:rPr lang="en-US" sz="2700" b="1" dirty="0">
                <a:solidFill>
                  <a:srgbClr val="2A2D38"/>
                </a:solidFill>
                <a:latin typeface="ui-monospace" pitchFamily="34" charset="0"/>
                <a:ea typeface="ui-monospace" pitchFamily="34" charset="-122"/>
                <a:cs typeface="ui-monospace" pitchFamily="34" charset="-120"/>
              </a:rPr>
              <a:t>review</a:t>
            </a:r>
            <a:endParaRPr lang="en-US" sz="2700" dirty="0"/>
          </a:p>
        </p:txBody>
      </p:sp>
      <p:pic>
        <p:nvPicPr>
          <p:cNvPr id="102" name="Image Review"/>
          <p:cNvPicPr>
            <a:picLocks noChangeAspect="1"/>
          </p:cNvPicPr>
          <p:nvPr/>
        </p:nvPicPr>
        <p:blipFill>
          <a:blip r:embed="rId4"/>
          <a:stretch>
            <a:fillRect/>
          </a:stretch>
        </p:blipFill>
        <p:spPr>
          <a:xfrm>
            <a:off x="8298180" y="6090282"/>
            <a:ext cx="381000" cy="381000"/>
          </a:xfrm>
          <a:prstGeom prst="rect">
            <a:avLst/>
          </a:prstGeom>
        </p:spPr>
      </p:pic>
      <p:sp>
        <p:nvSpPr>
          <p:cNvPr id="103" name="Text Review Desc"/>
          <p:cNvSpPr/>
          <p:nvPr/>
        </p:nvSpPr>
        <p:spPr>
          <a:xfrm>
            <a:off x="1455420" y="6631302"/>
            <a:ext cx="7440473" cy="35814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6B6E78"/>
                </a:solidFill>
                <a:latin typeface="Inter" pitchFamily="34" charset="0"/>
                <a:ea typeface="Inter" pitchFamily="34" charset="-122"/>
                <a:cs typeface="Inter" pitchFamily="34" charset="-120"/>
              </a:rPr>
              <a:t>Rewrite CLAUDE.md and reference docs from a fresh scan.</a:t>
            </a:r>
            <a:endParaRPr lang="en-US" sz="1800" dirty="0"/>
          </a:p>
        </p:txBody>
      </p:sp>
      <p:sp>
        <p:nvSpPr>
          <p:cNvPr id="104" name="Shape Issue"/>
          <p:cNvSpPr/>
          <p:nvPr/>
        </p:nvSpPr>
        <p:spPr>
          <a:xfrm>
            <a:off x="9304020" y="4147883"/>
            <a:ext cx="7848600" cy="1417320"/>
          </a:xfrm>
          <a:prstGeom prst="roundRect">
            <a:avLst>
              <a:gd name="adj" fmla="val 8065"/>
            </a:avLst>
          </a:prstGeom>
          <a:solidFill>
            <a:srgbClr val="FFFFFF"/>
          </a:solidFill>
          <a:ln w="7620">
            <a:solidFill>
              <a:srgbClr val="E5E5E7"/>
            </a:solidFill>
            <a:prstDash val="solid"/>
          </a:ln>
          <a:effectLst>
            <a:outerShdw blurRad="114300" dist="38100" dir="5400000" algn="bl" rotWithShape="0">
              <a:srgbClr val="2A2D38">
                <a:alpha val="8000"/>
              </a:srgbClr>
            </a:outerShdw>
          </a:effectLst>
        </p:spPr>
        <p:txBody>
          <a:bodyPr/>
          <a:lstStyle/>
          <a:p>
            <a:endParaRPr lang="en-US"/>
          </a:p>
        </p:txBody>
      </p:sp>
      <p:sp>
        <p:nvSpPr>
          <p:cNvPr id="105" name="Text Issue Label"/>
          <p:cNvSpPr/>
          <p:nvPr/>
        </p:nvSpPr>
        <p:spPr>
          <a:xfrm>
            <a:off x="9616440" y="4422203"/>
            <a:ext cx="1396365" cy="434340"/>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F58220"/>
                </a:solidFill>
                <a:latin typeface="ui-monospace" pitchFamily="34" charset="0"/>
                <a:ea typeface="ui-monospace" pitchFamily="34" charset="-122"/>
                <a:cs typeface="ui-monospace" pitchFamily="34" charset="-120"/>
              </a:rPr>
              <a:t>/</a:t>
            </a:r>
            <a:r>
              <a:rPr lang="en-US" sz="2700" b="1" dirty="0">
                <a:solidFill>
                  <a:srgbClr val="2A2D38"/>
                </a:solidFill>
                <a:latin typeface="ui-monospace" pitchFamily="34" charset="0"/>
                <a:ea typeface="ui-monospace" pitchFamily="34" charset="-122"/>
                <a:cs typeface="ui-monospace" pitchFamily="34" charset="-120"/>
              </a:rPr>
              <a:t>issue</a:t>
            </a:r>
            <a:endParaRPr lang="en-US" sz="2700" dirty="0"/>
          </a:p>
        </p:txBody>
      </p:sp>
      <p:pic>
        <p:nvPicPr>
          <p:cNvPr id="106" name="Image Issue"/>
          <p:cNvPicPr>
            <a:picLocks noChangeAspect="1"/>
          </p:cNvPicPr>
          <p:nvPr/>
        </p:nvPicPr>
        <p:blipFill>
          <a:blip r:embed="rId5"/>
          <a:stretch>
            <a:fillRect/>
          </a:stretch>
        </p:blipFill>
        <p:spPr>
          <a:xfrm>
            <a:off x="16459200" y="4429823"/>
            <a:ext cx="381000" cy="381000"/>
          </a:xfrm>
          <a:prstGeom prst="rect">
            <a:avLst/>
          </a:prstGeom>
        </p:spPr>
      </p:pic>
      <p:sp>
        <p:nvSpPr>
          <p:cNvPr id="107" name="Text Issue Desc"/>
          <p:cNvSpPr/>
          <p:nvPr/>
        </p:nvSpPr>
        <p:spPr>
          <a:xfrm>
            <a:off x="9616440" y="4970843"/>
            <a:ext cx="7440473" cy="35814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6B6E78"/>
                </a:solidFill>
                <a:latin typeface="Inter" pitchFamily="34" charset="0"/>
                <a:ea typeface="Inter" pitchFamily="34" charset="-122"/>
                <a:cs typeface="Inter" pitchFamily="34" charset="-120"/>
              </a:rPr>
              <a:t>From issue number to pushed branch — solo or many in parallel.</a:t>
            </a:r>
            <a:endParaRPr lang="en-US" sz="1800" dirty="0"/>
          </a:p>
        </p:txBody>
      </p:sp>
      <p:sp>
        <p:nvSpPr>
          <p:cNvPr id="14" name="Shape 9"/>
          <p:cNvSpPr/>
          <p:nvPr/>
        </p:nvSpPr>
        <p:spPr>
          <a:xfrm>
            <a:off x="1143000" y="7492362"/>
            <a:ext cx="7848600" cy="1417320"/>
          </a:xfrm>
          <a:prstGeom prst="roundRect">
            <a:avLst>
              <a:gd name="adj" fmla="val 8065"/>
            </a:avLst>
          </a:prstGeom>
          <a:solidFill>
            <a:srgbClr val="FFFFFF"/>
          </a:solidFill>
          <a:ln w="7620">
            <a:solidFill>
              <a:srgbClr val="E5E5E7"/>
            </a:solidFill>
            <a:prstDash val="solid"/>
          </a:ln>
          <a:effectLst>
            <a:outerShdw blurRad="114300" dist="38100" dir="5400000" algn="bl" rotWithShape="0">
              <a:srgbClr val="2A2D38">
                <a:alpha val="8000"/>
              </a:srgbClr>
            </a:outerShdw>
          </a:effectLst>
        </p:spPr>
        <p:txBody>
          <a:bodyPr/>
          <a:lstStyle/>
          <a:p>
            <a:endParaRPr lang="en-US"/>
          </a:p>
        </p:txBody>
      </p:sp>
      <p:sp>
        <p:nvSpPr>
          <p:cNvPr id="15" name="Text 10"/>
          <p:cNvSpPr/>
          <p:nvPr/>
        </p:nvSpPr>
        <p:spPr>
          <a:xfrm>
            <a:off x="1455420" y="7766682"/>
            <a:ext cx="1584960" cy="434340"/>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F58220"/>
                </a:solidFill>
                <a:latin typeface="ui-monospace" pitchFamily="34" charset="0"/>
                <a:ea typeface="ui-monospace" pitchFamily="34" charset="-122"/>
                <a:cs typeface="ui-monospace" pitchFamily="34" charset="-120"/>
              </a:rPr>
              <a:t>/</a:t>
            </a:r>
            <a:r>
              <a:rPr lang="en-US" sz="2700" b="1" dirty="0">
                <a:solidFill>
                  <a:srgbClr val="2A2D38"/>
                </a:solidFill>
                <a:latin typeface="ui-monospace" pitchFamily="34" charset="0"/>
                <a:ea typeface="ui-monospace" pitchFamily="34" charset="-122"/>
                <a:cs typeface="ui-monospace" pitchFamily="34" charset="-120"/>
              </a:rPr>
              <a:t>release</a:t>
            </a:r>
            <a:endParaRPr lang="en-US" sz="2700" dirty="0"/>
          </a:p>
        </p:txBody>
      </p:sp>
      <p:pic>
        <p:nvPicPr>
          <p:cNvPr id="16" name="Image 3" descr="preencoded.png"/>
          <p:cNvPicPr>
            <a:picLocks noChangeAspect="1"/>
          </p:cNvPicPr>
          <p:nvPr/>
        </p:nvPicPr>
        <p:blipFill>
          <a:blip r:embed="rId6"/>
          <a:stretch>
            <a:fillRect/>
          </a:stretch>
        </p:blipFill>
        <p:spPr>
          <a:xfrm>
            <a:off x="8298180" y="7774302"/>
            <a:ext cx="381000" cy="381000"/>
          </a:xfrm>
          <a:prstGeom prst="rect">
            <a:avLst/>
          </a:prstGeom>
        </p:spPr>
      </p:pic>
      <p:sp>
        <p:nvSpPr>
          <p:cNvPr id="17" name="Text 11"/>
          <p:cNvSpPr/>
          <p:nvPr/>
        </p:nvSpPr>
        <p:spPr>
          <a:xfrm>
            <a:off x="1455420" y="8315322"/>
            <a:ext cx="7440473" cy="35814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6B6E78"/>
                </a:solidFill>
                <a:latin typeface="Inter" pitchFamily="34" charset="0"/>
                <a:ea typeface="Inter" pitchFamily="34" charset="-122"/>
                <a:cs typeface="Inter" pitchFamily="34" charset="-120"/>
              </a:rPr>
              <a:t>Run the release checklist end to end.</a:t>
            </a:r>
            <a:endParaRPr lang="en-US" sz="1800" dirty="0"/>
          </a:p>
        </p:txBody>
      </p:sp>
      <p:sp>
        <p:nvSpPr>
          <p:cNvPr id="18" name="Shape 12"/>
          <p:cNvSpPr/>
          <p:nvPr/>
        </p:nvSpPr>
        <p:spPr>
          <a:xfrm>
            <a:off x="9296400" y="7492362"/>
            <a:ext cx="7848600" cy="1417320"/>
          </a:xfrm>
          <a:prstGeom prst="roundRect">
            <a:avLst>
              <a:gd name="adj" fmla="val 8065"/>
            </a:avLst>
          </a:prstGeom>
          <a:solidFill>
            <a:srgbClr val="2A2D38"/>
          </a:solidFill>
          <a:ln w="7620">
            <a:solidFill>
              <a:srgbClr val="2A2D38"/>
            </a:solidFill>
            <a:prstDash val="solid"/>
          </a:ln>
          <a:effectLst>
            <a:outerShdw blurRad="114300" dist="38100" dir="5400000" algn="bl" rotWithShape="0">
              <a:srgbClr val="2A2D38">
                <a:alpha val="8000"/>
              </a:srgbClr>
            </a:outerShdw>
          </a:effectLst>
        </p:spPr>
        <p:txBody>
          <a:bodyPr/>
          <a:lstStyle/>
          <a:p>
            <a:endParaRPr lang="en-US"/>
          </a:p>
        </p:txBody>
      </p:sp>
      <p:sp>
        <p:nvSpPr>
          <p:cNvPr id="19" name="Text 13"/>
          <p:cNvSpPr/>
          <p:nvPr/>
        </p:nvSpPr>
        <p:spPr>
          <a:xfrm>
            <a:off x="9608820" y="7766682"/>
            <a:ext cx="3690804" cy="434340"/>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F58220"/>
                </a:solidFill>
                <a:latin typeface="ui-monospace" pitchFamily="34" charset="0"/>
                <a:ea typeface="ui-monospace" pitchFamily="34" charset="-122"/>
                <a:cs typeface="ui-monospace" pitchFamily="34" charset="-120"/>
              </a:rPr>
              <a:t>/</a:t>
            </a:r>
            <a:r>
              <a:rPr lang="en-US" sz="2700" b="1" dirty="0">
                <a:solidFill>
                  <a:srgbClr val="FFFFFF"/>
                </a:solidFill>
                <a:latin typeface="ui-monospace" pitchFamily="34" charset="0"/>
                <a:ea typeface="ui-monospace" pitchFamily="34" charset="-122"/>
                <a:cs typeface="ui-monospace" pitchFamily="34" charset="-120"/>
              </a:rPr>
              <a:t>release-the-hounds</a:t>
            </a:r>
            <a:endParaRPr lang="en-US" sz="2700" dirty="0"/>
          </a:p>
        </p:txBody>
      </p:sp>
      <p:pic>
        <p:nvPicPr>
          <p:cNvPr id="20" name="Image 4" descr="preencoded.png"/>
          <p:cNvPicPr>
            <a:picLocks noChangeAspect="1"/>
          </p:cNvPicPr>
          <p:nvPr/>
        </p:nvPicPr>
        <p:blipFill>
          <a:blip r:embed="rId7"/>
          <a:stretch>
            <a:fillRect/>
          </a:stretch>
        </p:blipFill>
        <p:spPr>
          <a:xfrm>
            <a:off x="16451580" y="7774302"/>
            <a:ext cx="381000" cy="381000"/>
          </a:xfrm>
          <a:prstGeom prst="rect">
            <a:avLst/>
          </a:prstGeom>
        </p:spPr>
      </p:pic>
      <p:sp>
        <p:nvSpPr>
          <p:cNvPr id="21" name="Text 14"/>
          <p:cNvSpPr/>
          <p:nvPr/>
        </p:nvSpPr>
        <p:spPr>
          <a:xfrm>
            <a:off x="9608820" y="8315322"/>
            <a:ext cx="7440473" cy="35814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FFFFFF">
                    <a:alpha val="75000"/>
                  </a:srgbClr>
                </a:solidFill>
                <a:latin typeface="Inter" pitchFamily="34" charset="0"/>
                <a:ea typeface="Inter" pitchFamily="34" charset="-122"/>
                <a:cs typeface="Inter" pitchFamily="34" charset="-120"/>
              </a:rPr>
              <a:t>Fully autonomous: triage issues → implement → PR → ship.</a:t>
            </a:r>
            <a:endParaRPr lang="en-US" sz="1800" dirty="0"/>
          </a:p>
        </p:txBody>
      </p:sp>
      <p:sp>
        <p:nvSpPr>
          <p:cNvPr id="22" name="Text 15"/>
          <p:cNvSpPr/>
          <p:nvPr/>
        </p:nvSpPr>
        <p:spPr>
          <a:xfrm>
            <a:off x="902970" y="9650000"/>
            <a:ext cx="16482060" cy="297180"/>
          </a:xfrm>
          <a:prstGeom prst="rect">
            <a:avLst/>
          </a:prstGeom>
          <a:noFill/>
          <a:ln/>
        </p:spPr>
        <p:txBody>
          <a:bodyPr wrap="square" lIns="25400" tIns="25400" rIns="25400" bIns="25400" rtlCol="0" anchor="t">
            <a:normAutofit lnSpcReduction="10000"/>
          </a:bodyPr>
          <a:lstStyle/>
          <a:p>
            <a:pPr marL="0" indent="0" algn="ctr">
              <a:buNone/>
            </a:pPr>
            <a:r>
              <a:rPr lang="en-US" sz="1650" b="1" kern="0" spc="264" dirty="0">
                <a:solidFill>
                  <a:srgbClr val="6B6E78"/>
                </a:solidFill>
                <a:latin typeface="Montserrat" pitchFamily="34" charset="0"/>
                <a:ea typeface="Montserrat" pitchFamily="34" charset="-122"/>
                <a:cs typeface="Montserrat" pitchFamily="34" charset="-120"/>
              </a:rPr>
              <a:t>ALL SAVED FILES · ALL SHAREABLE · ALL REPLAYABLE</a:t>
            </a:r>
            <a:endParaRPr lang="en-US" sz="1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99" name="DarkBg"/>
          <p:cNvSpPr/>
          <p:nvPr/>
        </p:nvSpPr>
        <p:spPr>
          <a:xfrm>
            <a:off x="0" y="0"/>
            <a:ext cx="18288000" cy="10287000"/>
          </a:xfrm>
          <a:prstGeom prst="rect">
            <a:avLst/>
          </a:prstGeom>
          <a:solidFill>
            <a:srgbClr val="1B1D24"/>
          </a:solidFill>
          <a:ln/>
        </p:spPr>
        <p:txBody>
          <a:bodyPr/>
          <a:lstStyle/>
          <a:p>
            <a:endParaRPr lang="en-US"/>
          </a:p>
        </p:txBody>
      </p:sp>
      <p:sp>
        <p:nvSpPr>
          <p:cNvPr id="2" name="Text 0"/>
          <p:cNvSpPr/>
          <p:nvPr/>
        </p:nvSpPr>
        <p:spPr>
          <a:xfrm>
            <a:off x="1143000" y="944880"/>
            <a:ext cx="3747380" cy="320040"/>
          </a:xfrm>
          <a:prstGeom prst="rect">
            <a:avLst/>
          </a:prstGeom>
          <a:noFill/>
          <a:ln/>
        </p:spPr>
        <p:txBody>
          <a:bodyPr wrap="square" lIns="25400" tIns="25400" rIns="25400" bIns="25400" rtlCol="0" anchor="t">
            <a:normAutofit fontScale="92500"/>
          </a:bodyPr>
          <a:lstStyle/>
          <a:p>
            <a:pPr marL="0" indent="0" algn="l">
              <a:buNone/>
            </a:pPr>
            <a:r>
              <a:rPr lang="en-US" sz="1800" b="1" kern="0" spc="252" dirty="0">
                <a:solidFill>
                  <a:srgbClr val="FFFFFF">
                    <a:alpha val="55000"/>
                  </a:srgbClr>
                </a:solidFill>
                <a:latin typeface="Montserrat" pitchFamily="34" charset="0"/>
                <a:ea typeface="Montserrat" pitchFamily="34" charset="-122"/>
                <a:cs typeface="Montserrat" pitchFamily="34" charset="-120"/>
              </a:rPr>
              <a:t>CHAPTER 3 · SHORTCUTS</a:t>
            </a:r>
            <a:endParaRPr lang="en-US" sz="1800" dirty="0"/>
          </a:p>
        </p:txBody>
      </p:sp>
      <p:pic>
        <p:nvPicPr>
          <p:cNvPr id="3" name="Image 0" descr="preencoded.png"/>
          <p:cNvPicPr>
            <a:picLocks noChangeAspect="1"/>
          </p:cNvPicPr>
          <p:nvPr/>
        </p:nvPicPr>
        <p:blipFill>
          <a:blip r:embed="rId2"/>
          <a:stretch>
            <a:fillRect/>
          </a:stretch>
        </p:blipFill>
        <p:spPr>
          <a:xfrm>
            <a:off x="16799084" y="914400"/>
            <a:ext cx="345916" cy="342900"/>
          </a:xfrm>
          <a:prstGeom prst="rect">
            <a:avLst/>
          </a:prstGeom>
        </p:spPr>
      </p:pic>
      <p:sp>
        <p:nvSpPr>
          <p:cNvPr id="4" name="Text 1"/>
          <p:cNvSpPr/>
          <p:nvPr/>
        </p:nvSpPr>
        <p:spPr>
          <a:xfrm>
            <a:off x="1219200" y="2345600"/>
            <a:ext cx="8338647" cy="1543685"/>
          </a:xfrm>
          <a:prstGeom prst="rect">
            <a:avLst/>
          </a:prstGeom>
          <a:noFill/>
          <a:ln/>
        </p:spPr>
        <p:txBody>
          <a:bodyPr wrap="square" lIns="25400" tIns="25400" rIns="25400" bIns="25400" rtlCol="0" anchor="t">
            <a:normAutofit fontScale="92500" lnSpcReduction="20000"/>
          </a:bodyPr>
          <a:lstStyle/>
          <a:p>
            <a:pPr marL="0" indent="0" algn="l">
              <a:lnSpc>
                <a:spcPct val="103991"/>
              </a:lnSpc>
              <a:buNone/>
            </a:pPr>
            <a:r>
              <a:rPr lang="en-US" sz="5700" b="1" kern="0" spc="-68" dirty="0">
                <a:solidFill>
                  <a:srgbClr val="FFFFFF"/>
                </a:solidFill>
                <a:latin typeface="Montserrat" pitchFamily="34" charset="0"/>
                <a:ea typeface="Montserrat" pitchFamily="34" charset="-122"/>
                <a:cs typeface="Montserrat" pitchFamily="34" charset="-120"/>
              </a:rPr>
              <a:t>Closer look: </a:t>
            </a:r>
            <a:r>
              <a:rPr lang="en-US" sz="5700" b="1" kern="0" spc="-68" dirty="0">
                <a:solidFill>
                  <a:srgbClr val="F58220"/>
                </a:solidFill>
                <a:latin typeface="Montserrat" pitchFamily="34" charset="0"/>
                <a:ea typeface="Montserrat" pitchFamily="34" charset="-122"/>
                <a:cs typeface="Montserrat" pitchFamily="34" charset="-120"/>
              </a:rPr>
              <a:t>/review</a:t>
            </a:r>
            <a:endParaRPr lang="en-US" sz="5700" dirty="0"/>
          </a:p>
        </p:txBody>
      </p:sp>
      <p:sp>
        <p:nvSpPr>
          <p:cNvPr id="5" name="Shape 2"/>
          <p:cNvSpPr/>
          <p:nvPr/>
        </p:nvSpPr>
        <p:spPr>
          <a:xfrm>
            <a:off x="1143000" y="4540927"/>
            <a:ext cx="190500" cy="190500"/>
          </a:xfrm>
          <a:prstGeom prst="roundRect">
            <a:avLst>
              <a:gd name="adj" fmla="val 15000"/>
            </a:avLst>
          </a:prstGeom>
          <a:solidFill>
            <a:srgbClr val="F58220"/>
          </a:solidFill>
          <a:ln/>
        </p:spPr>
        <p:txBody>
          <a:bodyPr/>
          <a:lstStyle/>
          <a:p>
            <a:endParaRPr lang="en-US"/>
          </a:p>
        </p:txBody>
      </p:sp>
      <p:sp>
        <p:nvSpPr>
          <p:cNvPr id="6" name="Text 3"/>
          <p:cNvSpPr/>
          <p:nvPr/>
        </p:nvSpPr>
        <p:spPr>
          <a:xfrm>
            <a:off x="1562100" y="4327568"/>
            <a:ext cx="7906974" cy="891540"/>
          </a:xfrm>
          <a:prstGeom prst="rect">
            <a:avLst/>
          </a:prstGeom>
          <a:noFill/>
          <a:ln/>
        </p:spPr>
        <p:txBody>
          <a:bodyPr wrap="square" lIns="25400" tIns="25400" rIns="25400" bIns="25400" rtlCol="0" anchor="t">
            <a:noAutofit/>
          </a:bodyPr>
          <a:lstStyle/>
          <a:p>
            <a:pPr marL="0" indent="0" algn="l">
              <a:lnSpc>
                <a:spcPct val="140000"/>
              </a:lnSpc>
              <a:buNone/>
            </a:pPr>
            <a:r>
              <a:rPr lang="en-US" sz="2400" dirty="0">
                <a:solidFill>
                  <a:srgbClr val="FFFFFF"/>
                </a:solidFill>
                <a:ea typeface="Inter"/>
                <a:cs typeface="Inter" pitchFamily="34" charset="-120"/>
              </a:rPr>
              <a:t>Type </a:t>
            </a:r>
            <a:r>
              <a:rPr lang="en-US" sz="2400" dirty="0">
                <a:solidFill>
                  <a:srgbClr val="D86A0E"/>
                </a:solidFill>
                <a:ea typeface="ui-monospace"/>
                <a:cs typeface="ui-monospace" pitchFamily="34" charset="-120"/>
              </a:rPr>
              <a:t>/review</a:t>
            </a:r>
            <a:r>
              <a:rPr lang="en-US" sz="2400" dirty="0">
                <a:solidFill>
                  <a:srgbClr val="FFFFFF"/>
                </a:solidFill>
                <a:ea typeface="Inter" pitchFamily="34" charset="-122"/>
                <a:cs typeface="Inter" pitchFamily="34" charset="-120"/>
              </a:rPr>
              <a:t> — Claude regenerates its understanding of the whole project.</a:t>
            </a:r>
            <a:endParaRPr lang="en-US" sz="2400" dirty="0"/>
          </a:p>
        </p:txBody>
      </p:sp>
      <p:sp>
        <p:nvSpPr>
          <p:cNvPr id="7" name="Shape 4"/>
          <p:cNvSpPr/>
          <p:nvPr/>
        </p:nvSpPr>
        <p:spPr>
          <a:xfrm>
            <a:off x="1143000" y="5614353"/>
            <a:ext cx="190500" cy="190500"/>
          </a:xfrm>
          <a:prstGeom prst="roundRect">
            <a:avLst>
              <a:gd name="adj" fmla="val 15000"/>
            </a:avLst>
          </a:prstGeom>
          <a:solidFill>
            <a:srgbClr val="F58220"/>
          </a:solidFill>
          <a:ln/>
        </p:spPr>
        <p:txBody>
          <a:bodyPr/>
          <a:lstStyle/>
          <a:p>
            <a:endParaRPr lang="en-US"/>
          </a:p>
        </p:txBody>
      </p:sp>
      <p:sp>
        <p:nvSpPr>
          <p:cNvPr id="8" name="Text 5"/>
          <p:cNvSpPr/>
          <p:nvPr/>
        </p:nvSpPr>
        <p:spPr>
          <a:xfrm>
            <a:off x="1562100" y="5400992"/>
            <a:ext cx="7906974" cy="891540"/>
          </a:xfrm>
          <a:prstGeom prst="rect">
            <a:avLst/>
          </a:prstGeom>
          <a:noFill/>
          <a:ln/>
        </p:spPr>
        <p:txBody>
          <a:bodyPr wrap="square" lIns="25400" tIns="25400" rIns="25400" bIns="25400" rtlCol="0" anchor="t">
            <a:noAutofit/>
          </a:bodyPr>
          <a:lstStyle/>
          <a:p>
            <a:pPr marL="0" indent="0" algn="l">
              <a:lnSpc>
                <a:spcPct val="130000"/>
              </a:lnSpc>
              <a:buNone/>
            </a:pPr>
            <a:r>
              <a:rPr lang="en-US" sz="2400" dirty="0">
                <a:solidFill>
                  <a:srgbClr val="FFFFFF"/>
                </a:solidFill>
                <a:ea typeface="Inter"/>
                <a:cs typeface="Inter" pitchFamily="34" charset="-120"/>
              </a:rPr>
              <a:t>~10 explorer agents fan out — one per area, all running in parallel.</a:t>
            </a:r>
            <a:endParaRPr lang="en-US" sz="2400" dirty="0"/>
          </a:p>
        </p:txBody>
      </p:sp>
      <p:sp>
        <p:nvSpPr>
          <p:cNvPr id="9" name="Shape 6"/>
          <p:cNvSpPr/>
          <p:nvPr/>
        </p:nvSpPr>
        <p:spPr>
          <a:xfrm>
            <a:off x="1123950" y="6685688"/>
            <a:ext cx="190500" cy="190500"/>
          </a:xfrm>
          <a:prstGeom prst="roundRect">
            <a:avLst>
              <a:gd name="adj" fmla="val 15000"/>
            </a:avLst>
          </a:prstGeom>
          <a:solidFill>
            <a:srgbClr val="F58220"/>
          </a:solidFill>
          <a:ln/>
        </p:spPr>
        <p:txBody>
          <a:bodyPr/>
          <a:lstStyle/>
          <a:p>
            <a:endParaRPr lang="en-US"/>
          </a:p>
        </p:txBody>
      </p:sp>
      <p:sp>
        <p:nvSpPr>
          <p:cNvPr id="10" name="Text 7"/>
          <p:cNvSpPr/>
          <p:nvPr/>
        </p:nvSpPr>
        <p:spPr>
          <a:xfrm>
            <a:off x="1562100" y="6472328"/>
            <a:ext cx="7906974" cy="8915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400" dirty="0">
                <a:solidFill>
                  <a:srgbClr val="FFFFFF"/>
                </a:solidFill>
                <a:ea typeface="Inter" pitchFamily="34" charset="-122"/>
                <a:cs typeface="Inter" pitchFamily="34" charset="-120"/>
              </a:rPr>
              <a:t>Writes deep-dive docs to </a:t>
            </a:r>
            <a:r>
              <a:rPr lang="en-US" sz="2400" dirty="0">
                <a:solidFill>
                  <a:srgbClr val="D86A0E"/>
                </a:solidFill>
                <a:ea typeface="ui-monospace"/>
                <a:cs typeface="ui-monospace" pitchFamily="34" charset="-120"/>
              </a:rPr>
              <a:t>.claude/docs/</a:t>
            </a:r>
            <a:r>
              <a:rPr lang="en-US" sz="2400" dirty="0">
                <a:solidFill>
                  <a:srgbClr val="FFFFFF"/>
                </a:solidFill>
                <a:ea typeface="Inter" pitchFamily="34" charset="-122"/>
                <a:cs typeface="Inter" pitchFamily="34" charset="-120"/>
              </a:rPr>
              <a:t> — architecture, DB, auth, AI, UI, more.</a:t>
            </a:r>
            <a:endParaRPr lang="en-US" sz="2400" dirty="0"/>
          </a:p>
        </p:txBody>
      </p:sp>
      <p:sp>
        <p:nvSpPr>
          <p:cNvPr id="11" name="Shape 8"/>
          <p:cNvSpPr/>
          <p:nvPr/>
        </p:nvSpPr>
        <p:spPr>
          <a:xfrm>
            <a:off x="1123950" y="7755751"/>
            <a:ext cx="190500" cy="190500"/>
          </a:xfrm>
          <a:prstGeom prst="roundRect">
            <a:avLst>
              <a:gd name="adj" fmla="val 15000"/>
            </a:avLst>
          </a:prstGeom>
          <a:solidFill>
            <a:srgbClr val="F58220"/>
          </a:solidFill>
          <a:ln/>
        </p:spPr>
        <p:txBody>
          <a:bodyPr/>
          <a:lstStyle/>
          <a:p>
            <a:endParaRPr lang="en-US"/>
          </a:p>
        </p:txBody>
      </p:sp>
      <p:sp>
        <p:nvSpPr>
          <p:cNvPr id="12" name="Text 9"/>
          <p:cNvSpPr/>
          <p:nvPr/>
        </p:nvSpPr>
        <p:spPr>
          <a:xfrm>
            <a:off x="1562100" y="7552778"/>
            <a:ext cx="7906974" cy="891540"/>
          </a:xfrm>
          <a:prstGeom prst="rect">
            <a:avLst/>
          </a:prstGeom>
          <a:noFill/>
          <a:ln/>
        </p:spPr>
        <p:txBody>
          <a:bodyPr wrap="square" lIns="25400" tIns="25400" rIns="25400" bIns="25400" rtlCol="0" anchor="t">
            <a:noAutofit/>
          </a:bodyPr>
          <a:lstStyle/>
          <a:p>
            <a:pPr marL="0" indent="0" algn="l">
              <a:lnSpc>
                <a:spcPct val="140000"/>
              </a:lnSpc>
              <a:buNone/>
            </a:pPr>
            <a:r>
              <a:rPr lang="en-US" sz="2400" dirty="0">
                <a:solidFill>
                  <a:srgbClr val="FFFFFF"/>
                </a:solidFill>
                <a:ea typeface="Inter" pitchFamily="34" charset="-122"/>
                <a:cs typeface="Inter" pitchFamily="34" charset="-120"/>
              </a:rPr>
              <a:t>Rewrites </a:t>
            </a:r>
            <a:r>
              <a:rPr lang="en-US" sz="2400" dirty="0">
                <a:solidFill>
                  <a:srgbClr val="D86A0E"/>
                </a:solidFill>
                <a:ea typeface="ui-monospace"/>
                <a:cs typeface="ui-monospace" pitchFamily="34" charset="-120"/>
              </a:rPr>
              <a:t>CLAUDE.md</a:t>
            </a:r>
            <a:r>
              <a:rPr lang="en-US" sz="2400" dirty="0">
                <a:solidFill>
                  <a:srgbClr val="FFFFFF"/>
                </a:solidFill>
                <a:ea typeface="Inter" pitchFamily="34" charset="-122"/>
                <a:cs typeface="Inter" pitchFamily="34" charset="-120"/>
              </a:rPr>
              <a:t> as a tight overview — then self-validates the output.</a:t>
            </a:r>
            <a:endParaRPr lang="en-US" sz="2400" dirty="0"/>
          </a:p>
        </p:txBody>
      </p:sp>
      <p:sp>
        <p:nvSpPr>
          <p:cNvPr id="13" name="Shape 10"/>
          <p:cNvSpPr/>
          <p:nvPr/>
        </p:nvSpPr>
        <p:spPr>
          <a:xfrm>
            <a:off x="10879137" y="3956685"/>
            <a:ext cx="5539740" cy="3249930"/>
          </a:xfrm>
          <a:prstGeom prst="roundRect">
            <a:avLst>
              <a:gd name="adj" fmla="val 3517"/>
            </a:avLst>
          </a:prstGeom>
          <a:ln w="7620">
            <a:solidFill>
              <a:srgbClr val="2A2D38"/>
            </a:solidFill>
            <a:prstDash val="solid"/>
          </a:ln>
          <a:effectLst>
            <a:outerShdw blurRad="304800" dist="114300" dir="5400000" algn="bl" rotWithShape="0">
              <a:srgbClr val="2A2D38">
                <a:alpha val="12000"/>
              </a:srgbClr>
            </a:outerShdw>
          </a:effectLst>
        </p:spPr>
        <p:txBody>
          <a:bodyPr/>
          <a:lstStyle/>
          <a:p>
            <a:endParaRPr lang="en-US"/>
          </a:p>
        </p:txBody>
      </p:sp>
      <p:sp>
        <p:nvSpPr>
          <p:cNvPr id="14" name="Shape 11"/>
          <p:cNvSpPr/>
          <p:nvPr/>
        </p:nvSpPr>
        <p:spPr>
          <a:xfrm>
            <a:off x="10886758" y="3964305"/>
            <a:ext cx="5524500" cy="441960"/>
          </a:xfrm>
          <a:prstGeom prst="rect">
            <a:avLst/>
          </a:prstGeom>
          <a:solidFill>
            <a:srgbClr val="2A2D38"/>
          </a:solidFill>
          <a:ln/>
        </p:spPr>
        <p:txBody>
          <a:bodyPr/>
          <a:lstStyle/>
          <a:p>
            <a:endParaRPr lang="en-US"/>
          </a:p>
        </p:txBody>
      </p:sp>
      <p:sp>
        <p:nvSpPr>
          <p:cNvPr id="15" name="Shape 12"/>
          <p:cNvSpPr/>
          <p:nvPr/>
        </p:nvSpPr>
        <p:spPr>
          <a:xfrm>
            <a:off x="11058208" y="4128135"/>
            <a:ext cx="114300" cy="114300"/>
          </a:xfrm>
          <a:prstGeom prst="ellipse">
            <a:avLst/>
          </a:prstGeom>
          <a:solidFill>
            <a:srgbClr val="F58220"/>
          </a:solidFill>
          <a:ln/>
        </p:spPr>
        <p:txBody>
          <a:bodyPr/>
          <a:lstStyle/>
          <a:p>
            <a:endParaRPr lang="en-US"/>
          </a:p>
        </p:txBody>
      </p:sp>
      <p:sp>
        <p:nvSpPr>
          <p:cNvPr id="16" name="Shape 13"/>
          <p:cNvSpPr/>
          <p:nvPr/>
        </p:nvSpPr>
        <p:spPr>
          <a:xfrm>
            <a:off x="11248708" y="4128135"/>
            <a:ext cx="114300" cy="114300"/>
          </a:xfrm>
          <a:prstGeom prst="ellipse">
            <a:avLst/>
          </a:prstGeom>
          <a:solidFill>
            <a:srgbClr val="9A9CA4"/>
          </a:solidFill>
          <a:ln/>
        </p:spPr>
        <p:txBody>
          <a:bodyPr/>
          <a:lstStyle/>
          <a:p>
            <a:endParaRPr lang="en-US"/>
          </a:p>
        </p:txBody>
      </p:sp>
      <p:sp>
        <p:nvSpPr>
          <p:cNvPr id="17" name="Shape 14"/>
          <p:cNvSpPr/>
          <p:nvPr/>
        </p:nvSpPr>
        <p:spPr>
          <a:xfrm>
            <a:off x="11439208" y="4128135"/>
            <a:ext cx="114300" cy="114300"/>
          </a:xfrm>
          <a:prstGeom prst="ellipse">
            <a:avLst/>
          </a:prstGeom>
          <a:solidFill>
            <a:srgbClr val="9A9CA4"/>
          </a:solidFill>
          <a:ln/>
        </p:spPr>
        <p:txBody>
          <a:bodyPr/>
          <a:lstStyle/>
          <a:p>
            <a:endParaRPr lang="en-US"/>
          </a:p>
        </p:txBody>
      </p:sp>
      <p:sp>
        <p:nvSpPr>
          <p:cNvPr id="18" name="Text 15"/>
          <p:cNvSpPr/>
          <p:nvPr/>
        </p:nvSpPr>
        <p:spPr>
          <a:xfrm>
            <a:off x="11782108" y="4097655"/>
            <a:ext cx="998220" cy="213360"/>
          </a:xfrm>
          <a:prstGeom prst="rect">
            <a:avLst/>
          </a:prstGeom>
          <a:noFill/>
          <a:ln/>
        </p:spPr>
        <p:txBody>
          <a:bodyPr wrap="square" lIns="25400" tIns="25400" rIns="25400" bIns="25400" rtlCol="0" anchor="t">
            <a:normAutofit fontScale="92500" lnSpcReduction="10000"/>
          </a:bodyPr>
          <a:lstStyle/>
          <a:p>
            <a:pPr marL="0" indent="0" algn="l">
              <a:buNone/>
            </a:pPr>
            <a:r>
              <a:rPr lang="en-US" sz="1200" dirty="0">
                <a:solidFill>
                  <a:srgbClr val="FFFFFF"/>
                </a:solidFill>
                <a:latin typeface="ui-monospace" pitchFamily="34" charset="0"/>
                <a:ea typeface="ui-monospace" pitchFamily="34" charset="-122"/>
                <a:cs typeface="ui-monospace" pitchFamily="34" charset="-120"/>
              </a:rPr>
              <a:t>claude code</a:t>
            </a:r>
            <a:endParaRPr lang="en-US" sz="1200" dirty="0"/>
          </a:p>
        </p:txBody>
      </p:sp>
      <p:sp>
        <p:nvSpPr>
          <p:cNvPr id="19" name="Shape 16"/>
          <p:cNvSpPr/>
          <p:nvPr/>
        </p:nvSpPr>
        <p:spPr>
          <a:xfrm>
            <a:off x="10886758" y="4406265"/>
            <a:ext cx="5524500" cy="2792730"/>
          </a:xfrm>
          <a:prstGeom prst="rect">
            <a:avLst/>
          </a:prstGeom>
          <a:solidFill>
            <a:srgbClr val="1B1D24"/>
          </a:solidFill>
          <a:ln/>
        </p:spPr>
        <p:txBody>
          <a:bodyPr/>
          <a:lstStyle/>
          <a:p>
            <a:endParaRPr lang="en-US"/>
          </a:p>
        </p:txBody>
      </p:sp>
      <p:sp>
        <p:nvSpPr>
          <p:cNvPr id="20" name="Text 17"/>
          <p:cNvSpPr/>
          <p:nvPr/>
        </p:nvSpPr>
        <p:spPr>
          <a:xfrm>
            <a:off x="11191558" y="4672965"/>
            <a:ext cx="5062347" cy="39243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9A9CA4"/>
                </a:solidFill>
                <a:latin typeface="ui-monospace" pitchFamily="34" charset="0"/>
                <a:ea typeface="ui-monospace" pitchFamily="34" charset="-122"/>
                <a:cs typeface="ui-monospace" pitchFamily="34" charset="-120"/>
              </a:rPr>
              <a:t>&gt; </a:t>
            </a:r>
            <a:r>
              <a:rPr lang="en-US" sz="1800" dirty="0">
                <a:solidFill>
                  <a:srgbClr val="FFFFFF"/>
                </a:solidFill>
                <a:latin typeface="ui-monospace" pitchFamily="34" charset="0"/>
                <a:ea typeface="ui-monospace" pitchFamily="34" charset="-122"/>
                <a:cs typeface="ui-monospace" pitchFamily="34" charset="-120"/>
              </a:rPr>
              <a:t>/</a:t>
            </a:r>
            <a:r>
              <a:rPr lang="en-US" sz="1800" dirty="0">
                <a:solidFill>
                  <a:srgbClr val="F58220"/>
                </a:solidFill>
                <a:latin typeface="ui-monospace" pitchFamily="34" charset="0"/>
                <a:ea typeface="ui-monospace" pitchFamily="34" charset="-122"/>
                <a:cs typeface="ui-monospace" pitchFamily="34" charset="-120"/>
              </a:rPr>
              <a:t>review</a:t>
            </a:r>
            <a:r>
              <a:rPr lang="en-US" sz="1800" dirty="0">
                <a:solidFill>
                  <a:srgbClr val="FFFFFF"/>
                </a:solidFill>
                <a:latin typeface="ui-monospace" pitchFamily="34" charset="0"/>
                <a:ea typeface="ui-monospace" pitchFamily="34" charset="-122"/>
                <a:cs typeface="ui-monospace" pitchFamily="34" charset="-120"/>
              </a:rPr>
              <a:t>▎</a:t>
            </a:r>
            <a:endParaRPr lang="en-US" sz="1800" dirty="0"/>
          </a:p>
        </p:txBody>
      </p:sp>
      <p:sp>
        <p:nvSpPr>
          <p:cNvPr id="21" name="Text 18"/>
          <p:cNvSpPr/>
          <p:nvPr/>
        </p:nvSpPr>
        <p:spPr>
          <a:xfrm>
            <a:off x="11191558" y="5160645"/>
            <a:ext cx="5062347" cy="39243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6CC288"/>
                </a:solidFill>
                <a:latin typeface="ui-monospace" pitchFamily="34" charset="0"/>
                <a:ea typeface="ui-monospace" pitchFamily="34" charset="-122"/>
                <a:cs typeface="ui-monospace" pitchFamily="34" charset="-120"/>
              </a:rPr>
              <a:t>✓ 10 explorers launched in parallel</a:t>
            </a:r>
            <a:endParaRPr lang="en-US" sz="1800" dirty="0"/>
          </a:p>
        </p:txBody>
      </p:sp>
      <p:sp>
        <p:nvSpPr>
          <p:cNvPr id="22" name="Text 19"/>
          <p:cNvSpPr/>
          <p:nvPr/>
        </p:nvSpPr>
        <p:spPr>
          <a:xfrm>
            <a:off x="11191558" y="5514975"/>
            <a:ext cx="5062347" cy="39243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6CC288"/>
                </a:solidFill>
                <a:latin typeface="ui-monospace" pitchFamily="34" charset="0"/>
                <a:ea typeface="ui-monospace" pitchFamily="34" charset="-122"/>
                <a:cs typeface="ui-monospace" pitchFamily="34" charset="-120"/>
              </a:rPr>
              <a:t>✓ wrote 9 docs to .claude/docs/</a:t>
            </a:r>
            <a:endParaRPr lang="en-US" sz="1800" dirty="0"/>
          </a:p>
        </p:txBody>
      </p:sp>
      <p:sp>
        <p:nvSpPr>
          <p:cNvPr id="23" name="Text 20"/>
          <p:cNvSpPr/>
          <p:nvPr/>
        </p:nvSpPr>
        <p:spPr>
          <a:xfrm>
            <a:off x="11191558" y="5869305"/>
            <a:ext cx="5062347" cy="39243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6CC288"/>
                </a:solidFill>
                <a:latin typeface="ui-monospace" pitchFamily="34" charset="0"/>
                <a:ea typeface="ui-monospace" pitchFamily="34" charset="-122"/>
                <a:cs typeface="ui-monospace" pitchFamily="34" charset="-120"/>
              </a:rPr>
              <a:t>✓ rewrote CLAUDE.md (218 lines)</a:t>
            </a:r>
            <a:endParaRPr lang="en-US" sz="1800" dirty="0"/>
          </a:p>
        </p:txBody>
      </p:sp>
      <p:sp>
        <p:nvSpPr>
          <p:cNvPr id="24" name="Text 21"/>
          <p:cNvSpPr/>
          <p:nvPr/>
        </p:nvSpPr>
        <p:spPr>
          <a:xfrm>
            <a:off x="11191558" y="6223635"/>
            <a:ext cx="5062347" cy="39243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F58220"/>
                </a:solidFill>
                <a:latin typeface="ui-monospace" pitchFamily="34" charset="0"/>
                <a:ea typeface="ui-monospace" pitchFamily="34" charset="-122"/>
                <a:cs typeface="ui-monospace" pitchFamily="34" charset="-120"/>
              </a:rPr>
              <a:t>… self-validating links &amp; key terms</a:t>
            </a:r>
            <a:endParaRPr lang="en-US" sz="1800" dirty="0"/>
          </a:p>
        </p:txBody>
      </p:sp>
      <p:sp>
        <p:nvSpPr>
          <p:cNvPr id="25" name="Text 22"/>
          <p:cNvSpPr/>
          <p:nvPr/>
        </p:nvSpPr>
        <p:spPr>
          <a:xfrm>
            <a:off x="11191558" y="6577965"/>
            <a:ext cx="5062347" cy="39243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9A9CA4"/>
                </a:solidFill>
                <a:latin typeface="ui-monospace" pitchFamily="34" charset="0"/>
                <a:ea typeface="ui-monospace" pitchFamily="34" charset="-122"/>
                <a:cs typeface="ui-monospace" pitchFamily="34" charset="-120"/>
              </a:rPr>
              <a:t>context refreshed — ready</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8288000" cy="10287000"/>
          </a:xfrm>
          <a:prstGeom prst="rect">
            <a:avLst/>
          </a:prstGeom>
          <a:solidFill>
            <a:srgbClr val="1B1D24"/>
          </a:solidFill>
          <a:ln/>
        </p:spPr>
        <p:txBody>
          <a:bodyPr/>
          <a:lstStyle/>
          <a:p>
            <a:endParaRPr lang="en-US"/>
          </a:p>
        </p:txBody>
      </p:sp>
      <p:sp>
        <p:nvSpPr>
          <p:cNvPr id="3" name="Eyebrow"/>
          <p:cNvSpPr/>
          <p:nvPr/>
        </p:nvSpPr>
        <p:spPr>
          <a:xfrm>
            <a:off x="1143000" y="982980"/>
            <a:ext cx="4500000" cy="320040"/>
          </a:xfrm>
          <a:prstGeom prst="rect">
            <a:avLst/>
          </a:prstGeom>
          <a:noFill/>
          <a:ln/>
        </p:spPr>
        <p:txBody>
          <a:bodyPr wrap="square" lIns="25400" tIns="25400" rIns="25400" bIns="25400" rtlCol="0" anchor="t">
            <a:normAutofit lnSpcReduction="10000"/>
          </a:bodyPr>
          <a:lstStyle/>
          <a:p>
            <a:pPr marL="0" indent="0" algn="l">
              <a:buNone/>
            </a:pPr>
            <a:r>
              <a:rPr lang="en-US" sz="1800" b="1" kern="0" spc="252" dirty="0">
                <a:solidFill>
                  <a:srgbClr val="FFFFFF">
                    <a:alpha val="55000"/>
                  </a:srgbClr>
                </a:solidFill>
                <a:latin typeface="Montserrat" pitchFamily="34" charset="0"/>
                <a:ea typeface="Montserrat" pitchFamily="34" charset="-122"/>
                <a:cs typeface="Montserrat" pitchFamily="34" charset="-120"/>
              </a:rPr>
              <a:t>CHAPTER 3 · SHORTCUTS</a:t>
            </a:r>
            <a:endParaRPr lang="en-US" sz="1800" dirty="0"/>
          </a:p>
        </p:txBody>
      </p:sp>
      <p:pic>
        <p:nvPicPr>
          <p:cNvPr id="4" name="Logo" descr="preencoded.png"/>
          <p:cNvPicPr>
            <a:picLocks noChangeAspect="1"/>
          </p:cNvPicPr>
          <p:nvPr/>
        </p:nvPicPr>
        <p:blipFill>
          <a:blip r:embed="rId2"/>
          <a:stretch>
            <a:fillRect/>
          </a:stretch>
        </p:blipFill>
        <p:spPr>
          <a:xfrm>
            <a:off x="16722249" y="914400"/>
            <a:ext cx="422751" cy="419100"/>
          </a:xfrm>
          <a:prstGeom prst="rect">
            <a:avLst/>
          </a:prstGeom>
        </p:spPr>
      </p:pic>
      <p:sp>
        <p:nvSpPr>
          <p:cNvPr id="5" name="PillBg"/>
          <p:cNvSpPr/>
          <p:nvPr/>
        </p:nvSpPr>
        <p:spPr>
          <a:xfrm>
            <a:off x="1143000" y="2240915"/>
            <a:ext cx="6500000" cy="487680"/>
          </a:xfrm>
          <a:prstGeom prst="roundRect">
            <a:avLst>
              <a:gd name="adj" fmla="val 50000"/>
            </a:avLst>
          </a:prstGeom>
          <a:solidFill>
            <a:srgbClr val="FDEBD8"/>
          </a:solidFill>
          <a:ln w="7620">
            <a:solidFill>
              <a:srgbClr val="F58220"/>
            </a:solidFill>
            <a:prstDash val="solid"/>
          </a:ln>
        </p:spPr>
        <p:txBody>
          <a:bodyPr/>
          <a:lstStyle/>
          <a:p>
            <a:endParaRPr lang="en-US"/>
          </a:p>
        </p:txBody>
      </p:sp>
      <p:sp>
        <p:nvSpPr>
          <p:cNvPr id="7" name="PillText"/>
          <p:cNvSpPr/>
          <p:nvPr/>
        </p:nvSpPr>
        <p:spPr>
          <a:xfrm>
            <a:off x="1143000" y="2355660"/>
            <a:ext cx="6500000" cy="320040"/>
          </a:xfrm>
          <a:prstGeom prst="rect">
            <a:avLst/>
          </a:prstGeom>
          <a:noFill/>
          <a:ln/>
        </p:spPr>
        <p:txBody>
          <a:bodyPr wrap="square" lIns="0" tIns="0" rIns="0" bIns="0" rtlCol="0" anchor="t">
            <a:normAutofit/>
          </a:bodyPr>
          <a:lstStyle/>
          <a:p>
            <a:pPr marL="0" indent="0" algn="ctr">
              <a:buNone/>
            </a:pPr>
            <a:r>
              <a:rPr lang="en-US" sz="1800" b="1" kern="0" spc="180" dirty="0">
                <a:solidFill>
                  <a:srgbClr val="D86A0E"/>
                </a:solidFill>
                <a:latin typeface="Montserrat" pitchFamily="34" charset="0"/>
                <a:ea typeface="Montserrat" pitchFamily="34" charset="-122"/>
                <a:cs typeface="Montserrat" pitchFamily="34" charset="-120"/>
              </a:rPr>
              <a:t>ONE COMMAND · MANY COMMANDS</a:t>
            </a:r>
            <a:endParaRPr lang="en-US" sz="1800" dirty="0"/>
          </a:p>
        </p:txBody>
      </p:sp>
      <p:sp>
        <p:nvSpPr>
          <p:cNvPr id="8" name="Title"/>
          <p:cNvSpPr/>
          <p:nvPr/>
        </p:nvSpPr>
        <p:spPr>
          <a:xfrm>
            <a:off x="1143000" y="2995295"/>
            <a:ext cx="16002000" cy="900000"/>
          </a:xfrm>
          <a:prstGeom prst="rect">
            <a:avLst/>
          </a:prstGeom>
          <a:noFill/>
          <a:ln/>
        </p:spPr>
        <p:txBody>
          <a:bodyPr wrap="square" lIns="25400" tIns="25400" rIns="25400" bIns="25400" rtlCol="0" anchor="t">
            <a:normAutofit lnSpcReduction="10000"/>
          </a:bodyPr>
          <a:lstStyle/>
          <a:p>
            <a:pPr marL="0" indent="0" algn="l">
              <a:lnSpc>
                <a:spcPct val="103991"/>
              </a:lnSpc>
              <a:buNone/>
            </a:pPr>
            <a:r>
              <a:rPr lang="en-US" sz="5700" b="1" kern="0" spc="-68" dirty="0">
                <a:solidFill>
                  <a:srgbClr val="FFFFFF"/>
                </a:solidFill>
                <a:latin typeface="Montserrat" pitchFamily="34" charset="0"/>
                <a:ea typeface="Montserrat" pitchFamily="34" charset="-122"/>
                <a:cs typeface="Montserrat" pitchFamily="34" charset="-120"/>
              </a:rPr>
              <a:t>It’s commands </a:t>
            </a:r>
            <a:r>
              <a:rPr lang="en-US" sz="5700" b="1" kern="0" spc="-68" dirty="0">
                <a:solidFill>
                  <a:srgbClr val="F58220"/>
                </a:solidFill>
                <a:latin typeface="Montserrat" pitchFamily="34" charset="0"/>
                <a:ea typeface="Montserrat" pitchFamily="34" charset="-122"/>
                <a:cs typeface="Montserrat" pitchFamily="34" charset="-120"/>
              </a:rPr>
              <a:t>all the way down</a:t>
            </a:r>
            <a:endParaRPr lang="en-US" sz="5700" dirty="0"/>
          </a:p>
        </p:txBody>
      </p:sp>
      <p:sp>
        <p:nvSpPr>
          <p:cNvPr id="9" name="Subtitle"/>
          <p:cNvSpPr/>
          <p:nvPr/>
        </p:nvSpPr>
        <p:spPr>
          <a:xfrm>
            <a:off x="1169255" y="4057287"/>
            <a:ext cx="16000000" cy="700000"/>
          </a:xfrm>
          <a:prstGeom prst="rect">
            <a:avLst/>
          </a:prstGeom>
          <a:noFill/>
          <a:ln/>
        </p:spPr>
        <p:txBody>
          <a:bodyPr wrap="square" lIns="25400" tIns="25400" rIns="25400" bIns="25400" rtlCol="0" anchor="t">
            <a:noAutofit/>
          </a:bodyPr>
          <a:lstStyle/>
          <a:p>
            <a:pPr marL="0" indent="0" algn="l">
              <a:lnSpc>
                <a:spcPct val="130000"/>
              </a:lnSpc>
              <a:buNone/>
            </a:pPr>
            <a:r>
              <a:rPr lang="en-US" sz="2400" dirty="0">
                <a:solidFill>
                  <a:srgbClr val="F58220"/>
                </a:solidFill>
                <a:ea typeface="ui-monospace" pitchFamily="34" charset="-122"/>
                <a:cs typeface="ui-monospace" pitchFamily="34" charset="-120"/>
              </a:rPr>
              <a:t>/release-the-hounds</a:t>
            </a:r>
            <a:r>
              <a:rPr lang="en-US" sz="2400" dirty="0">
                <a:solidFill>
                  <a:srgbClr val="FFFFFF">
                    <a:alpha val="70000"/>
                  </a:srgbClr>
                </a:solidFill>
                <a:ea typeface="Inter" pitchFamily="34" charset="-122"/>
                <a:cs typeface="Inter" pitchFamily="34" charset="-120"/>
              </a:rPr>
              <a:t> isn’t new logic — just my other commands, run with two tweaks.</a:t>
            </a:r>
            <a:endParaRPr lang="en-US" sz="2400" dirty="0"/>
          </a:p>
        </p:txBody>
      </p:sp>
      <p:sp>
        <p:nvSpPr>
          <p:cNvPr id="20" name="LeftTag"/>
          <p:cNvSpPr/>
          <p:nvPr/>
        </p:nvSpPr>
        <p:spPr>
          <a:xfrm>
            <a:off x="1143000" y="5300000"/>
            <a:ext cx="7651000" cy="320040"/>
          </a:xfrm>
          <a:prstGeom prst="rect">
            <a:avLst/>
          </a:prstGeom>
          <a:noFill/>
          <a:ln/>
        </p:spPr>
        <p:txBody>
          <a:bodyPr wrap="square" lIns="25400" tIns="25400" rIns="25400" bIns="25400" rtlCol="0" anchor="t">
            <a:normAutofit lnSpcReduction="10000"/>
          </a:bodyPr>
          <a:lstStyle/>
          <a:p>
            <a:pPr marL="0" indent="0" algn="l">
              <a:buNone/>
            </a:pPr>
            <a:r>
              <a:rPr lang="en-US" sz="1800" b="1" kern="0" spc="252" dirty="0">
                <a:solidFill>
                  <a:srgbClr val="F58220"/>
                </a:solidFill>
                <a:latin typeface="Montserrat" pitchFamily="34" charset="0"/>
                <a:ea typeface="Montserrat" pitchFamily="34" charset="-122"/>
                <a:cs typeface="Montserrat" pitchFamily="34" charset="-120"/>
              </a:rPr>
              <a:t>01 · CHAIN</a:t>
            </a:r>
            <a:endParaRPr lang="en-US" sz="1800" dirty="0"/>
          </a:p>
        </p:txBody>
      </p:sp>
      <p:sp>
        <p:nvSpPr>
          <p:cNvPr id="21" name="LeftHeading"/>
          <p:cNvSpPr/>
          <p:nvPr/>
        </p:nvSpPr>
        <p:spPr>
          <a:xfrm>
            <a:off x="1143000" y="5750000"/>
            <a:ext cx="7651000" cy="700000"/>
          </a:xfrm>
          <a:prstGeom prst="rect">
            <a:avLst/>
          </a:prstGeom>
          <a:noFill/>
          <a:ln/>
        </p:spPr>
        <p:txBody>
          <a:bodyPr wrap="square" lIns="25400" tIns="25400" rIns="25400" bIns="25400" rtlCol="0" anchor="t">
            <a:noAutofit/>
          </a:bodyPr>
          <a:lstStyle/>
          <a:p>
            <a:pPr marL="0" indent="0" algn="l">
              <a:buNone/>
            </a:pPr>
            <a:r>
              <a:rPr lang="en-US" sz="3000" b="1" kern="0" dirty="0">
                <a:solidFill>
                  <a:srgbClr val="FFFFFF"/>
                </a:solidFill>
                <a:latin typeface="Montserrat" pitchFamily="34" charset="0"/>
                <a:ea typeface="Montserrat" pitchFamily="34" charset="-122"/>
                <a:cs typeface="Montserrat" pitchFamily="34" charset="-120"/>
              </a:rPr>
              <a:t>Commands call commands.</a:t>
            </a:r>
            <a:endParaRPr lang="en-US" sz="3000" dirty="0"/>
          </a:p>
        </p:txBody>
      </p:sp>
      <p:sp>
        <p:nvSpPr>
          <p:cNvPr id="22" name="LeftBullet1Marker"/>
          <p:cNvSpPr/>
          <p:nvPr/>
        </p:nvSpPr>
        <p:spPr>
          <a:xfrm>
            <a:off x="1168374" y="6850000"/>
            <a:ext cx="190500" cy="190500"/>
          </a:xfrm>
          <a:prstGeom prst="roundRect">
            <a:avLst>
              <a:gd name="adj" fmla="val 15000"/>
            </a:avLst>
          </a:prstGeom>
          <a:solidFill>
            <a:srgbClr val="F58220"/>
          </a:solidFill>
          <a:ln/>
        </p:spPr>
        <p:txBody>
          <a:bodyPr/>
          <a:lstStyle/>
          <a:p>
            <a:endParaRPr lang="en-US"/>
          </a:p>
        </p:txBody>
      </p:sp>
      <p:sp>
        <p:nvSpPr>
          <p:cNvPr id="23" name="LeftBullet1"/>
          <p:cNvSpPr/>
          <p:nvPr/>
        </p:nvSpPr>
        <p:spPr>
          <a:xfrm>
            <a:off x="1587474" y="6700000"/>
            <a:ext cx="7100000" cy="500000"/>
          </a:xfrm>
          <a:prstGeom prst="rect">
            <a:avLst/>
          </a:prstGeom>
          <a:noFill/>
          <a:ln/>
        </p:spPr>
        <p:txBody>
          <a:bodyPr wrap="square" lIns="25400" tIns="25400" rIns="25400" bIns="25400" rtlCol="0" anchor="t">
            <a:noAutofit/>
          </a:bodyPr>
          <a:lstStyle/>
          <a:p>
            <a:pPr marL="0" indent="0" algn="l">
              <a:lnSpc>
                <a:spcPct val="135000"/>
              </a:lnSpc>
              <a:buNone/>
            </a:pPr>
            <a:r>
              <a:rPr lang="en-US" sz="2200" dirty="0">
                <a:solidFill>
                  <a:srgbClr val="FFFFFF"/>
                </a:solidFill>
                <a:ea typeface="Inter" pitchFamily="34" charset="-122"/>
                <a:cs typeface="Inter" pitchFamily="34" charset="-120"/>
              </a:rPr>
              <a:t>Runs </a:t>
            </a:r>
            <a:r>
              <a:rPr lang="en-US" sz="2200" dirty="0">
                <a:solidFill>
                  <a:srgbClr val="F58220"/>
                </a:solidFill>
                <a:ea typeface="ui-monospace" pitchFamily="34" charset="-122"/>
                <a:cs typeface="ui-monospace" pitchFamily="34" charset="-120"/>
              </a:rPr>
              <a:t>/issue</a:t>
            </a:r>
            <a:r>
              <a:rPr lang="en-US" sz="2200" dirty="0">
                <a:solidFill>
                  <a:srgbClr val="FFFFFF"/>
                </a:solidFill>
                <a:ea typeface="Inter" pitchFamily="34" charset="-122"/>
                <a:cs typeface="Inter" pitchFamily="34" charset="-120"/>
              </a:rPr>
              <a:t> → </a:t>
            </a:r>
            <a:r>
              <a:rPr lang="en-US" sz="2200" dirty="0">
                <a:solidFill>
                  <a:srgbClr val="F58220"/>
                </a:solidFill>
                <a:ea typeface="ui-monospace" pitchFamily="34" charset="-122"/>
                <a:cs typeface="ui-monospace" pitchFamily="34" charset="-120"/>
              </a:rPr>
              <a:t>/pr</a:t>
            </a:r>
            <a:r>
              <a:rPr lang="en-US" sz="2200" dirty="0">
                <a:solidFill>
                  <a:srgbClr val="FFFFFF"/>
                </a:solidFill>
                <a:ea typeface="Inter" pitchFamily="34" charset="-122"/>
                <a:cs typeface="Inter" pitchFamily="34" charset="-120"/>
              </a:rPr>
              <a:t> → </a:t>
            </a:r>
            <a:r>
              <a:rPr lang="en-US" sz="2200" dirty="0">
                <a:solidFill>
                  <a:srgbClr val="F58220"/>
                </a:solidFill>
                <a:ea typeface="ui-monospace" pitchFamily="34" charset="-122"/>
                <a:cs typeface="ui-monospace" pitchFamily="34" charset="-120"/>
              </a:rPr>
              <a:t>/pr-review</a:t>
            </a:r>
            <a:r>
              <a:rPr lang="en-US" sz="2200" dirty="0">
                <a:solidFill>
                  <a:srgbClr val="FFFFFF"/>
                </a:solidFill>
                <a:ea typeface="Inter" pitchFamily="34" charset="-122"/>
                <a:cs typeface="Inter" pitchFamily="34" charset="-120"/>
              </a:rPr>
              <a:t>, in order.</a:t>
            </a:r>
            <a:endParaRPr lang="en-US" sz="2200" dirty="0"/>
          </a:p>
        </p:txBody>
      </p:sp>
      <p:sp>
        <p:nvSpPr>
          <p:cNvPr id="24" name="LeftBullet2Marker"/>
          <p:cNvSpPr/>
          <p:nvPr/>
        </p:nvSpPr>
        <p:spPr>
          <a:xfrm>
            <a:off x="1168374" y="7600000"/>
            <a:ext cx="190500" cy="190500"/>
          </a:xfrm>
          <a:prstGeom prst="roundRect">
            <a:avLst>
              <a:gd name="adj" fmla="val 15000"/>
            </a:avLst>
          </a:prstGeom>
          <a:solidFill>
            <a:srgbClr val="F58220"/>
          </a:solidFill>
          <a:ln/>
        </p:spPr>
        <p:txBody>
          <a:bodyPr/>
          <a:lstStyle/>
          <a:p>
            <a:endParaRPr lang="en-US"/>
          </a:p>
        </p:txBody>
      </p:sp>
      <p:sp>
        <p:nvSpPr>
          <p:cNvPr id="25" name="LeftBullet2"/>
          <p:cNvSpPr/>
          <p:nvPr/>
        </p:nvSpPr>
        <p:spPr>
          <a:xfrm>
            <a:off x="1587474" y="7450000"/>
            <a:ext cx="7100000" cy="500000"/>
          </a:xfrm>
          <a:prstGeom prst="rect">
            <a:avLst/>
          </a:prstGeom>
          <a:noFill/>
          <a:ln/>
        </p:spPr>
        <p:txBody>
          <a:bodyPr wrap="square" lIns="25400" tIns="25400" rIns="25400" bIns="25400" rtlCol="0" anchor="t">
            <a:noAutofit/>
          </a:bodyPr>
          <a:lstStyle/>
          <a:p>
            <a:pPr marL="0" indent="0" algn="l">
              <a:lnSpc>
                <a:spcPct val="135000"/>
              </a:lnSpc>
              <a:buNone/>
            </a:pPr>
            <a:r>
              <a:rPr lang="en-US" sz="2200" dirty="0">
                <a:solidFill>
                  <a:srgbClr val="FFFFFF"/>
                </a:solidFill>
                <a:ea typeface="Inter" pitchFamily="34" charset="-122"/>
                <a:cs typeface="Inter" pitchFamily="34" charset="-120"/>
              </a:rPr>
              <a:t>Each one is a recipe I’d already written.</a:t>
            </a:r>
            <a:endParaRPr lang="en-US" sz="2200" dirty="0"/>
          </a:p>
        </p:txBody>
      </p:sp>
      <p:sp>
        <p:nvSpPr>
          <p:cNvPr id="26" name="LeftBullet3Marker"/>
          <p:cNvSpPr/>
          <p:nvPr/>
        </p:nvSpPr>
        <p:spPr>
          <a:xfrm>
            <a:off x="1168374" y="8350000"/>
            <a:ext cx="190500" cy="190500"/>
          </a:xfrm>
          <a:prstGeom prst="roundRect">
            <a:avLst>
              <a:gd name="adj" fmla="val 15000"/>
            </a:avLst>
          </a:prstGeom>
          <a:solidFill>
            <a:srgbClr val="F58220"/>
          </a:solidFill>
          <a:ln/>
        </p:spPr>
        <p:txBody>
          <a:bodyPr/>
          <a:lstStyle/>
          <a:p>
            <a:endParaRPr lang="en-US"/>
          </a:p>
        </p:txBody>
      </p:sp>
      <p:sp>
        <p:nvSpPr>
          <p:cNvPr id="27" name="LeftBullet3"/>
          <p:cNvSpPr/>
          <p:nvPr/>
        </p:nvSpPr>
        <p:spPr>
          <a:xfrm>
            <a:off x="1587474" y="8200000"/>
            <a:ext cx="7100000" cy="500000"/>
          </a:xfrm>
          <a:prstGeom prst="rect">
            <a:avLst/>
          </a:prstGeom>
          <a:noFill/>
          <a:ln/>
        </p:spPr>
        <p:txBody>
          <a:bodyPr wrap="square" lIns="25400" tIns="25400" rIns="25400" bIns="25400" rtlCol="0" anchor="t">
            <a:noAutofit/>
          </a:bodyPr>
          <a:lstStyle/>
          <a:p>
            <a:pPr marL="0" indent="0" algn="l">
              <a:lnSpc>
                <a:spcPct val="135000"/>
              </a:lnSpc>
              <a:buNone/>
            </a:pPr>
            <a:r>
              <a:rPr lang="en-US" sz="2200" dirty="0">
                <a:solidFill>
                  <a:srgbClr val="FFFFFF"/>
                </a:solidFill>
                <a:ea typeface="Inter" pitchFamily="34" charset="-122"/>
                <a:cs typeface="Inter" pitchFamily="34" charset="-120"/>
              </a:rPr>
              <a:t>The new command is just the conductor.</a:t>
            </a:r>
            <a:endParaRPr lang="en-US" sz="2200" dirty="0"/>
          </a:p>
        </p:txBody>
      </p:sp>
      <p:sp>
        <p:nvSpPr>
          <p:cNvPr id="40" name="RightTag"/>
          <p:cNvSpPr/>
          <p:nvPr/>
        </p:nvSpPr>
        <p:spPr>
          <a:xfrm>
            <a:off x="9494000" y="5300000"/>
            <a:ext cx="7651000" cy="320040"/>
          </a:xfrm>
          <a:prstGeom prst="rect">
            <a:avLst/>
          </a:prstGeom>
          <a:noFill/>
          <a:ln/>
        </p:spPr>
        <p:txBody>
          <a:bodyPr wrap="square" lIns="25400" tIns="25400" rIns="25400" bIns="25400" rtlCol="0" anchor="t">
            <a:normAutofit lnSpcReduction="10000"/>
          </a:bodyPr>
          <a:lstStyle/>
          <a:p>
            <a:pPr marL="0" indent="0" algn="l">
              <a:buNone/>
            </a:pPr>
            <a:r>
              <a:rPr lang="en-US" sz="1800" b="1" kern="0" spc="252" dirty="0">
                <a:solidFill>
                  <a:srgbClr val="F58220"/>
                </a:solidFill>
                <a:latin typeface="Montserrat" pitchFamily="34" charset="0"/>
                <a:ea typeface="Montserrat" pitchFamily="34" charset="-122"/>
                <a:cs typeface="Montserrat" pitchFamily="34" charset="-120"/>
              </a:rPr>
              <a:t>02 · OVERRIDE</a:t>
            </a:r>
            <a:endParaRPr lang="en-US" sz="1800" dirty="0"/>
          </a:p>
        </p:txBody>
      </p:sp>
      <p:sp>
        <p:nvSpPr>
          <p:cNvPr id="41" name="RightHeading"/>
          <p:cNvSpPr/>
          <p:nvPr/>
        </p:nvSpPr>
        <p:spPr>
          <a:xfrm>
            <a:off x="9494000" y="5750000"/>
            <a:ext cx="7651000" cy="700000"/>
          </a:xfrm>
          <a:prstGeom prst="rect">
            <a:avLst/>
          </a:prstGeom>
          <a:noFill/>
          <a:ln/>
        </p:spPr>
        <p:txBody>
          <a:bodyPr wrap="square" lIns="25400" tIns="25400" rIns="25400" bIns="25400" rtlCol="0" anchor="t">
            <a:noAutofit/>
          </a:bodyPr>
          <a:lstStyle/>
          <a:p>
            <a:pPr marL="0" indent="0" algn="l">
              <a:buNone/>
            </a:pPr>
            <a:r>
              <a:rPr lang="en-US" sz="3000" b="1" kern="0" dirty="0">
                <a:solidFill>
                  <a:srgbClr val="FFFFFF"/>
                </a:solidFill>
                <a:latin typeface="Montserrat" pitchFamily="34" charset="0"/>
                <a:ea typeface="Montserrat" pitchFamily="34" charset="-122"/>
                <a:cs typeface="Montserrat" pitchFamily="34" charset="-120"/>
              </a:rPr>
              <a:t>Rules bent on the fly.</a:t>
            </a:r>
            <a:endParaRPr lang="en-US" sz="3000" dirty="0"/>
          </a:p>
        </p:txBody>
      </p:sp>
      <p:sp>
        <p:nvSpPr>
          <p:cNvPr id="42" name="RightBullet1Marker"/>
          <p:cNvSpPr/>
          <p:nvPr/>
        </p:nvSpPr>
        <p:spPr>
          <a:xfrm>
            <a:off x="9519374" y="6850000"/>
            <a:ext cx="190500" cy="190500"/>
          </a:xfrm>
          <a:prstGeom prst="roundRect">
            <a:avLst>
              <a:gd name="adj" fmla="val 15000"/>
            </a:avLst>
          </a:prstGeom>
          <a:solidFill>
            <a:srgbClr val="F58220"/>
          </a:solidFill>
          <a:ln/>
        </p:spPr>
        <p:txBody>
          <a:bodyPr/>
          <a:lstStyle/>
          <a:p>
            <a:endParaRPr lang="en-US"/>
          </a:p>
        </p:txBody>
      </p:sp>
      <p:sp>
        <p:nvSpPr>
          <p:cNvPr id="43" name="RightBullet1"/>
          <p:cNvSpPr/>
          <p:nvPr/>
        </p:nvSpPr>
        <p:spPr>
          <a:xfrm>
            <a:off x="9938474" y="6700000"/>
            <a:ext cx="7100000" cy="500000"/>
          </a:xfrm>
          <a:prstGeom prst="rect">
            <a:avLst/>
          </a:prstGeom>
          <a:noFill/>
          <a:ln/>
        </p:spPr>
        <p:txBody>
          <a:bodyPr wrap="square" lIns="25400" tIns="25400" rIns="25400" bIns="25400" rtlCol="0" anchor="t">
            <a:noAutofit/>
          </a:bodyPr>
          <a:lstStyle/>
          <a:p>
            <a:pPr marL="0" indent="0" algn="l">
              <a:lnSpc>
                <a:spcPct val="135000"/>
              </a:lnSpc>
              <a:buNone/>
            </a:pPr>
            <a:r>
              <a:rPr lang="en-US" sz="2200" dirty="0">
                <a:solidFill>
                  <a:srgbClr val="F58220"/>
                </a:solidFill>
                <a:ea typeface="ui-monospace" pitchFamily="34" charset="-122"/>
                <a:cs typeface="ui-monospace" pitchFamily="34" charset="-120"/>
              </a:rPr>
              <a:t>/issue</a:t>
            </a:r>
            <a:r>
              <a:rPr lang="en-US" sz="2200" dirty="0">
                <a:solidFill>
                  <a:srgbClr val="FFFFFF"/>
                </a:solidFill>
                <a:ea typeface="Inter" pitchFamily="34" charset="-122"/>
                <a:cs typeface="Inter" pitchFamily="34" charset="-120"/>
              </a:rPr>
              <a:t> usually pauses for review — here, it skips.</a:t>
            </a:r>
            <a:endParaRPr lang="en-US" sz="2200" dirty="0"/>
          </a:p>
        </p:txBody>
      </p:sp>
      <p:sp>
        <p:nvSpPr>
          <p:cNvPr id="44" name="RightBullet2Marker"/>
          <p:cNvSpPr/>
          <p:nvPr/>
        </p:nvSpPr>
        <p:spPr>
          <a:xfrm>
            <a:off x="9519374" y="7600000"/>
            <a:ext cx="190500" cy="190500"/>
          </a:xfrm>
          <a:prstGeom prst="roundRect">
            <a:avLst>
              <a:gd name="adj" fmla="val 15000"/>
            </a:avLst>
          </a:prstGeom>
          <a:solidFill>
            <a:srgbClr val="F58220"/>
          </a:solidFill>
          <a:ln/>
        </p:spPr>
        <p:txBody>
          <a:bodyPr/>
          <a:lstStyle/>
          <a:p>
            <a:endParaRPr lang="en-US"/>
          </a:p>
        </p:txBody>
      </p:sp>
      <p:sp>
        <p:nvSpPr>
          <p:cNvPr id="45" name="RightBullet2"/>
          <p:cNvSpPr/>
          <p:nvPr/>
        </p:nvSpPr>
        <p:spPr>
          <a:xfrm>
            <a:off x="9938474" y="7450000"/>
            <a:ext cx="7100000" cy="500000"/>
          </a:xfrm>
          <a:prstGeom prst="rect">
            <a:avLst/>
          </a:prstGeom>
          <a:noFill/>
          <a:ln/>
        </p:spPr>
        <p:txBody>
          <a:bodyPr wrap="square" lIns="25400" tIns="25400" rIns="25400" bIns="25400" rtlCol="0" anchor="t">
            <a:noAutofit/>
          </a:bodyPr>
          <a:lstStyle/>
          <a:p>
            <a:pPr marL="0" indent="0" algn="l">
              <a:lnSpc>
                <a:spcPct val="135000"/>
              </a:lnSpc>
              <a:buNone/>
            </a:pPr>
            <a:r>
              <a:rPr lang="en-US" sz="2200" dirty="0">
                <a:solidFill>
                  <a:srgbClr val="F58220"/>
                </a:solidFill>
                <a:ea typeface="ui-monospace" pitchFamily="34" charset="-122"/>
                <a:cs typeface="ui-monospace" pitchFamily="34" charset="-120"/>
              </a:rPr>
              <a:t>/pr-review</a:t>
            </a:r>
            <a:r>
              <a:rPr lang="en-US" sz="2200" dirty="0">
                <a:solidFill>
                  <a:srgbClr val="FFFFFF"/>
                </a:solidFill>
                <a:ea typeface="Inter" pitchFamily="34" charset="-122"/>
                <a:cs typeface="Inter" pitchFamily="34" charset="-120"/>
              </a:rPr>
              <a:t> usually defers approval — here, it approves itself.</a:t>
            </a:r>
            <a:endParaRPr lang="en-US" sz="2200" dirty="0"/>
          </a:p>
        </p:txBody>
      </p:sp>
      <p:sp>
        <p:nvSpPr>
          <p:cNvPr id="46" name="RightBullet3Marker"/>
          <p:cNvSpPr/>
          <p:nvPr/>
        </p:nvSpPr>
        <p:spPr>
          <a:xfrm>
            <a:off x="9519374" y="8350000"/>
            <a:ext cx="190500" cy="190500"/>
          </a:xfrm>
          <a:prstGeom prst="roundRect">
            <a:avLst>
              <a:gd name="adj" fmla="val 15000"/>
            </a:avLst>
          </a:prstGeom>
          <a:solidFill>
            <a:srgbClr val="F58220"/>
          </a:solidFill>
          <a:ln/>
        </p:spPr>
        <p:txBody>
          <a:bodyPr/>
          <a:lstStyle/>
          <a:p>
            <a:endParaRPr lang="en-US"/>
          </a:p>
        </p:txBody>
      </p:sp>
      <p:sp>
        <p:nvSpPr>
          <p:cNvPr id="47" name="RightBullet3"/>
          <p:cNvSpPr/>
          <p:nvPr/>
        </p:nvSpPr>
        <p:spPr>
          <a:xfrm>
            <a:off x="9938474" y="8200000"/>
            <a:ext cx="7100000" cy="700000"/>
          </a:xfrm>
          <a:prstGeom prst="rect">
            <a:avLst/>
          </a:prstGeom>
          <a:noFill/>
          <a:ln/>
        </p:spPr>
        <p:txBody>
          <a:bodyPr wrap="square" lIns="25400" tIns="25400" rIns="25400" bIns="25400" rtlCol="0" anchor="t">
            <a:noAutofit/>
          </a:bodyPr>
          <a:lstStyle/>
          <a:p>
            <a:pPr marL="0" indent="0" algn="l">
              <a:lnSpc>
                <a:spcPct val="135000"/>
              </a:lnSpc>
              <a:buNone/>
            </a:pPr>
            <a:r>
              <a:rPr lang="en-US" sz="2200" dirty="0">
                <a:solidFill>
                  <a:srgbClr val="FFFFFF"/>
                </a:solidFill>
                <a:ea typeface="Inter" pitchFamily="34" charset="-122"/>
                <a:cs typeface="Inter" pitchFamily="34" charset="-120"/>
              </a:rPr>
              <a:t>Base commands stay safe. The meta-command opts in to autonomy.</a:t>
            </a:r>
            <a:endParaRPr 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143000" y="944880"/>
            <a:ext cx="3747380" cy="320040"/>
          </a:xfrm>
          <a:prstGeom prst="rect">
            <a:avLst/>
          </a:prstGeom>
          <a:noFill/>
          <a:ln/>
        </p:spPr>
        <p:txBody>
          <a:bodyPr wrap="square" lIns="25400" tIns="25400" rIns="25400" bIns="25400" rtlCol="0" anchor="t">
            <a:normAutofit fontScale="92500"/>
          </a:bodyPr>
          <a:lstStyle/>
          <a:p>
            <a:pPr marL="0" indent="0" algn="l">
              <a:buNone/>
            </a:pPr>
            <a:r>
              <a:rPr lang="en-US" sz="1800" b="1" kern="0" spc="252" dirty="0">
                <a:solidFill>
                  <a:srgbClr val="6B6E78"/>
                </a:solidFill>
                <a:latin typeface="Montserrat" pitchFamily="34" charset="0"/>
                <a:ea typeface="Montserrat" pitchFamily="34" charset="-122"/>
                <a:cs typeface="Montserrat" pitchFamily="34" charset="-120"/>
              </a:rPr>
              <a:t>CHAPTER 3 · SHORTCUTS</a:t>
            </a:r>
            <a:endParaRPr lang="en-US" sz="1800" dirty="0"/>
          </a:p>
        </p:txBody>
      </p:sp>
      <p:pic>
        <p:nvPicPr>
          <p:cNvPr id="3" name="Image 0" descr="preencoded.png"/>
          <p:cNvPicPr>
            <a:picLocks noChangeAspect="1"/>
          </p:cNvPicPr>
          <p:nvPr/>
        </p:nvPicPr>
        <p:blipFill>
          <a:blip r:embed="rId3"/>
          <a:stretch>
            <a:fillRect/>
          </a:stretch>
        </p:blipFill>
        <p:spPr>
          <a:xfrm>
            <a:off x="16799084" y="914400"/>
            <a:ext cx="345916" cy="342900"/>
          </a:xfrm>
          <a:prstGeom prst="rect">
            <a:avLst/>
          </a:prstGeom>
        </p:spPr>
      </p:pic>
      <p:sp>
        <p:nvSpPr>
          <p:cNvPr id="4" name="Text 1"/>
          <p:cNvSpPr/>
          <p:nvPr/>
        </p:nvSpPr>
        <p:spPr>
          <a:xfrm>
            <a:off x="1143000" y="2623820"/>
            <a:ext cx="8338647" cy="3049270"/>
          </a:xfrm>
          <a:prstGeom prst="rect">
            <a:avLst/>
          </a:prstGeom>
          <a:noFill/>
          <a:ln/>
        </p:spPr>
        <p:txBody>
          <a:bodyPr wrap="square" lIns="25400" tIns="25400" rIns="25400" bIns="25400" rtlCol="0" anchor="t">
            <a:normAutofit/>
          </a:bodyPr>
          <a:lstStyle/>
          <a:p>
            <a:pPr marL="0" indent="0" algn="l">
              <a:lnSpc>
                <a:spcPct val="103991"/>
              </a:lnSpc>
              <a:buNone/>
            </a:pPr>
            <a:r>
              <a:rPr lang="en-US" sz="5300" b="1" kern="0" spc="-68" dirty="0">
                <a:solidFill>
                  <a:srgbClr val="2A2D38"/>
                </a:solidFill>
                <a:latin typeface="Montserrat" pitchFamily="34" charset="0"/>
                <a:ea typeface="Montserrat" pitchFamily="34" charset="-122"/>
                <a:cs typeface="Montserrat" pitchFamily="34" charset="-120"/>
              </a:rPr>
              <a:t>Skills: same idea, slightly different shape</a:t>
            </a:r>
            <a:endParaRPr lang="en-US" sz="5300" dirty="0"/>
          </a:p>
        </p:txBody>
      </p:sp>
      <p:sp>
        <p:nvSpPr>
          <p:cNvPr id="5" name="Shape 2"/>
          <p:cNvSpPr/>
          <p:nvPr/>
        </p:nvSpPr>
        <p:spPr>
          <a:xfrm>
            <a:off x="1143000" y="6062345"/>
            <a:ext cx="190500" cy="190500"/>
          </a:xfrm>
          <a:prstGeom prst="roundRect">
            <a:avLst>
              <a:gd name="adj" fmla="val 15000"/>
            </a:avLst>
          </a:prstGeom>
          <a:solidFill>
            <a:srgbClr val="F58220"/>
          </a:solidFill>
          <a:ln/>
        </p:spPr>
        <p:txBody>
          <a:bodyPr/>
          <a:lstStyle/>
          <a:p>
            <a:endParaRPr lang="en-US"/>
          </a:p>
        </p:txBody>
      </p:sp>
      <p:sp>
        <p:nvSpPr>
          <p:cNvPr id="6" name="Text 3"/>
          <p:cNvSpPr/>
          <p:nvPr/>
        </p:nvSpPr>
        <p:spPr>
          <a:xfrm>
            <a:off x="1562100" y="5848985"/>
            <a:ext cx="7906974" cy="464820"/>
          </a:xfrm>
          <a:prstGeom prst="rect">
            <a:avLst/>
          </a:prstGeom>
          <a:noFill/>
          <a:ln/>
        </p:spPr>
        <p:txBody>
          <a:bodyPr wrap="square" lIns="25400" tIns="25400" rIns="25400" bIns="25400" rtlCol="0" anchor="t">
            <a:noAutofit/>
          </a:bodyPr>
          <a:lstStyle/>
          <a:p>
            <a:pPr marL="0" indent="0" algn="l">
              <a:lnSpc>
                <a:spcPct val="140000"/>
              </a:lnSpc>
              <a:buNone/>
            </a:pPr>
            <a:r>
              <a:rPr lang="en-US" sz="2400" dirty="0">
                <a:solidFill>
                  <a:srgbClr val="2A2D38"/>
                </a:solidFill>
                <a:ea typeface="Inter" pitchFamily="34" charset="-122"/>
                <a:cs typeface="Inter" pitchFamily="34" charset="-120"/>
              </a:rPr>
              <a:t>Skills are commands' close cousin.</a:t>
            </a:r>
            <a:endParaRPr lang="en-US" sz="2400" dirty="0"/>
          </a:p>
        </p:txBody>
      </p:sp>
      <p:sp>
        <p:nvSpPr>
          <p:cNvPr id="7" name="Shape 4"/>
          <p:cNvSpPr/>
          <p:nvPr/>
        </p:nvSpPr>
        <p:spPr>
          <a:xfrm>
            <a:off x="1143000" y="6755765"/>
            <a:ext cx="190500" cy="190500"/>
          </a:xfrm>
          <a:prstGeom prst="roundRect">
            <a:avLst>
              <a:gd name="adj" fmla="val 15000"/>
            </a:avLst>
          </a:prstGeom>
          <a:solidFill>
            <a:srgbClr val="F58220"/>
          </a:solidFill>
          <a:ln/>
        </p:spPr>
        <p:txBody>
          <a:bodyPr/>
          <a:lstStyle/>
          <a:p>
            <a:endParaRPr lang="en-US"/>
          </a:p>
        </p:txBody>
      </p:sp>
      <p:sp>
        <p:nvSpPr>
          <p:cNvPr id="8" name="Text 5"/>
          <p:cNvSpPr/>
          <p:nvPr/>
        </p:nvSpPr>
        <p:spPr>
          <a:xfrm>
            <a:off x="1562100" y="6542405"/>
            <a:ext cx="7906974" cy="464820"/>
          </a:xfrm>
          <a:prstGeom prst="rect">
            <a:avLst/>
          </a:prstGeom>
          <a:noFill/>
          <a:ln/>
        </p:spPr>
        <p:txBody>
          <a:bodyPr wrap="square" lIns="25400" tIns="25400" rIns="25400" bIns="25400" rtlCol="0" anchor="t">
            <a:noAutofit/>
          </a:bodyPr>
          <a:lstStyle/>
          <a:p>
            <a:pPr marL="0" indent="0" algn="l">
              <a:lnSpc>
                <a:spcPct val="140000"/>
              </a:lnSpc>
              <a:buNone/>
            </a:pPr>
            <a:r>
              <a:rPr lang="en-US" sz="2400" dirty="0">
                <a:solidFill>
                  <a:srgbClr val="2A2D38"/>
                </a:solidFill>
                <a:ea typeface="Inter" pitchFamily="34" charset="-122"/>
                <a:cs typeface="Inter" pitchFamily="34" charset="-120"/>
              </a:rPr>
              <a:t>Both are saved instructions Claude can call up.</a:t>
            </a:r>
            <a:endParaRPr lang="en-US" sz="2400" dirty="0"/>
          </a:p>
        </p:txBody>
      </p:sp>
      <p:sp>
        <p:nvSpPr>
          <p:cNvPr id="9" name="Shape 6"/>
          <p:cNvSpPr/>
          <p:nvPr/>
        </p:nvSpPr>
        <p:spPr>
          <a:xfrm>
            <a:off x="1143000" y="7449185"/>
            <a:ext cx="190500" cy="190500"/>
          </a:xfrm>
          <a:prstGeom prst="roundRect">
            <a:avLst>
              <a:gd name="adj" fmla="val 15000"/>
            </a:avLst>
          </a:prstGeom>
          <a:solidFill>
            <a:srgbClr val="F58220"/>
          </a:solidFill>
          <a:ln/>
        </p:spPr>
        <p:txBody>
          <a:bodyPr/>
          <a:lstStyle/>
          <a:p>
            <a:endParaRPr lang="en-US"/>
          </a:p>
        </p:txBody>
      </p:sp>
      <p:sp>
        <p:nvSpPr>
          <p:cNvPr id="10" name="Text 7"/>
          <p:cNvSpPr/>
          <p:nvPr/>
        </p:nvSpPr>
        <p:spPr>
          <a:xfrm>
            <a:off x="1562100" y="7235825"/>
            <a:ext cx="7906974" cy="891540"/>
          </a:xfrm>
          <a:prstGeom prst="rect">
            <a:avLst/>
          </a:prstGeom>
          <a:noFill/>
          <a:ln/>
        </p:spPr>
        <p:txBody>
          <a:bodyPr wrap="square" lIns="25400" tIns="25400" rIns="25400" bIns="25400" rtlCol="0" anchor="t">
            <a:noAutofit/>
          </a:bodyPr>
          <a:lstStyle/>
          <a:p>
            <a:pPr marL="0" indent="0" algn="l">
              <a:lnSpc>
                <a:spcPct val="130000"/>
              </a:lnSpc>
              <a:buNone/>
            </a:pPr>
            <a:r>
              <a:rPr lang="en-US" sz="2400" dirty="0">
                <a:solidFill>
                  <a:srgbClr val="2A2D38"/>
                </a:solidFill>
                <a:ea typeface="Inter" pitchFamily="34" charset="-122"/>
                <a:cs typeface="Inter" pitchFamily="34" charset="-120"/>
              </a:rPr>
              <a:t>Differences are mostly under the hood — for most uses, they're interchangeable.</a:t>
            </a:r>
            <a:endParaRPr lang="en-US" sz="2400" dirty="0"/>
          </a:p>
        </p:txBody>
      </p:sp>
      <p:sp>
        <p:nvSpPr>
          <p:cNvPr id="11" name="Shape 8"/>
          <p:cNvSpPr/>
          <p:nvPr/>
        </p:nvSpPr>
        <p:spPr>
          <a:xfrm>
            <a:off x="1143000" y="8569325"/>
            <a:ext cx="190500" cy="190500"/>
          </a:xfrm>
          <a:prstGeom prst="roundRect">
            <a:avLst>
              <a:gd name="adj" fmla="val 15000"/>
            </a:avLst>
          </a:prstGeom>
          <a:solidFill>
            <a:srgbClr val="F58220"/>
          </a:solidFill>
          <a:ln/>
        </p:spPr>
        <p:txBody>
          <a:bodyPr/>
          <a:lstStyle/>
          <a:p>
            <a:endParaRPr lang="en-US"/>
          </a:p>
        </p:txBody>
      </p:sp>
      <p:sp>
        <p:nvSpPr>
          <p:cNvPr id="12" name="Text 9"/>
          <p:cNvSpPr/>
          <p:nvPr/>
        </p:nvSpPr>
        <p:spPr>
          <a:xfrm>
            <a:off x="1562100" y="8355965"/>
            <a:ext cx="7906974" cy="464820"/>
          </a:xfrm>
          <a:prstGeom prst="rect">
            <a:avLst/>
          </a:prstGeom>
          <a:noFill/>
          <a:ln/>
        </p:spPr>
        <p:txBody>
          <a:bodyPr wrap="square" lIns="25400" tIns="25400" rIns="25400" bIns="25400" rtlCol="0" anchor="t">
            <a:noAutofit/>
          </a:bodyPr>
          <a:lstStyle/>
          <a:p>
            <a:pPr marL="0" indent="0" algn="l">
              <a:lnSpc>
                <a:spcPct val="140000"/>
              </a:lnSpc>
              <a:buNone/>
            </a:pPr>
            <a:r>
              <a:rPr lang="en-US" sz="2400" dirty="0">
                <a:solidFill>
                  <a:srgbClr val="2A2D38"/>
                </a:solidFill>
                <a:ea typeface="Inter" pitchFamily="34" charset="-122"/>
                <a:cs typeface="Inter" pitchFamily="34" charset="-120"/>
              </a:rPr>
              <a:t>Pick whichever feels natural; don't agonize.</a:t>
            </a:r>
            <a:endParaRPr lang="en-US" sz="2400" dirty="0"/>
          </a:p>
        </p:txBody>
      </p:sp>
      <p:pic>
        <p:nvPicPr>
          <p:cNvPr id="13" name="Image 1" descr="preencoded.png"/>
          <p:cNvPicPr>
            <a:picLocks noChangeAspect="1"/>
          </p:cNvPicPr>
          <p:nvPr/>
        </p:nvPicPr>
        <p:blipFill>
          <a:blip r:embed="rId4"/>
          <a:stretch>
            <a:fillRect/>
          </a:stretch>
        </p:blipFill>
        <p:spPr>
          <a:xfrm>
            <a:off x="10315258" y="3771900"/>
            <a:ext cx="6667500" cy="36195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1B1D24"/>
          </a:solidFill>
          <a:ln/>
        </p:spPr>
        <p:txBody>
          <a:bodyPr/>
          <a:lstStyle/>
          <a:p>
            <a:endParaRPr lang="en-US"/>
          </a:p>
        </p:txBody>
      </p:sp>
      <p:sp>
        <p:nvSpPr>
          <p:cNvPr id="3" name="Text 1"/>
          <p:cNvSpPr/>
          <p:nvPr/>
        </p:nvSpPr>
        <p:spPr>
          <a:xfrm>
            <a:off x="1143000" y="982980"/>
            <a:ext cx="1369536" cy="320040"/>
          </a:xfrm>
          <a:prstGeom prst="rect">
            <a:avLst/>
          </a:prstGeom>
          <a:noFill/>
          <a:ln/>
        </p:spPr>
        <p:txBody>
          <a:bodyPr wrap="square" lIns="25400" tIns="25400" rIns="25400" bIns="25400" rtlCol="0" anchor="t">
            <a:normAutofit lnSpcReduction="10000"/>
          </a:bodyPr>
          <a:lstStyle/>
          <a:p>
            <a:pPr marL="0" indent="0" algn="l">
              <a:buNone/>
            </a:pPr>
            <a:r>
              <a:rPr lang="en-US" sz="1800" b="1" kern="0" spc="252" dirty="0">
                <a:solidFill>
                  <a:srgbClr val="FFFFFF">
                    <a:alpha val="55000"/>
                  </a:srgbClr>
                </a:solidFill>
                <a:latin typeface="Montserrat" pitchFamily="34" charset="0"/>
                <a:ea typeface="Montserrat" pitchFamily="34" charset="-122"/>
                <a:cs typeface="Montserrat" pitchFamily="34" charset="-120"/>
              </a:rPr>
              <a:t>CLOSING</a:t>
            </a:r>
            <a:endParaRPr lang="en-US" sz="1800" dirty="0"/>
          </a:p>
        </p:txBody>
      </p:sp>
      <p:pic>
        <p:nvPicPr>
          <p:cNvPr id="4" name="Image 0" descr="preencoded.png"/>
          <p:cNvPicPr>
            <a:picLocks noChangeAspect="1"/>
          </p:cNvPicPr>
          <p:nvPr/>
        </p:nvPicPr>
        <p:blipFill>
          <a:blip r:embed="rId3"/>
          <a:stretch>
            <a:fillRect/>
          </a:stretch>
        </p:blipFill>
        <p:spPr>
          <a:xfrm>
            <a:off x="16722249" y="914400"/>
            <a:ext cx="422751" cy="419100"/>
          </a:xfrm>
          <a:prstGeom prst="rect">
            <a:avLst/>
          </a:prstGeom>
        </p:spPr>
      </p:pic>
      <p:sp>
        <p:nvSpPr>
          <p:cNvPr id="5" name="Text 2"/>
          <p:cNvSpPr/>
          <p:nvPr/>
        </p:nvSpPr>
        <p:spPr>
          <a:xfrm>
            <a:off x="1143000" y="1556068"/>
            <a:ext cx="16482060" cy="2336165"/>
          </a:xfrm>
          <a:prstGeom prst="rect">
            <a:avLst/>
          </a:prstGeom>
          <a:noFill/>
          <a:ln/>
        </p:spPr>
        <p:txBody>
          <a:bodyPr wrap="square" lIns="25400" tIns="25400" rIns="25400" bIns="25400" rtlCol="0" anchor="t">
            <a:normAutofit/>
          </a:bodyPr>
          <a:lstStyle/>
          <a:p>
            <a:pPr marL="0" indent="0" algn="l">
              <a:lnSpc>
                <a:spcPct val="103994"/>
              </a:lnSpc>
              <a:buNone/>
            </a:pPr>
            <a:r>
              <a:rPr lang="en-US" sz="8700" b="1" kern="0" spc="-104" dirty="0">
                <a:solidFill>
                  <a:srgbClr val="FFFFFF"/>
                </a:solidFill>
                <a:latin typeface="Montserrat" pitchFamily="34" charset="0"/>
                <a:ea typeface="Montserrat" pitchFamily="34" charset="-122"/>
                <a:cs typeface="Montserrat" pitchFamily="34" charset="-120"/>
              </a:rPr>
              <a:t>From chatbot to </a:t>
            </a:r>
            <a:r>
              <a:rPr lang="en-US" sz="8700" b="1" kern="0" spc="-104" dirty="0">
                <a:solidFill>
                  <a:srgbClr val="F58220"/>
                </a:solidFill>
                <a:latin typeface="Montserrat" pitchFamily="34" charset="0"/>
                <a:ea typeface="Montserrat" pitchFamily="34" charset="-122"/>
                <a:cs typeface="Montserrat" pitchFamily="34" charset="-120"/>
              </a:rPr>
              <a:t>teammate</a:t>
            </a:r>
            <a:endParaRPr lang="en-US" sz="8700" dirty="0"/>
          </a:p>
        </p:txBody>
      </p:sp>
      <p:pic>
        <p:nvPicPr>
          <p:cNvPr id="6" name="Image 1" descr="preencoded.png"/>
          <p:cNvPicPr>
            <a:picLocks noChangeAspect="1"/>
          </p:cNvPicPr>
          <p:nvPr/>
        </p:nvPicPr>
        <p:blipFill>
          <a:blip r:embed="rId4"/>
          <a:stretch>
            <a:fillRect/>
          </a:stretch>
        </p:blipFill>
        <p:spPr>
          <a:xfrm>
            <a:off x="4662964" y="4463732"/>
            <a:ext cx="1143000" cy="1143000"/>
          </a:xfrm>
          <a:prstGeom prst="rect">
            <a:avLst/>
          </a:prstGeom>
        </p:spPr>
      </p:pic>
      <p:pic>
        <p:nvPicPr>
          <p:cNvPr id="7" name="Image 2" descr="preencoded.png"/>
          <p:cNvPicPr>
            <a:picLocks noChangeAspect="1"/>
          </p:cNvPicPr>
          <p:nvPr/>
        </p:nvPicPr>
        <p:blipFill>
          <a:blip r:embed="rId5"/>
          <a:stretch>
            <a:fillRect/>
          </a:stretch>
        </p:blipFill>
        <p:spPr>
          <a:xfrm>
            <a:off x="6186964" y="4844732"/>
            <a:ext cx="381000" cy="381000"/>
          </a:xfrm>
          <a:prstGeom prst="rect">
            <a:avLst/>
          </a:prstGeom>
        </p:spPr>
      </p:pic>
      <p:pic>
        <p:nvPicPr>
          <p:cNvPr id="8" name="Image 3" descr="preencoded.png"/>
          <p:cNvPicPr>
            <a:picLocks noChangeAspect="1"/>
          </p:cNvPicPr>
          <p:nvPr/>
        </p:nvPicPr>
        <p:blipFill>
          <a:blip r:embed="rId4"/>
          <a:stretch>
            <a:fillRect/>
          </a:stretch>
        </p:blipFill>
        <p:spPr>
          <a:xfrm>
            <a:off x="6948964" y="4463732"/>
            <a:ext cx="1143000" cy="1143000"/>
          </a:xfrm>
          <a:prstGeom prst="rect">
            <a:avLst/>
          </a:prstGeom>
        </p:spPr>
      </p:pic>
      <p:pic>
        <p:nvPicPr>
          <p:cNvPr id="9" name="Image 4" descr="preencoded.png"/>
          <p:cNvPicPr>
            <a:picLocks noChangeAspect="1"/>
          </p:cNvPicPr>
          <p:nvPr/>
        </p:nvPicPr>
        <p:blipFill>
          <a:blip r:embed="rId5"/>
          <a:stretch>
            <a:fillRect/>
          </a:stretch>
        </p:blipFill>
        <p:spPr>
          <a:xfrm>
            <a:off x="8472964" y="4844732"/>
            <a:ext cx="381000" cy="381000"/>
          </a:xfrm>
          <a:prstGeom prst="rect">
            <a:avLst/>
          </a:prstGeom>
        </p:spPr>
      </p:pic>
      <p:pic>
        <p:nvPicPr>
          <p:cNvPr id="10" name="Image 5" descr="preencoded.png"/>
          <p:cNvPicPr>
            <a:picLocks noChangeAspect="1"/>
          </p:cNvPicPr>
          <p:nvPr/>
        </p:nvPicPr>
        <p:blipFill>
          <a:blip r:embed="rId4"/>
          <a:stretch>
            <a:fillRect/>
          </a:stretch>
        </p:blipFill>
        <p:spPr>
          <a:xfrm>
            <a:off x="9234964" y="4463732"/>
            <a:ext cx="1143000" cy="1143000"/>
          </a:xfrm>
          <a:prstGeom prst="rect">
            <a:avLst/>
          </a:prstGeom>
        </p:spPr>
      </p:pic>
      <p:pic>
        <p:nvPicPr>
          <p:cNvPr id="11" name="Image 6" descr="preencoded.png"/>
          <p:cNvPicPr>
            <a:picLocks noChangeAspect="1"/>
          </p:cNvPicPr>
          <p:nvPr/>
        </p:nvPicPr>
        <p:blipFill>
          <a:blip r:embed="rId5"/>
          <a:stretch>
            <a:fillRect/>
          </a:stretch>
        </p:blipFill>
        <p:spPr>
          <a:xfrm>
            <a:off x="10758964" y="4844732"/>
            <a:ext cx="381000" cy="381000"/>
          </a:xfrm>
          <a:prstGeom prst="rect">
            <a:avLst/>
          </a:prstGeom>
        </p:spPr>
      </p:pic>
      <p:sp>
        <p:nvSpPr>
          <p:cNvPr id="12" name="Shape 3"/>
          <p:cNvSpPr/>
          <p:nvPr/>
        </p:nvSpPr>
        <p:spPr>
          <a:xfrm>
            <a:off x="11520964" y="4764723"/>
            <a:ext cx="2104072" cy="541020"/>
          </a:xfrm>
          <a:prstGeom prst="roundRect">
            <a:avLst>
              <a:gd name="adj" fmla="val 50000"/>
            </a:avLst>
          </a:prstGeom>
          <a:solidFill>
            <a:srgbClr val="FDEBD8"/>
          </a:solidFill>
          <a:ln w="7620">
            <a:solidFill>
              <a:srgbClr val="F58220"/>
            </a:solidFill>
            <a:prstDash val="solid"/>
          </a:ln>
        </p:spPr>
        <p:txBody>
          <a:bodyPr/>
          <a:lstStyle/>
          <a:p>
            <a:endParaRPr lang="en-US"/>
          </a:p>
        </p:txBody>
      </p:sp>
      <p:sp>
        <p:nvSpPr>
          <p:cNvPr id="13" name="Shape 4"/>
          <p:cNvSpPr/>
          <p:nvPr/>
        </p:nvSpPr>
        <p:spPr>
          <a:xfrm>
            <a:off x="11757184" y="4987607"/>
            <a:ext cx="95250" cy="95250"/>
          </a:xfrm>
          <a:prstGeom prst="ellipse">
            <a:avLst/>
          </a:prstGeom>
          <a:solidFill>
            <a:srgbClr val="F58220"/>
          </a:solidFill>
          <a:ln/>
        </p:spPr>
        <p:txBody>
          <a:bodyPr/>
          <a:lstStyle/>
          <a:p>
            <a:endParaRPr lang="en-US"/>
          </a:p>
        </p:txBody>
      </p:sp>
      <p:sp>
        <p:nvSpPr>
          <p:cNvPr id="14" name="Text 5"/>
          <p:cNvSpPr/>
          <p:nvPr/>
        </p:nvSpPr>
        <p:spPr>
          <a:xfrm>
            <a:off x="11966734" y="4905692"/>
            <a:ext cx="1498282" cy="297180"/>
          </a:xfrm>
          <a:prstGeom prst="rect">
            <a:avLst/>
          </a:prstGeom>
          <a:noFill/>
          <a:ln/>
        </p:spPr>
        <p:txBody>
          <a:bodyPr wrap="square" lIns="0" tIns="0" rIns="0" bIns="0" rtlCol="0" anchor="t">
            <a:normAutofit/>
          </a:bodyPr>
          <a:lstStyle/>
          <a:p>
            <a:pPr marL="0" indent="0" algn="l">
              <a:buNone/>
            </a:pPr>
            <a:r>
              <a:rPr lang="en-US" sz="1650" b="1" kern="0" spc="165" dirty="0">
                <a:solidFill>
                  <a:srgbClr val="D86A0E"/>
                </a:solidFill>
                <a:latin typeface="Montserrat" pitchFamily="34" charset="0"/>
                <a:ea typeface="Montserrat" pitchFamily="34" charset="-122"/>
                <a:cs typeface="Montserrat" pitchFamily="34" charset="-120"/>
              </a:rPr>
              <a:t>TEAMMATE</a:t>
            </a:r>
            <a:endParaRPr lang="en-US" sz="1650" dirty="0"/>
          </a:p>
        </p:txBody>
      </p:sp>
      <p:sp>
        <p:nvSpPr>
          <p:cNvPr id="15" name="Shape 6"/>
          <p:cNvSpPr/>
          <p:nvPr/>
        </p:nvSpPr>
        <p:spPr>
          <a:xfrm>
            <a:off x="1143000" y="6429692"/>
            <a:ext cx="190500" cy="190500"/>
          </a:xfrm>
          <a:prstGeom prst="roundRect">
            <a:avLst>
              <a:gd name="adj" fmla="val 15000"/>
            </a:avLst>
          </a:prstGeom>
          <a:solidFill>
            <a:srgbClr val="F58220"/>
          </a:solidFill>
          <a:ln/>
        </p:spPr>
        <p:txBody>
          <a:bodyPr/>
          <a:lstStyle/>
          <a:p>
            <a:endParaRPr lang="en-US"/>
          </a:p>
        </p:txBody>
      </p:sp>
      <p:sp>
        <p:nvSpPr>
          <p:cNvPr id="16" name="Text 7"/>
          <p:cNvSpPr/>
          <p:nvPr/>
        </p:nvSpPr>
        <p:spPr>
          <a:xfrm>
            <a:off x="1562100" y="6216332"/>
            <a:ext cx="14284452" cy="464820"/>
          </a:xfrm>
          <a:prstGeom prst="rect">
            <a:avLst/>
          </a:prstGeom>
          <a:noFill/>
          <a:ln/>
        </p:spPr>
        <p:txBody>
          <a:bodyPr wrap="square" lIns="25400" tIns="25400" rIns="25400" bIns="25400" rtlCol="0" anchor="t">
            <a:noAutofit/>
          </a:bodyPr>
          <a:lstStyle/>
          <a:p>
            <a:pPr marL="0" indent="0" algn="l">
              <a:lnSpc>
                <a:spcPct val="140000"/>
              </a:lnSpc>
              <a:buNone/>
            </a:pPr>
            <a:r>
              <a:rPr lang="en-US" sz="2400" dirty="0">
                <a:solidFill>
                  <a:srgbClr val="FFFFFF"/>
                </a:solidFill>
                <a:ea typeface="Inter" pitchFamily="34" charset="-122"/>
                <a:cs typeface="Inter" pitchFamily="34" charset="-120"/>
              </a:rPr>
              <a:t>Three files: </a:t>
            </a:r>
            <a:r>
              <a:rPr lang="en-US" sz="2400" b="1" dirty="0">
                <a:solidFill>
                  <a:srgbClr val="F58220"/>
                </a:solidFill>
                <a:ea typeface="Inter" pitchFamily="34" charset="-122"/>
                <a:cs typeface="Inter" pitchFamily="34" charset="-120"/>
              </a:rPr>
              <a:t>CLAUDE.md</a:t>
            </a:r>
            <a:r>
              <a:rPr lang="en-US" sz="2400" dirty="0">
                <a:solidFill>
                  <a:srgbClr val="FFFFFF"/>
                </a:solidFill>
                <a:ea typeface="Inter" pitchFamily="34" charset="-122"/>
                <a:cs typeface="Inter" pitchFamily="34" charset="-120"/>
              </a:rPr>
              <a:t>, </a:t>
            </a:r>
            <a:r>
              <a:rPr lang="en-US" sz="2400" b="1" dirty="0">
                <a:solidFill>
                  <a:srgbClr val="F58220"/>
                </a:solidFill>
                <a:ea typeface="Inter" pitchFamily="34" charset="-122"/>
                <a:cs typeface="Inter" pitchFamily="34" charset="-120"/>
              </a:rPr>
              <a:t>memory</a:t>
            </a:r>
            <a:r>
              <a:rPr lang="en-US" sz="2400" dirty="0">
                <a:solidFill>
                  <a:srgbClr val="FFFFFF"/>
                </a:solidFill>
                <a:ea typeface="Inter" pitchFamily="34" charset="-122"/>
                <a:cs typeface="Inter" pitchFamily="34" charset="-120"/>
              </a:rPr>
              <a:t>, </a:t>
            </a:r>
            <a:r>
              <a:rPr lang="en-US" sz="2400" b="1" dirty="0">
                <a:solidFill>
                  <a:srgbClr val="F58220"/>
                </a:solidFill>
                <a:ea typeface="Inter" pitchFamily="34" charset="-122"/>
                <a:cs typeface="Inter" pitchFamily="34" charset="-120"/>
              </a:rPr>
              <a:t>commands</a:t>
            </a:r>
            <a:r>
              <a:rPr lang="en-US" sz="2400" dirty="0">
                <a:solidFill>
                  <a:srgbClr val="FFFFFF"/>
                </a:solidFill>
                <a:ea typeface="Inter" pitchFamily="34" charset="-122"/>
                <a:cs typeface="Inter" pitchFamily="34" charset="-120"/>
              </a:rPr>
              <a:t>.</a:t>
            </a:r>
            <a:endParaRPr lang="en-US" sz="2400" dirty="0"/>
          </a:p>
        </p:txBody>
      </p:sp>
      <p:sp>
        <p:nvSpPr>
          <p:cNvPr id="17" name="Shape 8"/>
          <p:cNvSpPr/>
          <p:nvPr/>
        </p:nvSpPr>
        <p:spPr>
          <a:xfrm>
            <a:off x="1143000" y="7070858"/>
            <a:ext cx="190500" cy="190500"/>
          </a:xfrm>
          <a:prstGeom prst="roundRect">
            <a:avLst>
              <a:gd name="adj" fmla="val 15000"/>
            </a:avLst>
          </a:prstGeom>
          <a:solidFill>
            <a:srgbClr val="F58220"/>
          </a:solidFill>
          <a:ln/>
        </p:spPr>
        <p:txBody>
          <a:bodyPr/>
          <a:lstStyle/>
          <a:p>
            <a:endParaRPr lang="en-US"/>
          </a:p>
        </p:txBody>
      </p:sp>
      <p:sp>
        <p:nvSpPr>
          <p:cNvPr id="18" name="Text 9"/>
          <p:cNvSpPr/>
          <p:nvPr/>
        </p:nvSpPr>
        <p:spPr>
          <a:xfrm>
            <a:off x="1562100" y="6867842"/>
            <a:ext cx="14284452" cy="891540"/>
          </a:xfrm>
          <a:prstGeom prst="rect">
            <a:avLst/>
          </a:prstGeom>
          <a:noFill/>
          <a:ln/>
        </p:spPr>
        <p:txBody>
          <a:bodyPr wrap="square" lIns="25400" tIns="25400" rIns="25400" bIns="25400" rtlCol="0" anchor="t">
            <a:normAutofit/>
          </a:bodyPr>
          <a:lstStyle/>
          <a:p>
            <a:pPr marL="0" indent="0" algn="l">
              <a:lnSpc>
                <a:spcPct val="140000"/>
              </a:lnSpc>
              <a:buNone/>
            </a:pPr>
            <a:r>
              <a:rPr lang="en-US" sz="2400" dirty="0">
                <a:solidFill>
                  <a:srgbClr val="FFFFFF"/>
                </a:solidFill>
                <a:ea typeface="Inter" pitchFamily="34" charset="-122"/>
                <a:cs typeface="Inter" pitchFamily="34" charset="-120"/>
              </a:rPr>
              <a:t>Together: Claude shows up already knowing your project, your preferences, and your workflows.</a:t>
            </a:r>
            <a:endParaRPr lang="en-US" sz="2400" dirty="0"/>
          </a:p>
        </p:txBody>
      </p:sp>
      <p:sp>
        <p:nvSpPr>
          <p:cNvPr id="19" name="Shape 10"/>
          <p:cNvSpPr/>
          <p:nvPr/>
        </p:nvSpPr>
        <p:spPr>
          <a:xfrm>
            <a:off x="1143000" y="7755570"/>
            <a:ext cx="190500" cy="190500"/>
          </a:xfrm>
          <a:prstGeom prst="roundRect">
            <a:avLst>
              <a:gd name="adj" fmla="val 15000"/>
            </a:avLst>
          </a:prstGeom>
          <a:solidFill>
            <a:srgbClr val="F58220"/>
          </a:solidFill>
          <a:ln/>
        </p:spPr>
        <p:txBody>
          <a:bodyPr/>
          <a:lstStyle/>
          <a:p>
            <a:endParaRPr lang="en-US"/>
          </a:p>
        </p:txBody>
      </p:sp>
      <p:sp>
        <p:nvSpPr>
          <p:cNvPr id="20" name="Text 11"/>
          <p:cNvSpPr/>
          <p:nvPr/>
        </p:nvSpPr>
        <p:spPr>
          <a:xfrm>
            <a:off x="1562100" y="7552552"/>
            <a:ext cx="14284452" cy="464820"/>
          </a:xfrm>
          <a:prstGeom prst="rect">
            <a:avLst/>
          </a:prstGeom>
          <a:noFill/>
          <a:ln/>
        </p:spPr>
        <p:txBody>
          <a:bodyPr wrap="square" lIns="25400" tIns="25400" rIns="25400" bIns="25400" rtlCol="0" anchor="t">
            <a:noAutofit/>
          </a:bodyPr>
          <a:lstStyle/>
          <a:p>
            <a:pPr marL="0" indent="0" algn="l">
              <a:lnSpc>
                <a:spcPct val="140000"/>
              </a:lnSpc>
              <a:buNone/>
            </a:pPr>
            <a:r>
              <a:rPr lang="en-US" sz="2400" dirty="0">
                <a:solidFill>
                  <a:srgbClr val="FFFFFF"/>
                </a:solidFill>
                <a:ea typeface="Inter" pitchFamily="34" charset="-122"/>
                <a:cs typeface="Inter" pitchFamily="34" charset="-120"/>
              </a:rPr>
              <a:t>That's the difference between </a:t>
            </a:r>
            <a:r>
              <a:rPr lang="en-US" sz="2400" i="1" dirty="0">
                <a:solidFill>
                  <a:srgbClr val="FFFFFF"/>
                </a:solidFill>
                <a:ea typeface="Inter" pitchFamily="34" charset="-122"/>
                <a:cs typeface="Inter" pitchFamily="34" charset="-120"/>
              </a:rPr>
              <a:t>talking to AI </a:t>
            </a:r>
            <a:r>
              <a:rPr lang="en-US" sz="2400" dirty="0">
                <a:solidFill>
                  <a:srgbClr val="FFFFFF"/>
                </a:solidFill>
                <a:ea typeface="Inter" pitchFamily="34" charset="-122"/>
                <a:cs typeface="Inter" pitchFamily="34" charset="-120"/>
              </a:rPr>
              <a:t>and </a:t>
            </a:r>
            <a:r>
              <a:rPr lang="en-US" sz="2400" i="1" dirty="0">
                <a:solidFill>
                  <a:srgbClr val="FFFFFF"/>
                </a:solidFill>
                <a:ea typeface="Inter" pitchFamily="34" charset="-122"/>
                <a:cs typeface="Inter" pitchFamily="34" charset="-120"/>
              </a:rPr>
              <a:t>working with AI</a:t>
            </a:r>
            <a:r>
              <a:rPr lang="en-US" sz="2400" dirty="0">
                <a:solidFill>
                  <a:srgbClr val="FFFFFF"/>
                </a:solidFill>
                <a:ea typeface="Inter" pitchFamily="34" charset="-122"/>
                <a:cs typeface="Inter" pitchFamily="34" charset="-120"/>
              </a:rPr>
              <a:t>.</a:t>
            </a:r>
            <a:endParaRPr lang="en-US" sz="2400" dirty="0"/>
          </a:p>
        </p:txBody>
      </p:sp>
      <p:sp>
        <p:nvSpPr>
          <p:cNvPr id="21" name="Shape 12"/>
          <p:cNvSpPr/>
          <p:nvPr/>
        </p:nvSpPr>
        <p:spPr>
          <a:xfrm>
            <a:off x="1143000" y="8448990"/>
            <a:ext cx="190500" cy="190500"/>
          </a:xfrm>
          <a:prstGeom prst="roundRect">
            <a:avLst>
              <a:gd name="adj" fmla="val 15000"/>
            </a:avLst>
          </a:prstGeom>
          <a:solidFill>
            <a:srgbClr val="F58220"/>
          </a:solidFill>
          <a:ln/>
        </p:spPr>
        <p:txBody>
          <a:bodyPr/>
          <a:lstStyle/>
          <a:p>
            <a:endParaRPr lang="en-US"/>
          </a:p>
        </p:txBody>
      </p:sp>
      <p:sp>
        <p:nvSpPr>
          <p:cNvPr id="22" name="Text 13"/>
          <p:cNvSpPr/>
          <p:nvPr/>
        </p:nvSpPr>
        <p:spPr>
          <a:xfrm>
            <a:off x="1562100" y="8245972"/>
            <a:ext cx="14284452" cy="464820"/>
          </a:xfrm>
          <a:prstGeom prst="rect">
            <a:avLst/>
          </a:prstGeom>
          <a:noFill/>
          <a:ln/>
        </p:spPr>
        <p:txBody>
          <a:bodyPr wrap="square" lIns="25400" tIns="25400" rIns="25400" bIns="25400" rtlCol="0" anchor="t">
            <a:noAutofit/>
          </a:bodyPr>
          <a:lstStyle/>
          <a:p>
            <a:pPr marL="0" indent="0" algn="l">
              <a:lnSpc>
                <a:spcPct val="140000"/>
              </a:lnSpc>
              <a:buNone/>
            </a:pPr>
            <a:r>
              <a:rPr lang="en-US" sz="2400" dirty="0">
                <a:solidFill>
                  <a:srgbClr val="FFFFFF"/>
                </a:solidFill>
                <a:ea typeface="Inter" pitchFamily="34" charset="-122"/>
                <a:cs typeface="Inter" pitchFamily="34" charset="-120"/>
              </a:rPr>
              <a:t>The work you put in is permanent — it makes every future session better.</a:t>
            </a:r>
            <a:endParaRPr lang="en-US" sz="2400" dirty="0"/>
          </a:p>
        </p:txBody>
      </p:sp>
      <p:pic>
        <p:nvPicPr>
          <p:cNvPr id="24" name="Picture 23">
            <a:extLst>
              <a:ext uri="{FF2B5EF4-FFF2-40B4-BE49-F238E27FC236}">
                <a16:creationId xmlns:a16="http://schemas.microsoft.com/office/drawing/2014/main" id="{9B8E50E9-DA3D-5870-BAAE-2812BC1B57E4}"/>
              </a:ext>
            </a:extLst>
          </p:cNvPr>
          <p:cNvPicPr>
            <a:picLocks noChangeAspect="1"/>
          </p:cNvPicPr>
          <p:nvPr/>
        </p:nvPicPr>
        <p:blipFill>
          <a:blip r:embed="rId6"/>
          <a:stretch>
            <a:fillRect/>
          </a:stretch>
        </p:blipFill>
        <p:spPr>
          <a:xfrm>
            <a:off x="3962140" y="3287247"/>
            <a:ext cx="10545647" cy="2124371"/>
          </a:xfrm>
          <a:prstGeom prst="rect">
            <a:avLst/>
          </a:prstGeom>
        </p:spPr>
      </p:pic>
      <p:sp>
        <p:nvSpPr>
          <p:cNvPr id="23" name="PillBg">
            <a:extLst>
              <a:ext uri="{FF2B5EF4-FFF2-40B4-BE49-F238E27FC236}">
                <a16:creationId xmlns:a16="http://schemas.microsoft.com/office/drawing/2014/main" id="{D9031D38-7BAE-D78F-1847-11B5477D4F68}"/>
              </a:ext>
            </a:extLst>
          </p:cNvPr>
          <p:cNvSpPr/>
          <p:nvPr/>
        </p:nvSpPr>
        <p:spPr>
          <a:xfrm>
            <a:off x="11745309" y="4126676"/>
            <a:ext cx="2255699" cy="582146"/>
          </a:xfrm>
          <a:prstGeom prst="roundRect">
            <a:avLst>
              <a:gd name="adj" fmla="val 50000"/>
            </a:avLst>
          </a:prstGeom>
          <a:solidFill>
            <a:srgbClr val="FDEBD8"/>
          </a:solidFill>
          <a:ln w="7620">
            <a:solidFill>
              <a:srgbClr val="F58220"/>
            </a:solidFill>
            <a:prstDash val="solid"/>
          </a:ln>
        </p:spPr>
        <p:txBody>
          <a:bodyPr/>
          <a:lstStyle/>
          <a:p>
            <a:endParaRPr lang="en-US" dirty="0"/>
          </a:p>
        </p:txBody>
      </p:sp>
      <p:sp>
        <p:nvSpPr>
          <p:cNvPr id="26" name="TextBox 25">
            <a:extLst>
              <a:ext uri="{FF2B5EF4-FFF2-40B4-BE49-F238E27FC236}">
                <a16:creationId xmlns:a16="http://schemas.microsoft.com/office/drawing/2014/main" id="{960B6086-DA01-8A8F-F9B6-C53EF33CE5A1}"/>
              </a:ext>
            </a:extLst>
          </p:cNvPr>
          <p:cNvSpPr txBox="1"/>
          <p:nvPr/>
        </p:nvSpPr>
        <p:spPr>
          <a:xfrm>
            <a:off x="11757184" y="4266465"/>
            <a:ext cx="2243824" cy="369332"/>
          </a:xfrm>
          <a:prstGeom prst="rect">
            <a:avLst/>
          </a:prstGeom>
          <a:noFill/>
        </p:spPr>
        <p:txBody>
          <a:bodyPr wrap="square">
            <a:spAutoFit/>
          </a:bodyPr>
          <a:lstStyle/>
          <a:p>
            <a:pPr marL="0" indent="0" algn="ctr">
              <a:buNone/>
            </a:pPr>
            <a:r>
              <a:rPr lang="en-US" sz="1800" b="1" kern="0" spc="180" dirty="0">
                <a:solidFill>
                  <a:srgbClr val="D86A0E"/>
                </a:solidFill>
                <a:latin typeface="Montserrat" pitchFamily="34" charset="0"/>
                <a:ea typeface="Montserrat" pitchFamily="34" charset="-122"/>
                <a:cs typeface="Montserrat" pitchFamily="34" charset="-120"/>
              </a:rPr>
              <a:t>TEAMMATE</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14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50976" y="475488"/>
            <a:ext cx="9144000" cy="274320"/>
          </a:xfrm>
          <a:prstGeom prst="rect">
            <a:avLst/>
          </a:prstGeom>
          <a:noFill/>
        </p:spPr>
        <p:txBody>
          <a:bodyPr wrap="square" lIns="0" tIns="0" rIns="0" bIns="0" anchor="t">
            <a:spAutoFit/>
          </a:bodyPr>
          <a:lstStyle/>
          <a:p>
            <a:pPr algn="l">
              <a:lnSpc>
                <a:spcPct val="110000"/>
              </a:lnSpc>
            </a:pPr>
            <a:r>
              <a:rPr sz="1100" b="0">
                <a:solidFill>
                  <a:srgbClr val="6B6E78"/>
                </a:solidFill>
                <a:latin typeface="JetBrains Mono"/>
              </a:rPr>
              <a:t>THE TAKEAWAY</a:t>
            </a:r>
          </a:p>
        </p:txBody>
      </p:sp>
      <p:sp>
        <p:nvSpPr>
          <p:cNvPr id="4" name="TextBox 3"/>
          <p:cNvSpPr txBox="1"/>
          <p:nvPr/>
        </p:nvSpPr>
        <p:spPr>
          <a:xfrm>
            <a:off x="16002000" y="475488"/>
            <a:ext cx="1371600" cy="274320"/>
          </a:xfrm>
          <a:prstGeom prst="rect">
            <a:avLst/>
          </a:prstGeom>
          <a:noFill/>
        </p:spPr>
        <p:txBody>
          <a:bodyPr wrap="square" lIns="0" tIns="0" rIns="0" bIns="0" anchor="t">
            <a:spAutoFit/>
          </a:bodyPr>
          <a:lstStyle/>
          <a:p>
            <a:pPr algn="r">
              <a:lnSpc>
                <a:spcPct val="110000"/>
              </a:lnSpc>
            </a:pPr>
            <a:r>
              <a:rPr sz="1100" b="0">
                <a:solidFill>
                  <a:srgbClr val="6B6E78"/>
                </a:solidFill>
                <a:latin typeface="JetBrains Mono"/>
              </a:rPr>
              <a:t>12 / 12</a:t>
            </a:r>
          </a:p>
        </p:txBody>
      </p:sp>
      <p:sp>
        <p:nvSpPr>
          <p:cNvPr id="5" name="TextBox 4"/>
          <p:cNvSpPr txBox="1"/>
          <p:nvPr/>
        </p:nvSpPr>
        <p:spPr>
          <a:xfrm>
            <a:off x="950976" y="2011680"/>
            <a:ext cx="2743200" cy="2468880"/>
          </a:xfrm>
          <a:prstGeom prst="rect">
            <a:avLst/>
          </a:prstGeom>
          <a:noFill/>
        </p:spPr>
        <p:txBody>
          <a:bodyPr wrap="square" lIns="0" tIns="0" rIns="0" bIns="0" anchor="t">
            <a:spAutoFit/>
          </a:bodyPr>
          <a:lstStyle/>
          <a:p>
            <a:pPr algn="l">
              <a:lnSpc>
                <a:spcPct val="110000"/>
              </a:lnSpc>
            </a:pPr>
            <a:r>
              <a:rPr sz="27000" b="1">
                <a:solidFill>
                  <a:srgbClr val="F58220"/>
                </a:solidFill>
                <a:latin typeface="Montserrat"/>
              </a:rPr>
              <a:t>“</a:t>
            </a:r>
          </a:p>
        </p:txBody>
      </p:sp>
      <p:sp>
        <p:nvSpPr>
          <p:cNvPr id="6" name="TextBox 5"/>
          <p:cNvSpPr txBox="1"/>
          <p:nvPr/>
        </p:nvSpPr>
        <p:spPr>
          <a:xfrm>
            <a:off x="950976" y="4572000"/>
            <a:ext cx="16386048" cy="3200400"/>
          </a:xfrm>
          <a:prstGeom prst="rect">
            <a:avLst/>
          </a:prstGeom>
          <a:noFill/>
        </p:spPr>
        <p:txBody>
          <a:bodyPr wrap="square" lIns="0" tIns="0" rIns="0" bIns="0" anchor="t">
            <a:spAutoFit/>
          </a:bodyPr>
          <a:lstStyle/>
          <a:p>
            <a:pPr algn="l">
              <a:lnSpc>
                <a:spcPct val="115000"/>
              </a:lnSpc>
            </a:pPr>
            <a:r>
              <a:rPr sz="6400" b="0">
                <a:solidFill>
                  <a:srgbClr val="FFFFFF"/>
                </a:solidFill>
                <a:latin typeface="Montserrat"/>
              </a:rPr>
              <a:t>Your CLAUDE.md is now a </a:t>
            </a:r>
            <a:r>
              <a:rPr sz="6400" b="1">
                <a:solidFill>
                  <a:srgbClr val="3FE0D0"/>
                </a:solidFill>
                <a:latin typeface="Montserrat"/>
              </a:rPr>
              <a:t>draft</a:t>
            </a:r>
            <a:r>
              <a:rPr sz="6400" b="0">
                <a:solidFill>
                  <a:srgbClr val="FFFFFF"/>
                </a:solidFill>
                <a:latin typeface="Montserrat"/>
              </a:rPr>
              <a:t>,
not a </a:t>
            </a:r>
            <a:r>
              <a:rPr sz="6400" b="1">
                <a:solidFill>
                  <a:srgbClr val="F58220"/>
                </a:solidFill>
                <a:latin typeface="Montserrat"/>
              </a:rPr>
              <a:t>relic</a:t>
            </a:r>
            <a:r>
              <a:rPr sz="6400" b="0">
                <a:solidFill>
                  <a:srgbClr val="FFFFFF"/>
                </a:solidFill>
                <a:latin typeface="Montserrat"/>
              </a:rPr>
              <a:t>.</a:t>
            </a:r>
          </a:p>
        </p:txBody>
      </p:sp>
      <p:sp>
        <p:nvSpPr>
          <p:cNvPr id="8" name="Rectangle 7"/>
          <p:cNvSpPr/>
          <p:nvPr/>
        </p:nvSpPr>
        <p:spPr>
          <a:xfrm>
            <a:off x="950976" y="9189720"/>
            <a:ext cx="457200" cy="38100"/>
          </a:xfrm>
          <a:prstGeom prst="rect">
            <a:avLst/>
          </a:prstGeom>
          <a:solidFill>
            <a:srgbClr val="F58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50976" y="9326880"/>
            <a:ext cx="16459200" cy="365760"/>
          </a:xfrm>
          <a:prstGeom prst="rect">
            <a:avLst/>
          </a:prstGeom>
          <a:noFill/>
        </p:spPr>
        <p:txBody>
          <a:bodyPr wrap="square" lIns="0" tIns="0" rIns="0" bIns="0" anchor="t">
            <a:spAutoFit/>
          </a:bodyPr>
          <a:lstStyle/>
          <a:p>
            <a:pPr algn="l">
              <a:lnSpc>
                <a:spcPct val="110000"/>
              </a:lnSpc>
            </a:pPr>
            <a:r>
              <a:rPr sz="1300" b="0">
                <a:solidFill>
                  <a:srgbClr val="6B6E78"/>
                </a:solidFill>
                <a:latin typeface="JetBrains Mono"/>
              </a:rPr>
              <a:t>— CHRIS KEHAYIAS · CITN.AI WORKSHOP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TotalTime>
  <Words>1914</Words>
  <Application>Microsoft Office PowerPoint</Application>
  <PresentationFormat>Custom</PresentationFormat>
  <Paragraphs>233</Paragraphs>
  <Slides>24</Slides>
  <Notes>22</Notes>
  <HiddenSlides>3</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Inter</vt:lpstr>
      <vt:lpstr>JetBrains Mono</vt:lpstr>
      <vt:lpstr>Montserrat</vt:lpstr>
      <vt:lpstr>ui-monospace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Patrick Abernathy</cp:lastModifiedBy>
  <cp:revision>11</cp:revision>
  <dcterms:created xsi:type="dcterms:W3CDTF">2013-01-27T09:14:16Z</dcterms:created>
  <dcterms:modified xsi:type="dcterms:W3CDTF">2026-05-07T17:06:09Z</dcterms:modified>
  <cp:category/>
</cp:coreProperties>
</file>
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80" d="100"/>
          <a:sy n="80" d="100"/>
        </p:scale>
        <p:origin x="824"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80088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people back from lunch. This is the practice partner to Session 04 — Session 04 told you what good context looks like; Session 05 makes you write it, get critiqued, and rewrite. Land the line: 'Everyone writes. Everyone rewrites — that is Commandment X in practice.'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the shape of the hour. Five blocks, hard time boxes. Tell the room: 'Slides today exist to time-box and orient. The work is in your editor.' Mention block 5 in orange — that is where Commandment X actually lands.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Move fast here. The point is: pick something. If anyone is still deciding after 90 seconds, push them to the shared sample. Have the clone command ready on screen if needed.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it once on screen so everyone sees the shape of the output. Then turn them loose to run it themselves. Drive home: anything that comes back from project-overview is stuff Claude already knows — it should NOT end up in the CLAUDE.md they are about to write.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Start the timer immediately. Walk the room — drop by every desk at least once. If someone asks 'what should I include?' point them at the Part 1 template and walk on. They learn by writing, not by asking.</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Pair them off explicitly — point if you have to. At the 7-minute mark, call 'switch' loudly. The checklist on slide 7 is what they should be reading against.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Tell people to take a photo of this slide right now. Call out item 4 explicitly: 'Commandment II — keep it lean. If Claude can already see it, do not retype it.' Litmus test in the footer is the one to repeat out loud.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centerpiece. Say 'Commandment X' out loud as you start the timer. They iterate, then run the test prompt on slide 9. Watch for the moment they see Claude's answer change — that is the lesson.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After they iterate, they paste this prompt verbatim. The answer is the next thing missing. Underline that this is exactly the loop Commandment X describes — write, run, revise, run again.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Flash the full poster for two beats. Then point at commandment X. 'What you just did is the practice. Do it weekly.' This is the third and most important time you say Commandment X out loud today — make it land.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Pick two volunteers — ideally ones whose drafts you saw shift the most while circulating. Keep each share to 60-90 seconds. Land Commandment X out loud one last time after they speak.</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Land it and stop. 'Your CLAUDE.md is now a draft, not a relic. Day 2 is when it earns its keep.' Hand off to the break / next session.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50976" y="758952"/>
            <a:ext cx="1828800" cy="365760"/>
          </a:xfrm>
          <a:prstGeom prst="rect">
            <a:avLst/>
          </a:prstGeom>
          <a:noFill/>
        </p:spPr>
        <p:txBody>
          <a:bodyPr wrap="square" lIns="0" tIns="0" rIns="0" bIns="0" anchor="t">
            <a:spAutoFit/>
          </a:bodyPr>
          <a:lstStyle/>
          <a:p>
            <a:pPr algn="l">
              <a:lnSpc>
                <a:spcPct val="110000"/>
              </a:lnSpc>
            </a:pPr>
            <a:r>
              <a:rPr sz="1950" b="1">
                <a:solidFill>
                  <a:srgbClr val="FFFFFF"/>
                </a:solidFill>
                <a:latin typeface="Montserrat"/>
              </a:rPr>
              <a:t>CITN</a:t>
            </a:r>
            <a:r>
              <a:rPr sz="1950" b="1">
                <a:solidFill>
                  <a:srgbClr val="3FE0D0"/>
                </a:solidFill>
                <a:latin typeface="Montserrat"/>
              </a:rPr>
              <a:t>·</a:t>
            </a:r>
            <a:r>
              <a:rPr sz="1950" b="1">
                <a:solidFill>
                  <a:srgbClr val="FFFFFF"/>
                </a:solidFill>
                <a:latin typeface="Montserrat"/>
              </a:rPr>
              <a:t>AI</a:t>
            </a:r>
          </a:p>
        </p:txBody>
      </p:sp>
      <p:sp>
        <p:nvSpPr>
          <p:cNvPr id="7" name="TextBox 6"/>
          <p:cNvSpPr txBox="1"/>
          <p:nvPr/>
        </p:nvSpPr>
        <p:spPr>
          <a:xfrm>
            <a:off x="950976" y="3246120"/>
            <a:ext cx="10972800" cy="365760"/>
          </a:xfrm>
          <a:prstGeom prst="rect">
            <a:avLst/>
          </a:prstGeom>
          <a:noFill/>
        </p:spPr>
        <p:txBody>
          <a:bodyPr wrap="square" lIns="0" tIns="0" rIns="0" bIns="0" anchor="t">
            <a:spAutoFit/>
          </a:bodyPr>
          <a:lstStyle/>
          <a:p>
            <a:pPr algn="l">
              <a:lnSpc>
                <a:spcPct val="110000"/>
              </a:lnSpc>
            </a:pPr>
            <a:r>
              <a:rPr sz="1950" b="1">
                <a:solidFill>
                  <a:srgbClr val="3FE0D0"/>
                </a:solidFill>
                <a:latin typeface="Montserrat"/>
              </a:rPr>
              <a:t>CHURCH IT NETWORK · WORKSHOP</a:t>
            </a:r>
          </a:p>
        </p:txBody>
      </p:sp>
      <p:sp>
        <p:nvSpPr>
          <p:cNvPr id="8" name="TextBox 7"/>
          <p:cNvSpPr txBox="1"/>
          <p:nvPr/>
        </p:nvSpPr>
        <p:spPr>
          <a:xfrm>
            <a:off x="950976" y="3703320"/>
            <a:ext cx="7315200" cy="365760"/>
          </a:xfrm>
          <a:prstGeom prst="rect">
            <a:avLst/>
          </a:prstGeom>
          <a:noFill/>
        </p:spPr>
        <p:txBody>
          <a:bodyPr wrap="square" lIns="0" tIns="0" rIns="0" bIns="0" anchor="t">
            <a:spAutoFit/>
          </a:bodyPr>
          <a:lstStyle/>
          <a:p>
            <a:pPr algn="l">
              <a:lnSpc>
                <a:spcPct val="110000"/>
              </a:lnSpc>
            </a:pPr>
            <a:r>
              <a:rPr sz="2100" b="0">
                <a:solidFill>
                  <a:srgbClr val="3FE0D0"/>
                </a:solidFill>
                <a:latin typeface="JetBrains Mono"/>
              </a:rPr>
              <a:t>PART 05 / 14</a:t>
            </a:r>
          </a:p>
        </p:txBody>
      </p:sp>
      <p:sp>
        <p:nvSpPr>
          <p:cNvPr id="9" name="TextBox 8"/>
          <p:cNvSpPr txBox="1"/>
          <p:nvPr/>
        </p:nvSpPr>
        <p:spPr>
          <a:xfrm>
            <a:off x="950976" y="4160520"/>
            <a:ext cx="14272982" cy="3113160"/>
          </a:xfrm>
          <a:prstGeom prst="rect">
            <a:avLst/>
          </a:prstGeom>
          <a:noFill/>
        </p:spPr>
        <p:txBody>
          <a:bodyPr wrap="square" lIns="0" tIns="0" rIns="0" bIns="0" anchor="t">
            <a:spAutoFit/>
          </a:bodyPr>
          <a:lstStyle/>
          <a:p>
            <a:pPr algn="l">
              <a:lnSpc>
                <a:spcPct val="105000"/>
              </a:lnSpc>
            </a:pPr>
            <a:r>
              <a:rPr sz="9900" b="1" dirty="0">
                <a:solidFill>
                  <a:srgbClr val="FFFFFF"/>
                </a:solidFill>
                <a:latin typeface="Montserrat"/>
              </a:rPr>
              <a:t>Building </a:t>
            </a:r>
            <a:r>
              <a:rPr sz="9900" b="1" dirty="0">
                <a:solidFill>
                  <a:srgbClr val="3FE0D0"/>
                </a:solidFill>
                <a:latin typeface="Montserrat"/>
              </a:rPr>
              <a:t>Context</a:t>
            </a:r>
            <a:r>
              <a:rPr sz="9900" b="1" dirty="0">
                <a:solidFill>
                  <a:srgbClr val="FFFFFF"/>
                </a:solidFill>
                <a:latin typeface="Montserrat"/>
              </a:rPr>
              <a:t> Part 2</a:t>
            </a:r>
          </a:p>
        </p:txBody>
      </p:sp>
      <p:sp>
        <p:nvSpPr>
          <p:cNvPr id="10" name="TextBox 9"/>
          <p:cNvSpPr txBox="1"/>
          <p:nvPr/>
        </p:nvSpPr>
        <p:spPr>
          <a:xfrm>
            <a:off x="950976" y="7150236"/>
            <a:ext cx="10972800" cy="640080"/>
          </a:xfrm>
          <a:prstGeom prst="rect">
            <a:avLst/>
          </a:prstGeom>
          <a:noFill/>
        </p:spPr>
        <p:txBody>
          <a:bodyPr wrap="square" lIns="0" tIns="0" rIns="0" bIns="0" anchor="t">
            <a:spAutoFit/>
          </a:bodyPr>
          <a:lstStyle/>
          <a:p>
            <a:pPr algn="l">
              <a:lnSpc>
                <a:spcPct val="110000"/>
              </a:lnSpc>
            </a:pPr>
            <a:r>
              <a:rPr sz="2400" b="0" dirty="0">
                <a:solidFill>
                  <a:srgbClr val="C9CBD1"/>
                </a:solidFill>
                <a:latin typeface="Inter"/>
              </a:rPr>
              <a:t>Everyone writes. Everyone rewrites. — Commandment X in practice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50976" y="475488"/>
            <a:ext cx="9144000" cy="274320"/>
          </a:xfrm>
          <a:prstGeom prst="rect">
            <a:avLst/>
          </a:prstGeom>
          <a:noFill/>
        </p:spPr>
        <p:txBody>
          <a:bodyPr wrap="square" lIns="0" tIns="0" rIns="0" bIns="0" anchor="t">
            <a:spAutoFit/>
          </a:bodyPr>
          <a:lstStyle/>
          <a:p>
            <a:pPr algn="l">
              <a:lnSpc>
                <a:spcPct val="110000"/>
              </a:lnSpc>
            </a:pPr>
            <a:r>
              <a:rPr sz="1100" b="0">
                <a:solidFill>
                  <a:srgbClr val="6B6E78"/>
                </a:solidFill>
                <a:latin typeface="JetBrains Mono"/>
              </a:rPr>
              <a:t>BUILDING CONTEXT · PART 2</a:t>
            </a:r>
          </a:p>
        </p:txBody>
      </p:sp>
      <p:sp>
        <p:nvSpPr>
          <p:cNvPr id="4" name="TextBox 3"/>
          <p:cNvSpPr txBox="1"/>
          <p:nvPr/>
        </p:nvSpPr>
        <p:spPr>
          <a:xfrm>
            <a:off x="16002000" y="475488"/>
            <a:ext cx="1371600" cy="274320"/>
          </a:xfrm>
          <a:prstGeom prst="rect">
            <a:avLst/>
          </a:prstGeom>
          <a:noFill/>
        </p:spPr>
        <p:txBody>
          <a:bodyPr wrap="square" lIns="0" tIns="0" rIns="0" bIns="0" anchor="t">
            <a:spAutoFit/>
          </a:bodyPr>
          <a:lstStyle/>
          <a:p>
            <a:pPr algn="r">
              <a:lnSpc>
                <a:spcPct val="110000"/>
              </a:lnSpc>
            </a:pPr>
            <a:r>
              <a:rPr sz="1100" b="0">
                <a:solidFill>
                  <a:srgbClr val="6B6E78"/>
                </a:solidFill>
                <a:latin typeface="JetBrains Mono"/>
              </a:rPr>
              <a:t>02 / 12</a:t>
            </a:r>
          </a:p>
        </p:txBody>
      </p:sp>
      <p:sp>
        <p:nvSpPr>
          <p:cNvPr id="5" name="TextBox 4"/>
          <p:cNvSpPr txBox="1"/>
          <p:nvPr/>
        </p:nvSpPr>
        <p:spPr>
          <a:xfrm>
            <a:off x="950976" y="1280160"/>
            <a:ext cx="16459200" cy="365760"/>
          </a:xfrm>
          <a:prstGeom prst="rect">
            <a:avLst/>
          </a:prstGeom>
          <a:noFill/>
        </p:spPr>
        <p:txBody>
          <a:bodyPr wrap="square" lIns="0" tIns="0" rIns="0" bIns="0" anchor="t">
            <a:spAutoFit/>
          </a:bodyPr>
          <a:lstStyle/>
          <a:p>
            <a:pPr algn="l">
              <a:lnSpc>
                <a:spcPct val="110000"/>
              </a:lnSpc>
            </a:pPr>
            <a:r>
              <a:rPr sz="1500" b="0">
                <a:solidFill>
                  <a:srgbClr val="F58220"/>
                </a:solidFill>
                <a:latin typeface="JetBrains Mono"/>
              </a:rPr>
              <a:t>THE NEXT 60 MINUTES</a:t>
            </a:r>
          </a:p>
        </p:txBody>
      </p:sp>
      <p:sp>
        <p:nvSpPr>
          <p:cNvPr id="6" name="TextBox 5"/>
          <p:cNvSpPr txBox="1"/>
          <p:nvPr/>
        </p:nvSpPr>
        <p:spPr>
          <a:xfrm>
            <a:off x="950976" y="1783080"/>
            <a:ext cx="14630400" cy="1463040"/>
          </a:xfrm>
          <a:prstGeom prst="rect">
            <a:avLst/>
          </a:prstGeom>
          <a:noFill/>
        </p:spPr>
        <p:txBody>
          <a:bodyPr wrap="square" lIns="0" tIns="0" rIns="0" bIns="0" anchor="t">
            <a:spAutoFit/>
          </a:bodyPr>
          <a:lstStyle/>
          <a:p>
            <a:pPr algn="l">
              <a:lnSpc>
                <a:spcPct val="110000"/>
              </a:lnSpc>
            </a:pPr>
            <a:r>
              <a:rPr sz="7000" b="1">
                <a:solidFill>
                  <a:srgbClr val="FFFFFF"/>
                </a:solidFill>
                <a:latin typeface="Montserrat"/>
              </a:rPr>
              <a:t>Five blocks. </a:t>
            </a:r>
            <a:r>
              <a:rPr sz="7000" b="1">
                <a:solidFill>
                  <a:srgbClr val="3FE0D0"/>
                </a:solidFill>
                <a:latin typeface="Montserrat"/>
              </a:rPr>
              <a:t>One discipline.</a:t>
            </a:r>
          </a:p>
        </p:txBody>
      </p:sp>
      <p:sp>
        <p:nvSpPr>
          <p:cNvPr id="7" name="Rectangle 6"/>
          <p:cNvSpPr/>
          <p:nvPr/>
        </p:nvSpPr>
        <p:spPr>
          <a:xfrm>
            <a:off x="950976" y="4160520"/>
            <a:ext cx="3246120" cy="475488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50976" y="4160520"/>
            <a:ext cx="3246120" cy="73152"/>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316736" y="4480560"/>
            <a:ext cx="2468880" cy="411480"/>
          </a:xfrm>
          <a:prstGeom prst="rect">
            <a:avLst/>
          </a:prstGeom>
          <a:noFill/>
        </p:spPr>
        <p:txBody>
          <a:bodyPr wrap="square" lIns="0" tIns="0" rIns="0" bIns="0" anchor="t">
            <a:spAutoFit/>
          </a:bodyPr>
          <a:lstStyle/>
          <a:p>
            <a:pPr algn="l">
              <a:lnSpc>
                <a:spcPct val="110000"/>
              </a:lnSpc>
            </a:pPr>
            <a:r>
              <a:rPr sz="1500" b="0">
                <a:solidFill>
                  <a:srgbClr val="3FE0D0"/>
                </a:solidFill>
                <a:latin typeface="JetBrains Mono"/>
              </a:rPr>
              <a:t>01</a:t>
            </a:r>
          </a:p>
        </p:txBody>
      </p:sp>
      <p:sp>
        <p:nvSpPr>
          <p:cNvPr id="10" name="TextBox 9"/>
          <p:cNvSpPr txBox="1"/>
          <p:nvPr/>
        </p:nvSpPr>
        <p:spPr>
          <a:xfrm>
            <a:off x="1316736" y="4937760"/>
            <a:ext cx="2743200" cy="1371600"/>
          </a:xfrm>
          <a:prstGeom prst="rect">
            <a:avLst/>
          </a:prstGeom>
          <a:noFill/>
        </p:spPr>
        <p:txBody>
          <a:bodyPr wrap="square" lIns="0" tIns="0" rIns="0" bIns="0" anchor="t">
            <a:spAutoFit/>
          </a:bodyPr>
          <a:lstStyle/>
          <a:p>
            <a:pPr algn="l">
              <a:lnSpc>
                <a:spcPct val="100000"/>
              </a:lnSpc>
            </a:pPr>
            <a:r>
              <a:rPr sz="3400" b="1">
                <a:solidFill>
                  <a:srgbClr val="FFFFFF"/>
                </a:solidFill>
                <a:latin typeface="Montserrat"/>
              </a:rPr>
              <a:t>Setup</a:t>
            </a:r>
          </a:p>
        </p:txBody>
      </p:sp>
      <p:sp>
        <p:nvSpPr>
          <p:cNvPr id="11" name="Rounded Rectangle 10"/>
          <p:cNvSpPr/>
          <p:nvPr/>
        </p:nvSpPr>
        <p:spPr>
          <a:xfrm>
            <a:off x="1316736" y="6172200"/>
            <a:ext cx="1234440" cy="384048"/>
          </a:xfrm>
          <a:prstGeom prst="round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lIns="109728" tIns="18288" rIns="109728" bIns="18288" rtlCol="0" anchor="ctr"/>
          <a:lstStyle/>
          <a:p>
            <a:pPr algn="ctr"/>
            <a:r>
              <a:rPr sz="1400" b="1">
                <a:solidFill>
                  <a:srgbClr val="14161C"/>
                </a:solidFill>
                <a:latin typeface="JetBrains Mono"/>
              </a:rPr>
              <a:t>5 min</a:t>
            </a:r>
          </a:p>
        </p:txBody>
      </p:sp>
      <p:sp>
        <p:nvSpPr>
          <p:cNvPr id="12" name="TextBox 11"/>
          <p:cNvSpPr txBox="1"/>
          <p:nvPr/>
        </p:nvSpPr>
        <p:spPr>
          <a:xfrm>
            <a:off x="1316736" y="6858000"/>
            <a:ext cx="2514600" cy="1828800"/>
          </a:xfrm>
          <a:prstGeom prst="rect">
            <a:avLst/>
          </a:prstGeom>
          <a:noFill/>
        </p:spPr>
        <p:txBody>
          <a:bodyPr wrap="square" lIns="0" tIns="0" rIns="0" bIns="0" anchor="t">
            <a:spAutoFit/>
          </a:bodyPr>
          <a:lstStyle/>
          <a:p>
            <a:pPr algn="l">
              <a:lnSpc>
                <a:spcPct val="125000"/>
              </a:lnSpc>
            </a:pPr>
            <a:r>
              <a:rPr sz="1600" b="0">
                <a:solidFill>
                  <a:srgbClr val="C9CBD1"/>
                </a:solidFill>
                <a:latin typeface="Inter"/>
              </a:rPr>
              <a:t>Repo open before the timer starts.</a:t>
            </a:r>
          </a:p>
        </p:txBody>
      </p:sp>
      <p:sp>
        <p:nvSpPr>
          <p:cNvPr id="13" name="Rectangle 12"/>
          <p:cNvSpPr/>
          <p:nvPr/>
        </p:nvSpPr>
        <p:spPr>
          <a:xfrm>
            <a:off x="4288536" y="4160520"/>
            <a:ext cx="3246120" cy="475488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288536" y="4160520"/>
            <a:ext cx="3246120" cy="73152"/>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654296" y="4480560"/>
            <a:ext cx="2468880" cy="411480"/>
          </a:xfrm>
          <a:prstGeom prst="rect">
            <a:avLst/>
          </a:prstGeom>
          <a:noFill/>
        </p:spPr>
        <p:txBody>
          <a:bodyPr wrap="square" lIns="0" tIns="0" rIns="0" bIns="0" anchor="t">
            <a:spAutoFit/>
          </a:bodyPr>
          <a:lstStyle/>
          <a:p>
            <a:pPr algn="l">
              <a:lnSpc>
                <a:spcPct val="110000"/>
              </a:lnSpc>
            </a:pPr>
            <a:r>
              <a:rPr sz="1500" b="0">
                <a:solidFill>
                  <a:srgbClr val="3FE0D0"/>
                </a:solidFill>
                <a:latin typeface="JetBrains Mono"/>
              </a:rPr>
              <a:t>02</a:t>
            </a:r>
          </a:p>
        </p:txBody>
      </p:sp>
      <p:sp>
        <p:nvSpPr>
          <p:cNvPr id="16" name="TextBox 15"/>
          <p:cNvSpPr txBox="1"/>
          <p:nvPr/>
        </p:nvSpPr>
        <p:spPr>
          <a:xfrm>
            <a:off x="4654296" y="4937760"/>
            <a:ext cx="2743200" cy="1371600"/>
          </a:xfrm>
          <a:prstGeom prst="rect">
            <a:avLst/>
          </a:prstGeom>
          <a:noFill/>
        </p:spPr>
        <p:txBody>
          <a:bodyPr wrap="square" lIns="0" tIns="0" rIns="0" bIns="0" anchor="t">
            <a:spAutoFit/>
          </a:bodyPr>
          <a:lstStyle/>
          <a:p>
            <a:pPr algn="l">
              <a:lnSpc>
                <a:spcPct val="100000"/>
              </a:lnSpc>
            </a:pPr>
            <a:r>
              <a:rPr sz="3400" b="1">
                <a:solidFill>
                  <a:srgbClr val="FFFFFF"/>
                </a:solidFill>
                <a:latin typeface="Montserrat"/>
              </a:rPr>
              <a:t>Baseline</a:t>
            </a:r>
          </a:p>
        </p:txBody>
      </p:sp>
      <p:sp>
        <p:nvSpPr>
          <p:cNvPr id="17" name="Rounded Rectangle 16"/>
          <p:cNvSpPr/>
          <p:nvPr/>
        </p:nvSpPr>
        <p:spPr>
          <a:xfrm>
            <a:off x="4654296" y="6172200"/>
            <a:ext cx="1234440" cy="384048"/>
          </a:xfrm>
          <a:prstGeom prst="round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lIns="109728" tIns="18288" rIns="109728" bIns="18288" rtlCol="0" anchor="ctr"/>
          <a:lstStyle/>
          <a:p>
            <a:pPr algn="ctr"/>
            <a:r>
              <a:rPr sz="1400" b="1">
                <a:solidFill>
                  <a:srgbClr val="14161C"/>
                </a:solidFill>
                <a:latin typeface="JetBrains Mono"/>
              </a:rPr>
              <a:t>10 min</a:t>
            </a:r>
          </a:p>
        </p:txBody>
      </p:sp>
      <p:sp>
        <p:nvSpPr>
          <p:cNvPr id="18" name="TextBox 17"/>
          <p:cNvSpPr txBox="1"/>
          <p:nvPr/>
        </p:nvSpPr>
        <p:spPr>
          <a:xfrm>
            <a:off x="4654296" y="6858000"/>
            <a:ext cx="2514600" cy="1828800"/>
          </a:xfrm>
          <a:prstGeom prst="rect">
            <a:avLst/>
          </a:prstGeom>
          <a:noFill/>
        </p:spPr>
        <p:txBody>
          <a:bodyPr wrap="square" lIns="0" tIns="0" rIns="0" bIns="0" anchor="t">
            <a:spAutoFit/>
          </a:bodyPr>
          <a:lstStyle/>
          <a:p>
            <a:pPr algn="l">
              <a:lnSpc>
                <a:spcPct val="125000"/>
              </a:lnSpc>
            </a:pPr>
            <a:r>
              <a:rPr sz="1600" b="0">
                <a:solidFill>
                  <a:srgbClr val="C9CBD1"/>
                </a:solidFill>
                <a:latin typeface="Inter"/>
              </a:rPr>
              <a:t>/project:project-overview — same starting point for everyone.</a:t>
            </a:r>
          </a:p>
        </p:txBody>
      </p:sp>
      <p:sp>
        <p:nvSpPr>
          <p:cNvPr id="19" name="Rectangle 18"/>
          <p:cNvSpPr/>
          <p:nvPr/>
        </p:nvSpPr>
        <p:spPr>
          <a:xfrm>
            <a:off x="7626096" y="4160520"/>
            <a:ext cx="3246120" cy="475488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7626096" y="4160520"/>
            <a:ext cx="3246120" cy="73152"/>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991856" y="4480560"/>
            <a:ext cx="2468880" cy="411480"/>
          </a:xfrm>
          <a:prstGeom prst="rect">
            <a:avLst/>
          </a:prstGeom>
          <a:noFill/>
        </p:spPr>
        <p:txBody>
          <a:bodyPr wrap="square" lIns="0" tIns="0" rIns="0" bIns="0" anchor="t">
            <a:spAutoFit/>
          </a:bodyPr>
          <a:lstStyle/>
          <a:p>
            <a:pPr algn="l">
              <a:lnSpc>
                <a:spcPct val="110000"/>
              </a:lnSpc>
            </a:pPr>
            <a:r>
              <a:rPr sz="1500" b="0">
                <a:solidFill>
                  <a:srgbClr val="3FE0D0"/>
                </a:solidFill>
                <a:latin typeface="JetBrains Mono"/>
              </a:rPr>
              <a:t>03</a:t>
            </a:r>
          </a:p>
        </p:txBody>
      </p:sp>
      <p:sp>
        <p:nvSpPr>
          <p:cNvPr id="22" name="TextBox 21"/>
          <p:cNvSpPr txBox="1"/>
          <p:nvPr/>
        </p:nvSpPr>
        <p:spPr>
          <a:xfrm>
            <a:off x="7991856" y="4937760"/>
            <a:ext cx="2743200" cy="1371600"/>
          </a:xfrm>
          <a:prstGeom prst="rect">
            <a:avLst/>
          </a:prstGeom>
          <a:noFill/>
        </p:spPr>
        <p:txBody>
          <a:bodyPr wrap="square" lIns="0" tIns="0" rIns="0" bIns="0" anchor="t">
            <a:spAutoFit/>
          </a:bodyPr>
          <a:lstStyle/>
          <a:p>
            <a:pPr algn="l">
              <a:lnSpc>
                <a:spcPct val="100000"/>
              </a:lnSpc>
            </a:pPr>
            <a:r>
              <a:rPr sz="3400" b="1">
                <a:solidFill>
                  <a:srgbClr val="FFFFFF"/>
                </a:solidFill>
                <a:latin typeface="Montserrat"/>
              </a:rPr>
              <a:t>Solo draft</a:t>
            </a:r>
          </a:p>
        </p:txBody>
      </p:sp>
      <p:sp>
        <p:nvSpPr>
          <p:cNvPr id="23" name="Rounded Rectangle 22"/>
          <p:cNvSpPr/>
          <p:nvPr/>
        </p:nvSpPr>
        <p:spPr>
          <a:xfrm>
            <a:off x="7991856" y="6172200"/>
            <a:ext cx="1234440" cy="384048"/>
          </a:xfrm>
          <a:prstGeom prst="round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lIns="109728" tIns="18288" rIns="109728" bIns="18288" rtlCol="0" anchor="ctr"/>
          <a:lstStyle/>
          <a:p>
            <a:pPr algn="ctr"/>
            <a:r>
              <a:rPr sz="1400" b="1">
                <a:solidFill>
                  <a:srgbClr val="14161C"/>
                </a:solidFill>
                <a:latin typeface="JetBrains Mono"/>
              </a:rPr>
              <a:t>15 min</a:t>
            </a:r>
          </a:p>
        </p:txBody>
      </p:sp>
      <p:sp>
        <p:nvSpPr>
          <p:cNvPr id="24" name="TextBox 23"/>
          <p:cNvSpPr txBox="1"/>
          <p:nvPr/>
        </p:nvSpPr>
        <p:spPr>
          <a:xfrm>
            <a:off x="7991856" y="6858000"/>
            <a:ext cx="2514600" cy="1828800"/>
          </a:xfrm>
          <a:prstGeom prst="rect">
            <a:avLst/>
          </a:prstGeom>
          <a:noFill/>
        </p:spPr>
        <p:txBody>
          <a:bodyPr wrap="square" lIns="0" tIns="0" rIns="0" bIns="0" anchor="t">
            <a:spAutoFit/>
          </a:bodyPr>
          <a:lstStyle/>
          <a:p>
            <a:pPr algn="l">
              <a:lnSpc>
                <a:spcPct val="125000"/>
              </a:lnSpc>
            </a:pPr>
            <a:r>
              <a:rPr sz="1600" b="0">
                <a:solidFill>
                  <a:srgbClr val="C9CBD1"/>
                </a:solidFill>
                <a:latin typeface="Inter"/>
              </a:rPr>
              <a:t>No chat. Just write. Use the Part 1 template.</a:t>
            </a:r>
          </a:p>
        </p:txBody>
      </p:sp>
      <p:sp>
        <p:nvSpPr>
          <p:cNvPr id="25" name="Rectangle 24"/>
          <p:cNvSpPr/>
          <p:nvPr/>
        </p:nvSpPr>
        <p:spPr>
          <a:xfrm>
            <a:off x="10963656" y="4160520"/>
            <a:ext cx="3246120" cy="475488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0963656" y="4160520"/>
            <a:ext cx="3246120" cy="73152"/>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1329416" y="4480560"/>
            <a:ext cx="2468880" cy="411480"/>
          </a:xfrm>
          <a:prstGeom prst="rect">
            <a:avLst/>
          </a:prstGeom>
          <a:noFill/>
        </p:spPr>
        <p:txBody>
          <a:bodyPr wrap="square" lIns="0" tIns="0" rIns="0" bIns="0" anchor="t">
            <a:spAutoFit/>
          </a:bodyPr>
          <a:lstStyle/>
          <a:p>
            <a:pPr algn="l">
              <a:lnSpc>
                <a:spcPct val="110000"/>
              </a:lnSpc>
            </a:pPr>
            <a:r>
              <a:rPr sz="1500" b="0">
                <a:solidFill>
                  <a:srgbClr val="3FE0D0"/>
                </a:solidFill>
                <a:latin typeface="JetBrains Mono"/>
              </a:rPr>
              <a:t>04</a:t>
            </a:r>
          </a:p>
        </p:txBody>
      </p:sp>
      <p:sp>
        <p:nvSpPr>
          <p:cNvPr id="28" name="TextBox 27"/>
          <p:cNvSpPr txBox="1"/>
          <p:nvPr/>
        </p:nvSpPr>
        <p:spPr>
          <a:xfrm>
            <a:off x="11329416" y="4937760"/>
            <a:ext cx="2743200" cy="1371600"/>
          </a:xfrm>
          <a:prstGeom prst="rect">
            <a:avLst/>
          </a:prstGeom>
          <a:noFill/>
        </p:spPr>
        <p:txBody>
          <a:bodyPr wrap="square" lIns="0" tIns="0" rIns="0" bIns="0" anchor="t">
            <a:spAutoFit/>
          </a:bodyPr>
          <a:lstStyle/>
          <a:p>
            <a:pPr algn="l">
              <a:lnSpc>
                <a:spcPct val="100000"/>
              </a:lnSpc>
            </a:pPr>
            <a:r>
              <a:rPr sz="3400" b="1">
                <a:solidFill>
                  <a:srgbClr val="FFFFFF"/>
                </a:solidFill>
                <a:latin typeface="Montserrat"/>
              </a:rPr>
              <a:t>Partner critique</a:t>
            </a:r>
          </a:p>
        </p:txBody>
      </p:sp>
      <p:sp>
        <p:nvSpPr>
          <p:cNvPr id="29" name="Rounded Rectangle 28"/>
          <p:cNvSpPr/>
          <p:nvPr/>
        </p:nvSpPr>
        <p:spPr>
          <a:xfrm>
            <a:off x="11329416" y="6172200"/>
            <a:ext cx="1234440" cy="384048"/>
          </a:xfrm>
          <a:prstGeom prst="round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lIns="109728" tIns="18288" rIns="109728" bIns="18288" rtlCol="0" anchor="ctr"/>
          <a:lstStyle/>
          <a:p>
            <a:pPr algn="ctr"/>
            <a:r>
              <a:rPr sz="1400" b="1">
                <a:solidFill>
                  <a:srgbClr val="14161C"/>
                </a:solidFill>
                <a:latin typeface="JetBrains Mono"/>
              </a:rPr>
              <a:t>15 min</a:t>
            </a:r>
          </a:p>
        </p:txBody>
      </p:sp>
      <p:sp>
        <p:nvSpPr>
          <p:cNvPr id="30" name="TextBox 29"/>
          <p:cNvSpPr txBox="1"/>
          <p:nvPr/>
        </p:nvSpPr>
        <p:spPr>
          <a:xfrm>
            <a:off x="11329416" y="6858000"/>
            <a:ext cx="2514600" cy="1828800"/>
          </a:xfrm>
          <a:prstGeom prst="rect">
            <a:avLst/>
          </a:prstGeom>
          <a:noFill/>
        </p:spPr>
        <p:txBody>
          <a:bodyPr wrap="square" lIns="0" tIns="0" rIns="0" bIns="0" anchor="t">
            <a:spAutoFit/>
          </a:bodyPr>
          <a:lstStyle/>
          <a:p>
            <a:pPr algn="l">
              <a:lnSpc>
                <a:spcPct val="125000"/>
              </a:lnSpc>
            </a:pPr>
            <a:r>
              <a:rPr sz="1600" b="0">
                <a:solidFill>
                  <a:srgbClr val="C9CBD1"/>
                </a:solidFill>
                <a:latin typeface="Inter"/>
              </a:rPr>
              <a:t>Swap with the person next to you. 7 min each direction.</a:t>
            </a:r>
          </a:p>
        </p:txBody>
      </p:sp>
      <p:sp>
        <p:nvSpPr>
          <p:cNvPr id="31" name="Rectangle 30"/>
          <p:cNvSpPr/>
          <p:nvPr/>
        </p:nvSpPr>
        <p:spPr>
          <a:xfrm>
            <a:off x="14301216" y="4160520"/>
            <a:ext cx="3246120" cy="475488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14301216" y="4160520"/>
            <a:ext cx="3246120" cy="73152"/>
          </a:xfrm>
          <a:prstGeom prst="rect">
            <a:avLst/>
          </a:prstGeom>
          <a:solidFill>
            <a:srgbClr val="F58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4666976" y="4480560"/>
            <a:ext cx="2468880" cy="411480"/>
          </a:xfrm>
          <a:prstGeom prst="rect">
            <a:avLst/>
          </a:prstGeom>
          <a:noFill/>
        </p:spPr>
        <p:txBody>
          <a:bodyPr wrap="square" lIns="0" tIns="0" rIns="0" bIns="0" anchor="t">
            <a:spAutoFit/>
          </a:bodyPr>
          <a:lstStyle/>
          <a:p>
            <a:pPr algn="l">
              <a:lnSpc>
                <a:spcPct val="110000"/>
              </a:lnSpc>
            </a:pPr>
            <a:r>
              <a:rPr sz="1500" b="0">
                <a:solidFill>
                  <a:srgbClr val="F58220"/>
                </a:solidFill>
                <a:latin typeface="JetBrains Mono"/>
              </a:rPr>
              <a:t>05</a:t>
            </a:r>
          </a:p>
        </p:txBody>
      </p:sp>
      <p:sp>
        <p:nvSpPr>
          <p:cNvPr id="34" name="TextBox 33"/>
          <p:cNvSpPr txBox="1"/>
          <p:nvPr/>
        </p:nvSpPr>
        <p:spPr>
          <a:xfrm>
            <a:off x="14666976" y="4937760"/>
            <a:ext cx="2743200" cy="1371600"/>
          </a:xfrm>
          <a:prstGeom prst="rect">
            <a:avLst/>
          </a:prstGeom>
          <a:noFill/>
        </p:spPr>
        <p:txBody>
          <a:bodyPr wrap="square" lIns="0" tIns="0" rIns="0" bIns="0" anchor="t">
            <a:spAutoFit/>
          </a:bodyPr>
          <a:lstStyle/>
          <a:p>
            <a:pPr algn="l">
              <a:lnSpc>
                <a:spcPct val="100000"/>
              </a:lnSpc>
            </a:pPr>
            <a:r>
              <a:rPr sz="3400" b="1">
                <a:solidFill>
                  <a:srgbClr val="FFFFFF"/>
                </a:solidFill>
                <a:latin typeface="Montserrat"/>
              </a:rPr>
              <a:t>Iterate + test</a:t>
            </a:r>
          </a:p>
        </p:txBody>
      </p:sp>
      <p:sp>
        <p:nvSpPr>
          <p:cNvPr id="35" name="Rounded Rectangle 34"/>
          <p:cNvSpPr/>
          <p:nvPr/>
        </p:nvSpPr>
        <p:spPr>
          <a:xfrm>
            <a:off x="14666976" y="6172200"/>
            <a:ext cx="1234440" cy="384048"/>
          </a:xfrm>
          <a:prstGeom prst="roundRect">
            <a:avLst/>
          </a:prstGeom>
          <a:solidFill>
            <a:srgbClr val="F58220"/>
          </a:solidFill>
          <a:ln>
            <a:noFill/>
          </a:ln>
        </p:spPr>
        <p:style>
          <a:lnRef idx="1">
            <a:schemeClr val="accent1"/>
          </a:lnRef>
          <a:fillRef idx="3">
            <a:schemeClr val="accent1"/>
          </a:fillRef>
          <a:effectRef idx="2">
            <a:schemeClr val="accent1"/>
          </a:effectRef>
          <a:fontRef idx="minor">
            <a:schemeClr val="lt1"/>
          </a:fontRef>
        </p:style>
        <p:txBody>
          <a:bodyPr lIns="109728" tIns="18288" rIns="109728" bIns="18288" rtlCol="0" anchor="ctr"/>
          <a:lstStyle/>
          <a:p>
            <a:pPr algn="ctr"/>
            <a:r>
              <a:rPr sz="1400" b="1">
                <a:solidFill>
                  <a:srgbClr val="14161C"/>
                </a:solidFill>
                <a:latin typeface="JetBrains Mono"/>
              </a:rPr>
              <a:t>10 min</a:t>
            </a:r>
          </a:p>
        </p:txBody>
      </p:sp>
      <p:sp>
        <p:nvSpPr>
          <p:cNvPr id="36" name="TextBox 35"/>
          <p:cNvSpPr txBox="1"/>
          <p:nvPr/>
        </p:nvSpPr>
        <p:spPr>
          <a:xfrm>
            <a:off x="14666976" y="6858000"/>
            <a:ext cx="2514600" cy="1828800"/>
          </a:xfrm>
          <a:prstGeom prst="rect">
            <a:avLst/>
          </a:prstGeom>
          <a:noFill/>
        </p:spPr>
        <p:txBody>
          <a:bodyPr wrap="square" lIns="0" tIns="0" rIns="0" bIns="0" anchor="t">
            <a:spAutoFit/>
          </a:bodyPr>
          <a:lstStyle/>
          <a:p>
            <a:pPr algn="l">
              <a:lnSpc>
                <a:spcPct val="125000"/>
              </a:lnSpc>
            </a:pPr>
            <a:r>
              <a:rPr sz="1600" b="0">
                <a:solidFill>
                  <a:srgbClr val="C9CBD1"/>
                </a:solidFill>
                <a:latin typeface="Inter"/>
              </a:rPr>
              <a:t>Apply feedback, then test it. This is Commandment X in motion.</a:t>
            </a:r>
          </a:p>
        </p:txBody>
      </p:sp>
      <p:sp>
        <p:nvSpPr>
          <p:cNvPr id="37" name="TextBox 36"/>
          <p:cNvSpPr txBox="1"/>
          <p:nvPr/>
        </p:nvSpPr>
        <p:spPr>
          <a:xfrm>
            <a:off x="950976" y="9418320"/>
            <a:ext cx="16459200" cy="365760"/>
          </a:xfrm>
          <a:prstGeom prst="rect">
            <a:avLst/>
          </a:prstGeom>
          <a:noFill/>
        </p:spPr>
        <p:txBody>
          <a:bodyPr wrap="square" lIns="0" tIns="0" rIns="0" bIns="0" anchor="t">
            <a:spAutoFit/>
          </a:bodyPr>
          <a:lstStyle/>
          <a:p>
            <a:pPr algn="l">
              <a:lnSpc>
                <a:spcPct val="110000"/>
              </a:lnSpc>
            </a:pPr>
            <a:r>
              <a:rPr sz="1200" b="0">
                <a:solidFill>
                  <a:srgbClr val="6B6E78"/>
                </a:solidFill>
                <a:latin typeface="JetBrains Mono"/>
              </a:rPr>
              <a:t>// HANDS-ON — SLIDES TIME-BOX, THEY DO NOT TEACH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50976" y="475488"/>
            <a:ext cx="9144000" cy="274320"/>
          </a:xfrm>
          <a:prstGeom prst="rect">
            <a:avLst/>
          </a:prstGeom>
          <a:noFill/>
        </p:spPr>
        <p:txBody>
          <a:bodyPr wrap="square" lIns="0" tIns="0" rIns="0" bIns="0" anchor="t">
            <a:spAutoFit/>
          </a:bodyPr>
          <a:lstStyle/>
          <a:p>
            <a:pPr algn="l">
              <a:lnSpc>
                <a:spcPct val="110000"/>
              </a:lnSpc>
            </a:pPr>
            <a:r>
              <a:rPr sz="1100" b="0">
                <a:solidFill>
                  <a:srgbClr val="6B6E78"/>
                </a:solidFill>
                <a:latin typeface="JetBrains Mono"/>
              </a:rPr>
              <a:t>BLOCK 01 · SETUP</a:t>
            </a:r>
          </a:p>
        </p:txBody>
      </p:sp>
      <p:sp>
        <p:nvSpPr>
          <p:cNvPr id="4" name="TextBox 3"/>
          <p:cNvSpPr txBox="1"/>
          <p:nvPr/>
        </p:nvSpPr>
        <p:spPr>
          <a:xfrm>
            <a:off x="16002000" y="475488"/>
            <a:ext cx="1371600" cy="274320"/>
          </a:xfrm>
          <a:prstGeom prst="rect">
            <a:avLst/>
          </a:prstGeom>
          <a:noFill/>
        </p:spPr>
        <p:txBody>
          <a:bodyPr wrap="square" lIns="0" tIns="0" rIns="0" bIns="0" anchor="t">
            <a:spAutoFit/>
          </a:bodyPr>
          <a:lstStyle/>
          <a:p>
            <a:pPr algn="r">
              <a:lnSpc>
                <a:spcPct val="110000"/>
              </a:lnSpc>
            </a:pPr>
            <a:r>
              <a:rPr sz="1100" b="0">
                <a:solidFill>
                  <a:srgbClr val="6B6E78"/>
                </a:solidFill>
                <a:latin typeface="JetBrains Mono"/>
              </a:rPr>
              <a:t>03 / 12</a:t>
            </a:r>
          </a:p>
        </p:txBody>
      </p:sp>
      <p:sp>
        <p:nvSpPr>
          <p:cNvPr id="5" name="TextBox 4"/>
          <p:cNvSpPr txBox="1"/>
          <p:nvPr/>
        </p:nvSpPr>
        <p:spPr>
          <a:xfrm>
            <a:off x="950976" y="1280160"/>
            <a:ext cx="16459200" cy="365760"/>
          </a:xfrm>
          <a:prstGeom prst="rect">
            <a:avLst/>
          </a:prstGeom>
          <a:noFill/>
        </p:spPr>
        <p:txBody>
          <a:bodyPr wrap="square" lIns="0" tIns="0" rIns="0" bIns="0" anchor="t">
            <a:spAutoFit/>
          </a:bodyPr>
          <a:lstStyle/>
          <a:p>
            <a:pPr algn="l">
              <a:lnSpc>
                <a:spcPct val="110000"/>
              </a:lnSpc>
            </a:pPr>
            <a:r>
              <a:rPr sz="1500" b="0">
                <a:solidFill>
                  <a:srgbClr val="3FE0D0"/>
                </a:solidFill>
                <a:latin typeface="JetBrains Mono"/>
              </a:rPr>
              <a:t>5 MIN · OPEN A REPO BEFORE THE TIMER STARTS</a:t>
            </a:r>
          </a:p>
        </p:txBody>
      </p:sp>
      <p:sp>
        <p:nvSpPr>
          <p:cNvPr id="6" name="TextBox 5"/>
          <p:cNvSpPr txBox="1"/>
          <p:nvPr/>
        </p:nvSpPr>
        <p:spPr>
          <a:xfrm>
            <a:off x="950976" y="1783080"/>
            <a:ext cx="16459200" cy="1463040"/>
          </a:xfrm>
          <a:prstGeom prst="rect">
            <a:avLst/>
          </a:prstGeom>
          <a:noFill/>
        </p:spPr>
        <p:txBody>
          <a:bodyPr wrap="square" lIns="0" tIns="0" rIns="0" bIns="0" anchor="t">
            <a:spAutoFit/>
          </a:bodyPr>
          <a:lstStyle/>
          <a:p>
            <a:pPr algn="l">
              <a:lnSpc>
                <a:spcPct val="110000"/>
              </a:lnSpc>
            </a:pPr>
            <a:r>
              <a:rPr sz="7800" b="1">
                <a:solidFill>
                  <a:srgbClr val="FFFFFF"/>
                </a:solidFill>
                <a:latin typeface="Montserrat"/>
              </a:rPr>
              <a:t>Pick a project.</a:t>
            </a:r>
          </a:p>
        </p:txBody>
      </p:sp>
      <p:sp>
        <p:nvSpPr>
          <p:cNvPr id="7" name="Rectangle 6"/>
          <p:cNvSpPr/>
          <p:nvPr/>
        </p:nvSpPr>
        <p:spPr>
          <a:xfrm>
            <a:off x="950976" y="4297680"/>
            <a:ext cx="7863840" cy="457200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280160" y="4709160"/>
            <a:ext cx="6400800" cy="365760"/>
          </a:xfrm>
          <a:prstGeom prst="rect">
            <a:avLst/>
          </a:prstGeom>
          <a:noFill/>
        </p:spPr>
        <p:txBody>
          <a:bodyPr wrap="square" lIns="0" tIns="0" rIns="0" bIns="0" anchor="t">
            <a:spAutoFit/>
          </a:bodyPr>
          <a:lstStyle/>
          <a:p>
            <a:pPr algn="l">
              <a:lnSpc>
                <a:spcPct val="110000"/>
              </a:lnSpc>
            </a:pPr>
            <a:r>
              <a:rPr sz="1500" b="0">
                <a:solidFill>
                  <a:srgbClr val="3FE0D0"/>
                </a:solidFill>
                <a:latin typeface="JetBrains Mono"/>
              </a:rPr>
              <a:t>OPTION A</a:t>
            </a:r>
          </a:p>
        </p:txBody>
      </p:sp>
      <p:sp>
        <p:nvSpPr>
          <p:cNvPr id="9" name="TextBox 8"/>
          <p:cNvSpPr txBox="1"/>
          <p:nvPr/>
        </p:nvSpPr>
        <p:spPr>
          <a:xfrm>
            <a:off x="1280160" y="5166360"/>
            <a:ext cx="7315200" cy="914400"/>
          </a:xfrm>
          <a:prstGeom prst="rect">
            <a:avLst/>
          </a:prstGeom>
          <a:noFill/>
        </p:spPr>
        <p:txBody>
          <a:bodyPr wrap="square" lIns="0" tIns="0" rIns="0" bIns="0" anchor="t">
            <a:spAutoFit/>
          </a:bodyPr>
          <a:lstStyle/>
          <a:p>
            <a:pPr algn="l">
              <a:lnSpc>
                <a:spcPct val="110000"/>
              </a:lnSpc>
            </a:pPr>
            <a:r>
              <a:rPr sz="4400" b="1">
                <a:solidFill>
                  <a:srgbClr val="FFFFFF"/>
                </a:solidFill>
                <a:latin typeface="Montserrat"/>
              </a:rPr>
              <a:t>Bring your own.</a:t>
            </a:r>
          </a:p>
        </p:txBody>
      </p:sp>
      <p:sp>
        <p:nvSpPr>
          <p:cNvPr id="10" name="TextBox 9"/>
          <p:cNvSpPr txBox="1"/>
          <p:nvPr/>
        </p:nvSpPr>
        <p:spPr>
          <a:xfrm>
            <a:off x="1280160" y="6400800"/>
            <a:ext cx="7132320" cy="2377440"/>
          </a:xfrm>
          <a:prstGeom prst="rect">
            <a:avLst/>
          </a:prstGeom>
          <a:noFill/>
        </p:spPr>
        <p:txBody>
          <a:bodyPr wrap="square" lIns="0" tIns="0" rIns="0" bIns="0" anchor="t">
            <a:spAutoFit/>
          </a:bodyPr>
          <a:lstStyle/>
          <a:p>
            <a:pPr algn="l">
              <a:lnSpc>
                <a:spcPct val="120000"/>
              </a:lnSpc>
            </a:pPr>
            <a:r>
              <a:rPr sz="2000" b="0">
                <a:solidFill>
                  <a:srgbClr val="3FE0D0"/>
                </a:solidFill>
                <a:latin typeface="Inter"/>
              </a:rPr>
              <a:t>•  </a:t>
            </a:r>
            <a:r>
              <a:rPr sz="2000" b="0">
                <a:solidFill>
                  <a:srgbClr val="C9CBD1"/>
                </a:solidFill>
                <a:latin typeface="Inter"/>
              </a:rPr>
              <a:t>A repo you actually work in.</a:t>
            </a:r>
          </a:p>
          <a:p>
            <a:pPr algn="l">
              <a:lnSpc>
                <a:spcPct val="120000"/>
              </a:lnSpc>
            </a:pPr>
            <a:r>
              <a:rPr sz="2000" b="0">
                <a:solidFill>
                  <a:srgbClr val="3FE0D0"/>
                </a:solidFill>
                <a:latin typeface="Inter"/>
              </a:rPr>
              <a:t>•  </a:t>
            </a:r>
            <a:r>
              <a:rPr sz="2000" b="0">
                <a:solidFill>
                  <a:srgbClr val="C9CBD1"/>
                </a:solidFill>
                <a:latin typeface="Inter"/>
              </a:rPr>
              <a:t>A project you wish Claude understood better.</a:t>
            </a:r>
          </a:p>
          <a:p>
            <a:pPr algn="l">
              <a:lnSpc>
                <a:spcPct val="120000"/>
              </a:lnSpc>
            </a:pPr>
            <a:r>
              <a:rPr sz="2000" b="0">
                <a:solidFill>
                  <a:srgbClr val="3FE0D0"/>
                </a:solidFill>
                <a:latin typeface="Inter"/>
              </a:rPr>
              <a:t>•  </a:t>
            </a:r>
            <a:r>
              <a:rPr sz="2000" b="0">
                <a:solidFill>
                  <a:srgbClr val="C9CBD1"/>
                </a:solidFill>
                <a:latin typeface="Inter"/>
              </a:rPr>
              <a:t>Something where a stale CLAUDE.md is hurting you right now.</a:t>
            </a:r>
          </a:p>
        </p:txBody>
      </p:sp>
      <p:sp>
        <p:nvSpPr>
          <p:cNvPr id="11" name="Rectangle 10"/>
          <p:cNvSpPr/>
          <p:nvPr/>
        </p:nvSpPr>
        <p:spPr>
          <a:xfrm>
            <a:off x="9473184" y="4297680"/>
            <a:ext cx="7863840" cy="457200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02368" y="4709160"/>
            <a:ext cx="6400800" cy="365760"/>
          </a:xfrm>
          <a:prstGeom prst="rect">
            <a:avLst/>
          </a:prstGeom>
          <a:noFill/>
        </p:spPr>
        <p:txBody>
          <a:bodyPr wrap="square" lIns="0" tIns="0" rIns="0" bIns="0" anchor="t">
            <a:spAutoFit/>
          </a:bodyPr>
          <a:lstStyle/>
          <a:p>
            <a:pPr algn="l">
              <a:lnSpc>
                <a:spcPct val="110000"/>
              </a:lnSpc>
            </a:pPr>
            <a:r>
              <a:rPr sz="1500" b="0">
                <a:solidFill>
                  <a:srgbClr val="F58220"/>
                </a:solidFill>
                <a:latin typeface="JetBrains Mono"/>
              </a:rPr>
              <a:t>OPTION B</a:t>
            </a:r>
          </a:p>
        </p:txBody>
      </p:sp>
      <p:sp>
        <p:nvSpPr>
          <p:cNvPr id="13" name="TextBox 12"/>
          <p:cNvSpPr txBox="1"/>
          <p:nvPr/>
        </p:nvSpPr>
        <p:spPr>
          <a:xfrm>
            <a:off x="9802368" y="5166360"/>
            <a:ext cx="7315200" cy="914400"/>
          </a:xfrm>
          <a:prstGeom prst="rect">
            <a:avLst/>
          </a:prstGeom>
          <a:noFill/>
        </p:spPr>
        <p:txBody>
          <a:bodyPr wrap="square" lIns="0" tIns="0" rIns="0" bIns="0" anchor="t">
            <a:spAutoFit/>
          </a:bodyPr>
          <a:lstStyle/>
          <a:p>
            <a:pPr algn="l">
              <a:lnSpc>
                <a:spcPct val="110000"/>
              </a:lnSpc>
            </a:pPr>
            <a:r>
              <a:rPr sz="4400" b="1">
                <a:solidFill>
                  <a:srgbClr val="FFFFFF"/>
                </a:solidFill>
                <a:latin typeface="Montserrat"/>
              </a:rPr>
              <a:t>Use the shared sample.</a:t>
            </a:r>
          </a:p>
        </p:txBody>
      </p:sp>
      <p:sp>
        <p:nvSpPr>
          <p:cNvPr id="14" name="TextBox 13"/>
          <p:cNvSpPr txBox="1"/>
          <p:nvPr/>
        </p:nvSpPr>
        <p:spPr>
          <a:xfrm>
            <a:off x="9802368" y="6400800"/>
            <a:ext cx="7132320" cy="2377440"/>
          </a:xfrm>
          <a:prstGeom prst="rect">
            <a:avLst/>
          </a:prstGeom>
          <a:noFill/>
        </p:spPr>
        <p:txBody>
          <a:bodyPr wrap="square" lIns="0" tIns="0" rIns="0" bIns="0" anchor="t">
            <a:spAutoFit/>
          </a:bodyPr>
          <a:lstStyle/>
          <a:p>
            <a:pPr algn="l">
              <a:lnSpc>
                <a:spcPct val="120000"/>
              </a:lnSpc>
            </a:pPr>
            <a:r>
              <a:rPr sz="2000" b="0">
                <a:solidFill>
                  <a:srgbClr val="3FE0D0"/>
                </a:solidFill>
                <a:latin typeface="Inter"/>
              </a:rPr>
              <a:t>•  </a:t>
            </a:r>
            <a:r>
              <a:rPr sz="2000" b="0">
                <a:solidFill>
                  <a:srgbClr val="C9CBD1"/>
                </a:solidFill>
                <a:latin typeface="Inter"/>
              </a:rPr>
              <a:t>A toy volunteer-signup app.</a:t>
            </a:r>
          </a:p>
          <a:p>
            <a:pPr algn="l">
              <a:lnSpc>
                <a:spcPct val="120000"/>
              </a:lnSpc>
            </a:pPr>
            <a:r>
              <a:rPr sz="2000" b="0">
                <a:solidFill>
                  <a:srgbClr val="3FE0D0"/>
                </a:solidFill>
                <a:latin typeface="Inter"/>
              </a:rPr>
              <a:t>•  </a:t>
            </a:r>
            <a:r>
              <a:rPr sz="2000" b="0">
                <a:solidFill>
                  <a:srgbClr val="C9CBD1"/>
                </a:solidFill>
                <a:latin typeface="Inter"/>
              </a:rPr>
              <a:t>Clone link on the resource page.</a:t>
            </a:r>
          </a:p>
          <a:p>
            <a:pPr algn="l">
              <a:lnSpc>
                <a:spcPct val="120000"/>
              </a:lnSpc>
            </a:pPr>
            <a:r>
              <a:rPr sz="2000" b="0">
                <a:solidFill>
                  <a:srgbClr val="3FE0D0"/>
                </a:solidFill>
                <a:latin typeface="Inter"/>
              </a:rPr>
              <a:t>•  </a:t>
            </a:r>
            <a:r>
              <a:rPr sz="2000" b="0">
                <a:solidFill>
                  <a:srgbClr val="C9CBD1"/>
                </a:solidFill>
                <a:latin typeface="Inter"/>
              </a:rPr>
              <a:t>If you don't have a project open in 60 seconds — pick this.</a:t>
            </a:r>
          </a:p>
        </p:txBody>
      </p:sp>
      <p:sp>
        <p:nvSpPr>
          <p:cNvPr id="15" name="TextBox 14"/>
          <p:cNvSpPr txBox="1"/>
          <p:nvPr/>
        </p:nvSpPr>
        <p:spPr>
          <a:xfrm>
            <a:off x="950976" y="9418320"/>
            <a:ext cx="16459200" cy="365760"/>
          </a:xfrm>
          <a:prstGeom prst="rect">
            <a:avLst/>
          </a:prstGeom>
          <a:noFill/>
        </p:spPr>
        <p:txBody>
          <a:bodyPr wrap="square" lIns="0" tIns="0" rIns="0" bIns="0" anchor="t">
            <a:spAutoFit/>
          </a:bodyPr>
          <a:lstStyle/>
          <a:p>
            <a:pPr algn="l">
              <a:lnSpc>
                <a:spcPct val="110000"/>
              </a:lnSpc>
            </a:pPr>
            <a:r>
              <a:rPr sz="1200" b="0">
                <a:solidFill>
                  <a:srgbClr val="6B6E78"/>
                </a:solidFill>
                <a:latin typeface="JetBrains Mono"/>
              </a:rPr>
              <a:t>// EITHER ONE WORKS. JUST HAVE SOMETHING OPEN.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50976" y="475488"/>
            <a:ext cx="9144000" cy="274320"/>
          </a:xfrm>
          <a:prstGeom prst="rect">
            <a:avLst/>
          </a:prstGeom>
          <a:noFill/>
        </p:spPr>
        <p:txBody>
          <a:bodyPr wrap="square" lIns="0" tIns="0" rIns="0" bIns="0" anchor="t">
            <a:spAutoFit/>
          </a:bodyPr>
          <a:lstStyle/>
          <a:p>
            <a:pPr algn="l">
              <a:lnSpc>
                <a:spcPct val="110000"/>
              </a:lnSpc>
            </a:pPr>
            <a:r>
              <a:rPr sz="1100" b="0">
                <a:solidFill>
                  <a:srgbClr val="6B6E78"/>
                </a:solidFill>
                <a:latin typeface="JetBrains Mono"/>
              </a:rPr>
              <a:t>BLOCK 02 · BASELINE</a:t>
            </a:r>
          </a:p>
        </p:txBody>
      </p:sp>
      <p:sp>
        <p:nvSpPr>
          <p:cNvPr id="4" name="TextBox 3"/>
          <p:cNvSpPr txBox="1"/>
          <p:nvPr/>
        </p:nvSpPr>
        <p:spPr>
          <a:xfrm>
            <a:off x="16002000" y="475488"/>
            <a:ext cx="1371600" cy="274320"/>
          </a:xfrm>
          <a:prstGeom prst="rect">
            <a:avLst/>
          </a:prstGeom>
          <a:noFill/>
        </p:spPr>
        <p:txBody>
          <a:bodyPr wrap="square" lIns="0" tIns="0" rIns="0" bIns="0" anchor="t">
            <a:spAutoFit/>
          </a:bodyPr>
          <a:lstStyle/>
          <a:p>
            <a:pPr algn="r">
              <a:lnSpc>
                <a:spcPct val="110000"/>
              </a:lnSpc>
            </a:pPr>
            <a:r>
              <a:rPr sz="1100" b="0">
                <a:solidFill>
                  <a:srgbClr val="6B6E78"/>
                </a:solidFill>
                <a:latin typeface="JetBrains Mono"/>
              </a:rPr>
              <a:t>04 / 12</a:t>
            </a:r>
          </a:p>
        </p:txBody>
      </p:sp>
      <p:sp>
        <p:nvSpPr>
          <p:cNvPr id="5" name="TextBox 4"/>
          <p:cNvSpPr txBox="1"/>
          <p:nvPr/>
        </p:nvSpPr>
        <p:spPr>
          <a:xfrm>
            <a:off x="950976" y="1280160"/>
            <a:ext cx="16459200" cy="365760"/>
          </a:xfrm>
          <a:prstGeom prst="rect">
            <a:avLst/>
          </a:prstGeom>
          <a:noFill/>
        </p:spPr>
        <p:txBody>
          <a:bodyPr wrap="square" lIns="0" tIns="0" rIns="0" bIns="0" anchor="t">
            <a:spAutoFit/>
          </a:bodyPr>
          <a:lstStyle/>
          <a:p>
            <a:pPr algn="l">
              <a:lnSpc>
                <a:spcPct val="110000"/>
              </a:lnSpc>
            </a:pPr>
            <a:r>
              <a:rPr sz="1500" b="0">
                <a:solidFill>
                  <a:srgbClr val="3FE0D0"/>
                </a:solidFill>
                <a:latin typeface="JetBrains Mono"/>
              </a:rPr>
              <a:t>10 MIN · SAME STARTING POINT FOR EVERYONE</a:t>
            </a:r>
          </a:p>
        </p:txBody>
      </p:sp>
      <p:sp>
        <p:nvSpPr>
          <p:cNvPr id="6" name="TextBox 5"/>
          <p:cNvSpPr txBox="1"/>
          <p:nvPr/>
        </p:nvSpPr>
        <p:spPr>
          <a:xfrm>
            <a:off x="950976" y="1783080"/>
            <a:ext cx="16459200" cy="1463040"/>
          </a:xfrm>
          <a:prstGeom prst="rect">
            <a:avLst/>
          </a:prstGeom>
          <a:noFill/>
        </p:spPr>
        <p:txBody>
          <a:bodyPr wrap="square" lIns="0" tIns="0" rIns="0" bIns="0" anchor="t">
            <a:spAutoFit/>
          </a:bodyPr>
          <a:lstStyle/>
          <a:p>
            <a:pPr algn="l">
              <a:lnSpc>
                <a:spcPct val="110000"/>
              </a:lnSpc>
            </a:pPr>
            <a:r>
              <a:rPr sz="7000" b="1">
                <a:solidFill>
                  <a:srgbClr val="FFFFFF"/>
                </a:solidFill>
                <a:latin typeface="Montserrat"/>
              </a:rPr>
              <a:t>Run </a:t>
            </a:r>
            <a:r>
              <a:rPr sz="6000" b="1">
                <a:solidFill>
                  <a:srgbClr val="3FE0D0"/>
                </a:solidFill>
                <a:latin typeface="JetBrains Mono"/>
              </a:rPr>
              <a:t>/project:project-overview</a:t>
            </a:r>
            <a:r>
              <a:rPr sz="7000" b="1">
                <a:solidFill>
                  <a:srgbClr val="FFFFFF"/>
                </a:solidFill>
                <a:latin typeface="Montserrat"/>
              </a:rPr>
              <a:t>.</a:t>
            </a:r>
          </a:p>
        </p:txBody>
      </p:sp>
      <p:sp>
        <p:nvSpPr>
          <p:cNvPr id="7" name="Rectangle 6"/>
          <p:cNvSpPr/>
          <p:nvPr/>
        </p:nvSpPr>
        <p:spPr>
          <a:xfrm>
            <a:off x="950976" y="4389120"/>
            <a:ext cx="7863840" cy="457200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280160" y="4800600"/>
            <a:ext cx="6400800" cy="365760"/>
          </a:xfrm>
          <a:prstGeom prst="rect">
            <a:avLst/>
          </a:prstGeom>
          <a:noFill/>
        </p:spPr>
        <p:txBody>
          <a:bodyPr wrap="square" lIns="0" tIns="0" rIns="0" bIns="0" anchor="t">
            <a:spAutoFit/>
          </a:bodyPr>
          <a:lstStyle/>
          <a:p>
            <a:pPr algn="l">
              <a:lnSpc>
                <a:spcPct val="110000"/>
              </a:lnSpc>
            </a:pPr>
            <a:r>
              <a:rPr sz="1500" b="0">
                <a:solidFill>
                  <a:srgbClr val="3FE0D0"/>
                </a:solidFill>
                <a:latin typeface="JetBrains Mono"/>
              </a:rPr>
              <a:t>WHAT IT RETURNS</a:t>
            </a:r>
          </a:p>
        </p:txBody>
      </p:sp>
      <p:sp>
        <p:nvSpPr>
          <p:cNvPr id="9" name="TextBox 8"/>
          <p:cNvSpPr txBox="1"/>
          <p:nvPr/>
        </p:nvSpPr>
        <p:spPr>
          <a:xfrm>
            <a:off x="1280160" y="5349240"/>
            <a:ext cx="7132320" cy="3383280"/>
          </a:xfrm>
          <a:prstGeom prst="rect">
            <a:avLst/>
          </a:prstGeom>
          <a:noFill/>
        </p:spPr>
        <p:txBody>
          <a:bodyPr wrap="square" lIns="0" tIns="0" rIns="0" bIns="0" anchor="t">
            <a:spAutoFit/>
          </a:bodyPr>
          <a:lstStyle/>
          <a:p>
            <a:pPr algn="l">
              <a:lnSpc>
                <a:spcPct val="120000"/>
              </a:lnSpc>
            </a:pPr>
            <a:r>
              <a:rPr sz="2200" b="0">
                <a:solidFill>
                  <a:srgbClr val="3FE0D0"/>
                </a:solidFill>
                <a:latin typeface="Inter"/>
              </a:rPr>
              <a:t>•  </a:t>
            </a:r>
            <a:r>
              <a:rPr sz="2200" b="0">
                <a:solidFill>
                  <a:srgbClr val="C9CBD1"/>
                </a:solidFill>
                <a:latin typeface="Inter"/>
              </a:rPr>
              <a:t>A summary of the repo from Claude's POV.</a:t>
            </a:r>
          </a:p>
          <a:p>
            <a:pPr algn="l">
              <a:lnSpc>
                <a:spcPct val="120000"/>
              </a:lnSpc>
            </a:pPr>
            <a:r>
              <a:rPr sz="2200" b="0">
                <a:solidFill>
                  <a:srgbClr val="3FE0D0"/>
                </a:solidFill>
                <a:latin typeface="Inter"/>
              </a:rPr>
              <a:t>•  </a:t>
            </a:r>
            <a:r>
              <a:rPr sz="2200" b="0">
                <a:solidFill>
                  <a:srgbClr val="C9CBD1"/>
                </a:solidFill>
                <a:latin typeface="Inter"/>
              </a:rPr>
              <a:t>Architecture, conventions, hot spots, smells.</a:t>
            </a:r>
          </a:p>
          <a:p>
            <a:pPr algn="l">
              <a:lnSpc>
                <a:spcPct val="120000"/>
              </a:lnSpc>
            </a:pPr>
            <a:r>
              <a:rPr sz="2200" b="0">
                <a:solidFill>
                  <a:srgbClr val="3FE0D0"/>
                </a:solidFill>
                <a:latin typeface="Inter"/>
              </a:rPr>
              <a:t>•  </a:t>
            </a:r>
            <a:r>
              <a:rPr sz="2200" b="0">
                <a:solidFill>
                  <a:srgbClr val="C9CBD1"/>
                </a:solidFill>
                <a:latin typeface="Inter"/>
              </a:rPr>
              <a:t>Whatever Claude can already infer from your code.</a:t>
            </a:r>
          </a:p>
        </p:txBody>
      </p:sp>
      <p:sp>
        <p:nvSpPr>
          <p:cNvPr id="10" name="Rectangle 9"/>
          <p:cNvSpPr/>
          <p:nvPr/>
        </p:nvSpPr>
        <p:spPr>
          <a:xfrm>
            <a:off x="9473184" y="4389120"/>
            <a:ext cx="7863840" cy="457200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802368" y="4800600"/>
            <a:ext cx="6400800" cy="365760"/>
          </a:xfrm>
          <a:prstGeom prst="rect">
            <a:avLst/>
          </a:prstGeom>
          <a:noFill/>
        </p:spPr>
        <p:txBody>
          <a:bodyPr wrap="square" lIns="0" tIns="0" rIns="0" bIns="0" anchor="t">
            <a:spAutoFit/>
          </a:bodyPr>
          <a:lstStyle/>
          <a:p>
            <a:pPr algn="l">
              <a:lnSpc>
                <a:spcPct val="110000"/>
              </a:lnSpc>
            </a:pPr>
            <a:r>
              <a:rPr sz="1500" b="0">
                <a:solidFill>
                  <a:srgbClr val="F58220"/>
                </a:solidFill>
                <a:latin typeface="JetBrains Mono"/>
              </a:rPr>
              <a:t>WHY WE RUN IT FIRST</a:t>
            </a:r>
          </a:p>
        </p:txBody>
      </p:sp>
      <p:sp>
        <p:nvSpPr>
          <p:cNvPr id="12" name="TextBox 11"/>
          <p:cNvSpPr txBox="1"/>
          <p:nvPr/>
        </p:nvSpPr>
        <p:spPr>
          <a:xfrm>
            <a:off x="9802368" y="5349240"/>
            <a:ext cx="7132320" cy="3383280"/>
          </a:xfrm>
          <a:prstGeom prst="rect">
            <a:avLst/>
          </a:prstGeom>
          <a:noFill/>
        </p:spPr>
        <p:txBody>
          <a:bodyPr wrap="square" lIns="0" tIns="0" rIns="0" bIns="0" anchor="t">
            <a:spAutoFit/>
          </a:bodyPr>
          <a:lstStyle/>
          <a:p>
            <a:pPr algn="l">
              <a:lnSpc>
                <a:spcPct val="120000"/>
              </a:lnSpc>
            </a:pPr>
            <a:r>
              <a:rPr sz="2200" b="0">
                <a:solidFill>
                  <a:srgbClr val="3FE0D0"/>
                </a:solidFill>
                <a:latin typeface="Inter"/>
              </a:rPr>
              <a:t>•  </a:t>
            </a:r>
            <a:r>
              <a:rPr sz="2200" b="1">
                <a:solidFill>
                  <a:srgbClr val="FFFFFF"/>
                </a:solidFill>
                <a:latin typeface="Inter"/>
              </a:rPr>
              <a:t>Anything in the overview is noise in your CLAUDE.md.</a:t>
            </a:r>
          </a:p>
          <a:p>
            <a:pPr algn="l">
              <a:lnSpc>
                <a:spcPct val="120000"/>
              </a:lnSpc>
              <a:spcBef>
                <a:spcPts val="400"/>
              </a:spcBef>
            </a:pPr>
            <a:r>
              <a:rPr sz="2000" b="0">
                <a:solidFill>
                  <a:srgbClr val="F58220"/>
                </a:solidFill>
                <a:latin typeface="Inter"/>
              </a:rPr>
              <a:t>(Commandment II — keep it lean.)</a:t>
            </a:r>
          </a:p>
          <a:p>
            <a:pPr algn="l">
              <a:lnSpc>
                <a:spcPct val="120000"/>
              </a:lnSpc>
            </a:pPr>
            <a:r>
              <a:rPr sz="2200" b="0">
                <a:solidFill>
                  <a:srgbClr val="3FE0D0"/>
                </a:solidFill>
                <a:latin typeface="Inter"/>
              </a:rPr>
              <a:t>•  </a:t>
            </a:r>
            <a:r>
              <a:rPr sz="2200" b="0">
                <a:solidFill>
                  <a:srgbClr val="C9CBD1"/>
                </a:solidFill>
                <a:latin typeface="Inter"/>
              </a:rPr>
              <a:t>Your job is to write what Claude can NOT infer.</a:t>
            </a:r>
          </a:p>
          <a:p>
            <a:pPr algn="l">
              <a:lnSpc>
                <a:spcPct val="120000"/>
              </a:lnSpc>
            </a:pPr>
            <a:r>
              <a:rPr sz="2200" b="0">
                <a:solidFill>
                  <a:srgbClr val="3FE0D0"/>
                </a:solidFill>
                <a:latin typeface="Inter"/>
              </a:rPr>
              <a:t>•  </a:t>
            </a:r>
            <a:r>
              <a:rPr sz="2200" b="0">
                <a:solidFill>
                  <a:srgbClr val="C9CBD1"/>
                </a:solidFill>
                <a:latin typeface="Inter"/>
              </a:rPr>
              <a:t>Demo first; then everyone runs it themselves.</a:t>
            </a:r>
          </a:p>
        </p:txBody>
      </p:sp>
      <p:sp>
        <p:nvSpPr>
          <p:cNvPr id="13" name="TextBox 12"/>
          <p:cNvSpPr txBox="1"/>
          <p:nvPr/>
        </p:nvSpPr>
        <p:spPr>
          <a:xfrm>
            <a:off x="950976" y="9418320"/>
            <a:ext cx="16459200" cy="365760"/>
          </a:xfrm>
          <a:prstGeom prst="rect">
            <a:avLst/>
          </a:prstGeom>
          <a:noFill/>
        </p:spPr>
        <p:txBody>
          <a:bodyPr wrap="square" lIns="0" tIns="0" rIns="0" bIns="0" anchor="t">
            <a:spAutoFit/>
          </a:bodyPr>
          <a:lstStyle/>
          <a:p>
            <a:pPr algn="l">
              <a:lnSpc>
                <a:spcPct val="110000"/>
              </a:lnSpc>
            </a:pPr>
            <a:r>
              <a:rPr sz="1200" b="0">
                <a:solidFill>
                  <a:srgbClr val="6B6E78"/>
                </a:solidFill>
                <a:latin typeface="JetBrains Mono"/>
              </a:rPr>
              <a:t>// CLAUDE ALREADY READS THE CODE. DON'T REWRITE THE CODE.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50976" y="475488"/>
            <a:ext cx="9144000" cy="274320"/>
          </a:xfrm>
          <a:prstGeom prst="rect">
            <a:avLst/>
          </a:prstGeom>
          <a:noFill/>
        </p:spPr>
        <p:txBody>
          <a:bodyPr wrap="square" lIns="0" tIns="0" rIns="0" bIns="0" anchor="t">
            <a:spAutoFit/>
          </a:bodyPr>
          <a:lstStyle/>
          <a:p>
            <a:pPr algn="l">
              <a:lnSpc>
                <a:spcPct val="110000"/>
              </a:lnSpc>
            </a:pPr>
            <a:r>
              <a:rPr sz="1100" b="0">
                <a:solidFill>
                  <a:srgbClr val="6B6E78"/>
                </a:solidFill>
                <a:latin typeface="JetBrains Mono"/>
              </a:rPr>
              <a:t>BLOCK 03 · SOLO DRAFT</a:t>
            </a:r>
          </a:p>
        </p:txBody>
      </p:sp>
      <p:sp>
        <p:nvSpPr>
          <p:cNvPr id="4" name="TextBox 3"/>
          <p:cNvSpPr txBox="1"/>
          <p:nvPr/>
        </p:nvSpPr>
        <p:spPr>
          <a:xfrm>
            <a:off x="16002000" y="475488"/>
            <a:ext cx="1371600" cy="274320"/>
          </a:xfrm>
          <a:prstGeom prst="rect">
            <a:avLst/>
          </a:prstGeom>
          <a:noFill/>
        </p:spPr>
        <p:txBody>
          <a:bodyPr wrap="square" lIns="0" tIns="0" rIns="0" bIns="0" anchor="t">
            <a:spAutoFit/>
          </a:bodyPr>
          <a:lstStyle/>
          <a:p>
            <a:pPr algn="r">
              <a:lnSpc>
                <a:spcPct val="110000"/>
              </a:lnSpc>
            </a:pPr>
            <a:r>
              <a:rPr sz="1100" b="0">
                <a:solidFill>
                  <a:srgbClr val="6B6E78"/>
                </a:solidFill>
                <a:latin typeface="JetBrains Mono"/>
              </a:rPr>
              <a:t>05 / 12</a:t>
            </a:r>
          </a:p>
        </p:txBody>
      </p:sp>
      <p:sp>
        <p:nvSpPr>
          <p:cNvPr id="5" name="TextBox 4"/>
          <p:cNvSpPr txBox="1"/>
          <p:nvPr/>
        </p:nvSpPr>
        <p:spPr>
          <a:xfrm>
            <a:off x="0" y="2468880"/>
            <a:ext cx="18288000" cy="548640"/>
          </a:xfrm>
          <a:prstGeom prst="rect">
            <a:avLst/>
          </a:prstGeom>
          <a:noFill/>
        </p:spPr>
        <p:txBody>
          <a:bodyPr wrap="square" lIns="0" tIns="0" rIns="0" bIns="0" anchor="t">
            <a:spAutoFit/>
          </a:bodyPr>
          <a:lstStyle/>
          <a:p>
            <a:pPr algn="ctr">
              <a:lnSpc>
                <a:spcPct val="110000"/>
              </a:lnSpc>
            </a:pPr>
            <a:r>
              <a:rPr sz="2200" b="1">
                <a:solidFill>
                  <a:srgbClr val="3FE0D0"/>
                </a:solidFill>
                <a:latin typeface="JetBrains Mono"/>
              </a:rPr>
              <a:t>SOLO DRAFT</a:t>
            </a:r>
          </a:p>
        </p:txBody>
      </p:sp>
      <p:sp>
        <p:nvSpPr>
          <p:cNvPr id="6" name="TextBox 5"/>
          <p:cNvSpPr txBox="1"/>
          <p:nvPr/>
        </p:nvSpPr>
        <p:spPr>
          <a:xfrm>
            <a:off x="0" y="3291840"/>
            <a:ext cx="18288000" cy="4924425"/>
          </a:xfrm>
          <a:prstGeom prst="rect">
            <a:avLst/>
          </a:prstGeom>
          <a:noFill/>
        </p:spPr>
        <p:txBody>
          <a:bodyPr wrap="square" lIns="0" tIns="0" rIns="0" bIns="0" anchor="t">
            <a:spAutoFit/>
          </a:bodyPr>
          <a:lstStyle/>
          <a:p>
            <a:pPr algn="ctr">
              <a:lnSpc>
                <a:spcPct val="100000"/>
              </a:lnSpc>
            </a:pPr>
            <a:r>
              <a:rPr sz="32000" b="1" dirty="0">
                <a:solidFill>
                  <a:srgbClr val="FFFFFF"/>
                </a:solidFill>
                <a:latin typeface="Montserrat"/>
              </a:rPr>
              <a:t>15:00</a:t>
            </a:r>
          </a:p>
        </p:txBody>
      </p:sp>
      <p:sp>
        <p:nvSpPr>
          <p:cNvPr id="7" name="TextBox 6"/>
          <p:cNvSpPr txBox="1"/>
          <p:nvPr/>
        </p:nvSpPr>
        <p:spPr>
          <a:xfrm>
            <a:off x="1828800" y="7863840"/>
            <a:ext cx="14630400" cy="1097280"/>
          </a:xfrm>
          <a:prstGeom prst="rect">
            <a:avLst/>
          </a:prstGeom>
          <a:noFill/>
        </p:spPr>
        <p:txBody>
          <a:bodyPr wrap="square" lIns="0" tIns="0" rIns="0" bIns="0" anchor="t">
            <a:spAutoFit/>
          </a:bodyPr>
          <a:lstStyle/>
          <a:p>
            <a:pPr algn="ctr">
              <a:lnSpc>
                <a:spcPct val="115000"/>
              </a:lnSpc>
            </a:pPr>
            <a:r>
              <a:rPr sz="3600" b="1">
                <a:solidFill>
                  <a:srgbClr val="C9CBD1"/>
                </a:solidFill>
                <a:latin typeface="Montserrat"/>
              </a:rPr>
              <a:t>No chat. Just write. Use the Part 1 template.</a:t>
            </a:r>
          </a:p>
        </p:txBody>
      </p:sp>
      <p:sp>
        <p:nvSpPr>
          <p:cNvPr id="8" name="Rectangle 7"/>
          <p:cNvSpPr/>
          <p:nvPr/>
        </p:nvSpPr>
        <p:spPr>
          <a:xfrm>
            <a:off x="8229600" y="9235440"/>
            <a:ext cx="1828800" cy="38100"/>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50976" y="475488"/>
            <a:ext cx="9144000" cy="274320"/>
          </a:xfrm>
          <a:prstGeom prst="rect">
            <a:avLst/>
          </a:prstGeom>
          <a:noFill/>
        </p:spPr>
        <p:txBody>
          <a:bodyPr wrap="square" lIns="0" tIns="0" rIns="0" bIns="0" anchor="t">
            <a:spAutoFit/>
          </a:bodyPr>
          <a:lstStyle/>
          <a:p>
            <a:pPr algn="l">
              <a:lnSpc>
                <a:spcPct val="110000"/>
              </a:lnSpc>
            </a:pPr>
            <a:r>
              <a:rPr sz="1100" b="0">
                <a:solidFill>
                  <a:srgbClr val="6B6E78"/>
                </a:solidFill>
                <a:latin typeface="JetBrains Mono"/>
              </a:rPr>
              <a:t>BLOCK 04 · PARTNER CRITIQUE</a:t>
            </a:r>
          </a:p>
        </p:txBody>
      </p:sp>
      <p:sp>
        <p:nvSpPr>
          <p:cNvPr id="4" name="TextBox 3"/>
          <p:cNvSpPr txBox="1"/>
          <p:nvPr/>
        </p:nvSpPr>
        <p:spPr>
          <a:xfrm>
            <a:off x="16002000" y="475488"/>
            <a:ext cx="1371600" cy="274320"/>
          </a:xfrm>
          <a:prstGeom prst="rect">
            <a:avLst/>
          </a:prstGeom>
          <a:noFill/>
        </p:spPr>
        <p:txBody>
          <a:bodyPr wrap="square" lIns="0" tIns="0" rIns="0" bIns="0" anchor="t">
            <a:spAutoFit/>
          </a:bodyPr>
          <a:lstStyle/>
          <a:p>
            <a:pPr algn="r">
              <a:lnSpc>
                <a:spcPct val="110000"/>
              </a:lnSpc>
            </a:pPr>
            <a:r>
              <a:rPr sz="1100" b="0">
                <a:solidFill>
                  <a:srgbClr val="6B6E78"/>
                </a:solidFill>
                <a:latin typeface="JetBrains Mono"/>
              </a:rPr>
              <a:t>06 / 12</a:t>
            </a:r>
          </a:p>
        </p:txBody>
      </p:sp>
      <p:sp>
        <p:nvSpPr>
          <p:cNvPr id="5" name="TextBox 4"/>
          <p:cNvSpPr txBox="1"/>
          <p:nvPr/>
        </p:nvSpPr>
        <p:spPr>
          <a:xfrm>
            <a:off x="0" y="2468880"/>
            <a:ext cx="18288000" cy="548640"/>
          </a:xfrm>
          <a:prstGeom prst="rect">
            <a:avLst/>
          </a:prstGeom>
          <a:noFill/>
        </p:spPr>
        <p:txBody>
          <a:bodyPr wrap="square" lIns="0" tIns="0" rIns="0" bIns="0" anchor="t">
            <a:spAutoFit/>
          </a:bodyPr>
          <a:lstStyle/>
          <a:p>
            <a:pPr algn="ctr">
              <a:lnSpc>
                <a:spcPct val="110000"/>
              </a:lnSpc>
            </a:pPr>
            <a:r>
              <a:rPr sz="2200" b="1">
                <a:solidFill>
                  <a:srgbClr val="3FE0D0"/>
                </a:solidFill>
                <a:latin typeface="JetBrains Mono"/>
              </a:rPr>
              <a:t>PARTNER CRITIQUE</a:t>
            </a:r>
          </a:p>
        </p:txBody>
      </p:sp>
      <p:sp>
        <p:nvSpPr>
          <p:cNvPr id="6" name="TextBox 5"/>
          <p:cNvSpPr txBox="1"/>
          <p:nvPr/>
        </p:nvSpPr>
        <p:spPr>
          <a:xfrm>
            <a:off x="0" y="3291840"/>
            <a:ext cx="18288000" cy="4924425"/>
          </a:xfrm>
          <a:prstGeom prst="rect">
            <a:avLst/>
          </a:prstGeom>
          <a:noFill/>
        </p:spPr>
        <p:txBody>
          <a:bodyPr wrap="square" lIns="0" tIns="0" rIns="0" bIns="0" anchor="t">
            <a:spAutoFit/>
          </a:bodyPr>
          <a:lstStyle/>
          <a:p>
            <a:pPr algn="ctr">
              <a:lnSpc>
                <a:spcPct val="100000"/>
              </a:lnSpc>
            </a:pPr>
            <a:r>
              <a:rPr sz="32000" b="1" dirty="0">
                <a:solidFill>
                  <a:srgbClr val="FFFFFF"/>
                </a:solidFill>
                <a:latin typeface="Montserrat"/>
              </a:rPr>
              <a:t>15:00</a:t>
            </a:r>
          </a:p>
        </p:txBody>
      </p:sp>
      <p:sp>
        <p:nvSpPr>
          <p:cNvPr id="7" name="TextBox 6"/>
          <p:cNvSpPr txBox="1"/>
          <p:nvPr/>
        </p:nvSpPr>
        <p:spPr>
          <a:xfrm>
            <a:off x="1828800" y="7863840"/>
            <a:ext cx="14630400" cy="1097280"/>
          </a:xfrm>
          <a:prstGeom prst="rect">
            <a:avLst/>
          </a:prstGeom>
          <a:noFill/>
        </p:spPr>
        <p:txBody>
          <a:bodyPr wrap="square" lIns="0" tIns="0" rIns="0" bIns="0" anchor="t">
            <a:spAutoFit/>
          </a:bodyPr>
          <a:lstStyle/>
          <a:p>
            <a:pPr algn="ctr">
              <a:lnSpc>
                <a:spcPct val="115000"/>
              </a:lnSpc>
            </a:pPr>
            <a:r>
              <a:rPr sz="3600" b="1">
                <a:solidFill>
                  <a:srgbClr val="C9CBD1"/>
                </a:solidFill>
                <a:latin typeface="Montserrat"/>
              </a:rPr>
              <a:t>Swap with the person next to you. 7 minutes each direction.</a:t>
            </a:r>
          </a:p>
        </p:txBody>
      </p:sp>
      <p:sp>
        <p:nvSpPr>
          <p:cNvPr id="8" name="Rectangle 7"/>
          <p:cNvSpPr/>
          <p:nvPr/>
        </p:nvSpPr>
        <p:spPr>
          <a:xfrm>
            <a:off x="8229600" y="9235440"/>
            <a:ext cx="1828800" cy="38100"/>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50976" y="475488"/>
            <a:ext cx="9144000" cy="274320"/>
          </a:xfrm>
          <a:prstGeom prst="rect">
            <a:avLst/>
          </a:prstGeom>
          <a:noFill/>
        </p:spPr>
        <p:txBody>
          <a:bodyPr wrap="square" lIns="0" tIns="0" rIns="0" bIns="0" anchor="t">
            <a:spAutoFit/>
          </a:bodyPr>
          <a:lstStyle/>
          <a:p>
            <a:pPr algn="l">
              <a:lnSpc>
                <a:spcPct val="110000"/>
              </a:lnSpc>
            </a:pPr>
            <a:r>
              <a:rPr sz="1100" b="0">
                <a:solidFill>
                  <a:srgbClr val="6B6E78"/>
                </a:solidFill>
                <a:latin typeface="JetBrains Mono"/>
              </a:rPr>
              <a:t>BLOCK 04 · PARTNER CRITIQUE</a:t>
            </a:r>
          </a:p>
        </p:txBody>
      </p:sp>
      <p:sp>
        <p:nvSpPr>
          <p:cNvPr id="4" name="TextBox 3"/>
          <p:cNvSpPr txBox="1"/>
          <p:nvPr/>
        </p:nvSpPr>
        <p:spPr>
          <a:xfrm>
            <a:off x="16002000" y="475488"/>
            <a:ext cx="1371600" cy="274320"/>
          </a:xfrm>
          <a:prstGeom prst="rect">
            <a:avLst/>
          </a:prstGeom>
          <a:noFill/>
        </p:spPr>
        <p:txBody>
          <a:bodyPr wrap="square" lIns="0" tIns="0" rIns="0" bIns="0" anchor="t">
            <a:spAutoFit/>
          </a:bodyPr>
          <a:lstStyle/>
          <a:p>
            <a:pPr algn="r">
              <a:lnSpc>
                <a:spcPct val="110000"/>
              </a:lnSpc>
            </a:pPr>
            <a:r>
              <a:rPr sz="1100" b="0">
                <a:solidFill>
                  <a:srgbClr val="6B6E78"/>
                </a:solidFill>
                <a:latin typeface="JetBrains Mono"/>
              </a:rPr>
              <a:t>07 / 12</a:t>
            </a:r>
          </a:p>
        </p:txBody>
      </p:sp>
      <p:sp>
        <p:nvSpPr>
          <p:cNvPr id="5" name="TextBox 4"/>
          <p:cNvSpPr txBox="1"/>
          <p:nvPr/>
        </p:nvSpPr>
        <p:spPr>
          <a:xfrm>
            <a:off x="950976" y="1280160"/>
            <a:ext cx="16459200" cy="365760"/>
          </a:xfrm>
          <a:prstGeom prst="rect">
            <a:avLst/>
          </a:prstGeom>
          <a:noFill/>
        </p:spPr>
        <p:txBody>
          <a:bodyPr wrap="square" lIns="0" tIns="0" rIns="0" bIns="0" anchor="t">
            <a:spAutoFit/>
          </a:bodyPr>
          <a:lstStyle/>
          <a:p>
            <a:pPr algn="l">
              <a:lnSpc>
                <a:spcPct val="110000"/>
              </a:lnSpc>
            </a:pPr>
            <a:r>
              <a:rPr sz="1500" b="0">
                <a:solidFill>
                  <a:srgbClr val="3FE0D0"/>
                </a:solidFill>
                <a:latin typeface="JetBrains Mono"/>
              </a:rPr>
              <a:t>PHOTOGRAPH THIS SLIDE</a:t>
            </a:r>
          </a:p>
        </p:txBody>
      </p:sp>
      <p:sp>
        <p:nvSpPr>
          <p:cNvPr id="6" name="TextBox 5"/>
          <p:cNvSpPr txBox="1"/>
          <p:nvPr/>
        </p:nvSpPr>
        <p:spPr>
          <a:xfrm>
            <a:off x="950976" y="1783080"/>
            <a:ext cx="16459200" cy="1463040"/>
          </a:xfrm>
          <a:prstGeom prst="rect">
            <a:avLst/>
          </a:prstGeom>
          <a:noFill/>
        </p:spPr>
        <p:txBody>
          <a:bodyPr wrap="square" lIns="0" tIns="0" rIns="0" bIns="0" anchor="t">
            <a:spAutoFit/>
          </a:bodyPr>
          <a:lstStyle/>
          <a:p>
            <a:pPr algn="l">
              <a:lnSpc>
                <a:spcPct val="110000"/>
              </a:lnSpc>
            </a:pPr>
            <a:r>
              <a:rPr sz="7000" b="1">
                <a:solidFill>
                  <a:srgbClr val="FFFFFF"/>
                </a:solidFill>
                <a:latin typeface="Montserrat"/>
              </a:rPr>
              <a:t>The critique checklist.</a:t>
            </a:r>
          </a:p>
        </p:txBody>
      </p:sp>
      <p:sp>
        <p:nvSpPr>
          <p:cNvPr id="7" name="Rectangle 6"/>
          <p:cNvSpPr/>
          <p:nvPr/>
        </p:nvSpPr>
        <p:spPr>
          <a:xfrm>
            <a:off x="950976" y="4069080"/>
            <a:ext cx="16386048" cy="100584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50976" y="4069080"/>
            <a:ext cx="109728" cy="1005840"/>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325880" y="4233672"/>
            <a:ext cx="1280160" cy="731520"/>
          </a:xfrm>
          <a:prstGeom prst="rect">
            <a:avLst/>
          </a:prstGeom>
          <a:noFill/>
        </p:spPr>
        <p:txBody>
          <a:bodyPr wrap="square" lIns="0" tIns="0" rIns="0" bIns="0" anchor="ctr">
            <a:spAutoFit/>
          </a:bodyPr>
          <a:lstStyle/>
          <a:p>
            <a:pPr algn="l">
              <a:lnSpc>
                <a:spcPct val="110000"/>
              </a:lnSpc>
            </a:pPr>
            <a:r>
              <a:rPr sz="2800" b="1">
                <a:solidFill>
                  <a:srgbClr val="3FE0D0"/>
                </a:solidFill>
                <a:latin typeface="JetBrains Mono"/>
              </a:rPr>
              <a:t>01</a:t>
            </a:r>
          </a:p>
        </p:txBody>
      </p:sp>
      <p:sp>
        <p:nvSpPr>
          <p:cNvPr id="10" name="TextBox 9"/>
          <p:cNvSpPr txBox="1"/>
          <p:nvPr/>
        </p:nvSpPr>
        <p:spPr>
          <a:xfrm>
            <a:off x="2606040" y="4114800"/>
            <a:ext cx="12344400" cy="1005840"/>
          </a:xfrm>
          <a:prstGeom prst="rect">
            <a:avLst/>
          </a:prstGeom>
          <a:noFill/>
        </p:spPr>
        <p:txBody>
          <a:bodyPr wrap="square" lIns="0" tIns="0" rIns="0" bIns="0" anchor="ctr">
            <a:spAutoFit/>
          </a:bodyPr>
          <a:lstStyle/>
          <a:p>
            <a:pPr algn="l">
              <a:lnSpc>
                <a:spcPct val="115000"/>
              </a:lnSpc>
            </a:pPr>
            <a:r>
              <a:rPr sz="2300" b="1">
                <a:solidFill>
                  <a:srgbClr val="FFFFFF"/>
                </a:solidFill>
                <a:latin typeface="Montserrat"/>
              </a:rPr>
              <a:t>Could I build the project from this doc alone?</a:t>
            </a:r>
          </a:p>
        </p:txBody>
      </p:sp>
      <p:sp>
        <p:nvSpPr>
          <p:cNvPr id="11" name="Rectangle 10"/>
          <p:cNvSpPr/>
          <p:nvPr/>
        </p:nvSpPr>
        <p:spPr>
          <a:xfrm>
            <a:off x="950976" y="5184648"/>
            <a:ext cx="16386048" cy="100584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950976" y="5184648"/>
            <a:ext cx="109728" cy="1005840"/>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325880" y="5349240"/>
            <a:ext cx="1280160" cy="731520"/>
          </a:xfrm>
          <a:prstGeom prst="rect">
            <a:avLst/>
          </a:prstGeom>
          <a:noFill/>
        </p:spPr>
        <p:txBody>
          <a:bodyPr wrap="square" lIns="0" tIns="0" rIns="0" bIns="0" anchor="ctr">
            <a:spAutoFit/>
          </a:bodyPr>
          <a:lstStyle/>
          <a:p>
            <a:pPr algn="l">
              <a:lnSpc>
                <a:spcPct val="110000"/>
              </a:lnSpc>
            </a:pPr>
            <a:r>
              <a:rPr sz="2800" b="1">
                <a:solidFill>
                  <a:srgbClr val="3FE0D0"/>
                </a:solidFill>
                <a:latin typeface="JetBrains Mono"/>
              </a:rPr>
              <a:t>02</a:t>
            </a:r>
          </a:p>
        </p:txBody>
      </p:sp>
      <p:sp>
        <p:nvSpPr>
          <p:cNvPr id="14" name="TextBox 13"/>
          <p:cNvSpPr txBox="1"/>
          <p:nvPr/>
        </p:nvSpPr>
        <p:spPr>
          <a:xfrm>
            <a:off x="2606040" y="5230368"/>
            <a:ext cx="12344400" cy="1005840"/>
          </a:xfrm>
          <a:prstGeom prst="rect">
            <a:avLst/>
          </a:prstGeom>
          <a:noFill/>
        </p:spPr>
        <p:txBody>
          <a:bodyPr wrap="square" lIns="0" tIns="0" rIns="0" bIns="0" anchor="ctr">
            <a:spAutoFit/>
          </a:bodyPr>
          <a:lstStyle/>
          <a:p>
            <a:pPr algn="l">
              <a:lnSpc>
                <a:spcPct val="115000"/>
              </a:lnSpc>
            </a:pPr>
            <a:r>
              <a:rPr sz="2300" b="1">
                <a:solidFill>
                  <a:srgbClr val="FFFFFF"/>
                </a:solidFill>
                <a:latin typeface="Montserrat"/>
              </a:rPr>
              <a:t>Are the conventions stated, or just hinted at?</a:t>
            </a:r>
          </a:p>
        </p:txBody>
      </p:sp>
      <p:sp>
        <p:nvSpPr>
          <p:cNvPr id="15" name="Rectangle 14"/>
          <p:cNvSpPr/>
          <p:nvPr/>
        </p:nvSpPr>
        <p:spPr>
          <a:xfrm>
            <a:off x="950976" y="6300216"/>
            <a:ext cx="16386048" cy="100584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50976" y="6300216"/>
            <a:ext cx="109728" cy="1005840"/>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25880" y="6464808"/>
            <a:ext cx="1280160" cy="731520"/>
          </a:xfrm>
          <a:prstGeom prst="rect">
            <a:avLst/>
          </a:prstGeom>
          <a:noFill/>
        </p:spPr>
        <p:txBody>
          <a:bodyPr wrap="square" lIns="0" tIns="0" rIns="0" bIns="0" anchor="ctr">
            <a:spAutoFit/>
          </a:bodyPr>
          <a:lstStyle/>
          <a:p>
            <a:pPr algn="l">
              <a:lnSpc>
                <a:spcPct val="110000"/>
              </a:lnSpc>
            </a:pPr>
            <a:r>
              <a:rPr sz="2800" b="1">
                <a:solidFill>
                  <a:srgbClr val="3FE0D0"/>
                </a:solidFill>
                <a:latin typeface="JetBrains Mono"/>
              </a:rPr>
              <a:t>03</a:t>
            </a:r>
          </a:p>
        </p:txBody>
      </p:sp>
      <p:sp>
        <p:nvSpPr>
          <p:cNvPr id="18" name="TextBox 17"/>
          <p:cNvSpPr txBox="1"/>
          <p:nvPr/>
        </p:nvSpPr>
        <p:spPr>
          <a:xfrm>
            <a:off x="2606040" y="6345936"/>
            <a:ext cx="12344400" cy="1005840"/>
          </a:xfrm>
          <a:prstGeom prst="rect">
            <a:avLst/>
          </a:prstGeom>
          <a:noFill/>
        </p:spPr>
        <p:txBody>
          <a:bodyPr wrap="square" lIns="0" tIns="0" rIns="0" bIns="0" anchor="ctr">
            <a:spAutoFit/>
          </a:bodyPr>
          <a:lstStyle/>
          <a:p>
            <a:pPr algn="l">
              <a:lnSpc>
                <a:spcPct val="115000"/>
              </a:lnSpc>
            </a:pPr>
            <a:r>
              <a:rPr sz="2300" b="1">
                <a:solidFill>
                  <a:srgbClr val="FFFFFF"/>
                </a:solidFill>
                <a:latin typeface="Montserrat"/>
              </a:rPr>
              <a:t>Is there anything vague that would make Claude guess?</a:t>
            </a:r>
          </a:p>
        </p:txBody>
      </p:sp>
      <p:sp>
        <p:nvSpPr>
          <p:cNvPr id="19" name="Rectangle 18"/>
          <p:cNvSpPr/>
          <p:nvPr/>
        </p:nvSpPr>
        <p:spPr>
          <a:xfrm>
            <a:off x="950976" y="7415784"/>
            <a:ext cx="16386048" cy="100584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950976" y="7415784"/>
            <a:ext cx="109728" cy="1005840"/>
          </a:xfrm>
          <a:prstGeom prst="rect">
            <a:avLst/>
          </a:prstGeom>
          <a:solidFill>
            <a:srgbClr val="F58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325880" y="7580376"/>
            <a:ext cx="1280160" cy="731520"/>
          </a:xfrm>
          <a:prstGeom prst="rect">
            <a:avLst/>
          </a:prstGeom>
          <a:noFill/>
        </p:spPr>
        <p:txBody>
          <a:bodyPr wrap="square" lIns="0" tIns="0" rIns="0" bIns="0" anchor="ctr">
            <a:spAutoFit/>
          </a:bodyPr>
          <a:lstStyle/>
          <a:p>
            <a:pPr algn="l">
              <a:lnSpc>
                <a:spcPct val="110000"/>
              </a:lnSpc>
            </a:pPr>
            <a:r>
              <a:rPr sz="2800" b="1">
                <a:solidFill>
                  <a:srgbClr val="F58220"/>
                </a:solidFill>
                <a:latin typeface="JetBrains Mono"/>
              </a:rPr>
              <a:t>04</a:t>
            </a:r>
          </a:p>
        </p:txBody>
      </p:sp>
      <p:sp>
        <p:nvSpPr>
          <p:cNvPr id="22" name="TextBox 21"/>
          <p:cNvSpPr txBox="1"/>
          <p:nvPr/>
        </p:nvSpPr>
        <p:spPr>
          <a:xfrm>
            <a:off x="2606040" y="7461504"/>
            <a:ext cx="12344400" cy="1005840"/>
          </a:xfrm>
          <a:prstGeom prst="rect">
            <a:avLst/>
          </a:prstGeom>
          <a:noFill/>
        </p:spPr>
        <p:txBody>
          <a:bodyPr wrap="square" lIns="0" tIns="0" rIns="0" bIns="0" anchor="ctr">
            <a:spAutoFit/>
          </a:bodyPr>
          <a:lstStyle/>
          <a:p>
            <a:pPr algn="l">
              <a:lnSpc>
                <a:spcPct val="115000"/>
              </a:lnSpc>
            </a:pPr>
            <a:r>
              <a:rPr sz="2300" b="1">
                <a:solidFill>
                  <a:srgbClr val="FFFFFF"/>
                </a:solidFill>
                <a:latin typeface="Montserrat"/>
              </a:rPr>
              <a:t>Is there anything the model can already infer that's just noise?</a:t>
            </a:r>
          </a:p>
        </p:txBody>
      </p:sp>
      <p:sp>
        <p:nvSpPr>
          <p:cNvPr id="23" name="Rounded Rectangle 22"/>
          <p:cNvSpPr/>
          <p:nvPr/>
        </p:nvSpPr>
        <p:spPr>
          <a:xfrm>
            <a:off x="15179040" y="7708392"/>
            <a:ext cx="2011680" cy="411480"/>
          </a:xfrm>
          <a:prstGeom prst="roundRect">
            <a:avLst/>
          </a:prstGeom>
          <a:solidFill>
            <a:srgbClr val="F58220"/>
          </a:solidFill>
          <a:ln>
            <a:noFill/>
          </a:ln>
        </p:spPr>
        <p:style>
          <a:lnRef idx="1">
            <a:schemeClr val="accent1"/>
          </a:lnRef>
          <a:fillRef idx="3">
            <a:schemeClr val="accent1"/>
          </a:fillRef>
          <a:effectRef idx="2">
            <a:schemeClr val="accent1"/>
          </a:effectRef>
          <a:fontRef idx="minor">
            <a:schemeClr val="lt1"/>
          </a:fontRef>
        </p:style>
        <p:txBody>
          <a:bodyPr lIns="109728" tIns="18288" rIns="109728" bIns="18288" rtlCol="0" anchor="ctr"/>
          <a:lstStyle/>
          <a:p>
            <a:pPr algn="ctr"/>
            <a:r>
              <a:rPr sz="1200" b="1">
                <a:solidFill>
                  <a:srgbClr val="14161C"/>
                </a:solidFill>
                <a:latin typeface="JetBrains Mono"/>
              </a:rPr>
              <a:t>COMMANDMENT II</a:t>
            </a:r>
          </a:p>
        </p:txBody>
      </p:sp>
      <p:sp>
        <p:nvSpPr>
          <p:cNvPr id="24" name="Rectangle 23"/>
          <p:cNvSpPr/>
          <p:nvPr/>
        </p:nvSpPr>
        <p:spPr>
          <a:xfrm>
            <a:off x="950976" y="8531352"/>
            <a:ext cx="16386048" cy="100584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950976" y="8531352"/>
            <a:ext cx="109728" cy="1005840"/>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325880" y="8695944"/>
            <a:ext cx="1280160" cy="731520"/>
          </a:xfrm>
          <a:prstGeom prst="rect">
            <a:avLst/>
          </a:prstGeom>
          <a:noFill/>
        </p:spPr>
        <p:txBody>
          <a:bodyPr wrap="square" lIns="0" tIns="0" rIns="0" bIns="0" anchor="ctr">
            <a:spAutoFit/>
          </a:bodyPr>
          <a:lstStyle/>
          <a:p>
            <a:pPr algn="l">
              <a:lnSpc>
                <a:spcPct val="110000"/>
              </a:lnSpc>
            </a:pPr>
            <a:r>
              <a:rPr sz="2800" b="1">
                <a:solidFill>
                  <a:srgbClr val="3FE0D0"/>
                </a:solidFill>
                <a:latin typeface="JetBrains Mono"/>
              </a:rPr>
              <a:t>05</a:t>
            </a:r>
          </a:p>
        </p:txBody>
      </p:sp>
      <p:sp>
        <p:nvSpPr>
          <p:cNvPr id="27" name="TextBox 26"/>
          <p:cNvSpPr txBox="1"/>
          <p:nvPr/>
        </p:nvSpPr>
        <p:spPr>
          <a:xfrm>
            <a:off x="2606040" y="8577072"/>
            <a:ext cx="12344400" cy="1005840"/>
          </a:xfrm>
          <a:prstGeom prst="rect">
            <a:avLst/>
          </a:prstGeom>
          <a:noFill/>
        </p:spPr>
        <p:txBody>
          <a:bodyPr wrap="square" lIns="0" tIns="0" rIns="0" bIns="0" anchor="ctr">
            <a:spAutoFit/>
          </a:bodyPr>
          <a:lstStyle/>
          <a:p>
            <a:pPr algn="l">
              <a:lnSpc>
                <a:spcPct val="115000"/>
              </a:lnSpc>
            </a:pPr>
            <a:r>
              <a:rPr sz="2300" b="1">
                <a:solidFill>
                  <a:srgbClr val="FFFFFF"/>
                </a:solidFill>
                <a:latin typeface="Montserrat"/>
              </a:rPr>
              <a:t>Does the doc say what the project ISN'T, where relevant?</a:t>
            </a:r>
          </a:p>
        </p:txBody>
      </p:sp>
      <p:sp>
        <p:nvSpPr>
          <p:cNvPr id="28" name="TextBox 27"/>
          <p:cNvSpPr txBox="1"/>
          <p:nvPr/>
        </p:nvSpPr>
        <p:spPr>
          <a:xfrm>
            <a:off x="950976" y="9418320"/>
            <a:ext cx="16459200" cy="365760"/>
          </a:xfrm>
          <a:prstGeom prst="rect">
            <a:avLst/>
          </a:prstGeom>
          <a:noFill/>
        </p:spPr>
        <p:txBody>
          <a:bodyPr wrap="square" lIns="0" tIns="0" rIns="0" bIns="0" anchor="t">
            <a:spAutoFit/>
          </a:bodyPr>
          <a:lstStyle/>
          <a:p>
            <a:pPr algn="l">
              <a:lnSpc>
                <a:spcPct val="110000"/>
              </a:lnSpc>
            </a:pPr>
            <a:r>
              <a:rPr sz="1200" b="0">
                <a:solidFill>
                  <a:srgbClr val="6B6E78"/>
                </a:solidFill>
                <a:latin typeface="JetBrains Mono"/>
              </a:rPr>
              <a:t>// LITMUS TEST: "WOULD A NEW TEAMMATE WHO JOINED TODAY BE ABLE TO FOLLOW THIS?"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50976" y="475488"/>
            <a:ext cx="9144000" cy="274320"/>
          </a:xfrm>
          <a:prstGeom prst="rect">
            <a:avLst/>
          </a:prstGeom>
          <a:noFill/>
        </p:spPr>
        <p:txBody>
          <a:bodyPr wrap="square" lIns="0" tIns="0" rIns="0" bIns="0" anchor="t">
            <a:spAutoFit/>
          </a:bodyPr>
          <a:lstStyle/>
          <a:p>
            <a:pPr algn="l">
              <a:lnSpc>
                <a:spcPct val="110000"/>
              </a:lnSpc>
            </a:pPr>
            <a:r>
              <a:rPr sz="1100" b="0">
                <a:solidFill>
                  <a:srgbClr val="6B6E78"/>
                </a:solidFill>
                <a:latin typeface="JetBrains Mono"/>
              </a:rPr>
              <a:t>BLOCK 05 · ITERATE + TEST</a:t>
            </a:r>
          </a:p>
        </p:txBody>
      </p:sp>
      <p:sp>
        <p:nvSpPr>
          <p:cNvPr id="4" name="TextBox 3"/>
          <p:cNvSpPr txBox="1"/>
          <p:nvPr/>
        </p:nvSpPr>
        <p:spPr>
          <a:xfrm>
            <a:off x="16002000" y="475488"/>
            <a:ext cx="1371600" cy="274320"/>
          </a:xfrm>
          <a:prstGeom prst="rect">
            <a:avLst/>
          </a:prstGeom>
          <a:noFill/>
        </p:spPr>
        <p:txBody>
          <a:bodyPr wrap="square" lIns="0" tIns="0" rIns="0" bIns="0" anchor="t">
            <a:spAutoFit/>
          </a:bodyPr>
          <a:lstStyle/>
          <a:p>
            <a:pPr algn="r">
              <a:lnSpc>
                <a:spcPct val="110000"/>
              </a:lnSpc>
            </a:pPr>
            <a:r>
              <a:rPr sz="1100" b="0">
                <a:solidFill>
                  <a:srgbClr val="6B6E78"/>
                </a:solidFill>
                <a:latin typeface="JetBrains Mono"/>
              </a:rPr>
              <a:t>08 / 12</a:t>
            </a:r>
          </a:p>
        </p:txBody>
      </p:sp>
      <p:sp>
        <p:nvSpPr>
          <p:cNvPr id="5" name="TextBox 4"/>
          <p:cNvSpPr txBox="1"/>
          <p:nvPr/>
        </p:nvSpPr>
        <p:spPr>
          <a:xfrm>
            <a:off x="0" y="2468880"/>
            <a:ext cx="18288000" cy="548640"/>
          </a:xfrm>
          <a:prstGeom prst="rect">
            <a:avLst/>
          </a:prstGeom>
          <a:noFill/>
        </p:spPr>
        <p:txBody>
          <a:bodyPr wrap="square" lIns="0" tIns="0" rIns="0" bIns="0" anchor="t">
            <a:spAutoFit/>
          </a:bodyPr>
          <a:lstStyle/>
          <a:p>
            <a:pPr algn="ctr">
              <a:lnSpc>
                <a:spcPct val="110000"/>
              </a:lnSpc>
            </a:pPr>
            <a:r>
              <a:rPr sz="2200" b="1">
                <a:solidFill>
                  <a:srgbClr val="F58220"/>
                </a:solidFill>
                <a:latin typeface="JetBrains Mono"/>
              </a:rPr>
              <a:t>ITERATE + TEST</a:t>
            </a:r>
          </a:p>
        </p:txBody>
      </p:sp>
      <p:sp>
        <p:nvSpPr>
          <p:cNvPr id="6" name="TextBox 5"/>
          <p:cNvSpPr txBox="1"/>
          <p:nvPr/>
        </p:nvSpPr>
        <p:spPr>
          <a:xfrm>
            <a:off x="0" y="3291840"/>
            <a:ext cx="18288000" cy="4616648"/>
          </a:xfrm>
          <a:prstGeom prst="rect">
            <a:avLst/>
          </a:prstGeom>
          <a:noFill/>
        </p:spPr>
        <p:txBody>
          <a:bodyPr wrap="square" lIns="0" tIns="0" rIns="0" bIns="0" anchor="t">
            <a:spAutoFit/>
          </a:bodyPr>
          <a:lstStyle/>
          <a:p>
            <a:pPr algn="ctr">
              <a:lnSpc>
                <a:spcPct val="100000"/>
              </a:lnSpc>
            </a:pPr>
            <a:r>
              <a:rPr sz="30000" b="1" dirty="0">
                <a:solidFill>
                  <a:srgbClr val="FFFFFF"/>
                </a:solidFill>
                <a:latin typeface="Montserrat"/>
              </a:rPr>
              <a:t>10:00</a:t>
            </a:r>
          </a:p>
        </p:txBody>
      </p:sp>
      <p:sp>
        <p:nvSpPr>
          <p:cNvPr id="7" name="TextBox 6"/>
          <p:cNvSpPr txBox="1"/>
          <p:nvPr/>
        </p:nvSpPr>
        <p:spPr>
          <a:xfrm>
            <a:off x="1828800" y="7863840"/>
            <a:ext cx="14630400" cy="1097280"/>
          </a:xfrm>
          <a:prstGeom prst="rect">
            <a:avLst/>
          </a:prstGeom>
          <a:noFill/>
        </p:spPr>
        <p:txBody>
          <a:bodyPr wrap="square" lIns="0" tIns="0" rIns="0" bIns="0" anchor="t">
            <a:spAutoFit/>
          </a:bodyPr>
          <a:lstStyle/>
          <a:p>
            <a:pPr algn="ctr">
              <a:lnSpc>
                <a:spcPct val="115000"/>
              </a:lnSpc>
            </a:pPr>
            <a:r>
              <a:rPr sz="3600" b="1">
                <a:solidFill>
                  <a:srgbClr val="C9CBD1"/>
                </a:solidFill>
                <a:latin typeface="Montserrat"/>
              </a:rPr>
              <a:t>Apply the feedback. Then test it. Commandment X in motion.</a:t>
            </a:r>
          </a:p>
        </p:txBody>
      </p:sp>
      <p:sp>
        <p:nvSpPr>
          <p:cNvPr id="8" name="Rectangle 7"/>
          <p:cNvSpPr/>
          <p:nvPr/>
        </p:nvSpPr>
        <p:spPr>
          <a:xfrm>
            <a:off x="8229600" y="9235440"/>
            <a:ext cx="1828800" cy="38100"/>
          </a:xfrm>
          <a:prstGeom prst="rect">
            <a:avLst/>
          </a:prstGeom>
          <a:solidFill>
            <a:srgbClr val="F58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50976" y="475488"/>
            <a:ext cx="9144000" cy="274320"/>
          </a:xfrm>
          <a:prstGeom prst="rect">
            <a:avLst/>
          </a:prstGeom>
          <a:noFill/>
        </p:spPr>
        <p:txBody>
          <a:bodyPr wrap="square" lIns="0" tIns="0" rIns="0" bIns="0" anchor="t">
            <a:spAutoFit/>
          </a:bodyPr>
          <a:lstStyle/>
          <a:p>
            <a:pPr algn="l">
              <a:lnSpc>
                <a:spcPct val="110000"/>
              </a:lnSpc>
            </a:pPr>
            <a:r>
              <a:rPr sz="1100" b="0">
                <a:solidFill>
                  <a:srgbClr val="6B6E78"/>
                </a:solidFill>
                <a:latin typeface="JetBrains Mono"/>
              </a:rPr>
              <a:t>BLOCK 05 · ITERATE + TEST</a:t>
            </a:r>
          </a:p>
        </p:txBody>
      </p:sp>
      <p:sp>
        <p:nvSpPr>
          <p:cNvPr id="4" name="TextBox 3"/>
          <p:cNvSpPr txBox="1"/>
          <p:nvPr/>
        </p:nvSpPr>
        <p:spPr>
          <a:xfrm>
            <a:off x="16002000" y="475488"/>
            <a:ext cx="1371600" cy="274320"/>
          </a:xfrm>
          <a:prstGeom prst="rect">
            <a:avLst/>
          </a:prstGeom>
          <a:noFill/>
        </p:spPr>
        <p:txBody>
          <a:bodyPr wrap="square" lIns="0" tIns="0" rIns="0" bIns="0" anchor="t">
            <a:spAutoFit/>
          </a:bodyPr>
          <a:lstStyle/>
          <a:p>
            <a:pPr algn="r">
              <a:lnSpc>
                <a:spcPct val="110000"/>
              </a:lnSpc>
            </a:pPr>
            <a:r>
              <a:rPr sz="1100" b="0">
                <a:solidFill>
                  <a:srgbClr val="6B6E78"/>
                </a:solidFill>
                <a:latin typeface="JetBrains Mono"/>
              </a:rPr>
              <a:t>09 / 12</a:t>
            </a:r>
          </a:p>
        </p:txBody>
      </p:sp>
      <p:sp>
        <p:nvSpPr>
          <p:cNvPr id="5" name="TextBox 4"/>
          <p:cNvSpPr txBox="1"/>
          <p:nvPr/>
        </p:nvSpPr>
        <p:spPr>
          <a:xfrm>
            <a:off x="950976" y="1280160"/>
            <a:ext cx="16459200" cy="365760"/>
          </a:xfrm>
          <a:prstGeom prst="rect">
            <a:avLst/>
          </a:prstGeom>
          <a:noFill/>
        </p:spPr>
        <p:txBody>
          <a:bodyPr wrap="square" lIns="0" tIns="0" rIns="0" bIns="0" anchor="t">
            <a:spAutoFit/>
          </a:bodyPr>
          <a:lstStyle/>
          <a:p>
            <a:pPr algn="l">
              <a:lnSpc>
                <a:spcPct val="110000"/>
              </a:lnSpc>
            </a:pPr>
            <a:r>
              <a:rPr sz="1500" b="0">
                <a:solidFill>
                  <a:srgbClr val="F58220"/>
                </a:solidFill>
                <a:latin typeface="JetBrains Mono"/>
              </a:rPr>
              <a:t>ASK CLAUDE THIS, EXACTLY</a:t>
            </a:r>
          </a:p>
        </p:txBody>
      </p:sp>
      <p:sp>
        <p:nvSpPr>
          <p:cNvPr id="6" name="TextBox 5"/>
          <p:cNvSpPr txBox="1"/>
          <p:nvPr/>
        </p:nvSpPr>
        <p:spPr>
          <a:xfrm>
            <a:off x="950976" y="1783080"/>
            <a:ext cx="16459200" cy="1280160"/>
          </a:xfrm>
          <a:prstGeom prst="rect">
            <a:avLst/>
          </a:prstGeom>
          <a:noFill/>
        </p:spPr>
        <p:txBody>
          <a:bodyPr wrap="square" lIns="0" tIns="0" rIns="0" bIns="0" anchor="t">
            <a:spAutoFit/>
          </a:bodyPr>
          <a:lstStyle/>
          <a:p>
            <a:pPr algn="l">
              <a:lnSpc>
                <a:spcPct val="110000"/>
              </a:lnSpc>
            </a:pPr>
            <a:r>
              <a:rPr sz="7000" b="1">
                <a:solidFill>
                  <a:srgbClr val="FFFFFF"/>
                </a:solidFill>
                <a:latin typeface="Montserrat"/>
              </a:rPr>
              <a:t>The test prompt.</a:t>
            </a:r>
          </a:p>
        </p:txBody>
      </p:sp>
      <p:sp>
        <p:nvSpPr>
          <p:cNvPr id="7" name="Rectangle 6"/>
          <p:cNvSpPr/>
          <p:nvPr/>
        </p:nvSpPr>
        <p:spPr>
          <a:xfrm>
            <a:off x="950976" y="3840480"/>
            <a:ext cx="16386048" cy="329184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280160" y="3886200"/>
            <a:ext cx="1828800" cy="1828800"/>
          </a:xfrm>
          <a:prstGeom prst="rect">
            <a:avLst/>
          </a:prstGeom>
          <a:noFill/>
        </p:spPr>
        <p:txBody>
          <a:bodyPr wrap="square" lIns="0" tIns="0" rIns="0" bIns="0" anchor="t">
            <a:spAutoFit/>
          </a:bodyPr>
          <a:lstStyle/>
          <a:p>
            <a:pPr algn="l">
              <a:lnSpc>
                <a:spcPct val="110000"/>
              </a:lnSpc>
            </a:pPr>
            <a:r>
              <a:rPr sz="24000" b="1">
                <a:solidFill>
                  <a:srgbClr val="F58220"/>
                </a:solidFill>
                <a:latin typeface="Montserrat"/>
              </a:rPr>
              <a:t>“</a:t>
            </a:r>
          </a:p>
        </p:txBody>
      </p:sp>
      <p:sp>
        <p:nvSpPr>
          <p:cNvPr id="9" name="TextBox 8"/>
          <p:cNvSpPr txBox="1"/>
          <p:nvPr/>
        </p:nvSpPr>
        <p:spPr>
          <a:xfrm>
            <a:off x="2834640" y="4434840"/>
            <a:ext cx="14173200" cy="2286000"/>
          </a:xfrm>
          <a:prstGeom prst="rect">
            <a:avLst/>
          </a:prstGeom>
          <a:noFill/>
        </p:spPr>
        <p:txBody>
          <a:bodyPr wrap="square" lIns="0" tIns="0" rIns="0" bIns="0" anchor="t">
            <a:spAutoFit/>
          </a:bodyPr>
          <a:lstStyle/>
          <a:p>
            <a:pPr algn="l">
              <a:lnSpc>
                <a:spcPct val="125000"/>
              </a:lnSpc>
            </a:pPr>
            <a:r>
              <a:rPr sz="3600" b="0">
                <a:solidFill>
                  <a:srgbClr val="FFFFFF"/>
                </a:solidFill>
                <a:latin typeface="Montserrat"/>
              </a:rPr>
              <a:t>Given this CLAUDE.md, what's one thing you're still </a:t>
            </a:r>
            <a:r>
              <a:rPr sz="3600" b="1">
                <a:solidFill>
                  <a:srgbClr val="3FE0D0"/>
                </a:solidFill>
                <a:latin typeface="Montserrat"/>
              </a:rPr>
              <a:t>unsure about</a:t>
            </a:r>
            <a:r>
              <a:rPr sz="3600" b="0">
                <a:solidFill>
                  <a:srgbClr val="FFFFFF"/>
                </a:solidFill>
                <a:latin typeface="Montserrat"/>
              </a:rPr>
              <a:t> before touching this codebase?</a:t>
            </a:r>
          </a:p>
        </p:txBody>
      </p:sp>
      <p:sp>
        <p:nvSpPr>
          <p:cNvPr id="10" name="TextBox 9"/>
          <p:cNvSpPr txBox="1"/>
          <p:nvPr/>
        </p:nvSpPr>
        <p:spPr>
          <a:xfrm>
            <a:off x="950976" y="7589520"/>
            <a:ext cx="16459200" cy="365760"/>
          </a:xfrm>
          <a:prstGeom prst="rect">
            <a:avLst/>
          </a:prstGeom>
          <a:noFill/>
        </p:spPr>
        <p:txBody>
          <a:bodyPr wrap="square" lIns="0" tIns="0" rIns="0" bIns="0" anchor="t">
            <a:spAutoFit/>
          </a:bodyPr>
          <a:lstStyle/>
          <a:p>
            <a:pPr algn="l">
              <a:lnSpc>
                <a:spcPct val="110000"/>
              </a:lnSpc>
            </a:pPr>
            <a:r>
              <a:rPr sz="1400" b="0">
                <a:solidFill>
                  <a:srgbClr val="3FE0D0"/>
                </a:solidFill>
                <a:latin typeface="JetBrains Mono"/>
              </a:rPr>
              <a:t>WHY</a:t>
            </a:r>
          </a:p>
        </p:txBody>
      </p:sp>
      <p:sp>
        <p:nvSpPr>
          <p:cNvPr id="11" name="TextBox 10"/>
          <p:cNvSpPr txBox="1"/>
          <p:nvPr/>
        </p:nvSpPr>
        <p:spPr>
          <a:xfrm>
            <a:off x="950976" y="8001000"/>
            <a:ext cx="16386048" cy="1554480"/>
          </a:xfrm>
          <a:prstGeom prst="rect">
            <a:avLst/>
          </a:prstGeom>
          <a:noFill/>
        </p:spPr>
        <p:txBody>
          <a:bodyPr wrap="square" lIns="0" tIns="0" rIns="0" bIns="0" anchor="t">
            <a:spAutoFit/>
          </a:bodyPr>
          <a:lstStyle/>
          <a:p>
            <a:pPr algn="l">
              <a:lnSpc>
                <a:spcPct val="130000"/>
              </a:lnSpc>
            </a:pPr>
            <a:r>
              <a:rPr sz="2200" b="0">
                <a:solidFill>
                  <a:srgbClr val="3FE0D0"/>
                </a:solidFill>
                <a:latin typeface="Inter"/>
              </a:rPr>
              <a:t>•  </a:t>
            </a:r>
            <a:r>
              <a:rPr sz="2200" b="1">
                <a:solidFill>
                  <a:srgbClr val="FFFFFF"/>
                </a:solidFill>
                <a:latin typeface="Inter"/>
              </a:rPr>
              <a:t>The answer is the next gap.</a:t>
            </a:r>
          </a:p>
          <a:p>
            <a:pPr algn="l">
              <a:lnSpc>
                <a:spcPct val="130000"/>
              </a:lnSpc>
            </a:pPr>
            <a:r>
              <a:rPr sz="2000" b="0">
                <a:solidFill>
                  <a:srgbClr val="3FE0D0"/>
                </a:solidFill>
                <a:latin typeface="Inter"/>
              </a:rPr>
              <a:t>•  </a:t>
            </a:r>
            <a:r>
              <a:rPr sz="2000" b="0">
                <a:solidFill>
                  <a:srgbClr val="C9CBD1"/>
                </a:solidFill>
                <a:latin typeface="Inter"/>
              </a:rPr>
              <a:t>And the next gap is the next pass at Commandment X.</a:t>
            </a:r>
          </a:p>
        </p:txBody>
      </p:sp>
      <p:sp>
        <p:nvSpPr>
          <p:cNvPr id="12" name="TextBox 11"/>
          <p:cNvSpPr txBox="1"/>
          <p:nvPr/>
        </p:nvSpPr>
        <p:spPr>
          <a:xfrm>
            <a:off x="950976" y="9418320"/>
            <a:ext cx="16459200" cy="365760"/>
          </a:xfrm>
          <a:prstGeom prst="rect">
            <a:avLst/>
          </a:prstGeom>
          <a:noFill/>
        </p:spPr>
        <p:txBody>
          <a:bodyPr wrap="square" lIns="0" tIns="0" rIns="0" bIns="0" anchor="t">
            <a:spAutoFit/>
          </a:bodyPr>
          <a:lstStyle/>
          <a:p>
            <a:pPr algn="l">
              <a:lnSpc>
                <a:spcPct val="110000"/>
              </a:lnSpc>
            </a:pPr>
            <a:r>
              <a:rPr sz="1200" b="0">
                <a:solidFill>
                  <a:srgbClr val="6B6E78"/>
                </a:solidFill>
                <a:latin typeface="JetBrains Mono"/>
              </a:rPr>
              <a:t>// THE DOC IS NEVER DONE. IT IS MORE OR LESS USEFUL.</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50976" y="475488"/>
            <a:ext cx="9144000" cy="274320"/>
          </a:xfrm>
          <a:prstGeom prst="rect">
            <a:avLst/>
          </a:prstGeom>
          <a:noFill/>
        </p:spPr>
        <p:txBody>
          <a:bodyPr wrap="square" lIns="0" tIns="0" rIns="0" bIns="0" anchor="t">
            <a:spAutoFit/>
          </a:bodyPr>
          <a:lstStyle/>
          <a:p>
            <a:pPr algn="l">
              <a:lnSpc>
                <a:spcPct val="110000"/>
              </a:lnSpc>
            </a:pPr>
            <a:r>
              <a:rPr sz="1100" b="0">
                <a:solidFill>
                  <a:srgbClr val="6B6E78"/>
                </a:solidFill>
                <a:latin typeface="JetBrains Mono"/>
              </a:rPr>
              <a:t>THE COMMANDMENT</a:t>
            </a:r>
          </a:p>
        </p:txBody>
      </p:sp>
      <p:sp>
        <p:nvSpPr>
          <p:cNvPr id="4" name="TextBox 3"/>
          <p:cNvSpPr txBox="1"/>
          <p:nvPr/>
        </p:nvSpPr>
        <p:spPr>
          <a:xfrm>
            <a:off x="16002000" y="475488"/>
            <a:ext cx="1371600" cy="274320"/>
          </a:xfrm>
          <a:prstGeom prst="rect">
            <a:avLst/>
          </a:prstGeom>
          <a:noFill/>
        </p:spPr>
        <p:txBody>
          <a:bodyPr wrap="square" lIns="0" tIns="0" rIns="0" bIns="0" anchor="t">
            <a:spAutoFit/>
          </a:bodyPr>
          <a:lstStyle/>
          <a:p>
            <a:pPr algn="r">
              <a:lnSpc>
                <a:spcPct val="110000"/>
              </a:lnSpc>
            </a:pPr>
            <a:r>
              <a:rPr sz="1100" b="0">
                <a:solidFill>
                  <a:srgbClr val="6B6E78"/>
                </a:solidFill>
                <a:latin typeface="JetBrains Mono"/>
              </a:rPr>
              <a:t>10 / 12</a:t>
            </a:r>
          </a:p>
        </p:txBody>
      </p:sp>
      <p:sp>
        <p:nvSpPr>
          <p:cNvPr id="5" name="TextBox 4"/>
          <p:cNvSpPr txBox="1"/>
          <p:nvPr/>
        </p:nvSpPr>
        <p:spPr>
          <a:xfrm>
            <a:off x="950976" y="1280160"/>
            <a:ext cx="16459200" cy="365760"/>
          </a:xfrm>
          <a:prstGeom prst="rect">
            <a:avLst/>
          </a:prstGeom>
          <a:noFill/>
        </p:spPr>
        <p:txBody>
          <a:bodyPr wrap="square" lIns="0" tIns="0" rIns="0" bIns="0" anchor="t">
            <a:spAutoFit/>
          </a:bodyPr>
          <a:lstStyle/>
          <a:p>
            <a:pPr algn="l">
              <a:lnSpc>
                <a:spcPct val="110000"/>
              </a:lnSpc>
            </a:pPr>
            <a:r>
              <a:rPr sz="1500" b="0">
                <a:solidFill>
                  <a:srgbClr val="F58220"/>
                </a:solidFill>
                <a:latin typeface="JetBrains Mono"/>
              </a:rPr>
              <a:t>REMEMBER THIS FROM BEFORE LUNCH?</a:t>
            </a:r>
          </a:p>
        </p:txBody>
      </p:sp>
      <p:sp>
        <p:nvSpPr>
          <p:cNvPr id="6" name="TextBox 5"/>
          <p:cNvSpPr txBox="1"/>
          <p:nvPr/>
        </p:nvSpPr>
        <p:spPr>
          <a:xfrm>
            <a:off x="950976" y="1783080"/>
            <a:ext cx="16459200" cy="1188720"/>
          </a:xfrm>
          <a:prstGeom prst="rect">
            <a:avLst/>
          </a:prstGeom>
          <a:noFill/>
        </p:spPr>
        <p:txBody>
          <a:bodyPr wrap="square" lIns="0" tIns="0" rIns="0" bIns="0" anchor="t">
            <a:spAutoFit/>
          </a:bodyPr>
          <a:lstStyle/>
          <a:p>
            <a:pPr algn="l">
              <a:lnSpc>
                <a:spcPct val="110000"/>
              </a:lnSpc>
            </a:pPr>
            <a:r>
              <a:rPr sz="6400" b="1">
                <a:solidFill>
                  <a:srgbClr val="FFFFFF"/>
                </a:solidFill>
                <a:latin typeface="Montserrat"/>
              </a:rPr>
              <a:t>Commandment </a:t>
            </a:r>
            <a:r>
              <a:rPr sz="6400" b="1">
                <a:solidFill>
                  <a:srgbClr val="F58220"/>
                </a:solidFill>
                <a:latin typeface="Montserrat"/>
              </a:rPr>
              <a:t>X</a:t>
            </a:r>
            <a:r>
              <a:rPr sz="6400" b="1">
                <a:solidFill>
                  <a:srgbClr val="FFFFFF"/>
                </a:solidFill>
                <a:latin typeface="Montserrat"/>
              </a:rPr>
              <a:t>.</a:t>
            </a:r>
          </a:p>
        </p:txBody>
      </p:sp>
      <p:pic>
        <p:nvPicPr>
          <p:cNvPr id="7" name="Picture 6" descr="TenCommandments.png"/>
          <p:cNvPicPr>
            <a:picLocks noChangeAspect="1"/>
          </p:cNvPicPr>
          <p:nvPr/>
        </p:nvPicPr>
        <p:blipFill>
          <a:blip r:embed="rId3"/>
          <a:stretch>
            <a:fillRect/>
          </a:stretch>
        </p:blipFill>
        <p:spPr>
          <a:xfrm>
            <a:off x="640080" y="3657600"/>
            <a:ext cx="8686800" cy="5797296"/>
          </a:xfrm>
          <a:prstGeom prst="rect">
            <a:avLst/>
          </a:prstGeom>
        </p:spPr>
      </p:pic>
      <p:sp>
        <p:nvSpPr>
          <p:cNvPr id="8" name="Rectangle 7"/>
          <p:cNvSpPr/>
          <p:nvPr/>
        </p:nvSpPr>
        <p:spPr>
          <a:xfrm>
            <a:off x="640080" y="9564624"/>
            <a:ext cx="8686800" cy="25400"/>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9683496"/>
            <a:ext cx="8686800" cy="365760"/>
          </a:xfrm>
          <a:prstGeom prst="rect">
            <a:avLst/>
          </a:prstGeom>
          <a:noFill/>
        </p:spPr>
        <p:txBody>
          <a:bodyPr wrap="square" lIns="0" tIns="0" rIns="0" bIns="0" anchor="t">
            <a:spAutoFit/>
          </a:bodyPr>
          <a:lstStyle/>
          <a:p>
            <a:pPr algn="l">
              <a:lnSpc>
                <a:spcPct val="110000"/>
              </a:lnSpc>
            </a:pPr>
            <a:r>
              <a:rPr sz="1200" b="0">
                <a:solidFill>
                  <a:srgbClr val="6B6E78"/>
                </a:solidFill>
                <a:latin typeface="JetBrains Mono"/>
              </a:rPr>
              <a:t>FLASH FOR TWO BEATS — THEN ZOOM TO X</a:t>
            </a:r>
          </a:p>
        </p:txBody>
      </p:sp>
      <p:sp>
        <p:nvSpPr>
          <p:cNvPr id="10" name="Rectangle 9"/>
          <p:cNvSpPr/>
          <p:nvPr/>
        </p:nvSpPr>
        <p:spPr>
          <a:xfrm>
            <a:off x="9692640" y="3657600"/>
            <a:ext cx="7955279" cy="5797296"/>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692640" y="3657600"/>
            <a:ext cx="109728" cy="5797296"/>
          </a:xfrm>
          <a:prstGeom prst="rect">
            <a:avLst/>
          </a:prstGeom>
          <a:solidFill>
            <a:srgbClr val="F58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195560" y="4069080"/>
            <a:ext cx="7086599" cy="411480"/>
          </a:xfrm>
          <a:prstGeom prst="rect">
            <a:avLst/>
          </a:prstGeom>
          <a:noFill/>
        </p:spPr>
        <p:txBody>
          <a:bodyPr wrap="square" lIns="0" tIns="0" rIns="0" bIns="0" anchor="t">
            <a:spAutoFit/>
          </a:bodyPr>
          <a:lstStyle/>
          <a:p>
            <a:pPr algn="l">
              <a:lnSpc>
                <a:spcPct val="110000"/>
              </a:lnSpc>
            </a:pPr>
            <a:r>
              <a:rPr sz="1800" b="1">
                <a:solidFill>
                  <a:srgbClr val="F58220"/>
                </a:solidFill>
                <a:latin typeface="JetBrains Mono"/>
              </a:rPr>
              <a:t>X.</a:t>
            </a:r>
          </a:p>
        </p:txBody>
      </p:sp>
      <p:sp>
        <p:nvSpPr>
          <p:cNvPr id="13" name="TextBox 12"/>
          <p:cNvSpPr txBox="1"/>
          <p:nvPr/>
        </p:nvSpPr>
        <p:spPr>
          <a:xfrm>
            <a:off x="10195560" y="4526280"/>
            <a:ext cx="7086599" cy="2194560"/>
          </a:xfrm>
          <a:prstGeom prst="rect">
            <a:avLst/>
          </a:prstGeom>
          <a:noFill/>
        </p:spPr>
        <p:txBody>
          <a:bodyPr wrap="square" lIns="0" tIns="0" rIns="0" bIns="0" anchor="t">
            <a:spAutoFit/>
          </a:bodyPr>
          <a:lstStyle/>
          <a:p>
            <a:pPr algn="l">
              <a:lnSpc>
                <a:spcPct val="115000"/>
              </a:lnSpc>
            </a:pPr>
            <a:r>
              <a:rPr sz="4800" b="1">
                <a:solidFill>
                  <a:srgbClr val="FFFFFF"/>
                </a:solidFill>
                <a:latin typeface="Montserrat"/>
              </a:rPr>
              <a:t>Iterate </a:t>
            </a:r>
            <a:r>
              <a:rPr sz="4400" b="1">
                <a:solidFill>
                  <a:srgbClr val="3FE0D0"/>
                </a:solidFill>
                <a:latin typeface="JetBrains Mono"/>
              </a:rPr>
              <a:t>CLAUDE.md </a:t>
            </a:r>
            <a:r>
              <a:rPr sz="4800" b="1">
                <a:solidFill>
                  <a:srgbClr val="FFFFFF"/>
                </a:solidFill>
                <a:latin typeface="Montserrat"/>
              </a:rPr>
              <a:t>as you iterate code.</a:t>
            </a:r>
          </a:p>
        </p:txBody>
      </p:sp>
      <p:sp>
        <p:nvSpPr>
          <p:cNvPr id="14" name="TextBox 13"/>
          <p:cNvSpPr txBox="1"/>
          <p:nvPr/>
        </p:nvSpPr>
        <p:spPr>
          <a:xfrm>
            <a:off x="10195560" y="6812280"/>
            <a:ext cx="7086599" cy="2377440"/>
          </a:xfrm>
          <a:prstGeom prst="rect">
            <a:avLst/>
          </a:prstGeom>
          <a:noFill/>
        </p:spPr>
        <p:txBody>
          <a:bodyPr wrap="square" lIns="0" tIns="0" rIns="0" bIns="0" anchor="t">
            <a:spAutoFit/>
          </a:bodyPr>
          <a:lstStyle/>
          <a:p>
            <a:pPr algn="l">
              <a:lnSpc>
                <a:spcPct val="125000"/>
              </a:lnSpc>
              <a:spcBef>
                <a:spcPts val="0"/>
              </a:spcBef>
            </a:pPr>
            <a:r>
              <a:rPr sz="2200" b="0">
                <a:solidFill>
                  <a:srgbClr val="C9CBD1"/>
                </a:solidFill>
                <a:latin typeface="Inter"/>
              </a:rPr>
              <a:t>Your context is a living document, not a graven tablet.</a:t>
            </a:r>
          </a:p>
          <a:p>
            <a:pPr algn="l">
              <a:lnSpc>
                <a:spcPct val="125000"/>
              </a:lnSpc>
              <a:spcBef>
                <a:spcPts val="800"/>
              </a:spcBef>
            </a:pPr>
            <a:r>
              <a:rPr sz="2200" b="0">
                <a:solidFill>
                  <a:srgbClr val="C9CBD1"/>
                </a:solidFill>
                <a:latin typeface="Inter"/>
              </a:rPr>
              <a:t>Rewrite it the day after the codebase changes.</a:t>
            </a:r>
          </a:p>
          <a:p>
            <a:pPr algn="l">
              <a:lnSpc>
                <a:spcPct val="125000"/>
              </a:lnSpc>
              <a:spcBef>
                <a:spcPts val="1400"/>
              </a:spcBef>
            </a:pPr>
            <a:r>
              <a:rPr sz="2200" b="1">
                <a:solidFill>
                  <a:srgbClr val="FFFFFF"/>
                </a:solidFill>
                <a:latin typeface="Inter"/>
              </a:rPr>
              <a:t>A half-good CLAUDE.md you actually rewrite weekly</a:t>
            </a:r>
          </a:p>
          <a:p>
            <a:pPr algn="l">
              <a:lnSpc>
                <a:spcPct val="125000"/>
              </a:lnSpc>
              <a:spcBef>
                <a:spcPts val="0"/>
              </a:spcBef>
            </a:pPr>
            <a:r>
              <a:rPr sz="2200" b="1">
                <a:solidFill>
                  <a:srgbClr val="FFFFFF"/>
                </a:solidFill>
                <a:latin typeface="Inter"/>
              </a:rPr>
              <a:t>beats a polished one that never gets touched again.</a:t>
            </a:r>
          </a:p>
        </p:txBody>
      </p:sp>
      <p:sp>
        <p:nvSpPr>
          <p:cNvPr id="15" name="TextBox 14"/>
          <p:cNvSpPr txBox="1"/>
          <p:nvPr/>
        </p:nvSpPr>
        <p:spPr>
          <a:xfrm>
            <a:off x="10195560" y="8586216"/>
            <a:ext cx="7086599" cy="548640"/>
          </a:xfrm>
          <a:prstGeom prst="rect">
            <a:avLst/>
          </a:prstGeom>
          <a:noFill/>
        </p:spPr>
        <p:txBody>
          <a:bodyPr wrap="square" lIns="0" tIns="0" rIns="0" bIns="0" anchor="ctr">
            <a:spAutoFit/>
          </a:bodyPr>
          <a:lstStyle/>
          <a:p>
            <a:pPr algn="l">
              <a:lnSpc>
                <a:spcPct val="110000"/>
              </a:lnSpc>
            </a:pPr>
            <a:r>
              <a:rPr sz="2200" b="1">
                <a:solidFill>
                  <a:srgbClr val="F58220"/>
                </a:solidFill>
                <a:latin typeface="Montserrat"/>
              </a:rPr>
              <a:t>What you just did is the practice. Do it weekly.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50976" y="475488"/>
            <a:ext cx="9144000" cy="274320"/>
          </a:xfrm>
          <a:prstGeom prst="rect">
            <a:avLst/>
          </a:prstGeom>
          <a:noFill/>
        </p:spPr>
        <p:txBody>
          <a:bodyPr wrap="square" lIns="0" tIns="0" rIns="0" bIns="0" anchor="t">
            <a:spAutoFit/>
          </a:bodyPr>
          <a:lstStyle/>
          <a:p>
            <a:pPr algn="l">
              <a:lnSpc>
                <a:spcPct val="110000"/>
              </a:lnSpc>
            </a:pPr>
            <a:r>
              <a:rPr sz="1100" b="0">
                <a:solidFill>
                  <a:srgbClr val="6B6E78"/>
                </a:solidFill>
                <a:latin typeface="JetBrains Mono"/>
              </a:rPr>
              <a:t>DEBRIEF</a:t>
            </a:r>
          </a:p>
        </p:txBody>
      </p:sp>
      <p:sp>
        <p:nvSpPr>
          <p:cNvPr id="4" name="TextBox 3"/>
          <p:cNvSpPr txBox="1"/>
          <p:nvPr/>
        </p:nvSpPr>
        <p:spPr>
          <a:xfrm>
            <a:off x="16002000" y="475488"/>
            <a:ext cx="1371600" cy="274320"/>
          </a:xfrm>
          <a:prstGeom prst="rect">
            <a:avLst/>
          </a:prstGeom>
          <a:noFill/>
        </p:spPr>
        <p:txBody>
          <a:bodyPr wrap="square" lIns="0" tIns="0" rIns="0" bIns="0" anchor="t">
            <a:spAutoFit/>
          </a:bodyPr>
          <a:lstStyle/>
          <a:p>
            <a:pPr algn="r">
              <a:lnSpc>
                <a:spcPct val="110000"/>
              </a:lnSpc>
            </a:pPr>
            <a:r>
              <a:rPr sz="1100" b="0">
                <a:solidFill>
                  <a:srgbClr val="6B6E78"/>
                </a:solidFill>
                <a:latin typeface="JetBrains Mono"/>
              </a:rPr>
              <a:t>11 / 12</a:t>
            </a:r>
          </a:p>
        </p:txBody>
      </p:sp>
      <p:sp>
        <p:nvSpPr>
          <p:cNvPr id="5" name="TextBox 4"/>
          <p:cNvSpPr txBox="1"/>
          <p:nvPr/>
        </p:nvSpPr>
        <p:spPr>
          <a:xfrm>
            <a:off x="950976" y="1280160"/>
            <a:ext cx="16459200" cy="365760"/>
          </a:xfrm>
          <a:prstGeom prst="rect">
            <a:avLst/>
          </a:prstGeom>
          <a:noFill/>
        </p:spPr>
        <p:txBody>
          <a:bodyPr wrap="square" lIns="0" tIns="0" rIns="0" bIns="0" anchor="t">
            <a:spAutoFit/>
          </a:bodyPr>
          <a:lstStyle/>
          <a:p>
            <a:pPr algn="l">
              <a:lnSpc>
                <a:spcPct val="110000"/>
              </a:lnSpc>
            </a:pPr>
            <a:r>
              <a:rPr sz="1500" b="0">
                <a:solidFill>
                  <a:srgbClr val="3FE0D0"/>
                </a:solidFill>
                <a:latin typeface="JetBrains Mono"/>
              </a:rPr>
              <a:t>5 MIN · TWO ATTENDEES SHARE</a:t>
            </a:r>
          </a:p>
        </p:txBody>
      </p:sp>
      <p:sp>
        <p:nvSpPr>
          <p:cNvPr id="6" name="TextBox 5"/>
          <p:cNvSpPr txBox="1"/>
          <p:nvPr/>
        </p:nvSpPr>
        <p:spPr>
          <a:xfrm>
            <a:off x="950976" y="1783080"/>
            <a:ext cx="16459200" cy="1828800"/>
          </a:xfrm>
          <a:prstGeom prst="rect">
            <a:avLst/>
          </a:prstGeom>
          <a:noFill/>
        </p:spPr>
        <p:txBody>
          <a:bodyPr wrap="square" lIns="0" tIns="0" rIns="0" bIns="0" anchor="t">
            <a:spAutoFit/>
          </a:bodyPr>
          <a:lstStyle/>
          <a:p>
            <a:pPr algn="l">
              <a:lnSpc>
                <a:spcPct val="110000"/>
              </a:lnSpc>
            </a:pPr>
            <a:r>
              <a:rPr sz="9500" b="1">
                <a:solidFill>
                  <a:srgbClr val="C9CBD1"/>
                </a:solidFill>
                <a:latin typeface="Montserrat"/>
              </a:rPr>
              <a:t>v1 </a:t>
            </a:r>
            <a:r>
              <a:rPr sz="9500" b="1">
                <a:solidFill>
                  <a:srgbClr val="F58220"/>
                </a:solidFill>
                <a:latin typeface="Montserrat"/>
              </a:rPr>
              <a:t>→ </a:t>
            </a:r>
            <a:r>
              <a:rPr sz="9500" b="1">
                <a:solidFill>
                  <a:srgbClr val="FFFFFF"/>
                </a:solidFill>
                <a:latin typeface="Montserrat"/>
              </a:rPr>
              <a:t>v2</a:t>
            </a:r>
          </a:p>
        </p:txBody>
      </p:sp>
      <p:sp>
        <p:nvSpPr>
          <p:cNvPr id="7" name="Rectangle 6"/>
          <p:cNvSpPr/>
          <p:nvPr/>
        </p:nvSpPr>
        <p:spPr>
          <a:xfrm>
            <a:off x="950976" y="4572000"/>
            <a:ext cx="7863840" cy="438912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280160" y="4983480"/>
            <a:ext cx="6400800" cy="365760"/>
          </a:xfrm>
          <a:prstGeom prst="rect">
            <a:avLst/>
          </a:prstGeom>
          <a:noFill/>
        </p:spPr>
        <p:txBody>
          <a:bodyPr wrap="square" lIns="0" tIns="0" rIns="0" bIns="0" anchor="t">
            <a:spAutoFit/>
          </a:bodyPr>
          <a:lstStyle/>
          <a:p>
            <a:pPr algn="l">
              <a:lnSpc>
                <a:spcPct val="110000"/>
              </a:lnSpc>
            </a:pPr>
            <a:r>
              <a:rPr sz="1500" b="0">
                <a:solidFill>
                  <a:srgbClr val="3FE0D0"/>
                </a:solidFill>
                <a:latin typeface="JetBrains Mono"/>
              </a:rPr>
              <a:t>QUESTION 01</a:t>
            </a:r>
          </a:p>
        </p:txBody>
      </p:sp>
      <p:sp>
        <p:nvSpPr>
          <p:cNvPr id="9" name="TextBox 8"/>
          <p:cNvSpPr txBox="1"/>
          <p:nvPr/>
        </p:nvSpPr>
        <p:spPr>
          <a:xfrm>
            <a:off x="1280160" y="5440680"/>
            <a:ext cx="7132320" cy="2194560"/>
          </a:xfrm>
          <a:prstGeom prst="rect">
            <a:avLst/>
          </a:prstGeom>
          <a:noFill/>
        </p:spPr>
        <p:txBody>
          <a:bodyPr wrap="square" lIns="0" tIns="0" rIns="0" bIns="0" anchor="t">
            <a:spAutoFit/>
          </a:bodyPr>
          <a:lstStyle/>
          <a:p>
            <a:pPr algn="l">
              <a:lnSpc>
                <a:spcPct val="110000"/>
              </a:lnSpc>
            </a:pPr>
            <a:r>
              <a:rPr sz="4400" b="1">
                <a:solidFill>
                  <a:srgbClr val="FFFFFF"/>
                </a:solidFill>
                <a:latin typeface="Montserrat"/>
              </a:rPr>
              <a:t>What changed?</a:t>
            </a:r>
          </a:p>
        </p:txBody>
      </p:sp>
      <p:sp>
        <p:nvSpPr>
          <p:cNvPr id="10" name="TextBox 9"/>
          <p:cNvSpPr txBox="1"/>
          <p:nvPr/>
        </p:nvSpPr>
        <p:spPr>
          <a:xfrm>
            <a:off x="1280160" y="6949440"/>
            <a:ext cx="7132320" cy="1828800"/>
          </a:xfrm>
          <a:prstGeom prst="rect">
            <a:avLst/>
          </a:prstGeom>
          <a:noFill/>
        </p:spPr>
        <p:txBody>
          <a:bodyPr wrap="square" lIns="0" tIns="0" rIns="0" bIns="0" anchor="t">
            <a:spAutoFit/>
          </a:bodyPr>
          <a:lstStyle/>
          <a:p>
            <a:pPr algn="l">
              <a:lnSpc>
                <a:spcPct val="130000"/>
              </a:lnSpc>
            </a:pPr>
            <a:r>
              <a:rPr sz="2000" b="0">
                <a:solidFill>
                  <a:srgbClr val="C9CBD1"/>
                </a:solidFill>
                <a:latin typeface="Inter"/>
              </a:rPr>
              <a:t>One concrete edit your partner pushed you to make.</a:t>
            </a:r>
          </a:p>
        </p:txBody>
      </p:sp>
      <p:sp>
        <p:nvSpPr>
          <p:cNvPr id="11" name="Rectangle 10"/>
          <p:cNvSpPr/>
          <p:nvPr/>
        </p:nvSpPr>
        <p:spPr>
          <a:xfrm>
            <a:off x="9473184" y="4572000"/>
            <a:ext cx="7863840" cy="4389120"/>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02368" y="4983480"/>
            <a:ext cx="6400800" cy="365760"/>
          </a:xfrm>
          <a:prstGeom prst="rect">
            <a:avLst/>
          </a:prstGeom>
          <a:noFill/>
        </p:spPr>
        <p:txBody>
          <a:bodyPr wrap="square" lIns="0" tIns="0" rIns="0" bIns="0" anchor="t">
            <a:spAutoFit/>
          </a:bodyPr>
          <a:lstStyle/>
          <a:p>
            <a:pPr algn="l">
              <a:lnSpc>
                <a:spcPct val="110000"/>
              </a:lnSpc>
            </a:pPr>
            <a:r>
              <a:rPr sz="1500" b="0">
                <a:solidFill>
                  <a:srgbClr val="F58220"/>
                </a:solidFill>
                <a:latin typeface="JetBrains Mono"/>
              </a:rPr>
              <a:t>QUESTION 02</a:t>
            </a:r>
          </a:p>
        </p:txBody>
      </p:sp>
      <p:sp>
        <p:nvSpPr>
          <p:cNvPr id="13" name="TextBox 12"/>
          <p:cNvSpPr txBox="1"/>
          <p:nvPr/>
        </p:nvSpPr>
        <p:spPr>
          <a:xfrm>
            <a:off x="9802368" y="5440680"/>
            <a:ext cx="7132320" cy="2194560"/>
          </a:xfrm>
          <a:prstGeom prst="rect">
            <a:avLst/>
          </a:prstGeom>
          <a:noFill/>
        </p:spPr>
        <p:txBody>
          <a:bodyPr wrap="square" lIns="0" tIns="0" rIns="0" bIns="0" anchor="t">
            <a:spAutoFit/>
          </a:bodyPr>
          <a:lstStyle/>
          <a:p>
            <a:pPr algn="l">
              <a:lnSpc>
                <a:spcPct val="110000"/>
              </a:lnSpc>
            </a:pPr>
            <a:r>
              <a:rPr sz="4400" b="1">
                <a:solidFill>
                  <a:srgbClr val="FFFFFF"/>
                </a:solidFill>
                <a:latin typeface="Montserrat"/>
              </a:rPr>
              <a:t>And why?</a:t>
            </a:r>
          </a:p>
        </p:txBody>
      </p:sp>
      <p:sp>
        <p:nvSpPr>
          <p:cNvPr id="14" name="TextBox 13"/>
          <p:cNvSpPr txBox="1"/>
          <p:nvPr/>
        </p:nvSpPr>
        <p:spPr>
          <a:xfrm>
            <a:off x="9802368" y="6949440"/>
            <a:ext cx="7132320" cy="1828800"/>
          </a:xfrm>
          <a:prstGeom prst="rect">
            <a:avLst/>
          </a:prstGeom>
          <a:noFill/>
        </p:spPr>
        <p:txBody>
          <a:bodyPr wrap="square" lIns="0" tIns="0" rIns="0" bIns="0" anchor="t">
            <a:spAutoFit/>
          </a:bodyPr>
          <a:lstStyle/>
          <a:p>
            <a:pPr algn="l">
              <a:lnSpc>
                <a:spcPct val="130000"/>
              </a:lnSpc>
            </a:pPr>
            <a:r>
              <a:rPr sz="2000" b="0">
                <a:solidFill>
                  <a:srgbClr val="C9CBD1"/>
                </a:solidFill>
                <a:latin typeface="Inter"/>
              </a:rPr>
              <a:t>What did Claude still get wrong — and what's the next revision?</a:t>
            </a:r>
          </a:p>
        </p:txBody>
      </p:sp>
      <p:sp>
        <p:nvSpPr>
          <p:cNvPr id="15" name="TextBox 14"/>
          <p:cNvSpPr txBox="1"/>
          <p:nvPr/>
        </p:nvSpPr>
        <p:spPr>
          <a:xfrm>
            <a:off x="950976" y="9418320"/>
            <a:ext cx="16459200" cy="365760"/>
          </a:xfrm>
          <a:prstGeom prst="rect">
            <a:avLst/>
          </a:prstGeom>
          <a:noFill/>
        </p:spPr>
        <p:txBody>
          <a:bodyPr wrap="square" lIns="0" tIns="0" rIns="0" bIns="0" anchor="t">
            <a:spAutoFit/>
          </a:bodyPr>
          <a:lstStyle/>
          <a:p>
            <a:pPr algn="l">
              <a:lnSpc>
                <a:spcPct val="110000"/>
              </a:lnSpc>
            </a:pPr>
            <a:r>
              <a:rPr sz="1200" b="0">
                <a:solidFill>
                  <a:srgbClr val="6B6E78"/>
                </a:solidFill>
                <a:latin typeface="JetBrains Mono"/>
              </a:rPr>
              <a:t>// THE NEXT GAP IS THE NEXT PASS.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50976" y="475488"/>
            <a:ext cx="9144000" cy="274320"/>
          </a:xfrm>
          <a:prstGeom prst="rect">
            <a:avLst/>
          </a:prstGeom>
          <a:noFill/>
        </p:spPr>
        <p:txBody>
          <a:bodyPr wrap="square" lIns="0" tIns="0" rIns="0" bIns="0" anchor="t">
            <a:spAutoFit/>
          </a:bodyPr>
          <a:lstStyle/>
          <a:p>
            <a:pPr algn="l">
              <a:lnSpc>
                <a:spcPct val="110000"/>
              </a:lnSpc>
            </a:pPr>
            <a:r>
              <a:rPr sz="1100" b="0">
                <a:solidFill>
                  <a:srgbClr val="6B6E78"/>
                </a:solidFill>
                <a:latin typeface="JetBrains Mono"/>
              </a:rPr>
              <a:t>THE TAKEAWAY</a:t>
            </a:r>
          </a:p>
        </p:txBody>
      </p:sp>
      <p:sp>
        <p:nvSpPr>
          <p:cNvPr id="4" name="TextBox 3"/>
          <p:cNvSpPr txBox="1"/>
          <p:nvPr/>
        </p:nvSpPr>
        <p:spPr>
          <a:xfrm>
            <a:off x="16002000" y="475488"/>
            <a:ext cx="1371600" cy="274320"/>
          </a:xfrm>
          <a:prstGeom prst="rect">
            <a:avLst/>
          </a:prstGeom>
          <a:noFill/>
        </p:spPr>
        <p:txBody>
          <a:bodyPr wrap="square" lIns="0" tIns="0" rIns="0" bIns="0" anchor="t">
            <a:spAutoFit/>
          </a:bodyPr>
          <a:lstStyle/>
          <a:p>
            <a:pPr algn="r">
              <a:lnSpc>
                <a:spcPct val="110000"/>
              </a:lnSpc>
            </a:pPr>
            <a:r>
              <a:rPr sz="1100" b="0">
                <a:solidFill>
                  <a:srgbClr val="6B6E78"/>
                </a:solidFill>
                <a:latin typeface="JetBrains Mono"/>
              </a:rPr>
              <a:t>12 / 12</a:t>
            </a:r>
          </a:p>
        </p:txBody>
      </p:sp>
      <p:sp>
        <p:nvSpPr>
          <p:cNvPr id="5" name="TextBox 4"/>
          <p:cNvSpPr txBox="1"/>
          <p:nvPr/>
        </p:nvSpPr>
        <p:spPr>
          <a:xfrm>
            <a:off x="950976" y="2011680"/>
            <a:ext cx="2743200" cy="2468880"/>
          </a:xfrm>
          <a:prstGeom prst="rect">
            <a:avLst/>
          </a:prstGeom>
          <a:noFill/>
        </p:spPr>
        <p:txBody>
          <a:bodyPr wrap="square" lIns="0" tIns="0" rIns="0" bIns="0" anchor="t">
            <a:spAutoFit/>
          </a:bodyPr>
          <a:lstStyle/>
          <a:p>
            <a:pPr algn="l">
              <a:lnSpc>
                <a:spcPct val="110000"/>
              </a:lnSpc>
            </a:pPr>
            <a:r>
              <a:rPr sz="27000" b="1">
                <a:solidFill>
                  <a:srgbClr val="F58220"/>
                </a:solidFill>
                <a:latin typeface="Montserrat"/>
              </a:rPr>
              <a:t>“</a:t>
            </a:r>
          </a:p>
        </p:txBody>
      </p:sp>
      <p:sp>
        <p:nvSpPr>
          <p:cNvPr id="6" name="TextBox 5"/>
          <p:cNvSpPr txBox="1"/>
          <p:nvPr/>
        </p:nvSpPr>
        <p:spPr>
          <a:xfrm>
            <a:off x="950976" y="4572000"/>
            <a:ext cx="16386048" cy="3200400"/>
          </a:xfrm>
          <a:prstGeom prst="rect">
            <a:avLst/>
          </a:prstGeom>
          <a:noFill/>
        </p:spPr>
        <p:txBody>
          <a:bodyPr wrap="square" lIns="0" tIns="0" rIns="0" bIns="0" anchor="t">
            <a:spAutoFit/>
          </a:bodyPr>
          <a:lstStyle/>
          <a:p>
            <a:pPr algn="l">
              <a:lnSpc>
                <a:spcPct val="115000"/>
              </a:lnSpc>
            </a:pPr>
            <a:r>
              <a:rPr sz="6400" b="0">
                <a:solidFill>
                  <a:srgbClr val="FFFFFF"/>
                </a:solidFill>
                <a:latin typeface="Montserrat"/>
              </a:rPr>
              <a:t>Your CLAUDE.md is now a </a:t>
            </a:r>
            <a:r>
              <a:rPr sz="6400" b="1">
                <a:solidFill>
                  <a:srgbClr val="3FE0D0"/>
                </a:solidFill>
                <a:latin typeface="Montserrat"/>
              </a:rPr>
              <a:t>draft</a:t>
            </a:r>
            <a:r>
              <a:rPr sz="6400" b="0">
                <a:solidFill>
                  <a:srgbClr val="FFFFFF"/>
                </a:solidFill>
                <a:latin typeface="Montserrat"/>
              </a:rPr>
              <a:t>,
not a </a:t>
            </a:r>
            <a:r>
              <a:rPr sz="6400" b="1">
                <a:solidFill>
                  <a:srgbClr val="F58220"/>
                </a:solidFill>
                <a:latin typeface="Montserrat"/>
              </a:rPr>
              <a:t>relic</a:t>
            </a:r>
            <a:r>
              <a:rPr sz="6400" b="0">
                <a:solidFill>
                  <a:srgbClr val="FFFFFF"/>
                </a:solidFill>
                <a:latin typeface="Montserrat"/>
              </a:rPr>
              <a:t>.</a:t>
            </a:r>
          </a:p>
        </p:txBody>
      </p:sp>
      <p:sp>
        <p:nvSpPr>
          <p:cNvPr id="7" name="TextBox 6"/>
          <p:cNvSpPr txBox="1"/>
          <p:nvPr/>
        </p:nvSpPr>
        <p:spPr>
          <a:xfrm>
            <a:off x="950976" y="7863840"/>
            <a:ext cx="16386048" cy="640080"/>
          </a:xfrm>
          <a:prstGeom prst="rect">
            <a:avLst/>
          </a:prstGeom>
          <a:noFill/>
        </p:spPr>
        <p:txBody>
          <a:bodyPr wrap="square" lIns="0" tIns="0" rIns="0" bIns="0" anchor="t">
            <a:spAutoFit/>
          </a:bodyPr>
          <a:lstStyle/>
          <a:p>
            <a:pPr algn="l">
              <a:lnSpc>
                <a:spcPct val="110000"/>
              </a:lnSpc>
            </a:pPr>
            <a:r>
              <a:rPr sz="3400" b="0">
                <a:solidFill>
                  <a:srgbClr val="C9CBD1"/>
                </a:solidFill>
                <a:latin typeface="Montserrat"/>
              </a:rPr>
              <a:t>Day 2 is when it earns its keep.</a:t>
            </a:r>
          </a:p>
        </p:txBody>
      </p:sp>
      <p:sp>
        <p:nvSpPr>
          <p:cNvPr id="8" name="Rectangle 7"/>
          <p:cNvSpPr/>
          <p:nvPr/>
        </p:nvSpPr>
        <p:spPr>
          <a:xfrm>
            <a:off x="950976" y="9189720"/>
            <a:ext cx="457200" cy="38100"/>
          </a:xfrm>
          <a:prstGeom prst="rect">
            <a:avLst/>
          </a:prstGeom>
          <a:solidFill>
            <a:srgbClr val="F58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50976" y="9326880"/>
            <a:ext cx="16459200" cy="365760"/>
          </a:xfrm>
          <a:prstGeom prst="rect">
            <a:avLst/>
          </a:prstGeom>
          <a:noFill/>
        </p:spPr>
        <p:txBody>
          <a:bodyPr wrap="square" lIns="0" tIns="0" rIns="0" bIns="0" anchor="t">
            <a:spAutoFit/>
          </a:bodyPr>
          <a:lstStyle/>
          <a:p>
            <a:pPr algn="l">
              <a:lnSpc>
                <a:spcPct val="110000"/>
              </a:lnSpc>
            </a:pPr>
            <a:r>
              <a:rPr sz="1300" b="0">
                <a:solidFill>
                  <a:srgbClr val="6B6E78"/>
                </a:solidFill>
                <a:latin typeface="JetBrains Mono"/>
              </a:rPr>
              <a:t>— CHRIS KEHAYIAS · CITN.AI WORKSHOP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1293</Words>
  <Application>Microsoft Macintosh PowerPoint</Application>
  <PresentationFormat>Custom</PresentationFormat>
  <Paragraphs>141</Paragraphs>
  <Slides>12</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Calibri</vt:lpstr>
      <vt:lpstr>Inter</vt:lpstr>
      <vt:lpstr>JetBrains Mono</vt:lpstr>
      <vt:lpstr>Montserrat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Chris Kehayias</cp:lastModifiedBy>
  <cp:revision>2</cp:revision>
  <dcterms:created xsi:type="dcterms:W3CDTF">2013-01-27T09:14:16Z</dcterms:created>
  <dcterms:modified xsi:type="dcterms:W3CDTF">2026-05-06T15:37:19Z</dcterms:modified>
  <cp:category/>
</cp:coreProperties>
</file>
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 id="2147483650" r:id="rId2"/>
  </p:sldMasterIdLst>
  <p:notesMasterIdLst>
    <p:notesMasterId r:id="rId33"/>
  </p:notesMasterIdLst>
  <p:sldIdLst>
    <p:sldId id="256" r:id="rId3"/>
    <p:sldId id="298" r:id="rId4"/>
    <p:sldId id="258" r:id="rId5"/>
    <p:sldId id="259" r:id="rId6"/>
    <p:sldId id="260" r:id="rId7"/>
    <p:sldId id="261" r:id="rId8"/>
    <p:sldId id="262" r:id="rId9"/>
    <p:sldId id="263" r:id="rId10"/>
    <p:sldId id="264" r:id="rId11"/>
    <p:sldId id="265" r:id="rId12"/>
    <p:sldId id="266" r:id="rId13"/>
    <p:sldId id="267" r:id="rId14"/>
    <p:sldId id="268" r:id="rId15"/>
    <p:sldId id="306" r:id="rId16"/>
    <p:sldId id="299" r:id="rId17"/>
    <p:sldId id="300" r:id="rId18"/>
    <p:sldId id="290" r:id="rId19"/>
    <p:sldId id="291" r:id="rId20"/>
    <p:sldId id="292" r:id="rId21"/>
    <p:sldId id="293" r:id="rId22"/>
    <p:sldId id="294" r:id="rId23"/>
    <p:sldId id="295" r:id="rId24"/>
    <p:sldId id="297" r:id="rId25"/>
    <p:sldId id="301" r:id="rId26"/>
    <p:sldId id="274" r:id="rId27"/>
    <p:sldId id="302" r:id="rId28"/>
    <p:sldId id="304" r:id="rId29"/>
    <p:sldId id="305" r:id="rId30"/>
    <p:sldId id="296" r:id="rId31"/>
    <p:sldId id="303" r:id="rId32"/>
  </p:sldIdLst>
  <p:sldSz cx="18288000" cy="10287000"/>
  <p:notesSz cx="10287000" cy="18288000"/>
  <p:embeddedFontLst>
    <p:embeddedFont>
      <p:font typeface="Inter" panose="02000503000000020004"/>
      <p:regular r:id="rId34"/>
      <p:bold r:id="rId35"/>
      <p:italic r:id="rId36"/>
      <p:boldItalic r:id="rId37"/>
    </p:embeddedFont>
    <p:embeddedFont>
      <p:font typeface="JetBrains Mono" panose="02000009000000000000"/>
      <p:regular r:id="rId38"/>
      <p:bold r:id="rId39"/>
      <p:italic r:id="rId40"/>
      <p:boldItalic r:id="rId41"/>
    </p:embeddedFont>
    <p:embeddedFont>
      <p:font typeface="Montserrat" pitchFamily="2" charset="77"/>
      <p:regular r:id="rId42"/>
      <p:bold r:id="rId43"/>
      <p:italic r:id="rId44"/>
      <p:boldItalic r:id="rId45"/>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60" roundtripDataSignature="AMtx7mgvBL9m8TJysEvjfbWLYgqaddpdWw=="/>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2132"/>
    <p:restoredTop sz="94643"/>
  </p:normalViewPr>
  <p:slideViewPr>
    <p:cSldViewPr snapToGrid="0">
      <p:cViewPr varScale="1">
        <p:scale>
          <a:sx n="116" d="100"/>
          <a:sy n="116" d="100"/>
        </p:scale>
        <p:origin x="784" y="1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font" Target="fonts/font6.fntdata"/><Relationship Id="rId21" Type="http://schemas.openxmlformats.org/officeDocument/2006/relationships/slide" Target="slides/slide19.xml"/><Relationship Id="rId34" Type="http://schemas.openxmlformats.org/officeDocument/2006/relationships/font" Target="fonts/font1.fntdata"/><Relationship Id="rId42" Type="http://schemas.openxmlformats.org/officeDocument/2006/relationships/font" Target="fonts/font9.fntdata"/><Relationship Id="rId63" Type="http://schemas.openxmlformats.org/officeDocument/2006/relationships/theme" Target="theme/theme1.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font" Target="fonts/font4.fntdata"/><Relationship Id="rId40" Type="http://schemas.openxmlformats.org/officeDocument/2006/relationships/font" Target="fonts/font7.fntdata"/><Relationship Id="rId45" Type="http://schemas.openxmlformats.org/officeDocument/2006/relationships/font" Target="fonts/font12.fntdata"/><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font" Target="fonts/font3.fntdata"/><Relationship Id="rId61" Type="http://schemas.openxmlformats.org/officeDocument/2006/relationships/presProps" Target="presProps.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slide" Target="slides/slide29.xml"/><Relationship Id="rId44" Type="http://schemas.openxmlformats.org/officeDocument/2006/relationships/font" Target="fonts/font11.fntdata"/><Relationship Id="rId60" Type="http://customschemas.google.com/relationships/presentationmetadata" Target="metadata"/><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font" Target="fonts/font2.fntdata"/><Relationship Id="rId43" Type="http://schemas.openxmlformats.org/officeDocument/2006/relationships/font" Target="fonts/font10.fntdata"/><Relationship Id="rId64" Type="http://schemas.openxmlformats.org/officeDocument/2006/relationships/tableStyles" Target="tableStyles.xml"/><Relationship Id="rId8" Type="http://schemas.openxmlformats.org/officeDocument/2006/relationships/slide" Target="slides/slide6.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notesMaster" Target="notesMasters/notesMaster1.xml"/><Relationship Id="rId38" Type="http://schemas.openxmlformats.org/officeDocument/2006/relationships/font" Target="fonts/font5.fntdata"/><Relationship Id="rId20" Type="http://schemas.openxmlformats.org/officeDocument/2006/relationships/slide" Target="slides/slide18.xml"/><Relationship Id="rId41" Type="http://schemas.openxmlformats.org/officeDocument/2006/relationships/font" Target="fonts/font8.fntdata"/><Relationship Id="rId62"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714825" y="1371600"/>
            <a:ext cx="6858325" cy="6858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1028700" y="8686800"/>
            <a:ext cx="8229600" cy="82296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
        <p:cNvGrpSpPr/>
        <p:nvPr/>
      </p:nvGrpSpPr>
      <p:grpSpPr>
        <a:xfrm>
          <a:off x="0" y="0"/>
          <a:ext cx="0" cy="0"/>
          <a:chOff x="0" y="0"/>
          <a:chExt cx="0" cy="0"/>
        </a:xfrm>
      </p:grpSpPr>
      <p:sp>
        <p:nvSpPr>
          <p:cNvPr id="10" name="Google Shape;10;p1: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1" name="Google Shape;11;p1: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200" b="0" i="0" u="none" strike="noStrike" cap="none">
                <a:solidFill>
                  <a:schemeClr val="dk1"/>
                </a:solidFill>
                <a:latin typeface="Arial"/>
                <a:ea typeface="Arial"/>
                <a:cs typeface="Arial"/>
                <a:sym typeface="Arial"/>
              </a:rPr>
              <a:t>Welcome them in. Big energy. 'AI Context Engineering — that's a long title for what's actually a really practical workshop. Over the next 90 minutes we're going to get hands-on with what makes AI useful at your church versus useless at your church.'</a:t>
            </a:r>
            <a:endParaRPr/>
          </a:p>
        </p:txBody>
      </p:sp>
      <p:sp>
        <p:nvSpPr>
          <p:cNvPr id="12" name="Google Shape;12;p1: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1</a:t>
            </a:fld>
            <a:endParaRPr sz="1800">
              <a:solidFill>
                <a:schemeClr val="dk1"/>
              </a:solidFill>
              <a:latin typeface="Arial"/>
              <a:ea typeface="Arial"/>
              <a:cs typeface="Arial"/>
              <a:sym typeface="Arial"/>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952500" y="1371600"/>
            <a:ext cx="12192000" cy="6858000"/>
          </a:xfrm>
        </p:spPr>
      </p:sp>
      <p:sp>
        <p:nvSpPr>
          <p:cNvPr id="3" name="Notes Placeholder 2"/>
          <p:cNvSpPr>
            <a:spLocks noGrp="1"/>
          </p:cNvSpPr>
          <p:nvPr>
            <p:ph type="body" idx="1"/>
          </p:nvPr>
        </p:nvSpPr>
        <p:spPr/>
        <p:txBody>
          <a:bodyPr/>
          <a:lstStyle/>
          <a:p>
            <a:r>
              <a:rPr lang="en-US" dirty="0"/>
              <a:t>Section opener. Pause. Breathe. 'Most of what looks like bad AI output is actually a context problem on our end.'</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
        <p:cNvGrpSpPr/>
        <p:nvPr/>
      </p:nvGrpSpPr>
      <p:grpSpPr>
        <a:xfrm>
          <a:off x="0" y="0"/>
          <a:ext cx="0" cy="0"/>
          <a:chOff x="0" y="0"/>
          <a:chExt cx="0" cy="0"/>
        </a:xfrm>
      </p:grpSpPr>
      <p:sp>
        <p:nvSpPr>
          <p:cNvPr id="34" name="Google Shape;34;p3: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5" name="Google Shape;35;p3: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200">
                <a:solidFill>
                  <a:schemeClr val="dk1"/>
                </a:solidFill>
                <a:latin typeface="Arial"/>
                <a:ea typeface="Arial"/>
                <a:cs typeface="Arial"/>
                <a:sym typeface="Arial"/>
              </a:rPr>
              <a:t>Brief intro — keep it under 60 seconds. 'I ship AI products for a living and I've been in the church tech world a while. Most of what I'm sharing today is what I wish someone had told me two years ago.'</a:t>
            </a:r>
            <a:endParaRPr/>
          </a:p>
        </p:txBody>
      </p:sp>
      <p:sp>
        <p:nvSpPr>
          <p:cNvPr id="36" name="Google Shape;36;p3: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3</a:t>
            </a:fld>
            <a:endParaRPr sz="1800">
              <a:solidFill>
                <a:schemeClr val="dk1"/>
              </a:solidFill>
              <a:latin typeface="Arial"/>
              <a:ea typeface="Arial"/>
              <a:cs typeface="Arial"/>
              <a:sym typeface="Arial"/>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
        <p:cNvGrpSpPr/>
        <p:nvPr/>
      </p:nvGrpSpPr>
      <p:grpSpPr>
        <a:xfrm>
          <a:off x="0" y="0"/>
          <a:ext cx="0" cy="0"/>
          <a:chOff x="0" y="0"/>
          <a:chExt cx="0" cy="0"/>
        </a:xfrm>
      </p:grpSpPr>
      <p:sp>
        <p:nvSpPr>
          <p:cNvPr id="43" name="Google Shape;43;g3dc15369c17_0_12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4" name="Google Shape;44;g3dc15369c17_0_120: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Alright — quick 10 minutes from me before Chris takes you into the real workshop. I want to tell you a story, because I think a lot of you are somewhere on the same path I was on. The title says it all: I started as a vibe coder, and I had to become a context engineer. Six stages, one shift. Let's go.</a:t>
            </a:r>
            <a:endParaRPr/>
          </a:p>
        </p:txBody>
      </p:sp>
      <p:sp>
        <p:nvSpPr>
          <p:cNvPr id="45" name="Google Shape;45;g3dc15369c17_0_120: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
        <p:cNvGrpSpPr/>
        <p:nvPr/>
      </p:nvGrpSpPr>
      <p:grpSpPr>
        <a:xfrm>
          <a:off x="0" y="0"/>
          <a:ext cx="0" cy="0"/>
          <a:chOff x="0" y="0"/>
          <a:chExt cx="0" cy="0"/>
        </a:xfrm>
      </p:grpSpPr>
      <p:sp>
        <p:nvSpPr>
          <p:cNvPr id="54" name="Google Shape;54;g3dc15369c17_0_13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5" name="Google Shape;55;g3dc15369c17_0_130: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Stage one — the spark. ChatGPT had just dropped, and like a lot of you I was in school at the time. I wasn't building products. I was just one-shotting prompts to get through assignments. No stakes, pure curiosity. That's where it started for me, and honestly that's where it starts for almost everyone — you type something, something useful comes back, and you go 'huh, that's interesting.'</a:t>
            </a:r>
            <a:endParaRPr/>
          </a:p>
        </p:txBody>
      </p:sp>
      <p:sp>
        <p:nvSpPr>
          <p:cNvPr id="56" name="Google Shape;56;g3dc15369c17_0_130: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5</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
        <p:cNvGrpSpPr/>
        <p:nvPr/>
      </p:nvGrpSpPr>
      <p:grpSpPr>
        <a:xfrm>
          <a:off x="0" y="0"/>
          <a:ext cx="0" cy="0"/>
          <a:chOff x="0" y="0"/>
          <a:chExt cx="0" cy="0"/>
        </a:xfrm>
      </p:grpSpPr>
      <p:sp>
        <p:nvSpPr>
          <p:cNvPr id="67" name="Google Shape;67;g3dc15369c17_0_14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8" name="Google Shape;68;g3dc15369c17_0_142: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Stage two — the hook. Then I found Bolt. Then Replit. And this is where it stopped being a toy. I'd type a sentence — 'build me a habit tracker' — and out came a whole app. Frontend, backend, database. It felt like a superpower. And for a while, I genuinely thought I had figured something out that other people hadn't. That's the hook.</a:t>
            </a:r>
            <a:endParaRPr/>
          </a:p>
        </p:txBody>
      </p:sp>
      <p:sp>
        <p:nvSpPr>
          <p:cNvPr id="69" name="Google Shape;69;g3dc15369c17_0_142: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6</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9"/>
        <p:cNvGrpSpPr/>
        <p:nvPr/>
      </p:nvGrpSpPr>
      <p:grpSpPr>
        <a:xfrm>
          <a:off x="0" y="0"/>
          <a:ext cx="0" cy="0"/>
          <a:chOff x="0" y="0"/>
          <a:chExt cx="0" cy="0"/>
        </a:xfrm>
      </p:grpSpPr>
      <p:sp>
        <p:nvSpPr>
          <p:cNvPr id="80" name="Google Shape;80;g3dc15369c17_0_15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1" name="Google Shape;81;g3dc15369c17_0_154: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Stage three — the cracks. Here's where it got humbling. The demos looked great in the moment. They almost never held up. Inconsistent. Fragile. Nowhere near production. I'd show something off on Monday and by Wednesday it was broken in three different places. And the worst part — I couldn't see the debt I was building. The model was writing code I couldn't read, in patterns I couldn't evaluate. It looked like progress. It wasn't.</a:t>
            </a:r>
            <a:endParaRPr/>
          </a:p>
        </p:txBody>
      </p:sp>
      <p:sp>
        <p:nvSpPr>
          <p:cNvPr id="82" name="Google Shape;82;g3dc15369c17_0_154: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7</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
        <p:cNvGrpSpPr/>
        <p:nvPr/>
      </p:nvGrpSpPr>
      <p:grpSpPr>
        <a:xfrm>
          <a:off x="0" y="0"/>
          <a:ext cx="0" cy="0"/>
          <a:chOff x="0" y="0"/>
          <a:chExt cx="0" cy="0"/>
        </a:xfrm>
      </p:grpSpPr>
      <p:sp>
        <p:nvSpPr>
          <p:cNvPr id="98" name="Google Shape;98;g3dc15369c17_0_17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99" name="Google Shape;99;g3dc15369c17_0_171: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Stage four — and this is the one I want you to hear, because I bet some of you are right here. I learned the phrase 'context is king.' So I figured, okay, more context, better output. I started writing paragraphs instead of sentences. Huge prompts. And I was still one-shotting. I'd change one tiny thing and the whole thing would fall apart. I'd spend hours hot-fixing what the model had built. Bigger prompts did not equal better code. More words, same problem.</a:t>
            </a:r>
            <a:endParaRPr/>
          </a:p>
        </p:txBody>
      </p:sp>
      <p:sp>
        <p:nvSpPr>
          <p:cNvPr id="100" name="Google Shape;100;g3dc15369c17_0_171: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8</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0"/>
        <p:cNvGrpSpPr/>
        <p:nvPr/>
      </p:nvGrpSpPr>
      <p:grpSpPr>
        <a:xfrm>
          <a:off x="0" y="0"/>
          <a:ext cx="0" cy="0"/>
          <a:chOff x="0" y="0"/>
          <a:chExt cx="0" cy="0"/>
        </a:xfrm>
      </p:grpSpPr>
      <p:sp>
        <p:nvSpPr>
          <p:cNvPr id="111" name="Google Shape;111;g3dc15369c17_0_18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12" name="Google Shape;112;g3dc15369c17_0_183: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Stage five — this is the shift. I stopped trying to write the perfect prompt and started spending my time thinking before I asked. Planning over prompting. And the output got about ten times better — overnight. Here's the wild part: I still couldn't really read code. But I could find what works before I started building. I could pressure-test the idea on paper. The leverage moved from the prompt to the plan.</a:t>
            </a:r>
            <a:endParaRPr/>
          </a:p>
        </p:txBody>
      </p:sp>
      <p:sp>
        <p:nvSpPr>
          <p:cNvPr id="113" name="Google Shape;113;g3dc15369c17_0_183: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9</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3"/>
        <p:cNvGrpSpPr/>
        <p:nvPr/>
      </p:nvGrpSpPr>
      <p:grpSpPr>
        <a:xfrm>
          <a:off x="0" y="0"/>
          <a:ext cx="0" cy="0"/>
          <a:chOff x="0" y="0"/>
          <a:chExt cx="0" cy="0"/>
        </a:xfrm>
      </p:grpSpPr>
      <p:sp>
        <p:nvSpPr>
          <p:cNvPr id="124" name="Google Shape;124;g3dc15369c17_0_19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25" name="Google Shape;125;g3dc15369c17_0_195: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Stage six — the engineer era. This is where I am today. I don't start from a blank prompt anymore. I start from a base repository. A foundation I trust. Same kinds of apps I was building two years ago — but stronger, every single time. It's not a different prompt every time. It's a system. Repeatable, consistent, production-shaped from day one.</a:t>
            </a:r>
            <a:endParaRPr/>
          </a:p>
        </p:txBody>
      </p:sp>
      <p:sp>
        <p:nvSpPr>
          <p:cNvPr id="126" name="Google Shape;126;g3dc15369c17_0_195: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10</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0"/>
        <p:cNvGrpSpPr/>
        <p:nvPr/>
      </p:nvGrpSpPr>
      <p:grpSpPr>
        <a:xfrm>
          <a:off x="0" y="0"/>
          <a:ext cx="0" cy="0"/>
          <a:chOff x="0" y="0"/>
          <a:chExt cx="0" cy="0"/>
        </a:xfrm>
      </p:grpSpPr>
      <p:sp>
        <p:nvSpPr>
          <p:cNvPr id="141" name="Google Shape;141;g3dc15369c17_0_21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42" name="Google Shape;142;g3dc15369c17_0_211: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So if I had to put it on a single slide — this is the contrast. On the left, the vibe coder I was. Prompt and pray. One-shot every time. Hours of hot-fixes. Looks great, breaks fast. Hidden technical debt I couldn't even see. On the right, the context engineer I had to become. Plan, then build. Base repo as a foundation. Hours of thinking up front instead of hot-fixes after. Production-shaped from day one. Repeatable. Consistent. The work moved — from after the prompt, to before it.</a:t>
            </a:r>
            <a:endParaRPr/>
          </a:p>
        </p:txBody>
      </p:sp>
      <p:sp>
        <p:nvSpPr>
          <p:cNvPr id="143" name="Google Shape;143;g3dc15369c17_0_211: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11</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7"/>
        <p:cNvGrpSpPr/>
        <p:nvPr/>
      </p:nvGrpSpPr>
      <p:grpSpPr>
        <a:xfrm>
          <a:off x="0" y="0"/>
          <a:ext cx="0" cy="0"/>
          <a:chOff x="0" y="0"/>
          <a:chExt cx="0" cy="0"/>
        </a:xfrm>
      </p:grpSpPr>
      <p:sp>
        <p:nvSpPr>
          <p:cNvPr id="158" name="Google Shape;158;g3dc15369c17_0_22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59" name="Google Shape;159;g3dc15369c17_0_227: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Here's the takeaway, and then I'll hand it to Chris. The leverage is not in the prompt. It's in the thinking before it. That's the whole shift. And that's what the next 75 minutes are about — Chris is going to walk you through how to actually do that thinking. The four pillars, the anatomy, the practical exercises. Over to you, Chris.</a:t>
            </a:r>
            <a:endParaRPr/>
          </a:p>
        </p:txBody>
      </p:sp>
      <p:sp>
        <p:nvSpPr>
          <p:cNvPr id="160" name="Google Shape;160;g3dc15369c17_0_227: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12</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7"/>
        <p:cNvGrpSpPr/>
        <p:nvPr/>
      </p:nvGrpSpPr>
      <p:grpSpPr>
        <a:xfrm>
          <a:off x="0" y="0"/>
          <a:ext cx="0" cy="0"/>
          <a:chOff x="0" y="0"/>
          <a:chExt cx="0" cy="0"/>
        </a:xfrm>
      </p:grpSpPr>
      <p:sp>
        <p:nvSpPr>
          <p:cNvPr id="168" name="Google Shape;168;p4: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69" name="Google Shape;169;p4: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200">
                <a:solidFill>
                  <a:schemeClr val="dk1"/>
                </a:solidFill>
                <a:latin typeface="Arial"/>
                <a:ea typeface="Arial"/>
                <a:cs typeface="Arial"/>
                <a:sym typeface="Arial"/>
              </a:rPr>
              <a:t>Section opener. Pause. Breathe. 'Most of what looks like bad AI output is actually a context problem on our end.'</a:t>
            </a:r>
            <a:endParaRPr/>
          </a:p>
        </p:txBody>
      </p:sp>
      <p:sp>
        <p:nvSpPr>
          <p:cNvPr id="170" name="Google Shape;170;p4: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13</a:t>
            </a:fld>
            <a:endParaRPr sz="1800">
              <a:solidFill>
                <a:schemeClr val="dk1"/>
              </a:solidFill>
              <a:latin typeface="Arial"/>
              <a:ea typeface="Arial"/>
              <a:cs typeface="Arial"/>
              <a:sym typeface="Arial"/>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3">
          <a:extLst>
            <a:ext uri="{FF2B5EF4-FFF2-40B4-BE49-F238E27FC236}">
              <a16:creationId xmlns:a16="http://schemas.microsoft.com/office/drawing/2014/main" id="{D17725C2-A088-0054-E08D-AD024FE9DFD3}"/>
            </a:ext>
          </a:extLst>
        </p:cNvPr>
        <p:cNvGrpSpPr/>
        <p:nvPr/>
      </p:nvGrpSpPr>
      <p:grpSpPr>
        <a:xfrm>
          <a:off x="0" y="0"/>
          <a:ext cx="0" cy="0"/>
          <a:chOff x="0" y="0"/>
          <a:chExt cx="0" cy="0"/>
        </a:xfrm>
      </p:grpSpPr>
      <p:sp>
        <p:nvSpPr>
          <p:cNvPr id="124" name="Google Shape;124;g3dc15369c17_0_195:notes">
            <a:extLst>
              <a:ext uri="{FF2B5EF4-FFF2-40B4-BE49-F238E27FC236}">
                <a16:creationId xmlns:a16="http://schemas.microsoft.com/office/drawing/2014/main" id="{B97ADEAD-769D-0A73-2184-3C49B9D48AA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25" name="Google Shape;125;g3dc15369c17_0_195:notes">
            <a:extLst>
              <a:ext uri="{FF2B5EF4-FFF2-40B4-BE49-F238E27FC236}">
                <a16:creationId xmlns:a16="http://schemas.microsoft.com/office/drawing/2014/main" id="{5592FDB0-3F1B-6833-195E-31AA7B16D230}"/>
              </a:ext>
            </a:extLst>
          </p:cNvPr>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Stage six — the engineer era. This is where I am today. I don't start from a blank prompt anymore. I start from a base repository. A foundation I trust. Same kinds of apps I was building two years ago — but stronger, every single time. It's not a different prompt every time. It's a system. Repeatable, consistent, production-shaped from day one.</a:t>
            </a:r>
            <a:endParaRPr/>
          </a:p>
        </p:txBody>
      </p:sp>
      <p:sp>
        <p:nvSpPr>
          <p:cNvPr id="126" name="Google Shape;126;g3dc15369c17_0_195:notes">
            <a:extLst>
              <a:ext uri="{FF2B5EF4-FFF2-40B4-BE49-F238E27FC236}">
                <a16:creationId xmlns:a16="http://schemas.microsoft.com/office/drawing/2014/main" id="{02706042-B037-8F6E-1F37-D06676A7B0A2}"/>
              </a:ext>
            </a:extLst>
          </p:cNvPr>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14</a:t>
            </a:fld>
            <a:endParaRPr/>
          </a:p>
        </p:txBody>
      </p:sp>
    </p:spTree>
    <p:extLst>
      <p:ext uri="{BB962C8B-B14F-4D97-AF65-F5344CB8AC3E}">
        <p14:creationId xmlns:p14="http://schemas.microsoft.com/office/powerpoint/2010/main" val="244469884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952500" y="1371600"/>
            <a:ext cx="12192000" cy="6858000"/>
          </a:xfrm>
        </p:spPr>
      </p:sp>
      <p:sp>
        <p:nvSpPr>
          <p:cNvPr id="3" name="Notes Placeholder 2"/>
          <p:cNvSpPr>
            <a:spLocks noGrp="1"/>
          </p:cNvSpPr>
          <p:nvPr>
            <p:ph type="body" idx="1"/>
          </p:nvPr>
        </p:nvSpPr>
        <p:spPr/>
        <p:txBody>
          <a:bodyPr/>
          <a:lstStyle/>
          <a:p>
            <a:r>
              <a:rPr lang="en-US" dirty="0"/>
              <a:t>Set up the central pivot of the workshop. 'Prompt engineering was about magic words. Context engineering is about the whole environment. That's the shift.'</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952500" y="1371600"/>
            <a:ext cx="12192000" cy="6858000"/>
          </a:xfrm>
        </p:spPr>
      </p:sp>
      <p:sp>
        <p:nvSpPr>
          <p:cNvPr id="3" name="Notes Placeholder 2"/>
          <p:cNvSpPr>
            <a:spLocks noGrp="1"/>
          </p:cNvSpPr>
          <p:nvPr>
            <p:ph type="body" idx="1"/>
          </p:nvPr>
        </p:nvSpPr>
        <p:spPr/>
        <p:txBody>
          <a:bodyPr/>
          <a:lstStyle/>
          <a:p>
            <a:r>
              <a:rPr lang="en-US" dirty="0"/>
              <a:t>Read the definition slowly, twice. Let it land. This is the one sentence you want them to take home.</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952500" y="1371600"/>
            <a:ext cx="12192000" cy="6858000"/>
          </a:xfrm>
        </p:spPr>
      </p:sp>
      <p:sp>
        <p:nvSpPr>
          <p:cNvPr id="3" name="Notes Placeholder 2"/>
          <p:cNvSpPr>
            <a:spLocks noGrp="1"/>
          </p:cNvSpPr>
          <p:nvPr>
            <p:ph type="body" idx="1"/>
          </p:nvPr>
        </p:nvSpPr>
        <p:spPr/>
        <p:txBody>
          <a:bodyPr/>
          <a:lstStyle/>
          <a:p>
            <a:r>
              <a:rPr lang="en-US" dirty="0"/>
              <a:t>Read the bad prompt out loud. Then the good. Same minute. Same model. 'The good one took me 90 seconds longer. It saved me 20 minutes of editing. Every time.'</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DEFAULT">
  <p:cSld name="DEFAULT">
    <p:bg>
      <p:bgPr>
        <a:solidFill>
          <a:schemeClr val="lt1"/>
        </a:solidFill>
        <a:effectLst/>
      </p:bgPr>
    </p:bg>
    <p:spTree>
      <p:nvGrpSpPr>
        <p:cNvPr id="1" name="Shape 6"/>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DEFAULT">
  <p:cSld name="DEFAULT">
    <p:bg>
      <p:bgPr>
        <a:solidFill>
          <a:schemeClr val="lt1"/>
        </a:solidFill>
        <a:effectLst/>
      </p:bgPr>
    </p:bg>
    <p:spTree>
      <p:nvGrpSpPr>
        <p:cNvPr id="1" name="Shape 8"/>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49" r:id="rId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Shape 7"/>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51" r:id="rId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4161C"/>
        </a:solidFill>
        <a:effectLst/>
      </p:bgPr>
    </p:bg>
    <p:spTree>
      <p:nvGrpSpPr>
        <p:cNvPr id="1" name="Shape 13"/>
        <p:cNvGrpSpPr/>
        <p:nvPr/>
      </p:nvGrpSpPr>
      <p:grpSpPr>
        <a:xfrm>
          <a:off x="0" y="0"/>
          <a:ext cx="0" cy="0"/>
          <a:chOff x="0" y="0"/>
          <a:chExt cx="0" cy="0"/>
        </a:xfrm>
      </p:grpSpPr>
      <p:sp>
        <p:nvSpPr>
          <p:cNvPr id="14" name="Google Shape;14;p1"/>
          <p:cNvSpPr/>
          <p:nvPr/>
        </p:nvSpPr>
        <p:spPr>
          <a:xfrm>
            <a:off x="0" y="0"/>
            <a:ext cx="18288000" cy="10287000"/>
          </a:xfrm>
          <a:prstGeom prst="rect">
            <a:avLst/>
          </a:prstGeom>
          <a:solidFill>
            <a:srgbClr val="14161C"/>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5" name="Google Shape;15;p1"/>
          <p:cNvSpPr/>
          <p:nvPr/>
        </p:nvSpPr>
        <p:spPr>
          <a:xfrm>
            <a:off x="952500" y="762000"/>
            <a:ext cx="1258044" cy="342900"/>
          </a:xfrm>
          <a:prstGeom prst="rect">
            <a:avLst/>
          </a:prstGeom>
          <a:noFill/>
          <a:ln>
            <a:noFill/>
          </a:ln>
        </p:spPr>
        <p:txBody>
          <a:bodyPr spcFirstLastPara="1" wrap="square" lIns="25400" tIns="25400" rIns="25400" bIns="25400" anchor="t" anchorCtr="0">
            <a:normAutofit lnSpcReduction="10000"/>
          </a:bodyPr>
          <a:lstStyle/>
          <a:p>
            <a:pPr marL="0" marR="0" lvl="0" indent="0" algn="l" rtl="0">
              <a:spcBef>
                <a:spcPts val="0"/>
              </a:spcBef>
              <a:spcAft>
                <a:spcPts val="0"/>
              </a:spcAft>
              <a:buClr>
                <a:srgbClr val="FFFFFF"/>
              </a:buClr>
              <a:buSzPts val="1950"/>
              <a:buFont typeface="Montserrat"/>
              <a:buNone/>
            </a:pPr>
            <a:r>
              <a:rPr lang="en-US" sz="1950" b="1">
                <a:solidFill>
                  <a:srgbClr val="FFFFFF"/>
                </a:solidFill>
                <a:latin typeface="Montserrat"/>
                <a:ea typeface="Montserrat"/>
                <a:cs typeface="Montserrat"/>
                <a:sym typeface="Montserrat"/>
              </a:rPr>
              <a:t>CITN</a:t>
            </a:r>
            <a:r>
              <a:rPr lang="en-US" sz="1950" b="1">
                <a:solidFill>
                  <a:srgbClr val="3FE0D0"/>
                </a:solidFill>
                <a:latin typeface="Montserrat"/>
                <a:ea typeface="Montserrat"/>
                <a:cs typeface="Montserrat"/>
                <a:sym typeface="Montserrat"/>
              </a:rPr>
              <a:t>·</a:t>
            </a:r>
            <a:r>
              <a:rPr lang="en-US" sz="1950" b="1">
                <a:solidFill>
                  <a:srgbClr val="FFFFFF"/>
                </a:solidFill>
                <a:latin typeface="Montserrat"/>
                <a:ea typeface="Montserrat"/>
                <a:cs typeface="Montserrat"/>
                <a:sym typeface="Montserrat"/>
              </a:rPr>
              <a:t>AI</a:t>
            </a:r>
            <a:endParaRPr sz="1950">
              <a:solidFill>
                <a:schemeClr val="dk1"/>
              </a:solidFill>
              <a:latin typeface="Calibri"/>
              <a:ea typeface="Calibri"/>
              <a:cs typeface="Calibri"/>
              <a:sym typeface="Calibri"/>
            </a:endParaRPr>
          </a:p>
        </p:txBody>
      </p:sp>
      <p:pic>
        <p:nvPicPr>
          <p:cNvPr id="16" name="Google Shape;16;p1" descr="preencoded.png"/>
          <p:cNvPicPr preferRelativeResize="0"/>
          <p:nvPr/>
        </p:nvPicPr>
        <p:blipFill rotWithShape="1">
          <a:blip r:embed="rId3">
            <a:alphaModFix/>
          </a:blip>
          <a:srcRect/>
          <a:stretch/>
        </p:blipFill>
        <p:spPr>
          <a:xfrm>
            <a:off x="8953500" y="-95250"/>
            <a:ext cx="10477500" cy="10477500"/>
          </a:xfrm>
          <a:prstGeom prst="rect">
            <a:avLst/>
          </a:prstGeom>
          <a:noFill/>
          <a:ln>
            <a:noFill/>
          </a:ln>
        </p:spPr>
      </p:pic>
      <p:pic>
        <p:nvPicPr>
          <p:cNvPr id="17" name="Google Shape;17;p1" descr="preencoded.png"/>
          <p:cNvPicPr preferRelativeResize="0"/>
          <p:nvPr/>
        </p:nvPicPr>
        <p:blipFill rotWithShape="1">
          <a:blip r:embed="rId4">
            <a:alphaModFix amt="50000"/>
          </a:blip>
          <a:srcRect/>
          <a:stretch/>
        </p:blipFill>
        <p:spPr>
          <a:xfrm>
            <a:off x="0" y="0"/>
            <a:ext cx="18288000" cy="10287000"/>
          </a:xfrm>
          <a:prstGeom prst="rect">
            <a:avLst/>
          </a:prstGeom>
          <a:noFill/>
          <a:ln>
            <a:noFill/>
          </a:ln>
        </p:spPr>
      </p:pic>
      <p:sp>
        <p:nvSpPr>
          <p:cNvPr id="18" name="Google Shape;18;p1"/>
          <p:cNvSpPr/>
          <p:nvPr/>
        </p:nvSpPr>
        <p:spPr>
          <a:xfrm>
            <a:off x="952500" y="3388072"/>
            <a:ext cx="7749419" cy="342900"/>
          </a:xfrm>
          <a:prstGeom prst="rect">
            <a:avLst/>
          </a:prstGeom>
          <a:noFill/>
          <a:ln>
            <a:noFill/>
          </a:ln>
        </p:spPr>
        <p:txBody>
          <a:bodyPr spcFirstLastPara="1" wrap="square" lIns="25400" tIns="25400" rIns="25400" bIns="25400" anchor="ctr" anchorCtr="0">
            <a:normAutofit lnSpcReduction="10000"/>
          </a:bodyPr>
          <a:lstStyle/>
          <a:p>
            <a:pPr marL="0" marR="0" lvl="0" indent="0" algn="l" rtl="0">
              <a:spcBef>
                <a:spcPts val="0"/>
              </a:spcBef>
              <a:spcAft>
                <a:spcPts val="0"/>
              </a:spcAft>
              <a:buClr>
                <a:srgbClr val="3FE0D0"/>
              </a:buClr>
              <a:buSzPts val="1950"/>
              <a:buFont typeface="Montserrat"/>
              <a:buNone/>
            </a:pPr>
            <a:r>
              <a:rPr lang="en-US" sz="1950" b="1">
                <a:solidFill>
                  <a:srgbClr val="3FE0D0"/>
                </a:solidFill>
                <a:latin typeface="Montserrat"/>
                <a:ea typeface="Montserrat"/>
                <a:cs typeface="Montserrat"/>
                <a:sym typeface="Montserrat"/>
              </a:rPr>
              <a:t>CHURCH IT NETWORK · WORKSHOP</a:t>
            </a:r>
            <a:endParaRPr sz="1950">
              <a:solidFill>
                <a:schemeClr val="dk1"/>
              </a:solidFill>
              <a:latin typeface="Calibri"/>
              <a:ea typeface="Calibri"/>
              <a:cs typeface="Calibri"/>
              <a:sym typeface="Calibri"/>
            </a:endParaRPr>
          </a:p>
        </p:txBody>
      </p:sp>
      <p:sp>
        <p:nvSpPr>
          <p:cNvPr id="19" name="Google Shape;19;p1"/>
          <p:cNvSpPr/>
          <p:nvPr/>
        </p:nvSpPr>
        <p:spPr>
          <a:xfrm>
            <a:off x="952500" y="4035772"/>
            <a:ext cx="7749419" cy="2282130"/>
          </a:xfrm>
          <a:prstGeom prst="rect">
            <a:avLst/>
          </a:prstGeom>
          <a:noFill/>
          <a:ln>
            <a:noFill/>
          </a:ln>
        </p:spPr>
        <p:txBody>
          <a:bodyPr spcFirstLastPara="1" wrap="square" lIns="25400" tIns="25400" rIns="25400" bIns="25400" anchor="t" anchorCtr="0">
            <a:normAutofit fontScale="92500" lnSpcReduction="10000"/>
          </a:bodyPr>
          <a:lstStyle/>
          <a:p>
            <a:pPr marL="0" marR="0" lvl="0" indent="0" algn="l" rtl="0">
              <a:lnSpc>
                <a:spcPct val="95000"/>
              </a:lnSpc>
              <a:spcBef>
                <a:spcPts val="0"/>
              </a:spcBef>
              <a:spcAft>
                <a:spcPts val="0"/>
              </a:spcAft>
              <a:buClr>
                <a:srgbClr val="FFFFFF"/>
              </a:buClr>
              <a:buSzPts val="9300"/>
              <a:buFont typeface="Montserrat"/>
              <a:buNone/>
            </a:pPr>
            <a:r>
              <a:rPr lang="en-US" sz="9300" b="1">
                <a:solidFill>
                  <a:srgbClr val="FFFFFF"/>
                </a:solidFill>
                <a:latin typeface="Montserrat"/>
                <a:ea typeface="Montserrat"/>
                <a:cs typeface="Montserrat"/>
                <a:sym typeface="Montserrat"/>
              </a:rPr>
              <a:t>AI </a:t>
            </a:r>
            <a:r>
              <a:rPr lang="en-US" sz="9300" b="1">
                <a:solidFill>
                  <a:srgbClr val="3FE0D0"/>
                </a:solidFill>
                <a:latin typeface="Montserrat"/>
                <a:ea typeface="Montserrat"/>
                <a:cs typeface="Montserrat"/>
                <a:sym typeface="Montserrat"/>
              </a:rPr>
              <a:t>Context </a:t>
            </a:r>
            <a:r>
              <a:rPr lang="en-US" sz="9300" b="1">
                <a:solidFill>
                  <a:srgbClr val="FFFFFF"/>
                </a:solidFill>
                <a:latin typeface="Montserrat"/>
                <a:ea typeface="Montserrat"/>
                <a:cs typeface="Montserrat"/>
                <a:sym typeface="Montserrat"/>
              </a:rPr>
              <a:t>Engineering</a:t>
            </a:r>
            <a:endParaRPr sz="9300">
              <a:solidFill>
                <a:schemeClr val="dk1"/>
              </a:solidFill>
              <a:latin typeface="Calibri"/>
              <a:ea typeface="Calibri"/>
              <a:cs typeface="Calibri"/>
              <a:sym typeface="Calibri"/>
            </a:endParaRPr>
          </a:p>
        </p:txBody>
      </p:sp>
      <p:sp>
        <p:nvSpPr>
          <p:cNvPr id="20" name="Google Shape;20;p1"/>
          <p:cNvSpPr/>
          <p:nvPr/>
        </p:nvSpPr>
        <p:spPr>
          <a:xfrm>
            <a:off x="952500" y="6622703"/>
            <a:ext cx="3193552" cy="314325"/>
          </a:xfrm>
          <a:prstGeom prst="rect">
            <a:avLst/>
          </a:prstGeom>
          <a:noFill/>
          <a:ln>
            <a:noFill/>
          </a:ln>
        </p:spPr>
        <p:txBody>
          <a:bodyPr spcFirstLastPara="1" wrap="square" lIns="25400" tIns="25400" rIns="25400" bIns="25400" anchor="t" anchorCtr="0">
            <a:normAutofit lnSpcReduction="10000"/>
          </a:bodyPr>
          <a:lstStyle/>
          <a:p>
            <a:pPr marL="0" marR="0" lvl="0" indent="0" algn="l" rtl="0">
              <a:spcBef>
                <a:spcPts val="0"/>
              </a:spcBef>
              <a:spcAft>
                <a:spcPts val="0"/>
              </a:spcAft>
              <a:buClr>
                <a:srgbClr val="C9CBD1"/>
              </a:buClr>
              <a:buSzPts val="1800"/>
              <a:buFont typeface="Montserrat"/>
              <a:buNone/>
            </a:pPr>
            <a:r>
              <a:rPr lang="en-US" sz="1800" b="1">
                <a:solidFill>
                  <a:srgbClr val="C9CBD1"/>
                </a:solidFill>
                <a:latin typeface="Montserrat"/>
                <a:ea typeface="Montserrat"/>
                <a:cs typeface="Montserrat"/>
                <a:sym typeface="Montserrat"/>
              </a:rPr>
              <a:t>NORTHWOODS CHURCH</a:t>
            </a:r>
            <a:endParaRPr sz="1800">
              <a:solidFill>
                <a:schemeClr val="dk1"/>
              </a:solidFill>
              <a:latin typeface="Calibri"/>
              <a:ea typeface="Calibri"/>
              <a:cs typeface="Calibri"/>
              <a:sym typeface="Calibri"/>
            </a:endParaRPr>
          </a:p>
        </p:txBody>
      </p:sp>
      <p:sp>
        <p:nvSpPr>
          <p:cNvPr id="21" name="Google Shape;21;p1"/>
          <p:cNvSpPr/>
          <p:nvPr/>
        </p:nvSpPr>
        <p:spPr>
          <a:xfrm>
            <a:off x="4357836" y="6732240"/>
            <a:ext cx="57150" cy="57150"/>
          </a:xfrm>
          <a:prstGeom prst="ellipse">
            <a:avLst/>
          </a:prstGeom>
          <a:solidFill>
            <a:srgbClr val="3FE0D0"/>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22" name="Google Shape;22;p1"/>
          <p:cNvSpPr/>
          <p:nvPr/>
        </p:nvSpPr>
        <p:spPr>
          <a:xfrm>
            <a:off x="4719786" y="6622703"/>
            <a:ext cx="1424434" cy="314325"/>
          </a:xfrm>
          <a:prstGeom prst="rect">
            <a:avLst/>
          </a:prstGeom>
          <a:noFill/>
          <a:ln>
            <a:noFill/>
          </a:ln>
        </p:spPr>
        <p:txBody>
          <a:bodyPr spcFirstLastPara="1" wrap="square" lIns="25400" tIns="25400" rIns="25400" bIns="25400" anchor="t" anchorCtr="0">
            <a:normAutofit lnSpcReduction="10000"/>
          </a:bodyPr>
          <a:lstStyle/>
          <a:p>
            <a:pPr marL="0" marR="0" lvl="0" indent="0" algn="l" rtl="0">
              <a:spcBef>
                <a:spcPts val="0"/>
              </a:spcBef>
              <a:spcAft>
                <a:spcPts val="0"/>
              </a:spcAft>
              <a:buClr>
                <a:srgbClr val="C9CBD1"/>
              </a:buClr>
              <a:buSzPts val="1800"/>
              <a:buFont typeface="Montserrat"/>
              <a:buNone/>
            </a:pPr>
            <a:r>
              <a:rPr lang="en-US" sz="1800" b="1">
                <a:solidFill>
                  <a:srgbClr val="C9CBD1"/>
                </a:solidFill>
                <a:latin typeface="Montserrat"/>
                <a:ea typeface="Montserrat"/>
                <a:cs typeface="Montserrat"/>
                <a:sym typeface="Montserrat"/>
              </a:rPr>
              <a:t>PEORIA, IL</a:t>
            </a:r>
            <a:endParaRPr sz="1800">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1B1D24"/>
          </a:solidFill>
          <a:ln/>
        </p:spPr>
        <p:txBody>
          <a:bodyPr/>
          <a:lstStyle/>
          <a:p>
            <a:endParaRPr lang="en-US"/>
          </a:p>
        </p:txBody>
      </p:sp>
      <p:sp>
        <p:nvSpPr>
          <p:cNvPr id="3" name="Text 1"/>
          <p:cNvSpPr/>
          <p:nvPr/>
        </p:nvSpPr>
        <p:spPr>
          <a:xfrm>
            <a:off x="4343251" y="3170932"/>
            <a:ext cx="9889543" cy="390525"/>
          </a:xfrm>
          <a:prstGeom prst="rect">
            <a:avLst/>
          </a:prstGeom>
          <a:noFill/>
          <a:ln/>
        </p:spPr>
        <p:txBody>
          <a:bodyPr wrap="square" lIns="25400" tIns="25400" rIns="25400" bIns="25400" rtlCol="0" anchor="t">
            <a:normAutofit/>
          </a:bodyPr>
          <a:lstStyle/>
          <a:p>
            <a:pPr marL="0" indent="0" algn="l">
              <a:buNone/>
            </a:pPr>
            <a:r>
              <a:rPr lang="en-US" sz="2100" kern="0" spc="840" dirty="0">
                <a:solidFill>
                  <a:srgbClr val="3FE0D0"/>
                </a:solidFill>
                <a:latin typeface="JetBrains Mono" pitchFamily="34" charset="0"/>
                <a:ea typeface="JetBrains Mono" pitchFamily="34" charset="-122"/>
                <a:cs typeface="JetBrains Mono" pitchFamily="34" charset="-120"/>
              </a:rPr>
              <a:t>PART 02 / 06</a:t>
            </a:r>
            <a:endParaRPr lang="en-US" sz="2100" dirty="0"/>
          </a:p>
        </p:txBody>
      </p:sp>
      <p:sp>
        <p:nvSpPr>
          <p:cNvPr id="4" name="Text 2"/>
          <p:cNvSpPr/>
          <p:nvPr/>
        </p:nvSpPr>
        <p:spPr>
          <a:xfrm>
            <a:off x="4343251" y="3904357"/>
            <a:ext cx="9889543" cy="2426791"/>
          </a:xfrm>
          <a:prstGeom prst="rect">
            <a:avLst/>
          </a:prstGeom>
          <a:noFill/>
          <a:ln/>
        </p:spPr>
        <p:txBody>
          <a:bodyPr wrap="square" lIns="25400" tIns="25400" rIns="25400" bIns="25400" rtlCol="0" anchor="t">
            <a:normAutofit fontScale="62500" lnSpcReduction="20000"/>
          </a:bodyPr>
          <a:lstStyle/>
          <a:p>
            <a:pPr marL="0" indent="0" algn="l">
              <a:lnSpc>
                <a:spcPct val="95000"/>
              </a:lnSpc>
              <a:buNone/>
            </a:pPr>
            <a:r>
              <a:rPr lang="en-US" sz="9900" b="1" kern="0" spc="-247" dirty="0">
                <a:solidFill>
                  <a:srgbClr val="FFFFFF"/>
                </a:solidFill>
                <a:latin typeface="Montserrat" pitchFamily="34" charset="0"/>
                <a:ea typeface="Montserrat" pitchFamily="34" charset="-122"/>
                <a:cs typeface="Montserrat" pitchFamily="34" charset="-120"/>
              </a:rPr>
              <a:t>Vibe Coding vs</a:t>
            </a:r>
          </a:p>
          <a:p>
            <a:pPr marL="0" indent="0" algn="l">
              <a:lnSpc>
                <a:spcPct val="95000"/>
              </a:lnSpc>
              <a:buNone/>
            </a:pPr>
            <a:r>
              <a:rPr lang="en-US" sz="9900" b="1" kern="0" spc="-247" dirty="0">
                <a:solidFill>
                  <a:srgbClr val="FFFFFF"/>
                </a:solidFill>
                <a:latin typeface="Montserrat" pitchFamily="34" charset="0"/>
                <a:ea typeface="Montserrat" pitchFamily="34" charset="-122"/>
                <a:cs typeface="Montserrat" pitchFamily="34" charset="-120"/>
              </a:rPr>
              <a:t>Context </a:t>
            </a:r>
          </a:p>
          <a:p>
            <a:pPr marL="0" indent="0" algn="l">
              <a:lnSpc>
                <a:spcPct val="95000"/>
              </a:lnSpc>
              <a:buNone/>
            </a:pPr>
            <a:r>
              <a:rPr lang="en-US" sz="9900" b="1" kern="0" spc="-247" dirty="0">
                <a:solidFill>
                  <a:srgbClr val="FFFFFF"/>
                </a:solidFill>
                <a:latin typeface="Montserrat" pitchFamily="34" charset="0"/>
                <a:ea typeface="Montserrat" pitchFamily="34" charset="-122"/>
                <a:cs typeface="Montserrat" pitchFamily="34" charset="-120"/>
              </a:rPr>
              <a:t>Engineering</a:t>
            </a:r>
            <a:endParaRPr lang="en-US" sz="9900" dirty="0"/>
          </a:p>
        </p:txBody>
      </p:sp>
      <p:sp>
        <p:nvSpPr>
          <p:cNvPr id="5" name="Text 3"/>
          <p:cNvSpPr/>
          <p:nvPr/>
        </p:nvSpPr>
        <p:spPr>
          <a:xfrm>
            <a:off x="4343251" y="6674048"/>
            <a:ext cx="9889543" cy="479971"/>
          </a:xfrm>
          <a:prstGeom prst="rect">
            <a:avLst/>
          </a:prstGeom>
          <a:noFill/>
          <a:ln/>
        </p:spPr>
        <p:txBody>
          <a:bodyPr wrap="square" lIns="25400" tIns="25400" rIns="25400" bIns="25400" rtlCol="0" anchor="t">
            <a:normAutofit fontScale="92500" lnSpcReduction="10000"/>
          </a:bodyPr>
          <a:lstStyle/>
          <a:p>
            <a:pPr marL="0" indent="0" algn="l">
              <a:lnSpc>
                <a:spcPct val="145000"/>
              </a:lnSpc>
              <a:buNone/>
            </a:pPr>
            <a:r>
              <a:rPr lang="en-US" sz="2400" dirty="0">
                <a:solidFill>
                  <a:srgbClr val="C9CBD1"/>
                </a:solidFill>
                <a:latin typeface="Inter" pitchFamily="34" charset="0"/>
                <a:ea typeface="Inter" pitchFamily="34" charset="-122"/>
                <a:cs typeface="Inter" pitchFamily="34" charset="-120"/>
              </a:rPr>
              <a:t>They are not the same!</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7"/>
        <p:cNvGrpSpPr/>
        <p:nvPr/>
      </p:nvGrpSpPr>
      <p:grpSpPr>
        <a:xfrm>
          <a:off x="0" y="0"/>
          <a:ext cx="0" cy="0"/>
          <a:chOff x="0" y="0"/>
          <a:chExt cx="0" cy="0"/>
        </a:xfrm>
      </p:grpSpPr>
      <p:sp>
        <p:nvSpPr>
          <p:cNvPr id="38" name="Google Shape;38;p3"/>
          <p:cNvSpPr/>
          <p:nvPr/>
        </p:nvSpPr>
        <p:spPr>
          <a:xfrm>
            <a:off x="8572500" y="4130278"/>
            <a:ext cx="9025890" cy="333375"/>
          </a:xfrm>
          <a:prstGeom prst="rect">
            <a:avLst/>
          </a:prstGeom>
          <a:noFill/>
          <a:ln>
            <a:noFill/>
          </a:ln>
        </p:spPr>
        <p:txBody>
          <a:bodyPr spcFirstLastPara="1" wrap="square" lIns="25400" tIns="25400" rIns="25400" bIns="25400" anchor="t" anchorCtr="0">
            <a:normAutofit/>
          </a:bodyPr>
          <a:lstStyle/>
          <a:p>
            <a:pPr marL="0" marR="0" lvl="0" indent="0" algn="l" rtl="0">
              <a:spcBef>
                <a:spcPts val="0"/>
              </a:spcBef>
              <a:spcAft>
                <a:spcPts val="0"/>
              </a:spcAft>
              <a:buClr>
                <a:srgbClr val="F58220"/>
              </a:buClr>
              <a:buSzPts val="1800"/>
              <a:buFont typeface="JetBrains Mono"/>
              <a:buNone/>
            </a:pPr>
            <a:r>
              <a:rPr lang="en-US" sz="1800">
                <a:solidFill>
                  <a:srgbClr val="F58220"/>
                </a:solidFill>
                <a:latin typeface="JetBrains Mono"/>
                <a:ea typeface="JetBrains Mono"/>
                <a:cs typeface="JetBrains Mono"/>
                <a:sym typeface="JetBrains Mono"/>
              </a:rPr>
              <a:t>SPEAKER</a:t>
            </a:r>
            <a:endParaRPr sz="1800">
              <a:solidFill>
                <a:schemeClr val="dk1"/>
              </a:solidFill>
              <a:latin typeface="Calibri"/>
              <a:ea typeface="Calibri"/>
              <a:cs typeface="Calibri"/>
              <a:sym typeface="Calibri"/>
            </a:endParaRPr>
          </a:p>
        </p:txBody>
      </p:sp>
      <p:sp>
        <p:nvSpPr>
          <p:cNvPr id="39" name="Google Shape;39;p3"/>
          <p:cNvSpPr/>
          <p:nvPr/>
        </p:nvSpPr>
        <p:spPr>
          <a:xfrm>
            <a:off x="8572500" y="4631728"/>
            <a:ext cx="9025890" cy="952500"/>
          </a:xfrm>
          <a:prstGeom prst="rect">
            <a:avLst/>
          </a:prstGeom>
          <a:noFill/>
          <a:ln>
            <a:noFill/>
          </a:ln>
        </p:spPr>
        <p:txBody>
          <a:bodyPr spcFirstLastPara="1" wrap="square" lIns="25400" tIns="25400" rIns="25400" bIns="25400" anchor="t" anchorCtr="0">
            <a:normAutofit/>
          </a:bodyPr>
          <a:lstStyle/>
          <a:p>
            <a:pPr marL="0" marR="0" lvl="0" indent="0" algn="l" rtl="0">
              <a:lnSpc>
                <a:spcPct val="80000"/>
              </a:lnSpc>
              <a:spcBef>
                <a:spcPts val="0"/>
              </a:spcBef>
              <a:spcAft>
                <a:spcPts val="0"/>
              </a:spcAft>
              <a:buClr>
                <a:srgbClr val="2A2D38"/>
              </a:buClr>
              <a:buSzPts val="6660"/>
              <a:buFont typeface="Montserrat"/>
              <a:buNone/>
            </a:pPr>
            <a:r>
              <a:rPr lang="en-US" sz="6660" b="1">
                <a:solidFill>
                  <a:srgbClr val="2A2D38"/>
                </a:solidFill>
                <a:latin typeface="Montserrat"/>
                <a:ea typeface="Montserrat"/>
                <a:cs typeface="Montserrat"/>
                <a:sym typeface="Montserrat"/>
              </a:rPr>
              <a:t>Tripp Lisenby</a:t>
            </a:r>
            <a:endParaRPr sz="6660">
              <a:solidFill>
                <a:schemeClr val="dk1"/>
              </a:solidFill>
              <a:latin typeface="Calibri"/>
              <a:ea typeface="Calibri"/>
              <a:cs typeface="Calibri"/>
              <a:sym typeface="Calibri"/>
            </a:endParaRPr>
          </a:p>
        </p:txBody>
      </p:sp>
      <p:sp>
        <p:nvSpPr>
          <p:cNvPr id="40" name="Google Shape;40;p3"/>
          <p:cNvSpPr/>
          <p:nvPr/>
        </p:nvSpPr>
        <p:spPr>
          <a:xfrm>
            <a:off x="8584075" y="5696603"/>
            <a:ext cx="9025890" cy="409575"/>
          </a:xfrm>
          <a:prstGeom prst="rect">
            <a:avLst/>
          </a:prstGeom>
          <a:noFill/>
          <a:ln>
            <a:noFill/>
          </a:ln>
        </p:spPr>
        <p:txBody>
          <a:bodyPr spcFirstLastPara="1" wrap="square" lIns="25400" tIns="25400" rIns="25400" bIns="25400" anchor="t" anchorCtr="0">
            <a:normAutofit/>
          </a:bodyPr>
          <a:lstStyle/>
          <a:p>
            <a:pPr marL="0" marR="0" lvl="0" indent="0" algn="l" rtl="0">
              <a:lnSpc>
                <a:spcPct val="90000"/>
              </a:lnSpc>
              <a:spcBef>
                <a:spcPts val="0"/>
              </a:spcBef>
              <a:spcAft>
                <a:spcPts val="0"/>
              </a:spcAft>
              <a:buClr>
                <a:srgbClr val="F58220"/>
              </a:buClr>
              <a:buSzPts val="2400"/>
              <a:buFont typeface="Montserrat"/>
              <a:buNone/>
            </a:pPr>
            <a:r>
              <a:rPr lang="en-US" sz="2400" b="1">
                <a:solidFill>
                  <a:srgbClr val="F58220"/>
                </a:solidFill>
                <a:latin typeface="Montserrat"/>
                <a:ea typeface="Montserrat"/>
                <a:cs typeface="Montserrat"/>
                <a:sym typeface="Montserrat"/>
              </a:rPr>
              <a:t>AI Developer – ACS Technologies</a:t>
            </a:r>
            <a:endParaRPr sz="2400">
              <a:solidFill>
                <a:schemeClr val="dk1"/>
              </a:solidFill>
              <a:latin typeface="Calibri"/>
              <a:ea typeface="Calibri"/>
              <a:cs typeface="Calibri"/>
              <a:sym typeface="Calibri"/>
            </a:endParaRPr>
          </a:p>
        </p:txBody>
      </p:sp>
      <p:pic>
        <p:nvPicPr>
          <p:cNvPr id="41" name="Google Shape;41;p3" title="DisneyTLMustacheGB.png"/>
          <p:cNvPicPr preferRelativeResize="0"/>
          <p:nvPr/>
        </p:nvPicPr>
        <p:blipFill>
          <a:blip r:embed="rId3">
            <a:alphaModFix/>
          </a:blip>
          <a:stretch>
            <a:fillRect/>
          </a:stretch>
        </p:blipFill>
        <p:spPr>
          <a:xfrm>
            <a:off x="977900" y="2692400"/>
            <a:ext cx="6832500" cy="6832500"/>
          </a:xfrm>
          <a:prstGeom prst="flowChartAlternateProcess">
            <a:avLst/>
          </a:prstGeom>
          <a:solidFill>
            <a:srgbClr val="1B1D24"/>
          </a:solidFill>
          <a:ln w="76200" cap="flat" cmpd="sng">
            <a:solidFill>
              <a:srgbClr val="000000"/>
            </a:solidFill>
            <a:prstDash val="solid"/>
            <a:round/>
            <a:headEnd type="none" w="sm" len="sm"/>
            <a:tailEnd type="none" w="sm" len="sm"/>
          </a:ln>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46"/>
        <p:cNvGrpSpPr/>
        <p:nvPr/>
      </p:nvGrpSpPr>
      <p:grpSpPr>
        <a:xfrm>
          <a:off x="0" y="0"/>
          <a:ext cx="0" cy="0"/>
          <a:chOff x="0" y="0"/>
          <a:chExt cx="0" cy="0"/>
        </a:xfrm>
      </p:grpSpPr>
      <p:sp>
        <p:nvSpPr>
          <p:cNvPr id="47" name="Google Shape;47;g3dc15369c17_0_120"/>
          <p:cNvSpPr/>
          <p:nvPr/>
        </p:nvSpPr>
        <p:spPr>
          <a:xfrm>
            <a:off x="1143000" y="476250"/>
            <a:ext cx="3914400" cy="236100"/>
          </a:xfrm>
          <a:prstGeom prst="rect">
            <a:avLst/>
          </a:prstGeom>
          <a:noFill/>
          <a:ln>
            <a:noFill/>
          </a:ln>
        </p:spPr>
        <p:txBody>
          <a:bodyPr spcFirstLastPara="1" wrap="square" lIns="25400" tIns="25400" rIns="25400" bIns="25400" anchor="t" anchorCtr="0">
            <a:noAutofit/>
          </a:bodyPr>
          <a:lstStyle/>
          <a:p>
            <a:pPr marL="0" marR="0" lvl="0" indent="0" algn="l" rtl="0">
              <a:spcBef>
                <a:spcPts val="0"/>
              </a:spcBef>
              <a:spcAft>
                <a:spcPts val="0"/>
              </a:spcAft>
              <a:buClr>
                <a:srgbClr val="6B6E78"/>
              </a:buClr>
              <a:buSzPts val="1350"/>
              <a:buFont typeface="Arial"/>
              <a:buNone/>
            </a:pPr>
            <a:r>
              <a:rPr lang="en-US" sz="1350" b="0" i="0" u="none" strike="noStrike" cap="none">
                <a:solidFill>
                  <a:srgbClr val="6B6E78"/>
                </a:solidFill>
                <a:latin typeface="Arial"/>
                <a:ea typeface="Arial"/>
                <a:cs typeface="Arial"/>
                <a:sym typeface="Arial"/>
              </a:rPr>
              <a:t>PRESENTED BY · TRIPP LISENBY</a:t>
            </a:r>
            <a:endParaRPr sz="1350" b="0" i="0" u="none" strike="noStrike" cap="none">
              <a:solidFill>
                <a:schemeClr val="dk1"/>
              </a:solidFill>
              <a:latin typeface="Calibri"/>
              <a:ea typeface="Calibri"/>
              <a:cs typeface="Calibri"/>
              <a:sym typeface="Calibri"/>
            </a:endParaRPr>
          </a:p>
        </p:txBody>
      </p:sp>
      <p:sp>
        <p:nvSpPr>
          <p:cNvPr id="48" name="Google Shape;48;g3dc15369c17_0_120"/>
          <p:cNvSpPr/>
          <p:nvPr/>
        </p:nvSpPr>
        <p:spPr>
          <a:xfrm>
            <a:off x="16365974" y="476250"/>
            <a:ext cx="855300" cy="236100"/>
          </a:xfrm>
          <a:prstGeom prst="rect">
            <a:avLst/>
          </a:prstGeom>
          <a:noFill/>
          <a:ln>
            <a:noFill/>
          </a:ln>
        </p:spPr>
        <p:txBody>
          <a:bodyPr spcFirstLastPara="1" wrap="square" lIns="25400" tIns="25400" rIns="25400" bIns="25400" anchor="t" anchorCtr="0">
            <a:noAutofit/>
          </a:bodyPr>
          <a:lstStyle/>
          <a:p>
            <a:pPr marL="0" marR="0" lvl="0" indent="0" algn="l" rtl="0">
              <a:spcBef>
                <a:spcPts val="0"/>
              </a:spcBef>
              <a:spcAft>
                <a:spcPts val="0"/>
              </a:spcAft>
              <a:buClr>
                <a:srgbClr val="6B6E78"/>
              </a:buClr>
              <a:buSzPts val="1350"/>
              <a:buFont typeface="Arial"/>
              <a:buNone/>
            </a:pPr>
            <a:r>
              <a:rPr lang="en-US" sz="1350" b="0" i="0" u="none" strike="noStrike" cap="none">
                <a:solidFill>
                  <a:srgbClr val="6B6E78"/>
                </a:solidFill>
                <a:latin typeface="Arial"/>
                <a:ea typeface="Arial"/>
                <a:cs typeface="Arial"/>
                <a:sym typeface="Arial"/>
              </a:rPr>
              <a:t>10 MIN</a:t>
            </a:r>
            <a:endParaRPr sz="1350" b="0" i="0" u="none" strike="noStrike" cap="none">
              <a:solidFill>
                <a:schemeClr val="dk1"/>
              </a:solidFill>
              <a:latin typeface="Calibri"/>
              <a:ea typeface="Calibri"/>
              <a:cs typeface="Calibri"/>
              <a:sym typeface="Calibri"/>
            </a:endParaRPr>
          </a:p>
        </p:txBody>
      </p:sp>
      <p:sp>
        <p:nvSpPr>
          <p:cNvPr id="49" name="Google Shape;49;g3dc15369c17_0_120"/>
          <p:cNvSpPr/>
          <p:nvPr/>
        </p:nvSpPr>
        <p:spPr>
          <a:xfrm>
            <a:off x="1143000" y="2093952"/>
            <a:ext cx="16482000" cy="312300"/>
          </a:xfrm>
          <a:prstGeom prst="rect">
            <a:avLst/>
          </a:prstGeom>
          <a:noFill/>
          <a:ln>
            <a:noFill/>
          </a:ln>
        </p:spPr>
        <p:txBody>
          <a:bodyPr spcFirstLastPara="1" wrap="square" lIns="25400" tIns="25400" rIns="25400" bIns="25400" anchor="t" anchorCtr="0">
            <a:noAutofit/>
          </a:bodyPr>
          <a:lstStyle/>
          <a:p>
            <a:pPr marL="0" marR="0" lvl="0" indent="0" algn="l" rtl="0">
              <a:spcBef>
                <a:spcPts val="0"/>
              </a:spcBef>
              <a:spcAft>
                <a:spcPts val="0"/>
              </a:spcAft>
              <a:buClr>
                <a:srgbClr val="F58220"/>
              </a:buClr>
              <a:buSzPts val="1650"/>
              <a:buFont typeface="Arial"/>
              <a:buNone/>
            </a:pPr>
            <a:r>
              <a:rPr lang="en-US" sz="1650" b="0" i="0" u="none" strike="noStrike" cap="none">
                <a:solidFill>
                  <a:srgbClr val="F58220"/>
                </a:solidFill>
                <a:latin typeface="Arial"/>
                <a:ea typeface="Arial"/>
                <a:cs typeface="Arial"/>
                <a:sym typeface="Arial"/>
              </a:rPr>
              <a:t>A PERSONAL JOURNEY</a:t>
            </a:r>
            <a:endParaRPr sz="1650" b="0" i="0" u="none" strike="noStrike" cap="none">
              <a:solidFill>
                <a:schemeClr val="dk1"/>
              </a:solidFill>
              <a:latin typeface="Calibri"/>
              <a:ea typeface="Calibri"/>
              <a:cs typeface="Calibri"/>
              <a:sym typeface="Calibri"/>
            </a:endParaRPr>
          </a:p>
        </p:txBody>
      </p:sp>
      <p:sp>
        <p:nvSpPr>
          <p:cNvPr id="50" name="Google Shape;50;g3dc15369c17_0_120"/>
          <p:cNvSpPr/>
          <p:nvPr/>
        </p:nvSpPr>
        <p:spPr>
          <a:xfrm>
            <a:off x="1143000" y="2749272"/>
            <a:ext cx="16482000" cy="3215700"/>
          </a:xfrm>
          <a:prstGeom prst="rect">
            <a:avLst/>
          </a:prstGeom>
          <a:noFill/>
          <a:ln>
            <a:noFill/>
          </a:ln>
        </p:spPr>
        <p:txBody>
          <a:bodyPr spcFirstLastPara="1" wrap="square" lIns="25400" tIns="25400" rIns="25400" bIns="25400" anchor="t" anchorCtr="0">
            <a:noAutofit/>
          </a:bodyPr>
          <a:lstStyle/>
          <a:p>
            <a:pPr marL="0" marR="0" lvl="0" indent="0" algn="l" rtl="0">
              <a:lnSpc>
                <a:spcPct val="92000"/>
              </a:lnSpc>
              <a:spcBef>
                <a:spcPts val="0"/>
              </a:spcBef>
              <a:spcAft>
                <a:spcPts val="0"/>
              </a:spcAft>
              <a:buClr>
                <a:srgbClr val="14161C"/>
              </a:buClr>
              <a:buSzPts val="13500"/>
              <a:buFont typeface="Arial"/>
              <a:buNone/>
            </a:pPr>
            <a:r>
              <a:rPr lang="en-US" sz="13500" b="1" i="0" u="none" strike="noStrike" cap="none">
                <a:solidFill>
                  <a:srgbClr val="14161C"/>
                </a:solidFill>
                <a:latin typeface="Arial"/>
                <a:ea typeface="Arial"/>
                <a:cs typeface="Arial"/>
                <a:sym typeface="Arial"/>
              </a:rPr>
              <a:t>Vibe Coder </a:t>
            </a:r>
            <a:r>
              <a:rPr lang="en-US" sz="13500" b="1" i="0" u="none" strike="noStrike" cap="none">
                <a:solidFill>
                  <a:srgbClr val="F58220"/>
                </a:solidFill>
                <a:latin typeface="Arial"/>
                <a:ea typeface="Arial"/>
                <a:cs typeface="Arial"/>
                <a:sym typeface="Arial"/>
              </a:rPr>
              <a:t>→ </a:t>
            </a:r>
            <a:r>
              <a:rPr lang="en-US" sz="13500" b="0" i="0" u="none" strike="noStrike" cap="none">
                <a:solidFill>
                  <a:srgbClr val="14161C"/>
                </a:solidFill>
                <a:latin typeface="Arial"/>
                <a:ea typeface="Arial"/>
                <a:cs typeface="Arial"/>
                <a:sym typeface="Arial"/>
              </a:rPr>
              <a:t>Context Engineer</a:t>
            </a:r>
            <a:endParaRPr sz="13500" b="0" i="0" u="none" strike="noStrike" cap="none">
              <a:solidFill>
                <a:schemeClr val="dk1"/>
              </a:solidFill>
              <a:latin typeface="Calibri"/>
              <a:ea typeface="Calibri"/>
              <a:cs typeface="Calibri"/>
              <a:sym typeface="Calibri"/>
            </a:endParaRPr>
          </a:p>
        </p:txBody>
      </p:sp>
      <p:sp>
        <p:nvSpPr>
          <p:cNvPr id="51" name="Google Shape;51;g3dc15369c17_0_120"/>
          <p:cNvSpPr/>
          <p:nvPr/>
        </p:nvSpPr>
        <p:spPr>
          <a:xfrm>
            <a:off x="1143000" y="6460212"/>
            <a:ext cx="12753900" cy="526800"/>
          </a:xfrm>
          <a:prstGeom prst="rect">
            <a:avLst/>
          </a:prstGeom>
          <a:noFill/>
          <a:ln>
            <a:noFill/>
          </a:ln>
        </p:spPr>
        <p:txBody>
          <a:bodyPr spcFirstLastPara="1" wrap="square" lIns="25400" tIns="25400" rIns="25400" bIns="25400" anchor="t" anchorCtr="0">
            <a:noAutofit/>
          </a:bodyPr>
          <a:lstStyle/>
          <a:p>
            <a:pPr marL="0" marR="0" lvl="0" indent="0" algn="l" rtl="0">
              <a:lnSpc>
                <a:spcPct val="135000"/>
              </a:lnSpc>
              <a:spcBef>
                <a:spcPts val="0"/>
              </a:spcBef>
              <a:spcAft>
                <a:spcPts val="0"/>
              </a:spcAft>
              <a:buClr>
                <a:srgbClr val="6B6E78"/>
              </a:buClr>
              <a:buSzPts val="2850"/>
              <a:buFont typeface="Arial"/>
              <a:buNone/>
            </a:pPr>
            <a:r>
              <a:rPr lang="en-US" sz="2850" b="0" i="0" u="none" strike="noStrike" cap="none">
                <a:solidFill>
                  <a:srgbClr val="6B6E78"/>
                </a:solidFill>
                <a:latin typeface="Arial"/>
                <a:ea typeface="Arial"/>
                <a:cs typeface="Arial"/>
                <a:sym typeface="Arial"/>
              </a:rPr>
              <a:t>How I stopped one-shotting and started thinking.</a:t>
            </a:r>
            <a:endParaRPr sz="2850" b="0" i="0" u="none" strike="noStrike" cap="none">
              <a:solidFill>
                <a:schemeClr val="dk1"/>
              </a:solidFill>
              <a:latin typeface="Calibri"/>
              <a:ea typeface="Calibri"/>
              <a:cs typeface="Calibri"/>
              <a:sym typeface="Calibri"/>
            </a:endParaRPr>
          </a:p>
        </p:txBody>
      </p:sp>
      <p:sp>
        <p:nvSpPr>
          <p:cNvPr id="52" name="Google Shape;52;g3dc15369c17_0_120"/>
          <p:cNvSpPr/>
          <p:nvPr/>
        </p:nvSpPr>
        <p:spPr>
          <a:xfrm>
            <a:off x="1143000" y="9231630"/>
            <a:ext cx="16482000" cy="236100"/>
          </a:xfrm>
          <a:prstGeom prst="rect">
            <a:avLst/>
          </a:prstGeom>
          <a:noFill/>
          <a:ln>
            <a:noFill/>
          </a:ln>
        </p:spPr>
        <p:txBody>
          <a:bodyPr spcFirstLastPara="1" wrap="square" lIns="25400" tIns="25400" rIns="25400" bIns="25400" anchor="t" anchorCtr="0">
            <a:noAutofit/>
          </a:bodyPr>
          <a:lstStyle/>
          <a:p>
            <a:pPr marL="0" marR="0" lvl="0" indent="0" algn="l" rtl="0">
              <a:spcBef>
                <a:spcPts val="0"/>
              </a:spcBef>
              <a:spcAft>
                <a:spcPts val="0"/>
              </a:spcAft>
              <a:buClr>
                <a:srgbClr val="6B6E78"/>
              </a:buClr>
              <a:buSzPts val="1350"/>
              <a:buFont typeface="Arial"/>
              <a:buNone/>
            </a:pPr>
            <a:r>
              <a:rPr lang="en-US" sz="1350" b="0" i="0" u="none" strike="noStrike" cap="none">
                <a:solidFill>
                  <a:srgbClr val="6B6E78"/>
                </a:solidFill>
                <a:latin typeface="Arial"/>
                <a:ea typeface="Arial"/>
                <a:cs typeface="Arial"/>
                <a:sym typeface="Arial"/>
              </a:rPr>
              <a:t>// 6 STAGES · 1 SHIFT</a:t>
            </a:r>
            <a:endParaRPr sz="1350" b="0" i="0" u="none" strike="noStrike" cap="none">
              <a:solidFill>
                <a:schemeClr val="dk1"/>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57"/>
        <p:cNvGrpSpPr/>
        <p:nvPr/>
      </p:nvGrpSpPr>
      <p:grpSpPr>
        <a:xfrm>
          <a:off x="0" y="0"/>
          <a:ext cx="0" cy="0"/>
          <a:chOff x="0" y="0"/>
          <a:chExt cx="0" cy="0"/>
        </a:xfrm>
      </p:grpSpPr>
      <p:sp>
        <p:nvSpPr>
          <p:cNvPr id="58" name="Google Shape;58;g3dc15369c17_0_130"/>
          <p:cNvSpPr/>
          <p:nvPr/>
        </p:nvSpPr>
        <p:spPr>
          <a:xfrm>
            <a:off x="1143000" y="476250"/>
            <a:ext cx="2080800" cy="236100"/>
          </a:xfrm>
          <a:prstGeom prst="rect">
            <a:avLst/>
          </a:prstGeom>
          <a:noFill/>
          <a:ln>
            <a:noFill/>
          </a:ln>
        </p:spPr>
        <p:txBody>
          <a:bodyPr spcFirstLastPara="1" wrap="square" lIns="25400" tIns="25400" rIns="25400" bIns="25400" anchor="t" anchorCtr="0">
            <a:noAutofit/>
          </a:bodyPr>
          <a:lstStyle/>
          <a:p>
            <a:pPr marL="0" marR="0" lvl="0" indent="0" algn="l" rtl="0">
              <a:spcBef>
                <a:spcPts val="0"/>
              </a:spcBef>
              <a:spcAft>
                <a:spcPts val="0"/>
              </a:spcAft>
              <a:buClr>
                <a:srgbClr val="6B6E78"/>
              </a:buClr>
              <a:buSzPts val="1350"/>
              <a:buFont typeface="Arial"/>
              <a:buNone/>
            </a:pPr>
            <a:r>
              <a:rPr lang="en-US" sz="1350" b="0" i="0" u="none" strike="noStrike" cap="none">
                <a:solidFill>
                  <a:srgbClr val="6B6E78"/>
                </a:solidFill>
                <a:latin typeface="Arial"/>
                <a:ea typeface="Arial"/>
                <a:cs typeface="Arial"/>
                <a:sym typeface="Arial"/>
              </a:rPr>
              <a:t>VIBE → CONTEXT</a:t>
            </a:r>
            <a:endParaRPr sz="1350" b="0" i="0" u="none" strike="noStrike" cap="none">
              <a:solidFill>
                <a:schemeClr val="dk1"/>
              </a:solidFill>
              <a:latin typeface="Calibri"/>
              <a:ea typeface="Calibri"/>
              <a:cs typeface="Calibri"/>
              <a:sym typeface="Calibri"/>
            </a:endParaRPr>
          </a:p>
        </p:txBody>
      </p:sp>
      <p:sp>
        <p:nvSpPr>
          <p:cNvPr id="59" name="Google Shape;59;g3dc15369c17_0_130"/>
          <p:cNvSpPr/>
          <p:nvPr/>
        </p:nvSpPr>
        <p:spPr>
          <a:xfrm>
            <a:off x="16356568" y="476250"/>
            <a:ext cx="864600" cy="236100"/>
          </a:xfrm>
          <a:prstGeom prst="rect">
            <a:avLst/>
          </a:prstGeom>
          <a:noFill/>
          <a:ln>
            <a:noFill/>
          </a:ln>
        </p:spPr>
        <p:txBody>
          <a:bodyPr spcFirstLastPara="1" wrap="square" lIns="25400" tIns="25400" rIns="25400" bIns="25400" anchor="t" anchorCtr="0">
            <a:noAutofit/>
          </a:bodyPr>
          <a:lstStyle/>
          <a:p>
            <a:pPr marL="0" marR="0" lvl="0" indent="0" algn="l" rtl="0">
              <a:spcBef>
                <a:spcPts val="0"/>
              </a:spcBef>
              <a:spcAft>
                <a:spcPts val="0"/>
              </a:spcAft>
              <a:buClr>
                <a:srgbClr val="6B6E78"/>
              </a:buClr>
              <a:buSzPts val="1350"/>
              <a:buFont typeface="Arial"/>
              <a:buNone/>
            </a:pPr>
            <a:r>
              <a:rPr lang="en-US" sz="1350" b="0" i="0" u="none" strike="noStrike" cap="none">
                <a:solidFill>
                  <a:srgbClr val="6B6E78"/>
                </a:solidFill>
                <a:latin typeface="Arial"/>
                <a:ea typeface="Arial"/>
                <a:cs typeface="Arial"/>
                <a:sym typeface="Arial"/>
              </a:rPr>
              <a:t>01 / 06</a:t>
            </a:r>
            <a:endParaRPr sz="1350" b="0" i="0" u="none" strike="noStrike" cap="none">
              <a:solidFill>
                <a:schemeClr val="dk1"/>
              </a:solidFill>
              <a:latin typeface="Calibri"/>
              <a:ea typeface="Calibri"/>
              <a:cs typeface="Calibri"/>
              <a:sym typeface="Calibri"/>
            </a:endParaRPr>
          </a:p>
        </p:txBody>
      </p:sp>
      <p:sp>
        <p:nvSpPr>
          <p:cNvPr id="60" name="Google Shape;60;g3dc15369c17_0_130"/>
          <p:cNvSpPr/>
          <p:nvPr/>
        </p:nvSpPr>
        <p:spPr>
          <a:xfrm>
            <a:off x="12477750" y="381000"/>
            <a:ext cx="5602800" cy="4248300"/>
          </a:xfrm>
          <a:prstGeom prst="rect">
            <a:avLst/>
          </a:prstGeom>
          <a:noFill/>
          <a:ln>
            <a:noFill/>
          </a:ln>
        </p:spPr>
        <p:txBody>
          <a:bodyPr spcFirstLastPara="1" wrap="square" lIns="25400" tIns="25400" rIns="25400" bIns="25400" anchor="t" anchorCtr="0">
            <a:noAutofit/>
          </a:bodyPr>
          <a:lstStyle/>
          <a:p>
            <a:pPr marL="0" marR="0" lvl="0" indent="0" algn="l" rtl="0">
              <a:lnSpc>
                <a:spcPct val="85000"/>
              </a:lnSpc>
              <a:spcBef>
                <a:spcPts val="0"/>
              </a:spcBef>
              <a:spcAft>
                <a:spcPts val="0"/>
              </a:spcAft>
              <a:buClr>
                <a:srgbClr val="F7F5F1"/>
              </a:buClr>
              <a:buSzPts val="39000"/>
              <a:buFont typeface="Arial"/>
              <a:buNone/>
            </a:pPr>
            <a:r>
              <a:rPr lang="en-US" sz="39000" b="1" i="0" u="none" strike="noStrike" cap="none">
                <a:solidFill>
                  <a:srgbClr val="F7F5F1"/>
                </a:solidFill>
                <a:latin typeface="Arial"/>
                <a:ea typeface="Arial"/>
                <a:cs typeface="Arial"/>
                <a:sym typeface="Arial"/>
              </a:rPr>
              <a:t>01</a:t>
            </a:r>
            <a:endParaRPr sz="39000" b="0" i="0" u="none" strike="noStrike" cap="none">
              <a:solidFill>
                <a:schemeClr val="dk1"/>
              </a:solidFill>
              <a:latin typeface="Calibri"/>
              <a:ea typeface="Calibri"/>
              <a:cs typeface="Calibri"/>
              <a:sym typeface="Calibri"/>
            </a:endParaRPr>
          </a:p>
        </p:txBody>
      </p:sp>
      <p:sp>
        <p:nvSpPr>
          <p:cNvPr id="61" name="Google Shape;61;g3dc15369c17_0_130"/>
          <p:cNvSpPr/>
          <p:nvPr/>
        </p:nvSpPr>
        <p:spPr>
          <a:xfrm>
            <a:off x="1143000" y="2904172"/>
            <a:ext cx="12753900" cy="312300"/>
          </a:xfrm>
          <a:prstGeom prst="rect">
            <a:avLst/>
          </a:prstGeom>
          <a:noFill/>
          <a:ln>
            <a:noFill/>
          </a:ln>
        </p:spPr>
        <p:txBody>
          <a:bodyPr spcFirstLastPara="1" wrap="square" lIns="25400" tIns="25400" rIns="25400" bIns="25400" anchor="t" anchorCtr="0">
            <a:noAutofit/>
          </a:bodyPr>
          <a:lstStyle/>
          <a:p>
            <a:pPr marL="0" marR="0" lvl="0" indent="0" algn="l" rtl="0">
              <a:spcBef>
                <a:spcPts val="0"/>
              </a:spcBef>
              <a:spcAft>
                <a:spcPts val="0"/>
              </a:spcAft>
              <a:buClr>
                <a:srgbClr val="F58220"/>
              </a:buClr>
              <a:buSzPts val="1650"/>
              <a:buFont typeface="Arial"/>
              <a:buNone/>
            </a:pPr>
            <a:r>
              <a:rPr lang="en-US" sz="1650" b="0" i="0" u="none" strike="noStrike" cap="none">
                <a:solidFill>
                  <a:srgbClr val="F58220"/>
                </a:solidFill>
                <a:latin typeface="Arial"/>
                <a:ea typeface="Arial"/>
                <a:cs typeface="Arial"/>
                <a:sym typeface="Arial"/>
              </a:rPr>
              <a:t>STAGE 01</a:t>
            </a:r>
            <a:endParaRPr sz="1650" b="0" i="0" u="none" strike="noStrike" cap="none">
              <a:solidFill>
                <a:schemeClr val="dk1"/>
              </a:solidFill>
              <a:latin typeface="Calibri"/>
              <a:ea typeface="Calibri"/>
              <a:cs typeface="Calibri"/>
              <a:sym typeface="Calibri"/>
            </a:endParaRPr>
          </a:p>
        </p:txBody>
      </p:sp>
      <p:sp>
        <p:nvSpPr>
          <p:cNvPr id="62" name="Google Shape;62;g3dc15369c17_0_130"/>
          <p:cNvSpPr/>
          <p:nvPr/>
        </p:nvSpPr>
        <p:spPr>
          <a:xfrm>
            <a:off x="1143000" y="3483293"/>
            <a:ext cx="12753900" cy="1558200"/>
          </a:xfrm>
          <a:prstGeom prst="rect">
            <a:avLst/>
          </a:prstGeom>
          <a:noFill/>
          <a:ln>
            <a:noFill/>
          </a:ln>
        </p:spPr>
        <p:txBody>
          <a:bodyPr spcFirstLastPara="1" wrap="square" lIns="25400" tIns="25400" rIns="25400" bIns="25400" anchor="t" anchorCtr="0">
            <a:noAutofit/>
          </a:bodyPr>
          <a:lstStyle/>
          <a:p>
            <a:pPr marL="0" marR="0" lvl="0" indent="0" algn="l" rtl="0">
              <a:lnSpc>
                <a:spcPct val="95000"/>
              </a:lnSpc>
              <a:spcBef>
                <a:spcPts val="0"/>
              </a:spcBef>
              <a:spcAft>
                <a:spcPts val="0"/>
              </a:spcAft>
              <a:buClr>
                <a:srgbClr val="14161C"/>
              </a:buClr>
              <a:buSzPts val="12600"/>
              <a:buFont typeface="Arial"/>
              <a:buNone/>
            </a:pPr>
            <a:r>
              <a:rPr lang="en-US" sz="12600" b="1" i="0" u="none" strike="noStrike" cap="none">
                <a:solidFill>
                  <a:srgbClr val="14161C"/>
                </a:solidFill>
                <a:latin typeface="Arial"/>
                <a:ea typeface="Arial"/>
                <a:cs typeface="Arial"/>
                <a:sym typeface="Arial"/>
              </a:rPr>
              <a:t>The Spark.</a:t>
            </a:r>
            <a:endParaRPr sz="12600" b="0" i="0" u="none" strike="noStrike" cap="none">
              <a:solidFill>
                <a:schemeClr val="dk1"/>
              </a:solidFill>
              <a:latin typeface="Calibri"/>
              <a:ea typeface="Calibri"/>
              <a:cs typeface="Calibri"/>
              <a:sym typeface="Calibri"/>
            </a:endParaRPr>
          </a:p>
        </p:txBody>
      </p:sp>
      <p:sp>
        <p:nvSpPr>
          <p:cNvPr id="63" name="Google Shape;63;g3dc15369c17_0_130"/>
          <p:cNvSpPr/>
          <p:nvPr/>
        </p:nvSpPr>
        <p:spPr>
          <a:xfrm>
            <a:off x="1143000" y="5460682"/>
            <a:ext cx="11772900" cy="1118100"/>
          </a:xfrm>
          <a:prstGeom prst="rect">
            <a:avLst/>
          </a:prstGeom>
          <a:noFill/>
          <a:ln>
            <a:noFill/>
          </a:ln>
        </p:spPr>
        <p:txBody>
          <a:bodyPr spcFirstLastPara="1" wrap="square" lIns="25400" tIns="25400" rIns="25400" bIns="25400" anchor="t" anchorCtr="0">
            <a:noAutofit/>
          </a:bodyPr>
          <a:lstStyle/>
          <a:p>
            <a:pPr marL="0" marR="0" lvl="0" indent="0" algn="l" rtl="0">
              <a:lnSpc>
                <a:spcPct val="135000"/>
              </a:lnSpc>
              <a:spcBef>
                <a:spcPts val="0"/>
              </a:spcBef>
              <a:spcAft>
                <a:spcPts val="0"/>
              </a:spcAft>
              <a:buClr>
                <a:srgbClr val="6B6E78"/>
              </a:buClr>
              <a:buSzPts val="3150"/>
              <a:buFont typeface="Arial"/>
              <a:buNone/>
            </a:pPr>
            <a:r>
              <a:rPr lang="en-US" sz="3150" b="0" i="0" u="none" strike="noStrike" cap="none">
                <a:solidFill>
                  <a:srgbClr val="6B6E78"/>
                </a:solidFill>
                <a:latin typeface="Arial"/>
                <a:ea typeface="Arial"/>
                <a:cs typeface="Arial"/>
                <a:sym typeface="Arial"/>
              </a:rPr>
              <a:t>ChatGPT had just dropped. I started one-shotting prompts to get through my classes.</a:t>
            </a:r>
            <a:endParaRPr sz="3150" b="0" i="0" u="none" strike="noStrike" cap="none">
              <a:solidFill>
                <a:schemeClr val="dk1"/>
              </a:solidFill>
              <a:latin typeface="Calibri"/>
              <a:ea typeface="Calibri"/>
              <a:cs typeface="Calibri"/>
              <a:sym typeface="Calibri"/>
            </a:endParaRPr>
          </a:p>
        </p:txBody>
      </p:sp>
      <p:sp>
        <p:nvSpPr>
          <p:cNvPr id="64" name="Google Shape;64;g3dc15369c17_0_130"/>
          <p:cNvSpPr/>
          <p:nvPr/>
        </p:nvSpPr>
        <p:spPr>
          <a:xfrm>
            <a:off x="1143000" y="7074218"/>
            <a:ext cx="3917400" cy="403800"/>
          </a:xfrm>
          <a:prstGeom prst="rect">
            <a:avLst/>
          </a:prstGeom>
          <a:noFill/>
          <a:ln w="9525" cap="flat" cmpd="sng">
            <a:solidFill>
              <a:srgbClr val="F5822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 name="Google Shape;65;g3dc15369c17_0_130"/>
          <p:cNvSpPr/>
          <p:nvPr/>
        </p:nvSpPr>
        <p:spPr>
          <a:xfrm>
            <a:off x="1322070" y="7177088"/>
            <a:ext cx="3676800" cy="236100"/>
          </a:xfrm>
          <a:prstGeom prst="rect">
            <a:avLst/>
          </a:prstGeom>
          <a:noFill/>
          <a:ln>
            <a:noFill/>
          </a:ln>
        </p:spPr>
        <p:txBody>
          <a:bodyPr spcFirstLastPara="1" wrap="square" lIns="25400" tIns="25400" rIns="25400" bIns="25400" anchor="ctr" anchorCtr="0">
            <a:noAutofit/>
          </a:bodyPr>
          <a:lstStyle/>
          <a:p>
            <a:pPr marL="0" marR="0" lvl="0" indent="0" algn="l" rtl="0">
              <a:spcBef>
                <a:spcPts val="0"/>
              </a:spcBef>
              <a:spcAft>
                <a:spcPts val="0"/>
              </a:spcAft>
              <a:buClr>
                <a:srgbClr val="F58220"/>
              </a:buClr>
              <a:buSzPts val="1350"/>
              <a:buFont typeface="Arial"/>
              <a:buNone/>
            </a:pPr>
            <a:r>
              <a:rPr lang="en-US" sz="1350" b="0" i="0" u="none" strike="noStrike" cap="none">
                <a:solidFill>
                  <a:srgbClr val="F58220"/>
                </a:solidFill>
                <a:latin typeface="Arial"/>
                <a:ea typeface="Arial"/>
                <a:cs typeface="Arial"/>
                <a:sym typeface="Arial"/>
              </a:rPr>
              <a:t>NO STAKES · PURE CURIOSITY</a:t>
            </a:r>
            <a:endParaRPr sz="1350" b="0" i="0" u="none" strike="noStrike" cap="none">
              <a:solidFill>
                <a:schemeClr val="dk1"/>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70"/>
        <p:cNvGrpSpPr/>
        <p:nvPr/>
      </p:nvGrpSpPr>
      <p:grpSpPr>
        <a:xfrm>
          <a:off x="0" y="0"/>
          <a:ext cx="0" cy="0"/>
          <a:chOff x="0" y="0"/>
          <a:chExt cx="0" cy="0"/>
        </a:xfrm>
      </p:grpSpPr>
      <p:sp>
        <p:nvSpPr>
          <p:cNvPr id="71" name="Google Shape;71;g3dc15369c17_0_142"/>
          <p:cNvSpPr/>
          <p:nvPr/>
        </p:nvSpPr>
        <p:spPr>
          <a:xfrm>
            <a:off x="1143000" y="476250"/>
            <a:ext cx="2080800" cy="236100"/>
          </a:xfrm>
          <a:prstGeom prst="rect">
            <a:avLst/>
          </a:prstGeom>
          <a:noFill/>
          <a:ln>
            <a:noFill/>
          </a:ln>
        </p:spPr>
        <p:txBody>
          <a:bodyPr spcFirstLastPara="1" wrap="square" lIns="25400" tIns="25400" rIns="25400" bIns="25400" anchor="t" anchorCtr="0">
            <a:noAutofit/>
          </a:bodyPr>
          <a:lstStyle/>
          <a:p>
            <a:pPr marL="0" marR="0" lvl="0" indent="0" algn="l" rtl="0">
              <a:spcBef>
                <a:spcPts val="0"/>
              </a:spcBef>
              <a:spcAft>
                <a:spcPts val="0"/>
              </a:spcAft>
              <a:buClr>
                <a:srgbClr val="6B6E78"/>
              </a:buClr>
              <a:buSzPts val="1350"/>
              <a:buFont typeface="Arial"/>
              <a:buNone/>
            </a:pPr>
            <a:r>
              <a:rPr lang="en-US" sz="1350" b="0" i="0" u="none" strike="noStrike" cap="none">
                <a:solidFill>
                  <a:srgbClr val="6B6E78"/>
                </a:solidFill>
                <a:latin typeface="Arial"/>
                <a:ea typeface="Arial"/>
                <a:cs typeface="Arial"/>
                <a:sym typeface="Arial"/>
              </a:rPr>
              <a:t>VIBE → CONTEXT</a:t>
            </a:r>
            <a:endParaRPr sz="1350" b="0" i="0" u="none" strike="noStrike" cap="none">
              <a:solidFill>
                <a:schemeClr val="dk1"/>
              </a:solidFill>
              <a:latin typeface="Calibri"/>
              <a:ea typeface="Calibri"/>
              <a:cs typeface="Calibri"/>
              <a:sym typeface="Calibri"/>
            </a:endParaRPr>
          </a:p>
        </p:txBody>
      </p:sp>
      <p:sp>
        <p:nvSpPr>
          <p:cNvPr id="72" name="Google Shape;72;g3dc15369c17_0_142"/>
          <p:cNvSpPr/>
          <p:nvPr/>
        </p:nvSpPr>
        <p:spPr>
          <a:xfrm>
            <a:off x="16356568" y="476250"/>
            <a:ext cx="864600" cy="236100"/>
          </a:xfrm>
          <a:prstGeom prst="rect">
            <a:avLst/>
          </a:prstGeom>
          <a:noFill/>
          <a:ln>
            <a:noFill/>
          </a:ln>
        </p:spPr>
        <p:txBody>
          <a:bodyPr spcFirstLastPara="1" wrap="square" lIns="25400" tIns="25400" rIns="25400" bIns="25400" anchor="t" anchorCtr="0">
            <a:noAutofit/>
          </a:bodyPr>
          <a:lstStyle/>
          <a:p>
            <a:pPr marL="0" marR="0" lvl="0" indent="0" algn="l" rtl="0">
              <a:spcBef>
                <a:spcPts val="0"/>
              </a:spcBef>
              <a:spcAft>
                <a:spcPts val="0"/>
              </a:spcAft>
              <a:buClr>
                <a:srgbClr val="6B6E78"/>
              </a:buClr>
              <a:buSzPts val="1350"/>
              <a:buFont typeface="Arial"/>
              <a:buNone/>
            </a:pPr>
            <a:r>
              <a:rPr lang="en-US" sz="1350" b="0" i="0" u="none" strike="noStrike" cap="none">
                <a:solidFill>
                  <a:srgbClr val="6B6E78"/>
                </a:solidFill>
                <a:latin typeface="Arial"/>
                <a:ea typeface="Arial"/>
                <a:cs typeface="Arial"/>
                <a:sym typeface="Arial"/>
              </a:rPr>
              <a:t>02 / 06</a:t>
            </a:r>
            <a:endParaRPr sz="1350" b="0" i="0" u="none" strike="noStrike" cap="none">
              <a:solidFill>
                <a:schemeClr val="dk1"/>
              </a:solidFill>
              <a:latin typeface="Calibri"/>
              <a:ea typeface="Calibri"/>
              <a:cs typeface="Calibri"/>
              <a:sym typeface="Calibri"/>
            </a:endParaRPr>
          </a:p>
        </p:txBody>
      </p:sp>
      <p:sp>
        <p:nvSpPr>
          <p:cNvPr id="73" name="Google Shape;73;g3dc15369c17_0_142"/>
          <p:cNvSpPr/>
          <p:nvPr/>
        </p:nvSpPr>
        <p:spPr>
          <a:xfrm>
            <a:off x="11536681" y="381000"/>
            <a:ext cx="6070800" cy="4248300"/>
          </a:xfrm>
          <a:prstGeom prst="rect">
            <a:avLst/>
          </a:prstGeom>
          <a:noFill/>
          <a:ln>
            <a:noFill/>
          </a:ln>
        </p:spPr>
        <p:txBody>
          <a:bodyPr spcFirstLastPara="1" wrap="square" lIns="25400" tIns="25400" rIns="25400" bIns="25400" anchor="t" anchorCtr="0">
            <a:noAutofit/>
          </a:bodyPr>
          <a:lstStyle/>
          <a:p>
            <a:pPr marL="0" marR="0" lvl="0" indent="0" algn="l" rtl="0">
              <a:lnSpc>
                <a:spcPct val="85000"/>
              </a:lnSpc>
              <a:spcBef>
                <a:spcPts val="0"/>
              </a:spcBef>
              <a:spcAft>
                <a:spcPts val="0"/>
              </a:spcAft>
              <a:buClr>
                <a:srgbClr val="F7F5F1"/>
              </a:buClr>
              <a:buSzPts val="39000"/>
              <a:buFont typeface="Arial"/>
              <a:buNone/>
            </a:pPr>
            <a:r>
              <a:rPr lang="en-US" sz="39000" b="1" i="0" u="none" strike="noStrike" cap="none">
                <a:solidFill>
                  <a:srgbClr val="F7F5F1"/>
                </a:solidFill>
                <a:latin typeface="Arial"/>
                <a:ea typeface="Arial"/>
                <a:cs typeface="Arial"/>
                <a:sym typeface="Arial"/>
              </a:rPr>
              <a:t>02</a:t>
            </a:r>
            <a:endParaRPr sz="39000" b="0" i="0" u="none" strike="noStrike" cap="none">
              <a:solidFill>
                <a:schemeClr val="dk1"/>
              </a:solidFill>
              <a:latin typeface="Calibri"/>
              <a:ea typeface="Calibri"/>
              <a:cs typeface="Calibri"/>
              <a:sym typeface="Calibri"/>
            </a:endParaRPr>
          </a:p>
        </p:txBody>
      </p:sp>
      <p:sp>
        <p:nvSpPr>
          <p:cNvPr id="74" name="Google Shape;74;g3dc15369c17_0_142"/>
          <p:cNvSpPr/>
          <p:nvPr/>
        </p:nvSpPr>
        <p:spPr>
          <a:xfrm>
            <a:off x="1143000" y="2904172"/>
            <a:ext cx="12753900" cy="312300"/>
          </a:xfrm>
          <a:prstGeom prst="rect">
            <a:avLst/>
          </a:prstGeom>
          <a:noFill/>
          <a:ln>
            <a:noFill/>
          </a:ln>
        </p:spPr>
        <p:txBody>
          <a:bodyPr spcFirstLastPara="1" wrap="square" lIns="25400" tIns="25400" rIns="25400" bIns="25400" anchor="t" anchorCtr="0">
            <a:noAutofit/>
          </a:bodyPr>
          <a:lstStyle/>
          <a:p>
            <a:pPr marL="0" marR="0" lvl="0" indent="0" algn="l" rtl="0">
              <a:spcBef>
                <a:spcPts val="0"/>
              </a:spcBef>
              <a:spcAft>
                <a:spcPts val="0"/>
              </a:spcAft>
              <a:buClr>
                <a:srgbClr val="F58220"/>
              </a:buClr>
              <a:buSzPts val="1650"/>
              <a:buFont typeface="Arial"/>
              <a:buNone/>
            </a:pPr>
            <a:r>
              <a:rPr lang="en-US" sz="1650" b="0" i="0" u="none" strike="noStrike" cap="none">
                <a:solidFill>
                  <a:srgbClr val="F58220"/>
                </a:solidFill>
                <a:latin typeface="Arial"/>
                <a:ea typeface="Arial"/>
                <a:cs typeface="Arial"/>
                <a:sym typeface="Arial"/>
              </a:rPr>
              <a:t>STAGE 02</a:t>
            </a:r>
            <a:endParaRPr sz="1650" b="0" i="0" u="none" strike="noStrike" cap="none">
              <a:solidFill>
                <a:schemeClr val="dk1"/>
              </a:solidFill>
              <a:latin typeface="Calibri"/>
              <a:ea typeface="Calibri"/>
              <a:cs typeface="Calibri"/>
              <a:sym typeface="Calibri"/>
            </a:endParaRPr>
          </a:p>
        </p:txBody>
      </p:sp>
      <p:sp>
        <p:nvSpPr>
          <p:cNvPr id="75" name="Google Shape;75;g3dc15369c17_0_142"/>
          <p:cNvSpPr/>
          <p:nvPr/>
        </p:nvSpPr>
        <p:spPr>
          <a:xfrm>
            <a:off x="1143000" y="3483293"/>
            <a:ext cx="12753900" cy="1558200"/>
          </a:xfrm>
          <a:prstGeom prst="rect">
            <a:avLst/>
          </a:prstGeom>
          <a:noFill/>
          <a:ln>
            <a:noFill/>
          </a:ln>
        </p:spPr>
        <p:txBody>
          <a:bodyPr spcFirstLastPara="1" wrap="square" lIns="25400" tIns="25400" rIns="25400" bIns="25400" anchor="t" anchorCtr="0">
            <a:noAutofit/>
          </a:bodyPr>
          <a:lstStyle/>
          <a:p>
            <a:pPr marL="0" marR="0" lvl="0" indent="0" algn="l" rtl="0">
              <a:lnSpc>
                <a:spcPct val="95000"/>
              </a:lnSpc>
              <a:spcBef>
                <a:spcPts val="0"/>
              </a:spcBef>
              <a:spcAft>
                <a:spcPts val="0"/>
              </a:spcAft>
              <a:buClr>
                <a:srgbClr val="14161C"/>
              </a:buClr>
              <a:buSzPts val="12600"/>
              <a:buFont typeface="Arial"/>
              <a:buNone/>
            </a:pPr>
            <a:r>
              <a:rPr lang="en-US" sz="12600" b="1" i="0" u="none" strike="noStrike" cap="none">
                <a:solidFill>
                  <a:srgbClr val="14161C"/>
                </a:solidFill>
                <a:latin typeface="Arial"/>
                <a:ea typeface="Arial"/>
                <a:cs typeface="Arial"/>
                <a:sym typeface="Arial"/>
              </a:rPr>
              <a:t>The Hook.</a:t>
            </a:r>
            <a:endParaRPr sz="12600" b="0" i="0" u="none" strike="noStrike" cap="none">
              <a:solidFill>
                <a:schemeClr val="dk1"/>
              </a:solidFill>
              <a:latin typeface="Calibri"/>
              <a:ea typeface="Calibri"/>
              <a:cs typeface="Calibri"/>
              <a:sym typeface="Calibri"/>
            </a:endParaRPr>
          </a:p>
        </p:txBody>
      </p:sp>
      <p:sp>
        <p:nvSpPr>
          <p:cNvPr id="76" name="Google Shape;76;g3dc15369c17_0_142"/>
          <p:cNvSpPr/>
          <p:nvPr/>
        </p:nvSpPr>
        <p:spPr>
          <a:xfrm>
            <a:off x="1143000" y="5460682"/>
            <a:ext cx="12753900" cy="1118100"/>
          </a:xfrm>
          <a:prstGeom prst="rect">
            <a:avLst/>
          </a:prstGeom>
          <a:noFill/>
          <a:ln>
            <a:noFill/>
          </a:ln>
        </p:spPr>
        <p:txBody>
          <a:bodyPr spcFirstLastPara="1" wrap="square" lIns="25400" tIns="25400" rIns="25400" bIns="25400" anchor="t" anchorCtr="0">
            <a:noAutofit/>
          </a:bodyPr>
          <a:lstStyle/>
          <a:p>
            <a:pPr marL="0" marR="0" lvl="0" indent="0" algn="l" rtl="0">
              <a:lnSpc>
                <a:spcPct val="135000"/>
              </a:lnSpc>
              <a:spcBef>
                <a:spcPts val="0"/>
              </a:spcBef>
              <a:spcAft>
                <a:spcPts val="0"/>
              </a:spcAft>
              <a:buClr>
                <a:srgbClr val="6B6E78"/>
              </a:buClr>
              <a:buSzPts val="3150"/>
              <a:buFont typeface="Arial"/>
              <a:buNone/>
            </a:pPr>
            <a:r>
              <a:rPr lang="en-US" sz="3150" b="0" i="0" u="none" strike="noStrike" cap="none">
                <a:solidFill>
                  <a:srgbClr val="6B6E78"/>
                </a:solidFill>
                <a:latin typeface="Arial"/>
                <a:ea typeface="Arial"/>
                <a:cs typeface="Arial"/>
                <a:sym typeface="Arial"/>
              </a:rPr>
              <a:t>Then I found </a:t>
            </a:r>
            <a:r>
              <a:rPr lang="en-US" sz="3150" b="0" i="0" u="none" strike="noStrike" cap="none">
                <a:solidFill>
                  <a:srgbClr val="14161C"/>
                </a:solidFill>
                <a:latin typeface="Arial"/>
                <a:ea typeface="Arial"/>
                <a:cs typeface="Arial"/>
                <a:sym typeface="Arial"/>
              </a:rPr>
              <a:t>Bolt</a:t>
            </a:r>
            <a:r>
              <a:rPr lang="en-US" sz="3150" b="0" i="0" u="none" strike="noStrike" cap="none">
                <a:solidFill>
                  <a:srgbClr val="6B6E78"/>
                </a:solidFill>
                <a:latin typeface="Arial"/>
                <a:ea typeface="Arial"/>
                <a:cs typeface="Arial"/>
                <a:sym typeface="Arial"/>
              </a:rPr>
              <a:t>. Then </a:t>
            </a:r>
            <a:r>
              <a:rPr lang="en-US" sz="3150" b="0" i="0" u="none" strike="noStrike" cap="none">
                <a:solidFill>
                  <a:srgbClr val="14161C"/>
                </a:solidFill>
                <a:latin typeface="Arial"/>
                <a:ea typeface="Arial"/>
                <a:cs typeface="Arial"/>
                <a:sym typeface="Arial"/>
              </a:rPr>
              <a:t>Replit </a:t>
            </a:r>
            <a:r>
              <a:rPr lang="en-US" sz="3150" b="0" i="0" u="none" strike="noStrike" cap="none">
                <a:solidFill>
                  <a:srgbClr val="6B6E78"/>
                </a:solidFill>
                <a:latin typeface="Arial"/>
                <a:ea typeface="Arial"/>
                <a:cs typeface="Arial"/>
                <a:sym typeface="Arial"/>
              </a:rPr>
              <a:t>. A short prompt, and out came a whole app.</a:t>
            </a:r>
            <a:endParaRPr sz="3150" b="0" i="0" u="none" strike="noStrike" cap="none">
              <a:solidFill>
                <a:schemeClr val="dk1"/>
              </a:solidFill>
              <a:latin typeface="Calibri"/>
              <a:ea typeface="Calibri"/>
              <a:cs typeface="Calibri"/>
              <a:sym typeface="Calibri"/>
            </a:endParaRPr>
          </a:p>
        </p:txBody>
      </p:sp>
      <p:sp>
        <p:nvSpPr>
          <p:cNvPr id="77" name="Google Shape;77;g3dc15369c17_0_142"/>
          <p:cNvSpPr/>
          <p:nvPr/>
        </p:nvSpPr>
        <p:spPr>
          <a:xfrm>
            <a:off x="1143000" y="7074218"/>
            <a:ext cx="3439800" cy="403800"/>
          </a:xfrm>
          <a:prstGeom prst="rect">
            <a:avLst/>
          </a:prstGeom>
          <a:noFill/>
          <a:ln w="9525" cap="flat" cmpd="sng">
            <a:solidFill>
              <a:srgbClr val="F5822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 name="Google Shape;78;g3dc15369c17_0_142"/>
          <p:cNvSpPr/>
          <p:nvPr/>
        </p:nvSpPr>
        <p:spPr>
          <a:xfrm>
            <a:off x="1322070" y="7177088"/>
            <a:ext cx="3184800" cy="236100"/>
          </a:xfrm>
          <a:prstGeom prst="rect">
            <a:avLst/>
          </a:prstGeom>
          <a:noFill/>
          <a:ln>
            <a:noFill/>
          </a:ln>
        </p:spPr>
        <p:txBody>
          <a:bodyPr spcFirstLastPara="1" wrap="square" lIns="25400" tIns="25400" rIns="25400" bIns="25400" anchor="ctr" anchorCtr="0">
            <a:noAutofit/>
          </a:bodyPr>
          <a:lstStyle/>
          <a:p>
            <a:pPr marL="0" marR="0" lvl="0" indent="0" algn="l" rtl="0">
              <a:spcBef>
                <a:spcPts val="0"/>
              </a:spcBef>
              <a:spcAft>
                <a:spcPts val="0"/>
              </a:spcAft>
              <a:buClr>
                <a:srgbClr val="F58220"/>
              </a:buClr>
              <a:buSzPts val="1350"/>
              <a:buFont typeface="Arial"/>
              <a:buNone/>
            </a:pPr>
            <a:r>
              <a:rPr lang="en-US" sz="1350" b="0" i="0" u="none" strike="noStrike" cap="none">
                <a:solidFill>
                  <a:srgbClr val="F58220"/>
                </a:solidFill>
                <a:latin typeface="Arial"/>
                <a:ea typeface="Arial"/>
                <a:cs typeface="Arial"/>
                <a:sym typeface="Arial"/>
              </a:rPr>
              <a:t>FELT LIKE A SUPERPOWER</a:t>
            </a:r>
            <a:endParaRPr sz="1350" b="0" i="0" u="none" strike="noStrike" cap="none">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83"/>
        <p:cNvGrpSpPr/>
        <p:nvPr/>
      </p:nvGrpSpPr>
      <p:grpSpPr>
        <a:xfrm>
          <a:off x="0" y="0"/>
          <a:ext cx="0" cy="0"/>
          <a:chOff x="0" y="0"/>
          <a:chExt cx="0" cy="0"/>
        </a:xfrm>
      </p:grpSpPr>
      <p:sp>
        <p:nvSpPr>
          <p:cNvPr id="84" name="Google Shape;84;g3dc15369c17_0_154"/>
          <p:cNvSpPr/>
          <p:nvPr/>
        </p:nvSpPr>
        <p:spPr>
          <a:xfrm>
            <a:off x="1143000" y="476250"/>
            <a:ext cx="2080800" cy="236100"/>
          </a:xfrm>
          <a:prstGeom prst="rect">
            <a:avLst/>
          </a:prstGeom>
          <a:noFill/>
          <a:ln>
            <a:noFill/>
          </a:ln>
        </p:spPr>
        <p:txBody>
          <a:bodyPr spcFirstLastPara="1" wrap="square" lIns="25400" tIns="25400" rIns="25400" bIns="25400" anchor="t" anchorCtr="0">
            <a:noAutofit/>
          </a:bodyPr>
          <a:lstStyle/>
          <a:p>
            <a:pPr marL="0" marR="0" lvl="0" indent="0" algn="l" rtl="0">
              <a:spcBef>
                <a:spcPts val="0"/>
              </a:spcBef>
              <a:spcAft>
                <a:spcPts val="0"/>
              </a:spcAft>
              <a:buClr>
                <a:srgbClr val="6B6E78"/>
              </a:buClr>
              <a:buSzPts val="1350"/>
              <a:buFont typeface="Arial"/>
              <a:buNone/>
            </a:pPr>
            <a:r>
              <a:rPr lang="en-US" sz="1350" b="0" i="0" u="none" strike="noStrike" cap="none">
                <a:solidFill>
                  <a:srgbClr val="6B6E78"/>
                </a:solidFill>
                <a:latin typeface="Arial"/>
                <a:ea typeface="Arial"/>
                <a:cs typeface="Arial"/>
                <a:sym typeface="Arial"/>
              </a:rPr>
              <a:t>VIBE → CONTEXT</a:t>
            </a:r>
            <a:endParaRPr sz="1350" b="0" i="0" u="none" strike="noStrike" cap="none">
              <a:solidFill>
                <a:schemeClr val="dk1"/>
              </a:solidFill>
              <a:latin typeface="Calibri"/>
              <a:ea typeface="Calibri"/>
              <a:cs typeface="Calibri"/>
              <a:sym typeface="Calibri"/>
            </a:endParaRPr>
          </a:p>
        </p:txBody>
      </p:sp>
      <p:sp>
        <p:nvSpPr>
          <p:cNvPr id="85" name="Google Shape;85;g3dc15369c17_0_154"/>
          <p:cNvSpPr/>
          <p:nvPr/>
        </p:nvSpPr>
        <p:spPr>
          <a:xfrm>
            <a:off x="16356568" y="476250"/>
            <a:ext cx="864600" cy="236100"/>
          </a:xfrm>
          <a:prstGeom prst="rect">
            <a:avLst/>
          </a:prstGeom>
          <a:noFill/>
          <a:ln>
            <a:noFill/>
          </a:ln>
        </p:spPr>
        <p:txBody>
          <a:bodyPr spcFirstLastPara="1" wrap="square" lIns="25400" tIns="25400" rIns="25400" bIns="25400" anchor="t" anchorCtr="0">
            <a:noAutofit/>
          </a:bodyPr>
          <a:lstStyle/>
          <a:p>
            <a:pPr marL="0" marR="0" lvl="0" indent="0" algn="l" rtl="0">
              <a:spcBef>
                <a:spcPts val="0"/>
              </a:spcBef>
              <a:spcAft>
                <a:spcPts val="0"/>
              </a:spcAft>
              <a:buClr>
                <a:srgbClr val="6B6E78"/>
              </a:buClr>
              <a:buSzPts val="1350"/>
              <a:buFont typeface="Arial"/>
              <a:buNone/>
            </a:pPr>
            <a:r>
              <a:rPr lang="en-US" sz="1350" b="0" i="0" u="none" strike="noStrike" cap="none">
                <a:solidFill>
                  <a:srgbClr val="6B6E78"/>
                </a:solidFill>
                <a:latin typeface="Arial"/>
                <a:ea typeface="Arial"/>
                <a:cs typeface="Arial"/>
                <a:sym typeface="Arial"/>
              </a:rPr>
              <a:t>03 / 06</a:t>
            </a:r>
            <a:endParaRPr sz="1350" b="0" i="0" u="none" strike="noStrike" cap="none">
              <a:solidFill>
                <a:schemeClr val="dk1"/>
              </a:solidFill>
              <a:latin typeface="Calibri"/>
              <a:ea typeface="Calibri"/>
              <a:cs typeface="Calibri"/>
              <a:sym typeface="Calibri"/>
            </a:endParaRPr>
          </a:p>
        </p:txBody>
      </p:sp>
      <p:sp>
        <p:nvSpPr>
          <p:cNvPr id="86" name="Google Shape;86;g3dc15369c17_0_154"/>
          <p:cNvSpPr/>
          <p:nvPr/>
        </p:nvSpPr>
        <p:spPr>
          <a:xfrm>
            <a:off x="11506915" y="381000"/>
            <a:ext cx="6101700" cy="4248300"/>
          </a:xfrm>
          <a:prstGeom prst="rect">
            <a:avLst/>
          </a:prstGeom>
          <a:noFill/>
          <a:ln>
            <a:noFill/>
          </a:ln>
        </p:spPr>
        <p:txBody>
          <a:bodyPr spcFirstLastPara="1" wrap="square" lIns="25400" tIns="25400" rIns="25400" bIns="25400" anchor="t" anchorCtr="0">
            <a:noAutofit/>
          </a:bodyPr>
          <a:lstStyle/>
          <a:p>
            <a:pPr marL="0" marR="0" lvl="0" indent="0" algn="l" rtl="0">
              <a:lnSpc>
                <a:spcPct val="85000"/>
              </a:lnSpc>
              <a:spcBef>
                <a:spcPts val="0"/>
              </a:spcBef>
              <a:spcAft>
                <a:spcPts val="0"/>
              </a:spcAft>
              <a:buClr>
                <a:srgbClr val="F7F5F1"/>
              </a:buClr>
              <a:buSzPts val="39000"/>
              <a:buFont typeface="Arial"/>
              <a:buNone/>
            </a:pPr>
            <a:r>
              <a:rPr lang="en-US" sz="39000" b="1" i="0" u="none" strike="noStrike" cap="none">
                <a:solidFill>
                  <a:srgbClr val="F7F5F1"/>
                </a:solidFill>
                <a:latin typeface="Arial"/>
                <a:ea typeface="Arial"/>
                <a:cs typeface="Arial"/>
                <a:sym typeface="Arial"/>
              </a:rPr>
              <a:t>03</a:t>
            </a:r>
            <a:endParaRPr sz="39000" b="0" i="0" u="none" strike="noStrike" cap="none">
              <a:solidFill>
                <a:schemeClr val="dk1"/>
              </a:solidFill>
              <a:latin typeface="Calibri"/>
              <a:ea typeface="Calibri"/>
              <a:cs typeface="Calibri"/>
              <a:sym typeface="Calibri"/>
            </a:endParaRPr>
          </a:p>
        </p:txBody>
      </p:sp>
      <p:sp>
        <p:nvSpPr>
          <p:cNvPr id="87" name="Google Shape;87;g3dc15369c17_0_154"/>
          <p:cNvSpPr/>
          <p:nvPr/>
        </p:nvSpPr>
        <p:spPr>
          <a:xfrm>
            <a:off x="1143000" y="2737961"/>
            <a:ext cx="13735200" cy="312300"/>
          </a:xfrm>
          <a:prstGeom prst="rect">
            <a:avLst/>
          </a:prstGeom>
          <a:noFill/>
          <a:ln>
            <a:noFill/>
          </a:ln>
        </p:spPr>
        <p:txBody>
          <a:bodyPr spcFirstLastPara="1" wrap="square" lIns="25400" tIns="25400" rIns="25400" bIns="25400" anchor="t" anchorCtr="0">
            <a:noAutofit/>
          </a:bodyPr>
          <a:lstStyle/>
          <a:p>
            <a:pPr marL="0" marR="0" lvl="0" indent="0" algn="l" rtl="0">
              <a:spcBef>
                <a:spcPts val="0"/>
              </a:spcBef>
              <a:spcAft>
                <a:spcPts val="0"/>
              </a:spcAft>
              <a:buClr>
                <a:srgbClr val="F58220"/>
              </a:buClr>
              <a:buSzPts val="1650"/>
              <a:buFont typeface="Arial"/>
              <a:buNone/>
            </a:pPr>
            <a:r>
              <a:rPr lang="en-US" sz="1650" b="0" i="0" u="none" strike="noStrike" cap="none">
                <a:solidFill>
                  <a:srgbClr val="F58220"/>
                </a:solidFill>
                <a:latin typeface="Arial"/>
                <a:ea typeface="Arial"/>
                <a:cs typeface="Arial"/>
                <a:sym typeface="Arial"/>
              </a:rPr>
              <a:t>STAGE 03</a:t>
            </a:r>
            <a:endParaRPr sz="1650" b="0" i="0" u="none" strike="noStrike" cap="none">
              <a:solidFill>
                <a:schemeClr val="dk1"/>
              </a:solidFill>
              <a:latin typeface="Calibri"/>
              <a:ea typeface="Calibri"/>
              <a:cs typeface="Calibri"/>
              <a:sym typeface="Calibri"/>
            </a:endParaRPr>
          </a:p>
        </p:txBody>
      </p:sp>
      <p:sp>
        <p:nvSpPr>
          <p:cNvPr id="88" name="Google Shape;88;g3dc15369c17_0_154"/>
          <p:cNvSpPr/>
          <p:nvPr/>
        </p:nvSpPr>
        <p:spPr>
          <a:xfrm>
            <a:off x="1143000" y="3317081"/>
            <a:ext cx="13735200" cy="1558200"/>
          </a:xfrm>
          <a:prstGeom prst="rect">
            <a:avLst/>
          </a:prstGeom>
          <a:noFill/>
          <a:ln>
            <a:noFill/>
          </a:ln>
        </p:spPr>
        <p:txBody>
          <a:bodyPr spcFirstLastPara="1" wrap="square" lIns="25400" tIns="25400" rIns="25400" bIns="25400" anchor="t" anchorCtr="0">
            <a:noAutofit/>
          </a:bodyPr>
          <a:lstStyle/>
          <a:p>
            <a:pPr marL="0" marR="0" lvl="0" indent="0" algn="l" rtl="0">
              <a:lnSpc>
                <a:spcPct val="95000"/>
              </a:lnSpc>
              <a:spcBef>
                <a:spcPts val="0"/>
              </a:spcBef>
              <a:spcAft>
                <a:spcPts val="0"/>
              </a:spcAft>
              <a:buClr>
                <a:srgbClr val="14161C"/>
              </a:buClr>
              <a:buSzPts val="12600"/>
              <a:buFont typeface="Arial"/>
              <a:buNone/>
            </a:pPr>
            <a:r>
              <a:rPr lang="en-US" sz="12600" b="1" i="0" u="none" strike="noStrike" cap="none">
                <a:solidFill>
                  <a:srgbClr val="14161C"/>
                </a:solidFill>
                <a:latin typeface="Arial"/>
                <a:ea typeface="Arial"/>
                <a:cs typeface="Arial"/>
                <a:sym typeface="Arial"/>
              </a:rPr>
              <a:t>The Cracks.</a:t>
            </a:r>
            <a:endParaRPr sz="12600" b="0" i="0" u="none" strike="noStrike" cap="none">
              <a:solidFill>
                <a:schemeClr val="dk1"/>
              </a:solidFill>
              <a:latin typeface="Calibri"/>
              <a:ea typeface="Calibri"/>
              <a:cs typeface="Calibri"/>
              <a:sym typeface="Calibri"/>
            </a:endParaRPr>
          </a:p>
        </p:txBody>
      </p:sp>
      <p:sp>
        <p:nvSpPr>
          <p:cNvPr id="89" name="Google Shape;89;g3dc15369c17_0_154"/>
          <p:cNvSpPr/>
          <p:nvPr/>
        </p:nvSpPr>
        <p:spPr>
          <a:xfrm>
            <a:off x="1143000" y="5294472"/>
            <a:ext cx="12753900" cy="578100"/>
          </a:xfrm>
          <a:prstGeom prst="rect">
            <a:avLst/>
          </a:prstGeom>
          <a:noFill/>
          <a:ln>
            <a:noFill/>
          </a:ln>
        </p:spPr>
        <p:txBody>
          <a:bodyPr spcFirstLastPara="1" wrap="square" lIns="25400" tIns="25400" rIns="25400" bIns="25400" anchor="t" anchorCtr="0">
            <a:noAutofit/>
          </a:bodyPr>
          <a:lstStyle/>
          <a:p>
            <a:pPr marL="0" marR="0" lvl="0" indent="0" algn="l" rtl="0">
              <a:lnSpc>
                <a:spcPct val="135000"/>
              </a:lnSpc>
              <a:spcBef>
                <a:spcPts val="0"/>
              </a:spcBef>
              <a:spcAft>
                <a:spcPts val="0"/>
              </a:spcAft>
              <a:buClr>
                <a:srgbClr val="6B6E78"/>
              </a:buClr>
              <a:buSzPts val="3150"/>
              <a:buFont typeface="Arial"/>
              <a:buNone/>
            </a:pPr>
            <a:r>
              <a:rPr lang="en-US" sz="3150" b="0" i="0" u="none" strike="noStrike" cap="none">
                <a:solidFill>
                  <a:srgbClr val="6B6E78"/>
                </a:solidFill>
                <a:latin typeface="Arial"/>
                <a:ea typeface="Arial"/>
                <a:cs typeface="Arial"/>
                <a:sym typeface="Arial"/>
              </a:rPr>
              <a:t>The demos looked great. They almost never held up.</a:t>
            </a:r>
            <a:endParaRPr sz="3150" b="0" i="0" u="none" strike="noStrike" cap="none">
              <a:solidFill>
                <a:schemeClr val="dk1"/>
              </a:solidFill>
              <a:latin typeface="Calibri"/>
              <a:ea typeface="Calibri"/>
              <a:cs typeface="Calibri"/>
              <a:sym typeface="Calibri"/>
            </a:endParaRPr>
          </a:p>
        </p:txBody>
      </p:sp>
      <p:sp>
        <p:nvSpPr>
          <p:cNvPr id="90" name="Google Shape;90;g3dc15369c17_0_154"/>
          <p:cNvSpPr/>
          <p:nvPr/>
        </p:nvSpPr>
        <p:spPr>
          <a:xfrm>
            <a:off x="1143000" y="6253639"/>
            <a:ext cx="2087400" cy="403800"/>
          </a:xfrm>
          <a:prstGeom prst="rect">
            <a:avLst/>
          </a:prstGeom>
          <a:noFill/>
          <a:ln w="9525" cap="flat" cmpd="sng">
            <a:solidFill>
              <a:srgbClr val="B5341B"/>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 name="Google Shape;91;g3dc15369c17_0_154"/>
          <p:cNvSpPr/>
          <p:nvPr/>
        </p:nvSpPr>
        <p:spPr>
          <a:xfrm>
            <a:off x="1322070" y="6356509"/>
            <a:ext cx="1805400" cy="236100"/>
          </a:xfrm>
          <a:prstGeom prst="rect">
            <a:avLst/>
          </a:prstGeom>
          <a:noFill/>
          <a:ln>
            <a:noFill/>
          </a:ln>
        </p:spPr>
        <p:txBody>
          <a:bodyPr spcFirstLastPara="1" wrap="square" lIns="25400" tIns="25400" rIns="25400" bIns="25400" anchor="ctr" anchorCtr="0">
            <a:noAutofit/>
          </a:bodyPr>
          <a:lstStyle/>
          <a:p>
            <a:pPr marL="0" marR="0" lvl="0" indent="0" algn="l" rtl="0">
              <a:spcBef>
                <a:spcPts val="0"/>
              </a:spcBef>
              <a:spcAft>
                <a:spcPts val="0"/>
              </a:spcAft>
              <a:buClr>
                <a:srgbClr val="B5341B"/>
              </a:buClr>
              <a:buSzPts val="1350"/>
              <a:buFont typeface="Arial"/>
              <a:buNone/>
            </a:pPr>
            <a:r>
              <a:rPr lang="en-US" sz="1350" b="0" i="0" u="none" strike="noStrike" cap="none">
                <a:solidFill>
                  <a:srgbClr val="B5341B"/>
                </a:solidFill>
                <a:latin typeface="Arial"/>
                <a:ea typeface="Arial"/>
                <a:cs typeface="Arial"/>
                <a:sym typeface="Arial"/>
              </a:rPr>
              <a:t>INCONSISTENT</a:t>
            </a:r>
            <a:endParaRPr sz="1350" b="0" i="0" u="none" strike="noStrike" cap="none">
              <a:solidFill>
                <a:schemeClr val="dk1"/>
              </a:solidFill>
              <a:latin typeface="Calibri"/>
              <a:ea typeface="Calibri"/>
              <a:cs typeface="Calibri"/>
              <a:sym typeface="Calibri"/>
            </a:endParaRPr>
          </a:p>
        </p:txBody>
      </p:sp>
      <p:sp>
        <p:nvSpPr>
          <p:cNvPr id="92" name="Google Shape;92;g3dc15369c17_0_154"/>
          <p:cNvSpPr/>
          <p:nvPr/>
        </p:nvSpPr>
        <p:spPr>
          <a:xfrm>
            <a:off x="3401735" y="6253639"/>
            <a:ext cx="1356000" cy="403800"/>
          </a:xfrm>
          <a:prstGeom prst="rect">
            <a:avLst/>
          </a:prstGeom>
          <a:noFill/>
          <a:ln w="9525" cap="flat" cmpd="sng">
            <a:solidFill>
              <a:srgbClr val="B5341B"/>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 name="Google Shape;93;g3dc15369c17_0_154"/>
          <p:cNvSpPr/>
          <p:nvPr/>
        </p:nvSpPr>
        <p:spPr>
          <a:xfrm>
            <a:off x="3580805" y="6356509"/>
            <a:ext cx="1074000" cy="236100"/>
          </a:xfrm>
          <a:prstGeom prst="rect">
            <a:avLst/>
          </a:prstGeom>
          <a:noFill/>
          <a:ln>
            <a:noFill/>
          </a:ln>
        </p:spPr>
        <p:txBody>
          <a:bodyPr spcFirstLastPara="1" wrap="square" lIns="25400" tIns="25400" rIns="25400" bIns="25400" anchor="ctr" anchorCtr="0">
            <a:noAutofit/>
          </a:bodyPr>
          <a:lstStyle/>
          <a:p>
            <a:pPr marL="0" marR="0" lvl="0" indent="0" algn="l" rtl="0">
              <a:spcBef>
                <a:spcPts val="0"/>
              </a:spcBef>
              <a:spcAft>
                <a:spcPts val="0"/>
              </a:spcAft>
              <a:buClr>
                <a:srgbClr val="B5341B"/>
              </a:buClr>
              <a:buSzPts val="1350"/>
              <a:buFont typeface="Arial"/>
              <a:buNone/>
            </a:pPr>
            <a:r>
              <a:rPr lang="en-US" sz="1350" b="0" i="0" u="none" strike="noStrike" cap="none">
                <a:solidFill>
                  <a:srgbClr val="B5341B"/>
                </a:solidFill>
                <a:latin typeface="Arial"/>
                <a:ea typeface="Arial"/>
                <a:cs typeface="Arial"/>
                <a:sym typeface="Arial"/>
              </a:rPr>
              <a:t>FRAGILE</a:t>
            </a:r>
            <a:endParaRPr sz="1350" b="0" i="0" u="none" strike="noStrike" cap="none">
              <a:solidFill>
                <a:schemeClr val="dk1"/>
              </a:solidFill>
              <a:latin typeface="Calibri"/>
              <a:ea typeface="Calibri"/>
              <a:cs typeface="Calibri"/>
              <a:sym typeface="Calibri"/>
            </a:endParaRPr>
          </a:p>
        </p:txBody>
      </p:sp>
      <p:sp>
        <p:nvSpPr>
          <p:cNvPr id="94" name="Google Shape;94;g3dc15369c17_0_154"/>
          <p:cNvSpPr/>
          <p:nvPr/>
        </p:nvSpPr>
        <p:spPr>
          <a:xfrm>
            <a:off x="4929068" y="6253639"/>
            <a:ext cx="3845100" cy="403800"/>
          </a:xfrm>
          <a:prstGeom prst="rect">
            <a:avLst/>
          </a:prstGeom>
          <a:noFill/>
          <a:ln w="9525" cap="flat" cmpd="sng">
            <a:solidFill>
              <a:srgbClr val="B5341B"/>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 name="Google Shape;95;g3dc15369c17_0_154"/>
          <p:cNvSpPr/>
          <p:nvPr/>
        </p:nvSpPr>
        <p:spPr>
          <a:xfrm>
            <a:off x="5108138" y="6356509"/>
            <a:ext cx="3602400" cy="236100"/>
          </a:xfrm>
          <a:prstGeom prst="rect">
            <a:avLst/>
          </a:prstGeom>
          <a:noFill/>
          <a:ln>
            <a:noFill/>
          </a:ln>
        </p:spPr>
        <p:txBody>
          <a:bodyPr spcFirstLastPara="1" wrap="square" lIns="25400" tIns="25400" rIns="25400" bIns="25400" anchor="ctr" anchorCtr="0">
            <a:noAutofit/>
          </a:bodyPr>
          <a:lstStyle/>
          <a:p>
            <a:pPr marL="0" marR="0" lvl="0" indent="0" algn="l" rtl="0">
              <a:spcBef>
                <a:spcPts val="0"/>
              </a:spcBef>
              <a:spcAft>
                <a:spcPts val="0"/>
              </a:spcAft>
              <a:buClr>
                <a:srgbClr val="B5341B"/>
              </a:buClr>
              <a:buSzPts val="1350"/>
              <a:buFont typeface="Arial"/>
              <a:buNone/>
            </a:pPr>
            <a:r>
              <a:rPr lang="en-US" sz="1350" b="0" i="0" u="none" strike="noStrike" cap="none">
                <a:solidFill>
                  <a:srgbClr val="B5341B"/>
                </a:solidFill>
                <a:latin typeface="Arial"/>
                <a:ea typeface="Arial"/>
                <a:cs typeface="Arial"/>
                <a:sym typeface="Arial"/>
              </a:rPr>
              <a:t>NOWHERE NEAR PRODUCTION</a:t>
            </a:r>
            <a:endParaRPr sz="1350" b="0" i="0" u="none" strike="noStrike" cap="none">
              <a:solidFill>
                <a:schemeClr val="dk1"/>
              </a:solidFill>
              <a:latin typeface="Calibri"/>
              <a:ea typeface="Calibri"/>
              <a:cs typeface="Calibri"/>
              <a:sym typeface="Calibri"/>
            </a:endParaRPr>
          </a:p>
        </p:txBody>
      </p:sp>
      <p:sp>
        <p:nvSpPr>
          <p:cNvPr id="96" name="Google Shape;96;g3dc15369c17_0_154"/>
          <p:cNvSpPr/>
          <p:nvPr/>
        </p:nvSpPr>
        <p:spPr>
          <a:xfrm>
            <a:off x="1143000" y="7190899"/>
            <a:ext cx="13735200" cy="282000"/>
          </a:xfrm>
          <a:prstGeom prst="rect">
            <a:avLst/>
          </a:prstGeom>
          <a:noFill/>
          <a:ln>
            <a:noFill/>
          </a:ln>
        </p:spPr>
        <p:txBody>
          <a:bodyPr spcFirstLastPara="1" wrap="square" lIns="25400" tIns="25400" rIns="25400" bIns="25400" anchor="t" anchorCtr="0">
            <a:noAutofit/>
          </a:bodyPr>
          <a:lstStyle/>
          <a:p>
            <a:pPr marL="0" marR="0" lvl="0" indent="0" algn="l" rtl="0">
              <a:spcBef>
                <a:spcPts val="0"/>
              </a:spcBef>
              <a:spcAft>
                <a:spcPts val="0"/>
              </a:spcAft>
              <a:buClr>
                <a:srgbClr val="6B6E78"/>
              </a:buClr>
              <a:buSzPts val="1650"/>
              <a:buFont typeface="Arial"/>
              <a:buNone/>
            </a:pPr>
            <a:r>
              <a:rPr lang="en-US" sz="1650" b="0" i="0" u="none" strike="noStrike" cap="none">
                <a:solidFill>
                  <a:srgbClr val="6B6E78"/>
                </a:solidFill>
                <a:latin typeface="Arial"/>
                <a:ea typeface="Arial"/>
                <a:cs typeface="Arial"/>
                <a:sym typeface="Arial"/>
              </a:rPr>
              <a:t>// HIDDEN COST: DEBT I COULDN'T SEE</a:t>
            </a:r>
            <a:endParaRPr sz="1650" b="0" i="0" u="none" strike="noStrike" cap="none">
              <a:solidFill>
                <a:schemeClr val="dk1"/>
              </a:solidFill>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01"/>
        <p:cNvGrpSpPr/>
        <p:nvPr/>
      </p:nvGrpSpPr>
      <p:grpSpPr>
        <a:xfrm>
          <a:off x="0" y="0"/>
          <a:ext cx="0" cy="0"/>
          <a:chOff x="0" y="0"/>
          <a:chExt cx="0" cy="0"/>
        </a:xfrm>
      </p:grpSpPr>
      <p:sp>
        <p:nvSpPr>
          <p:cNvPr id="102" name="Google Shape;102;g3dc15369c17_0_171"/>
          <p:cNvSpPr/>
          <p:nvPr/>
        </p:nvSpPr>
        <p:spPr>
          <a:xfrm>
            <a:off x="1143000" y="476250"/>
            <a:ext cx="2080800" cy="236100"/>
          </a:xfrm>
          <a:prstGeom prst="rect">
            <a:avLst/>
          </a:prstGeom>
          <a:noFill/>
          <a:ln>
            <a:noFill/>
          </a:ln>
        </p:spPr>
        <p:txBody>
          <a:bodyPr spcFirstLastPara="1" wrap="square" lIns="25400" tIns="25400" rIns="25400" bIns="25400" anchor="t" anchorCtr="0">
            <a:noAutofit/>
          </a:bodyPr>
          <a:lstStyle/>
          <a:p>
            <a:pPr marL="0" marR="0" lvl="0" indent="0" algn="l" rtl="0">
              <a:spcBef>
                <a:spcPts val="0"/>
              </a:spcBef>
              <a:spcAft>
                <a:spcPts val="0"/>
              </a:spcAft>
              <a:buClr>
                <a:srgbClr val="6B6E78"/>
              </a:buClr>
              <a:buSzPts val="1350"/>
              <a:buFont typeface="Arial"/>
              <a:buNone/>
            </a:pPr>
            <a:r>
              <a:rPr lang="en-US" sz="1350" b="0" i="0" u="none" strike="noStrike" cap="none">
                <a:solidFill>
                  <a:srgbClr val="6B6E78"/>
                </a:solidFill>
                <a:latin typeface="Arial"/>
                <a:ea typeface="Arial"/>
                <a:cs typeface="Arial"/>
                <a:sym typeface="Arial"/>
              </a:rPr>
              <a:t>VIBE → CONTEXT</a:t>
            </a:r>
            <a:endParaRPr sz="1350" b="0" i="0" u="none" strike="noStrike" cap="none">
              <a:solidFill>
                <a:schemeClr val="dk1"/>
              </a:solidFill>
              <a:latin typeface="Calibri"/>
              <a:ea typeface="Calibri"/>
              <a:cs typeface="Calibri"/>
              <a:sym typeface="Calibri"/>
            </a:endParaRPr>
          </a:p>
        </p:txBody>
      </p:sp>
      <p:sp>
        <p:nvSpPr>
          <p:cNvPr id="103" name="Google Shape;103;g3dc15369c17_0_171"/>
          <p:cNvSpPr/>
          <p:nvPr/>
        </p:nvSpPr>
        <p:spPr>
          <a:xfrm>
            <a:off x="16356568" y="476250"/>
            <a:ext cx="864600" cy="236100"/>
          </a:xfrm>
          <a:prstGeom prst="rect">
            <a:avLst/>
          </a:prstGeom>
          <a:noFill/>
          <a:ln>
            <a:noFill/>
          </a:ln>
        </p:spPr>
        <p:txBody>
          <a:bodyPr spcFirstLastPara="1" wrap="square" lIns="25400" tIns="25400" rIns="25400" bIns="25400" anchor="t" anchorCtr="0">
            <a:noAutofit/>
          </a:bodyPr>
          <a:lstStyle/>
          <a:p>
            <a:pPr marL="0" marR="0" lvl="0" indent="0" algn="l" rtl="0">
              <a:spcBef>
                <a:spcPts val="0"/>
              </a:spcBef>
              <a:spcAft>
                <a:spcPts val="0"/>
              </a:spcAft>
              <a:buClr>
                <a:srgbClr val="6B6E78"/>
              </a:buClr>
              <a:buSzPts val="1350"/>
              <a:buFont typeface="Arial"/>
              <a:buNone/>
            </a:pPr>
            <a:r>
              <a:rPr lang="en-US" sz="1350" b="0" i="0" u="none" strike="noStrike" cap="none">
                <a:solidFill>
                  <a:srgbClr val="6B6E78"/>
                </a:solidFill>
                <a:latin typeface="Arial"/>
                <a:ea typeface="Arial"/>
                <a:cs typeface="Arial"/>
                <a:sym typeface="Arial"/>
              </a:rPr>
              <a:t>04 / 06</a:t>
            </a:r>
            <a:endParaRPr sz="1350" b="0" i="0" u="none" strike="noStrike" cap="none">
              <a:solidFill>
                <a:schemeClr val="dk1"/>
              </a:solidFill>
              <a:latin typeface="Calibri"/>
              <a:ea typeface="Calibri"/>
              <a:cs typeface="Calibri"/>
              <a:sym typeface="Calibri"/>
            </a:endParaRPr>
          </a:p>
        </p:txBody>
      </p:sp>
      <p:sp>
        <p:nvSpPr>
          <p:cNvPr id="104" name="Google Shape;104;g3dc15369c17_0_171"/>
          <p:cNvSpPr/>
          <p:nvPr/>
        </p:nvSpPr>
        <p:spPr>
          <a:xfrm>
            <a:off x="10971966" y="381000"/>
            <a:ext cx="6652500" cy="4248300"/>
          </a:xfrm>
          <a:prstGeom prst="rect">
            <a:avLst/>
          </a:prstGeom>
          <a:noFill/>
          <a:ln>
            <a:noFill/>
          </a:ln>
        </p:spPr>
        <p:txBody>
          <a:bodyPr spcFirstLastPara="1" wrap="square" lIns="25400" tIns="25400" rIns="25400" bIns="25400" anchor="t" anchorCtr="0">
            <a:noAutofit/>
          </a:bodyPr>
          <a:lstStyle/>
          <a:p>
            <a:pPr marL="0" marR="0" lvl="0" indent="0" algn="l" rtl="0">
              <a:lnSpc>
                <a:spcPct val="85000"/>
              </a:lnSpc>
              <a:spcBef>
                <a:spcPts val="0"/>
              </a:spcBef>
              <a:spcAft>
                <a:spcPts val="0"/>
              </a:spcAft>
              <a:buClr>
                <a:srgbClr val="F7F5F1"/>
              </a:buClr>
              <a:buSzPts val="39000"/>
              <a:buFont typeface="Arial"/>
              <a:buNone/>
            </a:pPr>
            <a:r>
              <a:rPr lang="en-US" sz="39000" b="1" i="0" u="none" strike="noStrike" cap="none">
                <a:solidFill>
                  <a:srgbClr val="F7F5F1"/>
                </a:solidFill>
                <a:latin typeface="Arial"/>
                <a:ea typeface="Arial"/>
                <a:cs typeface="Arial"/>
                <a:sym typeface="Arial"/>
              </a:rPr>
              <a:t>04</a:t>
            </a:r>
            <a:endParaRPr sz="39000" b="0" i="0" u="none" strike="noStrike" cap="none">
              <a:solidFill>
                <a:schemeClr val="dk1"/>
              </a:solidFill>
              <a:latin typeface="Calibri"/>
              <a:ea typeface="Calibri"/>
              <a:cs typeface="Calibri"/>
              <a:sym typeface="Calibri"/>
            </a:endParaRPr>
          </a:p>
        </p:txBody>
      </p:sp>
      <p:sp>
        <p:nvSpPr>
          <p:cNvPr id="105" name="Google Shape;105;g3dc15369c17_0_171"/>
          <p:cNvSpPr/>
          <p:nvPr/>
        </p:nvSpPr>
        <p:spPr>
          <a:xfrm>
            <a:off x="1143000" y="2559368"/>
            <a:ext cx="14225700" cy="312300"/>
          </a:xfrm>
          <a:prstGeom prst="rect">
            <a:avLst/>
          </a:prstGeom>
          <a:noFill/>
          <a:ln>
            <a:noFill/>
          </a:ln>
        </p:spPr>
        <p:txBody>
          <a:bodyPr spcFirstLastPara="1" wrap="square" lIns="25400" tIns="25400" rIns="25400" bIns="25400" anchor="t" anchorCtr="0">
            <a:noAutofit/>
          </a:bodyPr>
          <a:lstStyle/>
          <a:p>
            <a:pPr marL="0" marR="0" lvl="0" indent="0" algn="l" rtl="0">
              <a:spcBef>
                <a:spcPts val="0"/>
              </a:spcBef>
              <a:spcAft>
                <a:spcPts val="0"/>
              </a:spcAft>
              <a:buClr>
                <a:srgbClr val="F58220"/>
              </a:buClr>
              <a:buSzPts val="1650"/>
              <a:buFont typeface="Arial"/>
              <a:buNone/>
            </a:pPr>
            <a:r>
              <a:rPr lang="en-US" sz="1650" b="0" i="0" u="none" strike="noStrike" cap="none">
                <a:solidFill>
                  <a:srgbClr val="F58220"/>
                </a:solidFill>
                <a:latin typeface="Arial"/>
                <a:ea typeface="Arial"/>
                <a:cs typeface="Arial"/>
                <a:sym typeface="Arial"/>
              </a:rPr>
              <a:t>STAGE 04</a:t>
            </a:r>
            <a:endParaRPr sz="1650" b="0" i="0" u="none" strike="noStrike" cap="none">
              <a:solidFill>
                <a:schemeClr val="dk1"/>
              </a:solidFill>
              <a:latin typeface="Calibri"/>
              <a:ea typeface="Calibri"/>
              <a:cs typeface="Calibri"/>
              <a:sym typeface="Calibri"/>
            </a:endParaRPr>
          </a:p>
        </p:txBody>
      </p:sp>
      <p:sp>
        <p:nvSpPr>
          <p:cNvPr id="106" name="Google Shape;106;g3dc15369c17_0_171"/>
          <p:cNvSpPr/>
          <p:nvPr/>
        </p:nvSpPr>
        <p:spPr>
          <a:xfrm>
            <a:off x="1143000" y="3138488"/>
            <a:ext cx="14225700" cy="2427000"/>
          </a:xfrm>
          <a:prstGeom prst="rect">
            <a:avLst/>
          </a:prstGeom>
          <a:noFill/>
          <a:ln>
            <a:noFill/>
          </a:ln>
        </p:spPr>
        <p:txBody>
          <a:bodyPr spcFirstLastPara="1" wrap="square" lIns="25400" tIns="25400" rIns="25400" bIns="25400" anchor="t" anchorCtr="0">
            <a:noAutofit/>
          </a:bodyPr>
          <a:lstStyle/>
          <a:p>
            <a:pPr marL="0" marR="0" lvl="0" indent="0" algn="l" rtl="0">
              <a:lnSpc>
                <a:spcPct val="95000"/>
              </a:lnSpc>
              <a:spcBef>
                <a:spcPts val="0"/>
              </a:spcBef>
              <a:spcAft>
                <a:spcPts val="0"/>
              </a:spcAft>
              <a:buClr>
                <a:srgbClr val="14161C"/>
              </a:buClr>
              <a:buSzPts val="9900"/>
              <a:buFont typeface="Arial"/>
              <a:buNone/>
            </a:pPr>
            <a:r>
              <a:rPr lang="en-US" sz="9900" b="1" i="0" u="none" strike="noStrike" cap="none">
                <a:solidFill>
                  <a:srgbClr val="14161C"/>
                </a:solidFill>
                <a:latin typeface="Arial"/>
                <a:ea typeface="Arial"/>
                <a:cs typeface="Arial"/>
                <a:sym typeface="Arial"/>
              </a:rPr>
              <a:t>Bigger prompts </a:t>
            </a:r>
            <a:r>
              <a:rPr lang="en-US" sz="9900" b="1" i="0" u="none" strike="noStrike" cap="none">
                <a:solidFill>
                  <a:srgbClr val="F58220"/>
                </a:solidFill>
                <a:latin typeface="Arial"/>
                <a:ea typeface="Arial"/>
                <a:cs typeface="Arial"/>
                <a:sym typeface="Arial"/>
              </a:rPr>
              <a:t>≠ </a:t>
            </a:r>
            <a:r>
              <a:rPr lang="en-US" sz="9900" b="1" i="0" u="none" strike="noStrike" cap="none">
                <a:solidFill>
                  <a:srgbClr val="14161C"/>
                </a:solidFill>
                <a:latin typeface="Arial"/>
                <a:ea typeface="Arial"/>
                <a:cs typeface="Arial"/>
                <a:sym typeface="Arial"/>
              </a:rPr>
              <a:t>better code.</a:t>
            </a:r>
            <a:endParaRPr sz="9900" b="0" i="0" u="none" strike="noStrike" cap="none">
              <a:solidFill>
                <a:schemeClr val="dk1"/>
              </a:solidFill>
              <a:latin typeface="Calibri"/>
              <a:ea typeface="Calibri"/>
              <a:cs typeface="Calibri"/>
              <a:sym typeface="Calibri"/>
            </a:endParaRPr>
          </a:p>
        </p:txBody>
      </p:sp>
      <p:sp>
        <p:nvSpPr>
          <p:cNvPr id="107" name="Google Shape;107;g3dc15369c17_0_171"/>
          <p:cNvSpPr/>
          <p:nvPr/>
        </p:nvSpPr>
        <p:spPr>
          <a:xfrm>
            <a:off x="1143000" y="5984557"/>
            <a:ext cx="13244400" cy="1015500"/>
          </a:xfrm>
          <a:prstGeom prst="rect">
            <a:avLst/>
          </a:prstGeom>
          <a:noFill/>
          <a:ln>
            <a:noFill/>
          </a:ln>
        </p:spPr>
        <p:txBody>
          <a:bodyPr spcFirstLastPara="1" wrap="square" lIns="25400" tIns="25400" rIns="25400" bIns="25400" anchor="t" anchorCtr="0">
            <a:noAutofit/>
          </a:bodyPr>
          <a:lstStyle/>
          <a:p>
            <a:pPr marL="0" marR="0" lvl="0" indent="0" algn="l" rtl="0">
              <a:lnSpc>
                <a:spcPct val="135000"/>
              </a:lnSpc>
              <a:spcBef>
                <a:spcPts val="0"/>
              </a:spcBef>
              <a:spcAft>
                <a:spcPts val="0"/>
              </a:spcAft>
              <a:buClr>
                <a:srgbClr val="6B6E78"/>
              </a:buClr>
              <a:buSzPts val="2850"/>
              <a:buFont typeface="Arial"/>
              <a:buNone/>
            </a:pPr>
            <a:r>
              <a:rPr lang="en-US" sz="2850" b="0" i="0" u="none" strike="noStrike" cap="none">
                <a:solidFill>
                  <a:srgbClr val="6B6E78"/>
                </a:solidFill>
                <a:latin typeface="Arial"/>
                <a:ea typeface="Arial"/>
                <a:cs typeface="Arial"/>
                <a:sym typeface="Arial"/>
              </a:rPr>
              <a:t>I learned </a:t>
            </a:r>
            <a:r>
              <a:rPr lang="en-US" sz="2850" b="0" i="0" u="none" strike="noStrike" cap="none">
                <a:solidFill>
                  <a:srgbClr val="14161C"/>
                </a:solidFill>
                <a:latin typeface="Arial"/>
                <a:ea typeface="Arial"/>
                <a:cs typeface="Arial"/>
                <a:sym typeface="Arial"/>
              </a:rPr>
              <a:t>"context is king," </a:t>
            </a:r>
            <a:r>
              <a:rPr lang="en-US" sz="2850" b="0" i="0" u="none" strike="noStrike" cap="none">
                <a:solidFill>
                  <a:srgbClr val="6B6E78"/>
                </a:solidFill>
                <a:latin typeface="Arial"/>
                <a:ea typeface="Arial"/>
                <a:cs typeface="Arial"/>
                <a:sym typeface="Arial"/>
              </a:rPr>
              <a:t>so I wrote paragraphs instead of sentences. Still one-shotting. Change one thing — the whole thing fell apart. Hours of hot-fixes.</a:t>
            </a:r>
            <a:endParaRPr sz="2850" b="0" i="0" u="none" strike="noStrike" cap="none">
              <a:solidFill>
                <a:schemeClr val="dk1"/>
              </a:solidFill>
              <a:latin typeface="Calibri"/>
              <a:ea typeface="Calibri"/>
              <a:cs typeface="Calibri"/>
              <a:sym typeface="Calibri"/>
            </a:endParaRPr>
          </a:p>
        </p:txBody>
      </p:sp>
      <p:sp>
        <p:nvSpPr>
          <p:cNvPr id="108" name="Google Shape;108;g3dc15369c17_0_171"/>
          <p:cNvSpPr/>
          <p:nvPr/>
        </p:nvSpPr>
        <p:spPr>
          <a:xfrm>
            <a:off x="1143000" y="7419023"/>
            <a:ext cx="4044600" cy="403800"/>
          </a:xfrm>
          <a:prstGeom prst="rect">
            <a:avLst/>
          </a:prstGeom>
          <a:noFill/>
          <a:ln w="9525" cap="flat" cmpd="sng">
            <a:solidFill>
              <a:srgbClr val="F5822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 name="Google Shape;109;g3dc15369c17_0_171"/>
          <p:cNvSpPr/>
          <p:nvPr/>
        </p:nvSpPr>
        <p:spPr>
          <a:xfrm>
            <a:off x="1322070" y="7521893"/>
            <a:ext cx="3807900" cy="236100"/>
          </a:xfrm>
          <a:prstGeom prst="rect">
            <a:avLst/>
          </a:prstGeom>
          <a:noFill/>
          <a:ln>
            <a:noFill/>
          </a:ln>
        </p:spPr>
        <p:txBody>
          <a:bodyPr spcFirstLastPara="1" wrap="square" lIns="25400" tIns="25400" rIns="25400" bIns="25400" anchor="ctr" anchorCtr="0">
            <a:noAutofit/>
          </a:bodyPr>
          <a:lstStyle/>
          <a:p>
            <a:pPr marL="0" marR="0" lvl="0" indent="0" algn="l" rtl="0">
              <a:spcBef>
                <a:spcPts val="0"/>
              </a:spcBef>
              <a:spcAft>
                <a:spcPts val="0"/>
              </a:spcAft>
              <a:buClr>
                <a:srgbClr val="F58220"/>
              </a:buClr>
              <a:buSzPts val="1350"/>
              <a:buFont typeface="Arial"/>
              <a:buNone/>
            </a:pPr>
            <a:r>
              <a:rPr lang="en-US" sz="1350" b="0" i="0" u="none" strike="noStrike" cap="none">
                <a:solidFill>
                  <a:srgbClr val="F58220"/>
                </a:solidFill>
                <a:latin typeface="Arial"/>
                <a:ea typeface="Arial"/>
                <a:cs typeface="Arial"/>
                <a:sym typeface="Arial"/>
              </a:rPr>
              <a:t>MORE WORDS · SAME PROBLEM</a:t>
            </a:r>
            <a:endParaRPr sz="1350" b="0" i="0" u="none" strike="noStrike" cap="none">
              <a:solidFill>
                <a:schemeClr val="dk1"/>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14"/>
        <p:cNvGrpSpPr/>
        <p:nvPr/>
      </p:nvGrpSpPr>
      <p:grpSpPr>
        <a:xfrm>
          <a:off x="0" y="0"/>
          <a:ext cx="0" cy="0"/>
          <a:chOff x="0" y="0"/>
          <a:chExt cx="0" cy="0"/>
        </a:xfrm>
      </p:grpSpPr>
      <p:sp>
        <p:nvSpPr>
          <p:cNvPr id="115" name="Google Shape;115;g3dc15369c17_0_183"/>
          <p:cNvSpPr/>
          <p:nvPr/>
        </p:nvSpPr>
        <p:spPr>
          <a:xfrm>
            <a:off x="1143000" y="476250"/>
            <a:ext cx="2080800" cy="236100"/>
          </a:xfrm>
          <a:prstGeom prst="rect">
            <a:avLst/>
          </a:prstGeom>
          <a:noFill/>
          <a:ln>
            <a:noFill/>
          </a:ln>
        </p:spPr>
        <p:txBody>
          <a:bodyPr spcFirstLastPara="1" wrap="square" lIns="25400" tIns="25400" rIns="25400" bIns="25400" anchor="t" anchorCtr="0">
            <a:noAutofit/>
          </a:bodyPr>
          <a:lstStyle/>
          <a:p>
            <a:pPr marL="0" marR="0" lvl="0" indent="0" algn="l" rtl="0">
              <a:spcBef>
                <a:spcPts val="0"/>
              </a:spcBef>
              <a:spcAft>
                <a:spcPts val="0"/>
              </a:spcAft>
              <a:buClr>
                <a:srgbClr val="6B6E78"/>
              </a:buClr>
              <a:buSzPts val="1350"/>
              <a:buFont typeface="Arial"/>
              <a:buNone/>
            </a:pPr>
            <a:r>
              <a:rPr lang="en-US" sz="1350" b="0" i="0" u="none" strike="noStrike" cap="none">
                <a:solidFill>
                  <a:srgbClr val="6B6E78"/>
                </a:solidFill>
                <a:latin typeface="Arial"/>
                <a:ea typeface="Arial"/>
                <a:cs typeface="Arial"/>
                <a:sym typeface="Arial"/>
              </a:rPr>
              <a:t>VIBE → CONTEXT</a:t>
            </a:r>
            <a:endParaRPr sz="1350" b="0" i="0" u="none" strike="noStrike" cap="none">
              <a:solidFill>
                <a:schemeClr val="dk1"/>
              </a:solidFill>
              <a:latin typeface="Calibri"/>
              <a:ea typeface="Calibri"/>
              <a:cs typeface="Calibri"/>
              <a:sym typeface="Calibri"/>
            </a:endParaRPr>
          </a:p>
        </p:txBody>
      </p:sp>
      <p:sp>
        <p:nvSpPr>
          <p:cNvPr id="116" name="Google Shape;116;g3dc15369c17_0_183"/>
          <p:cNvSpPr/>
          <p:nvPr/>
        </p:nvSpPr>
        <p:spPr>
          <a:xfrm>
            <a:off x="16356568" y="476250"/>
            <a:ext cx="864600" cy="236100"/>
          </a:xfrm>
          <a:prstGeom prst="rect">
            <a:avLst/>
          </a:prstGeom>
          <a:noFill/>
          <a:ln>
            <a:noFill/>
          </a:ln>
        </p:spPr>
        <p:txBody>
          <a:bodyPr spcFirstLastPara="1" wrap="square" lIns="25400" tIns="25400" rIns="25400" bIns="25400" anchor="t" anchorCtr="0">
            <a:noAutofit/>
          </a:bodyPr>
          <a:lstStyle/>
          <a:p>
            <a:pPr marL="0" marR="0" lvl="0" indent="0" algn="l" rtl="0">
              <a:spcBef>
                <a:spcPts val="0"/>
              </a:spcBef>
              <a:spcAft>
                <a:spcPts val="0"/>
              </a:spcAft>
              <a:buClr>
                <a:srgbClr val="6B6E78"/>
              </a:buClr>
              <a:buSzPts val="1350"/>
              <a:buFont typeface="Arial"/>
              <a:buNone/>
            </a:pPr>
            <a:r>
              <a:rPr lang="en-US" sz="1350" b="0" i="0" u="none" strike="noStrike" cap="none">
                <a:solidFill>
                  <a:srgbClr val="6B6E78"/>
                </a:solidFill>
                <a:latin typeface="Arial"/>
                <a:ea typeface="Arial"/>
                <a:cs typeface="Arial"/>
                <a:sym typeface="Arial"/>
              </a:rPr>
              <a:t>05 / 06</a:t>
            </a:r>
            <a:endParaRPr sz="1350" b="0" i="0" u="none" strike="noStrike" cap="none">
              <a:solidFill>
                <a:schemeClr val="dk1"/>
              </a:solidFill>
              <a:latin typeface="Calibri"/>
              <a:ea typeface="Calibri"/>
              <a:cs typeface="Calibri"/>
              <a:sym typeface="Calibri"/>
            </a:endParaRPr>
          </a:p>
        </p:txBody>
      </p:sp>
      <p:sp>
        <p:nvSpPr>
          <p:cNvPr id="117" name="Google Shape;117;g3dc15369c17_0_183"/>
          <p:cNvSpPr/>
          <p:nvPr/>
        </p:nvSpPr>
        <p:spPr>
          <a:xfrm>
            <a:off x="11432620" y="381000"/>
            <a:ext cx="6178200" cy="4248300"/>
          </a:xfrm>
          <a:prstGeom prst="rect">
            <a:avLst/>
          </a:prstGeom>
          <a:noFill/>
          <a:ln>
            <a:noFill/>
          </a:ln>
        </p:spPr>
        <p:txBody>
          <a:bodyPr spcFirstLastPara="1" wrap="square" lIns="25400" tIns="25400" rIns="25400" bIns="25400" anchor="t" anchorCtr="0">
            <a:noAutofit/>
          </a:bodyPr>
          <a:lstStyle/>
          <a:p>
            <a:pPr marL="0" marR="0" lvl="0" indent="0" algn="l" rtl="0">
              <a:lnSpc>
                <a:spcPct val="85000"/>
              </a:lnSpc>
              <a:spcBef>
                <a:spcPts val="0"/>
              </a:spcBef>
              <a:spcAft>
                <a:spcPts val="0"/>
              </a:spcAft>
              <a:buClr>
                <a:srgbClr val="F7F5F1"/>
              </a:buClr>
              <a:buSzPts val="39000"/>
              <a:buFont typeface="Arial"/>
              <a:buNone/>
            </a:pPr>
            <a:r>
              <a:rPr lang="en-US" sz="39000" b="1" i="0" u="none" strike="noStrike" cap="none">
                <a:solidFill>
                  <a:srgbClr val="F7F5F1"/>
                </a:solidFill>
                <a:latin typeface="Arial"/>
                <a:ea typeface="Arial"/>
                <a:cs typeface="Arial"/>
                <a:sym typeface="Arial"/>
              </a:rPr>
              <a:t>05</a:t>
            </a:r>
            <a:endParaRPr sz="39000" b="0" i="0" u="none" strike="noStrike" cap="none">
              <a:solidFill>
                <a:schemeClr val="dk1"/>
              </a:solidFill>
              <a:latin typeface="Calibri"/>
              <a:ea typeface="Calibri"/>
              <a:cs typeface="Calibri"/>
              <a:sym typeface="Calibri"/>
            </a:endParaRPr>
          </a:p>
        </p:txBody>
      </p:sp>
      <p:sp>
        <p:nvSpPr>
          <p:cNvPr id="118" name="Google Shape;118;g3dc15369c17_0_183"/>
          <p:cNvSpPr/>
          <p:nvPr/>
        </p:nvSpPr>
        <p:spPr>
          <a:xfrm>
            <a:off x="1143000" y="2450783"/>
            <a:ext cx="14225700" cy="312300"/>
          </a:xfrm>
          <a:prstGeom prst="rect">
            <a:avLst/>
          </a:prstGeom>
          <a:noFill/>
          <a:ln>
            <a:noFill/>
          </a:ln>
        </p:spPr>
        <p:txBody>
          <a:bodyPr spcFirstLastPara="1" wrap="square" lIns="25400" tIns="25400" rIns="25400" bIns="25400" anchor="t" anchorCtr="0">
            <a:noAutofit/>
          </a:bodyPr>
          <a:lstStyle/>
          <a:p>
            <a:pPr marL="0" marR="0" lvl="0" indent="0" algn="l" rtl="0">
              <a:spcBef>
                <a:spcPts val="0"/>
              </a:spcBef>
              <a:spcAft>
                <a:spcPts val="0"/>
              </a:spcAft>
              <a:buClr>
                <a:srgbClr val="F58220"/>
              </a:buClr>
              <a:buSzPts val="1650"/>
              <a:buFont typeface="Arial"/>
              <a:buNone/>
            </a:pPr>
            <a:r>
              <a:rPr lang="en-US" sz="1650" b="0" i="0" u="none" strike="noStrike" cap="none">
                <a:solidFill>
                  <a:srgbClr val="F58220"/>
                </a:solidFill>
                <a:latin typeface="Arial"/>
                <a:ea typeface="Arial"/>
                <a:cs typeface="Arial"/>
                <a:sym typeface="Arial"/>
              </a:rPr>
              <a:t>STAGE 05 · THE SHIFT</a:t>
            </a:r>
            <a:endParaRPr sz="1650" b="0" i="0" u="none" strike="noStrike" cap="none">
              <a:solidFill>
                <a:schemeClr val="dk1"/>
              </a:solidFill>
              <a:latin typeface="Calibri"/>
              <a:ea typeface="Calibri"/>
              <a:cs typeface="Calibri"/>
              <a:sym typeface="Calibri"/>
            </a:endParaRPr>
          </a:p>
        </p:txBody>
      </p:sp>
      <p:sp>
        <p:nvSpPr>
          <p:cNvPr id="119" name="Google Shape;119;g3dc15369c17_0_183"/>
          <p:cNvSpPr/>
          <p:nvPr/>
        </p:nvSpPr>
        <p:spPr>
          <a:xfrm>
            <a:off x="1143000" y="3029903"/>
            <a:ext cx="14225700" cy="2644200"/>
          </a:xfrm>
          <a:prstGeom prst="rect">
            <a:avLst/>
          </a:prstGeom>
          <a:noFill/>
          <a:ln>
            <a:noFill/>
          </a:ln>
        </p:spPr>
        <p:txBody>
          <a:bodyPr spcFirstLastPara="1" wrap="square" lIns="25400" tIns="25400" rIns="25400" bIns="25400" anchor="t" anchorCtr="0">
            <a:noAutofit/>
          </a:bodyPr>
          <a:lstStyle/>
          <a:p>
            <a:pPr marL="0" marR="0" lvl="0" indent="0" algn="l" rtl="0">
              <a:lnSpc>
                <a:spcPct val="95000"/>
              </a:lnSpc>
              <a:spcBef>
                <a:spcPts val="0"/>
              </a:spcBef>
              <a:spcAft>
                <a:spcPts val="0"/>
              </a:spcAft>
              <a:buClr>
                <a:srgbClr val="14161C"/>
              </a:buClr>
              <a:buSzPts val="10800"/>
              <a:buFont typeface="Arial"/>
              <a:buNone/>
            </a:pPr>
            <a:r>
              <a:rPr lang="en-US" sz="10800" b="1" i="0" u="none" strike="noStrike" cap="none">
                <a:solidFill>
                  <a:srgbClr val="14161C"/>
                </a:solidFill>
                <a:latin typeface="Arial"/>
                <a:ea typeface="Arial"/>
                <a:cs typeface="Arial"/>
                <a:sym typeface="Arial"/>
              </a:rPr>
              <a:t>Planning </a:t>
            </a:r>
            <a:r>
              <a:rPr lang="en-US" sz="10800" b="1" i="0" u="none" strike="noStrike" cap="none">
                <a:solidFill>
                  <a:srgbClr val="F58220"/>
                </a:solidFill>
                <a:latin typeface="Arial"/>
                <a:ea typeface="Arial"/>
                <a:cs typeface="Arial"/>
                <a:sym typeface="Arial"/>
              </a:rPr>
              <a:t>&gt; </a:t>
            </a:r>
            <a:r>
              <a:rPr lang="en-US" sz="10800" b="1" i="0" u="none" strike="noStrike" cap="none">
                <a:solidFill>
                  <a:srgbClr val="14161C"/>
                </a:solidFill>
                <a:latin typeface="Arial"/>
                <a:ea typeface="Arial"/>
                <a:cs typeface="Arial"/>
                <a:sym typeface="Arial"/>
              </a:rPr>
              <a:t>Prompting.</a:t>
            </a:r>
            <a:endParaRPr sz="10800" b="0" i="0" u="none" strike="noStrike" cap="none">
              <a:solidFill>
                <a:schemeClr val="dk1"/>
              </a:solidFill>
              <a:latin typeface="Calibri"/>
              <a:ea typeface="Calibri"/>
              <a:cs typeface="Calibri"/>
              <a:sym typeface="Calibri"/>
            </a:endParaRPr>
          </a:p>
        </p:txBody>
      </p:sp>
      <p:sp>
        <p:nvSpPr>
          <p:cNvPr id="120" name="Google Shape;120;g3dc15369c17_0_183"/>
          <p:cNvSpPr/>
          <p:nvPr/>
        </p:nvSpPr>
        <p:spPr>
          <a:xfrm>
            <a:off x="1143000" y="6093143"/>
            <a:ext cx="13244400" cy="1015500"/>
          </a:xfrm>
          <a:prstGeom prst="rect">
            <a:avLst/>
          </a:prstGeom>
          <a:noFill/>
          <a:ln>
            <a:noFill/>
          </a:ln>
        </p:spPr>
        <p:txBody>
          <a:bodyPr spcFirstLastPara="1" wrap="square" lIns="25400" tIns="25400" rIns="25400" bIns="25400" anchor="t" anchorCtr="0">
            <a:noAutofit/>
          </a:bodyPr>
          <a:lstStyle/>
          <a:p>
            <a:pPr marL="0" marR="0" lvl="0" indent="0" algn="l" rtl="0">
              <a:lnSpc>
                <a:spcPct val="135000"/>
              </a:lnSpc>
              <a:spcBef>
                <a:spcPts val="0"/>
              </a:spcBef>
              <a:spcAft>
                <a:spcPts val="0"/>
              </a:spcAft>
              <a:buClr>
                <a:srgbClr val="6B6E78"/>
              </a:buClr>
              <a:buSzPts val="2850"/>
              <a:buFont typeface="Arial"/>
              <a:buNone/>
            </a:pPr>
            <a:r>
              <a:rPr lang="en-US" sz="2850" b="0" i="0" u="none" strike="noStrike" cap="none">
                <a:solidFill>
                  <a:srgbClr val="6B6E78"/>
                </a:solidFill>
                <a:latin typeface="Arial"/>
                <a:ea typeface="Arial"/>
                <a:cs typeface="Arial"/>
                <a:sym typeface="Arial"/>
              </a:rPr>
              <a:t>I started spending more time </a:t>
            </a:r>
            <a:r>
              <a:rPr lang="en-US" sz="2850" b="0" i="0" u="none" strike="noStrike" cap="none">
                <a:solidFill>
                  <a:srgbClr val="14161C"/>
                </a:solidFill>
                <a:latin typeface="Arial"/>
                <a:ea typeface="Arial"/>
                <a:cs typeface="Arial"/>
                <a:sym typeface="Arial"/>
              </a:rPr>
              <a:t>thinking </a:t>
            </a:r>
            <a:r>
              <a:rPr lang="en-US" sz="2850" b="0" i="0" u="none" strike="noStrike" cap="none">
                <a:solidFill>
                  <a:srgbClr val="6B6E78"/>
                </a:solidFill>
                <a:latin typeface="Arial"/>
                <a:ea typeface="Arial"/>
                <a:cs typeface="Arial"/>
                <a:sym typeface="Arial"/>
              </a:rPr>
              <a:t>before asking. Output got </a:t>
            </a:r>
            <a:r>
              <a:rPr lang="en-US" sz="2850" b="0" i="0" u="none" strike="noStrike" cap="none">
                <a:solidFill>
                  <a:srgbClr val="F58220"/>
                </a:solidFill>
                <a:latin typeface="Arial"/>
                <a:ea typeface="Arial"/>
                <a:cs typeface="Arial"/>
                <a:sym typeface="Arial"/>
              </a:rPr>
              <a:t>10× </a:t>
            </a:r>
            <a:r>
              <a:rPr lang="en-US" sz="2850" b="0" i="0" u="none" strike="noStrike" cap="none">
                <a:solidFill>
                  <a:srgbClr val="6B6E78"/>
                </a:solidFill>
                <a:latin typeface="Arial"/>
                <a:ea typeface="Arial"/>
                <a:cs typeface="Arial"/>
                <a:sym typeface="Arial"/>
              </a:rPr>
              <a:t>better. I still couldn't read code — but I could find what works </a:t>
            </a:r>
            <a:r>
              <a:rPr lang="en-US" sz="2850" b="0" i="1" u="none" strike="noStrike" cap="none">
                <a:solidFill>
                  <a:srgbClr val="6B6E78"/>
                </a:solidFill>
                <a:latin typeface="Arial"/>
                <a:ea typeface="Arial"/>
                <a:cs typeface="Arial"/>
                <a:sym typeface="Arial"/>
              </a:rPr>
              <a:t>before </a:t>
            </a:r>
            <a:r>
              <a:rPr lang="en-US" sz="2850" b="0" i="0" u="none" strike="noStrike" cap="none">
                <a:solidFill>
                  <a:srgbClr val="6B6E78"/>
                </a:solidFill>
                <a:latin typeface="Arial"/>
                <a:ea typeface="Arial"/>
                <a:cs typeface="Arial"/>
                <a:sym typeface="Arial"/>
              </a:rPr>
              <a:t>building it.</a:t>
            </a:r>
            <a:endParaRPr sz="2850" b="0" i="0" u="none" strike="noStrike" cap="none">
              <a:solidFill>
                <a:schemeClr val="dk1"/>
              </a:solidFill>
              <a:latin typeface="Calibri"/>
              <a:ea typeface="Calibri"/>
              <a:cs typeface="Calibri"/>
              <a:sym typeface="Calibri"/>
            </a:endParaRPr>
          </a:p>
        </p:txBody>
      </p:sp>
      <p:sp>
        <p:nvSpPr>
          <p:cNvPr id="121" name="Google Shape;121;g3dc15369c17_0_183"/>
          <p:cNvSpPr/>
          <p:nvPr/>
        </p:nvSpPr>
        <p:spPr>
          <a:xfrm>
            <a:off x="1143000" y="7527607"/>
            <a:ext cx="1583400" cy="403800"/>
          </a:xfrm>
          <a:prstGeom prst="rect">
            <a:avLst/>
          </a:prstGeom>
          <a:noFill/>
          <a:ln w="9525" cap="flat" cmpd="sng">
            <a:solidFill>
              <a:srgbClr val="F5822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 name="Google Shape;122;g3dc15369c17_0_183"/>
          <p:cNvSpPr/>
          <p:nvPr/>
        </p:nvSpPr>
        <p:spPr>
          <a:xfrm>
            <a:off x="1322070" y="7630477"/>
            <a:ext cx="1301400" cy="236100"/>
          </a:xfrm>
          <a:prstGeom prst="rect">
            <a:avLst/>
          </a:prstGeom>
          <a:noFill/>
          <a:ln>
            <a:noFill/>
          </a:ln>
        </p:spPr>
        <p:txBody>
          <a:bodyPr spcFirstLastPara="1" wrap="square" lIns="25400" tIns="25400" rIns="25400" bIns="25400" anchor="ctr" anchorCtr="0">
            <a:noAutofit/>
          </a:bodyPr>
          <a:lstStyle/>
          <a:p>
            <a:pPr marL="0" marR="0" lvl="0" indent="0" algn="l" rtl="0">
              <a:spcBef>
                <a:spcPts val="0"/>
              </a:spcBef>
              <a:spcAft>
                <a:spcPts val="0"/>
              </a:spcAft>
              <a:buClr>
                <a:srgbClr val="F58220"/>
              </a:buClr>
              <a:buSzPts val="1350"/>
              <a:buFont typeface="Arial"/>
              <a:buNone/>
            </a:pPr>
            <a:r>
              <a:rPr lang="en-US" sz="1350" b="0" i="0" u="none" strike="noStrike" cap="none">
                <a:solidFill>
                  <a:srgbClr val="F58220"/>
                </a:solidFill>
                <a:latin typeface="Arial"/>
                <a:ea typeface="Arial"/>
                <a:cs typeface="Arial"/>
                <a:sym typeface="Arial"/>
              </a:rPr>
              <a:t>THE SHIFT</a:t>
            </a:r>
            <a:endParaRPr sz="1350" b="0" i="0" u="none" strike="noStrike" cap="none">
              <a:solidFill>
                <a:schemeClr val="dk1"/>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27"/>
        <p:cNvGrpSpPr/>
        <p:nvPr/>
      </p:nvGrpSpPr>
      <p:grpSpPr>
        <a:xfrm>
          <a:off x="0" y="0"/>
          <a:ext cx="0" cy="0"/>
          <a:chOff x="0" y="0"/>
          <a:chExt cx="0" cy="0"/>
        </a:xfrm>
      </p:grpSpPr>
      <p:sp>
        <p:nvSpPr>
          <p:cNvPr id="128" name="Google Shape;128;g3dc15369c17_0_195"/>
          <p:cNvSpPr/>
          <p:nvPr/>
        </p:nvSpPr>
        <p:spPr>
          <a:xfrm>
            <a:off x="1143000" y="476250"/>
            <a:ext cx="2080800" cy="236100"/>
          </a:xfrm>
          <a:prstGeom prst="rect">
            <a:avLst/>
          </a:prstGeom>
          <a:noFill/>
          <a:ln>
            <a:noFill/>
          </a:ln>
        </p:spPr>
        <p:txBody>
          <a:bodyPr spcFirstLastPara="1" wrap="square" lIns="25400" tIns="25400" rIns="25400" bIns="25400" anchor="t" anchorCtr="0">
            <a:noAutofit/>
          </a:bodyPr>
          <a:lstStyle/>
          <a:p>
            <a:pPr marL="0" marR="0" lvl="0" indent="0" algn="l" rtl="0">
              <a:spcBef>
                <a:spcPts val="0"/>
              </a:spcBef>
              <a:spcAft>
                <a:spcPts val="0"/>
              </a:spcAft>
              <a:buClr>
                <a:srgbClr val="6B6E78"/>
              </a:buClr>
              <a:buSzPts val="1350"/>
              <a:buFont typeface="Arial"/>
              <a:buNone/>
            </a:pPr>
            <a:r>
              <a:rPr lang="en-US" sz="1350" b="0" i="0" u="none" strike="noStrike" cap="none">
                <a:solidFill>
                  <a:srgbClr val="6B6E78"/>
                </a:solidFill>
                <a:latin typeface="Arial"/>
                <a:ea typeface="Arial"/>
                <a:cs typeface="Arial"/>
                <a:sym typeface="Arial"/>
              </a:rPr>
              <a:t>VIBE → CONTEXT</a:t>
            </a:r>
            <a:endParaRPr sz="1350" b="0" i="0" u="none" strike="noStrike" cap="none">
              <a:solidFill>
                <a:schemeClr val="dk1"/>
              </a:solidFill>
              <a:latin typeface="Calibri"/>
              <a:ea typeface="Calibri"/>
              <a:cs typeface="Calibri"/>
              <a:sym typeface="Calibri"/>
            </a:endParaRPr>
          </a:p>
        </p:txBody>
      </p:sp>
      <p:sp>
        <p:nvSpPr>
          <p:cNvPr id="129" name="Google Shape;129;g3dc15369c17_0_195"/>
          <p:cNvSpPr/>
          <p:nvPr/>
        </p:nvSpPr>
        <p:spPr>
          <a:xfrm>
            <a:off x="16356568" y="476250"/>
            <a:ext cx="864600" cy="236100"/>
          </a:xfrm>
          <a:prstGeom prst="rect">
            <a:avLst/>
          </a:prstGeom>
          <a:noFill/>
          <a:ln>
            <a:noFill/>
          </a:ln>
        </p:spPr>
        <p:txBody>
          <a:bodyPr spcFirstLastPara="1" wrap="square" lIns="25400" tIns="25400" rIns="25400" bIns="25400" anchor="t" anchorCtr="0">
            <a:noAutofit/>
          </a:bodyPr>
          <a:lstStyle/>
          <a:p>
            <a:pPr marL="0" marR="0" lvl="0" indent="0" algn="l" rtl="0">
              <a:spcBef>
                <a:spcPts val="0"/>
              </a:spcBef>
              <a:spcAft>
                <a:spcPts val="0"/>
              </a:spcAft>
              <a:buClr>
                <a:srgbClr val="6B6E78"/>
              </a:buClr>
              <a:buSzPts val="1350"/>
              <a:buFont typeface="Arial"/>
              <a:buNone/>
            </a:pPr>
            <a:r>
              <a:rPr lang="en-US" sz="1350" b="0" i="0" u="none" strike="noStrike" cap="none">
                <a:solidFill>
                  <a:srgbClr val="6B6E78"/>
                </a:solidFill>
                <a:latin typeface="Arial"/>
                <a:ea typeface="Arial"/>
                <a:cs typeface="Arial"/>
                <a:sym typeface="Arial"/>
              </a:rPr>
              <a:t>06 / 06</a:t>
            </a:r>
            <a:endParaRPr sz="1350" b="0" i="0" u="none" strike="noStrike" cap="none">
              <a:solidFill>
                <a:schemeClr val="dk1"/>
              </a:solidFill>
              <a:latin typeface="Calibri"/>
              <a:ea typeface="Calibri"/>
              <a:cs typeface="Calibri"/>
              <a:sym typeface="Calibri"/>
            </a:endParaRPr>
          </a:p>
        </p:txBody>
      </p:sp>
      <p:sp>
        <p:nvSpPr>
          <p:cNvPr id="130" name="Google Shape;130;g3dc15369c17_0_195"/>
          <p:cNvSpPr/>
          <p:nvPr/>
        </p:nvSpPr>
        <p:spPr>
          <a:xfrm>
            <a:off x="11224617" y="381000"/>
            <a:ext cx="6392400" cy="4248300"/>
          </a:xfrm>
          <a:prstGeom prst="rect">
            <a:avLst/>
          </a:prstGeom>
          <a:noFill/>
          <a:ln>
            <a:noFill/>
          </a:ln>
        </p:spPr>
        <p:txBody>
          <a:bodyPr spcFirstLastPara="1" wrap="square" lIns="25400" tIns="25400" rIns="25400" bIns="25400" anchor="t" anchorCtr="0">
            <a:noAutofit/>
          </a:bodyPr>
          <a:lstStyle/>
          <a:p>
            <a:pPr marL="0" marR="0" lvl="0" indent="0" algn="l" rtl="0">
              <a:lnSpc>
                <a:spcPct val="85000"/>
              </a:lnSpc>
              <a:spcBef>
                <a:spcPts val="0"/>
              </a:spcBef>
              <a:spcAft>
                <a:spcPts val="0"/>
              </a:spcAft>
              <a:buClr>
                <a:srgbClr val="F7F5F1"/>
              </a:buClr>
              <a:buSzPts val="39000"/>
              <a:buFont typeface="Arial"/>
              <a:buNone/>
            </a:pPr>
            <a:r>
              <a:rPr lang="en-US" sz="39000" b="1" i="0" u="none" strike="noStrike" cap="none">
                <a:solidFill>
                  <a:srgbClr val="F7F5F1"/>
                </a:solidFill>
                <a:latin typeface="Arial"/>
                <a:ea typeface="Arial"/>
                <a:cs typeface="Arial"/>
                <a:sym typeface="Arial"/>
              </a:rPr>
              <a:t>06</a:t>
            </a:r>
            <a:endParaRPr sz="39000" b="0" i="0" u="none" strike="noStrike" cap="none">
              <a:solidFill>
                <a:schemeClr val="dk1"/>
              </a:solidFill>
              <a:latin typeface="Calibri"/>
              <a:ea typeface="Calibri"/>
              <a:cs typeface="Calibri"/>
              <a:sym typeface="Calibri"/>
            </a:endParaRPr>
          </a:p>
        </p:txBody>
      </p:sp>
      <p:sp>
        <p:nvSpPr>
          <p:cNvPr id="131" name="Google Shape;131;g3dc15369c17_0_195"/>
          <p:cNvSpPr/>
          <p:nvPr/>
        </p:nvSpPr>
        <p:spPr>
          <a:xfrm>
            <a:off x="1143000" y="3102293"/>
            <a:ext cx="14716200" cy="312300"/>
          </a:xfrm>
          <a:prstGeom prst="rect">
            <a:avLst/>
          </a:prstGeom>
          <a:noFill/>
          <a:ln>
            <a:noFill/>
          </a:ln>
        </p:spPr>
        <p:txBody>
          <a:bodyPr spcFirstLastPara="1" wrap="square" lIns="25400" tIns="25400" rIns="25400" bIns="25400" anchor="t" anchorCtr="0">
            <a:noAutofit/>
          </a:bodyPr>
          <a:lstStyle/>
          <a:p>
            <a:pPr marL="0" marR="0" lvl="0" indent="0" algn="l" rtl="0">
              <a:spcBef>
                <a:spcPts val="0"/>
              </a:spcBef>
              <a:spcAft>
                <a:spcPts val="0"/>
              </a:spcAft>
              <a:buClr>
                <a:srgbClr val="F58220"/>
              </a:buClr>
              <a:buSzPts val="1650"/>
              <a:buFont typeface="Arial"/>
              <a:buNone/>
            </a:pPr>
            <a:r>
              <a:rPr lang="en-US" sz="1650" b="0" i="0" u="none" strike="noStrike" cap="none">
                <a:solidFill>
                  <a:srgbClr val="F58220"/>
                </a:solidFill>
                <a:latin typeface="Arial"/>
                <a:ea typeface="Arial"/>
                <a:cs typeface="Arial"/>
                <a:sym typeface="Arial"/>
              </a:rPr>
              <a:t>STAGE 06</a:t>
            </a:r>
            <a:endParaRPr sz="1650" b="0" i="0" u="none" strike="noStrike" cap="none">
              <a:solidFill>
                <a:schemeClr val="dk1"/>
              </a:solidFill>
              <a:latin typeface="Calibri"/>
              <a:ea typeface="Calibri"/>
              <a:cs typeface="Calibri"/>
              <a:sym typeface="Calibri"/>
            </a:endParaRPr>
          </a:p>
        </p:txBody>
      </p:sp>
      <p:sp>
        <p:nvSpPr>
          <p:cNvPr id="132" name="Google Shape;132;g3dc15369c17_0_195"/>
          <p:cNvSpPr/>
          <p:nvPr/>
        </p:nvSpPr>
        <p:spPr>
          <a:xfrm>
            <a:off x="1143000" y="3681413"/>
            <a:ext cx="14716200" cy="1341000"/>
          </a:xfrm>
          <a:prstGeom prst="rect">
            <a:avLst/>
          </a:prstGeom>
          <a:noFill/>
          <a:ln>
            <a:noFill/>
          </a:ln>
        </p:spPr>
        <p:txBody>
          <a:bodyPr spcFirstLastPara="1" wrap="square" lIns="25400" tIns="25400" rIns="25400" bIns="25400" anchor="t" anchorCtr="0">
            <a:noAutofit/>
          </a:bodyPr>
          <a:lstStyle/>
          <a:p>
            <a:pPr marL="0" marR="0" lvl="0" indent="0" algn="l" rtl="0">
              <a:lnSpc>
                <a:spcPct val="95000"/>
              </a:lnSpc>
              <a:spcBef>
                <a:spcPts val="0"/>
              </a:spcBef>
              <a:spcAft>
                <a:spcPts val="0"/>
              </a:spcAft>
              <a:buClr>
                <a:srgbClr val="14161C"/>
              </a:buClr>
              <a:buSzPts val="10800"/>
              <a:buFont typeface="Arial"/>
              <a:buNone/>
            </a:pPr>
            <a:r>
              <a:rPr lang="en-US" sz="10800" b="1" i="0" u="none" strike="noStrike" cap="none">
                <a:solidFill>
                  <a:srgbClr val="14161C"/>
                </a:solidFill>
                <a:latin typeface="Arial"/>
                <a:ea typeface="Arial"/>
                <a:cs typeface="Arial"/>
                <a:sym typeface="Arial"/>
              </a:rPr>
              <a:t>The Engineer Era.</a:t>
            </a:r>
            <a:endParaRPr sz="10800" b="0" i="0" u="none" strike="noStrike" cap="none">
              <a:solidFill>
                <a:schemeClr val="dk1"/>
              </a:solidFill>
              <a:latin typeface="Calibri"/>
              <a:ea typeface="Calibri"/>
              <a:cs typeface="Calibri"/>
              <a:sym typeface="Calibri"/>
            </a:endParaRPr>
          </a:p>
        </p:txBody>
      </p:sp>
      <p:sp>
        <p:nvSpPr>
          <p:cNvPr id="133" name="Google Shape;133;g3dc15369c17_0_195"/>
          <p:cNvSpPr/>
          <p:nvPr/>
        </p:nvSpPr>
        <p:spPr>
          <a:xfrm>
            <a:off x="1143000" y="5441632"/>
            <a:ext cx="13735200" cy="1015500"/>
          </a:xfrm>
          <a:prstGeom prst="rect">
            <a:avLst/>
          </a:prstGeom>
          <a:noFill/>
          <a:ln>
            <a:noFill/>
          </a:ln>
        </p:spPr>
        <p:txBody>
          <a:bodyPr spcFirstLastPara="1" wrap="square" lIns="25400" tIns="25400" rIns="25400" bIns="25400" anchor="t" anchorCtr="0">
            <a:noAutofit/>
          </a:bodyPr>
          <a:lstStyle/>
          <a:p>
            <a:pPr marL="0" marR="0" lvl="0" indent="0" algn="l" rtl="0">
              <a:lnSpc>
                <a:spcPct val="135000"/>
              </a:lnSpc>
              <a:spcBef>
                <a:spcPts val="0"/>
              </a:spcBef>
              <a:spcAft>
                <a:spcPts val="0"/>
              </a:spcAft>
              <a:buClr>
                <a:srgbClr val="6B6E78"/>
              </a:buClr>
              <a:buSzPts val="2850"/>
              <a:buFont typeface="Arial"/>
              <a:buNone/>
            </a:pPr>
            <a:r>
              <a:rPr lang="en-US" sz="2850" b="0" i="0" u="none" strike="noStrike" cap="none">
                <a:solidFill>
                  <a:srgbClr val="6B6E78"/>
                </a:solidFill>
                <a:latin typeface="Arial"/>
                <a:ea typeface="Arial"/>
                <a:cs typeface="Arial"/>
                <a:sym typeface="Arial"/>
              </a:rPr>
              <a:t>Now I build from a </a:t>
            </a:r>
            <a:r>
              <a:rPr lang="en-US" sz="2850" b="0" i="0" u="none" strike="noStrike" cap="none">
                <a:solidFill>
                  <a:srgbClr val="14161C"/>
                </a:solidFill>
                <a:latin typeface="Arial"/>
                <a:ea typeface="Arial"/>
                <a:cs typeface="Arial"/>
                <a:sym typeface="Arial"/>
              </a:rPr>
              <a:t>base repository </a:t>
            </a:r>
            <a:r>
              <a:rPr lang="en-US" sz="2850" b="0" i="0" u="none" strike="noStrike" cap="none">
                <a:solidFill>
                  <a:srgbClr val="6B6E78"/>
                </a:solidFill>
                <a:latin typeface="Arial"/>
                <a:ea typeface="Arial"/>
                <a:cs typeface="Arial"/>
                <a:sym typeface="Arial"/>
              </a:rPr>
              <a:t>. Same apps — but stronger every time. Not a different prompt every time. </a:t>
            </a:r>
            <a:r>
              <a:rPr lang="en-US" sz="2850" b="0" i="0" u="none" strike="noStrike" cap="none">
                <a:solidFill>
                  <a:srgbClr val="F58220"/>
                </a:solidFill>
                <a:latin typeface="Arial"/>
                <a:ea typeface="Arial"/>
                <a:cs typeface="Arial"/>
                <a:sym typeface="Arial"/>
              </a:rPr>
              <a:t>A system.</a:t>
            </a:r>
            <a:endParaRPr sz="2850" b="0" i="0" u="none" strike="noStrike" cap="none">
              <a:solidFill>
                <a:schemeClr val="dk1"/>
              </a:solidFill>
              <a:latin typeface="Calibri"/>
              <a:ea typeface="Calibri"/>
              <a:cs typeface="Calibri"/>
              <a:sym typeface="Calibri"/>
            </a:endParaRPr>
          </a:p>
        </p:txBody>
      </p:sp>
      <p:sp>
        <p:nvSpPr>
          <p:cNvPr id="134" name="Google Shape;134;g3dc15369c17_0_195"/>
          <p:cNvSpPr/>
          <p:nvPr/>
        </p:nvSpPr>
        <p:spPr>
          <a:xfrm>
            <a:off x="1143000" y="6876098"/>
            <a:ext cx="1834200" cy="403800"/>
          </a:xfrm>
          <a:prstGeom prst="rect">
            <a:avLst/>
          </a:prstGeom>
          <a:noFill/>
          <a:ln w="9525" cap="flat" cmpd="sng">
            <a:solidFill>
              <a:srgbClr val="F5822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 name="Google Shape;135;g3dc15369c17_0_195"/>
          <p:cNvSpPr/>
          <p:nvPr/>
        </p:nvSpPr>
        <p:spPr>
          <a:xfrm>
            <a:off x="1322070" y="6978968"/>
            <a:ext cx="1552200" cy="236100"/>
          </a:xfrm>
          <a:prstGeom prst="rect">
            <a:avLst/>
          </a:prstGeom>
          <a:noFill/>
          <a:ln>
            <a:noFill/>
          </a:ln>
        </p:spPr>
        <p:txBody>
          <a:bodyPr spcFirstLastPara="1" wrap="square" lIns="25400" tIns="25400" rIns="25400" bIns="25400" anchor="ctr" anchorCtr="0">
            <a:noAutofit/>
          </a:bodyPr>
          <a:lstStyle/>
          <a:p>
            <a:pPr marL="0" marR="0" lvl="0" indent="0" algn="l" rtl="0">
              <a:spcBef>
                <a:spcPts val="0"/>
              </a:spcBef>
              <a:spcAft>
                <a:spcPts val="0"/>
              </a:spcAft>
              <a:buClr>
                <a:srgbClr val="F58220"/>
              </a:buClr>
              <a:buSzPts val="1350"/>
              <a:buFont typeface="Arial"/>
              <a:buNone/>
            </a:pPr>
            <a:r>
              <a:rPr lang="en-US" sz="1350" b="0" i="0" u="none" strike="noStrike" cap="none">
                <a:solidFill>
                  <a:srgbClr val="F58220"/>
                </a:solidFill>
                <a:latin typeface="Arial"/>
                <a:ea typeface="Arial"/>
                <a:cs typeface="Arial"/>
                <a:sym typeface="Arial"/>
              </a:rPr>
              <a:t>REPEATABLE</a:t>
            </a:r>
            <a:endParaRPr sz="1350" b="0" i="0" u="none" strike="noStrike" cap="none">
              <a:solidFill>
                <a:schemeClr val="dk1"/>
              </a:solidFill>
              <a:latin typeface="Calibri"/>
              <a:ea typeface="Calibri"/>
              <a:cs typeface="Calibri"/>
              <a:sym typeface="Calibri"/>
            </a:endParaRPr>
          </a:p>
        </p:txBody>
      </p:sp>
      <p:sp>
        <p:nvSpPr>
          <p:cNvPr id="136" name="Google Shape;136;g3dc15369c17_0_195"/>
          <p:cNvSpPr/>
          <p:nvPr/>
        </p:nvSpPr>
        <p:spPr>
          <a:xfrm>
            <a:off x="3148727" y="6876098"/>
            <a:ext cx="1840200" cy="403800"/>
          </a:xfrm>
          <a:prstGeom prst="rect">
            <a:avLst/>
          </a:prstGeom>
          <a:noFill/>
          <a:ln w="9525" cap="flat" cmpd="sng">
            <a:solidFill>
              <a:srgbClr val="F5822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 name="Google Shape;137;g3dc15369c17_0_195"/>
          <p:cNvSpPr/>
          <p:nvPr/>
        </p:nvSpPr>
        <p:spPr>
          <a:xfrm>
            <a:off x="3327797" y="6978968"/>
            <a:ext cx="1558500" cy="236100"/>
          </a:xfrm>
          <a:prstGeom prst="rect">
            <a:avLst/>
          </a:prstGeom>
          <a:noFill/>
          <a:ln>
            <a:noFill/>
          </a:ln>
        </p:spPr>
        <p:txBody>
          <a:bodyPr spcFirstLastPara="1" wrap="square" lIns="25400" tIns="25400" rIns="25400" bIns="25400" anchor="ctr" anchorCtr="0">
            <a:noAutofit/>
          </a:bodyPr>
          <a:lstStyle/>
          <a:p>
            <a:pPr marL="0" marR="0" lvl="0" indent="0" algn="l" rtl="0">
              <a:spcBef>
                <a:spcPts val="0"/>
              </a:spcBef>
              <a:spcAft>
                <a:spcPts val="0"/>
              </a:spcAft>
              <a:buClr>
                <a:srgbClr val="F58220"/>
              </a:buClr>
              <a:buSzPts val="1350"/>
              <a:buFont typeface="Arial"/>
              <a:buNone/>
            </a:pPr>
            <a:r>
              <a:rPr lang="en-US" sz="1350" b="0" i="0" u="none" strike="noStrike" cap="none">
                <a:solidFill>
                  <a:srgbClr val="F58220"/>
                </a:solidFill>
                <a:latin typeface="Arial"/>
                <a:ea typeface="Arial"/>
                <a:cs typeface="Arial"/>
                <a:sym typeface="Arial"/>
              </a:rPr>
              <a:t>CONSISTENT</a:t>
            </a:r>
            <a:endParaRPr sz="1350" b="0" i="0" u="none" strike="noStrike" cap="none">
              <a:solidFill>
                <a:schemeClr val="dk1"/>
              </a:solidFill>
              <a:latin typeface="Calibri"/>
              <a:ea typeface="Calibri"/>
              <a:cs typeface="Calibri"/>
              <a:sym typeface="Calibri"/>
            </a:endParaRPr>
          </a:p>
        </p:txBody>
      </p:sp>
      <p:sp>
        <p:nvSpPr>
          <p:cNvPr id="138" name="Google Shape;138;g3dc15369c17_0_195"/>
          <p:cNvSpPr/>
          <p:nvPr/>
        </p:nvSpPr>
        <p:spPr>
          <a:xfrm>
            <a:off x="5160526" y="6876098"/>
            <a:ext cx="2914200" cy="403800"/>
          </a:xfrm>
          <a:prstGeom prst="rect">
            <a:avLst/>
          </a:prstGeom>
          <a:noFill/>
          <a:ln w="9525" cap="flat" cmpd="sng">
            <a:solidFill>
              <a:srgbClr val="F5822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 name="Google Shape;139;g3dc15369c17_0_195"/>
          <p:cNvSpPr/>
          <p:nvPr/>
        </p:nvSpPr>
        <p:spPr>
          <a:xfrm>
            <a:off x="5339596" y="6978968"/>
            <a:ext cx="2643300" cy="236100"/>
          </a:xfrm>
          <a:prstGeom prst="rect">
            <a:avLst/>
          </a:prstGeom>
          <a:noFill/>
          <a:ln>
            <a:noFill/>
          </a:ln>
        </p:spPr>
        <p:txBody>
          <a:bodyPr spcFirstLastPara="1" wrap="square" lIns="25400" tIns="25400" rIns="25400" bIns="25400" anchor="ctr" anchorCtr="0">
            <a:noAutofit/>
          </a:bodyPr>
          <a:lstStyle/>
          <a:p>
            <a:pPr marL="0" marR="0" lvl="0" indent="0" algn="l" rtl="0">
              <a:spcBef>
                <a:spcPts val="0"/>
              </a:spcBef>
              <a:spcAft>
                <a:spcPts val="0"/>
              </a:spcAft>
              <a:buClr>
                <a:srgbClr val="F58220"/>
              </a:buClr>
              <a:buSzPts val="1350"/>
              <a:buFont typeface="Arial"/>
              <a:buNone/>
            </a:pPr>
            <a:r>
              <a:rPr lang="en-US" sz="1350" b="0" i="0" u="none" strike="noStrike" cap="none">
                <a:solidFill>
                  <a:srgbClr val="F58220"/>
                </a:solidFill>
                <a:latin typeface="Arial"/>
                <a:ea typeface="Arial"/>
                <a:cs typeface="Arial"/>
                <a:sym typeface="Arial"/>
              </a:rPr>
              <a:t>PRODUCTION-SHAPED</a:t>
            </a:r>
            <a:endParaRPr sz="1350" b="0" i="0" u="none" strike="noStrike" cap="none">
              <a:solidFill>
                <a:schemeClr val="dk1"/>
              </a:solidFill>
              <a:latin typeface="Calibri"/>
              <a:ea typeface="Calibri"/>
              <a:cs typeface="Calibri"/>
              <a:sym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44"/>
        <p:cNvGrpSpPr/>
        <p:nvPr/>
      </p:nvGrpSpPr>
      <p:grpSpPr>
        <a:xfrm>
          <a:off x="0" y="0"/>
          <a:ext cx="0" cy="0"/>
          <a:chOff x="0" y="0"/>
          <a:chExt cx="0" cy="0"/>
        </a:xfrm>
      </p:grpSpPr>
      <p:sp>
        <p:nvSpPr>
          <p:cNvPr id="145" name="Google Shape;145;g3dc15369c17_0_211"/>
          <p:cNvSpPr/>
          <p:nvPr/>
        </p:nvSpPr>
        <p:spPr>
          <a:xfrm>
            <a:off x="1143000" y="476250"/>
            <a:ext cx="1862400" cy="236100"/>
          </a:xfrm>
          <a:prstGeom prst="rect">
            <a:avLst/>
          </a:prstGeom>
          <a:noFill/>
          <a:ln>
            <a:noFill/>
          </a:ln>
        </p:spPr>
        <p:txBody>
          <a:bodyPr spcFirstLastPara="1" wrap="square" lIns="25400" tIns="25400" rIns="25400" bIns="25400" anchor="t" anchorCtr="0">
            <a:noAutofit/>
          </a:bodyPr>
          <a:lstStyle/>
          <a:p>
            <a:pPr marL="0" marR="0" lvl="0" indent="0" algn="l" rtl="0">
              <a:spcBef>
                <a:spcPts val="0"/>
              </a:spcBef>
              <a:spcAft>
                <a:spcPts val="0"/>
              </a:spcAft>
              <a:buClr>
                <a:srgbClr val="6B6E78"/>
              </a:buClr>
              <a:buSzPts val="1350"/>
              <a:buFont typeface="Arial"/>
              <a:buNone/>
            </a:pPr>
            <a:r>
              <a:rPr lang="en-US" sz="1350" b="0" i="0" u="none" strike="noStrike" cap="none">
                <a:solidFill>
                  <a:srgbClr val="6B6E78"/>
                </a:solidFill>
                <a:latin typeface="Arial"/>
                <a:ea typeface="Arial"/>
                <a:cs typeface="Arial"/>
                <a:sym typeface="Arial"/>
              </a:rPr>
              <a:t>THE CONTRAST</a:t>
            </a:r>
            <a:endParaRPr sz="1350" b="0" i="0" u="none" strike="noStrike" cap="none">
              <a:solidFill>
                <a:schemeClr val="dk1"/>
              </a:solidFill>
              <a:latin typeface="Calibri"/>
              <a:ea typeface="Calibri"/>
              <a:cs typeface="Calibri"/>
              <a:sym typeface="Calibri"/>
            </a:endParaRPr>
          </a:p>
        </p:txBody>
      </p:sp>
      <p:sp>
        <p:nvSpPr>
          <p:cNvPr id="146" name="Google Shape;146;g3dc15369c17_0_211"/>
          <p:cNvSpPr/>
          <p:nvPr/>
        </p:nvSpPr>
        <p:spPr>
          <a:xfrm>
            <a:off x="15140344" y="476250"/>
            <a:ext cx="2080800" cy="236100"/>
          </a:xfrm>
          <a:prstGeom prst="rect">
            <a:avLst/>
          </a:prstGeom>
          <a:noFill/>
          <a:ln>
            <a:noFill/>
          </a:ln>
        </p:spPr>
        <p:txBody>
          <a:bodyPr spcFirstLastPara="1" wrap="square" lIns="25400" tIns="25400" rIns="25400" bIns="25400" anchor="t" anchorCtr="0">
            <a:noAutofit/>
          </a:bodyPr>
          <a:lstStyle/>
          <a:p>
            <a:pPr marL="0" marR="0" lvl="0" indent="0" algn="l" rtl="0">
              <a:spcBef>
                <a:spcPts val="0"/>
              </a:spcBef>
              <a:spcAft>
                <a:spcPts val="0"/>
              </a:spcAft>
              <a:buClr>
                <a:srgbClr val="6B6E78"/>
              </a:buClr>
              <a:buSzPts val="1350"/>
              <a:buFont typeface="Arial"/>
              <a:buNone/>
            </a:pPr>
            <a:r>
              <a:rPr lang="en-US" sz="1350" b="0" i="0" u="none" strike="noStrike" cap="none">
                <a:solidFill>
                  <a:srgbClr val="6B6E78"/>
                </a:solidFill>
                <a:latin typeface="Arial"/>
                <a:ea typeface="Arial"/>
                <a:cs typeface="Arial"/>
                <a:sym typeface="Arial"/>
              </a:rPr>
              <a:t>VIBE → CONTEXT</a:t>
            </a:r>
            <a:endParaRPr sz="1350" b="0" i="0" u="none" strike="noStrike" cap="none">
              <a:solidFill>
                <a:schemeClr val="dk1"/>
              </a:solidFill>
              <a:latin typeface="Calibri"/>
              <a:ea typeface="Calibri"/>
              <a:cs typeface="Calibri"/>
              <a:sym typeface="Calibri"/>
            </a:endParaRPr>
          </a:p>
        </p:txBody>
      </p:sp>
      <p:sp>
        <p:nvSpPr>
          <p:cNvPr id="147" name="Google Shape;147;g3dc15369c17_0_211"/>
          <p:cNvSpPr/>
          <p:nvPr/>
        </p:nvSpPr>
        <p:spPr>
          <a:xfrm>
            <a:off x="1143000" y="952500"/>
            <a:ext cx="16482000" cy="312300"/>
          </a:xfrm>
          <a:prstGeom prst="rect">
            <a:avLst/>
          </a:prstGeom>
          <a:noFill/>
          <a:ln>
            <a:noFill/>
          </a:ln>
        </p:spPr>
        <p:txBody>
          <a:bodyPr spcFirstLastPara="1" wrap="square" lIns="25400" tIns="25400" rIns="25400" bIns="25400" anchor="t" anchorCtr="0">
            <a:noAutofit/>
          </a:bodyPr>
          <a:lstStyle/>
          <a:p>
            <a:pPr marL="0" marR="0" lvl="0" indent="0" algn="l" rtl="0">
              <a:spcBef>
                <a:spcPts val="0"/>
              </a:spcBef>
              <a:spcAft>
                <a:spcPts val="0"/>
              </a:spcAft>
              <a:buClr>
                <a:srgbClr val="F58220"/>
              </a:buClr>
              <a:buSzPts val="1650"/>
              <a:buFont typeface="Arial"/>
              <a:buNone/>
            </a:pPr>
            <a:r>
              <a:rPr lang="en-US" sz="1650" b="0" i="0" u="none" strike="noStrike" cap="none">
                <a:solidFill>
                  <a:srgbClr val="F58220"/>
                </a:solidFill>
                <a:latin typeface="Arial"/>
                <a:ea typeface="Arial"/>
                <a:cs typeface="Arial"/>
                <a:sym typeface="Arial"/>
              </a:rPr>
              <a:t>SIDE BY SIDE</a:t>
            </a:r>
            <a:endParaRPr sz="1650" b="0" i="0" u="none" strike="noStrike" cap="none">
              <a:solidFill>
                <a:schemeClr val="dk1"/>
              </a:solidFill>
              <a:latin typeface="Calibri"/>
              <a:ea typeface="Calibri"/>
              <a:cs typeface="Calibri"/>
              <a:sym typeface="Calibri"/>
            </a:endParaRPr>
          </a:p>
        </p:txBody>
      </p:sp>
      <p:sp>
        <p:nvSpPr>
          <p:cNvPr id="148" name="Google Shape;148;g3dc15369c17_0_211"/>
          <p:cNvSpPr/>
          <p:nvPr/>
        </p:nvSpPr>
        <p:spPr>
          <a:xfrm>
            <a:off x="1143000" y="1455420"/>
            <a:ext cx="16482000" cy="914400"/>
          </a:xfrm>
          <a:prstGeom prst="rect">
            <a:avLst/>
          </a:prstGeom>
          <a:noFill/>
          <a:ln>
            <a:noFill/>
          </a:ln>
        </p:spPr>
        <p:txBody>
          <a:bodyPr spcFirstLastPara="1" wrap="square" lIns="25400" tIns="25400" rIns="25400" bIns="25400" anchor="t" anchorCtr="0">
            <a:noAutofit/>
          </a:bodyPr>
          <a:lstStyle/>
          <a:p>
            <a:pPr marL="0" marR="0" lvl="0" indent="0" algn="l" rtl="0">
              <a:lnSpc>
                <a:spcPct val="95000"/>
              </a:lnSpc>
              <a:spcBef>
                <a:spcPts val="0"/>
              </a:spcBef>
              <a:spcAft>
                <a:spcPts val="0"/>
              </a:spcAft>
              <a:buClr>
                <a:srgbClr val="14161C"/>
              </a:buClr>
              <a:buSzPts val="7200"/>
              <a:buFont typeface="Arial"/>
              <a:buNone/>
            </a:pPr>
            <a:r>
              <a:rPr lang="en-US" sz="7200" b="1" i="0" u="none" strike="noStrike" cap="none">
                <a:solidFill>
                  <a:srgbClr val="14161C"/>
                </a:solidFill>
                <a:latin typeface="Arial"/>
                <a:ea typeface="Arial"/>
                <a:cs typeface="Arial"/>
                <a:sym typeface="Arial"/>
              </a:rPr>
              <a:t>Vibe Coder </a:t>
            </a:r>
            <a:r>
              <a:rPr lang="en-US" sz="7200" b="0" i="0" u="none" strike="noStrike" cap="none">
                <a:solidFill>
                  <a:srgbClr val="6B6E78"/>
                </a:solidFill>
                <a:latin typeface="Arial"/>
                <a:ea typeface="Arial"/>
                <a:cs typeface="Arial"/>
                <a:sym typeface="Arial"/>
              </a:rPr>
              <a:t>vs. </a:t>
            </a:r>
            <a:r>
              <a:rPr lang="en-US" sz="7200" b="1" i="0" u="none" strike="noStrike" cap="none">
                <a:solidFill>
                  <a:srgbClr val="14161C"/>
                </a:solidFill>
                <a:latin typeface="Arial"/>
                <a:ea typeface="Arial"/>
                <a:cs typeface="Arial"/>
                <a:sym typeface="Arial"/>
              </a:rPr>
              <a:t>Context Engineer.</a:t>
            </a:r>
            <a:endParaRPr sz="7200" b="0" i="0" u="none" strike="noStrike" cap="none">
              <a:solidFill>
                <a:schemeClr val="dk1"/>
              </a:solidFill>
              <a:latin typeface="Calibri"/>
              <a:ea typeface="Calibri"/>
              <a:cs typeface="Calibri"/>
              <a:sym typeface="Calibri"/>
            </a:endParaRPr>
          </a:p>
        </p:txBody>
      </p:sp>
      <p:sp>
        <p:nvSpPr>
          <p:cNvPr id="149" name="Google Shape;149;g3dc15369c17_0_211"/>
          <p:cNvSpPr/>
          <p:nvPr/>
        </p:nvSpPr>
        <p:spPr>
          <a:xfrm>
            <a:off x="1143000" y="2941320"/>
            <a:ext cx="7810500" cy="6488400"/>
          </a:xfrm>
          <a:prstGeom prst="rect">
            <a:avLst/>
          </a:prstGeom>
          <a:solidFill>
            <a:srgbClr val="F7F5F1"/>
          </a:solidFill>
          <a:ln w="9525" cap="flat" cmpd="sng">
            <a:solidFill>
              <a:srgbClr val="E5E5E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 name="Google Shape;150;g3dc15369c17_0_211"/>
          <p:cNvSpPr/>
          <p:nvPr/>
        </p:nvSpPr>
        <p:spPr>
          <a:xfrm>
            <a:off x="1607820" y="3482340"/>
            <a:ext cx="7087200" cy="236100"/>
          </a:xfrm>
          <a:prstGeom prst="rect">
            <a:avLst/>
          </a:prstGeom>
          <a:noFill/>
          <a:ln>
            <a:noFill/>
          </a:ln>
        </p:spPr>
        <p:txBody>
          <a:bodyPr spcFirstLastPara="1" wrap="square" lIns="25400" tIns="25400" rIns="25400" bIns="25400" anchor="t" anchorCtr="0">
            <a:noAutofit/>
          </a:bodyPr>
          <a:lstStyle/>
          <a:p>
            <a:pPr marL="0" marR="0" lvl="0" indent="0" algn="l" rtl="0">
              <a:spcBef>
                <a:spcPts val="0"/>
              </a:spcBef>
              <a:spcAft>
                <a:spcPts val="0"/>
              </a:spcAft>
              <a:buClr>
                <a:srgbClr val="6B6E78"/>
              </a:buClr>
              <a:buSzPts val="1350"/>
              <a:buFont typeface="Arial"/>
              <a:buNone/>
            </a:pPr>
            <a:r>
              <a:rPr lang="en-US" sz="1350" b="0" i="0" u="none" strike="noStrike" cap="none">
                <a:solidFill>
                  <a:srgbClr val="6B6E78"/>
                </a:solidFill>
                <a:latin typeface="Arial"/>
                <a:ea typeface="Arial"/>
                <a:cs typeface="Arial"/>
                <a:sym typeface="Arial"/>
              </a:rPr>
              <a:t>BEFORE</a:t>
            </a:r>
            <a:endParaRPr sz="1350" b="0" i="0" u="none" strike="noStrike" cap="none">
              <a:solidFill>
                <a:schemeClr val="dk1"/>
              </a:solidFill>
              <a:latin typeface="Calibri"/>
              <a:ea typeface="Calibri"/>
              <a:cs typeface="Calibri"/>
              <a:sym typeface="Calibri"/>
            </a:endParaRPr>
          </a:p>
        </p:txBody>
      </p:sp>
      <p:sp>
        <p:nvSpPr>
          <p:cNvPr id="151" name="Google Shape;151;g3dc15369c17_0_211"/>
          <p:cNvSpPr/>
          <p:nvPr/>
        </p:nvSpPr>
        <p:spPr>
          <a:xfrm>
            <a:off x="1607820" y="3890010"/>
            <a:ext cx="7087200" cy="693300"/>
          </a:xfrm>
          <a:prstGeom prst="rect">
            <a:avLst/>
          </a:prstGeom>
          <a:noFill/>
          <a:ln>
            <a:noFill/>
          </a:ln>
        </p:spPr>
        <p:txBody>
          <a:bodyPr spcFirstLastPara="1" wrap="square" lIns="25400" tIns="25400" rIns="25400" bIns="25400" anchor="t" anchorCtr="0">
            <a:noAutofit/>
          </a:bodyPr>
          <a:lstStyle/>
          <a:p>
            <a:pPr marL="0" marR="0" lvl="0" indent="0" algn="l" rtl="0">
              <a:spcBef>
                <a:spcPts val="0"/>
              </a:spcBef>
              <a:spcAft>
                <a:spcPts val="0"/>
              </a:spcAft>
              <a:buClr>
                <a:srgbClr val="14161C"/>
              </a:buClr>
              <a:buSzPts val="4200"/>
              <a:buFont typeface="Arial"/>
              <a:buNone/>
            </a:pPr>
            <a:r>
              <a:rPr lang="en-US" sz="4200" b="1" i="0" u="none" strike="noStrike" cap="none">
                <a:solidFill>
                  <a:srgbClr val="14161C"/>
                </a:solidFill>
                <a:latin typeface="Arial"/>
                <a:ea typeface="Arial"/>
                <a:cs typeface="Arial"/>
                <a:sym typeface="Arial"/>
              </a:rPr>
              <a:t>Vibe Coder</a:t>
            </a:r>
            <a:endParaRPr sz="4200" b="0" i="0" u="none" strike="noStrike" cap="none">
              <a:solidFill>
                <a:schemeClr val="dk1"/>
              </a:solidFill>
              <a:latin typeface="Calibri"/>
              <a:ea typeface="Calibri"/>
              <a:cs typeface="Calibri"/>
              <a:sym typeface="Calibri"/>
            </a:endParaRPr>
          </a:p>
        </p:txBody>
      </p:sp>
      <p:sp>
        <p:nvSpPr>
          <p:cNvPr id="152" name="Google Shape;152;g3dc15369c17_0_211"/>
          <p:cNvSpPr/>
          <p:nvPr/>
        </p:nvSpPr>
        <p:spPr>
          <a:xfrm>
            <a:off x="1434465" y="4754880"/>
            <a:ext cx="7130400" cy="2710800"/>
          </a:xfrm>
          <a:prstGeom prst="rect">
            <a:avLst/>
          </a:prstGeom>
          <a:noFill/>
          <a:ln>
            <a:noFill/>
          </a:ln>
        </p:spPr>
        <p:txBody>
          <a:bodyPr spcFirstLastPara="1" wrap="square" lIns="25400" tIns="25400" rIns="25400" bIns="25400" anchor="t" anchorCtr="0">
            <a:noAutofit/>
          </a:bodyPr>
          <a:lstStyle/>
          <a:p>
            <a:pPr marL="0" marR="0" lvl="0" indent="0" algn="l" rtl="0">
              <a:lnSpc>
                <a:spcPct val="135000"/>
              </a:lnSpc>
              <a:spcBef>
                <a:spcPts val="0"/>
              </a:spcBef>
              <a:spcAft>
                <a:spcPts val="0"/>
              </a:spcAft>
              <a:buClr>
                <a:srgbClr val="6B6E78"/>
              </a:buClr>
              <a:buSzPts val="1950"/>
              <a:buFont typeface="Arial"/>
              <a:buNone/>
            </a:pPr>
            <a:r>
              <a:rPr lang="en-US" sz="1950" b="0" i="0" u="none" strike="noStrike" cap="none">
                <a:solidFill>
                  <a:srgbClr val="6B6E78"/>
                </a:solidFill>
                <a:latin typeface="Arial"/>
                <a:ea typeface="Arial"/>
                <a:cs typeface="Arial"/>
                <a:sym typeface="Arial"/>
              </a:rPr>
              <a:t>Prompt and pray</a:t>
            </a:r>
            <a:endParaRPr sz="1950" b="0" i="0" u="none" strike="noStrike" cap="none">
              <a:solidFill>
                <a:schemeClr val="dk1"/>
              </a:solidFill>
              <a:latin typeface="Calibri"/>
              <a:ea typeface="Calibri"/>
              <a:cs typeface="Calibri"/>
              <a:sym typeface="Calibri"/>
            </a:endParaRPr>
          </a:p>
          <a:p>
            <a:pPr marL="0" marR="0" lvl="0" indent="0" algn="l" rtl="0">
              <a:lnSpc>
                <a:spcPct val="135000"/>
              </a:lnSpc>
              <a:spcBef>
                <a:spcPts val="0"/>
              </a:spcBef>
              <a:spcAft>
                <a:spcPts val="0"/>
              </a:spcAft>
              <a:buClr>
                <a:srgbClr val="6B6E78"/>
              </a:buClr>
              <a:buSzPts val="1950"/>
              <a:buFont typeface="Arial"/>
              <a:buNone/>
            </a:pPr>
            <a:r>
              <a:rPr lang="en-US" sz="1950" b="0" i="0" u="none" strike="noStrike" cap="none">
                <a:solidFill>
                  <a:srgbClr val="6B6E78"/>
                </a:solidFill>
                <a:latin typeface="Arial"/>
                <a:ea typeface="Arial"/>
                <a:cs typeface="Arial"/>
                <a:sym typeface="Arial"/>
              </a:rPr>
              <a:t>One-shot every time</a:t>
            </a:r>
            <a:endParaRPr sz="1950" b="0" i="0" u="none" strike="noStrike" cap="none">
              <a:solidFill>
                <a:schemeClr val="dk1"/>
              </a:solidFill>
              <a:latin typeface="Calibri"/>
              <a:ea typeface="Calibri"/>
              <a:cs typeface="Calibri"/>
              <a:sym typeface="Calibri"/>
            </a:endParaRPr>
          </a:p>
          <a:p>
            <a:pPr marL="0" marR="0" lvl="0" indent="0" algn="l" rtl="0">
              <a:lnSpc>
                <a:spcPct val="135000"/>
              </a:lnSpc>
              <a:spcBef>
                <a:spcPts val="0"/>
              </a:spcBef>
              <a:spcAft>
                <a:spcPts val="0"/>
              </a:spcAft>
              <a:buClr>
                <a:srgbClr val="6B6E78"/>
              </a:buClr>
              <a:buSzPts val="1950"/>
              <a:buFont typeface="Arial"/>
              <a:buNone/>
            </a:pPr>
            <a:r>
              <a:rPr lang="en-US" sz="1950" b="0" i="0" u="none" strike="noStrike" cap="none">
                <a:solidFill>
                  <a:srgbClr val="6B6E78"/>
                </a:solidFill>
                <a:latin typeface="Arial"/>
                <a:ea typeface="Arial"/>
                <a:cs typeface="Arial"/>
                <a:sym typeface="Arial"/>
              </a:rPr>
              <a:t>Hours of hot-fixes</a:t>
            </a:r>
            <a:endParaRPr sz="1950" b="0" i="0" u="none" strike="noStrike" cap="none">
              <a:solidFill>
                <a:schemeClr val="dk1"/>
              </a:solidFill>
              <a:latin typeface="Calibri"/>
              <a:ea typeface="Calibri"/>
              <a:cs typeface="Calibri"/>
              <a:sym typeface="Calibri"/>
            </a:endParaRPr>
          </a:p>
          <a:p>
            <a:pPr marL="0" marR="0" lvl="0" indent="0" algn="l" rtl="0">
              <a:lnSpc>
                <a:spcPct val="135000"/>
              </a:lnSpc>
              <a:spcBef>
                <a:spcPts val="0"/>
              </a:spcBef>
              <a:spcAft>
                <a:spcPts val="0"/>
              </a:spcAft>
              <a:buClr>
                <a:srgbClr val="6B6E78"/>
              </a:buClr>
              <a:buSzPts val="1950"/>
              <a:buFont typeface="Arial"/>
              <a:buNone/>
            </a:pPr>
            <a:r>
              <a:rPr lang="en-US" sz="1950" b="0" i="0" u="none" strike="noStrike" cap="none">
                <a:solidFill>
                  <a:srgbClr val="6B6E78"/>
                </a:solidFill>
                <a:latin typeface="Arial"/>
                <a:ea typeface="Arial"/>
                <a:cs typeface="Arial"/>
                <a:sym typeface="Arial"/>
              </a:rPr>
              <a:t>Looks great, breaks fast</a:t>
            </a:r>
            <a:endParaRPr sz="1950" b="0" i="0" u="none" strike="noStrike" cap="none">
              <a:solidFill>
                <a:schemeClr val="dk1"/>
              </a:solidFill>
              <a:latin typeface="Calibri"/>
              <a:ea typeface="Calibri"/>
              <a:cs typeface="Calibri"/>
              <a:sym typeface="Calibri"/>
            </a:endParaRPr>
          </a:p>
          <a:p>
            <a:pPr marL="0" marR="0" lvl="0" indent="0" algn="l" rtl="0">
              <a:lnSpc>
                <a:spcPct val="135000"/>
              </a:lnSpc>
              <a:spcBef>
                <a:spcPts val="0"/>
              </a:spcBef>
              <a:spcAft>
                <a:spcPts val="0"/>
              </a:spcAft>
              <a:buClr>
                <a:srgbClr val="6B6E78"/>
              </a:buClr>
              <a:buSzPts val="1950"/>
              <a:buFont typeface="Arial"/>
              <a:buNone/>
            </a:pPr>
            <a:r>
              <a:rPr lang="en-US" sz="1950" b="0" i="0" u="none" strike="noStrike" cap="none">
                <a:solidFill>
                  <a:srgbClr val="6B6E78"/>
                </a:solidFill>
                <a:latin typeface="Arial"/>
                <a:ea typeface="Arial"/>
                <a:cs typeface="Arial"/>
                <a:sym typeface="Arial"/>
              </a:rPr>
              <a:t>Different bug every run</a:t>
            </a:r>
            <a:endParaRPr sz="1950" b="0" i="0" u="none" strike="noStrike" cap="none">
              <a:solidFill>
                <a:schemeClr val="dk1"/>
              </a:solidFill>
              <a:latin typeface="Calibri"/>
              <a:ea typeface="Calibri"/>
              <a:cs typeface="Calibri"/>
              <a:sym typeface="Calibri"/>
            </a:endParaRPr>
          </a:p>
          <a:p>
            <a:pPr marL="0" marR="0" lvl="0" indent="0" algn="l" rtl="0">
              <a:lnSpc>
                <a:spcPct val="135000"/>
              </a:lnSpc>
              <a:spcBef>
                <a:spcPts val="0"/>
              </a:spcBef>
              <a:spcAft>
                <a:spcPts val="0"/>
              </a:spcAft>
              <a:buClr>
                <a:srgbClr val="6B6E78"/>
              </a:buClr>
              <a:buSzPts val="1950"/>
              <a:buFont typeface="Arial"/>
              <a:buNone/>
            </a:pPr>
            <a:r>
              <a:rPr lang="en-US" sz="1950" b="0" i="0" u="none" strike="noStrike" cap="none">
                <a:solidFill>
                  <a:srgbClr val="6B6E78"/>
                </a:solidFill>
                <a:latin typeface="Arial"/>
                <a:ea typeface="Arial"/>
                <a:cs typeface="Arial"/>
                <a:sym typeface="Arial"/>
              </a:rPr>
              <a:t>Hidden technical debt</a:t>
            </a:r>
            <a:endParaRPr sz="1950" b="0" i="0" u="none" strike="noStrike" cap="none">
              <a:solidFill>
                <a:schemeClr val="dk1"/>
              </a:solidFill>
              <a:latin typeface="Calibri"/>
              <a:ea typeface="Calibri"/>
              <a:cs typeface="Calibri"/>
              <a:sym typeface="Calibri"/>
            </a:endParaRPr>
          </a:p>
        </p:txBody>
      </p:sp>
      <p:sp>
        <p:nvSpPr>
          <p:cNvPr id="153" name="Google Shape;153;g3dc15369c17_0_211"/>
          <p:cNvSpPr/>
          <p:nvPr/>
        </p:nvSpPr>
        <p:spPr>
          <a:xfrm>
            <a:off x="9334500" y="2941320"/>
            <a:ext cx="7810500" cy="6488400"/>
          </a:xfrm>
          <a:prstGeom prst="rect">
            <a:avLst/>
          </a:prstGeom>
          <a:solidFill>
            <a:srgbClr val="F7F5F1"/>
          </a:solidFill>
          <a:ln w="9525" cap="flat" cmpd="sng">
            <a:solidFill>
              <a:srgbClr val="F5822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 name="Google Shape;154;g3dc15369c17_0_211"/>
          <p:cNvSpPr/>
          <p:nvPr/>
        </p:nvSpPr>
        <p:spPr>
          <a:xfrm>
            <a:off x="9799320" y="3482340"/>
            <a:ext cx="7087200" cy="236100"/>
          </a:xfrm>
          <a:prstGeom prst="rect">
            <a:avLst/>
          </a:prstGeom>
          <a:noFill/>
          <a:ln>
            <a:noFill/>
          </a:ln>
        </p:spPr>
        <p:txBody>
          <a:bodyPr spcFirstLastPara="1" wrap="square" lIns="25400" tIns="25400" rIns="25400" bIns="25400" anchor="t" anchorCtr="0">
            <a:noAutofit/>
          </a:bodyPr>
          <a:lstStyle/>
          <a:p>
            <a:pPr marL="0" marR="0" lvl="0" indent="0" algn="l" rtl="0">
              <a:spcBef>
                <a:spcPts val="0"/>
              </a:spcBef>
              <a:spcAft>
                <a:spcPts val="0"/>
              </a:spcAft>
              <a:buClr>
                <a:srgbClr val="F58220"/>
              </a:buClr>
              <a:buSzPts val="1350"/>
              <a:buFont typeface="Arial"/>
              <a:buNone/>
            </a:pPr>
            <a:r>
              <a:rPr lang="en-US" sz="1350" b="0" i="0" u="none" strike="noStrike" cap="none">
                <a:solidFill>
                  <a:srgbClr val="F58220"/>
                </a:solidFill>
                <a:latin typeface="Arial"/>
                <a:ea typeface="Arial"/>
                <a:cs typeface="Arial"/>
                <a:sym typeface="Arial"/>
              </a:rPr>
              <a:t>NOW</a:t>
            </a:r>
            <a:endParaRPr sz="1350" b="0" i="0" u="none" strike="noStrike" cap="none">
              <a:solidFill>
                <a:schemeClr val="dk1"/>
              </a:solidFill>
              <a:latin typeface="Calibri"/>
              <a:ea typeface="Calibri"/>
              <a:cs typeface="Calibri"/>
              <a:sym typeface="Calibri"/>
            </a:endParaRPr>
          </a:p>
        </p:txBody>
      </p:sp>
      <p:sp>
        <p:nvSpPr>
          <p:cNvPr id="155" name="Google Shape;155;g3dc15369c17_0_211"/>
          <p:cNvSpPr/>
          <p:nvPr/>
        </p:nvSpPr>
        <p:spPr>
          <a:xfrm>
            <a:off x="9799320" y="3890010"/>
            <a:ext cx="7087200" cy="693300"/>
          </a:xfrm>
          <a:prstGeom prst="rect">
            <a:avLst/>
          </a:prstGeom>
          <a:noFill/>
          <a:ln>
            <a:noFill/>
          </a:ln>
        </p:spPr>
        <p:txBody>
          <a:bodyPr spcFirstLastPara="1" wrap="square" lIns="25400" tIns="25400" rIns="25400" bIns="25400" anchor="t" anchorCtr="0">
            <a:noAutofit/>
          </a:bodyPr>
          <a:lstStyle/>
          <a:p>
            <a:pPr marL="0" marR="0" lvl="0" indent="0" algn="l" rtl="0">
              <a:spcBef>
                <a:spcPts val="0"/>
              </a:spcBef>
              <a:spcAft>
                <a:spcPts val="0"/>
              </a:spcAft>
              <a:buClr>
                <a:srgbClr val="14161C"/>
              </a:buClr>
              <a:buSzPts val="4200"/>
              <a:buFont typeface="Arial"/>
              <a:buNone/>
            </a:pPr>
            <a:r>
              <a:rPr lang="en-US" sz="4200" b="1" i="0" u="none" strike="noStrike" cap="none">
                <a:solidFill>
                  <a:srgbClr val="14161C"/>
                </a:solidFill>
                <a:latin typeface="Arial"/>
                <a:ea typeface="Arial"/>
                <a:cs typeface="Arial"/>
                <a:sym typeface="Arial"/>
              </a:rPr>
              <a:t>Context Engineer</a:t>
            </a:r>
            <a:endParaRPr sz="4200" b="0" i="0" u="none" strike="noStrike" cap="none">
              <a:solidFill>
                <a:schemeClr val="dk1"/>
              </a:solidFill>
              <a:latin typeface="Calibri"/>
              <a:ea typeface="Calibri"/>
              <a:cs typeface="Calibri"/>
              <a:sym typeface="Calibri"/>
            </a:endParaRPr>
          </a:p>
        </p:txBody>
      </p:sp>
      <p:sp>
        <p:nvSpPr>
          <p:cNvPr id="156" name="Google Shape;156;g3dc15369c17_0_211"/>
          <p:cNvSpPr/>
          <p:nvPr/>
        </p:nvSpPr>
        <p:spPr>
          <a:xfrm>
            <a:off x="9625965" y="4754880"/>
            <a:ext cx="7130400" cy="2710800"/>
          </a:xfrm>
          <a:prstGeom prst="rect">
            <a:avLst/>
          </a:prstGeom>
          <a:noFill/>
          <a:ln>
            <a:noFill/>
          </a:ln>
        </p:spPr>
        <p:txBody>
          <a:bodyPr spcFirstLastPara="1" wrap="square" lIns="25400" tIns="25400" rIns="25400" bIns="25400" anchor="t" anchorCtr="0">
            <a:noAutofit/>
          </a:bodyPr>
          <a:lstStyle/>
          <a:p>
            <a:pPr marL="0" marR="0" lvl="0" indent="0" algn="l" rtl="0">
              <a:lnSpc>
                <a:spcPct val="135000"/>
              </a:lnSpc>
              <a:spcBef>
                <a:spcPts val="0"/>
              </a:spcBef>
              <a:spcAft>
                <a:spcPts val="0"/>
              </a:spcAft>
              <a:buClr>
                <a:srgbClr val="6B6E78"/>
              </a:buClr>
              <a:buSzPts val="1950"/>
              <a:buFont typeface="Arial"/>
              <a:buNone/>
            </a:pPr>
            <a:r>
              <a:rPr lang="en-US" sz="1950" b="0" i="0" u="none" strike="noStrike" cap="none">
                <a:solidFill>
                  <a:srgbClr val="6B6E78"/>
                </a:solidFill>
                <a:latin typeface="Arial"/>
                <a:ea typeface="Arial"/>
                <a:cs typeface="Arial"/>
                <a:sym typeface="Arial"/>
              </a:rPr>
              <a:t>Plan, then build</a:t>
            </a:r>
            <a:endParaRPr sz="1950" b="0" i="0" u="none" strike="noStrike" cap="none">
              <a:solidFill>
                <a:schemeClr val="dk1"/>
              </a:solidFill>
              <a:latin typeface="Calibri"/>
              <a:ea typeface="Calibri"/>
              <a:cs typeface="Calibri"/>
              <a:sym typeface="Calibri"/>
            </a:endParaRPr>
          </a:p>
          <a:p>
            <a:pPr marL="0" marR="0" lvl="0" indent="0" algn="l" rtl="0">
              <a:lnSpc>
                <a:spcPct val="135000"/>
              </a:lnSpc>
              <a:spcBef>
                <a:spcPts val="0"/>
              </a:spcBef>
              <a:spcAft>
                <a:spcPts val="0"/>
              </a:spcAft>
              <a:buClr>
                <a:srgbClr val="6B6E78"/>
              </a:buClr>
              <a:buSzPts val="1950"/>
              <a:buFont typeface="Arial"/>
              <a:buNone/>
            </a:pPr>
            <a:r>
              <a:rPr lang="en-US" sz="1950" b="0" i="0" u="none" strike="noStrike" cap="none">
                <a:solidFill>
                  <a:srgbClr val="6B6E78"/>
                </a:solidFill>
                <a:latin typeface="Arial"/>
                <a:ea typeface="Arial"/>
                <a:cs typeface="Arial"/>
                <a:sym typeface="Arial"/>
              </a:rPr>
              <a:t>Base repo as a foundation</a:t>
            </a:r>
            <a:endParaRPr sz="1950" b="0" i="0" u="none" strike="noStrike" cap="none">
              <a:solidFill>
                <a:schemeClr val="dk1"/>
              </a:solidFill>
              <a:latin typeface="Calibri"/>
              <a:ea typeface="Calibri"/>
              <a:cs typeface="Calibri"/>
              <a:sym typeface="Calibri"/>
            </a:endParaRPr>
          </a:p>
          <a:p>
            <a:pPr marL="0" marR="0" lvl="0" indent="0" algn="l" rtl="0">
              <a:lnSpc>
                <a:spcPct val="135000"/>
              </a:lnSpc>
              <a:spcBef>
                <a:spcPts val="0"/>
              </a:spcBef>
              <a:spcAft>
                <a:spcPts val="0"/>
              </a:spcAft>
              <a:buClr>
                <a:srgbClr val="6B6E78"/>
              </a:buClr>
              <a:buSzPts val="1950"/>
              <a:buFont typeface="Arial"/>
              <a:buNone/>
            </a:pPr>
            <a:r>
              <a:rPr lang="en-US" sz="1950" b="0" i="0" u="none" strike="noStrike" cap="none">
                <a:solidFill>
                  <a:srgbClr val="6B6E78"/>
                </a:solidFill>
                <a:latin typeface="Arial"/>
                <a:ea typeface="Arial"/>
                <a:cs typeface="Arial"/>
                <a:sym typeface="Arial"/>
              </a:rPr>
              <a:t>Hours of thinking up front</a:t>
            </a:r>
            <a:endParaRPr sz="1950" b="0" i="0" u="none" strike="noStrike" cap="none">
              <a:solidFill>
                <a:schemeClr val="dk1"/>
              </a:solidFill>
              <a:latin typeface="Calibri"/>
              <a:ea typeface="Calibri"/>
              <a:cs typeface="Calibri"/>
              <a:sym typeface="Calibri"/>
            </a:endParaRPr>
          </a:p>
          <a:p>
            <a:pPr marL="0" marR="0" lvl="0" indent="0" algn="l" rtl="0">
              <a:lnSpc>
                <a:spcPct val="135000"/>
              </a:lnSpc>
              <a:spcBef>
                <a:spcPts val="0"/>
              </a:spcBef>
              <a:spcAft>
                <a:spcPts val="0"/>
              </a:spcAft>
              <a:buClr>
                <a:srgbClr val="6B6E78"/>
              </a:buClr>
              <a:buSzPts val="1950"/>
              <a:buFont typeface="Arial"/>
              <a:buNone/>
            </a:pPr>
            <a:r>
              <a:rPr lang="en-US" sz="1950" b="0" i="0" u="none" strike="noStrike" cap="none">
                <a:solidFill>
                  <a:srgbClr val="6B6E78"/>
                </a:solidFill>
                <a:latin typeface="Arial"/>
                <a:ea typeface="Arial"/>
                <a:cs typeface="Arial"/>
                <a:sym typeface="Arial"/>
              </a:rPr>
              <a:t>Production-shaped from day one</a:t>
            </a:r>
            <a:endParaRPr sz="1950" b="0" i="0" u="none" strike="noStrike" cap="none">
              <a:solidFill>
                <a:schemeClr val="dk1"/>
              </a:solidFill>
              <a:latin typeface="Calibri"/>
              <a:ea typeface="Calibri"/>
              <a:cs typeface="Calibri"/>
              <a:sym typeface="Calibri"/>
            </a:endParaRPr>
          </a:p>
          <a:p>
            <a:pPr marL="0" marR="0" lvl="0" indent="0" algn="l" rtl="0">
              <a:lnSpc>
                <a:spcPct val="135000"/>
              </a:lnSpc>
              <a:spcBef>
                <a:spcPts val="0"/>
              </a:spcBef>
              <a:spcAft>
                <a:spcPts val="0"/>
              </a:spcAft>
              <a:buClr>
                <a:srgbClr val="6B6E78"/>
              </a:buClr>
              <a:buSzPts val="1950"/>
              <a:buFont typeface="Arial"/>
              <a:buNone/>
            </a:pPr>
            <a:r>
              <a:rPr lang="en-US" sz="1950" b="0" i="0" u="none" strike="noStrike" cap="none">
                <a:solidFill>
                  <a:srgbClr val="6B6E78"/>
                </a:solidFill>
                <a:latin typeface="Arial"/>
                <a:ea typeface="Arial"/>
                <a:cs typeface="Arial"/>
                <a:sym typeface="Arial"/>
              </a:rPr>
              <a:t>Repeatable, consistent</a:t>
            </a:r>
            <a:endParaRPr sz="1950" b="0" i="0" u="none" strike="noStrike" cap="none">
              <a:solidFill>
                <a:schemeClr val="dk1"/>
              </a:solidFill>
              <a:latin typeface="Calibri"/>
              <a:ea typeface="Calibri"/>
              <a:cs typeface="Calibri"/>
              <a:sym typeface="Calibri"/>
            </a:endParaRPr>
          </a:p>
          <a:p>
            <a:pPr marL="0" marR="0" lvl="0" indent="0" algn="l" rtl="0">
              <a:lnSpc>
                <a:spcPct val="135000"/>
              </a:lnSpc>
              <a:spcBef>
                <a:spcPts val="0"/>
              </a:spcBef>
              <a:spcAft>
                <a:spcPts val="0"/>
              </a:spcAft>
              <a:buClr>
                <a:srgbClr val="6B6E78"/>
              </a:buClr>
              <a:buSzPts val="1950"/>
              <a:buFont typeface="Arial"/>
              <a:buNone/>
            </a:pPr>
            <a:r>
              <a:rPr lang="en-US" sz="1950" b="0" i="0" u="none" strike="noStrike" cap="none">
                <a:solidFill>
                  <a:srgbClr val="6B6E78"/>
                </a:solidFill>
                <a:latin typeface="Arial"/>
                <a:ea typeface="Arial"/>
                <a:cs typeface="Arial"/>
                <a:sym typeface="Arial"/>
              </a:rPr>
              <a:t>Debt visible and managed</a:t>
            </a:r>
            <a:endParaRPr sz="1950" b="0" i="0" u="none" strike="noStrike" cap="none">
              <a:solidFill>
                <a:schemeClr val="dk1"/>
              </a:solidFill>
              <a:latin typeface="Calibri"/>
              <a:ea typeface="Calibri"/>
              <a:cs typeface="Calibri"/>
              <a:sym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61"/>
        <p:cNvGrpSpPr/>
        <p:nvPr/>
      </p:nvGrpSpPr>
      <p:grpSpPr>
        <a:xfrm>
          <a:off x="0" y="0"/>
          <a:ext cx="0" cy="0"/>
          <a:chOff x="0" y="0"/>
          <a:chExt cx="0" cy="0"/>
        </a:xfrm>
      </p:grpSpPr>
      <p:sp>
        <p:nvSpPr>
          <p:cNvPr id="162" name="Google Shape;162;g3dc15369c17_0_227"/>
          <p:cNvSpPr/>
          <p:nvPr/>
        </p:nvSpPr>
        <p:spPr>
          <a:xfrm>
            <a:off x="1143000" y="476250"/>
            <a:ext cx="1830900" cy="236100"/>
          </a:xfrm>
          <a:prstGeom prst="rect">
            <a:avLst/>
          </a:prstGeom>
          <a:noFill/>
          <a:ln>
            <a:noFill/>
          </a:ln>
        </p:spPr>
        <p:txBody>
          <a:bodyPr spcFirstLastPara="1" wrap="square" lIns="25400" tIns="25400" rIns="25400" bIns="25400" anchor="t" anchorCtr="0">
            <a:noAutofit/>
          </a:bodyPr>
          <a:lstStyle/>
          <a:p>
            <a:pPr marL="0" marR="0" lvl="0" indent="0" algn="l" rtl="0">
              <a:spcBef>
                <a:spcPts val="0"/>
              </a:spcBef>
              <a:spcAft>
                <a:spcPts val="0"/>
              </a:spcAft>
              <a:buClr>
                <a:srgbClr val="6B6E78"/>
              </a:buClr>
              <a:buSzPts val="1350"/>
              <a:buFont typeface="Arial"/>
              <a:buNone/>
            </a:pPr>
            <a:r>
              <a:rPr lang="en-US" sz="1350" b="0" i="0" u="none" strike="noStrike" cap="none">
                <a:solidFill>
                  <a:srgbClr val="6B6E78"/>
                </a:solidFill>
                <a:latin typeface="Arial"/>
                <a:ea typeface="Arial"/>
                <a:cs typeface="Arial"/>
                <a:sym typeface="Arial"/>
              </a:rPr>
              <a:t>THE TAKEAWAY</a:t>
            </a:r>
            <a:endParaRPr sz="1350" b="0" i="0" u="none" strike="noStrike" cap="none">
              <a:solidFill>
                <a:schemeClr val="dk1"/>
              </a:solidFill>
              <a:latin typeface="Calibri"/>
              <a:ea typeface="Calibri"/>
              <a:cs typeface="Calibri"/>
              <a:sym typeface="Calibri"/>
            </a:endParaRPr>
          </a:p>
        </p:txBody>
      </p:sp>
      <p:sp>
        <p:nvSpPr>
          <p:cNvPr id="163" name="Google Shape;163;g3dc15369c17_0_227"/>
          <p:cNvSpPr/>
          <p:nvPr/>
        </p:nvSpPr>
        <p:spPr>
          <a:xfrm>
            <a:off x="15349537" y="476250"/>
            <a:ext cx="1871700" cy="236100"/>
          </a:xfrm>
          <a:prstGeom prst="rect">
            <a:avLst/>
          </a:prstGeom>
          <a:noFill/>
          <a:ln>
            <a:noFill/>
          </a:ln>
        </p:spPr>
        <p:txBody>
          <a:bodyPr spcFirstLastPara="1" wrap="square" lIns="25400" tIns="25400" rIns="25400" bIns="25400" anchor="t" anchorCtr="0">
            <a:noAutofit/>
          </a:bodyPr>
          <a:lstStyle/>
          <a:p>
            <a:pPr marL="0" marR="0" lvl="0" indent="0" algn="l" rtl="0">
              <a:spcBef>
                <a:spcPts val="0"/>
              </a:spcBef>
              <a:spcAft>
                <a:spcPts val="0"/>
              </a:spcAft>
              <a:buClr>
                <a:srgbClr val="6B6E78"/>
              </a:buClr>
              <a:buSzPts val="1350"/>
              <a:buFont typeface="Arial"/>
              <a:buNone/>
            </a:pPr>
            <a:r>
              <a:rPr lang="en-US" sz="1350" b="0" i="0" u="none" strike="noStrike" cap="none">
                <a:solidFill>
                  <a:srgbClr val="6B6E78"/>
                </a:solidFill>
                <a:latin typeface="Arial"/>
                <a:ea typeface="Arial"/>
                <a:cs typeface="Arial"/>
                <a:sym typeface="Arial"/>
              </a:rPr>
              <a:t>END · OPENING</a:t>
            </a:r>
            <a:endParaRPr sz="1350" b="0" i="0" u="none" strike="noStrike" cap="none">
              <a:solidFill>
                <a:schemeClr val="dk1"/>
              </a:solidFill>
              <a:latin typeface="Calibri"/>
              <a:ea typeface="Calibri"/>
              <a:cs typeface="Calibri"/>
              <a:sym typeface="Calibri"/>
            </a:endParaRPr>
          </a:p>
        </p:txBody>
      </p:sp>
      <p:sp>
        <p:nvSpPr>
          <p:cNvPr id="164" name="Google Shape;164;g3dc15369c17_0_227"/>
          <p:cNvSpPr/>
          <p:nvPr/>
        </p:nvSpPr>
        <p:spPr>
          <a:xfrm>
            <a:off x="1143000" y="2255996"/>
            <a:ext cx="14716200" cy="2438400"/>
          </a:xfrm>
          <a:prstGeom prst="rect">
            <a:avLst/>
          </a:prstGeom>
          <a:noFill/>
          <a:ln>
            <a:noFill/>
          </a:ln>
        </p:spPr>
        <p:txBody>
          <a:bodyPr spcFirstLastPara="1" wrap="square" lIns="25400" tIns="25400" rIns="25400" bIns="25400" anchor="t" anchorCtr="0">
            <a:noAutofit/>
          </a:bodyPr>
          <a:lstStyle/>
          <a:p>
            <a:pPr marL="0" marR="0" lvl="0" indent="0" algn="l" rtl="0">
              <a:lnSpc>
                <a:spcPct val="70000"/>
              </a:lnSpc>
              <a:spcBef>
                <a:spcPts val="0"/>
              </a:spcBef>
              <a:spcAft>
                <a:spcPts val="0"/>
              </a:spcAft>
              <a:buClr>
                <a:srgbClr val="F58220"/>
              </a:buClr>
              <a:buSzPts val="27000"/>
              <a:buFont typeface="Arial"/>
              <a:buNone/>
            </a:pPr>
            <a:r>
              <a:rPr lang="en-US" sz="27000" b="1" i="0" u="none" strike="noStrike" cap="none">
                <a:solidFill>
                  <a:srgbClr val="F58220"/>
                </a:solidFill>
                <a:latin typeface="Arial"/>
                <a:ea typeface="Arial"/>
                <a:cs typeface="Arial"/>
                <a:sym typeface="Arial"/>
              </a:rPr>
              <a:t>"</a:t>
            </a:r>
            <a:endParaRPr sz="27000" b="0" i="0" u="none" strike="noStrike" cap="none">
              <a:solidFill>
                <a:schemeClr val="dk1"/>
              </a:solidFill>
              <a:latin typeface="Calibri"/>
              <a:ea typeface="Calibri"/>
              <a:cs typeface="Calibri"/>
              <a:sym typeface="Calibri"/>
            </a:endParaRPr>
          </a:p>
        </p:txBody>
      </p:sp>
      <p:sp>
        <p:nvSpPr>
          <p:cNvPr id="165" name="Google Shape;165;g3dc15369c17_0_227"/>
          <p:cNvSpPr/>
          <p:nvPr/>
        </p:nvSpPr>
        <p:spPr>
          <a:xfrm>
            <a:off x="1143000" y="4884897"/>
            <a:ext cx="14716200" cy="2121300"/>
          </a:xfrm>
          <a:prstGeom prst="rect">
            <a:avLst/>
          </a:prstGeom>
          <a:noFill/>
          <a:ln>
            <a:noFill/>
          </a:ln>
        </p:spPr>
        <p:txBody>
          <a:bodyPr spcFirstLastPara="1" wrap="square" lIns="25400" tIns="25400" rIns="25400" bIns="25400" anchor="t" anchorCtr="0">
            <a:noAutofit/>
          </a:bodyPr>
          <a:lstStyle/>
          <a:p>
            <a:pPr marL="0" marR="0" lvl="0" indent="0" algn="l" rtl="0">
              <a:lnSpc>
                <a:spcPct val="118000"/>
              </a:lnSpc>
              <a:spcBef>
                <a:spcPts val="0"/>
              </a:spcBef>
              <a:spcAft>
                <a:spcPts val="0"/>
              </a:spcAft>
              <a:buClr>
                <a:srgbClr val="14161C"/>
              </a:buClr>
              <a:buSzPts val="6900"/>
              <a:buFont typeface="Arial"/>
              <a:buNone/>
            </a:pPr>
            <a:r>
              <a:rPr lang="en-US" sz="6900" b="0" i="0" u="none" strike="noStrike" cap="none">
                <a:solidFill>
                  <a:srgbClr val="14161C"/>
                </a:solidFill>
                <a:latin typeface="Arial"/>
                <a:ea typeface="Arial"/>
                <a:cs typeface="Arial"/>
                <a:sym typeface="Arial"/>
              </a:rPr>
              <a:t>The leverage isn't in the </a:t>
            </a:r>
            <a:r>
              <a:rPr lang="en-US" sz="6900" b="1" i="0" u="none" strike="noStrike" cap="none">
                <a:solidFill>
                  <a:srgbClr val="14161C"/>
                </a:solidFill>
                <a:latin typeface="Arial"/>
                <a:ea typeface="Arial"/>
                <a:cs typeface="Arial"/>
                <a:sym typeface="Arial"/>
              </a:rPr>
              <a:t>prompt </a:t>
            </a:r>
            <a:r>
              <a:rPr lang="en-US" sz="6900" b="0" i="0" u="none" strike="noStrike" cap="none">
                <a:solidFill>
                  <a:srgbClr val="14161C"/>
                </a:solidFill>
                <a:latin typeface="Arial"/>
                <a:ea typeface="Arial"/>
                <a:cs typeface="Arial"/>
                <a:sym typeface="Arial"/>
              </a:rPr>
              <a:t>. It's in the </a:t>
            </a:r>
            <a:r>
              <a:rPr lang="en-US" sz="6900" b="1" i="0" u="none" strike="noStrike" cap="none">
                <a:solidFill>
                  <a:srgbClr val="F58220"/>
                </a:solidFill>
                <a:latin typeface="Arial"/>
                <a:ea typeface="Arial"/>
                <a:cs typeface="Arial"/>
                <a:sym typeface="Arial"/>
              </a:rPr>
              <a:t>thinking </a:t>
            </a:r>
            <a:r>
              <a:rPr lang="en-US" sz="6900" b="0" i="0" u="none" strike="noStrike" cap="none">
                <a:solidFill>
                  <a:srgbClr val="14161C"/>
                </a:solidFill>
                <a:latin typeface="Arial"/>
                <a:ea typeface="Arial"/>
                <a:cs typeface="Arial"/>
                <a:sym typeface="Arial"/>
              </a:rPr>
              <a:t>before it.</a:t>
            </a:r>
            <a:endParaRPr sz="6900" b="0" i="0" u="none" strike="noStrike" cap="none">
              <a:solidFill>
                <a:schemeClr val="dk1"/>
              </a:solidFill>
              <a:latin typeface="Calibri"/>
              <a:ea typeface="Calibri"/>
              <a:cs typeface="Calibri"/>
              <a:sym typeface="Calibri"/>
            </a:endParaRPr>
          </a:p>
        </p:txBody>
      </p:sp>
      <p:sp>
        <p:nvSpPr>
          <p:cNvPr id="166" name="Google Shape;166;g3dc15369c17_0_227"/>
          <p:cNvSpPr/>
          <p:nvPr/>
        </p:nvSpPr>
        <p:spPr>
          <a:xfrm>
            <a:off x="1143000" y="7577614"/>
            <a:ext cx="14716200" cy="282000"/>
          </a:xfrm>
          <a:prstGeom prst="rect">
            <a:avLst/>
          </a:prstGeom>
          <a:noFill/>
          <a:ln>
            <a:noFill/>
          </a:ln>
        </p:spPr>
        <p:txBody>
          <a:bodyPr spcFirstLastPara="1" wrap="square" lIns="25400" tIns="25400" rIns="25400" bIns="25400" anchor="t" anchorCtr="0">
            <a:noAutofit/>
          </a:bodyPr>
          <a:lstStyle/>
          <a:p>
            <a:pPr marL="0" marR="0" lvl="0" indent="0" algn="l" rtl="0">
              <a:spcBef>
                <a:spcPts val="0"/>
              </a:spcBef>
              <a:spcAft>
                <a:spcPts val="0"/>
              </a:spcAft>
              <a:buClr>
                <a:srgbClr val="6B6E78"/>
              </a:buClr>
              <a:buSzPts val="1650"/>
              <a:buFont typeface="Arial"/>
              <a:buNone/>
            </a:pPr>
            <a:r>
              <a:rPr lang="en-US" sz="1650" b="0" i="0" u="none" strike="noStrike" cap="none">
                <a:solidFill>
                  <a:srgbClr val="6B6E78"/>
                </a:solidFill>
                <a:latin typeface="Arial"/>
                <a:ea typeface="Arial"/>
                <a:cs typeface="Arial"/>
                <a:sym typeface="Arial"/>
              </a:rPr>
              <a:t>— TRIPP LISENBY · ACS TECHNOLOGIES</a:t>
            </a:r>
            <a:endParaRPr sz="1650" b="0" i="0" u="none" strike="noStrike" cap="none">
              <a:solidFill>
                <a:schemeClr val="dk1"/>
              </a:solidFill>
              <a:latin typeface="Calibri"/>
              <a:ea typeface="Calibri"/>
              <a:cs typeface="Calibri"/>
              <a:sym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1B1D24"/>
        </a:solidFill>
        <a:effectLst/>
      </p:bgPr>
    </p:bg>
    <p:spTree>
      <p:nvGrpSpPr>
        <p:cNvPr id="1" name="Shape 171"/>
        <p:cNvGrpSpPr/>
        <p:nvPr/>
      </p:nvGrpSpPr>
      <p:grpSpPr>
        <a:xfrm>
          <a:off x="0" y="0"/>
          <a:ext cx="0" cy="0"/>
          <a:chOff x="0" y="0"/>
          <a:chExt cx="0" cy="0"/>
        </a:xfrm>
      </p:grpSpPr>
      <p:sp>
        <p:nvSpPr>
          <p:cNvPr id="172" name="Google Shape;172;p4"/>
          <p:cNvSpPr/>
          <p:nvPr/>
        </p:nvSpPr>
        <p:spPr>
          <a:xfrm>
            <a:off x="0" y="0"/>
            <a:ext cx="18288000" cy="10287000"/>
          </a:xfrm>
          <a:prstGeom prst="rect">
            <a:avLst/>
          </a:prstGeom>
          <a:solidFill>
            <a:srgbClr val="1B1D2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73" name="Google Shape;173;p4"/>
          <p:cNvSpPr/>
          <p:nvPr/>
        </p:nvSpPr>
        <p:spPr>
          <a:xfrm>
            <a:off x="4343251" y="3170932"/>
            <a:ext cx="9889543" cy="390525"/>
          </a:xfrm>
          <a:prstGeom prst="rect">
            <a:avLst/>
          </a:prstGeom>
          <a:noFill/>
          <a:ln>
            <a:noFill/>
          </a:ln>
        </p:spPr>
        <p:txBody>
          <a:bodyPr spcFirstLastPara="1" wrap="square" lIns="25400" tIns="25400" rIns="25400" bIns="25400" anchor="t" anchorCtr="0">
            <a:normAutofit/>
          </a:bodyPr>
          <a:lstStyle/>
          <a:p>
            <a:pPr marL="0" marR="0" lvl="0" indent="0" algn="l" rtl="0">
              <a:spcBef>
                <a:spcPts val="0"/>
              </a:spcBef>
              <a:spcAft>
                <a:spcPts val="0"/>
              </a:spcAft>
              <a:buClr>
                <a:srgbClr val="3FE0D0"/>
              </a:buClr>
              <a:buSzPts val="2100"/>
              <a:buFont typeface="JetBrains Mono"/>
              <a:buNone/>
            </a:pPr>
            <a:r>
              <a:rPr lang="en-US" sz="2100">
                <a:solidFill>
                  <a:srgbClr val="3FE0D0"/>
                </a:solidFill>
                <a:latin typeface="JetBrains Mono"/>
                <a:ea typeface="JetBrains Mono"/>
                <a:cs typeface="JetBrains Mono"/>
                <a:sym typeface="JetBrains Mono"/>
              </a:rPr>
              <a:t>PART 02 / 06</a:t>
            </a:r>
            <a:endParaRPr sz="2100">
              <a:solidFill>
                <a:schemeClr val="dk1"/>
              </a:solidFill>
              <a:latin typeface="Calibri"/>
              <a:ea typeface="Calibri"/>
              <a:cs typeface="Calibri"/>
              <a:sym typeface="Calibri"/>
            </a:endParaRPr>
          </a:p>
        </p:txBody>
      </p:sp>
      <p:sp>
        <p:nvSpPr>
          <p:cNvPr id="174" name="Google Shape;174;p4"/>
          <p:cNvSpPr/>
          <p:nvPr/>
        </p:nvSpPr>
        <p:spPr>
          <a:xfrm>
            <a:off x="4343251" y="3904357"/>
            <a:ext cx="9889543" cy="2426791"/>
          </a:xfrm>
          <a:prstGeom prst="rect">
            <a:avLst/>
          </a:prstGeom>
          <a:noFill/>
          <a:ln>
            <a:noFill/>
          </a:ln>
        </p:spPr>
        <p:txBody>
          <a:bodyPr spcFirstLastPara="1" wrap="square" lIns="25400" tIns="25400" rIns="25400" bIns="25400" anchor="t" anchorCtr="0">
            <a:normAutofit/>
          </a:bodyPr>
          <a:lstStyle/>
          <a:p>
            <a:pPr marL="0" marR="0" lvl="0" indent="0" algn="l" rtl="0">
              <a:lnSpc>
                <a:spcPct val="75000"/>
              </a:lnSpc>
              <a:spcBef>
                <a:spcPts val="0"/>
              </a:spcBef>
              <a:spcAft>
                <a:spcPts val="0"/>
              </a:spcAft>
              <a:buClr>
                <a:srgbClr val="FFFFFF"/>
              </a:buClr>
              <a:buSzPts val="6187"/>
              <a:buFont typeface="Montserrat"/>
              <a:buNone/>
            </a:pPr>
            <a:r>
              <a:rPr lang="en-US" sz="6188" b="1">
                <a:solidFill>
                  <a:srgbClr val="FFFFFF"/>
                </a:solidFill>
                <a:latin typeface="Montserrat"/>
                <a:ea typeface="Montserrat"/>
                <a:cs typeface="Montserrat"/>
                <a:sym typeface="Montserrat"/>
              </a:rPr>
              <a:t>Vibe Coding vs</a:t>
            </a:r>
            <a:endParaRPr/>
          </a:p>
          <a:p>
            <a:pPr marL="0" marR="0" lvl="0" indent="0" algn="l" rtl="0">
              <a:lnSpc>
                <a:spcPct val="75000"/>
              </a:lnSpc>
              <a:spcBef>
                <a:spcPts val="0"/>
              </a:spcBef>
              <a:spcAft>
                <a:spcPts val="0"/>
              </a:spcAft>
              <a:buClr>
                <a:srgbClr val="FFFFFF"/>
              </a:buClr>
              <a:buSzPts val="6187"/>
              <a:buFont typeface="Montserrat"/>
              <a:buNone/>
            </a:pPr>
            <a:r>
              <a:rPr lang="en-US" sz="6188" b="1">
                <a:solidFill>
                  <a:srgbClr val="FFFFFF"/>
                </a:solidFill>
                <a:latin typeface="Montserrat"/>
                <a:ea typeface="Montserrat"/>
                <a:cs typeface="Montserrat"/>
                <a:sym typeface="Montserrat"/>
              </a:rPr>
              <a:t>Context </a:t>
            </a:r>
            <a:endParaRPr/>
          </a:p>
          <a:p>
            <a:pPr marL="0" marR="0" lvl="0" indent="0" algn="l" rtl="0">
              <a:lnSpc>
                <a:spcPct val="75000"/>
              </a:lnSpc>
              <a:spcBef>
                <a:spcPts val="0"/>
              </a:spcBef>
              <a:spcAft>
                <a:spcPts val="0"/>
              </a:spcAft>
              <a:buClr>
                <a:srgbClr val="FFFFFF"/>
              </a:buClr>
              <a:buSzPts val="6187"/>
              <a:buFont typeface="Montserrat"/>
              <a:buNone/>
            </a:pPr>
            <a:r>
              <a:rPr lang="en-US" sz="6188" b="1">
                <a:solidFill>
                  <a:srgbClr val="FFFFFF"/>
                </a:solidFill>
                <a:latin typeface="Montserrat"/>
                <a:ea typeface="Montserrat"/>
                <a:cs typeface="Montserrat"/>
                <a:sym typeface="Montserrat"/>
              </a:rPr>
              <a:t>Engineering</a:t>
            </a:r>
            <a:endParaRPr sz="6188">
              <a:solidFill>
                <a:schemeClr val="dk1"/>
              </a:solidFill>
              <a:latin typeface="Calibri"/>
              <a:ea typeface="Calibri"/>
              <a:cs typeface="Calibri"/>
              <a:sym typeface="Calibri"/>
            </a:endParaRPr>
          </a:p>
        </p:txBody>
      </p:sp>
      <p:sp>
        <p:nvSpPr>
          <p:cNvPr id="175" name="Google Shape;175;p4"/>
          <p:cNvSpPr/>
          <p:nvPr/>
        </p:nvSpPr>
        <p:spPr>
          <a:xfrm>
            <a:off x="4343251" y="6674048"/>
            <a:ext cx="9889543" cy="479971"/>
          </a:xfrm>
          <a:prstGeom prst="rect">
            <a:avLst/>
          </a:prstGeom>
          <a:noFill/>
          <a:ln>
            <a:noFill/>
          </a:ln>
        </p:spPr>
        <p:txBody>
          <a:bodyPr spcFirstLastPara="1" wrap="square" lIns="25400" tIns="25400" rIns="25400" bIns="25400" anchor="t" anchorCtr="0">
            <a:normAutofit lnSpcReduction="10000"/>
          </a:bodyPr>
          <a:lstStyle/>
          <a:p>
            <a:pPr marL="0" marR="0" lvl="0" indent="0" algn="l" rtl="0">
              <a:lnSpc>
                <a:spcPct val="135000"/>
              </a:lnSpc>
              <a:spcBef>
                <a:spcPts val="0"/>
              </a:spcBef>
              <a:spcAft>
                <a:spcPts val="0"/>
              </a:spcAft>
              <a:buClr>
                <a:srgbClr val="C9CBD1"/>
              </a:buClr>
              <a:buSzPts val="2220"/>
              <a:buFont typeface="Inter"/>
              <a:buNone/>
            </a:pPr>
            <a:r>
              <a:rPr lang="en-US" sz="2220">
                <a:solidFill>
                  <a:srgbClr val="C9CBD1"/>
                </a:solidFill>
                <a:latin typeface="Inter"/>
                <a:ea typeface="Inter"/>
                <a:cs typeface="Inter"/>
                <a:sym typeface="Inter"/>
              </a:rPr>
              <a:t>They are not the same!</a:t>
            </a:r>
            <a:endParaRPr sz="2220">
              <a:solidFill>
                <a:schemeClr val="dk1"/>
              </a:solidFill>
              <a:latin typeface="Calibri"/>
              <a:ea typeface="Calibri"/>
              <a:cs typeface="Calibri"/>
              <a:sym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27">
          <a:extLst>
            <a:ext uri="{FF2B5EF4-FFF2-40B4-BE49-F238E27FC236}">
              <a16:creationId xmlns:a16="http://schemas.microsoft.com/office/drawing/2014/main" id="{C5675352-6DE6-A9A4-4AFA-63B47F095FE3}"/>
            </a:ext>
          </a:extLst>
        </p:cNvPr>
        <p:cNvGrpSpPr/>
        <p:nvPr/>
      </p:nvGrpSpPr>
      <p:grpSpPr>
        <a:xfrm>
          <a:off x="0" y="0"/>
          <a:ext cx="0" cy="0"/>
          <a:chOff x="0" y="0"/>
          <a:chExt cx="0" cy="0"/>
        </a:xfrm>
      </p:grpSpPr>
      <p:sp>
        <p:nvSpPr>
          <p:cNvPr id="128" name="Google Shape;128;g3dc15369c17_0_195">
            <a:extLst>
              <a:ext uri="{FF2B5EF4-FFF2-40B4-BE49-F238E27FC236}">
                <a16:creationId xmlns:a16="http://schemas.microsoft.com/office/drawing/2014/main" id="{652D3F3A-3FFC-549A-6E40-66804C45063D}"/>
              </a:ext>
            </a:extLst>
          </p:cNvPr>
          <p:cNvSpPr/>
          <p:nvPr/>
        </p:nvSpPr>
        <p:spPr>
          <a:xfrm>
            <a:off x="1143000" y="476250"/>
            <a:ext cx="2080800" cy="236100"/>
          </a:xfrm>
          <a:prstGeom prst="rect">
            <a:avLst/>
          </a:prstGeom>
          <a:noFill/>
          <a:ln>
            <a:noFill/>
          </a:ln>
        </p:spPr>
        <p:txBody>
          <a:bodyPr spcFirstLastPara="1" wrap="square" lIns="25400" tIns="25400" rIns="25400" bIns="25400" anchor="t" anchorCtr="0">
            <a:noAutofit/>
          </a:bodyPr>
          <a:lstStyle/>
          <a:p>
            <a:pPr marL="0" marR="0" lvl="0" indent="0" algn="l" rtl="0">
              <a:spcBef>
                <a:spcPts val="0"/>
              </a:spcBef>
              <a:spcAft>
                <a:spcPts val="0"/>
              </a:spcAft>
              <a:buClr>
                <a:srgbClr val="6B6E78"/>
              </a:buClr>
              <a:buSzPts val="1350"/>
              <a:buFont typeface="Arial"/>
              <a:buNone/>
            </a:pPr>
            <a:r>
              <a:rPr lang="en-US" sz="1350" b="0" i="0" u="none" strike="noStrike" cap="none">
                <a:solidFill>
                  <a:srgbClr val="6B6E78"/>
                </a:solidFill>
                <a:latin typeface="Arial"/>
                <a:ea typeface="Arial"/>
                <a:cs typeface="Arial"/>
                <a:sym typeface="Arial"/>
              </a:rPr>
              <a:t>VIBE → CONTEXT</a:t>
            </a:r>
            <a:endParaRPr sz="1350" b="0" i="0" u="none" strike="noStrike" cap="none">
              <a:solidFill>
                <a:schemeClr val="dk1"/>
              </a:solidFill>
              <a:latin typeface="Calibri"/>
              <a:ea typeface="Calibri"/>
              <a:cs typeface="Calibri"/>
              <a:sym typeface="Calibri"/>
            </a:endParaRPr>
          </a:p>
        </p:txBody>
      </p:sp>
      <p:sp>
        <p:nvSpPr>
          <p:cNvPr id="129" name="Google Shape;129;g3dc15369c17_0_195">
            <a:extLst>
              <a:ext uri="{FF2B5EF4-FFF2-40B4-BE49-F238E27FC236}">
                <a16:creationId xmlns:a16="http://schemas.microsoft.com/office/drawing/2014/main" id="{5FAD80A1-E63E-93E4-E154-1BFC0DA672D1}"/>
              </a:ext>
            </a:extLst>
          </p:cNvPr>
          <p:cNvSpPr/>
          <p:nvPr/>
        </p:nvSpPr>
        <p:spPr>
          <a:xfrm>
            <a:off x="16356568" y="476250"/>
            <a:ext cx="864600" cy="236100"/>
          </a:xfrm>
          <a:prstGeom prst="rect">
            <a:avLst/>
          </a:prstGeom>
          <a:noFill/>
          <a:ln>
            <a:noFill/>
          </a:ln>
        </p:spPr>
        <p:txBody>
          <a:bodyPr spcFirstLastPara="1" wrap="square" lIns="25400" tIns="25400" rIns="25400" bIns="25400" anchor="t" anchorCtr="0">
            <a:noAutofit/>
          </a:bodyPr>
          <a:lstStyle/>
          <a:p>
            <a:pPr marL="0" marR="0" lvl="0" indent="0" algn="l" rtl="0">
              <a:spcBef>
                <a:spcPts val="0"/>
              </a:spcBef>
              <a:spcAft>
                <a:spcPts val="0"/>
              </a:spcAft>
              <a:buClr>
                <a:srgbClr val="6B6E78"/>
              </a:buClr>
              <a:buSzPts val="1350"/>
              <a:buFont typeface="Arial"/>
              <a:buNone/>
            </a:pPr>
            <a:r>
              <a:rPr lang="en-US" sz="1350" b="0" i="0" u="none" strike="noStrike" cap="none">
                <a:solidFill>
                  <a:srgbClr val="6B6E78"/>
                </a:solidFill>
                <a:latin typeface="Arial"/>
                <a:ea typeface="Arial"/>
                <a:cs typeface="Arial"/>
                <a:sym typeface="Arial"/>
              </a:rPr>
              <a:t>06 / 06</a:t>
            </a:r>
            <a:endParaRPr sz="1350" b="0" i="0" u="none" strike="noStrike" cap="none">
              <a:solidFill>
                <a:schemeClr val="dk1"/>
              </a:solidFill>
              <a:latin typeface="Calibri"/>
              <a:ea typeface="Calibri"/>
              <a:cs typeface="Calibri"/>
              <a:sym typeface="Calibri"/>
            </a:endParaRPr>
          </a:p>
        </p:txBody>
      </p:sp>
      <p:sp>
        <p:nvSpPr>
          <p:cNvPr id="130" name="Google Shape;130;g3dc15369c17_0_195">
            <a:extLst>
              <a:ext uri="{FF2B5EF4-FFF2-40B4-BE49-F238E27FC236}">
                <a16:creationId xmlns:a16="http://schemas.microsoft.com/office/drawing/2014/main" id="{F1D20B99-53D4-34D6-0BA3-3E2E2A8F061F}"/>
              </a:ext>
            </a:extLst>
          </p:cNvPr>
          <p:cNvSpPr/>
          <p:nvPr/>
        </p:nvSpPr>
        <p:spPr>
          <a:xfrm>
            <a:off x="11224617" y="381000"/>
            <a:ext cx="6392400" cy="4248300"/>
          </a:xfrm>
          <a:prstGeom prst="rect">
            <a:avLst/>
          </a:prstGeom>
          <a:noFill/>
          <a:ln>
            <a:noFill/>
          </a:ln>
        </p:spPr>
        <p:txBody>
          <a:bodyPr spcFirstLastPara="1" wrap="square" lIns="25400" tIns="25400" rIns="25400" bIns="25400" anchor="t" anchorCtr="0">
            <a:noAutofit/>
          </a:bodyPr>
          <a:lstStyle/>
          <a:p>
            <a:pPr marL="0" marR="0" lvl="0" indent="0" algn="l" rtl="0">
              <a:lnSpc>
                <a:spcPct val="85000"/>
              </a:lnSpc>
              <a:spcBef>
                <a:spcPts val="0"/>
              </a:spcBef>
              <a:spcAft>
                <a:spcPts val="0"/>
              </a:spcAft>
              <a:buClr>
                <a:srgbClr val="F7F5F1"/>
              </a:buClr>
              <a:buSzPts val="39000"/>
              <a:buFont typeface="Arial"/>
              <a:buNone/>
            </a:pPr>
            <a:r>
              <a:rPr lang="en-US" sz="39000" b="1" i="0" u="none" strike="noStrike" cap="none" dirty="0">
                <a:solidFill>
                  <a:srgbClr val="F7F5F1"/>
                </a:solidFill>
                <a:latin typeface="Arial"/>
                <a:ea typeface="Arial"/>
                <a:cs typeface="Arial"/>
                <a:sym typeface="Arial"/>
              </a:rPr>
              <a:t>10</a:t>
            </a:r>
            <a:endParaRPr sz="39000" b="0" i="0" u="none" strike="noStrike" cap="none" dirty="0">
              <a:solidFill>
                <a:schemeClr val="dk1"/>
              </a:solidFill>
              <a:latin typeface="Calibri"/>
              <a:ea typeface="Calibri"/>
              <a:cs typeface="Calibri"/>
              <a:sym typeface="Calibri"/>
            </a:endParaRPr>
          </a:p>
        </p:txBody>
      </p:sp>
      <p:sp>
        <p:nvSpPr>
          <p:cNvPr id="131" name="Google Shape;131;g3dc15369c17_0_195">
            <a:extLst>
              <a:ext uri="{FF2B5EF4-FFF2-40B4-BE49-F238E27FC236}">
                <a16:creationId xmlns:a16="http://schemas.microsoft.com/office/drawing/2014/main" id="{6C483107-697C-0EC5-4701-1A0BFEB393E6}"/>
              </a:ext>
            </a:extLst>
          </p:cNvPr>
          <p:cNvSpPr/>
          <p:nvPr/>
        </p:nvSpPr>
        <p:spPr>
          <a:xfrm>
            <a:off x="1143000" y="3102293"/>
            <a:ext cx="14716200" cy="312300"/>
          </a:xfrm>
          <a:prstGeom prst="rect">
            <a:avLst/>
          </a:prstGeom>
          <a:noFill/>
          <a:ln>
            <a:noFill/>
          </a:ln>
        </p:spPr>
        <p:txBody>
          <a:bodyPr spcFirstLastPara="1" wrap="square" lIns="25400" tIns="25400" rIns="25400" bIns="25400" anchor="t" anchorCtr="0">
            <a:noAutofit/>
          </a:bodyPr>
          <a:lstStyle/>
          <a:p>
            <a:pPr marL="0" marR="0" lvl="0" indent="0" algn="l" rtl="0">
              <a:spcBef>
                <a:spcPts val="0"/>
              </a:spcBef>
              <a:spcAft>
                <a:spcPts val="0"/>
              </a:spcAft>
              <a:buClr>
                <a:srgbClr val="F58220"/>
              </a:buClr>
              <a:buSzPts val="1650"/>
              <a:buFont typeface="Arial"/>
              <a:buNone/>
            </a:pPr>
            <a:r>
              <a:rPr lang="en-US" sz="1650" b="0" i="0" u="none" strike="noStrike" cap="none">
                <a:solidFill>
                  <a:srgbClr val="F58220"/>
                </a:solidFill>
                <a:latin typeface="Arial"/>
                <a:ea typeface="Arial"/>
                <a:cs typeface="Arial"/>
                <a:sym typeface="Arial"/>
              </a:rPr>
              <a:t>STAGE 06</a:t>
            </a:r>
            <a:endParaRPr sz="1650" b="0" i="0" u="none" strike="noStrike" cap="none">
              <a:solidFill>
                <a:schemeClr val="dk1"/>
              </a:solidFill>
              <a:latin typeface="Calibri"/>
              <a:ea typeface="Calibri"/>
              <a:cs typeface="Calibri"/>
              <a:sym typeface="Calibri"/>
            </a:endParaRPr>
          </a:p>
        </p:txBody>
      </p:sp>
      <p:sp>
        <p:nvSpPr>
          <p:cNvPr id="132" name="Google Shape;132;g3dc15369c17_0_195">
            <a:extLst>
              <a:ext uri="{FF2B5EF4-FFF2-40B4-BE49-F238E27FC236}">
                <a16:creationId xmlns:a16="http://schemas.microsoft.com/office/drawing/2014/main" id="{F2362633-E3B6-89C8-6660-DAFE5BFB01AD}"/>
              </a:ext>
            </a:extLst>
          </p:cNvPr>
          <p:cNvSpPr/>
          <p:nvPr/>
        </p:nvSpPr>
        <p:spPr>
          <a:xfrm>
            <a:off x="1143000" y="3681413"/>
            <a:ext cx="14716200" cy="1341000"/>
          </a:xfrm>
          <a:prstGeom prst="rect">
            <a:avLst/>
          </a:prstGeom>
          <a:noFill/>
          <a:ln>
            <a:noFill/>
          </a:ln>
        </p:spPr>
        <p:txBody>
          <a:bodyPr spcFirstLastPara="1" wrap="square" lIns="25400" tIns="25400" rIns="25400" bIns="25400" anchor="t" anchorCtr="0">
            <a:noAutofit/>
          </a:bodyPr>
          <a:lstStyle/>
          <a:p>
            <a:pPr marL="0" marR="0" lvl="0" indent="0" algn="l" rtl="0">
              <a:lnSpc>
                <a:spcPct val="95000"/>
              </a:lnSpc>
              <a:spcBef>
                <a:spcPts val="0"/>
              </a:spcBef>
              <a:spcAft>
                <a:spcPts val="0"/>
              </a:spcAft>
              <a:buClr>
                <a:srgbClr val="14161C"/>
              </a:buClr>
              <a:buSzPts val="10800"/>
              <a:buFont typeface="Arial"/>
              <a:buNone/>
            </a:pPr>
            <a:r>
              <a:rPr lang="en-US" sz="10800" b="1" dirty="0">
                <a:solidFill>
                  <a:srgbClr val="14161C"/>
                </a:solidFill>
                <a:ea typeface="Calibri"/>
              </a:rPr>
              <a:t>Brownfield Work</a:t>
            </a:r>
            <a:endParaRPr sz="10800" b="0" i="0" u="none" strike="noStrike" cap="none" dirty="0">
              <a:solidFill>
                <a:schemeClr val="dk1"/>
              </a:solidFill>
              <a:latin typeface="Calibri"/>
              <a:ea typeface="Calibri"/>
              <a:cs typeface="Calibri"/>
              <a:sym typeface="Calibri"/>
            </a:endParaRPr>
          </a:p>
        </p:txBody>
      </p:sp>
      <p:sp>
        <p:nvSpPr>
          <p:cNvPr id="133" name="Google Shape;133;g3dc15369c17_0_195">
            <a:extLst>
              <a:ext uri="{FF2B5EF4-FFF2-40B4-BE49-F238E27FC236}">
                <a16:creationId xmlns:a16="http://schemas.microsoft.com/office/drawing/2014/main" id="{379D4877-C7E1-0B61-006F-D40F971DB061}"/>
              </a:ext>
            </a:extLst>
          </p:cNvPr>
          <p:cNvSpPr/>
          <p:nvPr/>
        </p:nvSpPr>
        <p:spPr>
          <a:xfrm>
            <a:off x="1143000" y="5441632"/>
            <a:ext cx="13735200" cy="1015500"/>
          </a:xfrm>
          <a:prstGeom prst="rect">
            <a:avLst/>
          </a:prstGeom>
          <a:noFill/>
          <a:ln>
            <a:noFill/>
          </a:ln>
        </p:spPr>
        <p:txBody>
          <a:bodyPr spcFirstLastPara="1" wrap="square" lIns="25400" tIns="25400" rIns="25400" bIns="25400" anchor="t" anchorCtr="0">
            <a:noAutofit/>
          </a:bodyPr>
          <a:lstStyle/>
          <a:p>
            <a:pPr marL="0" marR="0" lvl="0" indent="0" algn="l" rtl="0">
              <a:lnSpc>
                <a:spcPct val="135000"/>
              </a:lnSpc>
              <a:spcBef>
                <a:spcPts val="0"/>
              </a:spcBef>
              <a:spcAft>
                <a:spcPts val="0"/>
              </a:spcAft>
              <a:buClr>
                <a:srgbClr val="6B6E78"/>
              </a:buClr>
              <a:buSzPts val="2850"/>
              <a:buFont typeface="Arial"/>
              <a:buNone/>
            </a:pPr>
            <a:r>
              <a:rPr lang="en-US" sz="2850" b="0" i="0" u="none" strike="noStrike" cap="none" dirty="0">
                <a:solidFill>
                  <a:srgbClr val="6B6E78"/>
                </a:solidFill>
                <a:latin typeface="Arial"/>
                <a:ea typeface="Arial"/>
                <a:cs typeface="Arial"/>
                <a:sym typeface="Arial"/>
              </a:rPr>
              <a:t>VIBE coding dies a quick death on the vine when you need to work on existing code or legacy solutions. </a:t>
            </a:r>
            <a:r>
              <a:rPr lang="en-US" sz="2850" b="0" i="0" u="none" strike="noStrike" cap="none" dirty="0">
                <a:solidFill>
                  <a:srgbClr val="F58220"/>
                </a:solidFill>
                <a:latin typeface="Arial"/>
                <a:ea typeface="Arial"/>
                <a:cs typeface="Arial"/>
                <a:sym typeface="Arial"/>
              </a:rPr>
              <a:t>You need the EXPLORE steps of context engineering.</a:t>
            </a:r>
            <a:endParaRPr sz="2850" b="0" i="0" u="none" strike="noStrike" cap="none" dirty="0">
              <a:solidFill>
                <a:schemeClr val="dk1"/>
              </a:solidFill>
              <a:latin typeface="Calibri"/>
              <a:ea typeface="Calibri"/>
              <a:cs typeface="Calibri"/>
              <a:sym typeface="Calibri"/>
            </a:endParaRPr>
          </a:p>
        </p:txBody>
      </p:sp>
      <p:sp>
        <p:nvSpPr>
          <p:cNvPr id="134" name="Google Shape;134;g3dc15369c17_0_195">
            <a:extLst>
              <a:ext uri="{FF2B5EF4-FFF2-40B4-BE49-F238E27FC236}">
                <a16:creationId xmlns:a16="http://schemas.microsoft.com/office/drawing/2014/main" id="{23B85CB1-8E2C-9A5D-00A4-978148AC476A}"/>
              </a:ext>
            </a:extLst>
          </p:cNvPr>
          <p:cNvSpPr/>
          <p:nvPr/>
        </p:nvSpPr>
        <p:spPr>
          <a:xfrm>
            <a:off x="1143000" y="6876098"/>
            <a:ext cx="1834200" cy="403800"/>
          </a:xfrm>
          <a:prstGeom prst="rect">
            <a:avLst/>
          </a:prstGeom>
          <a:noFill/>
          <a:ln w="9525" cap="flat" cmpd="sng">
            <a:solidFill>
              <a:srgbClr val="F5822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 name="Google Shape;135;g3dc15369c17_0_195">
            <a:extLst>
              <a:ext uri="{FF2B5EF4-FFF2-40B4-BE49-F238E27FC236}">
                <a16:creationId xmlns:a16="http://schemas.microsoft.com/office/drawing/2014/main" id="{2E5AB19F-CD48-7103-728D-2BE20FFE127F}"/>
              </a:ext>
            </a:extLst>
          </p:cNvPr>
          <p:cNvSpPr/>
          <p:nvPr/>
        </p:nvSpPr>
        <p:spPr>
          <a:xfrm>
            <a:off x="1322070" y="6978968"/>
            <a:ext cx="1552200" cy="236100"/>
          </a:xfrm>
          <a:prstGeom prst="rect">
            <a:avLst/>
          </a:prstGeom>
          <a:noFill/>
          <a:ln>
            <a:noFill/>
          </a:ln>
        </p:spPr>
        <p:txBody>
          <a:bodyPr spcFirstLastPara="1" wrap="square" lIns="25400" tIns="25400" rIns="25400" bIns="25400" anchor="ctr" anchorCtr="0">
            <a:noAutofit/>
          </a:bodyPr>
          <a:lstStyle/>
          <a:p>
            <a:pPr marL="0" marR="0" lvl="0" indent="0" algn="l" rtl="0">
              <a:spcBef>
                <a:spcPts val="0"/>
              </a:spcBef>
              <a:spcAft>
                <a:spcPts val="0"/>
              </a:spcAft>
              <a:buClr>
                <a:srgbClr val="F58220"/>
              </a:buClr>
              <a:buSzPts val="1350"/>
              <a:buFont typeface="Arial"/>
              <a:buNone/>
            </a:pPr>
            <a:r>
              <a:rPr lang="en-US" sz="1350" b="0" i="0" u="none" strike="noStrike" cap="none" dirty="0">
                <a:solidFill>
                  <a:srgbClr val="F58220"/>
                </a:solidFill>
                <a:latin typeface="Arial"/>
                <a:ea typeface="Arial"/>
                <a:cs typeface="Arial"/>
                <a:sym typeface="Arial"/>
              </a:rPr>
              <a:t>EXPLORE</a:t>
            </a:r>
            <a:endParaRPr sz="1350" b="0" i="0" u="none" strike="noStrike" cap="none" dirty="0">
              <a:solidFill>
                <a:schemeClr val="dk1"/>
              </a:solidFill>
              <a:latin typeface="Calibri"/>
              <a:ea typeface="Calibri"/>
              <a:cs typeface="Calibri"/>
              <a:sym typeface="Calibri"/>
            </a:endParaRPr>
          </a:p>
        </p:txBody>
      </p:sp>
      <p:sp>
        <p:nvSpPr>
          <p:cNvPr id="136" name="Google Shape;136;g3dc15369c17_0_195">
            <a:extLst>
              <a:ext uri="{FF2B5EF4-FFF2-40B4-BE49-F238E27FC236}">
                <a16:creationId xmlns:a16="http://schemas.microsoft.com/office/drawing/2014/main" id="{853FCBB3-8A3E-A3AB-111F-92003044C013}"/>
              </a:ext>
            </a:extLst>
          </p:cNvPr>
          <p:cNvSpPr/>
          <p:nvPr/>
        </p:nvSpPr>
        <p:spPr>
          <a:xfrm>
            <a:off x="3148727" y="6876098"/>
            <a:ext cx="1840200" cy="403800"/>
          </a:xfrm>
          <a:prstGeom prst="rect">
            <a:avLst/>
          </a:prstGeom>
          <a:noFill/>
          <a:ln w="9525" cap="flat" cmpd="sng">
            <a:solidFill>
              <a:srgbClr val="F5822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 name="Google Shape;137;g3dc15369c17_0_195">
            <a:extLst>
              <a:ext uri="{FF2B5EF4-FFF2-40B4-BE49-F238E27FC236}">
                <a16:creationId xmlns:a16="http://schemas.microsoft.com/office/drawing/2014/main" id="{FD3D9854-ED5B-CE58-01FA-FC1027B36E09}"/>
              </a:ext>
            </a:extLst>
          </p:cNvPr>
          <p:cNvSpPr/>
          <p:nvPr/>
        </p:nvSpPr>
        <p:spPr>
          <a:xfrm>
            <a:off x="3327797" y="6978968"/>
            <a:ext cx="1558500" cy="236100"/>
          </a:xfrm>
          <a:prstGeom prst="rect">
            <a:avLst/>
          </a:prstGeom>
          <a:noFill/>
          <a:ln>
            <a:noFill/>
          </a:ln>
        </p:spPr>
        <p:txBody>
          <a:bodyPr spcFirstLastPara="1" wrap="square" lIns="25400" tIns="25400" rIns="25400" bIns="25400" anchor="ctr" anchorCtr="0">
            <a:noAutofit/>
          </a:bodyPr>
          <a:lstStyle/>
          <a:p>
            <a:pPr marL="0" marR="0" lvl="0" indent="0" algn="l" rtl="0">
              <a:spcBef>
                <a:spcPts val="0"/>
              </a:spcBef>
              <a:spcAft>
                <a:spcPts val="0"/>
              </a:spcAft>
              <a:buClr>
                <a:srgbClr val="F58220"/>
              </a:buClr>
              <a:buSzPts val="1350"/>
              <a:buFont typeface="Arial"/>
              <a:buNone/>
            </a:pPr>
            <a:r>
              <a:rPr lang="en-US" sz="1350" b="0" i="0" u="none" strike="noStrike" cap="none" dirty="0">
                <a:solidFill>
                  <a:srgbClr val="F58220"/>
                </a:solidFill>
                <a:latin typeface="Arial"/>
                <a:ea typeface="Arial"/>
                <a:cs typeface="Arial"/>
                <a:sym typeface="Arial"/>
              </a:rPr>
              <a:t>DOCUMENT</a:t>
            </a:r>
            <a:endParaRPr sz="1350" b="0" i="0" u="none" strike="noStrike" cap="none" dirty="0">
              <a:solidFill>
                <a:schemeClr val="dk1"/>
              </a:solidFill>
              <a:latin typeface="Calibri"/>
              <a:ea typeface="Calibri"/>
              <a:cs typeface="Calibri"/>
              <a:sym typeface="Calibri"/>
            </a:endParaRPr>
          </a:p>
        </p:txBody>
      </p:sp>
      <p:sp>
        <p:nvSpPr>
          <p:cNvPr id="138" name="Google Shape;138;g3dc15369c17_0_195">
            <a:extLst>
              <a:ext uri="{FF2B5EF4-FFF2-40B4-BE49-F238E27FC236}">
                <a16:creationId xmlns:a16="http://schemas.microsoft.com/office/drawing/2014/main" id="{F4A87A83-61A9-B67A-AF03-9BA2A7B79096}"/>
              </a:ext>
            </a:extLst>
          </p:cNvPr>
          <p:cNvSpPr/>
          <p:nvPr/>
        </p:nvSpPr>
        <p:spPr>
          <a:xfrm>
            <a:off x="5160526" y="6876098"/>
            <a:ext cx="2914200" cy="403800"/>
          </a:xfrm>
          <a:prstGeom prst="rect">
            <a:avLst/>
          </a:prstGeom>
          <a:noFill/>
          <a:ln w="9525" cap="flat" cmpd="sng">
            <a:solidFill>
              <a:srgbClr val="F5822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 name="Google Shape;139;g3dc15369c17_0_195">
            <a:extLst>
              <a:ext uri="{FF2B5EF4-FFF2-40B4-BE49-F238E27FC236}">
                <a16:creationId xmlns:a16="http://schemas.microsoft.com/office/drawing/2014/main" id="{3EDA1732-8709-4489-E2F2-4D2B512AB47C}"/>
              </a:ext>
            </a:extLst>
          </p:cNvPr>
          <p:cNvSpPr/>
          <p:nvPr/>
        </p:nvSpPr>
        <p:spPr>
          <a:xfrm>
            <a:off x="5339596" y="6978968"/>
            <a:ext cx="2643300" cy="236100"/>
          </a:xfrm>
          <a:prstGeom prst="rect">
            <a:avLst/>
          </a:prstGeom>
          <a:noFill/>
          <a:ln>
            <a:noFill/>
          </a:ln>
        </p:spPr>
        <p:txBody>
          <a:bodyPr spcFirstLastPara="1" wrap="square" lIns="25400" tIns="25400" rIns="25400" bIns="25400" anchor="ctr" anchorCtr="0">
            <a:noAutofit/>
          </a:bodyPr>
          <a:lstStyle/>
          <a:p>
            <a:pPr marL="0" marR="0" lvl="0" indent="0" algn="l" rtl="0">
              <a:spcBef>
                <a:spcPts val="0"/>
              </a:spcBef>
              <a:spcAft>
                <a:spcPts val="0"/>
              </a:spcAft>
              <a:buClr>
                <a:srgbClr val="F58220"/>
              </a:buClr>
              <a:buSzPts val="1350"/>
              <a:buFont typeface="Arial"/>
              <a:buNone/>
            </a:pPr>
            <a:r>
              <a:rPr lang="en-US" sz="1350" b="0" i="0" u="none" strike="noStrike" cap="none" dirty="0">
                <a:solidFill>
                  <a:srgbClr val="F58220"/>
                </a:solidFill>
                <a:latin typeface="Arial"/>
                <a:ea typeface="Arial"/>
                <a:cs typeface="Arial"/>
                <a:sym typeface="Arial"/>
              </a:rPr>
              <a:t>WORK</a:t>
            </a:r>
            <a:endParaRPr sz="1350" b="0" i="0" u="none" strike="noStrike" cap="none" dirty="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55489657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952500" y="952500"/>
            <a:ext cx="16874490" cy="342900"/>
          </a:xfrm>
          <a:prstGeom prst="rect">
            <a:avLst/>
          </a:prstGeom>
          <a:noFill/>
          <a:ln/>
        </p:spPr>
        <p:txBody>
          <a:bodyPr wrap="square" lIns="25400" tIns="25400" rIns="25400" bIns="25400" rtlCol="0" anchor="t">
            <a:normAutofit lnSpcReduction="10000"/>
          </a:bodyPr>
          <a:lstStyle/>
          <a:p>
            <a:pPr marL="0" indent="0" algn="l">
              <a:buNone/>
            </a:pPr>
            <a:r>
              <a:rPr lang="en-US" sz="1950" b="1" kern="0" spc="429" dirty="0">
                <a:solidFill>
                  <a:srgbClr val="F58220"/>
                </a:solidFill>
                <a:latin typeface="Montserrat" pitchFamily="34" charset="0"/>
                <a:ea typeface="Montserrat" pitchFamily="34" charset="-122"/>
                <a:cs typeface="Montserrat" pitchFamily="34" charset="-120"/>
              </a:rPr>
              <a:t>THE SHIFT</a:t>
            </a:r>
            <a:endParaRPr lang="en-US" sz="1950" dirty="0"/>
          </a:p>
        </p:txBody>
      </p:sp>
      <p:sp>
        <p:nvSpPr>
          <p:cNvPr id="3" name="Text 1"/>
          <p:cNvSpPr/>
          <p:nvPr/>
        </p:nvSpPr>
        <p:spPr>
          <a:xfrm>
            <a:off x="952500" y="1447800"/>
            <a:ext cx="16874490" cy="1558230"/>
          </a:xfrm>
          <a:prstGeom prst="rect">
            <a:avLst/>
          </a:prstGeom>
          <a:noFill/>
          <a:ln/>
        </p:spPr>
        <p:txBody>
          <a:bodyPr wrap="square" lIns="25400" tIns="25400" rIns="25400" bIns="25400" rtlCol="0" anchor="t">
            <a:normAutofit fontScale="92500" lnSpcReduction="20000"/>
          </a:bodyPr>
          <a:lstStyle/>
          <a:p>
            <a:pPr marL="0" indent="0" algn="l">
              <a:lnSpc>
                <a:spcPct val="105000"/>
              </a:lnSpc>
              <a:buNone/>
            </a:pPr>
            <a:r>
              <a:rPr lang="en-US" sz="5700" b="1" kern="0" spc="-85" dirty="0">
                <a:solidFill>
                  <a:srgbClr val="2A2D38"/>
                </a:solidFill>
                <a:latin typeface="Montserrat" pitchFamily="34" charset="0"/>
                <a:ea typeface="Montserrat" pitchFamily="34" charset="-122"/>
                <a:cs typeface="Montserrat" pitchFamily="34" charset="-120"/>
              </a:rPr>
              <a:t>From prompt engineering to context engineering.</a:t>
            </a:r>
            <a:endParaRPr lang="en-US" sz="5700" dirty="0"/>
          </a:p>
        </p:txBody>
      </p:sp>
      <p:sp>
        <p:nvSpPr>
          <p:cNvPr id="4" name="Shape 2"/>
          <p:cNvSpPr/>
          <p:nvPr/>
        </p:nvSpPr>
        <p:spPr>
          <a:xfrm>
            <a:off x="952500" y="3463230"/>
            <a:ext cx="914400" cy="38100"/>
          </a:xfrm>
          <a:prstGeom prst="roundRect">
            <a:avLst>
              <a:gd name="adj" fmla="val 50000"/>
            </a:avLst>
          </a:prstGeom>
          <a:solidFill>
            <a:srgbClr val="F58220"/>
          </a:solidFill>
          <a:ln/>
        </p:spPr>
        <p:txBody>
          <a:bodyPr/>
          <a:lstStyle/>
          <a:p>
            <a:endParaRPr lang="en-US"/>
          </a:p>
        </p:txBody>
      </p:sp>
      <p:sp>
        <p:nvSpPr>
          <p:cNvPr id="5" name="Shape 3"/>
          <p:cNvSpPr/>
          <p:nvPr/>
        </p:nvSpPr>
        <p:spPr>
          <a:xfrm>
            <a:off x="952500" y="4158555"/>
            <a:ext cx="7429500" cy="4362450"/>
          </a:xfrm>
          <a:prstGeom prst="roundRect">
            <a:avLst>
              <a:gd name="adj" fmla="val 2620"/>
            </a:avLst>
          </a:prstGeom>
          <a:solidFill>
            <a:srgbClr val="FFFFFF"/>
          </a:solidFill>
          <a:ln w="9525">
            <a:solidFill>
              <a:srgbClr val="E5E5E7"/>
            </a:solidFill>
            <a:prstDash val="solid"/>
          </a:ln>
          <a:effectLst>
            <a:outerShdw blurRad="114300" dist="38100" dir="5400000" algn="bl" rotWithShape="0">
              <a:srgbClr val="2A2D38">
                <a:alpha val="5000"/>
              </a:srgbClr>
            </a:outerShdw>
          </a:effectLst>
        </p:spPr>
        <p:txBody>
          <a:bodyPr/>
          <a:lstStyle/>
          <a:p>
            <a:endParaRPr lang="en-US"/>
          </a:p>
        </p:txBody>
      </p:sp>
      <p:sp>
        <p:nvSpPr>
          <p:cNvPr id="6" name="Text 4"/>
          <p:cNvSpPr/>
          <p:nvPr/>
        </p:nvSpPr>
        <p:spPr>
          <a:xfrm>
            <a:off x="1381125" y="4625280"/>
            <a:ext cx="6769418" cy="314325"/>
          </a:xfrm>
          <a:prstGeom prst="rect">
            <a:avLst/>
          </a:prstGeom>
          <a:noFill/>
          <a:ln/>
        </p:spPr>
        <p:txBody>
          <a:bodyPr wrap="square" lIns="25400" tIns="25400" rIns="25400" bIns="25400" rtlCol="0" anchor="t">
            <a:normAutofit lnSpcReduction="10000"/>
          </a:bodyPr>
          <a:lstStyle/>
          <a:p>
            <a:pPr marL="0" indent="0" algn="l">
              <a:buNone/>
            </a:pPr>
            <a:r>
              <a:rPr lang="en-US" sz="1800" b="1" kern="0" spc="324" dirty="0">
                <a:solidFill>
                  <a:srgbClr val="9A9CA4"/>
                </a:solidFill>
                <a:latin typeface="Montserrat" pitchFamily="34" charset="0"/>
                <a:ea typeface="Montserrat" pitchFamily="34" charset="-122"/>
                <a:cs typeface="Montserrat" pitchFamily="34" charset="-120"/>
              </a:rPr>
              <a:t>THEN</a:t>
            </a:r>
            <a:endParaRPr lang="en-US" sz="1800" dirty="0"/>
          </a:p>
        </p:txBody>
      </p:sp>
      <p:sp>
        <p:nvSpPr>
          <p:cNvPr id="7" name="Text 5"/>
          <p:cNvSpPr/>
          <p:nvPr/>
        </p:nvSpPr>
        <p:spPr>
          <a:xfrm>
            <a:off x="1381125" y="5072955"/>
            <a:ext cx="6769418" cy="685800"/>
          </a:xfrm>
          <a:prstGeom prst="rect">
            <a:avLst/>
          </a:prstGeom>
          <a:noFill/>
          <a:ln/>
        </p:spPr>
        <p:txBody>
          <a:bodyPr wrap="square" lIns="25400" tIns="25400" rIns="25400" bIns="25400" rtlCol="0" anchor="t">
            <a:normAutofit lnSpcReduction="10000"/>
          </a:bodyPr>
          <a:lstStyle/>
          <a:p>
            <a:pPr marL="0" indent="0" algn="l">
              <a:buNone/>
            </a:pPr>
            <a:r>
              <a:rPr lang="en-US" sz="4200" b="1" kern="0" spc="-63" dirty="0">
                <a:solidFill>
                  <a:srgbClr val="2A2D38"/>
                </a:solidFill>
                <a:latin typeface="Montserrat" pitchFamily="34" charset="0"/>
                <a:ea typeface="Montserrat" pitchFamily="34" charset="-122"/>
                <a:cs typeface="Montserrat" pitchFamily="34" charset="-120"/>
              </a:rPr>
              <a:t>Prompt Engineering</a:t>
            </a:r>
            <a:endParaRPr lang="en-US" sz="4200" dirty="0"/>
          </a:p>
        </p:txBody>
      </p:sp>
      <p:sp>
        <p:nvSpPr>
          <p:cNvPr id="8" name="Text 6"/>
          <p:cNvSpPr/>
          <p:nvPr/>
        </p:nvSpPr>
        <p:spPr>
          <a:xfrm>
            <a:off x="1381125" y="5949255"/>
            <a:ext cx="6769418" cy="781050"/>
          </a:xfrm>
          <a:prstGeom prst="rect">
            <a:avLst/>
          </a:prstGeom>
          <a:noFill/>
          <a:ln/>
        </p:spPr>
        <p:txBody>
          <a:bodyPr wrap="square" lIns="25400" tIns="25400" rIns="25400" bIns="25400" rtlCol="0" anchor="t">
            <a:normAutofit fontScale="92500" lnSpcReduction="10000"/>
          </a:bodyPr>
          <a:lstStyle/>
          <a:p>
            <a:pPr marL="0" indent="0" algn="l">
              <a:lnSpc>
                <a:spcPct val="150000"/>
              </a:lnSpc>
              <a:buNone/>
            </a:pPr>
            <a:r>
              <a:rPr lang="en-US" sz="1950" dirty="0">
                <a:solidFill>
                  <a:srgbClr val="6B6E78"/>
                </a:solidFill>
                <a:latin typeface="Inter" pitchFamily="34" charset="0"/>
                <a:ea typeface="Inter" pitchFamily="34" charset="-122"/>
                <a:cs typeface="Inter" pitchFamily="34" charset="-120"/>
              </a:rPr>
              <a:t>Find the right </a:t>
            </a:r>
            <a:r>
              <a:rPr lang="en-US" sz="1950" i="1" dirty="0">
                <a:solidFill>
                  <a:srgbClr val="6B6E78"/>
                </a:solidFill>
                <a:latin typeface="Inter" pitchFamily="34" charset="0"/>
                <a:ea typeface="Inter" pitchFamily="34" charset="-122"/>
                <a:cs typeface="Inter" pitchFamily="34" charset="-120"/>
              </a:rPr>
              <a:t>magic words </a:t>
            </a:r>
            <a:r>
              <a:rPr lang="en-US" sz="1950" dirty="0">
                <a:solidFill>
                  <a:srgbClr val="6B6E78"/>
                </a:solidFill>
                <a:latin typeface="Inter" pitchFamily="34" charset="0"/>
                <a:ea typeface="Inter" pitchFamily="34" charset="-122"/>
                <a:cs typeface="Inter" pitchFamily="34" charset="-120"/>
              </a:rPr>
              <a:t>to coax a single response out of a model.</a:t>
            </a:r>
            <a:endParaRPr lang="en-US" sz="1950" dirty="0"/>
          </a:p>
        </p:txBody>
      </p:sp>
      <p:sp>
        <p:nvSpPr>
          <p:cNvPr id="9" name="Text 7"/>
          <p:cNvSpPr/>
          <p:nvPr/>
        </p:nvSpPr>
        <p:spPr>
          <a:xfrm>
            <a:off x="8724900" y="5882580"/>
            <a:ext cx="838200" cy="952500"/>
          </a:xfrm>
          <a:prstGeom prst="rect">
            <a:avLst/>
          </a:prstGeom>
          <a:noFill/>
          <a:ln/>
        </p:spPr>
        <p:txBody>
          <a:bodyPr wrap="square" lIns="25400" tIns="25400" rIns="25400" bIns="25400" rtlCol="0" anchor="t">
            <a:normAutofit fontScale="92500" lnSpcReduction="20000"/>
          </a:bodyPr>
          <a:lstStyle/>
          <a:p>
            <a:pPr marL="0" indent="0" algn="ctr">
              <a:lnSpc>
                <a:spcPct val="100000"/>
              </a:lnSpc>
              <a:buNone/>
            </a:pPr>
            <a:r>
              <a:rPr lang="en-US" sz="7200" b="1" dirty="0">
                <a:solidFill>
                  <a:srgbClr val="3FE0D0"/>
                </a:solidFill>
                <a:latin typeface="Montserrat" pitchFamily="34" charset="0"/>
                <a:ea typeface="Montserrat" pitchFamily="34" charset="-122"/>
                <a:cs typeface="Montserrat" pitchFamily="34" charset="-120"/>
              </a:rPr>
              <a:t>→</a:t>
            </a:r>
            <a:endParaRPr lang="en-US" sz="7200" dirty="0"/>
          </a:p>
        </p:txBody>
      </p:sp>
      <p:sp>
        <p:nvSpPr>
          <p:cNvPr id="10" name="Shape 8"/>
          <p:cNvSpPr/>
          <p:nvPr/>
        </p:nvSpPr>
        <p:spPr>
          <a:xfrm>
            <a:off x="9906000" y="4149030"/>
            <a:ext cx="7429500" cy="4381500"/>
          </a:xfrm>
          <a:prstGeom prst="roundRect">
            <a:avLst>
              <a:gd name="adj" fmla="val 2609"/>
            </a:avLst>
          </a:prstGeom>
          <a:solidFill>
            <a:srgbClr val="FFFFFF"/>
          </a:solidFill>
          <a:ln w="19050">
            <a:solidFill>
              <a:srgbClr val="3FE0D0"/>
            </a:solidFill>
            <a:prstDash val="solid"/>
          </a:ln>
          <a:effectLst>
            <a:outerShdw blurRad="114300" dist="38100" dir="5400000" algn="bl" rotWithShape="0">
              <a:srgbClr val="2A2D38">
                <a:alpha val="5000"/>
              </a:srgbClr>
            </a:outerShdw>
          </a:effectLst>
        </p:spPr>
        <p:txBody>
          <a:bodyPr/>
          <a:lstStyle/>
          <a:p>
            <a:endParaRPr lang="en-US"/>
          </a:p>
        </p:txBody>
      </p:sp>
      <p:sp>
        <p:nvSpPr>
          <p:cNvPr id="11" name="Text 9"/>
          <p:cNvSpPr/>
          <p:nvPr/>
        </p:nvSpPr>
        <p:spPr>
          <a:xfrm>
            <a:off x="10344150" y="4625280"/>
            <a:ext cx="6749796" cy="314325"/>
          </a:xfrm>
          <a:prstGeom prst="rect">
            <a:avLst/>
          </a:prstGeom>
          <a:noFill/>
          <a:ln/>
        </p:spPr>
        <p:txBody>
          <a:bodyPr wrap="square" lIns="25400" tIns="25400" rIns="25400" bIns="25400" rtlCol="0" anchor="t">
            <a:normAutofit lnSpcReduction="10000"/>
          </a:bodyPr>
          <a:lstStyle/>
          <a:p>
            <a:pPr marL="0" indent="0" algn="l">
              <a:buNone/>
            </a:pPr>
            <a:r>
              <a:rPr lang="en-US" sz="1800" b="1" kern="0" spc="324" dirty="0">
                <a:solidFill>
                  <a:srgbClr val="3FE0D0"/>
                </a:solidFill>
                <a:latin typeface="Montserrat" pitchFamily="34" charset="0"/>
                <a:ea typeface="Montserrat" pitchFamily="34" charset="-122"/>
                <a:cs typeface="Montserrat" pitchFamily="34" charset="-120"/>
              </a:rPr>
              <a:t>NOW</a:t>
            </a:r>
            <a:endParaRPr lang="en-US" sz="1800" dirty="0"/>
          </a:p>
        </p:txBody>
      </p:sp>
      <p:sp>
        <p:nvSpPr>
          <p:cNvPr id="12" name="Text 10"/>
          <p:cNvSpPr/>
          <p:nvPr/>
        </p:nvSpPr>
        <p:spPr>
          <a:xfrm>
            <a:off x="10344150" y="5072955"/>
            <a:ext cx="6749796" cy="685800"/>
          </a:xfrm>
          <a:prstGeom prst="rect">
            <a:avLst/>
          </a:prstGeom>
          <a:noFill/>
          <a:ln/>
        </p:spPr>
        <p:txBody>
          <a:bodyPr wrap="square" lIns="25400" tIns="25400" rIns="25400" bIns="25400" rtlCol="0" anchor="t">
            <a:normAutofit lnSpcReduction="10000"/>
          </a:bodyPr>
          <a:lstStyle/>
          <a:p>
            <a:pPr marL="0" indent="0" algn="l">
              <a:buNone/>
            </a:pPr>
            <a:r>
              <a:rPr lang="en-US" sz="4200" b="1" kern="0" spc="-63" dirty="0">
                <a:solidFill>
                  <a:srgbClr val="2A2D38"/>
                </a:solidFill>
                <a:latin typeface="Montserrat" pitchFamily="34" charset="0"/>
                <a:ea typeface="Montserrat" pitchFamily="34" charset="-122"/>
                <a:cs typeface="Montserrat" pitchFamily="34" charset="-120"/>
              </a:rPr>
              <a:t>Context Engineering</a:t>
            </a:r>
            <a:endParaRPr lang="en-US" sz="4200" dirty="0"/>
          </a:p>
        </p:txBody>
      </p:sp>
      <p:sp>
        <p:nvSpPr>
          <p:cNvPr id="13" name="Text 11"/>
          <p:cNvSpPr/>
          <p:nvPr/>
        </p:nvSpPr>
        <p:spPr>
          <a:xfrm>
            <a:off x="10344150" y="5949255"/>
            <a:ext cx="6749796" cy="781050"/>
          </a:xfrm>
          <a:prstGeom prst="rect">
            <a:avLst/>
          </a:prstGeom>
          <a:noFill/>
          <a:ln/>
        </p:spPr>
        <p:txBody>
          <a:bodyPr wrap="square" lIns="25400" tIns="25400" rIns="25400" bIns="25400" rtlCol="0" anchor="t">
            <a:normAutofit fontScale="92500" lnSpcReduction="10000"/>
          </a:bodyPr>
          <a:lstStyle/>
          <a:p>
            <a:pPr marL="0" indent="0" algn="l">
              <a:lnSpc>
                <a:spcPct val="150000"/>
              </a:lnSpc>
              <a:buNone/>
            </a:pPr>
            <a:r>
              <a:rPr lang="en-US" sz="1950" dirty="0">
                <a:solidFill>
                  <a:srgbClr val="2A2D38"/>
                </a:solidFill>
                <a:latin typeface="Inter" pitchFamily="34" charset="0"/>
                <a:ea typeface="Inter" pitchFamily="34" charset="-122"/>
                <a:cs typeface="Inter" pitchFamily="34" charset="-120"/>
              </a:rPr>
              <a:t>Design </a:t>
            </a:r>
            <a:r>
              <a:rPr lang="en-US" sz="1950" i="1" dirty="0">
                <a:solidFill>
                  <a:srgbClr val="2A2D38"/>
                </a:solidFill>
                <a:latin typeface="Inter" pitchFamily="34" charset="0"/>
                <a:ea typeface="Inter" pitchFamily="34" charset="-122"/>
                <a:cs typeface="Inter" pitchFamily="34" charset="-120"/>
              </a:rPr>
              <a:t>everything the model sees </a:t>
            </a:r>
            <a:r>
              <a:rPr lang="en-US" sz="1950" dirty="0">
                <a:solidFill>
                  <a:srgbClr val="2A2D38"/>
                </a:solidFill>
                <a:latin typeface="Inter" pitchFamily="34" charset="0"/>
                <a:ea typeface="Inter" pitchFamily="34" charset="-122"/>
                <a:cs typeface="Inter" pitchFamily="34" charset="-120"/>
              </a:rPr>
              <a:t>— instructions, knowledge, tools, memory — before it answers.</a:t>
            </a:r>
            <a:endParaRPr lang="en-US" sz="19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Shape 0">
            <a:extLst>
              <a:ext uri="{FF2B5EF4-FFF2-40B4-BE49-F238E27FC236}">
                <a16:creationId xmlns:a16="http://schemas.microsoft.com/office/drawing/2014/main" id="{BE5BF16A-57FD-86F5-BD00-2715CB0725A2}"/>
              </a:ext>
            </a:extLst>
          </p:cNvPr>
          <p:cNvSpPr/>
          <p:nvPr/>
        </p:nvSpPr>
        <p:spPr>
          <a:xfrm>
            <a:off x="0" y="0"/>
            <a:ext cx="18288000" cy="10287000"/>
          </a:xfrm>
          <a:prstGeom prst="rect">
            <a:avLst/>
          </a:prstGeom>
          <a:solidFill>
            <a:srgbClr val="1B1D24"/>
          </a:solidFill>
          <a:ln/>
        </p:spPr>
        <p:txBody>
          <a:bodyPr/>
          <a:lstStyle/>
          <a:p>
            <a:endParaRPr lang="en-US"/>
          </a:p>
        </p:txBody>
      </p:sp>
      <p:sp>
        <p:nvSpPr>
          <p:cNvPr id="2" name="Text 0"/>
          <p:cNvSpPr/>
          <p:nvPr/>
        </p:nvSpPr>
        <p:spPr>
          <a:xfrm>
            <a:off x="2231336" y="2690813"/>
            <a:ext cx="1660475" cy="1638300"/>
          </a:xfrm>
          <a:prstGeom prst="rect">
            <a:avLst/>
          </a:prstGeom>
          <a:noFill/>
          <a:ln/>
        </p:spPr>
        <p:txBody>
          <a:bodyPr wrap="square" lIns="25400" tIns="25400" rIns="25400" bIns="25400" rtlCol="0" anchor="t">
            <a:normAutofit fontScale="92500" lnSpcReduction="20000"/>
          </a:bodyPr>
          <a:lstStyle/>
          <a:p>
            <a:pPr marL="0" indent="0" algn="l">
              <a:lnSpc>
                <a:spcPct val="60000"/>
              </a:lnSpc>
              <a:buNone/>
            </a:pPr>
            <a:r>
              <a:rPr lang="en-US" sz="21000" b="1" dirty="0">
                <a:solidFill>
                  <a:srgbClr val="3FE0D0"/>
                </a:solidFill>
                <a:latin typeface="Montserrat" pitchFamily="34" charset="0"/>
                <a:ea typeface="Montserrat" pitchFamily="34" charset="-122"/>
                <a:cs typeface="Montserrat" pitchFamily="34" charset="-120"/>
              </a:rPr>
              <a:t>“</a:t>
            </a:r>
            <a:endParaRPr lang="en-US" sz="21000" dirty="0"/>
          </a:p>
        </p:txBody>
      </p:sp>
      <p:sp>
        <p:nvSpPr>
          <p:cNvPr id="3" name="Text 1"/>
          <p:cNvSpPr/>
          <p:nvPr/>
        </p:nvSpPr>
        <p:spPr>
          <a:xfrm>
            <a:off x="3420963" y="2605088"/>
            <a:ext cx="13735050" cy="4229100"/>
          </a:xfrm>
          <a:prstGeom prst="rect">
            <a:avLst/>
          </a:prstGeom>
          <a:noFill/>
          <a:ln/>
        </p:spPr>
        <p:txBody>
          <a:bodyPr wrap="square" lIns="25400" tIns="25400" rIns="25400" bIns="25400" rtlCol="0" anchor="t">
            <a:normAutofit fontScale="92500"/>
          </a:bodyPr>
          <a:lstStyle/>
          <a:p>
            <a:pPr marL="0" indent="0" algn="l">
              <a:lnSpc>
                <a:spcPct val="110000"/>
              </a:lnSpc>
              <a:buNone/>
            </a:pPr>
            <a:r>
              <a:rPr lang="en-US" sz="6000" b="1" kern="0" spc="-90" dirty="0">
                <a:solidFill>
                  <a:srgbClr val="FFFFFF"/>
                </a:solidFill>
                <a:latin typeface="Montserrat" pitchFamily="34" charset="0"/>
                <a:ea typeface="Montserrat" pitchFamily="34" charset="-122"/>
                <a:cs typeface="Montserrat" pitchFamily="34" charset="-120"/>
              </a:rPr>
              <a:t>Context engineering is the discipline of giving a model </a:t>
            </a:r>
            <a:r>
              <a:rPr lang="en-US" sz="6000" b="1" kern="0" spc="-90" dirty="0">
                <a:solidFill>
                  <a:srgbClr val="3FE0D0"/>
                </a:solidFill>
                <a:latin typeface="Montserrat" pitchFamily="34" charset="0"/>
                <a:ea typeface="Montserrat" pitchFamily="34" charset="-122"/>
                <a:cs typeface="Montserrat" pitchFamily="34" charset="-120"/>
              </a:rPr>
              <a:t>everything it needs </a:t>
            </a:r>
            <a:r>
              <a:rPr lang="en-US" sz="6000" b="1" kern="0" spc="-90" dirty="0">
                <a:solidFill>
                  <a:srgbClr val="FFFFFF"/>
                </a:solidFill>
                <a:latin typeface="Montserrat" pitchFamily="34" charset="0"/>
                <a:ea typeface="Montserrat" pitchFamily="34" charset="-122"/>
                <a:cs typeface="Montserrat" pitchFamily="34" charset="-120"/>
              </a:rPr>
              <a:t>— and nothing it doesn't — to do the job in front of it.</a:t>
            </a:r>
            <a:endParaRPr lang="en-US" sz="6000" dirty="0"/>
          </a:p>
        </p:txBody>
      </p:sp>
      <p:sp>
        <p:nvSpPr>
          <p:cNvPr id="4" name="Text 2"/>
          <p:cNvSpPr/>
          <p:nvPr/>
        </p:nvSpPr>
        <p:spPr>
          <a:xfrm>
            <a:off x="3420963" y="7177088"/>
            <a:ext cx="13735050" cy="314325"/>
          </a:xfrm>
          <a:prstGeom prst="rect">
            <a:avLst/>
          </a:prstGeom>
          <a:noFill/>
          <a:ln/>
        </p:spPr>
        <p:txBody>
          <a:bodyPr wrap="square" lIns="25400" tIns="25400" rIns="25400" bIns="25400" rtlCol="0" anchor="t">
            <a:normAutofit lnSpcReduction="10000"/>
          </a:bodyPr>
          <a:lstStyle/>
          <a:p>
            <a:pPr marL="0" indent="0" algn="l">
              <a:buNone/>
            </a:pPr>
            <a:r>
              <a:rPr lang="en-US" sz="1800" b="1" kern="0" spc="324" dirty="0">
                <a:solidFill>
                  <a:srgbClr val="9A9CA4"/>
                </a:solidFill>
                <a:latin typeface="Montserrat" pitchFamily="34" charset="0"/>
                <a:ea typeface="Montserrat" pitchFamily="34" charset="-122"/>
                <a:cs typeface="Montserrat" pitchFamily="34" charset="-120"/>
              </a:rPr>
              <a:t>— WORKING DEFINITION</a:t>
            </a:r>
            <a:endParaRPr lang="en-US" sz="1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1B1D24"/>
          </a:solidFill>
          <a:ln/>
        </p:spPr>
        <p:txBody>
          <a:bodyPr/>
          <a:lstStyle/>
          <a:p>
            <a:endParaRPr lang="en-US"/>
          </a:p>
        </p:txBody>
      </p:sp>
      <p:sp>
        <p:nvSpPr>
          <p:cNvPr id="3" name="Text 1"/>
          <p:cNvSpPr/>
          <p:nvPr/>
        </p:nvSpPr>
        <p:spPr>
          <a:xfrm>
            <a:off x="4343251" y="3170932"/>
            <a:ext cx="9889543" cy="390525"/>
          </a:xfrm>
          <a:prstGeom prst="rect">
            <a:avLst/>
          </a:prstGeom>
          <a:noFill/>
          <a:ln/>
        </p:spPr>
        <p:txBody>
          <a:bodyPr wrap="square" lIns="25400" tIns="25400" rIns="25400" bIns="25400" rtlCol="0" anchor="t">
            <a:normAutofit/>
          </a:bodyPr>
          <a:lstStyle/>
          <a:p>
            <a:pPr marL="0" indent="0" algn="l">
              <a:buNone/>
            </a:pPr>
            <a:r>
              <a:rPr lang="en-US" sz="2100" kern="0" spc="840" dirty="0">
                <a:solidFill>
                  <a:srgbClr val="3FE0D0"/>
                </a:solidFill>
                <a:latin typeface="JetBrains Mono" pitchFamily="34" charset="0"/>
                <a:ea typeface="JetBrains Mono" pitchFamily="34" charset="-122"/>
                <a:cs typeface="JetBrains Mono" pitchFamily="34" charset="-120"/>
              </a:rPr>
              <a:t>LIVE DEMO</a:t>
            </a:r>
            <a:endParaRPr lang="en-US" sz="2100" dirty="0"/>
          </a:p>
        </p:txBody>
      </p:sp>
      <p:sp>
        <p:nvSpPr>
          <p:cNvPr id="4" name="Text 2"/>
          <p:cNvSpPr/>
          <p:nvPr/>
        </p:nvSpPr>
        <p:spPr>
          <a:xfrm>
            <a:off x="4343251" y="3904357"/>
            <a:ext cx="9889543" cy="2426791"/>
          </a:xfrm>
          <a:prstGeom prst="rect">
            <a:avLst/>
          </a:prstGeom>
          <a:noFill/>
          <a:ln/>
        </p:spPr>
        <p:txBody>
          <a:bodyPr wrap="square" lIns="25400" tIns="25400" rIns="25400" bIns="25400" rtlCol="0" anchor="t">
            <a:normAutofit fontScale="92500" lnSpcReduction="20000"/>
          </a:bodyPr>
          <a:lstStyle/>
          <a:p>
            <a:pPr marL="0" indent="0" algn="l">
              <a:lnSpc>
                <a:spcPct val="95000"/>
              </a:lnSpc>
              <a:buNone/>
            </a:pPr>
            <a:r>
              <a:rPr lang="en-US" sz="9900" b="1" kern="0" spc="-247" dirty="0">
                <a:solidFill>
                  <a:srgbClr val="FFFFFF"/>
                </a:solidFill>
                <a:latin typeface="Montserrat" pitchFamily="34" charset="0"/>
                <a:ea typeface="Montserrat" pitchFamily="34" charset="-122"/>
                <a:cs typeface="Montserrat" pitchFamily="34" charset="-120"/>
              </a:rPr>
              <a:t>Same task.</a:t>
            </a:r>
          </a:p>
          <a:p>
            <a:pPr marL="0" indent="0" algn="l">
              <a:lnSpc>
                <a:spcPct val="95000"/>
              </a:lnSpc>
              <a:buNone/>
            </a:pPr>
            <a:r>
              <a:rPr lang="en-US" sz="9900" b="1" kern="0" spc="-247" dirty="0">
                <a:solidFill>
                  <a:srgbClr val="FFFFFF"/>
                </a:solidFill>
                <a:latin typeface="Montserrat" pitchFamily="34" charset="0"/>
                <a:ea typeface="Montserrat" pitchFamily="34" charset="-122"/>
                <a:cs typeface="Montserrat" pitchFamily="34" charset="-120"/>
              </a:rPr>
              <a:t>Two ways.</a:t>
            </a:r>
            <a:endParaRPr lang="en-US" sz="9900" dirty="0"/>
          </a:p>
        </p:txBody>
      </p:sp>
      <p:sp>
        <p:nvSpPr>
          <p:cNvPr id="5" name="Text 3"/>
          <p:cNvSpPr/>
          <p:nvPr/>
        </p:nvSpPr>
        <p:spPr>
          <a:xfrm>
            <a:off x="4343251" y="6674048"/>
            <a:ext cx="9889543" cy="479971"/>
          </a:xfrm>
          <a:prstGeom prst="rect">
            <a:avLst/>
          </a:prstGeom>
          <a:noFill/>
          <a:ln/>
        </p:spPr>
        <p:txBody>
          <a:bodyPr wrap="square" lIns="25400" tIns="25400" rIns="25400" bIns="25400" rtlCol="0" anchor="t">
            <a:normAutofit fontScale="92500" lnSpcReduction="10000"/>
          </a:bodyPr>
          <a:lstStyle/>
          <a:p>
            <a:pPr marL="0" indent="0" algn="l">
              <a:lnSpc>
                <a:spcPct val="145000"/>
              </a:lnSpc>
              <a:buNone/>
            </a:pPr>
            <a:r>
              <a:rPr lang="en-US" sz="2400" dirty="0">
                <a:solidFill>
                  <a:srgbClr val="C9CBD1"/>
                </a:solidFill>
                <a:latin typeface="Inter" pitchFamily="34" charset="0"/>
                <a:ea typeface="Inter" pitchFamily="34" charset="-122"/>
                <a:cs typeface="Inter" pitchFamily="34" charset="-120"/>
              </a:rPr>
              <a:t>First without context. Then with. </a:t>
            </a:r>
            <a:endParaRPr lang="en-US" sz="2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952500" y="3525441"/>
            <a:ext cx="8044815" cy="390525"/>
          </a:xfrm>
          <a:prstGeom prst="rect">
            <a:avLst/>
          </a:prstGeom>
          <a:noFill/>
          <a:ln/>
        </p:spPr>
        <p:txBody>
          <a:bodyPr wrap="square" lIns="25400" tIns="25400" rIns="25400" bIns="25400" rtlCol="0" anchor="t">
            <a:normAutofit/>
          </a:bodyPr>
          <a:lstStyle/>
          <a:p>
            <a:pPr marL="0" indent="0" algn="l">
              <a:buNone/>
            </a:pPr>
            <a:r>
              <a:rPr lang="en-US" sz="2100" kern="0" spc="630" dirty="0">
                <a:solidFill>
                  <a:srgbClr val="F58220"/>
                </a:solidFill>
                <a:latin typeface="JetBrains Mono" pitchFamily="34" charset="0"/>
                <a:ea typeface="JetBrains Mono" pitchFamily="34" charset="-122"/>
                <a:cs typeface="JetBrains Mono" pitchFamily="34" charset="-120"/>
              </a:rPr>
              <a:t>DEMO · TAKE 1</a:t>
            </a:r>
            <a:endParaRPr lang="en-US" sz="2100" dirty="0"/>
          </a:p>
        </p:txBody>
      </p:sp>
      <p:sp>
        <p:nvSpPr>
          <p:cNvPr id="3" name="Text 1"/>
          <p:cNvSpPr/>
          <p:nvPr/>
        </p:nvSpPr>
        <p:spPr>
          <a:xfrm>
            <a:off x="952500" y="4144566"/>
            <a:ext cx="8044815" cy="1123950"/>
          </a:xfrm>
          <a:prstGeom prst="rect">
            <a:avLst/>
          </a:prstGeom>
          <a:noFill/>
          <a:ln/>
        </p:spPr>
        <p:txBody>
          <a:bodyPr wrap="square" lIns="25400" tIns="25400" rIns="25400" bIns="25400" rtlCol="0" anchor="t">
            <a:normAutofit fontScale="92500" lnSpcReduction="20000"/>
          </a:bodyPr>
          <a:lstStyle/>
          <a:p>
            <a:pPr marL="0" indent="0" algn="l">
              <a:lnSpc>
                <a:spcPct val="95000"/>
              </a:lnSpc>
              <a:buNone/>
            </a:pPr>
            <a:r>
              <a:rPr lang="en-US" sz="9000" b="1" kern="0" spc="-180" dirty="0">
                <a:solidFill>
                  <a:srgbClr val="2A2D38"/>
                </a:solidFill>
                <a:latin typeface="Montserrat" pitchFamily="34" charset="0"/>
                <a:ea typeface="Montserrat" pitchFamily="34" charset="-122"/>
                <a:cs typeface="Montserrat" pitchFamily="34" charset="-120"/>
              </a:rPr>
              <a:t>Vibe coding.</a:t>
            </a:r>
            <a:endParaRPr lang="en-US" sz="9000" dirty="0"/>
          </a:p>
        </p:txBody>
      </p:sp>
      <p:sp>
        <p:nvSpPr>
          <p:cNvPr id="4" name="Text 2"/>
          <p:cNvSpPr/>
          <p:nvPr/>
        </p:nvSpPr>
        <p:spPr>
          <a:xfrm>
            <a:off x="952500" y="5497116"/>
            <a:ext cx="6867525" cy="1363712"/>
          </a:xfrm>
          <a:prstGeom prst="rect">
            <a:avLst/>
          </a:prstGeom>
          <a:noFill/>
          <a:ln/>
        </p:spPr>
        <p:txBody>
          <a:bodyPr wrap="square" lIns="25400" tIns="25400" rIns="25400" bIns="25400" rtlCol="0" anchor="t">
            <a:normAutofit/>
          </a:bodyPr>
          <a:lstStyle/>
          <a:p>
            <a:pPr marL="0" indent="0" algn="l">
              <a:lnSpc>
                <a:spcPct val="145000"/>
              </a:lnSpc>
              <a:buNone/>
            </a:pPr>
            <a:r>
              <a:rPr lang="en-US" sz="2400" dirty="0">
                <a:solidFill>
                  <a:srgbClr val="6B6E78"/>
                </a:solidFill>
                <a:latin typeface="Inter" pitchFamily="34" charset="0"/>
                <a:ea typeface="Inter" pitchFamily="34" charset="-122"/>
                <a:cs typeface="Inter" pitchFamily="34" charset="-120"/>
              </a:rPr>
              <a:t>Type what comes to mind. Hit send. See what the model guesses.</a:t>
            </a:r>
            <a:endParaRPr lang="en-US" sz="2400" dirty="0"/>
          </a:p>
        </p:txBody>
      </p:sp>
      <p:sp>
        <p:nvSpPr>
          <p:cNvPr id="6" name="Shape 4"/>
          <p:cNvSpPr/>
          <p:nvPr/>
        </p:nvSpPr>
        <p:spPr>
          <a:xfrm>
            <a:off x="9525000" y="3288209"/>
            <a:ext cx="7810500" cy="5615583"/>
          </a:xfrm>
          <a:prstGeom prst="roundRect">
            <a:avLst>
              <a:gd name="adj" fmla="val 2714"/>
            </a:avLst>
          </a:prstGeom>
          <a:solidFill>
            <a:srgbClr val="1B1D24"/>
          </a:solidFill>
          <a:ln/>
        </p:spPr>
        <p:txBody>
          <a:bodyPr/>
          <a:lstStyle/>
          <a:p>
            <a:endParaRPr lang="en-US"/>
          </a:p>
        </p:txBody>
      </p:sp>
      <p:sp>
        <p:nvSpPr>
          <p:cNvPr id="7" name="Text 5"/>
          <p:cNvSpPr/>
          <p:nvPr/>
        </p:nvSpPr>
        <p:spPr>
          <a:xfrm>
            <a:off x="9944100" y="3669209"/>
            <a:ext cx="7181469" cy="426690"/>
          </a:xfrm>
          <a:prstGeom prst="rect">
            <a:avLst/>
          </a:prstGeom>
          <a:noFill/>
          <a:ln/>
        </p:spPr>
        <p:txBody>
          <a:bodyPr wrap="square" lIns="25400" tIns="25400" rIns="25400" bIns="25400" rtlCol="0" anchor="t">
            <a:normAutofit fontScale="92500" lnSpcReduction="10000"/>
          </a:bodyPr>
          <a:lstStyle/>
          <a:p>
            <a:pPr marL="0" indent="0" algn="l">
              <a:lnSpc>
                <a:spcPct val="170000"/>
              </a:lnSpc>
              <a:buNone/>
            </a:pPr>
            <a:r>
              <a:rPr lang="en-US" sz="1800" b="1" kern="0" spc="360" dirty="0">
                <a:solidFill>
                  <a:srgbClr val="3FE0D0"/>
                </a:solidFill>
                <a:latin typeface="Montserrat" pitchFamily="34" charset="0"/>
                <a:ea typeface="Montserrat" pitchFamily="34" charset="-122"/>
                <a:cs typeface="Montserrat" pitchFamily="34" charset="-120"/>
              </a:rPr>
              <a:t>// THE PROMPT</a:t>
            </a:r>
            <a:endParaRPr lang="en-US" sz="1800" dirty="0"/>
          </a:p>
        </p:txBody>
      </p:sp>
      <p:sp>
        <p:nvSpPr>
          <p:cNvPr id="8" name="Text 6"/>
          <p:cNvSpPr/>
          <p:nvPr/>
        </p:nvSpPr>
        <p:spPr>
          <a:xfrm>
            <a:off x="9944100" y="4248299"/>
            <a:ext cx="7181469" cy="4312593"/>
          </a:xfrm>
          <a:prstGeom prst="rect">
            <a:avLst/>
          </a:prstGeom>
          <a:noFill/>
          <a:ln/>
        </p:spPr>
        <p:txBody>
          <a:bodyPr wrap="square" lIns="25400" tIns="25400" rIns="25400" bIns="25400" rtlCol="0" anchor="t">
            <a:normAutofit/>
          </a:bodyPr>
          <a:lstStyle/>
          <a:p>
            <a:pPr marL="0" indent="0" algn="l">
              <a:lnSpc>
                <a:spcPct val="170000"/>
              </a:lnSpc>
              <a:buNone/>
            </a:pPr>
            <a:r>
              <a:rPr lang="en-US" sz="1800" dirty="0">
                <a:solidFill>
                  <a:srgbClr val="FFFFFF"/>
                </a:solidFill>
                <a:latin typeface="JetBrains Mono" pitchFamily="34" charset="0"/>
                <a:ea typeface="JetBrains Mono" pitchFamily="34" charset="-122"/>
                <a:cs typeface="JetBrains Mono" pitchFamily="34" charset="-120"/>
              </a:rPr>
              <a:t>Add a login page to the app.</a:t>
            </a:r>
            <a:endParaRPr lang="en-US" sz="1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952500" y="3525441"/>
            <a:ext cx="8044815" cy="390525"/>
          </a:xfrm>
          <a:prstGeom prst="rect">
            <a:avLst/>
          </a:prstGeom>
          <a:noFill/>
          <a:ln/>
        </p:spPr>
        <p:txBody>
          <a:bodyPr wrap="square" lIns="25400" tIns="25400" rIns="25400" bIns="25400" rtlCol="0" anchor="t">
            <a:normAutofit/>
          </a:bodyPr>
          <a:lstStyle/>
          <a:p>
            <a:pPr marL="0" indent="0" algn="l">
              <a:buNone/>
            </a:pPr>
            <a:r>
              <a:rPr lang="en-US" sz="2100" kern="0" spc="630" dirty="0">
                <a:solidFill>
                  <a:srgbClr val="F58220"/>
                </a:solidFill>
                <a:latin typeface="JetBrains Mono" pitchFamily="34" charset="0"/>
                <a:ea typeface="JetBrains Mono" pitchFamily="34" charset="-122"/>
                <a:cs typeface="JetBrains Mono" pitchFamily="34" charset="-120"/>
              </a:rPr>
              <a:t>DEMO · TAKE 2</a:t>
            </a:r>
            <a:endParaRPr lang="en-US" sz="2100" dirty="0"/>
          </a:p>
        </p:txBody>
      </p:sp>
      <p:sp>
        <p:nvSpPr>
          <p:cNvPr id="3" name="Text 1"/>
          <p:cNvSpPr/>
          <p:nvPr/>
        </p:nvSpPr>
        <p:spPr>
          <a:xfrm>
            <a:off x="952500" y="4144566"/>
            <a:ext cx="8044815" cy="1123950"/>
          </a:xfrm>
          <a:prstGeom prst="rect">
            <a:avLst/>
          </a:prstGeom>
          <a:noFill/>
          <a:ln/>
        </p:spPr>
        <p:txBody>
          <a:bodyPr wrap="square" lIns="25400" tIns="25400" rIns="25400" bIns="25400" rtlCol="0" anchor="t">
            <a:normAutofit fontScale="62500" lnSpcReduction="20000"/>
          </a:bodyPr>
          <a:lstStyle/>
          <a:p>
            <a:pPr marL="0" indent="0" algn="l">
              <a:lnSpc>
                <a:spcPct val="95000"/>
              </a:lnSpc>
              <a:buNone/>
            </a:pPr>
            <a:r>
              <a:rPr lang="en-US" sz="9000" b="1" kern="0" spc="-180" dirty="0">
                <a:solidFill>
                  <a:srgbClr val="2A2D38"/>
                </a:solidFill>
                <a:latin typeface="Montserrat" pitchFamily="34" charset="0"/>
                <a:ea typeface="Montserrat" pitchFamily="34" charset="-122"/>
                <a:cs typeface="Montserrat" pitchFamily="34" charset="-120"/>
              </a:rPr>
              <a:t>Context engineering.</a:t>
            </a:r>
            <a:endParaRPr lang="en-US" sz="9000" dirty="0"/>
          </a:p>
        </p:txBody>
      </p:sp>
      <p:sp>
        <p:nvSpPr>
          <p:cNvPr id="4" name="Text 2"/>
          <p:cNvSpPr/>
          <p:nvPr/>
        </p:nvSpPr>
        <p:spPr>
          <a:xfrm>
            <a:off x="952500" y="5497116"/>
            <a:ext cx="6867525" cy="1363712"/>
          </a:xfrm>
          <a:prstGeom prst="rect">
            <a:avLst/>
          </a:prstGeom>
          <a:noFill/>
          <a:ln/>
        </p:spPr>
        <p:txBody>
          <a:bodyPr wrap="square" lIns="25400" tIns="25400" rIns="25400" bIns="25400" rtlCol="0" anchor="t">
            <a:normAutofit/>
          </a:bodyPr>
          <a:lstStyle/>
          <a:p>
            <a:pPr marL="0" indent="0" algn="l">
              <a:lnSpc>
                <a:spcPct val="145000"/>
              </a:lnSpc>
              <a:buNone/>
            </a:pPr>
            <a:r>
              <a:rPr lang="en-US" sz="2400" dirty="0">
                <a:solidFill>
                  <a:srgbClr val="6B6E78"/>
                </a:solidFill>
                <a:latin typeface="Inter" pitchFamily="34" charset="0"/>
                <a:ea typeface="Inter" pitchFamily="34" charset="-122"/>
                <a:cs typeface="Inter" pitchFamily="34" charset="-120"/>
              </a:rPr>
              <a:t>Same feature. Now the model can see what we actually want before it writes a line.</a:t>
            </a:r>
            <a:endParaRPr lang="en-US" sz="2400" dirty="0"/>
          </a:p>
        </p:txBody>
      </p:sp>
      <p:sp>
        <p:nvSpPr>
          <p:cNvPr id="5" name="Text 3"/>
          <p:cNvSpPr/>
          <p:nvPr/>
        </p:nvSpPr>
        <p:spPr>
          <a:xfrm>
            <a:off x="765810" y="7165628"/>
            <a:ext cx="8073390" cy="1538883"/>
          </a:xfrm>
          <a:prstGeom prst="rect">
            <a:avLst/>
          </a:prstGeom>
          <a:noFill/>
          <a:ln/>
        </p:spPr>
        <p:txBody>
          <a:bodyPr wrap="square" lIns="25400" tIns="25400" rIns="25400" bIns="25400" rtlCol="0" anchor="t">
            <a:normAutofit/>
          </a:bodyPr>
          <a:lstStyle/>
          <a:p>
            <a:pPr marL="0" indent="0" algn="l">
              <a:lnSpc>
                <a:spcPct val="140000"/>
              </a:lnSpc>
              <a:buNone/>
            </a:pPr>
            <a:r>
              <a:rPr lang="en-US" sz="2100" dirty="0">
                <a:solidFill>
                  <a:srgbClr val="2A2D38"/>
                </a:solidFill>
                <a:latin typeface="Inter" pitchFamily="34" charset="0"/>
                <a:ea typeface="Inter" pitchFamily="34" charset="-122"/>
                <a:cs typeface="Inter" pitchFamily="34" charset="-120"/>
              </a:rPr>
              <a:t>CLAUDE.md attached.</a:t>
            </a:r>
          </a:p>
          <a:p>
            <a:pPr marL="0" indent="0" algn="l">
              <a:lnSpc>
                <a:spcPct val="140000"/>
              </a:lnSpc>
              <a:buNone/>
            </a:pPr>
            <a:r>
              <a:rPr lang="en-US" sz="2100" dirty="0">
                <a:solidFill>
                  <a:srgbClr val="2A2D38"/>
                </a:solidFill>
                <a:latin typeface="Inter" pitchFamily="34" charset="0"/>
                <a:ea typeface="Inter" pitchFamily="34" charset="-122"/>
                <a:cs typeface="Inter" pitchFamily="34" charset="-120"/>
              </a:rPr>
              <a:t>Requirements doc attached.</a:t>
            </a:r>
          </a:p>
          <a:p>
            <a:pPr marL="0" indent="0" algn="l">
              <a:lnSpc>
                <a:spcPct val="140000"/>
              </a:lnSpc>
              <a:buNone/>
            </a:pPr>
            <a:r>
              <a:rPr lang="en-US" sz="2100" dirty="0">
                <a:solidFill>
                  <a:srgbClr val="2A2D38"/>
                </a:solidFill>
                <a:latin typeface="Inter" pitchFamily="34" charset="0"/>
                <a:ea typeface="Inter" pitchFamily="34" charset="-122"/>
                <a:cs typeface="Inter" pitchFamily="34" charset="-120"/>
              </a:rPr>
              <a:t>Auth conventions documented.</a:t>
            </a:r>
            <a:endParaRPr lang="en-US" sz="2100" dirty="0"/>
          </a:p>
        </p:txBody>
      </p:sp>
      <p:sp>
        <p:nvSpPr>
          <p:cNvPr id="6" name="Shape 4"/>
          <p:cNvSpPr/>
          <p:nvPr/>
        </p:nvSpPr>
        <p:spPr>
          <a:xfrm>
            <a:off x="9525000" y="3288209"/>
            <a:ext cx="7810500" cy="5615583"/>
          </a:xfrm>
          <a:prstGeom prst="roundRect">
            <a:avLst>
              <a:gd name="adj" fmla="val 2714"/>
            </a:avLst>
          </a:prstGeom>
          <a:solidFill>
            <a:srgbClr val="1B1D24"/>
          </a:solidFill>
          <a:ln/>
        </p:spPr>
        <p:txBody>
          <a:bodyPr/>
          <a:lstStyle/>
          <a:p>
            <a:endParaRPr lang="en-US"/>
          </a:p>
        </p:txBody>
      </p:sp>
      <p:sp>
        <p:nvSpPr>
          <p:cNvPr id="7" name="Text 5"/>
          <p:cNvSpPr/>
          <p:nvPr/>
        </p:nvSpPr>
        <p:spPr>
          <a:xfrm>
            <a:off x="9944100" y="3669209"/>
            <a:ext cx="7181469" cy="426690"/>
          </a:xfrm>
          <a:prstGeom prst="rect">
            <a:avLst/>
          </a:prstGeom>
          <a:noFill/>
          <a:ln/>
        </p:spPr>
        <p:txBody>
          <a:bodyPr wrap="square" lIns="25400" tIns="25400" rIns="25400" bIns="25400" rtlCol="0" anchor="t">
            <a:normAutofit fontScale="92500" lnSpcReduction="10000"/>
          </a:bodyPr>
          <a:lstStyle/>
          <a:p>
            <a:pPr marL="0" indent="0" algn="l">
              <a:lnSpc>
                <a:spcPct val="170000"/>
              </a:lnSpc>
              <a:buNone/>
            </a:pPr>
            <a:r>
              <a:rPr lang="en-US" sz="1800" b="1" kern="0" spc="360" dirty="0">
                <a:solidFill>
                  <a:srgbClr val="3FE0D0"/>
                </a:solidFill>
                <a:latin typeface="Montserrat" pitchFamily="34" charset="0"/>
                <a:ea typeface="Montserrat" pitchFamily="34" charset="-122"/>
                <a:cs typeface="Montserrat" pitchFamily="34" charset="-120"/>
              </a:rPr>
              <a:t>// THE PROMPT</a:t>
            </a:r>
            <a:endParaRPr lang="en-US" sz="1800" dirty="0"/>
          </a:p>
        </p:txBody>
      </p:sp>
      <p:sp>
        <p:nvSpPr>
          <p:cNvPr id="8" name="Text 6"/>
          <p:cNvSpPr/>
          <p:nvPr/>
        </p:nvSpPr>
        <p:spPr>
          <a:xfrm>
            <a:off x="9944100" y="4248299"/>
            <a:ext cx="7181469" cy="4312593"/>
          </a:xfrm>
          <a:prstGeom prst="rect">
            <a:avLst/>
          </a:prstGeom>
          <a:noFill/>
          <a:ln/>
        </p:spPr>
        <p:txBody>
          <a:bodyPr wrap="square" lIns="25400" tIns="25400" rIns="25400" bIns="25400" rtlCol="0" anchor="t">
            <a:normAutofit/>
          </a:bodyPr>
          <a:lstStyle/>
          <a:p>
            <a:pPr marL="0" indent="0" algn="l">
              <a:lnSpc>
                <a:spcPct val="170000"/>
              </a:lnSpc>
              <a:buNone/>
            </a:pPr>
            <a:r>
              <a:rPr lang="en-US" sz="1800" dirty="0">
                <a:solidFill>
                  <a:srgbClr val="FFFFFF"/>
                </a:solidFill>
                <a:latin typeface="JetBrains Mono" pitchFamily="34" charset="0"/>
                <a:ea typeface="JetBrains Mono" pitchFamily="34" charset="-122"/>
                <a:cs typeface="JetBrains Mono" pitchFamily="34" charset="-120"/>
              </a:rPr>
              <a:t>Implement the login page per docs/requirements/login.md, following the auth conventions in CLAUDE.md. Stop and ask if anything is ambiguous before writing code.</a:t>
            </a:r>
            <a:endParaRPr lang="en-US" sz="1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952500" y="3525441"/>
            <a:ext cx="8044815" cy="390525"/>
          </a:xfrm>
          <a:prstGeom prst="rect">
            <a:avLst/>
          </a:prstGeom>
          <a:noFill/>
          <a:ln/>
        </p:spPr>
        <p:txBody>
          <a:bodyPr wrap="square" lIns="25400" tIns="25400" rIns="25400" bIns="25400" rtlCol="0" anchor="t">
            <a:normAutofit/>
          </a:bodyPr>
          <a:lstStyle/>
          <a:p>
            <a:pPr marL="0" indent="0" algn="l">
              <a:buNone/>
            </a:pPr>
            <a:r>
              <a:rPr lang="en-US" sz="2100" kern="0" spc="630" dirty="0">
                <a:solidFill>
                  <a:srgbClr val="F58220"/>
                </a:solidFill>
                <a:latin typeface="JetBrains Mono" pitchFamily="34" charset="0"/>
                <a:ea typeface="JetBrains Mono" pitchFamily="34" charset="-122"/>
                <a:cs typeface="JetBrains Mono" pitchFamily="34" charset="-120"/>
              </a:rPr>
              <a:t>CONTEXT · ARTIFACT 01</a:t>
            </a:r>
            <a:endParaRPr lang="en-US" sz="2100" dirty="0"/>
          </a:p>
        </p:txBody>
      </p:sp>
      <p:sp>
        <p:nvSpPr>
          <p:cNvPr id="3" name="Text 1"/>
          <p:cNvSpPr/>
          <p:nvPr/>
        </p:nvSpPr>
        <p:spPr>
          <a:xfrm>
            <a:off x="952500" y="4144566"/>
            <a:ext cx="8044815" cy="1123950"/>
          </a:xfrm>
          <a:prstGeom prst="rect">
            <a:avLst/>
          </a:prstGeom>
          <a:noFill/>
          <a:ln/>
        </p:spPr>
        <p:txBody>
          <a:bodyPr wrap="square" lIns="25400" tIns="25400" rIns="25400" bIns="25400" rtlCol="0" anchor="t">
            <a:normAutofit fontScale="92500" lnSpcReduction="20000"/>
          </a:bodyPr>
          <a:lstStyle/>
          <a:p>
            <a:pPr marL="0" indent="0" algn="l">
              <a:lnSpc>
                <a:spcPct val="95000"/>
              </a:lnSpc>
              <a:buNone/>
            </a:pPr>
            <a:r>
              <a:rPr lang="en-US" sz="9000" b="1" kern="0" spc="-180" dirty="0">
                <a:solidFill>
                  <a:srgbClr val="2A2D38"/>
                </a:solidFill>
                <a:latin typeface="Montserrat" pitchFamily="34" charset="0"/>
                <a:ea typeface="Montserrat" pitchFamily="34" charset="-122"/>
                <a:cs typeface="Montserrat" pitchFamily="34" charset="-120"/>
              </a:rPr>
              <a:t>CLAUDE.md</a:t>
            </a:r>
            <a:endParaRPr lang="en-US" sz="9000" dirty="0"/>
          </a:p>
        </p:txBody>
      </p:sp>
      <p:sp>
        <p:nvSpPr>
          <p:cNvPr id="4" name="Text 2"/>
          <p:cNvSpPr/>
          <p:nvPr/>
        </p:nvSpPr>
        <p:spPr>
          <a:xfrm>
            <a:off x="952500" y="5497116"/>
            <a:ext cx="6867525" cy="1363712"/>
          </a:xfrm>
          <a:prstGeom prst="rect">
            <a:avLst/>
          </a:prstGeom>
          <a:noFill/>
          <a:ln/>
        </p:spPr>
        <p:txBody>
          <a:bodyPr wrap="square" lIns="25400" tIns="25400" rIns="25400" bIns="25400" rtlCol="0" anchor="t">
            <a:normAutofit/>
          </a:bodyPr>
          <a:lstStyle/>
          <a:p>
            <a:pPr marL="0" indent="0" algn="l">
              <a:lnSpc>
                <a:spcPct val="145000"/>
              </a:lnSpc>
              <a:buNone/>
            </a:pPr>
            <a:r>
              <a:rPr lang="en-US" sz="2400" dirty="0">
                <a:solidFill>
                  <a:srgbClr val="6B6E78"/>
                </a:solidFill>
                <a:latin typeface="Inter" pitchFamily="34" charset="0"/>
                <a:ea typeface="Inter" pitchFamily="34" charset="-122"/>
                <a:cs typeface="Inter" pitchFamily="34" charset="-120"/>
              </a:rPr>
              <a:t>Project conventions written down once. Read by the model on every session.</a:t>
            </a:r>
            <a:endParaRPr lang="en-US" sz="2400" dirty="0"/>
          </a:p>
        </p:txBody>
      </p:sp>
      <p:sp>
        <p:nvSpPr>
          <p:cNvPr id="6" name="Shape 4"/>
          <p:cNvSpPr/>
          <p:nvPr/>
        </p:nvSpPr>
        <p:spPr>
          <a:xfrm>
            <a:off x="9525000" y="3288209"/>
            <a:ext cx="7810500" cy="5615583"/>
          </a:xfrm>
          <a:prstGeom prst="roundRect">
            <a:avLst>
              <a:gd name="adj" fmla="val 2714"/>
            </a:avLst>
          </a:prstGeom>
          <a:solidFill>
            <a:srgbClr val="1B1D24"/>
          </a:solidFill>
          <a:ln/>
        </p:spPr>
        <p:txBody>
          <a:bodyPr/>
          <a:lstStyle/>
          <a:p>
            <a:endParaRPr lang="en-US"/>
          </a:p>
        </p:txBody>
      </p:sp>
      <p:sp>
        <p:nvSpPr>
          <p:cNvPr id="7" name="Text 5"/>
          <p:cNvSpPr/>
          <p:nvPr/>
        </p:nvSpPr>
        <p:spPr>
          <a:xfrm>
            <a:off x="9944100" y="3669209"/>
            <a:ext cx="7181469" cy="426690"/>
          </a:xfrm>
          <a:prstGeom prst="rect">
            <a:avLst/>
          </a:prstGeom>
          <a:noFill/>
          <a:ln/>
        </p:spPr>
        <p:txBody>
          <a:bodyPr wrap="square" lIns="25400" tIns="25400" rIns="25400" bIns="25400" rtlCol="0" anchor="t">
            <a:normAutofit fontScale="92500" lnSpcReduction="10000"/>
          </a:bodyPr>
          <a:lstStyle/>
          <a:p>
            <a:pPr marL="0" indent="0" algn="l">
              <a:lnSpc>
                <a:spcPct val="170000"/>
              </a:lnSpc>
              <a:buNone/>
            </a:pPr>
            <a:r>
              <a:rPr lang="en-US" sz="1800" b="1" kern="0" spc="360" dirty="0">
                <a:solidFill>
                  <a:srgbClr val="3FE0D0"/>
                </a:solidFill>
                <a:latin typeface="Montserrat" pitchFamily="34" charset="0"/>
                <a:ea typeface="Montserrat" pitchFamily="34" charset="-122"/>
                <a:cs typeface="Montserrat" pitchFamily="34" charset="-120"/>
              </a:rPr>
              <a:t>// CLAUDE.md (excerpt)</a:t>
            </a:r>
            <a:endParaRPr lang="en-US" sz="1800" dirty="0"/>
          </a:p>
        </p:txBody>
      </p:sp>
      <p:sp>
        <p:nvSpPr>
          <p:cNvPr id="8" name="Text 6"/>
          <p:cNvSpPr/>
          <p:nvPr/>
        </p:nvSpPr>
        <p:spPr>
          <a:xfrm>
            <a:off x="9944100" y="4248299"/>
            <a:ext cx="7181469" cy="4312593"/>
          </a:xfrm>
          <a:prstGeom prst="rect">
            <a:avLst/>
          </a:prstGeom>
          <a:noFill/>
          <a:ln/>
        </p:spPr>
        <p:txBody>
          <a:bodyPr wrap="square" lIns="25400" tIns="25400" rIns="25400" bIns="25400" rtlCol="0" anchor="t">
            <a:normAutofit fontScale="85000" lnSpcReduction="20000"/>
          </a:bodyPr>
          <a:lstStyle/>
          <a:p>
            <a:pPr marL="0" indent="0" algn="l">
              <a:lnSpc>
                <a:spcPct val="170000"/>
              </a:lnSpc>
              <a:buNone/>
            </a:pPr>
            <a:r>
              <a:rPr lang="en-US" sz="1800" dirty="0">
                <a:solidFill>
                  <a:srgbClr val="FFFFFF"/>
                </a:solidFill>
                <a:latin typeface="JetBrains Mono" pitchFamily="34" charset="0"/>
                <a:ea typeface="JetBrains Mono" pitchFamily="34" charset="-122"/>
                <a:cs typeface="JetBrains Mono" pitchFamily="34" charset="-120"/>
              </a:rPr>
              <a:t># Project: ACS Member Portal</a:t>
            </a:r>
          </a:p>
          <a:p>
            <a:pPr marL="0" indent="0" algn="l">
              <a:lnSpc>
                <a:spcPct val="170000"/>
              </a:lnSpc>
              <a:buNone/>
            </a:pPr>
            <a:endParaRPr lang="en-US" sz="1800" dirty="0">
              <a:solidFill>
                <a:srgbClr val="FFFFFF"/>
              </a:solidFill>
              <a:latin typeface="JetBrains Mono" pitchFamily="34" charset="0"/>
              <a:ea typeface="JetBrains Mono" pitchFamily="34" charset="-122"/>
              <a:cs typeface="JetBrains Mono" pitchFamily="34" charset="-120"/>
            </a:endParaRPr>
          </a:p>
          <a:p>
            <a:pPr marL="0" indent="0" algn="l">
              <a:lnSpc>
                <a:spcPct val="170000"/>
              </a:lnSpc>
              <a:buNone/>
            </a:pPr>
            <a:r>
              <a:rPr lang="en-US" sz="1800" dirty="0">
                <a:solidFill>
                  <a:srgbClr val="FFFFFF"/>
                </a:solidFill>
                <a:latin typeface="JetBrains Mono" pitchFamily="34" charset="0"/>
                <a:ea typeface="JetBrains Mono" pitchFamily="34" charset="-122"/>
                <a:cs typeface="JetBrains Mono" pitchFamily="34" charset="-120"/>
              </a:rPr>
              <a:t>Stack: </a:t>
            </a:r>
            <a:r>
              <a:rPr lang="en-US" sz="1800" dirty="0" err="1">
                <a:solidFill>
                  <a:srgbClr val="FFFFFF"/>
                </a:solidFill>
                <a:latin typeface="JetBrains Mono" pitchFamily="34" charset="0"/>
                <a:ea typeface="JetBrains Mono" pitchFamily="34" charset="-122"/>
                <a:cs typeface="JetBrains Mono" pitchFamily="34" charset="-120"/>
              </a:rPr>
              <a:t>Next.js</a:t>
            </a:r>
            <a:r>
              <a:rPr lang="en-US" sz="1800" dirty="0">
                <a:solidFill>
                  <a:srgbClr val="FFFFFF"/>
                </a:solidFill>
                <a:latin typeface="JetBrains Mono" pitchFamily="34" charset="0"/>
                <a:ea typeface="JetBrains Mono" pitchFamily="34" charset="-122"/>
                <a:cs typeface="JetBrains Mono" pitchFamily="34" charset="-120"/>
              </a:rPr>
              <a:t> 16, TypeScript, Drizzle, </a:t>
            </a:r>
            <a:r>
              <a:rPr lang="en-US" sz="1800" dirty="0" err="1">
                <a:solidFill>
                  <a:srgbClr val="FFFFFF"/>
                </a:solidFill>
                <a:latin typeface="JetBrains Mono" pitchFamily="34" charset="0"/>
                <a:ea typeface="JetBrains Mono" pitchFamily="34" charset="-122"/>
                <a:cs typeface="JetBrains Mono" pitchFamily="34" charset="-120"/>
              </a:rPr>
              <a:t>BetterAuth</a:t>
            </a:r>
            <a:r>
              <a:rPr lang="en-US" sz="1800" dirty="0">
                <a:solidFill>
                  <a:srgbClr val="FFFFFF"/>
                </a:solidFill>
                <a:latin typeface="JetBrains Mono" pitchFamily="34" charset="0"/>
                <a:ea typeface="JetBrains Mono" pitchFamily="34" charset="-122"/>
                <a:cs typeface="JetBrains Mono" pitchFamily="34" charset="-120"/>
              </a:rPr>
              <a:t>.</a:t>
            </a:r>
          </a:p>
          <a:p>
            <a:pPr marL="0" indent="0" algn="l">
              <a:lnSpc>
                <a:spcPct val="170000"/>
              </a:lnSpc>
              <a:buNone/>
            </a:pPr>
            <a:endParaRPr lang="en-US" sz="1800" dirty="0">
              <a:solidFill>
                <a:srgbClr val="FFFFFF"/>
              </a:solidFill>
              <a:latin typeface="JetBrains Mono" pitchFamily="34" charset="0"/>
              <a:ea typeface="JetBrains Mono" pitchFamily="34" charset="-122"/>
              <a:cs typeface="JetBrains Mono" pitchFamily="34" charset="-120"/>
            </a:endParaRPr>
          </a:p>
          <a:p>
            <a:pPr marL="0" indent="0" algn="l">
              <a:lnSpc>
                <a:spcPct val="170000"/>
              </a:lnSpc>
              <a:buNone/>
            </a:pPr>
            <a:r>
              <a:rPr lang="en-US" sz="1800" dirty="0">
                <a:solidFill>
                  <a:srgbClr val="FFFFFF"/>
                </a:solidFill>
                <a:latin typeface="JetBrains Mono" pitchFamily="34" charset="0"/>
                <a:ea typeface="JetBrains Mono" pitchFamily="34" charset="-122"/>
                <a:cs typeface="JetBrains Mono" pitchFamily="34" charset="-120"/>
              </a:rPr>
              <a:t>## Auth conventions</a:t>
            </a:r>
          </a:p>
          <a:p>
            <a:pPr marL="0" indent="0" algn="l">
              <a:lnSpc>
                <a:spcPct val="170000"/>
              </a:lnSpc>
              <a:buNone/>
            </a:pPr>
            <a:r>
              <a:rPr lang="en-US" sz="1800" dirty="0">
                <a:solidFill>
                  <a:srgbClr val="FFFFFF"/>
                </a:solidFill>
                <a:latin typeface="JetBrains Mono" pitchFamily="34" charset="0"/>
                <a:ea typeface="JetBrains Mono" pitchFamily="34" charset="-122"/>
                <a:cs typeface="JetBrains Mono" pitchFamily="34" charset="-120"/>
              </a:rPr>
              <a:t>- </a:t>
            </a:r>
            <a:r>
              <a:rPr lang="en-US" sz="1800" dirty="0" err="1">
                <a:solidFill>
                  <a:srgbClr val="FFFFFF"/>
                </a:solidFill>
                <a:latin typeface="JetBrains Mono" pitchFamily="34" charset="0"/>
                <a:ea typeface="JetBrains Mono" pitchFamily="34" charset="-122"/>
                <a:cs typeface="JetBrains Mono" pitchFamily="34" charset="-120"/>
              </a:rPr>
              <a:t>BetterAuth</a:t>
            </a:r>
            <a:r>
              <a:rPr lang="en-US" sz="1800" dirty="0">
                <a:solidFill>
                  <a:srgbClr val="FFFFFF"/>
                </a:solidFill>
                <a:latin typeface="JetBrains Mono" pitchFamily="34" charset="0"/>
                <a:ea typeface="JetBrains Mono" pitchFamily="34" charset="-122"/>
                <a:cs typeface="JetBrains Mono" pitchFamily="34" charset="-120"/>
              </a:rPr>
              <a:t> credentials provider.</a:t>
            </a:r>
          </a:p>
          <a:p>
            <a:pPr marL="0" indent="0" algn="l">
              <a:lnSpc>
                <a:spcPct val="170000"/>
              </a:lnSpc>
              <a:buNone/>
            </a:pPr>
            <a:r>
              <a:rPr lang="en-US" sz="1800" dirty="0">
                <a:solidFill>
                  <a:srgbClr val="FFFFFF"/>
                </a:solidFill>
                <a:latin typeface="JetBrains Mono" pitchFamily="34" charset="0"/>
                <a:ea typeface="JetBrains Mono" pitchFamily="34" charset="-122"/>
                <a:cs typeface="JetBrains Mono" pitchFamily="34" charset="-120"/>
              </a:rPr>
              <a:t>- Authed pages live under app/(secure)/.</a:t>
            </a:r>
          </a:p>
          <a:p>
            <a:pPr marL="0" indent="0" algn="l">
              <a:lnSpc>
                <a:spcPct val="170000"/>
              </a:lnSpc>
              <a:buNone/>
            </a:pPr>
            <a:r>
              <a:rPr lang="en-US" sz="1800" dirty="0">
                <a:solidFill>
                  <a:srgbClr val="FFFFFF"/>
                </a:solidFill>
                <a:latin typeface="JetBrains Mono" pitchFamily="34" charset="0"/>
                <a:ea typeface="JetBrains Mono" pitchFamily="34" charset="-122"/>
                <a:cs typeface="JetBrains Mono" pitchFamily="34" charset="-120"/>
              </a:rPr>
              <a:t>- Server components only — no client-side session fetching.</a:t>
            </a:r>
          </a:p>
          <a:p>
            <a:pPr marL="0" indent="0" algn="l">
              <a:lnSpc>
                <a:spcPct val="170000"/>
              </a:lnSpc>
              <a:buNone/>
            </a:pPr>
            <a:endParaRPr lang="en-US" sz="1800" dirty="0">
              <a:solidFill>
                <a:srgbClr val="FFFFFF"/>
              </a:solidFill>
              <a:latin typeface="JetBrains Mono" pitchFamily="34" charset="0"/>
              <a:ea typeface="JetBrains Mono" pitchFamily="34" charset="-122"/>
              <a:cs typeface="JetBrains Mono" pitchFamily="34" charset="-120"/>
            </a:endParaRPr>
          </a:p>
          <a:p>
            <a:pPr marL="0" indent="0" algn="l">
              <a:lnSpc>
                <a:spcPct val="170000"/>
              </a:lnSpc>
              <a:buNone/>
            </a:pPr>
            <a:r>
              <a:rPr lang="en-US" sz="1800" dirty="0">
                <a:solidFill>
                  <a:srgbClr val="FFFFFF"/>
                </a:solidFill>
                <a:latin typeface="JetBrains Mono" pitchFamily="34" charset="0"/>
                <a:ea typeface="JetBrains Mono" pitchFamily="34" charset="-122"/>
                <a:cs typeface="JetBrains Mono" pitchFamily="34" charset="-120"/>
              </a:rPr>
              <a:t>## Style</a:t>
            </a:r>
          </a:p>
          <a:p>
            <a:pPr marL="0" indent="0" algn="l">
              <a:lnSpc>
                <a:spcPct val="170000"/>
              </a:lnSpc>
              <a:buNone/>
            </a:pPr>
            <a:r>
              <a:rPr lang="en-US" sz="1800" dirty="0">
                <a:solidFill>
                  <a:srgbClr val="FFFFFF"/>
                </a:solidFill>
                <a:latin typeface="JetBrains Mono" pitchFamily="34" charset="0"/>
                <a:ea typeface="JetBrains Mono" pitchFamily="34" charset="-122"/>
                <a:cs typeface="JetBrains Mono" pitchFamily="34" charset="-120"/>
              </a:rPr>
              <a:t>- Tailwind. No inline styles.</a:t>
            </a:r>
          </a:p>
          <a:p>
            <a:pPr marL="0" indent="0" algn="l">
              <a:lnSpc>
                <a:spcPct val="170000"/>
              </a:lnSpc>
              <a:buNone/>
            </a:pPr>
            <a:r>
              <a:rPr lang="en-US" sz="1800" dirty="0">
                <a:solidFill>
                  <a:srgbClr val="FFFFFF"/>
                </a:solidFill>
                <a:latin typeface="JetBrains Mono" pitchFamily="34" charset="0"/>
                <a:ea typeface="JetBrains Mono" pitchFamily="34" charset="-122"/>
                <a:cs typeface="JetBrains Mono" pitchFamily="34" charset="-120"/>
              </a:rPr>
              <a:t>- One feature per folder under app/.</a:t>
            </a:r>
            <a:endParaRPr lang="en-US" sz="1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952500" y="3525441"/>
            <a:ext cx="8044815" cy="390525"/>
          </a:xfrm>
          <a:prstGeom prst="rect">
            <a:avLst/>
          </a:prstGeom>
          <a:noFill/>
          <a:ln/>
        </p:spPr>
        <p:txBody>
          <a:bodyPr wrap="square" lIns="25400" tIns="25400" rIns="25400" bIns="25400" rtlCol="0" anchor="t">
            <a:normAutofit/>
          </a:bodyPr>
          <a:lstStyle/>
          <a:p>
            <a:pPr marL="0" indent="0" algn="l">
              <a:buNone/>
            </a:pPr>
            <a:r>
              <a:rPr lang="en-US" sz="2100" kern="0" spc="630" dirty="0">
                <a:solidFill>
                  <a:srgbClr val="F58220"/>
                </a:solidFill>
                <a:latin typeface="JetBrains Mono" pitchFamily="34" charset="0"/>
                <a:ea typeface="JetBrains Mono" pitchFamily="34" charset="-122"/>
                <a:cs typeface="JetBrains Mono" pitchFamily="34" charset="-120"/>
              </a:rPr>
              <a:t>CONTEXT · ARTIFACT 02</a:t>
            </a:r>
            <a:endParaRPr lang="en-US" sz="2100" dirty="0"/>
          </a:p>
        </p:txBody>
      </p:sp>
      <p:sp>
        <p:nvSpPr>
          <p:cNvPr id="3" name="Text 1"/>
          <p:cNvSpPr/>
          <p:nvPr/>
        </p:nvSpPr>
        <p:spPr>
          <a:xfrm>
            <a:off x="952500" y="4144566"/>
            <a:ext cx="8044815" cy="1123950"/>
          </a:xfrm>
          <a:prstGeom prst="rect">
            <a:avLst/>
          </a:prstGeom>
          <a:noFill/>
          <a:ln/>
        </p:spPr>
        <p:txBody>
          <a:bodyPr wrap="square" lIns="25400" tIns="25400" rIns="25400" bIns="25400" rtlCol="0" anchor="t">
            <a:normAutofit fontScale="70000" lnSpcReduction="20000"/>
          </a:bodyPr>
          <a:lstStyle/>
          <a:p>
            <a:pPr marL="0" indent="0" algn="l">
              <a:lnSpc>
                <a:spcPct val="95000"/>
              </a:lnSpc>
              <a:buNone/>
            </a:pPr>
            <a:r>
              <a:rPr lang="en-US" sz="9000" b="1" kern="0" spc="-180" dirty="0">
                <a:solidFill>
                  <a:srgbClr val="2A2D38"/>
                </a:solidFill>
                <a:latin typeface="Montserrat" pitchFamily="34" charset="0"/>
                <a:ea typeface="Montserrat" pitchFamily="34" charset="-122"/>
                <a:cs typeface="Montserrat" pitchFamily="34" charset="-120"/>
              </a:rPr>
              <a:t>Requirements doc.</a:t>
            </a:r>
            <a:endParaRPr lang="en-US" sz="9000" dirty="0"/>
          </a:p>
        </p:txBody>
      </p:sp>
      <p:sp>
        <p:nvSpPr>
          <p:cNvPr id="4" name="Text 2"/>
          <p:cNvSpPr/>
          <p:nvPr/>
        </p:nvSpPr>
        <p:spPr>
          <a:xfrm>
            <a:off x="952500" y="5497116"/>
            <a:ext cx="6867525" cy="1363712"/>
          </a:xfrm>
          <a:prstGeom prst="rect">
            <a:avLst/>
          </a:prstGeom>
          <a:noFill/>
          <a:ln/>
        </p:spPr>
        <p:txBody>
          <a:bodyPr wrap="square" lIns="25400" tIns="25400" rIns="25400" bIns="25400" rtlCol="0" anchor="t">
            <a:normAutofit/>
          </a:bodyPr>
          <a:lstStyle/>
          <a:p>
            <a:pPr marL="0" indent="0" algn="l">
              <a:lnSpc>
                <a:spcPct val="145000"/>
              </a:lnSpc>
              <a:buNone/>
            </a:pPr>
            <a:r>
              <a:rPr lang="en-US" sz="2400" dirty="0">
                <a:solidFill>
                  <a:srgbClr val="6B6E78"/>
                </a:solidFill>
                <a:latin typeface="Inter" pitchFamily="34" charset="0"/>
                <a:ea typeface="Inter" pitchFamily="34" charset="-122"/>
                <a:cs typeface="Inter" pitchFamily="34" charset="-120"/>
              </a:rPr>
              <a:t>What we want, before we ask for code. Living doc, lives next to the feature.</a:t>
            </a:r>
            <a:endParaRPr lang="en-US" sz="2400" dirty="0"/>
          </a:p>
        </p:txBody>
      </p:sp>
      <p:sp>
        <p:nvSpPr>
          <p:cNvPr id="5" name="Text 3"/>
          <p:cNvSpPr/>
          <p:nvPr/>
        </p:nvSpPr>
        <p:spPr>
          <a:xfrm>
            <a:off x="765810" y="7165628"/>
            <a:ext cx="8073390" cy="1538883"/>
          </a:xfrm>
          <a:prstGeom prst="rect">
            <a:avLst/>
          </a:prstGeom>
          <a:noFill/>
          <a:ln/>
        </p:spPr>
        <p:txBody>
          <a:bodyPr wrap="square" lIns="25400" tIns="25400" rIns="25400" bIns="25400" rtlCol="0" anchor="t">
            <a:normAutofit/>
          </a:bodyPr>
          <a:lstStyle/>
          <a:p>
            <a:pPr marL="0" indent="0" algn="l">
              <a:lnSpc>
                <a:spcPct val="140000"/>
              </a:lnSpc>
              <a:buNone/>
            </a:pPr>
            <a:r>
              <a:rPr lang="en-US" sz="2100" dirty="0">
                <a:solidFill>
                  <a:srgbClr val="2A2D38"/>
                </a:solidFill>
                <a:latin typeface="Inter" pitchFamily="34" charset="0"/>
                <a:ea typeface="Inter" pitchFamily="34" charset="-122"/>
                <a:cs typeface="Inter" pitchFamily="34" charset="-120"/>
              </a:rPr>
              <a:t>User outcome, plainly stated.</a:t>
            </a:r>
          </a:p>
          <a:p>
            <a:pPr marL="0" indent="0" algn="l">
              <a:lnSpc>
                <a:spcPct val="140000"/>
              </a:lnSpc>
              <a:buNone/>
            </a:pPr>
            <a:r>
              <a:rPr lang="en-US" sz="2100" dirty="0">
                <a:solidFill>
                  <a:srgbClr val="2A2D38"/>
                </a:solidFill>
                <a:latin typeface="Inter" pitchFamily="34" charset="0"/>
                <a:ea typeface="Inter" pitchFamily="34" charset="-122"/>
                <a:cs typeface="Inter" pitchFamily="34" charset="-120"/>
              </a:rPr>
              <a:t>Fields, validation, errors.</a:t>
            </a:r>
          </a:p>
          <a:p>
            <a:pPr marL="0" indent="0" algn="l">
              <a:lnSpc>
                <a:spcPct val="140000"/>
              </a:lnSpc>
              <a:buNone/>
            </a:pPr>
            <a:r>
              <a:rPr lang="en-US" sz="2100" dirty="0">
                <a:solidFill>
                  <a:srgbClr val="2A2D38"/>
                </a:solidFill>
                <a:latin typeface="Inter" pitchFamily="34" charset="0"/>
                <a:ea typeface="Inter" pitchFamily="34" charset="-122"/>
                <a:cs typeface="Inter" pitchFamily="34" charset="-120"/>
              </a:rPr>
              <a:t>What success looks like.</a:t>
            </a:r>
            <a:endParaRPr lang="en-US" sz="2100" dirty="0"/>
          </a:p>
        </p:txBody>
      </p:sp>
      <p:sp>
        <p:nvSpPr>
          <p:cNvPr id="6" name="Shape 4"/>
          <p:cNvSpPr/>
          <p:nvPr/>
        </p:nvSpPr>
        <p:spPr>
          <a:xfrm>
            <a:off x="9525000" y="3288209"/>
            <a:ext cx="7810500" cy="5615583"/>
          </a:xfrm>
          <a:prstGeom prst="roundRect">
            <a:avLst>
              <a:gd name="adj" fmla="val 2714"/>
            </a:avLst>
          </a:prstGeom>
          <a:solidFill>
            <a:srgbClr val="1B1D24"/>
          </a:solidFill>
          <a:ln/>
        </p:spPr>
        <p:txBody>
          <a:bodyPr/>
          <a:lstStyle/>
          <a:p>
            <a:endParaRPr lang="en-US"/>
          </a:p>
        </p:txBody>
      </p:sp>
      <p:sp>
        <p:nvSpPr>
          <p:cNvPr id="7" name="Text 5"/>
          <p:cNvSpPr/>
          <p:nvPr/>
        </p:nvSpPr>
        <p:spPr>
          <a:xfrm>
            <a:off x="9944100" y="3669209"/>
            <a:ext cx="7181469" cy="426690"/>
          </a:xfrm>
          <a:prstGeom prst="rect">
            <a:avLst/>
          </a:prstGeom>
          <a:noFill/>
          <a:ln/>
        </p:spPr>
        <p:txBody>
          <a:bodyPr wrap="square" lIns="25400" tIns="25400" rIns="25400" bIns="25400" rtlCol="0" anchor="t">
            <a:normAutofit fontScale="92500" lnSpcReduction="10000"/>
          </a:bodyPr>
          <a:lstStyle/>
          <a:p>
            <a:pPr marL="0" indent="0" algn="l">
              <a:lnSpc>
                <a:spcPct val="170000"/>
              </a:lnSpc>
              <a:buNone/>
            </a:pPr>
            <a:r>
              <a:rPr lang="en-US" sz="1800" b="1" kern="0" spc="360" dirty="0">
                <a:solidFill>
                  <a:srgbClr val="3FE0D0"/>
                </a:solidFill>
                <a:latin typeface="Montserrat" pitchFamily="34" charset="0"/>
                <a:ea typeface="Montserrat" pitchFamily="34" charset="-122"/>
                <a:cs typeface="Montserrat" pitchFamily="34" charset="-120"/>
              </a:rPr>
              <a:t>// docs/requirements/login.md</a:t>
            </a:r>
            <a:endParaRPr lang="en-US" sz="1800" dirty="0"/>
          </a:p>
        </p:txBody>
      </p:sp>
      <p:sp>
        <p:nvSpPr>
          <p:cNvPr id="8" name="Text 6"/>
          <p:cNvSpPr/>
          <p:nvPr/>
        </p:nvSpPr>
        <p:spPr>
          <a:xfrm>
            <a:off x="9944100" y="4248299"/>
            <a:ext cx="7181469" cy="4312593"/>
          </a:xfrm>
          <a:prstGeom prst="rect">
            <a:avLst/>
          </a:prstGeom>
          <a:noFill/>
          <a:ln/>
        </p:spPr>
        <p:txBody>
          <a:bodyPr wrap="square" lIns="25400" tIns="25400" rIns="25400" bIns="25400" rtlCol="0" anchor="t">
            <a:normAutofit fontScale="62500" lnSpcReduction="20000"/>
          </a:bodyPr>
          <a:lstStyle/>
          <a:p>
            <a:pPr marL="0" indent="0" algn="l">
              <a:lnSpc>
                <a:spcPct val="170000"/>
              </a:lnSpc>
              <a:buNone/>
            </a:pPr>
            <a:r>
              <a:rPr lang="en-US" sz="1800" dirty="0">
                <a:solidFill>
                  <a:srgbClr val="FFFFFF"/>
                </a:solidFill>
                <a:latin typeface="JetBrains Mono" pitchFamily="34" charset="0"/>
                <a:ea typeface="JetBrains Mono" pitchFamily="34" charset="-122"/>
                <a:cs typeface="JetBrains Mono" pitchFamily="34" charset="-120"/>
              </a:rPr>
              <a:t># Login page</a:t>
            </a:r>
          </a:p>
          <a:p>
            <a:pPr marL="0" indent="0" algn="l">
              <a:lnSpc>
                <a:spcPct val="170000"/>
              </a:lnSpc>
              <a:buNone/>
            </a:pPr>
            <a:endParaRPr lang="en-US" sz="1800" dirty="0">
              <a:solidFill>
                <a:srgbClr val="FFFFFF"/>
              </a:solidFill>
              <a:latin typeface="JetBrains Mono" pitchFamily="34" charset="0"/>
              <a:ea typeface="JetBrains Mono" pitchFamily="34" charset="-122"/>
              <a:cs typeface="JetBrains Mono" pitchFamily="34" charset="-120"/>
            </a:endParaRPr>
          </a:p>
          <a:p>
            <a:pPr marL="0" indent="0" algn="l">
              <a:lnSpc>
                <a:spcPct val="170000"/>
              </a:lnSpc>
              <a:buNone/>
            </a:pPr>
            <a:r>
              <a:rPr lang="en-US" sz="1800" dirty="0">
                <a:solidFill>
                  <a:srgbClr val="FFFFFF"/>
                </a:solidFill>
                <a:latin typeface="JetBrains Mono" pitchFamily="34" charset="0"/>
                <a:ea typeface="JetBrains Mono" pitchFamily="34" charset="-122"/>
                <a:cs typeface="JetBrains Mono" pitchFamily="34" charset="-120"/>
              </a:rPr>
              <a:t>## Goal</a:t>
            </a:r>
          </a:p>
          <a:p>
            <a:pPr marL="0" indent="0" algn="l">
              <a:lnSpc>
                <a:spcPct val="170000"/>
              </a:lnSpc>
              <a:buNone/>
            </a:pPr>
            <a:r>
              <a:rPr lang="en-US" sz="1800" dirty="0">
                <a:solidFill>
                  <a:srgbClr val="FFFFFF"/>
                </a:solidFill>
                <a:latin typeface="JetBrains Mono" pitchFamily="34" charset="0"/>
                <a:ea typeface="JetBrains Mono" pitchFamily="34" charset="-122"/>
                <a:cs typeface="JetBrains Mono" pitchFamily="34" charset="-120"/>
              </a:rPr>
              <a:t>Returning members sign in with email + password.</a:t>
            </a:r>
          </a:p>
          <a:p>
            <a:pPr marL="0" indent="0" algn="l">
              <a:lnSpc>
                <a:spcPct val="170000"/>
              </a:lnSpc>
              <a:buNone/>
            </a:pPr>
            <a:endParaRPr lang="en-US" sz="1800" dirty="0">
              <a:solidFill>
                <a:srgbClr val="FFFFFF"/>
              </a:solidFill>
              <a:latin typeface="JetBrains Mono" pitchFamily="34" charset="0"/>
              <a:ea typeface="JetBrains Mono" pitchFamily="34" charset="-122"/>
              <a:cs typeface="JetBrains Mono" pitchFamily="34" charset="-120"/>
            </a:endParaRPr>
          </a:p>
          <a:p>
            <a:pPr marL="0" indent="0" algn="l">
              <a:lnSpc>
                <a:spcPct val="170000"/>
              </a:lnSpc>
              <a:buNone/>
            </a:pPr>
            <a:r>
              <a:rPr lang="en-US" sz="1800" dirty="0">
                <a:solidFill>
                  <a:srgbClr val="FFFFFF"/>
                </a:solidFill>
                <a:latin typeface="JetBrains Mono" pitchFamily="34" charset="0"/>
                <a:ea typeface="JetBrains Mono" pitchFamily="34" charset="-122"/>
                <a:cs typeface="JetBrains Mono" pitchFamily="34" charset="-120"/>
              </a:rPr>
              <a:t>## Fields</a:t>
            </a:r>
          </a:p>
          <a:p>
            <a:pPr marL="0" indent="0" algn="l">
              <a:lnSpc>
                <a:spcPct val="170000"/>
              </a:lnSpc>
              <a:buNone/>
            </a:pPr>
            <a:r>
              <a:rPr lang="en-US" sz="1800" dirty="0">
                <a:solidFill>
                  <a:srgbClr val="FFFFFF"/>
                </a:solidFill>
                <a:latin typeface="JetBrains Mono" pitchFamily="34" charset="0"/>
                <a:ea typeface="JetBrains Mono" pitchFamily="34" charset="-122"/>
                <a:cs typeface="JetBrains Mono" pitchFamily="34" charset="-120"/>
              </a:rPr>
              <a:t>- email (required, valid format)</a:t>
            </a:r>
          </a:p>
          <a:p>
            <a:pPr marL="0" indent="0" algn="l">
              <a:lnSpc>
                <a:spcPct val="170000"/>
              </a:lnSpc>
              <a:buNone/>
            </a:pPr>
            <a:r>
              <a:rPr lang="en-US" sz="1800" dirty="0">
                <a:solidFill>
                  <a:srgbClr val="FFFFFF"/>
                </a:solidFill>
                <a:latin typeface="JetBrains Mono" pitchFamily="34" charset="0"/>
                <a:ea typeface="JetBrains Mono" pitchFamily="34" charset="-122"/>
                <a:cs typeface="JetBrains Mono" pitchFamily="34" charset="-120"/>
              </a:rPr>
              <a:t>- password (required, ≥ 8 chars)</a:t>
            </a:r>
          </a:p>
          <a:p>
            <a:pPr marL="0" indent="0" algn="l">
              <a:lnSpc>
                <a:spcPct val="170000"/>
              </a:lnSpc>
              <a:buNone/>
            </a:pPr>
            <a:endParaRPr lang="en-US" sz="1800" dirty="0">
              <a:solidFill>
                <a:srgbClr val="FFFFFF"/>
              </a:solidFill>
              <a:latin typeface="JetBrains Mono" pitchFamily="34" charset="0"/>
              <a:ea typeface="JetBrains Mono" pitchFamily="34" charset="-122"/>
              <a:cs typeface="JetBrains Mono" pitchFamily="34" charset="-120"/>
            </a:endParaRPr>
          </a:p>
          <a:p>
            <a:pPr marL="0" indent="0" algn="l">
              <a:lnSpc>
                <a:spcPct val="170000"/>
              </a:lnSpc>
              <a:buNone/>
            </a:pPr>
            <a:r>
              <a:rPr lang="en-US" sz="1800" dirty="0">
                <a:solidFill>
                  <a:srgbClr val="FFFFFF"/>
                </a:solidFill>
                <a:latin typeface="JetBrains Mono" pitchFamily="34" charset="0"/>
                <a:ea typeface="JetBrains Mono" pitchFamily="34" charset="-122"/>
                <a:cs typeface="JetBrains Mono" pitchFamily="34" charset="-120"/>
              </a:rPr>
              <a:t>## Behavior</a:t>
            </a:r>
          </a:p>
          <a:p>
            <a:pPr marL="0" indent="0" algn="l">
              <a:lnSpc>
                <a:spcPct val="170000"/>
              </a:lnSpc>
              <a:buNone/>
            </a:pPr>
            <a:r>
              <a:rPr lang="en-US" sz="1800" dirty="0">
                <a:solidFill>
                  <a:srgbClr val="FFFFFF"/>
                </a:solidFill>
                <a:latin typeface="JetBrains Mono" pitchFamily="34" charset="0"/>
                <a:ea typeface="JetBrains Mono" pitchFamily="34" charset="-122"/>
                <a:cs typeface="JetBrains Mono" pitchFamily="34" charset="-120"/>
              </a:rPr>
              <a:t>- On submit: POST to /api/auth/signin</a:t>
            </a:r>
          </a:p>
          <a:p>
            <a:pPr marL="0" indent="0" algn="l">
              <a:lnSpc>
                <a:spcPct val="170000"/>
              </a:lnSpc>
              <a:buNone/>
            </a:pPr>
            <a:r>
              <a:rPr lang="en-US" sz="1800" dirty="0">
                <a:solidFill>
                  <a:srgbClr val="FFFFFF"/>
                </a:solidFill>
                <a:latin typeface="JetBrains Mono" pitchFamily="34" charset="0"/>
                <a:ea typeface="JetBrains Mono" pitchFamily="34" charset="-122"/>
                <a:cs typeface="JetBrains Mono" pitchFamily="34" charset="-120"/>
              </a:rPr>
              <a:t>- On success: redirect to /dashboard</a:t>
            </a:r>
          </a:p>
          <a:p>
            <a:pPr marL="0" indent="0" algn="l">
              <a:lnSpc>
                <a:spcPct val="170000"/>
              </a:lnSpc>
              <a:buNone/>
            </a:pPr>
            <a:r>
              <a:rPr lang="en-US" sz="1800" dirty="0">
                <a:solidFill>
                  <a:srgbClr val="FFFFFF"/>
                </a:solidFill>
                <a:latin typeface="JetBrains Mono" pitchFamily="34" charset="0"/>
                <a:ea typeface="JetBrains Mono" pitchFamily="34" charset="-122"/>
                <a:cs typeface="JetBrains Mono" pitchFamily="34" charset="-120"/>
              </a:rPr>
              <a:t>- On failure: inline error, do not clear email</a:t>
            </a:r>
          </a:p>
          <a:p>
            <a:pPr marL="0" indent="0" algn="l">
              <a:lnSpc>
                <a:spcPct val="170000"/>
              </a:lnSpc>
              <a:buNone/>
            </a:pPr>
            <a:endParaRPr lang="en-US" sz="1800" dirty="0">
              <a:solidFill>
                <a:srgbClr val="FFFFFF"/>
              </a:solidFill>
              <a:latin typeface="JetBrains Mono" pitchFamily="34" charset="0"/>
              <a:ea typeface="JetBrains Mono" pitchFamily="34" charset="-122"/>
              <a:cs typeface="JetBrains Mono" pitchFamily="34" charset="-120"/>
            </a:endParaRPr>
          </a:p>
          <a:p>
            <a:pPr marL="0" indent="0" algn="l">
              <a:lnSpc>
                <a:spcPct val="170000"/>
              </a:lnSpc>
              <a:buNone/>
            </a:pPr>
            <a:r>
              <a:rPr lang="en-US" sz="1800" dirty="0">
                <a:solidFill>
                  <a:srgbClr val="FFFFFF"/>
                </a:solidFill>
                <a:latin typeface="JetBrains Mono" pitchFamily="34" charset="0"/>
                <a:ea typeface="JetBrains Mono" pitchFamily="34" charset="-122"/>
                <a:cs typeface="JetBrains Mono" pitchFamily="34" charset="-120"/>
              </a:rPr>
              <a:t>## Out of scope</a:t>
            </a:r>
          </a:p>
          <a:p>
            <a:pPr marL="0" indent="0" algn="l">
              <a:lnSpc>
                <a:spcPct val="170000"/>
              </a:lnSpc>
              <a:buNone/>
            </a:pPr>
            <a:r>
              <a:rPr lang="en-US" sz="1800" dirty="0">
                <a:solidFill>
                  <a:srgbClr val="FFFFFF"/>
                </a:solidFill>
                <a:latin typeface="JetBrains Mono" pitchFamily="34" charset="0"/>
                <a:ea typeface="JetBrains Mono" pitchFamily="34" charset="-122"/>
                <a:cs typeface="JetBrains Mono" pitchFamily="34" charset="-120"/>
              </a:rPr>
              <a:t>- Password reset, OAuth, MFA</a:t>
            </a:r>
            <a:endParaRPr lang="en-US" sz="18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1B1D24"/>
          </a:solidFill>
          <a:ln/>
        </p:spPr>
        <p:txBody>
          <a:bodyPr/>
          <a:lstStyle/>
          <a:p>
            <a:endParaRPr lang="en-US"/>
          </a:p>
        </p:txBody>
      </p:sp>
      <p:sp>
        <p:nvSpPr>
          <p:cNvPr id="3" name="Text 1"/>
          <p:cNvSpPr/>
          <p:nvPr/>
        </p:nvSpPr>
        <p:spPr>
          <a:xfrm>
            <a:off x="4343251" y="3170932"/>
            <a:ext cx="9889543" cy="390525"/>
          </a:xfrm>
          <a:prstGeom prst="rect">
            <a:avLst/>
          </a:prstGeom>
          <a:noFill/>
          <a:ln/>
        </p:spPr>
        <p:txBody>
          <a:bodyPr wrap="square" lIns="25400" tIns="25400" rIns="25400" bIns="25400" rtlCol="0" anchor="t">
            <a:normAutofit/>
          </a:bodyPr>
          <a:lstStyle/>
          <a:p>
            <a:pPr marL="0" indent="0" algn="l">
              <a:buNone/>
            </a:pPr>
            <a:r>
              <a:rPr lang="en-US" sz="2100" spc="840" dirty="0">
                <a:solidFill>
                  <a:srgbClr val="3FE0D0"/>
                </a:solidFill>
                <a:latin typeface="JetBrains Mono" pitchFamily="34" charset="0"/>
                <a:ea typeface="JetBrains Mono" pitchFamily="34" charset="-122"/>
                <a:cs typeface="JetBrains Mono" pitchFamily="34" charset="-120"/>
              </a:rPr>
              <a:t>LESSON</a:t>
            </a:r>
            <a:endParaRPr lang="en-US" sz="2100" dirty="0"/>
          </a:p>
        </p:txBody>
      </p:sp>
      <p:sp>
        <p:nvSpPr>
          <p:cNvPr id="4" name="Text 2"/>
          <p:cNvSpPr/>
          <p:nvPr/>
        </p:nvSpPr>
        <p:spPr>
          <a:xfrm>
            <a:off x="4343251" y="3904357"/>
            <a:ext cx="12303236" cy="4468462"/>
          </a:xfrm>
          <a:prstGeom prst="rect">
            <a:avLst/>
          </a:prstGeom>
          <a:noFill/>
          <a:ln/>
        </p:spPr>
        <p:txBody>
          <a:bodyPr wrap="square" lIns="25400" tIns="25400" rIns="25400" bIns="25400" rtlCol="0" anchor="t">
            <a:normAutofit fontScale="85000" lnSpcReduction="10000"/>
          </a:bodyPr>
          <a:lstStyle/>
          <a:p>
            <a:pPr marL="0" indent="0" algn="l">
              <a:lnSpc>
                <a:spcPct val="95000"/>
              </a:lnSpc>
              <a:buNone/>
            </a:pPr>
            <a:r>
              <a:rPr lang="en-US" sz="9900" b="1" spc="-247" dirty="0">
                <a:solidFill>
                  <a:srgbClr val="FFFFFF"/>
                </a:solidFill>
                <a:latin typeface="Montserrat" pitchFamily="34" charset="0"/>
                <a:ea typeface="Montserrat" pitchFamily="34" charset="-122"/>
                <a:cs typeface="Montserrat" pitchFamily="34" charset="-120"/>
              </a:rPr>
              <a:t>If you can’t </a:t>
            </a:r>
            <a:br>
              <a:rPr lang="en-US" sz="9900" b="1" spc="-247" dirty="0">
                <a:solidFill>
                  <a:srgbClr val="FFFFFF"/>
                </a:solidFill>
                <a:latin typeface="Montserrat" pitchFamily="34" charset="0"/>
                <a:ea typeface="Montserrat" pitchFamily="34" charset="-122"/>
                <a:cs typeface="Montserrat" pitchFamily="34" charset="-120"/>
              </a:rPr>
            </a:br>
            <a:r>
              <a:rPr lang="en-US" sz="9900" b="1" spc="-247" dirty="0">
                <a:solidFill>
                  <a:srgbClr val="FFFFFF"/>
                </a:solidFill>
                <a:latin typeface="Montserrat" pitchFamily="34" charset="0"/>
                <a:ea typeface="Montserrat" pitchFamily="34" charset="-122"/>
                <a:cs typeface="Montserrat" pitchFamily="34" charset="-120"/>
              </a:rPr>
              <a:t>understand what to do </a:t>
            </a:r>
            <a:br>
              <a:rPr lang="en-US" sz="9900" b="1" spc="-247" dirty="0">
                <a:solidFill>
                  <a:srgbClr val="FFFFFF"/>
                </a:solidFill>
                <a:latin typeface="Montserrat" pitchFamily="34" charset="0"/>
                <a:ea typeface="Montserrat" pitchFamily="34" charset="-122"/>
                <a:cs typeface="Montserrat" pitchFamily="34" charset="-120"/>
              </a:rPr>
            </a:br>
            <a:r>
              <a:rPr lang="en-US" sz="9900" b="1" spc="-247" dirty="0">
                <a:solidFill>
                  <a:srgbClr val="FFFFFF"/>
                </a:solidFill>
                <a:latin typeface="Montserrat" pitchFamily="34" charset="0"/>
                <a:ea typeface="Montserrat" pitchFamily="34" charset="-122"/>
                <a:cs typeface="Montserrat" pitchFamily="34" charset="-120"/>
              </a:rPr>
              <a:t>– neither can the LLM</a:t>
            </a:r>
            <a:endParaRPr lang="en-US" sz="9900" b="1" kern="0" spc="-247" dirty="0">
              <a:solidFill>
                <a:srgbClr val="FFFFFF"/>
              </a:solidFill>
              <a:latin typeface="Montserrat" pitchFamily="34" charset="0"/>
              <a:ea typeface="Montserrat" pitchFamily="34" charset="-122"/>
              <a:cs typeface="Montserrat" pitchFamily="34" charset="-120"/>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952500" y="952500"/>
            <a:ext cx="16874490" cy="342900"/>
          </a:xfrm>
          <a:prstGeom prst="rect">
            <a:avLst/>
          </a:prstGeom>
          <a:noFill/>
          <a:ln/>
        </p:spPr>
        <p:txBody>
          <a:bodyPr wrap="square" lIns="25400" tIns="25400" rIns="25400" bIns="25400" rtlCol="0" anchor="t">
            <a:normAutofit lnSpcReduction="10000"/>
          </a:bodyPr>
          <a:lstStyle/>
          <a:p>
            <a:pPr marL="0" indent="0" algn="l">
              <a:buNone/>
            </a:pPr>
            <a:r>
              <a:rPr lang="en-US" sz="1950" b="1" kern="0" spc="429" dirty="0">
                <a:solidFill>
                  <a:srgbClr val="F58220"/>
                </a:solidFill>
                <a:latin typeface="Montserrat" pitchFamily="34" charset="0"/>
                <a:ea typeface="Montserrat" pitchFamily="34" charset="-122"/>
                <a:cs typeface="Montserrat" pitchFamily="34" charset="-120"/>
              </a:rPr>
              <a:t>7 CRITERIA · 1–4</a:t>
            </a:r>
            <a:endParaRPr lang="en-US" sz="1950" dirty="0"/>
          </a:p>
        </p:txBody>
      </p:sp>
      <p:sp>
        <p:nvSpPr>
          <p:cNvPr id="3" name="Text 1"/>
          <p:cNvSpPr/>
          <p:nvPr/>
        </p:nvSpPr>
        <p:spPr>
          <a:xfrm>
            <a:off x="952500" y="1447800"/>
            <a:ext cx="16874490" cy="798165"/>
          </a:xfrm>
          <a:prstGeom prst="rect">
            <a:avLst/>
          </a:prstGeom>
          <a:noFill/>
          <a:ln/>
        </p:spPr>
        <p:txBody>
          <a:bodyPr wrap="square" lIns="25400" tIns="25400" rIns="25400" bIns="25400" rtlCol="0" anchor="t">
            <a:normAutofit fontScale="92500" lnSpcReduction="20000"/>
          </a:bodyPr>
          <a:lstStyle/>
          <a:p>
            <a:pPr marL="0" indent="0" algn="l">
              <a:lnSpc>
                <a:spcPct val="105000"/>
              </a:lnSpc>
              <a:buNone/>
            </a:pPr>
            <a:r>
              <a:rPr lang="en-US" sz="5700" b="1" kern="0" spc="-85" dirty="0">
                <a:solidFill>
                  <a:srgbClr val="2A2D38"/>
                </a:solidFill>
                <a:latin typeface="Montserrat" pitchFamily="34" charset="0"/>
                <a:ea typeface="Montserrat" pitchFamily="34" charset="-122"/>
                <a:cs typeface="Montserrat" pitchFamily="34" charset="-120"/>
              </a:rPr>
              <a:t>Anatomy of a well-engineered prompt.</a:t>
            </a:r>
            <a:endParaRPr lang="en-US" sz="5700" dirty="0"/>
          </a:p>
        </p:txBody>
      </p:sp>
      <p:sp>
        <p:nvSpPr>
          <p:cNvPr id="4" name="Text 2"/>
          <p:cNvSpPr/>
          <p:nvPr/>
        </p:nvSpPr>
        <p:spPr>
          <a:xfrm>
            <a:off x="952500" y="2398365"/>
            <a:ext cx="13735050" cy="491430"/>
          </a:xfrm>
          <a:prstGeom prst="rect">
            <a:avLst/>
          </a:prstGeom>
          <a:noFill/>
          <a:ln/>
        </p:spPr>
        <p:txBody>
          <a:bodyPr wrap="square" lIns="25400" tIns="25400" rIns="25400" bIns="25400" rtlCol="0" anchor="t">
            <a:normAutofit fontScale="77500" lnSpcReduction="20000"/>
          </a:bodyPr>
          <a:lstStyle/>
          <a:p>
            <a:pPr marL="0" indent="0" algn="l">
              <a:lnSpc>
                <a:spcPct val="140000"/>
              </a:lnSpc>
              <a:buNone/>
            </a:pPr>
            <a:r>
              <a:rPr lang="en-US" sz="2550" dirty="0">
                <a:solidFill>
                  <a:srgbClr val="6B6E78"/>
                </a:solidFill>
                <a:latin typeface="Inter" pitchFamily="34" charset="0"/>
                <a:ea typeface="Inter" pitchFamily="34" charset="-122"/>
                <a:cs typeface="Inter" pitchFamily="34" charset="-120"/>
              </a:rPr>
              <a:t>Every prompt that lands has all seven. Every prompt that flops is missing at least one. (5–7 on the next slide.)</a:t>
            </a:r>
            <a:endParaRPr lang="en-US" sz="2550" dirty="0"/>
          </a:p>
        </p:txBody>
      </p:sp>
      <p:sp>
        <p:nvSpPr>
          <p:cNvPr id="5" name="Shape 3"/>
          <p:cNvSpPr/>
          <p:nvPr/>
        </p:nvSpPr>
        <p:spPr>
          <a:xfrm>
            <a:off x="952500" y="3499396"/>
            <a:ext cx="3895725" cy="6305550"/>
          </a:xfrm>
          <a:prstGeom prst="roundRect">
            <a:avLst>
              <a:gd name="adj" fmla="val 3912"/>
            </a:avLst>
          </a:prstGeom>
          <a:solidFill>
            <a:srgbClr val="F7F5F1"/>
          </a:solidFill>
          <a:ln w="9525">
            <a:solidFill>
              <a:srgbClr val="E5E5E7"/>
            </a:solidFill>
            <a:prstDash val="solid"/>
          </a:ln>
        </p:spPr>
        <p:txBody>
          <a:bodyPr/>
          <a:lstStyle/>
          <a:p>
            <a:endParaRPr lang="en-US"/>
          </a:p>
        </p:txBody>
      </p:sp>
      <p:sp>
        <p:nvSpPr>
          <p:cNvPr id="6" name="Text 4"/>
          <p:cNvSpPr/>
          <p:nvPr/>
        </p:nvSpPr>
        <p:spPr>
          <a:xfrm>
            <a:off x="1266825" y="3851821"/>
            <a:ext cx="3365087" cy="333375"/>
          </a:xfrm>
          <a:prstGeom prst="rect">
            <a:avLst/>
          </a:prstGeom>
          <a:noFill/>
          <a:ln/>
        </p:spPr>
        <p:txBody>
          <a:bodyPr wrap="square" lIns="25400" tIns="25400" rIns="25400" bIns="25400" rtlCol="0" anchor="t">
            <a:normAutofit/>
          </a:bodyPr>
          <a:lstStyle/>
          <a:p>
            <a:pPr marL="0" indent="0" algn="l">
              <a:buNone/>
            </a:pPr>
            <a:r>
              <a:rPr lang="en-US" sz="1800" kern="0" spc="324" dirty="0">
                <a:solidFill>
                  <a:srgbClr val="3FE0D0"/>
                </a:solidFill>
                <a:latin typeface="JetBrains Mono" pitchFamily="34" charset="0"/>
                <a:ea typeface="JetBrains Mono" pitchFamily="34" charset="-122"/>
                <a:cs typeface="JetBrains Mono" pitchFamily="34" charset="-120"/>
              </a:rPr>
              <a:t>01 / SPECIFICITY</a:t>
            </a:r>
            <a:endParaRPr lang="en-US" sz="1800" dirty="0"/>
          </a:p>
        </p:txBody>
      </p:sp>
      <p:sp>
        <p:nvSpPr>
          <p:cNvPr id="7" name="Text 5"/>
          <p:cNvSpPr/>
          <p:nvPr/>
        </p:nvSpPr>
        <p:spPr>
          <a:xfrm>
            <a:off x="1266825" y="4337596"/>
            <a:ext cx="3365087" cy="4572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300" b="1" kern="0" spc="-33" dirty="0">
                <a:solidFill>
                  <a:srgbClr val="2A2D38"/>
                </a:solidFill>
                <a:latin typeface="Montserrat" pitchFamily="34" charset="0"/>
                <a:ea typeface="Montserrat" pitchFamily="34" charset="-122"/>
                <a:cs typeface="Montserrat" pitchFamily="34" charset="-120"/>
              </a:rPr>
              <a:t>Exactly what.</a:t>
            </a:r>
            <a:endParaRPr lang="en-US" sz="3300" dirty="0"/>
          </a:p>
        </p:txBody>
      </p:sp>
      <p:sp>
        <p:nvSpPr>
          <p:cNvPr id="8" name="Text 6"/>
          <p:cNvSpPr/>
          <p:nvPr/>
        </p:nvSpPr>
        <p:spPr>
          <a:xfrm>
            <a:off x="1266825" y="4947196"/>
            <a:ext cx="3365087" cy="1409700"/>
          </a:xfrm>
          <a:prstGeom prst="rect">
            <a:avLst/>
          </a:prstGeom>
          <a:noFill/>
          <a:ln/>
        </p:spPr>
        <p:txBody>
          <a:bodyPr wrap="square" lIns="25400" tIns="25400" rIns="25400" bIns="25400" rtlCol="0" anchor="t">
            <a:normAutofit fontScale="70000" lnSpcReduction="20000"/>
          </a:bodyPr>
          <a:lstStyle/>
          <a:p>
            <a:pPr marL="0" indent="0" algn="l">
              <a:lnSpc>
                <a:spcPct val="150000"/>
              </a:lnSpc>
              <a:buNone/>
            </a:pPr>
            <a:r>
              <a:rPr lang="en-US" sz="1800" dirty="0">
                <a:solidFill>
                  <a:srgbClr val="3D404A"/>
                </a:solidFill>
                <a:latin typeface="Inter" pitchFamily="34" charset="0"/>
                <a:ea typeface="Inter" pitchFamily="34" charset="-122"/>
                <a:cs typeface="Inter" pitchFamily="34" charset="-120"/>
              </a:rPr>
              <a:t>Replace vague verbs with concrete ones. "Add a page" → "Add a /login route that posts to /api/auth/signin and redirects to /dashboard on success."</a:t>
            </a:r>
            <a:endParaRPr lang="en-US" sz="1800" dirty="0"/>
          </a:p>
        </p:txBody>
      </p:sp>
      <p:sp>
        <p:nvSpPr>
          <p:cNvPr id="9" name="Shape 7"/>
          <p:cNvSpPr/>
          <p:nvPr/>
        </p:nvSpPr>
        <p:spPr>
          <a:xfrm>
            <a:off x="1266825" y="7271296"/>
            <a:ext cx="3267075" cy="9525"/>
          </a:xfrm>
          <a:prstGeom prst="rect">
            <a:avLst/>
          </a:prstGeom>
          <a:solidFill>
            <a:srgbClr val="C9CBD1"/>
          </a:solidFill>
          <a:ln/>
        </p:spPr>
        <p:txBody>
          <a:bodyPr/>
          <a:lstStyle/>
          <a:p>
            <a:endParaRPr lang="en-US"/>
          </a:p>
        </p:txBody>
      </p:sp>
      <p:sp>
        <p:nvSpPr>
          <p:cNvPr id="10" name="Text 8"/>
          <p:cNvSpPr/>
          <p:nvPr/>
        </p:nvSpPr>
        <p:spPr>
          <a:xfrm>
            <a:off x="1266825" y="7509421"/>
            <a:ext cx="3365087" cy="1752600"/>
          </a:xfrm>
          <a:prstGeom prst="rect">
            <a:avLst/>
          </a:prstGeom>
          <a:noFill/>
          <a:ln/>
        </p:spPr>
        <p:txBody>
          <a:bodyPr wrap="square" lIns="25400" tIns="25400" rIns="25400" bIns="25400" rtlCol="0" anchor="t">
            <a:normAutofit fontScale="92500" lnSpcReduction="20000"/>
          </a:bodyPr>
          <a:lstStyle/>
          <a:p>
            <a:pPr marL="0" indent="0" algn="l">
              <a:lnSpc>
                <a:spcPct val="150000"/>
              </a:lnSpc>
              <a:buNone/>
            </a:pPr>
            <a:r>
              <a:rPr lang="en-US" sz="1800" b="1" dirty="0">
                <a:solidFill>
                  <a:srgbClr val="6B6E78"/>
                </a:solidFill>
                <a:latin typeface="JetBrains Mono" pitchFamily="34" charset="0"/>
                <a:ea typeface="JetBrains Mono" pitchFamily="34" charset="-122"/>
                <a:cs typeface="JetBrains Mono" pitchFamily="34" charset="-120"/>
              </a:rPr>
              <a:t>Test: Could two engineers build different things from this and both be "right"? If yes, you're not specific yet.</a:t>
            </a:r>
            <a:endParaRPr lang="en-US" sz="1800" dirty="0"/>
          </a:p>
        </p:txBody>
      </p:sp>
      <p:sp>
        <p:nvSpPr>
          <p:cNvPr id="11" name="Shape 9"/>
          <p:cNvSpPr/>
          <p:nvPr/>
        </p:nvSpPr>
        <p:spPr>
          <a:xfrm>
            <a:off x="5114925" y="3499396"/>
            <a:ext cx="3895725" cy="6305550"/>
          </a:xfrm>
          <a:prstGeom prst="roundRect">
            <a:avLst>
              <a:gd name="adj" fmla="val 3912"/>
            </a:avLst>
          </a:prstGeom>
          <a:solidFill>
            <a:srgbClr val="F7F5F1"/>
          </a:solidFill>
          <a:ln w="9525">
            <a:solidFill>
              <a:srgbClr val="E5E5E7"/>
            </a:solidFill>
            <a:prstDash val="solid"/>
          </a:ln>
        </p:spPr>
        <p:txBody>
          <a:bodyPr/>
          <a:lstStyle/>
          <a:p>
            <a:endParaRPr lang="en-US"/>
          </a:p>
        </p:txBody>
      </p:sp>
      <p:sp>
        <p:nvSpPr>
          <p:cNvPr id="12" name="Text 10"/>
          <p:cNvSpPr/>
          <p:nvPr/>
        </p:nvSpPr>
        <p:spPr>
          <a:xfrm>
            <a:off x="5429250" y="3851821"/>
            <a:ext cx="3365087" cy="333375"/>
          </a:xfrm>
          <a:prstGeom prst="rect">
            <a:avLst/>
          </a:prstGeom>
          <a:noFill/>
          <a:ln/>
        </p:spPr>
        <p:txBody>
          <a:bodyPr wrap="square" lIns="25400" tIns="25400" rIns="25400" bIns="25400" rtlCol="0" anchor="t">
            <a:normAutofit fontScale="92500"/>
          </a:bodyPr>
          <a:lstStyle/>
          <a:p>
            <a:pPr marL="0" indent="0" algn="l">
              <a:buNone/>
            </a:pPr>
            <a:r>
              <a:rPr lang="en-US" sz="1800" kern="0" spc="324" dirty="0">
                <a:solidFill>
                  <a:srgbClr val="3FE0D0"/>
                </a:solidFill>
                <a:latin typeface="JetBrains Mono" pitchFamily="34" charset="0"/>
                <a:ea typeface="JetBrains Mono" pitchFamily="34" charset="-122"/>
                <a:cs typeface="JetBrains Mono" pitchFamily="34" charset="-120"/>
              </a:rPr>
              <a:t>02 / GOAL · PURPOSE</a:t>
            </a:r>
            <a:endParaRPr lang="en-US" sz="1800" dirty="0"/>
          </a:p>
        </p:txBody>
      </p:sp>
      <p:sp>
        <p:nvSpPr>
          <p:cNvPr id="13" name="Text 11"/>
          <p:cNvSpPr/>
          <p:nvPr/>
        </p:nvSpPr>
        <p:spPr>
          <a:xfrm>
            <a:off x="5429250" y="4337596"/>
            <a:ext cx="3365087" cy="4572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300" b="1" kern="0" spc="-33" dirty="0">
                <a:solidFill>
                  <a:srgbClr val="2A2D38"/>
                </a:solidFill>
                <a:latin typeface="Montserrat" pitchFamily="34" charset="0"/>
                <a:ea typeface="Montserrat" pitchFamily="34" charset="-122"/>
                <a:cs typeface="Montserrat" pitchFamily="34" charset="-120"/>
              </a:rPr>
              <a:t>Why we need it.</a:t>
            </a:r>
            <a:endParaRPr lang="en-US" sz="3300" dirty="0"/>
          </a:p>
        </p:txBody>
      </p:sp>
      <p:sp>
        <p:nvSpPr>
          <p:cNvPr id="14" name="Text 12"/>
          <p:cNvSpPr/>
          <p:nvPr/>
        </p:nvSpPr>
        <p:spPr>
          <a:xfrm>
            <a:off x="5429250" y="4947196"/>
            <a:ext cx="3365087" cy="1409700"/>
          </a:xfrm>
          <a:prstGeom prst="rect">
            <a:avLst/>
          </a:prstGeom>
          <a:noFill/>
          <a:ln/>
        </p:spPr>
        <p:txBody>
          <a:bodyPr wrap="square" lIns="25400" tIns="25400" rIns="25400" bIns="25400" rtlCol="0" anchor="t">
            <a:normAutofit fontScale="92500" lnSpcReduction="20000"/>
          </a:bodyPr>
          <a:lstStyle/>
          <a:p>
            <a:pPr marL="0" indent="0" algn="l">
              <a:lnSpc>
                <a:spcPct val="150000"/>
              </a:lnSpc>
              <a:buNone/>
            </a:pPr>
            <a:r>
              <a:rPr lang="en-US" sz="1800" dirty="0">
                <a:solidFill>
                  <a:srgbClr val="3D404A"/>
                </a:solidFill>
                <a:latin typeface="Inter" pitchFamily="34" charset="0"/>
                <a:ea typeface="Inter" pitchFamily="34" charset="-122"/>
                <a:cs typeface="Inter" pitchFamily="34" charset="-120"/>
              </a:rPr>
              <a:t>State the user outcome and the problem it solves. Let’s the model make trade-offs in your favor when it has to choose.</a:t>
            </a:r>
            <a:endParaRPr lang="en-US" sz="1800" dirty="0"/>
          </a:p>
        </p:txBody>
      </p:sp>
      <p:sp>
        <p:nvSpPr>
          <p:cNvPr id="15" name="Shape 13"/>
          <p:cNvSpPr/>
          <p:nvPr/>
        </p:nvSpPr>
        <p:spPr>
          <a:xfrm>
            <a:off x="5429250" y="7614196"/>
            <a:ext cx="3267075" cy="9525"/>
          </a:xfrm>
          <a:prstGeom prst="rect">
            <a:avLst/>
          </a:prstGeom>
          <a:solidFill>
            <a:srgbClr val="C9CBD1"/>
          </a:solidFill>
          <a:ln/>
        </p:spPr>
        <p:txBody>
          <a:bodyPr/>
          <a:lstStyle/>
          <a:p>
            <a:endParaRPr lang="en-US"/>
          </a:p>
        </p:txBody>
      </p:sp>
      <p:sp>
        <p:nvSpPr>
          <p:cNvPr id="16" name="Text 14"/>
          <p:cNvSpPr/>
          <p:nvPr/>
        </p:nvSpPr>
        <p:spPr>
          <a:xfrm>
            <a:off x="5429250" y="7852321"/>
            <a:ext cx="3365087" cy="1409700"/>
          </a:xfrm>
          <a:prstGeom prst="rect">
            <a:avLst/>
          </a:prstGeom>
          <a:noFill/>
          <a:ln/>
        </p:spPr>
        <p:txBody>
          <a:bodyPr wrap="square" lIns="25400" tIns="25400" rIns="25400" bIns="25400" rtlCol="0" anchor="t">
            <a:normAutofit fontScale="85000" lnSpcReduction="10000"/>
          </a:bodyPr>
          <a:lstStyle/>
          <a:p>
            <a:pPr marL="0" indent="0" algn="l">
              <a:lnSpc>
                <a:spcPct val="150000"/>
              </a:lnSpc>
              <a:buNone/>
            </a:pPr>
            <a:r>
              <a:rPr lang="en-US" sz="1800" b="1" dirty="0">
                <a:solidFill>
                  <a:srgbClr val="6B6E78"/>
                </a:solidFill>
                <a:latin typeface="JetBrains Mono" pitchFamily="34" charset="0"/>
                <a:ea typeface="JetBrains Mono" pitchFamily="34" charset="-122"/>
                <a:cs typeface="JetBrains Mono" pitchFamily="34" charset="-120"/>
              </a:rPr>
              <a:t>Test: If the model had to drop one feature, would it know which one matters least? Only if you said why.</a:t>
            </a:r>
            <a:endParaRPr lang="en-US" sz="1800" dirty="0"/>
          </a:p>
        </p:txBody>
      </p:sp>
      <p:sp>
        <p:nvSpPr>
          <p:cNvPr id="17" name="Shape 15"/>
          <p:cNvSpPr/>
          <p:nvPr/>
        </p:nvSpPr>
        <p:spPr>
          <a:xfrm>
            <a:off x="9277350" y="3499396"/>
            <a:ext cx="3895725" cy="6305550"/>
          </a:xfrm>
          <a:prstGeom prst="roundRect">
            <a:avLst>
              <a:gd name="adj" fmla="val 3912"/>
            </a:avLst>
          </a:prstGeom>
          <a:solidFill>
            <a:srgbClr val="F7F5F1"/>
          </a:solidFill>
          <a:ln w="9525">
            <a:solidFill>
              <a:srgbClr val="E5E5E7"/>
            </a:solidFill>
            <a:prstDash val="solid"/>
          </a:ln>
        </p:spPr>
        <p:txBody>
          <a:bodyPr/>
          <a:lstStyle/>
          <a:p>
            <a:endParaRPr lang="en-US"/>
          </a:p>
        </p:txBody>
      </p:sp>
      <p:sp>
        <p:nvSpPr>
          <p:cNvPr id="18" name="Text 16"/>
          <p:cNvSpPr/>
          <p:nvPr/>
        </p:nvSpPr>
        <p:spPr>
          <a:xfrm>
            <a:off x="9591675" y="3851821"/>
            <a:ext cx="3365087" cy="333375"/>
          </a:xfrm>
          <a:prstGeom prst="rect">
            <a:avLst/>
          </a:prstGeom>
          <a:noFill/>
          <a:ln/>
        </p:spPr>
        <p:txBody>
          <a:bodyPr wrap="square" lIns="25400" tIns="25400" rIns="25400" bIns="25400" rtlCol="0" anchor="t">
            <a:normAutofit/>
          </a:bodyPr>
          <a:lstStyle/>
          <a:p>
            <a:pPr marL="0" indent="0" algn="l">
              <a:buNone/>
            </a:pPr>
            <a:r>
              <a:rPr lang="en-US" sz="1800" kern="0" spc="324" dirty="0">
                <a:solidFill>
                  <a:srgbClr val="3FE0D0"/>
                </a:solidFill>
                <a:latin typeface="JetBrains Mono" pitchFamily="34" charset="0"/>
                <a:ea typeface="JetBrains Mono" pitchFamily="34" charset="-122"/>
                <a:cs typeface="JetBrains Mono" pitchFamily="34" charset="-120"/>
              </a:rPr>
              <a:t>03 / CONSTRAINTS</a:t>
            </a:r>
            <a:endParaRPr lang="en-US" sz="1800" dirty="0"/>
          </a:p>
        </p:txBody>
      </p:sp>
      <p:sp>
        <p:nvSpPr>
          <p:cNvPr id="19" name="Text 17"/>
          <p:cNvSpPr/>
          <p:nvPr/>
        </p:nvSpPr>
        <p:spPr>
          <a:xfrm>
            <a:off x="9591675" y="4337596"/>
            <a:ext cx="3365087" cy="876300"/>
          </a:xfrm>
          <a:prstGeom prst="rect">
            <a:avLst/>
          </a:prstGeom>
          <a:noFill/>
          <a:ln/>
        </p:spPr>
        <p:txBody>
          <a:bodyPr wrap="square" lIns="25400" tIns="25400" rIns="25400" bIns="25400" rtlCol="0" anchor="t">
            <a:normAutofit/>
          </a:bodyPr>
          <a:lstStyle/>
          <a:p>
            <a:pPr marL="0" indent="0" algn="l">
              <a:lnSpc>
                <a:spcPct val="100000"/>
              </a:lnSpc>
              <a:buNone/>
            </a:pPr>
            <a:r>
              <a:rPr lang="en-US" sz="3300" b="1" kern="0" spc="-33" dirty="0">
                <a:solidFill>
                  <a:srgbClr val="2A2D38"/>
                </a:solidFill>
                <a:latin typeface="Montserrat" pitchFamily="34" charset="0"/>
                <a:ea typeface="Montserrat" pitchFamily="34" charset="-122"/>
                <a:cs typeface="Montserrat" pitchFamily="34" charset="-120"/>
              </a:rPr>
              <a:t>Limits stated.</a:t>
            </a:r>
            <a:endParaRPr lang="en-US" sz="3300" dirty="0"/>
          </a:p>
        </p:txBody>
      </p:sp>
      <p:sp>
        <p:nvSpPr>
          <p:cNvPr id="20" name="Text 18"/>
          <p:cNvSpPr/>
          <p:nvPr/>
        </p:nvSpPr>
        <p:spPr>
          <a:xfrm>
            <a:off x="9591675" y="5366296"/>
            <a:ext cx="3365087" cy="1409700"/>
          </a:xfrm>
          <a:prstGeom prst="rect">
            <a:avLst/>
          </a:prstGeom>
          <a:noFill/>
          <a:ln/>
        </p:spPr>
        <p:txBody>
          <a:bodyPr wrap="square" lIns="25400" tIns="25400" rIns="25400" bIns="25400" rtlCol="0" anchor="t">
            <a:normAutofit fontScale="92500" lnSpcReduction="20000"/>
          </a:bodyPr>
          <a:lstStyle/>
          <a:p>
            <a:pPr marL="0" indent="0" algn="l">
              <a:lnSpc>
                <a:spcPct val="150000"/>
              </a:lnSpc>
              <a:buNone/>
            </a:pPr>
            <a:r>
              <a:rPr lang="en-US" sz="1800" dirty="0">
                <a:solidFill>
                  <a:srgbClr val="3D404A"/>
                </a:solidFill>
                <a:latin typeface="Inter" pitchFamily="34" charset="0"/>
                <a:ea typeface="Inter" pitchFamily="34" charset="-122"/>
                <a:cs typeface="Inter" pitchFamily="34" charset="-120"/>
              </a:rPr>
              <a:t>Length, format, tone, do's and don'ts. Boundaries beat preferences — the model respects rules more than vibes.</a:t>
            </a:r>
            <a:endParaRPr lang="en-US" sz="1800" dirty="0"/>
          </a:p>
        </p:txBody>
      </p:sp>
      <p:sp>
        <p:nvSpPr>
          <p:cNvPr id="21" name="Shape 19"/>
          <p:cNvSpPr/>
          <p:nvPr/>
        </p:nvSpPr>
        <p:spPr>
          <a:xfrm>
            <a:off x="9591675" y="7614196"/>
            <a:ext cx="3267075" cy="9525"/>
          </a:xfrm>
          <a:prstGeom prst="rect">
            <a:avLst/>
          </a:prstGeom>
          <a:solidFill>
            <a:srgbClr val="C9CBD1"/>
          </a:solidFill>
          <a:ln/>
        </p:spPr>
        <p:txBody>
          <a:bodyPr/>
          <a:lstStyle/>
          <a:p>
            <a:endParaRPr lang="en-US"/>
          </a:p>
        </p:txBody>
      </p:sp>
      <p:sp>
        <p:nvSpPr>
          <p:cNvPr id="22" name="Text 20"/>
          <p:cNvSpPr/>
          <p:nvPr/>
        </p:nvSpPr>
        <p:spPr>
          <a:xfrm>
            <a:off x="9591675" y="7852321"/>
            <a:ext cx="3365087" cy="1409700"/>
          </a:xfrm>
          <a:prstGeom prst="rect">
            <a:avLst/>
          </a:prstGeom>
          <a:noFill/>
          <a:ln/>
        </p:spPr>
        <p:txBody>
          <a:bodyPr wrap="square" lIns="25400" tIns="25400" rIns="25400" bIns="25400" rtlCol="0" anchor="t">
            <a:normAutofit fontScale="85000" lnSpcReduction="10000"/>
          </a:bodyPr>
          <a:lstStyle/>
          <a:p>
            <a:pPr marL="0" indent="0" algn="l">
              <a:lnSpc>
                <a:spcPct val="150000"/>
              </a:lnSpc>
              <a:buNone/>
            </a:pPr>
            <a:r>
              <a:rPr lang="en-US" sz="1800" b="1" dirty="0">
                <a:solidFill>
                  <a:srgbClr val="6B6E78"/>
                </a:solidFill>
                <a:latin typeface="JetBrains Mono" pitchFamily="34" charset="0"/>
                <a:ea typeface="JetBrains Mono" pitchFamily="34" charset="-122"/>
                <a:cs typeface="JetBrains Mono" pitchFamily="34" charset="-120"/>
              </a:rPr>
              <a:t>Test: Did you say what NOT to do? "Don't introduce new dependencies" prevents three categories of regret.</a:t>
            </a:r>
            <a:endParaRPr lang="en-US" sz="1800" dirty="0"/>
          </a:p>
        </p:txBody>
      </p:sp>
      <p:sp>
        <p:nvSpPr>
          <p:cNvPr id="23" name="Shape 21"/>
          <p:cNvSpPr/>
          <p:nvPr/>
        </p:nvSpPr>
        <p:spPr>
          <a:xfrm>
            <a:off x="13439775" y="3499396"/>
            <a:ext cx="3895725" cy="6305550"/>
          </a:xfrm>
          <a:prstGeom prst="roundRect">
            <a:avLst>
              <a:gd name="adj" fmla="val 3912"/>
            </a:avLst>
          </a:prstGeom>
          <a:solidFill>
            <a:srgbClr val="F7F5F1"/>
          </a:solidFill>
          <a:ln w="9525">
            <a:solidFill>
              <a:srgbClr val="E5E5E7"/>
            </a:solidFill>
            <a:prstDash val="solid"/>
          </a:ln>
        </p:spPr>
        <p:txBody>
          <a:bodyPr/>
          <a:lstStyle/>
          <a:p>
            <a:endParaRPr lang="en-US"/>
          </a:p>
        </p:txBody>
      </p:sp>
      <p:sp>
        <p:nvSpPr>
          <p:cNvPr id="24" name="Text 22"/>
          <p:cNvSpPr/>
          <p:nvPr/>
        </p:nvSpPr>
        <p:spPr>
          <a:xfrm>
            <a:off x="13754100" y="3851821"/>
            <a:ext cx="3365087" cy="333375"/>
          </a:xfrm>
          <a:prstGeom prst="rect">
            <a:avLst/>
          </a:prstGeom>
          <a:noFill/>
          <a:ln/>
        </p:spPr>
        <p:txBody>
          <a:bodyPr wrap="square" lIns="25400" tIns="25400" rIns="25400" bIns="25400" rtlCol="0" anchor="t">
            <a:normAutofit fontScale="85000" lnSpcReduction="10000"/>
          </a:bodyPr>
          <a:lstStyle/>
          <a:p>
            <a:pPr marL="0" indent="0" algn="l">
              <a:buNone/>
            </a:pPr>
            <a:r>
              <a:rPr lang="en-US" sz="1800" kern="0" spc="324" dirty="0">
                <a:solidFill>
                  <a:srgbClr val="3FE0D0"/>
                </a:solidFill>
                <a:latin typeface="JetBrains Mono" pitchFamily="34" charset="0"/>
                <a:ea typeface="JetBrains Mono" pitchFamily="34" charset="-122"/>
                <a:cs typeface="JetBrains Mono" pitchFamily="34" charset="-120"/>
              </a:rPr>
              <a:t>04 / SUCCESS CRITERIA</a:t>
            </a:r>
            <a:endParaRPr lang="en-US" sz="1800" dirty="0"/>
          </a:p>
        </p:txBody>
      </p:sp>
      <p:sp>
        <p:nvSpPr>
          <p:cNvPr id="25" name="Text 23"/>
          <p:cNvSpPr/>
          <p:nvPr/>
        </p:nvSpPr>
        <p:spPr>
          <a:xfrm>
            <a:off x="13754100" y="4337596"/>
            <a:ext cx="3365087" cy="876300"/>
          </a:xfrm>
          <a:prstGeom prst="rect">
            <a:avLst/>
          </a:prstGeom>
          <a:noFill/>
          <a:ln/>
        </p:spPr>
        <p:txBody>
          <a:bodyPr wrap="square" lIns="25400" tIns="25400" rIns="25400" bIns="25400" rtlCol="0" anchor="t">
            <a:normAutofit/>
          </a:bodyPr>
          <a:lstStyle/>
          <a:p>
            <a:pPr marL="0" indent="0" algn="l">
              <a:lnSpc>
                <a:spcPct val="100000"/>
              </a:lnSpc>
              <a:buNone/>
            </a:pPr>
            <a:r>
              <a:rPr lang="en-US" sz="3300" b="1" kern="0" spc="-33" dirty="0">
                <a:solidFill>
                  <a:srgbClr val="2A2D38"/>
                </a:solidFill>
                <a:latin typeface="Montserrat" pitchFamily="34" charset="0"/>
                <a:ea typeface="Montserrat" pitchFamily="34" charset="-122"/>
                <a:cs typeface="Montserrat" pitchFamily="34" charset="-120"/>
              </a:rPr>
              <a:t>Done = ?</a:t>
            </a:r>
            <a:endParaRPr lang="en-US" sz="3300" dirty="0"/>
          </a:p>
        </p:txBody>
      </p:sp>
      <p:sp>
        <p:nvSpPr>
          <p:cNvPr id="26" name="Text 24"/>
          <p:cNvSpPr/>
          <p:nvPr/>
        </p:nvSpPr>
        <p:spPr>
          <a:xfrm>
            <a:off x="13754100" y="5366296"/>
            <a:ext cx="3365087" cy="1752600"/>
          </a:xfrm>
          <a:prstGeom prst="rect">
            <a:avLst/>
          </a:prstGeom>
          <a:noFill/>
          <a:ln/>
        </p:spPr>
        <p:txBody>
          <a:bodyPr wrap="square" lIns="25400" tIns="25400" rIns="25400" bIns="25400" rtlCol="0" anchor="t">
            <a:normAutofit fontScale="92500" lnSpcReduction="20000"/>
          </a:bodyPr>
          <a:lstStyle/>
          <a:p>
            <a:pPr marL="0" indent="0" algn="l">
              <a:lnSpc>
                <a:spcPct val="150000"/>
              </a:lnSpc>
              <a:buNone/>
            </a:pPr>
            <a:r>
              <a:rPr lang="en-US" sz="1800" dirty="0">
                <a:solidFill>
                  <a:srgbClr val="3D404A"/>
                </a:solidFill>
                <a:latin typeface="Inter" pitchFamily="34" charset="0"/>
                <a:ea typeface="Inter" pitchFamily="34" charset="-122"/>
                <a:cs typeface="Inter" pitchFamily="34" charset="-120"/>
              </a:rPr>
              <a:t>Describe the output that makes you say "that's exactly it." Without this, the model and you mean different things by "done."</a:t>
            </a:r>
            <a:endParaRPr lang="en-US" sz="1800" dirty="0"/>
          </a:p>
        </p:txBody>
      </p:sp>
      <p:sp>
        <p:nvSpPr>
          <p:cNvPr id="27" name="Shape 25"/>
          <p:cNvSpPr/>
          <p:nvPr/>
        </p:nvSpPr>
        <p:spPr>
          <a:xfrm>
            <a:off x="13754100" y="7271296"/>
            <a:ext cx="3267075" cy="9525"/>
          </a:xfrm>
          <a:prstGeom prst="rect">
            <a:avLst/>
          </a:prstGeom>
          <a:solidFill>
            <a:srgbClr val="C9CBD1"/>
          </a:solidFill>
          <a:ln/>
        </p:spPr>
        <p:txBody>
          <a:bodyPr/>
          <a:lstStyle/>
          <a:p>
            <a:endParaRPr lang="en-US"/>
          </a:p>
        </p:txBody>
      </p:sp>
      <p:sp>
        <p:nvSpPr>
          <p:cNvPr id="28" name="Text 26"/>
          <p:cNvSpPr/>
          <p:nvPr/>
        </p:nvSpPr>
        <p:spPr>
          <a:xfrm>
            <a:off x="13754100" y="7509421"/>
            <a:ext cx="3365087" cy="1752600"/>
          </a:xfrm>
          <a:prstGeom prst="rect">
            <a:avLst/>
          </a:prstGeom>
          <a:noFill/>
          <a:ln/>
        </p:spPr>
        <p:txBody>
          <a:bodyPr wrap="square" lIns="25400" tIns="25400" rIns="25400" bIns="25400" rtlCol="0" anchor="t">
            <a:normAutofit/>
          </a:bodyPr>
          <a:lstStyle/>
          <a:p>
            <a:pPr marL="0" indent="0" algn="l">
              <a:lnSpc>
                <a:spcPct val="150000"/>
              </a:lnSpc>
              <a:buNone/>
            </a:pPr>
            <a:r>
              <a:rPr lang="en-US" sz="1800" b="1" dirty="0">
                <a:solidFill>
                  <a:srgbClr val="6B6E78"/>
                </a:solidFill>
                <a:latin typeface="JetBrains Mono" pitchFamily="34" charset="0"/>
                <a:ea typeface="JetBrains Mono" pitchFamily="34" charset="-122"/>
                <a:cs typeface="JetBrains Mono" pitchFamily="34" charset="-120"/>
              </a:rPr>
              <a:t>Test: Could you write a one-line acceptance check? If not, the model can't either.</a:t>
            </a:r>
            <a:endParaRPr lang="en-US" sz="18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952500" y="952500"/>
            <a:ext cx="16874490" cy="342900"/>
          </a:xfrm>
          <a:prstGeom prst="rect">
            <a:avLst/>
          </a:prstGeom>
          <a:noFill/>
          <a:ln/>
        </p:spPr>
        <p:txBody>
          <a:bodyPr wrap="square" lIns="25400" tIns="25400" rIns="25400" bIns="25400" rtlCol="0" anchor="t">
            <a:normAutofit lnSpcReduction="10000"/>
          </a:bodyPr>
          <a:lstStyle/>
          <a:p>
            <a:pPr marL="0" indent="0" algn="l">
              <a:buNone/>
            </a:pPr>
            <a:r>
              <a:rPr lang="en-US" sz="1950" b="1" kern="0" spc="429" dirty="0">
                <a:solidFill>
                  <a:srgbClr val="F58220"/>
                </a:solidFill>
                <a:latin typeface="Montserrat" pitchFamily="34" charset="0"/>
                <a:ea typeface="Montserrat" pitchFamily="34" charset="-122"/>
                <a:cs typeface="Montserrat" pitchFamily="34" charset="-120"/>
              </a:rPr>
              <a:t>7 CRITERIA · 5–7</a:t>
            </a:r>
            <a:endParaRPr lang="en-US" sz="1950" dirty="0"/>
          </a:p>
        </p:txBody>
      </p:sp>
      <p:sp>
        <p:nvSpPr>
          <p:cNvPr id="3" name="Text 1"/>
          <p:cNvSpPr/>
          <p:nvPr/>
        </p:nvSpPr>
        <p:spPr>
          <a:xfrm>
            <a:off x="952500" y="1447800"/>
            <a:ext cx="16874490" cy="798165"/>
          </a:xfrm>
          <a:prstGeom prst="rect">
            <a:avLst/>
          </a:prstGeom>
          <a:noFill/>
          <a:ln/>
        </p:spPr>
        <p:txBody>
          <a:bodyPr wrap="square" lIns="25400" tIns="25400" rIns="25400" bIns="25400" rtlCol="0" anchor="t">
            <a:normAutofit fontScale="92500" lnSpcReduction="20000"/>
          </a:bodyPr>
          <a:lstStyle/>
          <a:p>
            <a:pPr marL="0" indent="0" algn="l">
              <a:lnSpc>
                <a:spcPct val="105000"/>
              </a:lnSpc>
              <a:buNone/>
            </a:pPr>
            <a:r>
              <a:rPr lang="en-US" sz="5700" b="1" kern="0" spc="-85" dirty="0">
                <a:solidFill>
                  <a:srgbClr val="2A2D38"/>
                </a:solidFill>
                <a:latin typeface="Montserrat" pitchFamily="34" charset="0"/>
                <a:ea typeface="Montserrat" pitchFamily="34" charset="-122"/>
                <a:cs typeface="Montserrat" pitchFamily="34" charset="-120"/>
              </a:rPr>
              <a:t>Anatomy, continued.</a:t>
            </a:r>
            <a:endParaRPr lang="en-US" sz="5700" dirty="0"/>
          </a:p>
        </p:txBody>
      </p:sp>
      <p:sp>
        <p:nvSpPr>
          <p:cNvPr id="4" name="Text 2"/>
          <p:cNvSpPr/>
          <p:nvPr/>
        </p:nvSpPr>
        <p:spPr>
          <a:xfrm>
            <a:off x="952500" y="2398365"/>
            <a:ext cx="13735050" cy="491430"/>
          </a:xfrm>
          <a:prstGeom prst="rect">
            <a:avLst/>
          </a:prstGeom>
          <a:noFill/>
          <a:ln/>
        </p:spPr>
        <p:txBody>
          <a:bodyPr wrap="square" lIns="25400" tIns="25400" rIns="25400" bIns="25400" rtlCol="0" anchor="t">
            <a:normAutofit fontScale="92500" lnSpcReduction="10000"/>
          </a:bodyPr>
          <a:lstStyle/>
          <a:p>
            <a:pPr marL="0" indent="0" algn="l">
              <a:lnSpc>
                <a:spcPct val="140000"/>
              </a:lnSpc>
              <a:buNone/>
            </a:pPr>
            <a:r>
              <a:rPr lang="en-US" sz="2550" dirty="0">
                <a:solidFill>
                  <a:srgbClr val="6B6E78"/>
                </a:solidFill>
                <a:latin typeface="Inter" pitchFamily="34" charset="0"/>
                <a:ea typeface="Inter" pitchFamily="34" charset="-122"/>
                <a:cs typeface="Inter" pitchFamily="34" charset="-120"/>
              </a:rPr>
              <a:t>Three more criteria. Every prompt that lands has all seven. (1–4 on the previous slide.)</a:t>
            </a:r>
            <a:endParaRPr lang="en-US" sz="2550" dirty="0"/>
          </a:p>
        </p:txBody>
      </p:sp>
      <p:sp>
        <p:nvSpPr>
          <p:cNvPr id="5" name="Shape 3"/>
          <p:cNvSpPr/>
          <p:nvPr/>
        </p:nvSpPr>
        <p:spPr>
          <a:xfrm>
            <a:off x="1028777" y="3499396"/>
            <a:ext cx="5232349" cy="6305550"/>
          </a:xfrm>
          <a:prstGeom prst="roundRect">
            <a:avLst>
              <a:gd name="adj" fmla="val 3912"/>
            </a:avLst>
          </a:prstGeom>
          <a:solidFill>
            <a:srgbClr val="F7F5F1"/>
          </a:solidFill>
          <a:ln w="9525">
            <a:solidFill>
              <a:srgbClr val="E5E5E7"/>
            </a:solidFill>
            <a:prstDash val="solid"/>
          </a:ln>
        </p:spPr>
        <p:txBody>
          <a:bodyPr/>
          <a:lstStyle/>
          <a:p>
            <a:endParaRPr lang="en-US"/>
          </a:p>
        </p:txBody>
      </p:sp>
      <p:sp>
        <p:nvSpPr>
          <p:cNvPr id="6" name="Text 4"/>
          <p:cNvSpPr/>
          <p:nvPr/>
        </p:nvSpPr>
        <p:spPr>
          <a:xfrm>
            <a:off x="1343102" y="3851821"/>
            <a:ext cx="4603699" cy="333375"/>
          </a:xfrm>
          <a:prstGeom prst="rect">
            <a:avLst/>
          </a:prstGeom>
          <a:noFill/>
          <a:ln/>
        </p:spPr>
        <p:txBody>
          <a:bodyPr wrap="square" lIns="25400" tIns="25400" rIns="25400" bIns="25400" rtlCol="0" anchor="t">
            <a:normAutofit/>
          </a:bodyPr>
          <a:lstStyle/>
          <a:p>
            <a:pPr marL="0" indent="0" algn="l">
              <a:buNone/>
            </a:pPr>
            <a:r>
              <a:rPr lang="en-US" sz="1800" kern="0" spc="324" dirty="0">
                <a:solidFill>
                  <a:srgbClr val="3FE0D0"/>
                </a:solidFill>
                <a:latin typeface="JetBrains Mono" pitchFamily="34" charset="0"/>
                <a:ea typeface="JetBrains Mono" pitchFamily="34" charset="-122"/>
                <a:cs typeface="JetBrains Mono" pitchFamily="34" charset="-120"/>
              </a:rPr>
              <a:t>05 / EXAMPLES &amp; FORMAT</a:t>
            </a:r>
            <a:endParaRPr lang="en-US" sz="1800" dirty="0"/>
          </a:p>
        </p:txBody>
      </p:sp>
      <p:sp>
        <p:nvSpPr>
          <p:cNvPr id="7" name="Text 5"/>
          <p:cNvSpPr/>
          <p:nvPr/>
        </p:nvSpPr>
        <p:spPr>
          <a:xfrm>
            <a:off x="1343102" y="4337596"/>
            <a:ext cx="4603699" cy="4572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300" b="1" kern="0" spc="-33" dirty="0">
                <a:solidFill>
                  <a:srgbClr val="2A2D38"/>
                </a:solidFill>
                <a:latin typeface="Montserrat" pitchFamily="34" charset="0"/>
                <a:ea typeface="Montserrat" pitchFamily="34" charset="-122"/>
                <a:cs typeface="Montserrat" pitchFamily="34" charset="-120"/>
              </a:rPr>
              <a:t>Show, don't tell.</a:t>
            </a:r>
            <a:endParaRPr lang="en-US" sz="3300" dirty="0"/>
          </a:p>
        </p:txBody>
      </p:sp>
      <p:sp>
        <p:nvSpPr>
          <p:cNvPr id="8" name="Text 6"/>
          <p:cNvSpPr/>
          <p:nvPr/>
        </p:nvSpPr>
        <p:spPr>
          <a:xfrm>
            <a:off x="1343102" y="4947196"/>
            <a:ext cx="4603699" cy="1752600"/>
          </a:xfrm>
          <a:prstGeom prst="rect">
            <a:avLst/>
          </a:prstGeom>
          <a:noFill/>
          <a:ln/>
        </p:spPr>
        <p:txBody>
          <a:bodyPr wrap="square" lIns="25400" tIns="25400" rIns="25400" bIns="25400" rtlCol="0" anchor="t">
            <a:normAutofit/>
          </a:bodyPr>
          <a:lstStyle/>
          <a:p>
            <a:pPr marL="0" indent="0" algn="l">
              <a:lnSpc>
                <a:spcPct val="150000"/>
              </a:lnSpc>
              <a:buNone/>
            </a:pPr>
            <a:r>
              <a:rPr lang="en-US" sz="1800" dirty="0">
                <a:solidFill>
                  <a:srgbClr val="3D404A"/>
                </a:solidFill>
                <a:latin typeface="Inter" pitchFamily="34" charset="0"/>
                <a:ea typeface="Inter" pitchFamily="34" charset="-122"/>
                <a:cs typeface="Inter" pitchFamily="34" charset="-120"/>
              </a:rPr>
              <a:t>Show what good looks like. A short before/after, a sample shape, an existing file to mirror. Examples beat adjectives every time.</a:t>
            </a:r>
            <a:endParaRPr lang="en-US" sz="1800" dirty="0"/>
          </a:p>
        </p:txBody>
      </p:sp>
      <p:sp>
        <p:nvSpPr>
          <p:cNvPr id="9" name="Shape 7"/>
          <p:cNvSpPr/>
          <p:nvPr/>
        </p:nvSpPr>
        <p:spPr>
          <a:xfrm>
            <a:off x="1343102" y="7271296"/>
            <a:ext cx="4505687" cy="9525"/>
          </a:xfrm>
          <a:prstGeom prst="rect">
            <a:avLst/>
          </a:prstGeom>
          <a:solidFill>
            <a:srgbClr val="C9CBD1"/>
          </a:solidFill>
          <a:ln/>
        </p:spPr>
        <p:txBody>
          <a:bodyPr/>
          <a:lstStyle/>
          <a:p>
            <a:endParaRPr lang="en-US"/>
          </a:p>
        </p:txBody>
      </p:sp>
      <p:sp>
        <p:nvSpPr>
          <p:cNvPr id="10" name="Text 8"/>
          <p:cNvSpPr/>
          <p:nvPr/>
        </p:nvSpPr>
        <p:spPr>
          <a:xfrm>
            <a:off x="1343102" y="7509421"/>
            <a:ext cx="4603699" cy="1752600"/>
          </a:xfrm>
          <a:prstGeom prst="rect">
            <a:avLst/>
          </a:prstGeom>
          <a:noFill/>
          <a:ln/>
        </p:spPr>
        <p:txBody>
          <a:bodyPr wrap="square" lIns="25400" tIns="25400" rIns="25400" bIns="25400" rtlCol="0" anchor="t">
            <a:normAutofit/>
          </a:bodyPr>
          <a:lstStyle/>
          <a:p>
            <a:pPr marL="0" indent="0" algn="l">
              <a:lnSpc>
                <a:spcPct val="150000"/>
              </a:lnSpc>
              <a:buNone/>
            </a:pPr>
            <a:r>
              <a:rPr lang="en-US" sz="1800" b="1" dirty="0">
                <a:solidFill>
                  <a:srgbClr val="6B6E78"/>
                </a:solidFill>
                <a:latin typeface="JetBrains Mono" pitchFamily="34" charset="0"/>
                <a:ea typeface="JetBrains Mono" pitchFamily="34" charset="-122"/>
                <a:cs typeface="JetBrains Mono" pitchFamily="34" charset="-120"/>
              </a:rPr>
              <a:t>Test: Did you give one concrete example or file the model can mirror? Adjectives are not examples.</a:t>
            </a:r>
            <a:endParaRPr lang="en-US" sz="1800" dirty="0"/>
          </a:p>
        </p:txBody>
      </p:sp>
      <p:sp>
        <p:nvSpPr>
          <p:cNvPr id="11" name="Shape 9"/>
          <p:cNvSpPr/>
          <p:nvPr/>
        </p:nvSpPr>
        <p:spPr>
          <a:xfrm>
            <a:off x="6527826" y="3499396"/>
            <a:ext cx="5232349" cy="6305550"/>
          </a:xfrm>
          <a:prstGeom prst="roundRect">
            <a:avLst>
              <a:gd name="adj" fmla="val 3912"/>
            </a:avLst>
          </a:prstGeom>
          <a:solidFill>
            <a:srgbClr val="F7F5F1"/>
          </a:solidFill>
          <a:ln w="9525">
            <a:solidFill>
              <a:srgbClr val="E5E5E7"/>
            </a:solidFill>
            <a:prstDash val="solid"/>
          </a:ln>
        </p:spPr>
        <p:txBody>
          <a:bodyPr/>
          <a:lstStyle/>
          <a:p>
            <a:endParaRPr lang="en-US"/>
          </a:p>
        </p:txBody>
      </p:sp>
      <p:sp>
        <p:nvSpPr>
          <p:cNvPr id="12" name="Text 10"/>
          <p:cNvSpPr/>
          <p:nvPr/>
        </p:nvSpPr>
        <p:spPr>
          <a:xfrm>
            <a:off x="6842151" y="3851821"/>
            <a:ext cx="4603699" cy="333375"/>
          </a:xfrm>
          <a:prstGeom prst="rect">
            <a:avLst/>
          </a:prstGeom>
          <a:noFill/>
          <a:ln/>
        </p:spPr>
        <p:txBody>
          <a:bodyPr wrap="square" lIns="25400" tIns="25400" rIns="25400" bIns="25400" rtlCol="0" anchor="t">
            <a:normAutofit/>
          </a:bodyPr>
          <a:lstStyle/>
          <a:p>
            <a:pPr marL="0" indent="0" algn="l">
              <a:buNone/>
            </a:pPr>
            <a:r>
              <a:rPr lang="en-US" sz="1800" kern="0" spc="324" dirty="0">
                <a:solidFill>
                  <a:srgbClr val="3FE0D0"/>
                </a:solidFill>
                <a:latin typeface="JetBrains Mono" pitchFamily="34" charset="0"/>
                <a:ea typeface="JetBrains Mono" pitchFamily="34" charset="-122"/>
                <a:cs typeface="JetBrains Mono" pitchFamily="34" charset="-120"/>
              </a:rPr>
              <a:t>06 / AUDIENCE · PERSONA</a:t>
            </a:r>
            <a:endParaRPr lang="en-US" sz="1800" dirty="0"/>
          </a:p>
        </p:txBody>
      </p:sp>
      <p:sp>
        <p:nvSpPr>
          <p:cNvPr id="13" name="Text 11"/>
          <p:cNvSpPr/>
          <p:nvPr/>
        </p:nvSpPr>
        <p:spPr>
          <a:xfrm>
            <a:off x="6842151" y="4337596"/>
            <a:ext cx="4603699" cy="4572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300" b="1" kern="0" spc="-33" dirty="0">
                <a:solidFill>
                  <a:srgbClr val="2A2D38"/>
                </a:solidFill>
                <a:latin typeface="Montserrat" pitchFamily="34" charset="0"/>
                <a:ea typeface="Montserrat" pitchFamily="34" charset="-122"/>
                <a:cs typeface="Montserrat" pitchFamily="34" charset="-120"/>
              </a:rPr>
              <a:t>Voice locked.</a:t>
            </a:r>
            <a:endParaRPr lang="en-US" sz="3300" dirty="0"/>
          </a:p>
        </p:txBody>
      </p:sp>
      <p:sp>
        <p:nvSpPr>
          <p:cNvPr id="14" name="Text 12"/>
          <p:cNvSpPr/>
          <p:nvPr/>
        </p:nvSpPr>
        <p:spPr>
          <a:xfrm>
            <a:off x="6842151" y="4947196"/>
            <a:ext cx="4603699" cy="1752600"/>
          </a:xfrm>
          <a:prstGeom prst="rect">
            <a:avLst/>
          </a:prstGeom>
          <a:noFill/>
          <a:ln/>
        </p:spPr>
        <p:txBody>
          <a:bodyPr wrap="square" lIns="25400" tIns="25400" rIns="25400" bIns="25400" rtlCol="0" anchor="t">
            <a:normAutofit/>
          </a:bodyPr>
          <a:lstStyle/>
          <a:p>
            <a:pPr marL="0" indent="0" algn="l">
              <a:lnSpc>
                <a:spcPct val="150000"/>
              </a:lnSpc>
              <a:buNone/>
            </a:pPr>
            <a:r>
              <a:rPr lang="en-US" sz="1800" dirty="0">
                <a:solidFill>
                  <a:srgbClr val="3D404A"/>
                </a:solidFill>
                <a:latin typeface="Inter" pitchFamily="34" charset="0"/>
                <a:ea typeface="Inter" pitchFamily="34" charset="-122"/>
                <a:cs typeface="Inter" pitchFamily="34" charset="-120"/>
              </a:rPr>
              <a:t>Who reads it, who writes it. "Write like our internal devs talking to each other" yields wildly different output than the same prompt without that line.</a:t>
            </a:r>
            <a:endParaRPr lang="en-US" sz="1800" dirty="0"/>
          </a:p>
        </p:txBody>
      </p:sp>
      <p:sp>
        <p:nvSpPr>
          <p:cNvPr id="15" name="Shape 13"/>
          <p:cNvSpPr/>
          <p:nvPr/>
        </p:nvSpPr>
        <p:spPr>
          <a:xfrm>
            <a:off x="6842151" y="7271296"/>
            <a:ext cx="4505687" cy="9525"/>
          </a:xfrm>
          <a:prstGeom prst="rect">
            <a:avLst/>
          </a:prstGeom>
          <a:solidFill>
            <a:srgbClr val="C9CBD1"/>
          </a:solidFill>
          <a:ln/>
        </p:spPr>
        <p:txBody>
          <a:bodyPr/>
          <a:lstStyle/>
          <a:p>
            <a:endParaRPr lang="en-US"/>
          </a:p>
        </p:txBody>
      </p:sp>
      <p:sp>
        <p:nvSpPr>
          <p:cNvPr id="16" name="Text 14"/>
          <p:cNvSpPr/>
          <p:nvPr/>
        </p:nvSpPr>
        <p:spPr>
          <a:xfrm>
            <a:off x="6842151" y="7509421"/>
            <a:ext cx="4603699" cy="1752600"/>
          </a:xfrm>
          <a:prstGeom prst="rect">
            <a:avLst/>
          </a:prstGeom>
          <a:noFill/>
          <a:ln/>
        </p:spPr>
        <p:txBody>
          <a:bodyPr wrap="square" lIns="25400" tIns="25400" rIns="25400" bIns="25400" rtlCol="0" anchor="t">
            <a:normAutofit/>
          </a:bodyPr>
          <a:lstStyle/>
          <a:p>
            <a:pPr marL="0" indent="0" algn="l">
              <a:lnSpc>
                <a:spcPct val="150000"/>
              </a:lnSpc>
              <a:buNone/>
            </a:pPr>
            <a:r>
              <a:rPr lang="en-US" sz="1800" b="1" dirty="0">
                <a:solidFill>
                  <a:srgbClr val="6B6E78"/>
                </a:solidFill>
                <a:latin typeface="JetBrains Mono" pitchFamily="34" charset="0"/>
                <a:ea typeface="JetBrains Mono" pitchFamily="34" charset="-122"/>
                <a:cs typeface="JetBrains Mono" pitchFamily="34" charset="-120"/>
              </a:rPr>
              <a:t>Test: If you stripped the audience line, would the tone still be right? If yes, it isn't doing work.</a:t>
            </a:r>
            <a:endParaRPr lang="en-US" sz="1800" dirty="0"/>
          </a:p>
        </p:txBody>
      </p:sp>
      <p:sp>
        <p:nvSpPr>
          <p:cNvPr id="17" name="Shape 15"/>
          <p:cNvSpPr/>
          <p:nvPr/>
        </p:nvSpPr>
        <p:spPr>
          <a:xfrm>
            <a:off x="12026875" y="3499396"/>
            <a:ext cx="5232349" cy="6305550"/>
          </a:xfrm>
          <a:prstGeom prst="roundRect">
            <a:avLst>
              <a:gd name="adj" fmla="val 3912"/>
            </a:avLst>
          </a:prstGeom>
          <a:solidFill>
            <a:srgbClr val="F7F5F1"/>
          </a:solidFill>
          <a:ln w="9525">
            <a:solidFill>
              <a:srgbClr val="E5E5E7"/>
            </a:solidFill>
            <a:prstDash val="solid"/>
          </a:ln>
        </p:spPr>
        <p:txBody>
          <a:bodyPr/>
          <a:lstStyle/>
          <a:p>
            <a:endParaRPr lang="en-US"/>
          </a:p>
        </p:txBody>
      </p:sp>
      <p:sp>
        <p:nvSpPr>
          <p:cNvPr id="18" name="Text 16"/>
          <p:cNvSpPr/>
          <p:nvPr/>
        </p:nvSpPr>
        <p:spPr>
          <a:xfrm>
            <a:off x="12341200" y="3851821"/>
            <a:ext cx="4603699" cy="333375"/>
          </a:xfrm>
          <a:prstGeom prst="rect">
            <a:avLst/>
          </a:prstGeom>
          <a:noFill/>
          <a:ln/>
        </p:spPr>
        <p:txBody>
          <a:bodyPr wrap="square" lIns="25400" tIns="25400" rIns="25400" bIns="25400" rtlCol="0" anchor="t">
            <a:normAutofit/>
          </a:bodyPr>
          <a:lstStyle/>
          <a:p>
            <a:pPr marL="0" indent="0" algn="l">
              <a:buNone/>
            </a:pPr>
            <a:r>
              <a:rPr lang="en-US" sz="1800" kern="0" spc="324" dirty="0">
                <a:solidFill>
                  <a:srgbClr val="3FE0D0"/>
                </a:solidFill>
                <a:latin typeface="JetBrains Mono" pitchFamily="34" charset="0"/>
                <a:ea typeface="JetBrains Mono" pitchFamily="34" charset="-122"/>
                <a:cs typeface="JetBrains Mono" pitchFamily="34" charset="-120"/>
              </a:rPr>
              <a:t>07 / SCOPE</a:t>
            </a:r>
            <a:endParaRPr lang="en-US" sz="1800" dirty="0"/>
          </a:p>
        </p:txBody>
      </p:sp>
      <p:sp>
        <p:nvSpPr>
          <p:cNvPr id="19" name="Text 17"/>
          <p:cNvSpPr/>
          <p:nvPr/>
        </p:nvSpPr>
        <p:spPr>
          <a:xfrm>
            <a:off x="12341200" y="4337596"/>
            <a:ext cx="4603699" cy="4572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300" b="1" kern="0" spc="-33" dirty="0">
                <a:solidFill>
                  <a:srgbClr val="2A2D38"/>
                </a:solidFill>
                <a:latin typeface="Montserrat" pitchFamily="34" charset="0"/>
                <a:ea typeface="Montserrat" pitchFamily="34" charset="-122"/>
                <a:cs typeface="Montserrat" pitchFamily="34" charset="-120"/>
              </a:rPr>
              <a:t>Boxed in.</a:t>
            </a:r>
            <a:endParaRPr lang="en-US" sz="3300" dirty="0"/>
          </a:p>
        </p:txBody>
      </p:sp>
      <p:sp>
        <p:nvSpPr>
          <p:cNvPr id="20" name="Text 18"/>
          <p:cNvSpPr/>
          <p:nvPr/>
        </p:nvSpPr>
        <p:spPr>
          <a:xfrm>
            <a:off x="12341200" y="4947196"/>
            <a:ext cx="4603699" cy="1752600"/>
          </a:xfrm>
          <a:prstGeom prst="rect">
            <a:avLst/>
          </a:prstGeom>
          <a:noFill/>
          <a:ln/>
        </p:spPr>
        <p:txBody>
          <a:bodyPr wrap="square" lIns="25400" tIns="25400" rIns="25400" bIns="25400" rtlCol="0" anchor="t">
            <a:normAutofit fontScale="92500" lnSpcReduction="20000"/>
          </a:bodyPr>
          <a:lstStyle/>
          <a:p>
            <a:pPr marL="0" indent="0" algn="l">
              <a:lnSpc>
                <a:spcPct val="150000"/>
              </a:lnSpc>
              <a:buNone/>
            </a:pPr>
            <a:r>
              <a:rPr lang="en-US" sz="1800" dirty="0">
                <a:solidFill>
                  <a:srgbClr val="3D404A"/>
                </a:solidFill>
                <a:latin typeface="Inter" pitchFamily="34" charset="0"/>
                <a:ea typeface="Inter" pitchFamily="34" charset="-122"/>
                <a:cs typeface="Inter" pitchFamily="34" charset="-120"/>
              </a:rPr>
              <a:t>Where the task starts and stops. Without a scope, the model expands. "Just the login route" prevents drift into signup, password-reset, and a refactor you didn't ask for.</a:t>
            </a:r>
            <a:endParaRPr lang="en-US" sz="1800" dirty="0"/>
          </a:p>
        </p:txBody>
      </p:sp>
      <p:sp>
        <p:nvSpPr>
          <p:cNvPr id="21" name="Shape 19"/>
          <p:cNvSpPr/>
          <p:nvPr/>
        </p:nvSpPr>
        <p:spPr>
          <a:xfrm>
            <a:off x="12341200" y="7271296"/>
            <a:ext cx="4505687" cy="9525"/>
          </a:xfrm>
          <a:prstGeom prst="rect">
            <a:avLst/>
          </a:prstGeom>
          <a:solidFill>
            <a:srgbClr val="C9CBD1"/>
          </a:solidFill>
          <a:ln/>
        </p:spPr>
        <p:txBody>
          <a:bodyPr/>
          <a:lstStyle/>
          <a:p>
            <a:endParaRPr lang="en-US"/>
          </a:p>
        </p:txBody>
      </p:sp>
      <p:sp>
        <p:nvSpPr>
          <p:cNvPr id="22" name="Text 20"/>
          <p:cNvSpPr/>
          <p:nvPr/>
        </p:nvSpPr>
        <p:spPr>
          <a:xfrm>
            <a:off x="12341200" y="7509421"/>
            <a:ext cx="4603699" cy="1752600"/>
          </a:xfrm>
          <a:prstGeom prst="rect">
            <a:avLst/>
          </a:prstGeom>
          <a:noFill/>
          <a:ln/>
        </p:spPr>
        <p:txBody>
          <a:bodyPr wrap="square" lIns="25400" tIns="25400" rIns="25400" bIns="25400" rtlCol="0" anchor="t">
            <a:normAutofit/>
          </a:bodyPr>
          <a:lstStyle/>
          <a:p>
            <a:pPr marL="0" indent="0" algn="l">
              <a:lnSpc>
                <a:spcPct val="150000"/>
              </a:lnSpc>
              <a:buNone/>
            </a:pPr>
            <a:r>
              <a:rPr lang="en-US" sz="1800" b="1" dirty="0">
                <a:solidFill>
                  <a:srgbClr val="6B6E78"/>
                </a:solidFill>
                <a:latin typeface="JetBrains Mono" pitchFamily="34" charset="0"/>
                <a:ea typeface="JetBrains Mono" pitchFamily="34" charset="-122"/>
                <a:cs typeface="JetBrains Mono" pitchFamily="34" charset="-120"/>
              </a:rPr>
              <a:t>Test: Did you say where the task ends? Without it, the model will keep going.</a:t>
            </a:r>
            <a:endParaRPr lang="en-US" sz="18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952500" y="952500"/>
            <a:ext cx="16874490" cy="342900"/>
          </a:xfrm>
          <a:prstGeom prst="rect">
            <a:avLst/>
          </a:prstGeom>
          <a:noFill/>
          <a:ln/>
        </p:spPr>
        <p:txBody>
          <a:bodyPr wrap="square" lIns="25400" tIns="25400" rIns="25400" bIns="25400" rtlCol="0" anchor="t">
            <a:normAutofit lnSpcReduction="10000"/>
          </a:bodyPr>
          <a:lstStyle/>
          <a:p>
            <a:pPr marL="0" indent="0" algn="l">
              <a:buNone/>
            </a:pPr>
            <a:r>
              <a:rPr lang="en-US" sz="1950" b="1" kern="0" spc="429" dirty="0">
                <a:solidFill>
                  <a:srgbClr val="F58220"/>
                </a:solidFill>
                <a:latin typeface="Montserrat" pitchFamily="34" charset="0"/>
                <a:ea typeface="Montserrat" pitchFamily="34" charset="-122"/>
                <a:cs typeface="Montserrat" pitchFamily="34" charset="-120"/>
              </a:rPr>
              <a:t>SAME GOAL · DIFFERENT OUTPUT</a:t>
            </a:r>
            <a:endParaRPr lang="en-US" sz="1950" dirty="0"/>
          </a:p>
        </p:txBody>
      </p:sp>
      <p:sp>
        <p:nvSpPr>
          <p:cNvPr id="3" name="Text 1"/>
          <p:cNvSpPr/>
          <p:nvPr/>
        </p:nvSpPr>
        <p:spPr>
          <a:xfrm>
            <a:off x="952500" y="1447800"/>
            <a:ext cx="16874490" cy="798165"/>
          </a:xfrm>
          <a:prstGeom prst="rect">
            <a:avLst/>
          </a:prstGeom>
          <a:noFill/>
          <a:ln/>
        </p:spPr>
        <p:txBody>
          <a:bodyPr wrap="square" lIns="25400" tIns="25400" rIns="25400" bIns="25400" rtlCol="0" anchor="t">
            <a:normAutofit fontScale="92500" lnSpcReduction="20000"/>
          </a:bodyPr>
          <a:lstStyle/>
          <a:p>
            <a:pPr marL="0" indent="0" algn="l">
              <a:lnSpc>
                <a:spcPct val="105000"/>
              </a:lnSpc>
              <a:buNone/>
            </a:pPr>
            <a:r>
              <a:rPr lang="en-US" sz="5700" b="1" kern="0" spc="-85" dirty="0">
                <a:solidFill>
                  <a:srgbClr val="2A2D38"/>
                </a:solidFill>
                <a:latin typeface="Montserrat" pitchFamily="34" charset="0"/>
                <a:ea typeface="Montserrat" pitchFamily="34" charset="-122"/>
                <a:cs typeface="Montserrat" pitchFamily="34" charset="-120"/>
              </a:rPr>
              <a:t>Bad prompt. Good prompt.</a:t>
            </a:r>
            <a:endParaRPr lang="en-US" sz="5700" dirty="0"/>
          </a:p>
        </p:txBody>
      </p:sp>
      <p:sp>
        <p:nvSpPr>
          <p:cNvPr id="4" name="Shape 2"/>
          <p:cNvSpPr/>
          <p:nvPr/>
        </p:nvSpPr>
        <p:spPr>
          <a:xfrm>
            <a:off x="952500" y="2703165"/>
            <a:ext cx="914400" cy="38100"/>
          </a:xfrm>
          <a:prstGeom prst="roundRect">
            <a:avLst>
              <a:gd name="adj" fmla="val 50000"/>
            </a:avLst>
          </a:prstGeom>
          <a:solidFill>
            <a:srgbClr val="F58220"/>
          </a:solidFill>
          <a:ln/>
        </p:spPr>
        <p:txBody>
          <a:bodyPr/>
          <a:lstStyle/>
          <a:p>
            <a:endParaRPr lang="en-US"/>
          </a:p>
        </p:txBody>
      </p:sp>
      <p:sp>
        <p:nvSpPr>
          <p:cNvPr id="5" name="Shape 3"/>
          <p:cNvSpPr/>
          <p:nvPr/>
        </p:nvSpPr>
        <p:spPr>
          <a:xfrm>
            <a:off x="952500" y="3236565"/>
            <a:ext cx="8039100" cy="5338614"/>
          </a:xfrm>
          <a:prstGeom prst="roundRect">
            <a:avLst>
              <a:gd name="adj" fmla="val 2855"/>
            </a:avLst>
          </a:prstGeom>
          <a:solidFill>
            <a:srgbClr val="FBE5E1"/>
          </a:solidFill>
          <a:ln w="9525">
            <a:solidFill>
              <a:srgbClr val="F0BFB6"/>
            </a:solidFill>
            <a:prstDash val="solid"/>
          </a:ln>
        </p:spPr>
        <p:txBody>
          <a:bodyPr/>
          <a:lstStyle/>
          <a:p>
            <a:endParaRPr lang="en-US"/>
          </a:p>
        </p:txBody>
      </p:sp>
      <p:sp>
        <p:nvSpPr>
          <p:cNvPr id="6" name="Text 4"/>
          <p:cNvSpPr/>
          <p:nvPr/>
        </p:nvSpPr>
        <p:spPr>
          <a:xfrm>
            <a:off x="1343025" y="3588990"/>
            <a:ext cx="304205" cy="342900"/>
          </a:xfrm>
          <a:prstGeom prst="rect">
            <a:avLst/>
          </a:prstGeom>
          <a:noFill/>
          <a:ln/>
        </p:spPr>
        <p:txBody>
          <a:bodyPr wrap="square" lIns="25400" tIns="25400" rIns="25400" bIns="25400" rtlCol="0" anchor="t">
            <a:normAutofit/>
          </a:bodyPr>
          <a:lstStyle/>
          <a:p>
            <a:pPr marL="0" indent="0" algn="l">
              <a:buNone/>
            </a:pPr>
            <a:r>
              <a:rPr lang="en-US" sz="1800" b="1" kern="0" spc="324" dirty="0">
                <a:solidFill>
                  <a:srgbClr val="B5341B"/>
                </a:solidFill>
                <a:latin typeface="Montserrat" pitchFamily="34" charset="0"/>
                <a:ea typeface="Montserrat" pitchFamily="34" charset="-122"/>
                <a:cs typeface="Montserrat" pitchFamily="34" charset="-120"/>
              </a:rPr>
              <a:t>✕</a:t>
            </a:r>
            <a:endParaRPr lang="en-US" sz="1800" dirty="0"/>
          </a:p>
        </p:txBody>
      </p:sp>
      <p:sp>
        <p:nvSpPr>
          <p:cNvPr id="7" name="Text 5"/>
          <p:cNvSpPr/>
          <p:nvPr/>
        </p:nvSpPr>
        <p:spPr>
          <a:xfrm>
            <a:off x="1704380" y="3603278"/>
            <a:ext cx="1134963" cy="314325"/>
          </a:xfrm>
          <a:prstGeom prst="rect">
            <a:avLst/>
          </a:prstGeom>
          <a:noFill/>
          <a:ln/>
        </p:spPr>
        <p:txBody>
          <a:bodyPr wrap="square" lIns="0" tIns="0" rIns="0" bIns="0" rtlCol="0" anchor="t">
            <a:normAutofit/>
          </a:bodyPr>
          <a:lstStyle/>
          <a:p>
            <a:pPr marL="0" indent="0" algn="l">
              <a:buNone/>
            </a:pPr>
            <a:r>
              <a:rPr lang="en-US" sz="1800" b="1" kern="0" spc="324" dirty="0">
                <a:solidFill>
                  <a:srgbClr val="B5341B"/>
                </a:solidFill>
                <a:latin typeface="Montserrat" pitchFamily="34" charset="0"/>
                <a:ea typeface="Montserrat" pitchFamily="34" charset="-122"/>
                <a:cs typeface="Montserrat" pitchFamily="34" charset="-120"/>
              </a:rPr>
              <a:t>VAGUE</a:t>
            </a:r>
            <a:endParaRPr lang="en-US" sz="1800" dirty="0"/>
          </a:p>
        </p:txBody>
      </p:sp>
      <p:sp>
        <p:nvSpPr>
          <p:cNvPr id="8" name="Text 6"/>
          <p:cNvSpPr/>
          <p:nvPr/>
        </p:nvSpPr>
        <p:spPr>
          <a:xfrm>
            <a:off x="1343025" y="4084290"/>
            <a:ext cx="7475792" cy="746522"/>
          </a:xfrm>
          <a:prstGeom prst="rect">
            <a:avLst/>
          </a:prstGeom>
          <a:noFill/>
          <a:ln/>
        </p:spPr>
        <p:txBody>
          <a:bodyPr wrap="square" lIns="25400" tIns="25400" rIns="25400" bIns="25400" rtlCol="0" anchor="t">
            <a:normAutofit fontScale="92500"/>
          </a:bodyPr>
          <a:lstStyle/>
          <a:p>
            <a:pPr marL="0" indent="0" algn="l">
              <a:lnSpc>
                <a:spcPct val="155000"/>
              </a:lnSpc>
              <a:buNone/>
            </a:pPr>
            <a:r>
              <a:rPr lang="en-US" sz="1800" dirty="0">
                <a:solidFill>
                  <a:srgbClr val="2A2D38"/>
                </a:solidFill>
                <a:latin typeface="JetBrains Mono" pitchFamily="34" charset="0"/>
                <a:ea typeface="JetBrains Mono" pitchFamily="34" charset="-122"/>
                <a:cs typeface="JetBrains Mono" pitchFamily="34" charset="-120"/>
              </a:rPr>
              <a:t>Write a thank-you email to volunteers from last weekend.</a:t>
            </a:r>
            <a:endParaRPr lang="en-US" sz="1800" dirty="0"/>
          </a:p>
        </p:txBody>
      </p:sp>
      <p:sp>
        <p:nvSpPr>
          <p:cNvPr id="9" name="Shape 7"/>
          <p:cNvSpPr/>
          <p:nvPr/>
        </p:nvSpPr>
        <p:spPr>
          <a:xfrm>
            <a:off x="1343025" y="7131248"/>
            <a:ext cx="7258050" cy="9525"/>
          </a:xfrm>
          <a:prstGeom prst="rect">
            <a:avLst/>
          </a:prstGeom>
          <a:solidFill>
            <a:srgbClr val="000000">
              <a:alpha val="8000"/>
            </a:srgbClr>
          </a:solidFill>
          <a:ln/>
        </p:spPr>
        <p:txBody>
          <a:bodyPr/>
          <a:lstStyle/>
          <a:p>
            <a:endParaRPr lang="en-US"/>
          </a:p>
        </p:txBody>
      </p:sp>
      <p:sp>
        <p:nvSpPr>
          <p:cNvPr id="10" name="Text 8"/>
          <p:cNvSpPr/>
          <p:nvPr/>
        </p:nvSpPr>
        <p:spPr>
          <a:xfrm>
            <a:off x="1343025" y="7331273"/>
            <a:ext cx="7475792" cy="700980"/>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1800" dirty="0">
                <a:solidFill>
                  <a:srgbClr val="3D404A"/>
                </a:solidFill>
                <a:latin typeface="Inter" pitchFamily="34" charset="0"/>
                <a:ea typeface="Inter" pitchFamily="34" charset="-122"/>
                <a:cs typeface="Inter" pitchFamily="34" charset="-120"/>
              </a:rPr>
              <a:t>Model has to guess </a:t>
            </a:r>
            <a:r>
              <a:rPr lang="en-US" sz="1800" b="1" dirty="0">
                <a:solidFill>
                  <a:srgbClr val="3D404A"/>
                </a:solidFill>
                <a:latin typeface="Inter" pitchFamily="34" charset="0"/>
                <a:ea typeface="Inter" pitchFamily="34" charset="-122"/>
                <a:cs typeface="Inter" pitchFamily="34" charset="-120"/>
              </a:rPr>
              <a:t>who</a:t>
            </a:r>
            <a:r>
              <a:rPr lang="en-US" sz="1800" dirty="0">
                <a:solidFill>
                  <a:srgbClr val="3D404A"/>
                </a:solidFill>
                <a:latin typeface="Inter" pitchFamily="34" charset="0"/>
                <a:ea typeface="Inter" pitchFamily="34" charset="-122"/>
                <a:cs typeface="Inter" pitchFamily="34" charset="-120"/>
              </a:rPr>
              <a:t>, </a:t>
            </a:r>
            <a:r>
              <a:rPr lang="en-US" sz="1800" b="1" dirty="0">
                <a:solidFill>
                  <a:srgbClr val="3D404A"/>
                </a:solidFill>
                <a:latin typeface="Inter" pitchFamily="34" charset="0"/>
                <a:ea typeface="Inter" pitchFamily="34" charset="-122"/>
                <a:cs typeface="Inter" pitchFamily="34" charset="-120"/>
              </a:rPr>
              <a:t>what they did</a:t>
            </a:r>
            <a:r>
              <a:rPr lang="en-US" sz="1800" dirty="0">
                <a:solidFill>
                  <a:srgbClr val="3D404A"/>
                </a:solidFill>
                <a:latin typeface="Inter" pitchFamily="34" charset="0"/>
                <a:ea typeface="Inter" pitchFamily="34" charset="-122"/>
                <a:cs typeface="Inter" pitchFamily="34" charset="-120"/>
              </a:rPr>
              <a:t>, your </a:t>
            </a:r>
            <a:r>
              <a:rPr lang="en-US" sz="1800" b="1" dirty="0">
                <a:solidFill>
                  <a:srgbClr val="3D404A"/>
                </a:solidFill>
                <a:latin typeface="Inter" pitchFamily="34" charset="0"/>
                <a:ea typeface="Inter" pitchFamily="34" charset="-122"/>
                <a:cs typeface="Inter" pitchFamily="34" charset="-120"/>
              </a:rPr>
              <a:t>voice</a:t>
            </a:r>
            <a:r>
              <a:rPr lang="en-US" sz="1800" dirty="0">
                <a:solidFill>
                  <a:srgbClr val="3D404A"/>
                </a:solidFill>
                <a:latin typeface="Inter" pitchFamily="34" charset="0"/>
                <a:ea typeface="Inter" pitchFamily="34" charset="-122"/>
                <a:cs typeface="Inter" pitchFamily="34" charset="-120"/>
              </a:rPr>
              <a:t>, and the </a:t>
            </a:r>
            <a:r>
              <a:rPr lang="en-US" sz="1800" b="1" dirty="0">
                <a:solidFill>
                  <a:srgbClr val="3D404A"/>
                </a:solidFill>
                <a:latin typeface="Inter" pitchFamily="34" charset="0"/>
                <a:ea typeface="Inter" pitchFamily="34" charset="-122"/>
                <a:cs typeface="Inter" pitchFamily="34" charset="-120"/>
              </a:rPr>
              <a:t>length</a:t>
            </a:r>
            <a:r>
              <a:rPr lang="en-US" sz="1800" dirty="0">
                <a:solidFill>
                  <a:srgbClr val="3D404A"/>
                </a:solidFill>
                <a:latin typeface="Inter" pitchFamily="34" charset="0"/>
                <a:ea typeface="Inter" pitchFamily="34" charset="-122"/>
                <a:cs typeface="Inter" pitchFamily="34" charset="-120"/>
              </a:rPr>
              <a:t>. You'll edit for 20 minutes.</a:t>
            </a:r>
            <a:endParaRPr lang="en-US" sz="1800" dirty="0"/>
          </a:p>
        </p:txBody>
      </p:sp>
      <p:sp>
        <p:nvSpPr>
          <p:cNvPr id="11" name="Shape 9"/>
          <p:cNvSpPr/>
          <p:nvPr/>
        </p:nvSpPr>
        <p:spPr>
          <a:xfrm>
            <a:off x="9296400" y="3236565"/>
            <a:ext cx="8039100" cy="5338614"/>
          </a:xfrm>
          <a:prstGeom prst="roundRect">
            <a:avLst>
              <a:gd name="adj" fmla="val 2855"/>
            </a:avLst>
          </a:prstGeom>
          <a:solidFill>
            <a:srgbClr val="E6F4EA"/>
          </a:solidFill>
          <a:ln w="9525">
            <a:solidFill>
              <a:srgbClr val="B7DCC2"/>
            </a:solidFill>
            <a:prstDash val="solid"/>
          </a:ln>
        </p:spPr>
        <p:txBody>
          <a:bodyPr/>
          <a:lstStyle/>
          <a:p>
            <a:endParaRPr lang="en-US"/>
          </a:p>
        </p:txBody>
      </p:sp>
      <p:sp>
        <p:nvSpPr>
          <p:cNvPr id="12" name="Text 10"/>
          <p:cNvSpPr/>
          <p:nvPr/>
        </p:nvSpPr>
        <p:spPr>
          <a:xfrm>
            <a:off x="9686925" y="3588990"/>
            <a:ext cx="288578" cy="342900"/>
          </a:xfrm>
          <a:prstGeom prst="rect">
            <a:avLst/>
          </a:prstGeom>
          <a:noFill/>
          <a:ln/>
        </p:spPr>
        <p:txBody>
          <a:bodyPr wrap="square" lIns="25400" tIns="25400" rIns="25400" bIns="25400" rtlCol="0" anchor="t">
            <a:normAutofit/>
          </a:bodyPr>
          <a:lstStyle/>
          <a:p>
            <a:pPr marL="0" indent="0" algn="l">
              <a:buNone/>
            </a:pPr>
            <a:r>
              <a:rPr lang="en-US" sz="1800" b="1" kern="0" spc="324" dirty="0">
                <a:solidFill>
                  <a:srgbClr val="2F8F4E"/>
                </a:solidFill>
                <a:latin typeface="Montserrat" pitchFamily="34" charset="0"/>
                <a:ea typeface="Montserrat" pitchFamily="34" charset="-122"/>
                <a:cs typeface="Montserrat" pitchFamily="34" charset="-120"/>
              </a:rPr>
              <a:t>✓</a:t>
            </a:r>
            <a:endParaRPr lang="en-US" sz="1800" dirty="0"/>
          </a:p>
        </p:txBody>
      </p:sp>
      <p:sp>
        <p:nvSpPr>
          <p:cNvPr id="13" name="Text 11"/>
          <p:cNvSpPr/>
          <p:nvPr/>
        </p:nvSpPr>
        <p:spPr>
          <a:xfrm>
            <a:off x="10032653" y="3603278"/>
            <a:ext cx="2082254" cy="314325"/>
          </a:xfrm>
          <a:prstGeom prst="rect">
            <a:avLst/>
          </a:prstGeom>
          <a:noFill/>
          <a:ln/>
        </p:spPr>
        <p:txBody>
          <a:bodyPr wrap="square" lIns="0" tIns="0" rIns="0" bIns="0" rtlCol="0" anchor="t">
            <a:normAutofit/>
          </a:bodyPr>
          <a:lstStyle/>
          <a:p>
            <a:pPr marL="0" indent="0" algn="l">
              <a:buNone/>
            </a:pPr>
            <a:r>
              <a:rPr lang="en-US" sz="1800" b="1" kern="0" spc="324" dirty="0">
                <a:solidFill>
                  <a:srgbClr val="2F8F4E"/>
                </a:solidFill>
                <a:latin typeface="Montserrat" pitchFamily="34" charset="0"/>
                <a:ea typeface="Montserrat" pitchFamily="34" charset="-122"/>
                <a:cs typeface="Montserrat" pitchFamily="34" charset="-120"/>
              </a:rPr>
              <a:t>ENGINEERED</a:t>
            </a:r>
            <a:endParaRPr lang="en-US" sz="1800" dirty="0"/>
          </a:p>
        </p:txBody>
      </p:sp>
      <p:sp>
        <p:nvSpPr>
          <p:cNvPr id="14" name="Text 12"/>
          <p:cNvSpPr/>
          <p:nvPr/>
        </p:nvSpPr>
        <p:spPr>
          <a:xfrm>
            <a:off x="9686925" y="4084290"/>
            <a:ext cx="7475792" cy="3225998"/>
          </a:xfrm>
          <a:prstGeom prst="rect">
            <a:avLst/>
          </a:prstGeom>
          <a:noFill/>
          <a:ln/>
        </p:spPr>
        <p:txBody>
          <a:bodyPr wrap="square" lIns="25400" tIns="25400" rIns="25400" bIns="25400" rtlCol="0" anchor="t">
            <a:normAutofit fontScale="92500" lnSpcReduction="20000"/>
          </a:bodyPr>
          <a:lstStyle/>
          <a:p>
            <a:pPr marL="0" indent="0" algn="l">
              <a:lnSpc>
                <a:spcPct val="155000"/>
              </a:lnSpc>
              <a:buNone/>
            </a:pPr>
            <a:r>
              <a:rPr lang="en-US" sz="1800" dirty="0">
                <a:solidFill>
                  <a:srgbClr val="2A2D38"/>
                </a:solidFill>
                <a:latin typeface="JetBrains Mono" pitchFamily="34" charset="0"/>
                <a:ea typeface="JetBrains Mono" pitchFamily="34" charset="-122"/>
                <a:cs typeface="JetBrains Mono" pitchFamily="34" charset="-120"/>
              </a:rPr>
              <a:t>You're our comms editor (warm, plainspoken).</a:t>
            </a:r>
            <a:endParaRPr lang="en-US" sz="1800" dirty="0"/>
          </a:p>
          <a:p>
            <a:pPr marL="0" indent="0" algn="l">
              <a:lnSpc>
                <a:spcPct val="155000"/>
              </a:lnSpc>
              <a:buNone/>
            </a:pPr>
            <a:endParaRPr lang="en-US" sz="1800" dirty="0"/>
          </a:p>
          <a:p>
            <a:pPr marL="0" indent="0" algn="l">
              <a:lnSpc>
                <a:spcPct val="155000"/>
              </a:lnSpc>
              <a:buNone/>
            </a:pPr>
            <a:r>
              <a:rPr lang="en-US" sz="1800" dirty="0">
                <a:solidFill>
                  <a:srgbClr val="2A2D38"/>
                </a:solidFill>
                <a:latin typeface="JetBrains Mono" pitchFamily="34" charset="0"/>
                <a:ea typeface="JetBrains Mono" pitchFamily="34" charset="-122"/>
                <a:cs typeface="JetBrains Mono" pitchFamily="34" charset="-120"/>
              </a:rPr>
              <a:t>Draft a 90-word thank-you email to the 14 first-time hospitality volunteers from Easter weekend.</a:t>
            </a:r>
            <a:endParaRPr lang="en-US" sz="1800" dirty="0"/>
          </a:p>
          <a:p>
            <a:pPr marL="0" indent="0" algn="l">
              <a:lnSpc>
                <a:spcPct val="155000"/>
              </a:lnSpc>
              <a:buNone/>
            </a:pPr>
            <a:endParaRPr lang="en-US" sz="1800" dirty="0"/>
          </a:p>
          <a:p>
            <a:pPr marL="0" indent="0" algn="l">
              <a:lnSpc>
                <a:spcPct val="155000"/>
              </a:lnSpc>
              <a:buNone/>
            </a:pPr>
            <a:r>
              <a:rPr lang="en-US" sz="1800" dirty="0">
                <a:solidFill>
                  <a:srgbClr val="2A2D38"/>
                </a:solidFill>
                <a:latin typeface="JetBrains Mono" pitchFamily="34" charset="0"/>
                <a:ea typeface="JetBrains Mono" pitchFamily="34" charset="-122"/>
                <a:cs typeface="JetBrains Mono" pitchFamily="34" charset="-120"/>
              </a:rPr>
              <a:t>Reference the espresso bar mishap kindly. End with one sentence inviting them to the May 12 huddle.</a:t>
            </a:r>
            <a:endParaRPr lang="en-US" sz="1800" dirty="0"/>
          </a:p>
          <a:p>
            <a:pPr marL="0" indent="0" algn="l">
              <a:lnSpc>
                <a:spcPct val="155000"/>
              </a:lnSpc>
              <a:buNone/>
            </a:pPr>
            <a:endParaRPr lang="en-US" sz="1800" dirty="0"/>
          </a:p>
          <a:p>
            <a:pPr marL="0" indent="0" algn="l">
              <a:lnSpc>
                <a:spcPct val="155000"/>
              </a:lnSpc>
              <a:buNone/>
            </a:pPr>
            <a:r>
              <a:rPr lang="en-US" sz="1800" dirty="0">
                <a:solidFill>
                  <a:srgbClr val="2A2D38"/>
                </a:solidFill>
                <a:latin typeface="JetBrains Mono" pitchFamily="34" charset="0"/>
                <a:ea typeface="JetBrains Mono" pitchFamily="34" charset="-122"/>
                <a:cs typeface="JetBrains Mono" pitchFamily="34" charset="-120"/>
              </a:rPr>
              <a:t>No exclamation points.</a:t>
            </a:r>
            <a:endParaRPr lang="en-US" sz="1800" dirty="0"/>
          </a:p>
        </p:txBody>
      </p:sp>
      <p:sp>
        <p:nvSpPr>
          <p:cNvPr id="15" name="Shape 13"/>
          <p:cNvSpPr/>
          <p:nvPr/>
        </p:nvSpPr>
        <p:spPr>
          <a:xfrm>
            <a:off x="9686925" y="7462689"/>
            <a:ext cx="7258050" cy="9525"/>
          </a:xfrm>
          <a:prstGeom prst="rect">
            <a:avLst/>
          </a:prstGeom>
          <a:solidFill>
            <a:srgbClr val="000000">
              <a:alpha val="8000"/>
            </a:srgbClr>
          </a:solidFill>
          <a:ln/>
        </p:spPr>
        <p:txBody>
          <a:bodyPr/>
          <a:lstStyle/>
          <a:p>
            <a:endParaRPr lang="en-US"/>
          </a:p>
        </p:txBody>
      </p:sp>
      <p:sp>
        <p:nvSpPr>
          <p:cNvPr id="16" name="Text 14"/>
          <p:cNvSpPr/>
          <p:nvPr/>
        </p:nvSpPr>
        <p:spPr>
          <a:xfrm>
            <a:off x="9686925" y="7662714"/>
            <a:ext cx="7475792" cy="369540"/>
          </a:xfrm>
          <a:prstGeom prst="rect">
            <a:avLst/>
          </a:prstGeom>
          <a:noFill/>
          <a:ln/>
        </p:spPr>
        <p:txBody>
          <a:bodyPr wrap="square" lIns="25400" tIns="25400" rIns="25400" bIns="25400" rtlCol="0" anchor="t">
            <a:normAutofit fontScale="92500" lnSpcReduction="10000"/>
          </a:bodyPr>
          <a:lstStyle/>
          <a:p>
            <a:pPr marL="0" indent="0" algn="l">
              <a:lnSpc>
                <a:spcPct val="145000"/>
              </a:lnSpc>
              <a:buNone/>
            </a:pPr>
            <a:r>
              <a:rPr lang="en-US" sz="1800" dirty="0">
                <a:solidFill>
                  <a:srgbClr val="3D404A"/>
                </a:solidFill>
                <a:latin typeface="Inter" pitchFamily="34" charset="0"/>
                <a:ea typeface="Inter" pitchFamily="34" charset="-122"/>
                <a:cs typeface="Inter" pitchFamily="34" charset="-120"/>
              </a:rPr>
              <a:t>Same model. Same minute. Vastly better first draft.</a:t>
            </a:r>
            <a:endParaRPr lang="en-US" sz="18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952500" y="952500"/>
            <a:ext cx="16874490" cy="342900"/>
          </a:xfrm>
          <a:prstGeom prst="rect">
            <a:avLst/>
          </a:prstGeom>
          <a:noFill/>
          <a:ln/>
        </p:spPr>
        <p:txBody>
          <a:bodyPr wrap="square" lIns="25400" tIns="25400" rIns="25400" bIns="25400" rtlCol="0" anchor="t">
            <a:normAutofit lnSpcReduction="10000"/>
          </a:bodyPr>
          <a:lstStyle/>
          <a:p>
            <a:pPr marL="0" indent="0" algn="l">
              <a:buNone/>
            </a:pPr>
            <a:r>
              <a:rPr lang="en-US" sz="1950" b="1" kern="0" spc="429" dirty="0">
                <a:solidFill>
                  <a:srgbClr val="F58220"/>
                </a:solidFill>
                <a:latin typeface="Montserrat" pitchFamily="34" charset="0"/>
                <a:ea typeface="Montserrat" pitchFamily="34" charset="-122"/>
                <a:cs typeface="Montserrat" pitchFamily="34" charset="-120"/>
              </a:rPr>
              <a:t>WHAT GOOD LOOKS LIKE</a:t>
            </a:r>
            <a:endParaRPr lang="en-US" sz="1950" dirty="0"/>
          </a:p>
        </p:txBody>
      </p:sp>
      <p:sp>
        <p:nvSpPr>
          <p:cNvPr id="3" name="Text 1"/>
          <p:cNvSpPr/>
          <p:nvPr/>
        </p:nvSpPr>
        <p:spPr>
          <a:xfrm>
            <a:off x="952500" y="1447800"/>
            <a:ext cx="16874490" cy="798165"/>
          </a:xfrm>
          <a:prstGeom prst="rect">
            <a:avLst/>
          </a:prstGeom>
          <a:noFill/>
          <a:ln/>
        </p:spPr>
        <p:txBody>
          <a:bodyPr wrap="square" lIns="25400" tIns="25400" rIns="25400" bIns="25400" rtlCol="0" anchor="t">
            <a:normAutofit fontScale="92500" lnSpcReduction="20000"/>
          </a:bodyPr>
          <a:lstStyle/>
          <a:p>
            <a:pPr marL="0" indent="0" algn="l">
              <a:lnSpc>
                <a:spcPct val="105000"/>
              </a:lnSpc>
              <a:buNone/>
            </a:pPr>
            <a:r>
              <a:rPr lang="en-US" sz="5700" b="1" kern="0" spc="-85" dirty="0">
                <a:solidFill>
                  <a:srgbClr val="2A2D38"/>
                </a:solidFill>
                <a:latin typeface="Montserrat" pitchFamily="34" charset="0"/>
                <a:ea typeface="Montserrat" pitchFamily="34" charset="-122"/>
                <a:cs typeface="Montserrat" pitchFamily="34" charset="-120"/>
              </a:rPr>
              <a:t>Four characteristics of well-engineered context.</a:t>
            </a:r>
            <a:endParaRPr lang="en-US" sz="5700" dirty="0"/>
          </a:p>
        </p:txBody>
      </p:sp>
      <p:sp>
        <p:nvSpPr>
          <p:cNvPr id="4" name="Text 2"/>
          <p:cNvSpPr/>
          <p:nvPr/>
        </p:nvSpPr>
        <p:spPr>
          <a:xfrm>
            <a:off x="952500" y="2398365"/>
            <a:ext cx="13735050" cy="491430"/>
          </a:xfrm>
          <a:prstGeom prst="rect">
            <a:avLst/>
          </a:prstGeom>
          <a:noFill/>
          <a:ln/>
        </p:spPr>
        <p:txBody>
          <a:bodyPr wrap="square" lIns="25400" tIns="25400" rIns="25400" bIns="25400" rtlCol="0" anchor="t">
            <a:normAutofit fontScale="92500" lnSpcReduction="10000"/>
          </a:bodyPr>
          <a:lstStyle/>
          <a:p>
            <a:pPr marL="0" indent="0" algn="l">
              <a:lnSpc>
                <a:spcPct val="140000"/>
              </a:lnSpc>
              <a:buNone/>
            </a:pPr>
            <a:r>
              <a:rPr lang="en-US" sz="2550" dirty="0">
                <a:solidFill>
                  <a:srgbClr val="6B6E78"/>
                </a:solidFill>
                <a:latin typeface="Inter" pitchFamily="34" charset="0"/>
                <a:ea typeface="Inter" pitchFamily="34" charset="-122"/>
                <a:cs typeface="Inter" pitchFamily="34" charset="-120"/>
              </a:rPr>
              <a:t>If your context has all four, you're not vibe coding anymore — you're engineering.</a:t>
            </a:r>
            <a:endParaRPr lang="en-US" sz="2550" dirty="0"/>
          </a:p>
        </p:txBody>
      </p:sp>
      <p:sp>
        <p:nvSpPr>
          <p:cNvPr id="5" name="Shape 3"/>
          <p:cNvSpPr/>
          <p:nvPr/>
        </p:nvSpPr>
        <p:spPr>
          <a:xfrm>
            <a:off x="952500" y="3499396"/>
            <a:ext cx="3895725" cy="6305550"/>
          </a:xfrm>
          <a:prstGeom prst="roundRect">
            <a:avLst>
              <a:gd name="adj" fmla="val 3912"/>
            </a:avLst>
          </a:prstGeom>
          <a:solidFill>
            <a:srgbClr val="F7F5F1"/>
          </a:solidFill>
          <a:ln w="9525">
            <a:solidFill>
              <a:srgbClr val="E5E5E7"/>
            </a:solidFill>
            <a:prstDash val="solid"/>
          </a:ln>
        </p:spPr>
        <p:txBody>
          <a:bodyPr/>
          <a:lstStyle/>
          <a:p>
            <a:endParaRPr lang="en-US"/>
          </a:p>
        </p:txBody>
      </p:sp>
      <p:sp>
        <p:nvSpPr>
          <p:cNvPr id="6" name="Text 4"/>
          <p:cNvSpPr/>
          <p:nvPr/>
        </p:nvSpPr>
        <p:spPr>
          <a:xfrm>
            <a:off x="1266825" y="3851821"/>
            <a:ext cx="3365087" cy="333375"/>
          </a:xfrm>
          <a:prstGeom prst="rect">
            <a:avLst/>
          </a:prstGeom>
          <a:noFill/>
          <a:ln/>
        </p:spPr>
        <p:txBody>
          <a:bodyPr wrap="square" lIns="25400" tIns="25400" rIns="25400" bIns="25400" rtlCol="0" anchor="t">
            <a:normAutofit/>
          </a:bodyPr>
          <a:lstStyle/>
          <a:p>
            <a:pPr marL="0" indent="0" algn="l">
              <a:buNone/>
            </a:pPr>
            <a:r>
              <a:rPr lang="en-US" sz="1800" kern="0" spc="324" dirty="0">
                <a:solidFill>
                  <a:srgbClr val="3FE0D0"/>
                </a:solidFill>
                <a:latin typeface="JetBrains Mono" pitchFamily="34" charset="0"/>
                <a:ea typeface="JetBrains Mono" pitchFamily="34" charset="-122"/>
                <a:cs typeface="JetBrains Mono" pitchFamily="34" charset="-120"/>
              </a:rPr>
              <a:t>01 / REPRODUCIBLE</a:t>
            </a:r>
            <a:endParaRPr lang="en-US" sz="1800" dirty="0"/>
          </a:p>
        </p:txBody>
      </p:sp>
      <p:sp>
        <p:nvSpPr>
          <p:cNvPr id="7" name="Text 5"/>
          <p:cNvSpPr/>
          <p:nvPr/>
        </p:nvSpPr>
        <p:spPr>
          <a:xfrm>
            <a:off x="1266825" y="4337596"/>
            <a:ext cx="3365087" cy="457200"/>
          </a:xfrm>
          <a:prstGeom prst="rect">
            <a:avLst/>
          </a:prstGeom>
          <a:noFill/>
          <a:ln/>
        </p:spPr>
        <p:txBody>
          <a:bodyPr wrap="square" lIns="25400" tIns="25400" rIns="25400" bIns="25400" rtlCol="0" anchor="t">
            <a:normAutofit fontScale="77500" lnSpcReduction="20000"/>
          </a:bodyPr>
          <a:lstStyle/>
          <a:p>
            <a:pPr marL="0" indent="0" algn="l">
              <a:lnSpc>
                <a:spcPct val="100000"/>
              </a:lnSpc>
              <a:buNone/>
            </a:pPr>
            <a:r>
              <a:rPr lang="en-US" sz="3300" b="1" kern="0" spc="-33" dirty="0">
                <a:solidFill>
                  <a:srgbClr val="2A2D38"/>
                </a:solidFill>
                <a:latin typeface="Montserrat" pitchFamily="34" charset="0"/>
                <a:ea typeface="Montserrat" pitchFamily="34" charset="-122"/>
                <a:cs typeface="Montserrat" pitchFamily="34" charset="-120"/>
              </a:rPr>
              <a:t>Same in, same out.</a:t>
            </a:r>
            <a:endParaRPr lang="en-US" sz="3300" dirty="0"/>
          </a:p>
        </p:txBody>
      </p:sp>
      <p:sp>
        <p:nvSpPr>
          <p:cNvPr id="8" name="Text 6"/>
          <p:cNvSpPr/>
          <p:nvPr/>
        </p:nvSpPr>
        <p:spPr>
          <a:xfrm>
            <a:off x="1266825" y="4947196"/>
            <a:ext cx="3365087" cy="1409700"/>
          </a:xfrm>
          <a:prstGeom prst="rect">
            <a:avLst/>
          </a:prstGeom>
          <a:noFill/>
          <a:ln/>
        </p:spPr>
        <p:txBody>
          <a:bodyPr wrap="square" lIns="25400" tIns="25400" rIns="25400" bIns="25400" rtlCol="0" anchor="t">
            <a:normAutofit fontScale="92500" lnSpcReduction="20000"/>
          </a:bodyPr>
          <a:lstStyle/>
          <a:p>
            <a:pPr marL="0" indent="0" algn="l">
              <a:lnSpc>
                <a:spcPct val="150000"/>
              </a:lnSpc>
              <a:buNone/>
            </a:pPr>
            <a:r>
              <a:rPr lang="en-US" sz="1800" dirty="0">
                <a:solidFill>
                  <a:srgbClr val="3D404A"/>
                </a:solidFill>
                <a:latin typeface="Inter" pitchFamily="34" charset="0"/>
                <a:ea typeface="Inter" pitchFamily="34" charset="-122"/>
                <a:cs typeface="Inter" pitchFamily="34" charset="-120"/>
              </a:rPr>
              <a:t>Two teammates running the same prompt against the same context get comparable results. No private incantations.</a:t>
            </a:r>
            <a:endParaRPr lang="en-US" sz="1800" dirty="0"/>
          </a:p>
        </p:txBody>
      </p:sp>
      <p:sp>
        <p:nvSpPr>
          <p:cNvPr id="9" name="Shape 7"/>
          <p:cNvSpPr/>
          <p:nvPr/>
        </p:nvSpPr>
        <p:spPr>
          <a:xfrm>
            <a:off x="1266825" y="7271296"/>
            <a:ext cx="3267075" cy="9525"/>
          </a:xfrm>
          <a:prstGeom prst="rect">
            <a:avLst/>
          </a:prstGeom>
          <a:solidFill>
            <a:srgbClr val="C9CBD1"/>
          </a:solidFill>
          <a:ln/>
        </p:spPr>
        <p:txBody>
          <a:bodyPr/>
          <a:lstStyle/>
          <a:p>
            <a:endParaRPr lang="en-US"/>
          </a:p>
        </p:txBody>
      </p:sp>
      <p:sp>
        <p:nvSpPr>
          <p:cNvPr id="10" name="Text 8"/>
          <p:cNvSpPr/>
          <p:nvPr/>
        </p:nvSpPr>
        <p:spPr>
          <a:xfrm>
            <a:off x="1266825" y="7509421"/>
            <a:ext cx="3365087" cy="1752600"/>
          </a:xfrm>
          <a:prstGeom prst="rect">
            <a:avLst/>
          </a:prstGeom>
          <a:noFill/>
          <a:ln/>
        </p:spPr>
        <p:txBody>
          <a:bodyPr wrap="square" lIns="25400" tIns="25400" rIns="25400" bIns="25400" rtlCol="0" anchor="t">
            <a:normAutofit fontScale="92500"/>
          </a:bodyPr>
          <a:lstStyle/>
          <a:p>
            <a:pPr marL="0" indent="0" algn="l">
              <a:lnSpc>
                <a:spcPct val="150000"/>
              </a:lnSpc>
              <a:buNone/>
            </a:pPr>
            <a:r>
              <a:rPr lang="en-US" sz="1800" b="1" dirty="0">
                <a:solidFill>
                  <a:srgbClr val="6B6E78"/>
                </a:solidFill>
                <a:latin typeface="JetBrains Mono" pitchFamily="34" charset="0"/>
                <a:ea typeface="JetBrains Mono" pitchFamily="34" charset="-122"/>
                <a:cs typeface="JetBrains Mono" pitchFamily="34" charset="-120"/>
              </a:rPr>
              <a:t>Why it matters: the moment a workflow depends on "the way Tripp asks," it's not a workflow.</a:t>
            </a:r>
            <a:endParaRPr lang="en-US" sz="1800" dirty="0"/>
          </a:p>
        </p:txBody>
      </p:sp>
      <p:sp>
        <p:nvSpPr>
          <p:cNvPr id="11" name="Shape 9"/>
          <p:cNvSpPr/>
          <p:nvPr/>
        </p:nvSpPr>
        <p:spPr>
          <a:xfrm>
            <a:off x="5114925" y="3499396"/>
            <a:ext cx="3895725" cy="6305550"/>
          </a:xfrm>
          <a:prstGeom prst="roundRect">
            <a:avLst>
              <a:gd name="adj" fmla="val 3912"/>
            </a:avLst>
          </a:prstGeom>
          <a:solidFill>
            <a:srgbClr val="F7F5F1"/>
          </a:solidFill>
          <a:ln w="9525">
            <a:solidFill>
              <a:srgbClr val="E5E5E7"/>
            </a:solidFill>
            <a:prstDash val="solid"/>
          </a:ln>
        </p:spPr>
        <p:txBody>
          <a:bodyPr/>
          <a:lstStyle/>
          <a:p>
            <a:endParaRPr lang="en-US"/>
          </a:p>
        </p:txBody>
      </p:sp>
      <p:sp>
        <p:nvSpPr>
          <p:cNvPr id="12" name="Text 10"/>
          <p:cNvSpPr/>
          <p:nvPr/>
        </p:nvSpPr>
        <p:spPr>
          <a:xfrm>
            <a:off x="5429250" y="3851821"/>
            <a:ext cx="3365087" cy="333375"/>
          </a:xfrm>
          <a:prstGeom prst="rect">
            <a:avLst/>
          </a:prstGeom>
          <a:noFill/>
          <a:ln/>
        </p:spPr>
        <p:txBody>
          <a:bodyPr wrap="square" lIns="25400" tIns="25400" rIns="25400" bIns="25400" rtlCol="0" anchor="t">
            <a:normAutofit/>
          </a:bodyPr>
          <a:lstStyle/>
          <a:p>
            <a:pPr marL="0" indent="0" algn="l">
              <a:buNone/>
            </a:pPr>
            <a:r>
              <a:rPr lang="en-US" sz="1800" kern="0" spc="324" dirty="0">
                <a:solidFill>
                  <a:srgbClr val="3FE0D0"/>
                </a:solidFill>
                <a:latin typeface="JetBrains Mono" pitchFamily="34" charset="0"/>
                <a:ea typeface="JetBrains Mono" pitchFamily="34" charset="-122"/>
                <a:cs typeface="JetBrains Mono" pitchFamily="34" charset="-120"/>
              </a:rPr>
              <a:t>02 / AUDITABLE</a:t>
            </a:r>
            <a:endParaRPr lang="en-US" sz="1800" dirty="0"/>
          </a:p>
        </p:txBody>
      </p:sp>
      <p:sp>
        <p:nvSpPr>
          <p:cNvPr id="13" name="Text 11"/>
          <p:cNvSpPr/>
          <p:nvPr/>
        </p:nvSpPr>
        <p:spPr>
          <a:xfrm>
            <a:off x="5429250" y="4337596"/>
            <a:ext cx="3365087" cy="4572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300" b="1" kern="0" spc="-33" dirty="0">
                <a:solidFill>
                  <a:srgbClr val="2A2D38"/>
                </a:solidFill>
                <a:latin typeface="Montserrat" pitchFamily="34" charset="0"/>
                <a:ea typeface="Montserrat" pitchFamily="34" charset="-122"/>
                <a:cs typeface="Montserrat" pitchFamily="34" charset="-120"/>
              </a:rPr>
              <a:t>You can trace it.</a:t>
            </a:r>
            <a:endParaRPr lang="en-US" sz="3300" dirty="0"/>
          </a:p>
        </p:txBody>
      </p:sp>
      <p:sp>
        <p:nvSpPr>
          <p:cNvPr id="14" name="Text 12"/>
          <p:cNvSpPr/>
          <p:nvPr/>
        </p:nvSpPr>
        <p:spPr>
          <a:xfrm>
            <a:off x="5429250" y="4947196"/>
            <a:ext cx="3365087" cy="1409700"/>
          </a:xfrm>
          <a:prstGeom prst="rect">
            <a:avLst/>
          </a:prstGeom>
          <a:noFill/>
          <a:ln/>
        </p:spPr>
        <p:txBody>
          <a:bodyPr wrap="square" lIns="25400" tIns="25400" rIns="25400" bIns="25400" rtlCol="0" anchor="t">
            <a:normAutofit fontScale="92500" lnSpcReduction="20000"/>
          </a:bodyPr>
          <a:lstStyle/>
          <a:p>
            <a:pPr marL="0" indent="0" algn="l">
              <a:lnSpc>
                <a:spcPct val="150000"/>
              </a:lnSpc>
              <a:buNone/>
            </a:pPr>
            <a:r>
              <a:rPr lang="en-US" sz="1800" dirty="0">
                <a:solidFill>
                  <a:srgbClr val="3D404A"/>
                </a:solidFill>
                <a:latin typeface="Inter" pitchFamily="34" charset="0"/>
                <a:ea typeface="Inter" pitchFamily="34" charset="-122"/>
                <a:cs typeface="Inter" pitchFamily="34" charset="-120"/>
              </a:rPr>
              <a:t>Every claim in the output maps to a specific source in the context. You know what the model knew when it answered.</a:t>
            </a:r>
            <a:endParaRPr lang="en-US" sz="1800" dirty="0"/>
          </a:p>
        </p:txBody>
      </p:sp>
      <p:sp>
        <p:nvSpPr>
          <p:cNvPr id="15" name="Shape 13"/>
          <p:cNvSpPr/>
          <p:nvPr/>
        </p:nvSpPr>
        <p:spPr>
          <a:xfrm>
            <a:off x="5429250" y="7614196"/>
            <a:ext cx="3267075" cy="9525"/>
          </a:xfrm>
          <a:prstGeom prst="rect">
            <a:avLst/>
          </a:prstGeom>
          <a:solidFill>
            <a:srgbClr val="C9CBD1"/>
          </a:solidFill>
          <a:ln/>
        </p:spPr>
        <p:txBody>
          <a:bodyPr/>
          <a:lstStyle/>
          <a:p>
            <a:endParaRPr lang="en-US"/>
          </a:p>
        </p:txBody>
      </p:sp>
      <p:sp>
        <p:nvSpPr>
          <p:cNvPr id="16" name="Text 14"/>
          <p:cNvSpPr/>
          <p:nvPr/>
        </p:nvSpPr>
        <p:spPr>
          <a:xfrm>
            <a:off x="5429250" y="7852321"/>
            <a:ext cx="3365087" cy="1409700"/>
          </a:xfrm>
          <a:prstGeom prst="rect">
            <a:avLst/>
          </a:prstGeom>
          <a:noFill/>
          <a:ln/>
        </p:spPr>
        <p:txBody>
          <a:bodyPr wrap="square" lIns="25400" tIns="25400" rIns="25400" bIns="25400" rtlCol="0" anchor="t">
            <a:normAutofit fontScale="92500" lnSpcReduction="20000"/>
          </a:bodyPr>
          <a:lstStyle/>
          <a:p>
            <a:pPr marL="0" indent="0" algn="l">
              <a:lnSpc>
                <a:spcPct val="150000"/>
              </a:lnSpc>
              <a:buNone/>
            </a:pPr>
            <a:r>
              <a:rPr lang="en-US" sz="1800" b="1" dirty="0">
                <a:solidFill>
                  <a:srgbClr val="6B6E78"/>
                </a:solidFill>
                <a:latin typeface="JetBrains Mono" pitchFamily="34" charset="0"/>
                <a:ea typeface="JetBrains Mono" pitchFamily="34" charset="-122"/>
                <a:cs typeface="JetBrains Mono" pitchFamily="34" charset="-120"/>
              </a:rPr>
              <a:t>Why it matters: when something goes wrong, you debug the context — not the model.</a:t>
            </a:r>
            <a:endParaRPr lang="en-US" sz="1800" dirty="0"/>
          </a:p>
        </p:txBody>
      </p:sp>
      <p:sp>
        <p:nvSpPr>
          <p:cNvPr id="17" name="Shape 15"/>
          <p:cNvSpPr/>
          <p:nvPr/>
        </p:nvSpPr>
        <p:spPr>
          <a:xfrm>
            <a:off x="9277350" y="3499396"/>
            <a:ext cx="3895725" cy="6305550"/>
          </a:xfrm>
          <a:prstGeom prst="roundRect">
            <a:avLst>
              <a:gd name="adj" fmla="val 3912"/>
            </a:avLst>
          </a:prstGeom>
          <a:solidFill>
            <a:srgbClr val="F7F5F1"/>
          </a:solidFill>
          <a:ln w="9525">
            <a:solidFill>
              <a:srgbClr val="E5E5E7"/>
            </a:solidFill>
            <a:prstDash val="solid"/>
          </a:ln>
        </p:spPr>
        <p:txBody>
          <a:bodyPr/>
          <a:lstStyle/>
          <a:p>
            <a:endParaRPr lang="en-US"/>
          </a:p>
        </p:txBody>
      </p:sp>
      <p:sp>
        <p:nvSpPr>
          <p:cNvPr id="18" name="Text 16"/>
          <p:cNvSpPr/>
          <p:nvPr/>
        </p:nvSpPr>
        <p:spPr>
          <a:xfrm>
            <a:off x="9591675" y="3851821"/>
            <a:ext cx="3365087" cy="333375"/>
          </a:xfrm>
          <a:prstGeom prst="rect">
            <a:avLst/>
          </a:prstGeom>
          <a:noFill/>
          <a:ln/>
        </p:spPr>
        <p:txBody>
          <a:bodyPr wrap="square" lIns="25400" tIns="25400" rIns="25400" bIns="25400" rtlCol="0" anchor="t">
            <a:normAutofit/>
          </a:bodyPr>
          <a:lstStyle/>
          <a:p>
            <a:pPr marL="0" indent="0" algn="l">
              <a:buNone/>
            </a:pPr>
            <a:r>
              <a:rPr lang="en-US" sz="1800" kern="0" spc="324" dirty="0">
                <a:solidFill>
                  <a:srgbClr val="3FE0D0"/>
                </a:solidFill>
                <a:latin typeface="JetBrains Mono" pitchFamily="34" charset="0"/>
                <a:ea typeface="JetBrains Mono" pitchFamily="34" charset="-122"/>
                <a:cs typeface="JetBrains Mono" pitchFamily="34" charset="-120"/>
              </a:rPr>
              <a:t>03 / TEACHABLE</a:t>
            </a:r>
            <a:endParaRPr lang="en-US" sz="1800" dirty="0"/>
          </a:p>
        </p:txBody>
      </p:sp>
      <p:sp>
        <p:nvSpPr>
          <p:cNvPr id="19" name="Text 17"/>
          <p:cNvSpPr/>
          <p:nvPr/>
        </p:nvSpPr>
        <p:spPr>
          <a:xfrm>
            <a:off x="9591675" y="4337596"/>
            <a:ext cx="3365087" cy="8763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300" b="1" kern="0" spc="-33" dirty="0">
                <a:solidFill>
                  <a:srgbClr val="2A2D38"/>
                </a:solidFill>
                <a:latin typeface="Montserrat" pitchFamily="34" charset="0"/>
                <a:ea typeface="Montserrat" pitchFamily="34" charset="-122"/>
                <a:cs typeface="Montserrat" pitchFamily="34" charset="-120"/>
              </a:rPr>
              <a:t>Show, don't channel.</a:t>
            </a:r>
            <a:endParaRPr lang="en-US" sz="3300" dirty="0"/>
          </a:p>
        </p:txBody>
      </p:sp>
      <p:sp>
        <p:nvSpPr>
          <p:cNvPr id="20" name="Text 18"/>
          <p:cNvSpPr/>
          <p:nvPr/>
        </p:nvSpPr>
        <p:spPr>
          <a:xfrm>
            <a:off x="9591675" y="5366296"/>
            <a:ext cx="3365087" cy="1409700"/>
          </a:xfrm>
          <a:prstGeom prst="rect">
            <a:avLst/>
          </a:prstGeom>
          <a:noFill/>
          <a:ln/>
        </p:spPr>
        <p:txBody>
          <a:bodyPr wrap="square" lIns="25400" tIns="25400" rIns="25400" bIns="25400" rtlCol="0" anchor="t">
            <a:normAutofit fontScale="77500" lnSpcReduction="20000"/>
          </a:bodyPr>
          <a:lstStyle/>
          <a:p>
            <a:pPr marL="0" indent="0" algn="l">
              <a:lnSpc>
                <a:spcPct val="150000"/>
              </a:lnSpc>
              <a:buNone/>
            </a:pPr>
            <a:r>
              <a:rPr lang="en-US" sz="1800" dirty="0">
                <a:solidFill>
                  <a:srgbClr val="3D404A"/>
                </a:solidFill>
                <a:latin typeface="Inter" pitchFamily="34" charset="0"/>
                <a:ea typeface="Inter" pitchFamily="34" charset="-122"/>
                <a:cs typeface="Inter" pitchFamily="34" charset="-120"/>
              </a:rPr>
              <a:t>A new teammate reads the CLAUDE.md, the requirements doc, and the prompt — and runs the same workflow on Tuesday morning.</a:t>
            </a:r>
            <a:endParaRPr lang="en-US" sz="1800" dirty="0"/>
          </a:p>
        </p:txBody>
      </p:sp>
      <p:sp>
        <p:nvSpPr>
          <p:cNvPr id="21" name="Shape 19"/>
          <p:cNvSpPr/>
          <p:nvPr/>
        </p:nvSpPr>
        <p:spPr>
          <a:xfrm>
            <a:off x="9591675" y="7614196"/>
            <a:ext cx="3267075" cy="9525"/>
          </a:xfrm>
          <a:prstGeom prst="rect">
            <a:avLst/>
          </a:prstGeom>
          <a:solidFill>
            <a:srgbClr val="C9CBD1"/>
          </a:solidFill>
          <a:ln/>
        </p:spPr>
        <p:txBody>
          <a:bodyPr/>
          <a:lstStyle/>
          <a:p>
            <a:endParaRPr lang="en-US"/>
          </a:p>
        </p:txBody>
      </p:sp>
      <p:sp>
        <p:nvSpPr>
          <p:cNvPr id="22" name="Text 20"/>
          <p:cNvSpPr/>
          <p:nvPr/>
        </p:nvSpPr>
        <p:spPr>
          <a:xfrm>
            <a:off x="9591675" y="7852321"/>
            <a:ext cx="3365087" cy="1409700"/>
          </a:xfrm>
          <a:prstGeom prst="rect">
            <a:avLst/>
          </a:prstGeom>
          <a:noFill/>
          <a:ln/>
        </p:spPr>
        <p:txBody>
          <a:bodyPr wrap="square" lIns="25400" tIns="25400" rIns="25400" bIns="25400" rtlCol="0" anchor="t">
            <a:normAutofit fontScale="92500" lnSpcReduction="20000"/>
          </a:bodyPr>
          <a:lstStyle/>
          <a:p>
            <a:pPr marL="0" indent="0" algn="l">
              <a:lnSpc>
                <a:spcPct val="150000"/>
              </a:lnSpc>
              <a:buNone/>
            </a:pPr>
            <a:r>
              <a:rPr lang="en-US" sz="1800" b="1" dirty="0">
                <a:solidFill>
                  <a:srgbClr val="6B6E78"/>
                </a:solidFill>
                <a:latin typeface="JetBrains Mono" pitchFamily="34" charset="0"/>
                <a:ea typeface="JetBrains Mono" pitchFamily="34" charset="-122"/>
                <a:cs typeface="JetBrains Mono" pitchFamily="34" charset="-120"/>
              </a:rPr>
              <a:t>Why it matters: context that lives only in your head doesn't survive a vacation.</a:t>
            </a:r>
            <a:endParaRPr lang="en-US" sz="1800" dirty="0"/>
          </a:p>
        </p:txBody>
      </p:sp>
      <p:sp>
        <p:nvSpPr>
          <p:cNvPr id="23" name="Shape 21"/>
          <p:cNvSpPr/>
          <p:nvPr/>
        </p:nvSpPr>
        <p:spPr>
          <a:xfrm>
            <a:off x="13439775" y="3499396"/>
            <a:ext cx="3895725" cy="6305550"/>
          </a:xfrm>
          <a:prstGeom prst="roundRect">
            <a:avLst>
              <a:gd name="adj" fmla="val 3912"/>
            </a:avLst>
          </a:prstGeom>
          <a:solidFill>
            <a:srgbClr val="F7F5F1"/>
          </a:solidFill>
          <a:ln w="9525">
            <a:solidFill>
              <a:srgbClr val="E5E5E7"/>
            </a:solidFill>
            <a:prstDash val="solid"/>
          </a:ln>
        </p:spPr>
        <p:txBody>
          <a:bodyPr/>
          <a:lstStyle/>
          <a:p>
            <a:endParaRPr lang="en-US"/>
          </a:p>
        </p:txBody>
      </p:sp>
      <p:sp>
        <p:nvSpPr>
          <p:cNvPr id="24" name="Text 22"/>
          <p:cNvSpPr/>
          <p:nvPr/>
        </p:nvSpPr>
        <p:spPr>
          <a:xfrm>
            <a:off x="13754100" y="3851821"/>
            <a:ext cx="3365087" cy="333375"/>
          </a:xfrm>
          <a:prstGeom prst="rect">
            <a:avLst/>
          </a:prstGeom>
          <a:noFill/>
          <a:ln/>
        </p:spPr>
        <p:txBody>
          <a:bodyPr wrap="square" lIns="25400" tIns="25400" rIns="25400" bIns="25400" rtlCol="0" anchor="t">
            <a:normAutofit/>
          </a:bodyPr>
          <a:lstStyle/>
          <a:p>
            <a:pPr marL="0" indent="0" algn="l">
              <a:buNone/>
            </a:pPr>
            <a:r>
              <a:rPr lang="en-US" sz="1800" kern="0" spc="324" dirty="0">
                <a:solidFill>
                  <a:srgbClr val="3FE0D0"/>
                </a:solidFill>
                <a:latin typeface="JetBrains Mono" pitchFamily="34" charset="0"/>
                <a:ea typeface="JetBrains Mono" pitchFamily="34" charset="-122"/>
                <a:cs typeface="JetBrains Mono" pitchFamily="34" charset="-120"/>
              </a:rPr>
              <a:t>04 / IMPROVABLE</a:t>
            </a:r>
            <a:endParaRPr lang="en-US" sz="1800" dirty="0"/>
          </a:p>
        </p:txBody>
      </p:sp>
      <p:sp>
        <p:nvSpPr>
          <p:cNvPr id="25" name="Text 23"/>
          <p:cNvSpPr/>
          <p:nvPr/>
        </p:nvSpPr>
        <p:spPr>
          <a:xfrm>
            <a:off x="13754100" y="4337596"/>
            <a:ext cx="3365087" cy="876300"/>
          </a:xfrm>
          <a:prstGeom prst="rect">
            <a:avLst/>
          </a:prstGeom>
          <a:noFill/>
          <a:ln/>
        </p:spPr>
        <p:txBody>
          <a:bodyPr wrap="square" lIns="25400" tIns="25400" rIns="25400" bIns="25400" rtlCol="0" anchor="t">
            <a:normAutofit fontScale="92500"/>
          </a:bodyPr>
          <a:lstStyle/>
          <a:p>
            <a:pPr marL="0" indent="0" algn="l">
              <a:lnSpc>
                <a:spcPct val="100000"/>
              </a:lnSpc>
              <a:buNone/>
            </a:pPr>
            <a:r>
              <a:rPr lang="en-US" sz="3300" b="1" kern="0" spc="-33" dirty="0">
                <a:solidFill>
                  <a:srgbClr val="2A2D38"/>
                </a:solidFill>
                <a:latin typeface="Montserrat" pitchFamily="34" charset="0"/>
                <a:ea typeface="Montserrat" pitchFamily="34" charset="-122"/>
                <a:cs typeface="Montserrat" pitchFamily="34" charset="-120"/>
              </a:rPr>
              <a:t>Diff it like code.</a:t>
            </a:r>
            <a:endParaRPr lang="en-US" sz="3300" dirty="0"/>
          </a:p>
        </p:txBody>
      </p:sp>
      <p:sp>
        <p:nvSpPr>
          <p:cNvPr id="26" name="Text 24"/>
          <p:cNvSpPr/>
          <p:nvPr/>
        </p:nvSpPr>
        <p:spPr>
          <a:xfrm>
            <a:off x="13754100" y="5366296"/>
            <a:ext cx="3365087" cy="1752600"/>
          </a:xfrm>
          <a:prstGeom prst="rect">
            <a:avLst/>
          </a:prstGeom>
          <a:noFill/>
          <a:ln/>
        </p:spPr>
        <p:txBody>
          <a:bodyPr wrap="square" lIns="25400" tIns="25400" rIns="25400" bIns="25400" rtlCol="0" anchor="t">
            <a:normAutofit fontScale="92500" lnSpcReduction="20000"/>
          </a:bodyPr>
          <a:lstStyle/>
          <a:p>
            <a:pPr marL="0" indent="0" algn="l">
              <a:lnSpc>
                <a:spcPct val="150000"/>
              </a:lnSpc>
              <a:buNone/>
            </a:pPr>
            <a:r>
              <a:rPr lang="en-US" sz="1800" dirty="0">
                <a:solidFill>
                  <a:srgbClr val="3D404A"/>
                </a:solidFill>
                <a:latin typeface="Inter" pitchFamily="34" charset="0"/>
                <a:ea typeface="Inter" pitchFamily="34" charset="-122"/>
                <a:cs typeface="Inter" pitchFamily="34" charset="-120"/>
              </a:rPr>
              <a:t>When the output misses, you fix the context — and the next run is permanently better. Errors compound into improvements.</a:t>
            </a:r>
            <a:endParaRPr lang="en-US" sz="1800" dirty="0"/>
          </a:p>
        </p:txBody>
      </p:sp>
      <p:sp>
        <p:nvSpPr>
          <p:cNvPr id="27" name="Shape 25"/>
          <p:cNvSpPr/>
          <p:nvPr/>
        </p:nvSpPr>
        <p:spPr>
          <a:xfrm>
            <a:off x="13754100" y="7271296"/>
            <a:ext cx="3267075" cy="9525"/>
          </a:xfrm>
          <a:prstGeom prst="rect">
            <a:avLst/>
          </a:prstGeom>
          <a:solidFill>
            <a:srgbClr val="C9CBD1"/>
          </a:solidFill>
          <a:ln/>
        </p:spPr>
        <p:txBody>
          <a:bodyPr/>
          <a:lstStyle/>
          <a:p>
            <a:endParaRPr lang="en-US"/>
          </a:p>
        </p:txBody>
      </p:sp>
      <p:sp>
        <p:nvSpPr>
          <p:cNvPr id="28" name="Text 26"/>
          <p:cNvSpPr/>
          <p:nvPr/>
        </p:nvSpPr>
        <p:spPr>
          <a:xfrm>
            <a:off x="13754100" y="7509421"/>
            <a:ext cx="3365087" cy="1752600"/>
          </a:xfrm>
          <a:prstGeom prst="rect">
            <a:avLst/>
          </a:prstGeom>
          <a:noFill/>
          <a:ln/>
        </p:spPr>
        <p:txBody>
          <a:bodyPr wrap="square" lIns="25400" tIns="25400" rIns="25400" bIns="25400" rtlCol="0" anchor="t">
            <a:normAutofit/>
          </a:bodyPr>
          <a:lstStyle/>
          <a:p>
            <a:pPr marL="0" indent="0" algn="l">
              <a:lnSpc>
                <a:spcPct val="150000"/>
              </a:lnSpc>
              <a:buNone/>
            </a:pPr>
            <a:r>
              <a:rPr lang="en-US" sz="1800" b="1" dirty="0">
                <a:solidFill>
                  <a:srgbClr val="6B6E78"/>
                </a:solidFill>
                <a:latin typeface="JetBrains Mono" pitchFamily="34" charset="0"/>
                <a:ea typeface="JetBrains Mono" pitchFamily="34" charset="-122"/>
                <a:cs typeface="JetBrains Mono" pitchFamily="34" charset="-120"/>
              </a:rPr>
              <a:t>Why it matters: this is what makes the skill compound, not the model.</a:t>
            </a:r>
            <a:endParaRPr lang="en-US" sz="18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952500" y="952500"/>
            <a:ext cx="16874490" cy="342900"/>
          </a:xfrm>
          <a:prstGeom prst="rect">
            <a:avLst/>
          </a:prstGeom>
          <a:noFill/>
          <a:ln/>
        </p:spPr>
        <p:txBody>
          <a:bodyPr wrap="square" lIns="25400" tIns="25400" rIns="25400" bIns="25400" rtlCol="0" anchor="t">
            <a:normAutofit lnSpcReduction="10000"/>
          </a:bodyPr>
          <a:lstStyle/>
          <a:p>
            <a:pPr marL="0" indent="0" algn="l">
              <a:buNone/>
            </a:pPr>
            <a:r>
              <a:rPr lang="en-US" sz="1950" b="1" kern="0" spc="429" dirty="0">
                <a:solidFill>
                  <a:srgbClr val="F58220"/>
                </a:solidFill>
                <a:latin typeface="Montserrat" pitchFamily="34" charset="0"/>
                <a:ea typeface="Montserrat" pitchFamily="34" charset="-122"/>
                <a:cs typeface="Montserrat" pitchFamily="34" charset="-120"/>
              </a:rPr>
              <a:t>SCOPE NOTE · WHAT WE WON'T COVER</a:t>
            </a:r>
            <a:endParaRPr lang="en-US" sz="1950" dirty="0"/>
          </a:p>
        </p:txBody>
      </p:sp>
      <p:sp>
        <p:nvSpPr>
          <p:cNvPr id="3" name="Text 1"/>
          <p:cNvSpPr/>
          <p:nvPr/>
        </p:nvSpPr>
        <p:spPr>
          <a:xfrm>
            <a:off x="952500" y="1447800"/>
            <a:ext cx="16874490" cy="798165"/>
          </a:xfrm>
          <a:prstGeom prst="rect">
            <a:avLst/>
          </a:prstGeom>
          <a:noFill/>
          <a:ln/>
        </p:spPr>
        <p:txBody>
          <a:bodyPr wrap="square" lIns="25400" tIns="25400" rIns="25400" bIns="25400" rtlCol="0" anchor="t">
            <a:normAutofit fontScale="92500" lnSpcReduction="20000"/>
          </a:bodyPr>
          <a:lstStyle/>
          <a:p>
            <a:pPr marL="0" indent="0" algn="l">
              <a:lnSpc>
                <a:spcPct val="105000"/>
              </a:lnSpc>
              <a:buNone/>
            </a:pPr>
            <a:r>
              <a:rPr lang="en-US" sz="5700" b="1" kern="0" spc="-85" dirty="0">
                <a:solidFill>
                  <a:srgbClr val="2A2D38"/>
                </a:solidFill>
                <a:latin typeface="Montserrat" pitchFamily="34" charset="0"/>
                <a:ea typeface="Montserrat" pitchFamily="34" charset="-122"/>
                <a:cs typeface="Montserrat" pitchFamily="34" charset="-120"/>
              </a:rPr>
              <a:t>This is a Jumpstart, not the tour.</a:t>
            </a:r>
            <a:endParaRPr lang="en-US" sz="5700" dirty="0"/>
          </a:p>
        </p:txBody>
      </p:sp>
      <p:sp>
        <p:nvSpPr>
          <p:cNvPr id="4" name="Text 2"/>
          <p:cNvSpPr/>
          <p:nvPr/>
        </p:nvSpPr>
        <p:spPr>
          <a:xfrm>
            <a:off x="952500" y="2398365"/>
            <a:ext cx="13735050" cy="491430"/>
          </a:xfrm>
          <a:prstGeom prst="rect">
            <a:avLst/>
          </a:prstGeom>
          <a:noFill/>
          <a:ln/>
        </p:spPr>
        <p:txBody>
          <a:bodyPr wrap="square" lIns="25400" tIns="25400" rIns="25400" bIns="25400" rtlCol="0" anchor="t">
            <a:normAutofit fontScale="47500" lnSpcReduction="20000"/>
          </a:bodyPr>
          <a:lstStyle/>
          <a:p>
            <a:pPr marL="0" indent="0" algn="l">
              <a:lnSpc>
                <a:spcPct val="140000"/>
              </a:lnSpc>
              <a:buNone/>
            </a:pPr>
            <a:r>
              <a:rPr lang="en-US" sz="2550" dirty="0">
                <a:solidFill>
                  <a:srgbClr val="6B6E78"/>
                </a:solidFill>
                <a:latin typeface="Inter" pitchFamily="34" charset="0"/>
                <a:ea typeface="Inter" pitchFamily="34" charset="-122"/>
                <a:cs typeface="Inter" pitchFamily="34" charset="-120"/>
              </a:rPr>
              <a:t>Claude Code and Cowork ship new capabilities every week. We're laying the foundation — not touring every advanced feature. Some we may graze. Most we won't.</a:t>
            </a:r>
            <a:endParaRPr lang="en-US" sz="2550" dirty="0"/>
          </a:p>
        </p:txBody>
      </p:sp>
      <p:sp>
        <p:nvSpPr>
          <p:cNvPr id="5" name="Shape 3"/>
          <p:cNvSpPr/>
          <p:nvPr/>
        </p:nvSpPr>
        <p:spPr>
          <a:xfrm>
            <a:off x="952500" y="3499396"/>
            <a:ext cx="3895725" cy="6305550"/>
          </a:xfrm>
          <a:prstGeom prst="roundRect">
            <a:avLst>
              <a:gd name="adj" fmla="val 3912"/>
            </a:avLst>
          </a:prstGeom>
          <a:solidFill>
            <a:srgbClr val="F7F5F1"/>
          </a:solidFill>
          <a:ln w="9525">
            <a:solidFill>
              <a:srgbClr val="E5E5E7"/>
            </a:solidFill>
            <a:prstDash val="solid"/>
          </a:ln>
        </p:spPr>
        <p:txBody>
          <a:bodyPr/>
          <a:lstStyle/>
          <a:p>
            <a:endParaRPr lang="en-US"/>
          </a:p>
        </p:txBody>
      </p:sp>
      <p:sp>
        <p:nvSpPr>
          <p:cNvPr id="6" name="Text 4"/>
          <p:cNvSpPr/>
          <p:nvPr/>
        </p:nvSpPr>
        <p:spPr>
          <a:xfrm>
            <a:off x="1266825" y="3851821"/>
            <a:ext cx="3365087" cy="333375"/>
          </a:xfrm>
          <a:prstGeom prst="rect">
            <a:avLst/>
          </a:prstGeom>
          <a:noFill/>
          <a:ln/>
        </p:spPr>
        <p:txBody>
          <a:bodyPr wrap="square" lIns="25400" tIns="25400" rIns="25400" bIns="25400" rtlCol="0" anchor="t">
            <a:normAutofit fontScale="77500" lnSpcReduction="20000"/>
          </a:bodyPr>
          <a:lstStyle/>
          <a:p>
            <a:pPr marL="0" indent="0" algn="l">
              <a:buNone/>
            </a:pPr>
            <a:r>
              <a:rPr lang="en-US" sz="1800" kern="0" spc="324" dirty="0">
                <a:solidFill>
                  <a:srgbClr val="3FE0D0"/>
                </a:solidFill>
                <a:latin typeface="JetBrains Mono" pitchFamily="34" charset="0"/>
                <a:ea typeface="JetBrains Mono" pitchFamily="34" charset="-122"/>
                <a:cs typeface="JetBrains Mono" pitchFamily="34" charset="-120"/>
              </a:rPr>
              <a:t>01 / SUBAGENTS &amp; HOOKS</a:t>
            </a:r>
            <a:endParaRPr lang="en-US" sz="1800" dirty="0"/>
          </a:p>
        </p:txBody>
      </p:sp>
      <p:sp>
        <p:nvSpPr>
          <p:cNvPr id="7" name="Text 5"/>
          <p:cNvSpPr/>
          <p:nvPr/>
        </p:nvSpPr>
        <p:spPr>
          <a:xfrm>
            <a:off x="1266825" y="4337596"/>
            <a:ext cx="3365087" cy="4572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300" b="1" kern="0" spc="-33" dirty="0">
                <a:solidFill>
                  <a:srgbClr val="2A2D38"/>
                </a:solidFill>
                <a:latin typeface="Montserrat" pitchFamily="34" charset="0"/>
                <a:ea typeface="Montserrat" pitchFamily="34" charset="-122"/>
                <a:cs typeface="Montserrat" pitchFamily="34" charset="-120"/>
              </a:rPr>
              <a:t>Skim only.</a:t>
            </a:r>
            <a:endParaRPr lang="en-US" sz="3300" dirty="0"/>
          </a:p>
        </p:txBody>
      </p:sp>
      <p:sp>
        <p:nvSpPr>
          <p:cNvPr id="8" name="Text 6"/>
          <p:cNvSpPr/>
          <p:nvPr/>
        </p:nvSpPr>
        <p:spPr>
          <a:xfrm>
            <a:off x="1266825" y="4947196"/>
            <a:ext cx="3365087" cy="1752600"/>
          </a:xfrm>
          <a:prstGeom prst="rect">
            <a:avLst/>
          </a:prstGeom>
          <a:noFill/>
          <a:ln/>
        </p:spPr>
        <p:txBody>
          <a:bodyPr wrap="square" lIns="25400" tIns="25400" rIns="25400" bIns="25400" rtlCol="0" anchor="t">
            <a:normAutofit fontScale="92500" lnSpcReduction="20000"/>
          </a:bodyPr>
          <a:lstStyle/>
          <a:p>
            <a:pPr marL="0" indent="0" algn="l">
              <a:lnSpc>
                <a:spcPct val="150000"/>
              </a:lnSpc>
              <a:buNone/>
            </a:pPr>
            <a:r>
              <a:rPr lang="en-US" sz="1800" dirty="0">
                <a:solidFill>
                  <a:srgbClr val="3D404A"/>
                </a:solidFill>
                <a:latin typeface="Inter" pitchFamily="34" charset="0"/>
                <a:ea typeface="Inter" pitchFamily="34" charset="-122"/>
                <a:cs typeface="Inter" pitchFamily="34" charset="-120"/>
              </a:rPr>
              <a:t>Spawning specialized subagents in parallel. Wiring hooks that fire on tool calls. Powerful — but a rabbit hole that eats a workshop.</a:t>
            </a:r>
            <a:endParaRPr lang="en-US" sz="1800" dirty="0"/>
          </a:p>
        </p:txBody>
      </p:sp>
      <p:sp>
        <p:nvSpPr>
          <p:cNvPr id="9" name="Shape 7"/>
          <p:cNvSpPr/>
          <p:nvPr/>
        </p:nvSpPr>
        <p:spPr>
          <a:xfrm>
            <a:off x="1266825" y="7271296"/>
            <a:ext cx="3267075" cy="9525"/>
          </a:xfrm>
          <a:prstGeom prst="rect">
            <a:avLst/>
          </a:prstGeom>
          <a:solidFill>
            <a:srgbClr val="C9CBD1"/>
          </a:solidFill>
          <a:ln/>
        </p:spPr>
        <p:txBody>
          <a:bodyPr/>
          <a:lstStyle/>
          <a:p>
            <a:endParaRPr lang="en-US"/>
          </a:p>
        </p:txBody>
      </p:sp>
      <p:sp>
        <p:nvSpPr>
          <p:cNvPr id="10" name="Text 8"/>
          <p:cNvSpPr/>
          <p:nvPr/>
        </p:nvSpPr>
        <p:spPr>
          <a:xfrm>
            <a:off x="1266825" y="7509421"/>
            <a:ext cx="3365087" cy="1752600"/>
          </a:xfrm>
          <a:prstGeom prst="rect">
            <a:avLst/>
          </a:prstGeom>
          <a:noFill/>
          <a:ln/>
        </p:spPr>
        <p:txBody>
          <a:bodyPr wrap="square" lIns="25400" tIns="25400" rIns="25400" bIns="25400" rtlCol="0" anchor="t">
            <a:normAutofit/>
          </a:bodyPr>
          <a:lstStyle/>
          <a:p>
            <a:pPr marL="0" indent="0" algn="l">
              <a:lnSpc>
                <a:spcPct val="150000"/>
              </a:lnSpc>
              <a:buNone/>
            </a:pPr>
            <a:r>
              <a:rPr lang="en-US" sz="1800" b="1" dirty="0">
                <a:solidFill>
                  <a:srgbClr val="6B6E78"/>
                </a:solidFill>
                <a:latin typeface="JetBrains Mono" pitchFamily="34" charset="0"/>
                <a:ea typeface="JetBrains Mono" pitchFamily="34" charset="-122"/>
                <a:cs typeface="JetBrains Mono" pitchFamily="34" charset="-120"/>
              </a:rPr>
              <a:t>Why later: get fluent with one agent before you orchestrate ten.</a:t>
            </a:r>
            <a:endParaRPr lang="en-US" sz="1800" dirty="0"/>
          </a:p>
        </p:txBody>
      </p:sp>
      <p:sp>
        <p:nvSpPr>
          <p:cNvPr id="11" name="Shape 9"/>
          <p:cNvSpPr/>
          <p:nvPr/>
        </p:nvSpPr>
        <p:spPr>
          <a:xfrm>
            <a:off x="5114925" y="3499396"/>
            <a:ext cx="3895725" cy="6305550"/>
          </a:xfrm>
          <a:prstGeom prst="roundRect">
            <a:avLst>
              <a:gd name="adj" fmla="val 3912"/>
            </a:avLst>
          </a:prstGeom>
          <a:solidFill>
            <a:srgbClr val="F7F5F1"/>
          </a:solidFill>
          <a:ln w="9525">
            <a:solidFill>
              <a:srgbClr val="E5E5E7"/>
            </a:solidFill>
            <a:prstDash val="solid"/>
          </a:ln>
        </p:spPr>
        <p:txBody>
          <a:bodyPr/>
          <a:lstStyle/>
          <a:p>
            <a:endParaRPr lang="en-US"/>
          </a:p>
        </p:txBody>
      </p:sp>
      <p:sp>
        <p:nvSpPr>
          <p:cNvPr id="12" name="Text 10"/>
          <p:cNvSpPr/>
          <p:nvPr/>
        </p:nvSpPr>
        <p:spPr>
          <a:xfrm>
            <a:off x="5429250" y="3851821"/>
            <a:ext cx="3365087" cy="333375"/>
          </a:xfrm>
          <a:prstGeom prst="rect">
            <a:avLst/>
          </a:prstGeom>
          <a:noFill/>
          <a:ln/>
        </p:spPr>
        <p:txBody>
          <a:bodyPr wrap="square" lIns="25400" tIns="25400" rIns="25400" bIns="25400" rtlCol="0" anchor="t">
            <a:normAutofit fontScale="77500" lnSpcReduction="20000"/>
          </a:bodyPr>
          <a:lstStyle/>
          <a:p>
            <a:pPr marL="0" indent="0" algn="l">
              <a:buNone/>
            </a:pPr>
            <a:r>
              <a:rPr lang="en-US" sz="1800" kern="0" spc="324" dirty="0">
                <a:solidFill>
                  <a:srgbClr val="3FE0D0"/>
                </a:solidFill>
                <a:latin typeface="JetBrains Mono" pitchFamily="34" charset="0"/>
                <a:ea typeface="JetBrains Mono" pitchFamily="34" charset="-122"/>
                <a:cs typeface="JetBrains Mono" pitchFamily="34" charset="-120"/>
              </a:rPr>
              <a:t>02 / MCPs &amp; CONNECTORS</a:t>
            </a:r>
            <a:endParaRPr lang="en-US" sz="1800" dirty="0"/>
          </a:p>
        </p:txBody>
      </p:sp>
      <p:sp>
        <p:nvSpPr>
          <p:cNvPr id="13" name="Text 11"/>
          <p:cNvSpPr/>
          <p:nvPr/>
        </p:nvSpPr>
        <p:spPr>
          <a:xfrm>
            <a:off x="5429250" y="4337596"/>
            <a:ext cx="3365087" cy="4572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300" b="1" kern="0" spc="-33" dirty="0">
                <a:solidFill>
                  <a:srgbClr val="2A2D38"/>
                </a:solidFill>
                <a:latin typeface="Montserrat" pitchFamily="34" charset="0"/>
                <a:ea typeface="Montserrat" pitchFamily="34" charset="-122"/>
                <a:cs typeface="Montserrat" pitchFamily="34" charset="-120"/>
              </a:rPr>
              <a:t>We may graze.</a:t>
            </a:r>
            <a:endParaRPr lang="en-US" sz="3300" dirty="0"/>
          </a:p>
        </p:txBody>
      </p:sp>
      <p:sp>
        <p:nvSpPr>
          <p:cNvPr id="14" name="Text 12"/>
          <p:cNvSpPr/>
          <p:nvPr/>
        </p:nvSpPr>
        <p:spPr>
          <a:xfrm>
            <a:off x="5429250" y="4947196"/>
            <a:ext cx="3365087" cy="1752600"/>
          </a:xfrm>
          <a:prstGeom prst="rect">
            <a:avLst/>
          </a:prstGeom>
          <a:noFill/>
          <a:ln/>
        </p:spPr>
        <p:txBody>
          <a:bodyPr wrap="square" lIns="25400" tIns="25400" rIns="25400" bIns="25400" rtlCol="0" anchor="t">
            <a:normAutofit fontScale="92500" lnSpcReduction="20000"/>
          </a:bodyPr>
          <a:lstStyle/>
          <a:p>
            <a:pPr marL="0" indent="0" algn="l">
              <a:lnSpc>
                <a:spcPct val="150000"/>
              </a:lnSpc>
              <a:buNone/>
            </a:pPr>
            <a:r>
              <a:rPr lang="en-US" sz="1800" dirty="0">
                <a:solidFill>
                  <a:srgbClr val="3D404A"/>
                </a:solidFill>
                <a:latin typeface="Inter" pitchFamily="34" charset="0"/>
                <a:ea typeface="Inter" pitchFamily="34" charset="-122"/>
                <a:cs typeface="Inter" pitchFamily="34" charset="-120"/>
              </a:rPr>
              <a:t>Plugging Claude into Slack, Asana, your church database, your CMS. Useful, expanding fast — but the registry shifts week to week.</a:t>
            </a:r>
            <a:endParaRPr lang="en-US" sz="1800" dirty="0"/>
          </a:p>
        </p:txBody>
      </p:sp>
      <p:sp>
        <p:nvSpPr>
          <p:cNvPr id="15" name="Shape 13"/>
          <p:cNvSpPr/>
          <p:nvPr/>
        </p:nvSpPr>
        <p:spPr>
          <a:xfrm>
            <a:off x="5429250" y="7271296"/>
            <a:ext cx="3267075" cy="9525"/>
          </a:xfrm>
          <a:prstGeom prst="rect">
            <a:avLst/>
          </a:prstGeom>
          <a:solidFill>
            <a:srgbClr val="C9CBD1"/>
          </a:solidFill>
          <a:ln/>
        </p:spPr>
        <p:txBody>
          <a:bodyPr/>
          <a:lstStyle/>
          <a:p>
            <a:endParaRPr lang="en-US"/>
          </a:p>
        </p:txBody>
      </p:sp>
      <p:sp>
        <p:nvSpPr>
          <p:cNvPr id="16" name="Text 14"/>
          <p:cNvSpPr/>
          <p:nvPr/>
        </p:nvSpPr>
        <p:spPr>
          <a:xfrm>
            <a:off x="5429250" y="7509421"/>
            <a:ext cx="3365087" cy="1752600"/>
          </a:xfrm>
          <a:prstGeom prst="rect">
            <a:avLst/>
          </a:prstGeom>
          <a:noFill/>
          <a:ln/>
        </p:spPr>
        <p:txBody>
          <a:bodyPr wrap="square" lIns="25400" tIns="25400" rIns="25400" bIns="25400" rtlCol="0" anchor="t">
            <a:normAutofit/>
          </a:bodyPr>
          <a:lstStyle/>
          <a:p>
            <a:pPr marL="0" indent="0" algn="l">
              <a:lnSpc>
                <a:spcPct val="150000"/>
              </a:lnSpc>
              <a:buNone/>
            </a:pPr>
            <a:r>
              <a:rPr lang="en-US" sz="1800" b="1" dirty="0">
                <a:solidFill>
                  <a:srgbClr val="6B6E78"/>
                </a:solidFill>
                <a:latin typeface="JetBrains Mono" pitchFamily="34" charset="0"/>
                <a:ea typeface="JetBrains Mono" pitchFamily="34" charset="-122"/>
                <a:cs typeface="JetBrains Mono" pitchFamily="34" charset="-120"/>
              </a:rPr>
              <a:t>Why later: today's hot connector is next month's footnote. Foundations first.</a:t>
            </a:r>
            <a:endParaRPr lang="en-US" sz="1800" dirty="0"/>
          </a:p>
        </p:txBody>
      </p:sp>
      <p:sp>
        <p:nvSpPr>
          <p:cNvPr id="17" name="Shape 15"/>
          <p:cNvSpPr/>
          <p:nvPr/>
        </p:nvSpPr>
        <p:spPr>
          <a:xfrm>
            <a:off x="9277350" y="3499396"/>
            <a:ext cx="3895725" cy="6305550"/>
          </a:xfrm>
          <a:prstGeom prst="roundRect">
            <a:avLst>
              <a:gd name="adj" fmla="val 3912"/>
            </a:avLst>
          </a:prstGeom>
          <a:solidFill>
            <a:srgbClr val="F7F5F1"/>
          </a:solidFill>
          <a:ln w="9525">
            <a:solidFill>
              <a:srgbClr val="E5E5E7"/>
            </a:solidFill>
            <a:prstDash val="solid"/>
          </a:ln>
        </p:spPr>
        <p:txBody>
          <a:bodyPr/>
          <a:lstStyle/>
          <a:p>
            <a:endParaRPr lang="en-US"/>
          </a:p>
        </p:txBody>
      </p:sp>
      <p:sp>
        <p:nvSpPr>
          <p:cNvPr id="18" name="Text 16"/>
          <p:cNvSpPr/>
          <p:nvPr/>
        </p:nvSpPr>
        <p:spPr>
          <a:xfrm>
            <a:off x="9591675" y="3851821"/>
            <a:ext cx="3365087" cy="333375"/>
          </a:xfrm>
          <a:prstGeom prst="rect">
            <a:avLst/>
          </a:prstGeom>
          <a:noFill/>
          <a:ln/>
        </p:spPr>
        <p:txBody>
          <a:bodyPr wrap="square" lIns="25400" tIns="25400" rIns="25400" bIns="25400" rtlCol="0" anchor="t">
            <a:normAutofit/>
          </a:bodyPr>
          <a:lstStyle/>
          <a:p>
            <a:pPr marL="0" indent="0" algn="l">
              <a:buNone/>
            </a:pPr>
            <a:r>
              <a:rPr lang="en-US" sz="1800" kern="0" spc="324" dirty="0">
                <a:solidFill>
                  <a:srgbClr val="3FE0D0"/>
                </a:solidFill>
                <a:latin typeface="JetBrains Mono" pitchFamily="34" charset="0"/>
                <a:ea typeface="JetBrains Mono" pitchFamily="34" charset="-122"/>
                <a:cs typeface="JetBrains Mono" pitchFamily="34" charset="-120"/>
              </a:rPr>
              <a:t>03 / CUSTOM SKILLS</a:t>
            </a:r>
            <a:endParaRPr lang="en-US" sz="1800" dirty="0"/>
          </a:p>
        </p:txBody>
      </p:sp>
      <p:sp>
        <p:nvSpPr>
          <p:cNvPr id="19" name="Text 17"/>
          <p:cNvSpPr/>
          <p:nvPr/>
        </p:nvSpPr>
        <p:spPr>
          <a:xfrm>
            <a:off x="9591675" y="4337596"/>
            <a:ext cx="3365087" cy="4572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300" b="1" kern="0" spc="-33" dirty="0">
                <a:solidFill>
                  <a:srgbClr val="2A2D38"/>
                </a:solidFill>
                <a:latin typeface="Montserrat" pitchFamily="34" charset="0"/>
                <a:ea typeface="Montserrat" pitchFamily="34" charset="-122"/>
                <a:cs typeface="Montserrat" pitchFamily="34" charset="-120"/>
              </a:rPr>
              <a:t>We may graze.</a:t>
            </a:r>
            <a:endParaRPr lang="en-US" sz="3300" dirty="0"/>
          </a:p>
        </p:txBody>
      </p:sp>
      <p:sp>
        <p:nvSpPr>
          <p:cNvPr id="20" name="Text 18"/>
          <p:cNvSpPr/>
          <p:nvPr/>
        </p:nvSpPr>
        <p:spPr>
          <a:xfrm>
            <a:off x="9591675" y="4947196"/>
            <a:ext cx="3365087" cy="1752600"/>
          </a:xfrm>
          <a:prstGeom prst="rect">
            <a:avLst/>
          </a:prstGeom>
          <a:noFill/>
          <a:ln/>
        </p:spPr>
        <p:txBody>
          <a:bodyPr wrap="square" lIns="25400" tIns="25400" rIns="25400" bIns="25400" rtlCol="0" anchor="t">
            <a:normAutofit fontScale="92500" lnSpcReduction="20000"/>
          </a:bodyPr>
          <a:lstStyle/>
          <a:p>
            <a:pPr marL="0" indent="0" algn="l">
              <a:lnSpc>
                <a:spcPct val="150000"/>
              </a:lnSpc>
              <a:buNone/>
            </a:pPr>
            <a:r>
              <a:rPr lang="en-US" sz="1800" dirty="0">
                <a:solidFill>
                  <a:srgbClr val="3D404A"/>
                </a:solidFill>
                <a:latin typeface="Inter" pitchFamily="34" charset="0"/>
                <a:ea typeface="Inter" pitchFamily="34" charset="-122"/>
                <a:cs typeface="Inter" pitchFamily="34" charset="-120"/>
              </a:rPr>
              <a:t>Authoring your own SKILL.md files so Claude reaches for them automatically. We'll point at the door — we won't build one from scratch on stage.</a:t>
            </a:r>
            <a:endParaRPr lang="en-US" sz="1800" dirty="0"/>
          </a:p>
        </p:txBody>
      </p:sp>
      <p:sp>
        <p:nvSpPr>
          <p:cNvPr id="21" name="Shape 19"/>
          <p:cNvSpPr/>
          <p:nvPr/>
        </p:nvSpPr>
        <p:spPr>
          <a:xfrm>
            <a:off x="9591675" y="7271296"/>
            <a:ext cx="3267075" cy="9525"/>
          </a:xfrm>
          <a:prstGeom prst="rect">
            <a:avLst/>
          </a:prstGeom>
          <a:solidFill>
            <a:srgbClr val="C9CBD1"/>
          </a:solidFill>
          <a:ln/>
        </p:spPr>
        <p:txBody>
          <a:bodyPr/>
          <a:lstStyle/>
          <a:p>
            <a:endParaRPr lang="en-US"/>
          </a:p>
        </p:txBody>
      </p:sp>
      <p:sp>
        <p:nvSpPr>
          <p:cNvPr id="22" name="Text 20"/>
          <p:cNvSpPr/>
          <p:nvPr/>
        </p:nvSpPr>
        <p:spPr>
          <a:xfrm>
            <a:off x="9591675" y="7509421"/>
            <a:ext cx="3365087" cy="1752600"/>
          </a:xfrm>
          <a:prstGeom prst="rect">
            <a:avLst/>
          </a:prstGeom>
          <a:noFill/>
          <a:ln/>
        </p:spPr>
        <p:txBody>
          <a:bodyPr wrap="square" lIns="25400" tIns="25400" rIns="25400" bIns="25400" rtlCol="0" anchor="t">
            <a:normAutofit/>
          </a:bodyPr>
          <a:lstStyle/>
          <a:p>
            <a:pPr marL="0" indent="0" algn="l">
              <a:lnSpc>
                <a:spcPct val="150000"/>
              </a:lnSpc>
              <a:buNone/>
            </a:pPr>
            <a:r>
              <a:rPr lang="en-US" sz="1800" b="1" dirty="0">
                <a:solidFill>
                  <a:srgbClr val="6B6E78"/>
                </a:solidFill>
                <a:latin typeface="JetBrains Mono" pitchFamily="34" charset="0"/>
                <a:ea typeface="JetBrains Mono" pitchFamily="34" charset="-122"/>
                <a:cs typeface="JetBrains Mono" pitchFamily="34" charset="-120"/>
              </a:rPr>
              <a:t>Why later: write a CLAUDE.md you trust before you write a skill.</a:t>
            </a:r>
            <a:endParaRPr lang="en-US" sz="1800" dirty="0"/>
          </a:p>
        </p:txBody>
      </p:sp>
      <p:sp>
        <p:nvSpPr>
          <p:cNvPr id="23" name="Shape 21"/>
          <p:cNvSpPr/>
          <p:nvPr/>
        </p:nvSpPr>
        <p:spPr>
          <a:xfrm>
            <a:off x="13439775" y="3499396"/>
            <a:ext cx="3895725" cy="6305550"/>
          </a:xfrm>
          <a:prstGeom prst="roundRect">
            <a:avLst>
              <a:gd name="adj" fmla="val 3912"/>
            </a:avLst>
          </a:prstGeom>
          <a:solidFill>
            <a:srgbClr val="F7F5F1"/>
          </a:solidFill>
          <a:ln w="9525">
            <a:solidFill>
              <a:srgbClr val="E5E5E7"/>
            </a:solidFill>
            <a:prstDash val="solid"/>
          </a:ln>
        </p:spPr>
        <p:txBody>
          <a:bodyPr/>
          <a:lstStyle/>
          <a:p>
            <a:endParaRPr lang="en-US"/>
          </a:p>
        </p:txBody>
      </p:sp>
      <p:sp>
        <p:nvSpPr>
          <p:cNvPr id="24" name="Text 22"/>
          <p:cNvSpPr/>
          <p:nvPr/>
        </p:nvSpPr>
        <p:spPr>
          <a:xfrm>
            <a:off x="13754100" y="3851821"/>
            <a:ext cx="3365087" cy="333375"/>
          </a:xfrm>
          <a:prstGeom prst="rect">
            <a:avLst/>
          </a:prstGeom>
          <a:noFill/>
          <a:ln/>
        </p:spPr>
        <p:txBody>
          <a:bodyPr wrap="square" lIns="25400" tIns="25400" rIns="25400" bIns="25400" rtlCol="0" anchor="t">
            <a:normAutofit fontScale="62500" lnSpcReduction="20000"/>
          </a:bodyPr>
          <a:lstStyle/>
          <a:p>
            <a:pPr marL="0" indent="0" algn="l">
              <a:buNone/>
            </a:pPr>
            <a:r>
              <a:rPr lang="en-US" sz="1800" kern="0" spc="324" dirty="0">
                <a:solidFill>
                  <a:srgbClr val="3FE0D0"/>
                </a:solidFill>
                <a:latin typeface="JetBrains Mono" pitchFamily="34" charset="0"/>
                <a:ea typeface="JetBrains Mono" pitchFamily="34" charset="-122"/>
                <a:cs typeface="JetBrains Mono" pitchFamily="34" charset="-120"/>
              </a:rPr>
              <a:t>04 / PLUGINS &amp; AGENT SDK</a:t>
            </a:r>
            <a:endParaRPr lang="en-US" sz="1800" dirty="0"/>
          </a:p>
        </p:txBody>
      </p:sp>
      <p:sp>
        <p:nvSpPr>
          <p:cNvPr id="25" name="Text 23"/>
          <p:cNvSpPr/>
          <p:nvPr/>
        </p:nvSpPr>
        <p:spPr>
          <a:xfrm>
            <a:off x="13754100" y="4337596"/>
            <a:ext cx="3365087" cy="4572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300" b="1" kern="0" spc="-33" dirty="0">
                <a:solidFill>
                  <a:srgbClr val="2A2D38"/>
                </a:solidFill>
                <a:latin typeface="Montserrat" pitchFamily="34" charset="0"/>
                <a:ea typeface="Montserrat" pitchFamily="34" charset="-122"/>
                <a:cs typeface="Montserrat" pitchFamily="34" charset="-120"/>
              </a:rPr>
              <a:t>Not today.</a:t>
            </a:r>
            <a:endParaRPr lang="en-US" sz="3300" dirty="0"/>
          </a:p>
        </p:txBody>
      </p:sp>
      <p:sp>
        <p:nvSpPr>
          <p:cNvPr id="26" name="Text 24"/>
          <p:cNvSpPr/>
          <p:nvPr/>
        </p:nvSpPr>
        <p:spPr>
          <a:xfrm>
            <a:off x="13754100" y="4947196"/>
            <a:ext cx="3365087" cy="1752600"/>
          </a:xfrm>
          <a:prstGeom prst="rect">
            <a:avLst/>
          </a:prstGeom>
          <a:noFill/>
          <a:ln/>
        </p:spPr>
        <p:txBody>
          <a:bodyPr wrap="square" lIns="25400" tIns="25400" rIns="25400" bIns="25400" rtlCol="0" anchor="t">
            <a:normAutofit fontScale="92500" lnSpcReduction="20000"/>
          </a:bodyPr>
          <a:lstStyle/>
          <a:p>
            <a:pPr marL="0" indent="0" algn="l">
              <a:lnSpc>
                <a:spcPct val="150000"/>
              </a:lnSpc>
              <a:buNone/>
            </a:pPr>
            <a:r>
              <a:rPr lang="en-US" sz="1800" dirty="0">
                <a:solidFill>
                  <a:srgbClr val="3D404A"/>
                </a:solidFill>
                <a:latin typeface="Inter" pitchFamily="34" charset="0"/>
                <a:ea typeface="Inter" pitchFamily="34" charset="-122"/>
                <a:cs typeface="Inter" pitchFamily="34" charset="-120"/>
              </a:rPr>
              <a:t>Building plugin marketplaces. Shipping autonomous agents on the Agent SDK. Real territory — but a different workshop, on a different day.</a:t>
            </a:r>
            <a:endParaRPr lang="en-US" sz="1800" dirty="0"/>
          </a:p>
        </p:txBody>
      </p:sp>
      <p:sp>
        <p:nvSpPr>
          <p:cNvPr id="27" name="Shape 25"/>
          <p:cNvSpPr/>
          <p:nvPr/>
        </p:nvSpPr>
        <p:spPr>
          <a:xfrm>
            <a:off x="13754100" y="7271296"/>
            <a:ext cx="3267075" cy="9525"/>
          </a:xfrm>
          <a:prstGeom prst="rect">
            <a:avLst/>
          </a:prstGeom>
          <a:solidFill>
            <a:srgbClr val="C9CBD1"/>
          </a:solidFill>
          <a:ln/>
        </p:spPr>
        <p:txBody>
          <a:bodyPr/>
          <a:lstStyle/>
          <a:p>
            <a:endParaRPr lang="en-US"/>
          </a:p>
        </p:txBody>
      </p:sp>
      <p:sp>
        <p:nvSpPr>
          <p:cNvPr id="28" name="Text 26"/>
          <p:cNvSpPr/>
          <p:nvPr/>
        </p:nvSpPr>
        <p:spPr>
          <a:xfrm>
            <a:off x="13754100" y="7509421"/>
            <a:ext cx="3365087" cy="1752600"/>
          </a:xfrm>
          <a:prstGeom prst="rect">
            <a:avLst/>
          </a:prstGeom>
          <a:noFill/>
          <a:ln/>
        </p:spPr>
        <p:txBody>
          <a:bodyPr wrap="square" lIns="25400" tIns="25400" rIns="25400" bIns="25400" rtlCol="0" anchor="t">
            <a:normAutofit/>
          </a:bodyPr>
          <a:lstStyle/>
          <a:p>
            <a:pPr marL="0" indent="0" algn="l">
              <a:lnSpc>
                <a:spcPct val="150000"/>
              </a:lnSpc>
              <a:buNone/>
            </a:pPr>
            <a:r>
              <a:rPr lang="en-US" sz="1800" b="1" dirty="0">
                <a:solidFill>
                  <a:srgbClr val="6B6E78"/>
                </a:solidFill>
                <a:latin typeface="JetBrains Mono" pitchFamily="34" charset="0"/>
                <a:ea typeface="JetBrains Mono" pitchFamily="34" charset="-122"/>
                <a:cs typeface="JetBrains Mono" pitchFamily="34" charset="-120"/>
              </a:rPr>
              <a:t>Why later: ship one feature with one Claude before you ship a fleet of them.</a:t>
            </a:r>
            <a:endParaRPr lang="en-US" sz="18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ckground"/>
          <p:cNvSpPr/>
          <p:nvPr/>
        </p:nvSpPr>
        <p:spPr>
          <a:xfrm>
            <a:off x="0" y="0"/>
            <a:ext cx="18288000" cy="10287000"/>
          </a:xfrm>
          <a:prstGeom prst="rect">
            <a:avLst/>
          </a:prstGeom>
          <a:solidFill>
            <a:srgbClr val="1B1D24"/>
          </a:solidFill>
          <a:ln/>
        </p:spPr>
        <p:txBody>
          <a:bodyPr/>
          <a:lstStyle/>
          <a:p>
            <a:endParaRPr lang="en-US"/>
          </a:p>
        </p:txBody>
      </p:sp>
      <p:sp>
        <p:nvSpPr>
          <p:cNvPr id="3" name="Eyebrow"/>
          <p:cNvSpPr/>
          <p:nvPr/>
        </p:nvSpPr>
        <p:spPr>
          <a:xfrm>
            <a:off x="952500" y="838200"/>
            <a:ext cx="16383000" cy="400050"/>
          </a:xfrm>
          <a:prstGeom prst="rect">
            <a:avLst/>
          </a:prstGeom>
          <a:noFill/>
          <a:ln/>
        </p:spPr>
        <p:txBody>
          <a:bodyPr wrap="square" lIns="25400" tIns="25400" rIns="25400" bIns="25400" rtlCol="0" anchor="t">
            <a:normAutofit/>
          </a:bodyPr>
          <a:lstStyle/>
          <a:p>
            <a:pPr marL="0" indent="0" algn="l">
              <a:buNone/>
            </a:pPr>
            <a:r>
              <a:rPr lang="en-US" sz="2100" kern="0" spc="840" dirty="0">
                <a:solidFill>
                  <a:srgbClr val="3FE0D0"/>
                </a:solidFill>
                <a:latin typeface="JetBrains Mono" pitchFamily="34" charset="0"/>
                <a:ea typeface="JetBrains Mono" pitchFamily="34" charset="-122"/>
                <a:cs typeface="JetBrains Mono" pitchFamily="34" charset="-120"/>
              </a:rPr>
              <a:t>DON'T LEAVE WITHOUT ONE</a:t>
            </a:r>
            <a:endParaRPr lang="en-US" sz="2100" dirty="0"/>
          </a:p>
        </p:txBody>
      </p:sp>
      <p:sp>
        <p:nvSpPr>
          <p:cNvPr id="4" name="Title"/>
          <p:cNvSpPr/>
          <p:nvPr/>
        </p:nvSpPr>
        <p:spPr>
          <a:xfrm>
            <a:off x="952500" y="1390650"/>
            <a:ext cx="16383000" cy="1490475"/>
          </a:xfrm>
          <a:prstGeom prst="rect">
            <a:avLst/>
          </a:prstGeom>
          <a:noFill/>
          <a:ln/>
        </p:spPr>
        <p:txBody>
          <a:bodyPr wrap="square" lIns="25400" tIns="25400" rIns="25400" bIns="25400" rtlCol="0" anchor="t">
            <a:normAutofit/>
          </a:bodyPr>
          <a:lstStyle/>
          <a:p>
            <a:pPr marL="0" indent="0" algn="l">
              <a:lnSpc>
                <a:spcPct val="100000"/>
              </a:lnSpc>
              <a:buNone/>
            </a:pPr>
            <a:r>
              <a:rPr lang="en-US" sz="7800" b="1" kern="0" spc="-200" dirty="0">
                <a:solidFill>
                  <a:srgbClr val="FFFFFF"/>
                </a:solidFill>
                <a:latin typeface="Montserrat" pitchFamily="34" charset="0"/>
                <a:ea typeface="Montserrat" pitchFamily="34" charset="-122"/>
                <a:cs typeface="Montserrat" pitchFamily="34" charset="-120"/>
              </a:rPr>
              <a:t>Everyone needs an AI Buddy.</a:t>
            </a:r>
            <a:endParaRPr lang="en-US" sz="7800" dirty="0"/>
          </a:p>
        </p:txBody>
      </p:sp>
      <p:sp>
        <p:nvSpPr>
          <p:cNvPr id="5" name="Subtitle"/>
          <p:cNvSpPr/>
          <p:nvPr/>
        </p:nvSpPr>
        <p:spPr>
          <a:xfrm>
            <a:off x="952500" y="3000375"/>
            <a:ext cx="14287500" cy="685800"/>
          </a:xfrm>
          <a:prstGeom prst="rect">
            <a:avLst/>
          </a:prstGeom>
          <a:noFill/>
          <a:ln/>
        </p:spPr>
        <p:txBody>
          <a:bodyPr wrap="square" lIns="25400" tIns="25400" rIns="25400" bIns="25400" rtlCol="0" anchor="t">
            <a:normAutofit fontScale="77500" lnSpcReduction="20000"/>
          </a:bodyPr>
          <a:lstStyle/>
          <a:p>
            <a:pPr marL="0" indent="0" algn="l">
              <a:lnSpc>
                <a:spcPct val="140000"/>
              </a:lnSpc>
              <a:buNone/>
            </a:pPr>
            <a:r>
              <a:rPr lang="en-US" sz="2400" dirty="0">
                <a:solidFill>
                  <a:srgbClr val="C9CBD1"/>
                </a:solidFill>
                <a:latin typeface="Inter" pitchFamily="34" charset="0"/>
                <a:ea typeface="Inter" pitchFamily="34" charset="-122"/>
                <a:cs typeface="Inter" pitchFamily="34" charset="-120"/>
              </a:rPr>
              <a:t>You're surrounded by people doing the same thing. Use the time. Don't leave this event without your very own AI Buddy.</a:t>
            </a:r>
            <a:endParaRPr lang="en-US" sz="2400" dirty="0"/>
          </a:p>
        </p:txBody>
      </p:sp>
      <p:sp>
        <p:nvSpPr>
          <p:cNvPr id="6" name="Card Paul"/>
          <p:cNvSpPr/>
          <p:nvPr/>
        </p:nvSpPr>
        <p:spPr>
          <a:xfrm>
            <a:off x="952500" y="4076700"/>
            <a:ext cx="7900000" cy="5067300"/>
          </a:xfrm>
          <a:prstGeom prst="roundRect">
            <a:avLst>
              <a:gd name="adj" fmla="val 3912"/>
            </a:avLst>
          </a:prstGeom>
          <a:solidFill>
            <a:srgbClr val="F7F5F1"/>
          </a:solidFill>
          <a:ln w="9525">
            <a:solidFill>
              <a:srgbClr val="2D2F37"/>
            </a:solidFill>
            <a:prstDash val="solid"/>
          </a:ln>
        </p:spPr>
        <p:txBody>
          <a:bodyPr/>
          <a:lstStyle/>
          <a:p>
            <a:endParaRPr lang="en-US"/>
          </a:p>
        </p:txBody>
      </p:sp>
      <p:sp>
        <p:nvSpPr>
          <p:cNvPr id="7" name="Paul Tag"/>
          <p:cNvSpPr/>
          <p:nvPr/>
        </p:nvSpPr>
        <p:spPr>
          <a:xfrm>
            <a:off x="1352550" y="4429125"/>
            <a:ext cx="7099900" cy="333375"/>
          </a:xfrm>
          <a:prstGeom prst="rect">
            <a:avLst/>
          </a:prstGeom>
          <a:noFill/>
          <a:ln/>
        </p:spPr>
        <p:txBody>
          <a:bodyPr wrap="square" lIns="25400" tIns="25400" rIns="25400" bIns="25400" rtlCol="0" anchor="t">
            <a:normAutofit/>
          </a:bodyPr>
          <a:lstStyle/>
          <a:p>
            <a:pPr marL="0" indent="0" algn="l">
              <a:buNone/>
            </a:pPr>
            <a:r>
              <a:rPr lang="en-US" sz="1800" kern="0" spc="324" dirty="0">
                <a:solidFill>
                  <a:srgbClr val="F58220"/>
                </a:solidFill>
                <a:latin typeface="JetBrains Mono" pitchFamily="34" charset="0"/>
                <a:ea typeface="JetBrains Mono" pitchFamily="34" charset="-122"/>
                <a:cs typeface="JetBrains Mono" pitchFamily="34" charset="-120"/>
              </a:rPr>
              <a:t>BE AN AI PAUL · THE MENTOR</a:t>
            </a:r>
            <a:endParaRPr lang="en-US" sz="1800" dirty="0"/>
          </a:p>
        </p:txBody>
      </p:sp>
      <p:sp>
        <p:nvSpPr>
          <p:cNvPr id="8" name="Paul Headline"/>
          <p:cNvSpPr/>
          <p:nvPr/>
        </p:nvSpPr>
        <p:spPr>
          <a:xfrm>
            <a:off x="1352550" y="4914900"/>
            <a:ext cx="7099900" cy="800100"/>
          </a:xfrm>
          <a:prstGeom prst="rect">
            <a:avLst/>
          </a:prstGeom>
          <a:noFill/>
          <a:ln/>
        </p:spPr>
        <p:txBody>
          <a:bodyPr wrap="square" lIns="25400" tIns="25400" rIns="25400" bIns="25400" rtlCol="0" anchor="t">
            <a:normAutofit/>
          </a:bodyPr>
          <a:lstStyle/>
          <a:p>
            <a:pPr marL="0" indent="0" algn="l">
              <a:lnSpc>
                <a:spcPct val="100000"/>
              </a:lnSpc>
              <a:buNone/>
            </a:pPr>
            <a:r>
              <a:rPr lang="en-US" sz="4200" b="1" kern="0" spc="-42" dirty="0">
                <a:solidFill>
                  <a:srgbClr val="2A2D38"/>
                </a:solidFill>
                <a:latin typeface="Montserrat" pitchFamily="34" charset="0"/>
                <a:ea typeface="Montserrat" pitchFamily="34" charset="-122"/>
                <a:cs typeface="Montserrat" pitchFamily="34" charset="-120"/>
              </a:rPr>
              <a:t>Pour it forward.</a:t>
            </a:r>
            <a:endParaRPr lang="en-US" sz="4200" dirty="0"/>
          </a:p>
        </p:txBody>
      </p:sp>
      <p:sp>
        <p:nvSpPr>
          <p:cNvPr id="9" name="Paul Body"/>
          <p:cNvSpPr/>
          <p:nvPr/>
        </p:nvSpPr>
        <p:spPr>
          <a:xfrm>
            <a:off x="1352550" y="5848350"/>
            <a:ext cx="7099900" cy="1828800"/>
          </a:xfrm>
          <a:prstGeom prst="rect">
            <a:avLst/>
          </a:prstGeom>
          <a:noFill/>
          <a:ln/>
        </p:spPr>
        <p:txBody>
          <a:bodyPr wrap="square" lIns="25400" tIns="25400" rIns="25400" bIns="25400" rtlCol="0" anchor="t">
            <a:normAutofit/>
          </a:bodyPr>
          <a:lstStyle/>
          <a:p>
            <a:pPr marL="0" indent="0" algn="l">
              <a:lnSpc>
                <a:spcPct val="150000"/>
              </a:lnSpc>
              <a:buNone/>
            </a:pPr>
            <a:r>
              <a:rPr lang="en-US" sz="1900" dirty="0">
                <a:solidFill>
                  <a:srgbClr val="3D404A"/>
                </a:solidFill>
                <a:latin typeface="Inter" pitchFamily="34" charset="0"/>
                <a:ea typeface="Inter" pitchFamily="34" charset="-122"/>
                <a:cs typeface="Inter" pitchFamily="34" charset="-120"/>
              </a:rPr>
              <a:t>Find someone earlier in the journey and pour into them. Show them your CLAUDE.md. Walk them through a real failure. Your reps become their lift-off.</a:t>
            </a:r>
            <a:endParaRPr lang="en-US" sz="1900" dirty="0"/>
          </a:p>
        </p:txBody>
      </p:sp>
      <p:sp>
        <p:nvSpPr>
          <p:cNvPr id="10" name="Paul Divider"/>
          <p:cNvSpPr/>
          <p:nvPr/>
        </p:nvSpPr>
        <p:spPr>
          <a:xfrm>
            <a:off x="1352550" y="7896225"/>
            <a:ext cx="7099900" cy="9525"/>
          </a:xfrm>
          <a:prstGeom prst="rect">
            <a:avLst/>
          </a:prstGeom>
          <a:solidFill>
            <a:srgbClr val="C9CBD1"/>
          </a:solidFill>
          <a:ln/>
        </p:spPr>
        <p:txBody>
          <a:bodyPr/>
          <a:lstStyle/>
          <a:p>
            <a:endParaRPr lang="en-US"/>
          </a:p>
        </p:txBody>
      </p:sp>
      <p:sp>
        <p:nvSpPr>
          <p:cNvPr id="11" name="Paul Verse"/>
          <p:cNvSpPr/>
          <p:nvPr/>
        </p:nvSpPr>
        <p:spPr>
          <a:xfrm>
            <a:off x="1352550" y="8134350"/>
            <a:ext cx="7099900" cy="838200"/>
          </a:xfrm>
          <a:prstGeom prst="rect">
            <a:avLst/>
          </a:prstGeom>
          <a:noFill/>
          <a:ln/>
        </p:spPr>
        <p:txBody>
          <a:bodyPr wrap="square" lIns="25400" tIns="25400" rIns="25400" bIns="25400" rtlCol="0" anchor="t">
            <a:normAutofit/>
          </a:bodyPr>
          <a:lstStyle/>
          <a:p>
            <a:pPr marL="0" indent="0" algn="l">
              <a:lnSpc>
                <a:spcPct val="150000"/>
              </a:lnSpc>
              <a:buNone/>
            </a:pPr>
            <a:r>
              <a:rPr lang="en-US" sz="1700" b="1" dirty="0">
                <a:solidFill>
                  <a:srgbClr val="6B6E78"/>
                </a:solidFill>
                <a:latin typeface="JetBrains Mono" pitchFamily="34" charset="0"/>
                <a:ea typeface="JetBrains Mono" pitchFamily="34" charset="-122"/>
                <a:cs typeface="JetBrains Mono" pitchFamily="34" charset="-120"/>
              </a:rPr>
              <a:t>"...entrust to faithful people who will be able to teach others also." — 2 Tim 2:2</a:t>
            </a:r>
            <a:endParaRPr lang="en-US" sz="1700" dirty="0"/>
          </a:p>
        </p:txBody>
      </p:sp>
      <p:sp>
        <p:nvSpPr>
          <p:cNvPr id="12" name="Card Tim"/>
          <p:cNvSpPr/>
          <p:nvPr/>
        </p:nvSpPr>
        <p:spPr>
          <a:xfrm>
            <a:off x="9435500" y="4076700"/>
            <a:ext cx="7900000" cy="5067300"/>
          </a:xfrm>
          <a:prstGeom prst="roundRect">
            <a:avLst>
              <a:gd name="adj" fmla="val 3912"/>
            </a:avLst>
          </a:prstGeom>
          <a:solidFill>
            <a:srgbClr val="F7F5F1"/>
          </a:solidFill>
          <a:ln w="9525">
            <a:solidFill>
              <a:srgbClr val="2D2F37"/>
            </a:solidFill>
            <a:prstDash val="solid"/>
          </a:ln>
        </p:spPr>
        <p:txBody>
          <a:bodyPr/>
          <a:lstStyle/>
          <a:p>
            <a:endParaRPr lang="en-US"/>
          </a:p>
        </p:txBody>
      </p:sp>
      <p:sp>
        <p:nvSpPr>
          <p:cNvPr id="13" name="Tim Tag"/>
          <p:cNvSpPr/>
          <p:nvPr/>
        </p:nvSpPr>
        <p:spPr>
          <a:xfrm>
            <a:off x="9835550" y="4429125"/>
            <a:ext cx="7099900" cy="333375"/>
          </a:xfrm>
          <a:prstGeom prst="rect">
            <a:avLst/>
          </a:prstGeom>
          <a:noFill/>
          <a:ln/>
        </p:spPr>
        <p:txBody>
          <a:bodyPr wrap="square" lIns="25400" tIns="25400" rIns="25400" bIns="25400" rtlCol="0" anchor="t">
            <a:normAutofit/>
          </a:bodyPr>
          <a:lstStyle/>
          <a:p>
            <a:pPr marL="0" indent="0" algn="l">
              <a:buNone/>
            </a:pPr>
            <a:r>
              <a:rPr lang="en-US" sz="1800" kern="0" spc="324" dirty="0">
                <a:solidFill>
                  <a:srgbClr val="3FE0D0"/>
                </a:solidFill>
                <a:latin typeface="JetBrains Mono" pitchFamily="34" charset="0"/>
                <a:ea typeface="JetBrains Mono" pitchFamily="34" charset="-122"/>
                <a:cs typeface="JetBrains Mono" pitchFamily="34" charset="-120"/>
              </a:rPr>
              <a:t>BE AN AI TIMOTHY · THE APPRENTICE</a:t>
            </a:r>
            <a:endParaRPr lang="en-US" sz="1800" dirty="0"/>
          </a:p>
        </p:txBody>
      </p:sp>
      <p:sp>
        <p:nvSpPr>
          <p:cNvPr id="14" name="Tim Headline"/>
          <p:cNvSpPr/>
          <p:nvPr/>
        </p:nvSpPr>
        <p:spPr>
          <a:xfrm>
            <a:off x="9835550" y="4914900"/>
            <a:ext cx="7099900" cy="800100"/>
          </a:xfrm>
          <a:prstGeom prst="rect">
            <a:avLst/>
          </a:prstGeom>
          <a:noFill/>
          <a:ln/>
        </p:spPr>
        <p:txBody>
          <a:bodyPr wrap="square" lIns="25400" tIns="25400" rIns="25400" bIns="25400" rtlCol="0" anchor="t">
            <a:normAutofit/>
          </a:bodyPr>
          <a:lstStyle/>
          <a:p>
            <a:pPr marL="0" indent="0" algn="l">
              <a:lnSpc>
                <a:spcPct val="100000"/>
              </a:lnSpc>
              <a:buNone/>
            </a:pPr>
            <a:r>
              <a:rPr lang="en-US" sz="4200" b="1" kern="0" spc="-42" dirty="0">
                <a:solidFill>
                  <a:srgbClr val="2A2D38"/>
                </a:solidFill>
                <a:latin typeface="Montserrat" pitchFamily="34" charset="0"/>
                <a:ea typeface="Montserrat" pitchFamily="34" charset="-122"/>
                <a:cs typeface="Montserrat" pitchFamily="34" charset="-120"/>
              </a:rPr>
              <a:t>Learn forward.</a:t>
            </a:r>
            <a:endParaRPr lang="en-US" sz="4200" dirty="0"/>
          </a:p>
        </p:txBody>
      </p:sp>
      <p:sp>
        <p:nvSpPr>
          <p:cNvPr id="15" name="Tim Body"/>
          <p:cNvSpPr/>
          <p:nvPr/>
        </p:nvSpPr>
        <p:spPr>
          <a:xfrm>
            <a:off x="9835550" y="5848350"/>
            <a:ext cx="7099900" cy="1828800"/>
          </a:xfrm>
          <a:prstGeom prst="rect">
            <a:avLst/>
          </a:prstGeom>
          <a:noFill/>
          <a:ln/>
        </p:spPr>
        <p:txBody>
          <a:bodyPr wrap="square" lIns="25400" tIns="25400" rIns="25400" bIns="25400" rtlCol="0" anchor="t">
            <a:normAutofit/>
          </a:bodyPr>
          <a:lstStyle/>
          <a:p>
            <a:pPr marL="0" indent="0" algn="l">
              <a:lnSpc>
                <a:spcPct val="150000"/>
              </a:lnSpc>
              <a:buNone/>
            </a:pPr>
            <a:r>
              <a:rPr lang="en-US" sz="1900" dirty="0">
                <a:solidFill>
                  <a:srgbClr val="3D404A"/>
                </a:solidFill>
                <a:latin typeface="Inter" pitchFamily="34" charset="0"/>
                <a:ea typeface="Inter" pitchFamily="34" charset="-122"/>
                <a:cs typeface="Inter" pitchFamily="34" charset="-120"/>
              </a:rPr>
              <a:t>Find someone two months ahead of you and shadow them. Ask the dumb question. Steal their CLAUDE.md. Their fixes save you twenty hours.</a:t>
            </a:r>
            <a:endParaRPr lang="en-US" sz="1900" dirty="0"/>
          </a:p>
        </p:txBody>
      </p:sp>
      <p:sp>
        <p:nvSpPr>
          <p:cNvPr id="16" name="Tim Divider"/>
          <p:cNvSpPr/>
          <p:nvPr/>
        </p:nvSpPr>
        <p:spPr>
          <a:xfrm>
            <a:off x="9835550" y="7896225"/>
            <a:ext cx="7099900" cy="9525"/>
          </a:xfrm>
          <a:prstGeom prst="rect">
            <a:avLst/>
          </a:prstGeom>
          <a:solidFill>
            <a:srgbClr val="C9CBD1"/>
          </a:solidFill>
          <a:ln/>
        </p:spPr>
        <p:txBody>
          <a:bodyPr/>
          <a:lstStyle/>
          <a:p>
            <a:endParaRPr lang="en-US"/>
          </a:p>
        </p:txBody>
      </p:sp>
      <p:sp>
        <p:nvSpPr>
          <p:cNvPr id="17" name="Tim Verse"/>
          <p:cNvSpPr/>
          <p:nvPr/>
        </p:nvSpPr>
        <p:spPr>
          <a:xfrm>
            <a:off x="9835550" y="8134350"/>
            <a:ext cx="7099900" cy="838200"/>
          </a:xfrm>
          <a:prstGeom prst="rect">
            <a:avLst/>
          </a:prstGeom>
          <a:noFill/>
          <a:ln/>
        </p:spPr>
        <p:txBody>
          <a:bodyPr wrap="square" lIns="25400" tIns="25400" rIns="25400" bIns="25400" rtlCol="0" anchor="t">
            <a:normAutofit/>
          </a:bodyPr>
          <a:lstStyle/>
          <a:p>
            <a:pPr marL="0" indent="0" algn="l">
              <a:lnSpc>
                <a:spcPct val="150000"/>
              </a:lnSpc>
              <a:buNone/>
            </a:pPr>
            <a:r>
              <a:rPr lang="en-US" sz="1700" b="1" dirty="0">
                <a:solidFill>
                  <a:srgbClr val="6B6E78"/>
                </a:solidFill>
                <a:latin typeface="JetBrains Mono" pitchFamily="34" charset="0"/>
                <a:ea typeface="JetBrains Mono" pitchFamily="34" charset="-122"/>
                <a:cs typeface="JetBrains Mono" pitchFamily="34" charset="-120"/>
              </a:rPr>
              <a:t>"What you have heard from me... entrust..." — every Timothy needs a Paul.</a:t>
            </a:r>
            <a:endParaRPr lang="en-US" sz="1700" dirty="0"/>
          </a:p>
        </p:txBody>
      </p:sp>
      <p:sp>
        <p:nvSpPr>
          <p:cNvPr id="18" name="Bottom CTA"/>
          <p:cNvSpPr/>
          <p:nvPr/>
        </p:nvSpPr>
        <p:spPr>
          <a:xfrm>
            <a:off x="952500" y="9343050"/>
            <a:ext cx="16383000" cy="476250"/>
          </a:xfrm>
          <a:prstGeom prst="rect">
            <a:avLst/>
          </a:prstGeom>
          <a:noFill/>
          <a:ln/>
        </p:spPr>
        <p:txBody>
          <a:bodyPr wrap="square" lIns="25400" tIns="25400" rIns="25400" bIns="25400" rtlCol="0" anchor="t">
            <a:normAutofit/>
          </a:bodyPr>
          <a:lstStyle/>
          <a:p>
            <a:pPr marL="0" indent="0" algn="l">
              <a:buNone/>
            </a:pPr>
            <a:r>
              <a:rPr lang="en-US" sz="2200" b="1" i="1" kern="0" dirty="0">
                <a:solidFill>
                  <a:srgbClr val="F58220"/>
                </a:solidFill>
                <a:latin typeface="Montserrat" pitchFamily="34" charset="0"/>
                <a:ea typeface="Montserrat" pitchFamily="34" charset="-122"/>
                <a:cs typeface="Montserrat" pitchFamily="34" charset="-120"/>
              </a:rPr>
              <a:t>You can be — and need to be — both.</a:t>
            </a:r>
            <a:endParaRPr lang="en-US" sz="22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1B1D24"/>
          </a:solidFill>
          <a:ln/>
        </p:spPr>
        <p:txBody>
          <a:bodyPr/>
          <a:lstStyle/>
          <a:p>
            <a:endParaRPr lang="en-US"/>
          </a:p>
        </p:txBody>
      </p:sp>
      <p:sp>
        <p:nvSpPr>
          <p:cNvPr id="3" name="Text 1"/>
          <p:cNvSpPr/>
          <p:nvPr/>
        </p:nvSpPr>
        <p:spPr>
          <a:xfrm>
            <a:off x="4343251" y="3170932"/>
            <a:ext cx="9889543" cy="390525"/>
          </a:xfrm>
          <a:prstGeom prst="rect">
            <a:avLst/>
          </a:prstGeom>
          <a:noFill/>
          <a:ln/>
        </p:spPr>
        <p:txBody>
          <a:bodyPr wrap="square" lIns="25400" tIns="25400" rIns="25400" bIns="25400" rtlCol="0" anchor="t">
            <a:normAutofit/>
          </a:bodyPr>
          <a:lstStyle/>
          <a:p>
            <a:pPr marL="0" indent="0" algn="l">
              <a:buNone/>
            </a:pPr>
            <a:r>
              <a:rPr lang="en-US" sz="2100" kern="0" spc="840" dirty="0">
                <a:solidFill>
                  <a:srgbClr val="3FE0D0"/>
                </a:solidFill>
                <a:latin typeface="JetBrains Mono" pitchFamily="34" charset="0"/>
                <a:ea typeface="JetBrains Mono" pitchFamily="34" charset="-122"/>
                <a:cs typeface="JetBrains Mono" pitchFamily="34" charset="-120"/>
              </a:rPr>
              <a:t>BIG PICTURE</a:t>
            </a:r>
            <a:endParaRPr lang="en-US" sz="2100" dirty="0"/>
          </a:p>
        </p:txBody>
      </p:sp>
      <p:sp>
        <p:nvSpPr>
          <p:cNvPr id="4" name="Text 2"/>
          <p:cNvSpPr/>
          <p:nvPr/>
        </p:nvSpPr>
        <p:spPr>
          <a:xfrm>
            <a:off x="4343251" y="3904357"/>
            <a:ext cx="9889543" cy="2426791"/>
          </a:xfrm>
          <a:prstGeom prst="rect">
            <a:avLst/>
          </a:prstGeom>
          <a:noFill/>
          <a:ln/>
        </p:spPr>
        <p:txBody>
          <a:bodyPr wrap="square" lIns="25400" tIns="25400" rIns="25400" bIns="25400" rtlCol="0" anchor="t">
            <a:normAutofit/>
          </a:bodyPr>
          <a:lstStyle/>
          <a:p>
            <a:pPr marL="0" indent="0" algn="l">
              <a:lnSpc>
                <a:spcPct val="95000"/>
              </a:lnSpc>
              <a:buNone/>
            </a:pPr>
            <a:r>
              <a:rPr lang="en-US" sz="9900" b="1" spc="-247" dirty="0">
                <a:solidFill>
                  <a:srgbClr val="FFFFFF"/>
                </a:solidFill>
                <a:latin typeface="Montserrat" pitchFamily="34" charset="0"/>
                <a:ea typeface="Montserrat" pitchFamily="34" charset="-122"/>
                <a:cs typeface="Montserrat" pitchFamily="34" charset="-120"/>
              </a:rPr>
              <a:t>What &gt; How</a:t>
            </a:r>
          </a:p>
          <a:p>
            <a:pPr marL="0" indent="0" algn="l">
              <a:lnSpc>
                <a:spcPct val="95000"/>
              </a:lnSpc>
              <a:buNone/>
            </a:pPr>
            <a:endParaRPr lang="en-US" sz="9900" b="1" kern="0" spc="-247" dirty="0">
              <a:solidFill>
                <a:srgbClr val="FFFFFF"/>
              </a:solidFill>
              <a:latin typeface="Montserrat" pitchFamily="34" charset="0"/>
              <a:ea typeface="Montserrat" pitchFamily="34" charset="-122"/>
              <a:cs typeface="Montserrat" pitchFamily="34" charset="-120"/>
            </a:endParaRPr>
          </a:p>
        </p:txBody>
      </p:sp>
      <p:sp>
        <p:nvSpPr>
          <p:cNvPr id="5" name="Text 3"/>
          <p:cNvSpPr/>
          <p:nvPr/>
        </p:nvSpPr>
        <p:spPr>
          <a:xfrm>
            <a:off x="4343251" y="6674048"/>
            <a:ext cx="9889543" cy="479971"/>
          </a:xfrm>
          <a:prstGeom prst="rect">
            <a:avLst/>
          </a:prstGeom>
          <a:noFill/>
          <a:ln/>
        </p:spPr>
        <p:txBody>
          <a:bodyPr wrap="square" lIns="25400" tIns="25400" rIns="25400" bIns="25400" rtlCol="0" anchor="t">
            <a:noAutofit/>
          </a:bodyPr>
          <a:lstStyle/>
          <a:p>
            <a:pPr marL="0" indent="0" algn="l">
              <a:lnSpc>
                <a:spcPct val="145000"/>
              </a:lnSpc>
              <a:buNone/>
            </a:pPr>
            <a:r>
              <a:rPr lang="en-US" dirty="0">
                <a:solidFill>
                  <a:srgbClr val="C9CBD1"/>
                </a:solidFill>
                <a:latin typeface="Inter" pitchFamily="34" charset="0"/>
                <a:ea typeface="Inter" pitchFamily="34" charset="-122"/>
                <a:cs typeface="Inter" pitchFamily="34" charset="-120"/>
              </a:rPr>
              <a:t>This has always been true, but context engineering opens the door for those who know what to actually</a:t>
            </a:r>
          </a:p>
          <a:p>
            <a:pPr marL="0" indent="0" algn="l">
              <a:lnSpc>
                <a:spcPct val="145000"/>
              </a:lnSpc>
              <a:buNone/>
            </a:pPr>
            <a:r>
              <a:rPr lang="en-US" dirty="0">
                <a:solidFill>
                  <a:srgbClr val="C9CBD1"/>
                </a:solidFill>
                <a:latin typeface="Inter" pitchFamily="34" charset="0"/>
              </a:rPr>
              <a:t>achieve the how, but there is no free lunch!</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1B1D24"/>
          </a:solidFill>
          <a:ln/>
        </p:spPr>
        <p:txBody>
          <a:bodyPr/>
          <a:lstStyle/>
          <a:p>
            <a:endParaRPr lang="en-US"/>
          </a:p>
        </p:txBody>
      </p:sp>
      <p:sp>
        <p:nvSpPr>
          <p:cNvPr id="3" name="Text 1"/>
          <p:cNvSpPr/>
          <p:nvPr/>
        </p:nvSpPr>
        <p:spPr>
          <a:xfrm>
            <a:off x="4343251" y="3170932"/>
            <a:ext cx="9889543" cy="390525"/>
          </a:xfrm>
          <a:prstGeom prst="rect">
            <a:avLst/>
          </a:prstGeom>
          <a:noFill/>
          <a:ln/>
        </p:spPr>
        <p:txBody>
          <a:bodyPr wrap="square" lIns="25400" tIns="25400" rIns="25400" bIns="25400" rtlCol="0" anchor="t">
            <a:normAutofit/>
          </a:bodyPr>
          <a:lstStyle/>
          <a:p>
            <a:pPr marL="0" indent="0" algn="l">
              <a:buNone/>
            </a:pPr>
            <a:r>
              <a:rPr lang="en-US" sz="2100" kern="0" spc="840" dirty="0">
                <a:solidFill>
                  <a:srgbClr val="3FE0D0"/>
                </a:solidFill>
                <a:latin typeface="JetBrains Mono" pitchFamily="34" charset="0"/>
                <a:ea typeface="JetBrains Mono" pitchFamily="34" charset="-122"/>
                <a:cs typeface="JetBrains Mono" pitchFamily="34" charset="-120"/>
              </a:rPr>
              <a:t>UP NEXT · PART 03 / 06</a:t>
            </a:r>
            <a:endParaRPr lang="en-US" sz="2100" dirty="0"/>
          </a:p>
        </p:txBody>
      </p:sp>
      <p:sp>
        <p:nvSpPr>
          <p:cNvPr id="4" name="Text 2"/>
          <p:cNvSpPr/>
          <p:nvPr/>
        </p:nvSpPr>
        <p:spPr>
          <a:xfrm>
            <a:off x="4343251" y="3904357"/>
            <a:ext cx="9889543" cy="2426791"/>
          </a:xfrm>
          <a:prstGeom prst="rect">
            <a:avLst/>
          </a:prstGeom>
          <a:noFill/>
          <a:ln/>
        </p:spPr>
        <p:txBody>
          <a:bodyPr wrap="square" lIns="25400" tIns="25400" rIns="25400" bIns="25400" rtlCol="0" anchor="t">
            <a:normAutofit fontScale="92500" lnSpcReduction="20000"/>
          </a:bodyPr>
          <a:lstStyle/>
          <a:p>
            <a:pPr marL="0" indent="0" algn="l">
              <a:lnSpc>
                <a:spcPct val="95000"/>
              </a:lnSpc>
              <a:buNone/>
            </a:pPr>
            <a:r>
              <a:rPr lang="en-US" sz="9900" b="1" kern="0" spc="-247" dirty="0">
                <a:solidFill>
                  <a:srgbClr val="FFFFFF"/>
                </a:solidFill>
                <a:latin typeface="Montserrat" pitchFamily="34" charset="0"/>
                <a:ea typeface="Montserrat" pitchFamily="34" charset="-122"/>
                <a:cs typeface="Montserrat" pitchFamily="34" charset="-120"/>
              </a:rPr>
              <a:t>SDLC</a:t>
            </a:r>
          </a:p>
          <a:p>
            <a:pPr marL="0" indent="0" algn="l">
              <a:lnSpc>
                <a:spcPct val="95000"/>
              </a:lnSpc>
              <a:buNone/>
            </a:pPr>
            <a:r>
              <a:rPr lang="en-US" sz="9900" b="1" kern="0" spc="-247" dirty="0">
                <a:solidFill>
                  <a:srgbClr val="FFFFFF"/>
                </a:solidFill>
                <a:latin typeface="Montserrat" pitchFamily="34" charset="0"/>
                <a:ea typeface="Montserrat" pitchFamily="34" charset="-122"/>
                <a:cs typeface="Montserrat" pitchFamily="34" charset="-120"/>
              </a:rPr>
              <a:t>Crash Course.</a:t>
            </a:r>
            <a:endParaRPr lang="en-US" sz="9900" dirty="0"/>
          </a:p>
        </p:txBody>
      </p:sp>
      <p:sp>
        <p:nvSpPr>
          <p:cNvPr id="5" name="Text 3"/>
          <p:cNvSpPr/>
          <p:nvPr/>
        </p:nvSpPr>
        <p:spPr>
          <a:xfrm>
            <a:off x="4343251" y="6674048"/>
            <a:ext cx="9889543" cy="479971"/>
          </a:xfrm>
          <a:prstGeom prst="rect">
            <a:avLst/>
          </a:prstGeom>
          <a:noFill/>
          <a:ln/>
        </p:spPr>
        <p:txBody>
          <a:bodyPr wrap="square" lIns="25400" tIns="25400" rIns="25400" bIns="25400" rtlCol="0" anchor="t">
            <a:normAutofit fontScale="92500" lnSpcReduction="10000"/>
          </a:bodyPr>
          <a:lstStyle/>
          <a:p>
            <a:pPr marL="0" indent="0" algn="l">
              <a:lnSpc>
                <a:spcPct val="145000"/>
              </a:lnSpc>
              <a:buNone/>
            </a:pPr>
            <a:r>
              <a:rPr lang="en-US" sz="2400" dirty="0">
                <a:solidFill>
                  <a:srgbClr val="C9CBD1"/>
                </a:solidFill>
                <a:latin typeface="Inter" pitchFamily="34" charset="0"/>
                <a:ea typeface="Inter" pitchFamily="34" charset="-122"/>
                <a:cs typeface="Inter" pitchFamily="34" charset="-120"/>
              </a:rPr>
              <a:t>We named the difference. Now we put it in a process you can ship from.</a:t>
            </a:r>
            <a:endParaRPr lang="en-US" sz="2400" dirty="0"/>
          </a:p>
        </p:txBody>
      </p:sp>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18</TotalTime>
  <Words>3240</Words>
  <Application>Microsoft Macintosh PowerPoint</Application>
  <PresentationFormat>Custom</PresentationFormat>
  <Paragraphs>317</Paragraphs>
  <Slides>30</Slides>
  <Notes>17</Notes>
  <HiddenSlides>0</HiddenSlides>
  <MMClips>0</MMClips>
  <ScaleCrop>false</ScaleCrop>
  <HeadingPairs>
    <vt:vector size="6" baseType="variant">
      <vt:variant>
        <vt:lpstr>Fonts Used</vt:lpstr>
      </vt:variant>
      <vt:variant>
        <vt:i4>5</vt:i4>
      </vt:variant>
      <vt:variant>
        <vt:lpstr>Theme</vt:lpstr>
      </vt:variant>
      <vt:variant>
        <vt:i4>2</vt:i4>
      </vt:variant>
      <vt:variant>
        <vt:lpstr>Slide Titles</vt:lpstr>
      </vt:variant>
      <vt:variant>
        <vt:i4>30</vt:i4>
      </vt:variant>
    </vt:vector>
  </HeadingPairs>
  <TitlesOfParts>
    <vt:vector size="37" baseType="lpstr">
      <vt:lpstr>Calibri</vt:lpstr>
      <vt:lpstr>Montserrat</vt:lpstr>
      <vt:lpstr>JetBrains Mono</vt:lpstr>
      <vt:lpstr>Inter</vt:lpstr>
      <vt:lpstr>Arial</vt:lpstr>
      <vt:lpstr>Office Theme</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PptxGenJS</dc:creator>
  <cp:lastModifiedBy>Chris Kehayias</cp:lastModifiedBy>
  <cp:revision>5</cp:revision>
  <dcterms:created xsi:type="dcterms:W3CDTF">2026-05-03T13:32:23Z</dcterms:created>
  <dcterms:modified xsi:type="dcterms:W3CDTF">2026-05-06T16:36:38Z</dcterms:modified>
</cp:coreProperties>
</file>
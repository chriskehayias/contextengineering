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 id="214748365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Lst>
  <p:sldSz cy="10287000" cx="18288000"/>
  <p:notesSz cx="10287000" cy="18288000"/>
  <p:embeddedFontLst>
    <p:embeddedFont>
      <p:font typeface="Montserrat"/>
      <p:regular r:id="rId48"/>
      <p:bold r:id="rId49"/>
      <p:italic r:id="rId50"/>
      <p:boldItalic r:id="rId51"/>
    </p:embeddedFont>
    <p:embeddedFont>
      <p:font typeface="Inter"/>
      <p:regular r:id="rId52"/>
      <p:bold r:id="rId53"/>
      <p:italic r:id="rId54"/>
      <p:boldItalic r:id="rId55"/>
    </p:embeddedFont>
    <p:embeddedFont>
      <p:font typeface="JetBrains Mono"/>
      <p:regular r:id="rId56"/>
      <p:bold r:id="rId57"/>
      <p:italic r:id="rId58"/>
      <p:boldItalic r:id="rId5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60" roundtripDataSignature="AMtx7mgvBL9m8TJysEvjfbWLYgqaddpdW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4.xml"/><Relationship Id="rId48" Type="http://schemas.openxmlformats.org/officeDocument/2006/relationships/font" Target="fonts/Montserrat-regular.fntdata"/><Relationship Id="rId47" Type="http://schemas.openxmlformats.org/officeDocument/2006/relationships/slide" Target="slides/slide42.xml"/><Relationship Id="rId49" Type="http://schemas.openxmlformats.org/officeDocument/2006/relationships/font" Target="fonts/Montserrat-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60" Type="http://customschemas.google.com/relationships/presentationmetadata" Target="metadata"/><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font" Target="fonts/Montserrat-boldItalic.fntdata"/><Relationship Id="rId50" Type="http://schemas.openxmlformats.org/officeDocument/2006/relationships/font" Target="fonts/Montserrat-italic.fntdata"/><Relationship Id="rId53" Type="http://schemas.openxmlformats.org/officeDocument/2006/relationships/font" Target="fonts/Inter-bold.fntdata"/><Relationship Id="rId52" Type="http://schemas.openxmlformats.org/officeDocument/2006/relationships/font" Target="fonts/Inter-regular.fntdata"/><Relationship Id="rId11" Type="http://schemas.openxmlformats.org/officeDocument/2006/relationships/slide" Target="slides/slide6.xml"/><Relationship Id="rId55" Type="http://schemas.openxmlformats.org/officeDocument/2006/relationships/font" Target="fonts/Inter-boldItalic.fntdata"/><Relationship Id="rId10" Type="http://schemas.openxmlformats.org/officeDocument/2006/relationships/slide" Target="slides/slide5.xml"/><Relationship Id="rId54" Type="http://schemas.openxmlformats.org/officeDocument/2006/relationships/font" Target="fonts/Inter-italic.fntdata"/><Relationship Id="rId13" Type="http://schemas.openxmlformats.org/officeDocument/2006/relationships/slide" Target="slides/slide8.xml"/><Relationship Id="rId57" Type="http://schemas.openxmlformats.org/officeDocument/2006/relationships/font" Target="fonts/JetBrainsMono-bold.fntdata"/><Relationship Id="rId12" Type="http://schemas.openxmlformats.org/officeDocument/2006/relationships/slide" Target="slides/slide7.xml"/><Relationship Id="rId56" Type="http://schemas.openxmlformats.org/officeDocument/2006/relationships/font" Target="fonts/JetBrainsMono-regular.fntdata"/><Relationship Id="rId15" Type="http://schemas.openxmlformats.org/officeDocument/2006/relationships/slide" Target="slides/slide10.xml"/><Relationship Id="rId59" Type="http://schemas.openxmlformats.org/officeDocument/2006/relationships/font" Target="fonts/JetBrainsMono-boldItalic.fntdata"/><Relationship Id="rId14" Type="http://schemas.openxmlformats.org/officeDocument/2006/relationships/slide" Target="slides/slide9.xml"/><Relationship Id="rId58" Type="http://schemas.openxmlformats.org/officeDocument/2006/relationships/font" Target="fonts/JetBrainsMono-italic.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714825" y="1371600"/>
            <a:ext cx="6858325" cy="6858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1028700" y="8686800"/>
            <a:ext cx="8229600" cy="82296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 name="Shape 9"/>
        <p:cNvGrpSpPr/>
        <p:nvPr/>
      </p:nvGrpSpPr>
      <p:grpSpPr>
        <a:xfrm>
          <a:off x="0" y="0"/>
          <a:ext cx="0" cy="0"/>
          <a:chOff x="0" y="0"/>
          <a:chExt cx="0" cy="0"/>
        </a:xfrm>
      </p:grpSpPr>
      <p:sp>
        <p:nvSpPr>
          <p:cNvPr id="10" name="Google Shape;10;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 name="Google Shape;11;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Arial"/>
                <a:ea typeface="Arial"/>
                <a:cs typeface="Arial"/>
                <a:sym typeface="Arial"/>
              </a:rPr>
              <a:t>Welcome them in. Big energy. 'AI Context Engineering — that's a long title for what's actually a really practical workshop. Over the next 90 minutes we're going to get hands-on with what makes AI useful at your church versus useless at your church.'</a:t>
            </a:r>
            <a:endParaRPr/>
          </a:p>
        </p:txBody>
      </p:sp>
      <p:sp>
        <p:nvSpPr>
          <p:cNvPr id="12" name="Google Shape;12;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 name="Google Shape;2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Brief intro — keep it under 60 seconds. 'I ship AI products for a living and I've been in the church tech world a while. Most of what I'm sharing today is what I wish someone had told me two years ago.'</a:t>
            </a:r>
            <a:endParaRPr/>
          </a:p>
        </p:txBody>
      </p:sp>
      <p:sp>
        <p:nvSpPr>
          <p:cNvPr id="26" name="Google Shape;26;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 name="Google Shape;35;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Brief intro — keep it under 60 seconds. 'I ship AI products for a living and I've been in the church tech world a while. Most of what I'm sharing today is what I wish someone had told me two years ago.'</a:t>
            </a:r>
            <a:endParaRPr/>
          </a:p>
        </p:txBody>
      </p:sp>
      <p:sp>
        <p:nvSpPr>
          <p:cNvPr id="36" name="Google Shape;36;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 name="Shape 42"/>
        <p:cNvGrpSpPr/>
        <p:nvPr/>
      </p:nvGrpSpPr>
      <p:grpSpPr>
        <a:xfrm>
          <a:off x="0" y="0"/>
          <a:ext cx="0" cy="0"/>
          <a:chOff x="0" y="0"/>
          <a:chExt cx="0" cy="0"/>
        </a:xfrm>
      </p:grpSpPr>
      <p:sp>
        <p:nvSpPr>
          <p:cNvPr id="43" name="Google Shape;43;g3dc15369c17_0_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 name="Google Shape;44;g3dc15369c17_0_1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Alright — quick 10 minutes from me before Chris takes you into the real workshop. I want to tell you a story, because I think a lot of you are somewhere on the same path I was on. The title says it all: I started as a vibe coder, and I had to become a context engineer. Six stages, one shift. Let's go.</a:t>
            </a:r>
            <a:endParaRPr/>
          </a:p>
        </p:txBody>
      </p:sp>
      <p:sp>
        <p:nvSpPr>
          <p:cNvPr id="45" name="Google Shape;45;g3dc15369c17_0_1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dc15369c17_0_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dc15369c17_0_1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Stage one — the spark. ChatGPT had just dropped, and like a lot of you I was in school at the time. I wasn't building products. I was just one-shotting prompts to get through assignments. No stakes, pure curiosity. That's where it started for me, and honestly that's where it starts for almost everyone — you type something, something useful comes back, and you go 'huh, that's interesting.'</a:t>
            </a:r>
            <a:endParaRPr/>
          </a:p>
        </p:txBody>
      </p:sp>
      <p:sp>
        <p:nvSpPr>
          <p:cNvPr id="56" name="Google Shape;56;g3dc15369c17_0_1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dc15369c17_0_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 name="Google Shape;68;g3dc15369c17_0_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Stage two — the hook. Then I found Bolt. Then Replit. And this is where it stopped being a toy. I'd type a sentence — 'build me a habit tracker' — and out came a whole app. Frontend, backend, database. It felt like a superpower. And for a while, I genuinely thought I had figured something out that other people hadn't. That's the hook.</a:t>
            </a:r>
            <a:endParaRPr/>
          </a:p>
        </p:txBody>
      </p:sp>
      <p:sp>
        <p:nvSpPr>
          <p:cNvPr id="69" name="Google Shape;69;g3dc15369c17_0_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dc15369c17_0_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dc15369c17_0_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Stage three — the cracks. Here's where it got humbling. The demos looked great in the moment. They almost never held up. Inconsistent. Fragile. Nowhere near production. I'd show something off on Monday and by Wednesday it was broken in three different places. And the worst part — I couldn't see the debt I was building. The model was writing code I couldn't read, in patterns I couldn't evaluate. It looked like progress. It wasn't.</a:t>
            </a:r>
            <a:endParaRPr/>
          </a:p>
        </p:txBody>
      </p:sp>
      <p:sp>
        <p:nvSpPr>
          <p:cNvPr id="82" name="Google Shape;82;g3dc15369c17_0_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dc15369c17_0_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 name="Google Shape;99;g3dc15369c17_0_1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Stage four — and this is the one I want you to hear, because I bet some of you are right here. I learned the phrase 'context is king.' So I figured, okay, more context, better output. I started writing paragraphs instead of sentences. Huge prompts. And I was still one-shotting. I'd change one tiny thing and the whole thing would fall apart. I'd spend hours hot-fixing what the model had built. Bigger prompts did not equal better code. More words, same problem.</a:t>
            </a:r>
            <a:endParaRPr/>
          </a:p>
        </p:txBody>
      </p:sp>
      <p:sp>
        <p:nvSpPr>
          <p:cNvPr id="100" name="Google Shape;100;g3dc15369c17_0_1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g3dc15369c17_0_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 name="Google Shape;112;g3dc15369c17_0_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Stage five — this is the shift. I stopped trying to write the perfect prompt and started spending my time thinking before I asked. Planning over prompting. And the output got about ten times better — overnight. Here's the wild part: I still couldn't really read code. But I could find what works before I started building. I could pressure-test the idea on paper. The leverage moved from the prompt to the plan.</a:t>
            </a:r>
            <a:endParaRPr/>
          </a:p>
        </p:txBody>
      </p:sp>
      <p:sp>
        <p:nvSpPr>
          <p:cNvPr id="113" name="Google Shape;113;g3dc15369c17_0_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dc15369c17_0_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 name="Google Shape;125;g3dc15369c17_0_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Stage six — the engineer era. This is where I am today. I don't start from a blank prompt anymore. I start from a base repository. A foundation I trust. Same kinds of apps I was building two years ago — but stronger, every single time. It's not a different prompt every time. It's a system. Repeatable, consistent, production-shaped from day one.</a:t>
            </a:r>
            <a:endParaRPr/>
          </a:p>
        </p:txBody>
      </p:sp>
      <p:sp>
        <p:nvSpPr>
          <p:cNvPr id="126" name="Google Shape;126;g3dc15369c17_0_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g3dc15369c17_0_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g3dc15369c17_0_2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if I had to put it on a single slide — this is the contrast. On the left, the vibe coder I was. Prompt and pray. One-shot every time. Hours of hot-fixes. Looks great, breaks fast. Hidden technical debt I couldn't even see. On the right, the context engineer I had to become. Plan, then build. Base repo as a foundation. Hours of thinking up front instead of hot-fixes after. Production-shaped from day one. Repeatable. Consistent. The work moved — from after the prompt, to before it.</a:t>
            </a:r>
            <a:endParaRPr/>
          </a:p>
        </p:txBody>
      </p:sp>
      <p:sp>
        <p:nvSpPr>
          <p:cNvPr id="143" name="Google Shape;143;g3dc15369c17_0_2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g3dc15369c17_0_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 name="Google Shape;159;g3dc15369c17_0_2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takeaway, and then I'll hand it to Chris. The leverage is not in the prompt. It's in the thinking before it. That's the whole shift. And that's what the next 75 minutes are about — Chris is going to walk you through how to actually do that thinking. The four pillars, the anatomy, the practical exercises. Over to you, Chris.</a:t>
            </a:r>
            <a:endParaRPr/>
          </a:p>
        </p:txBody>
      </p:sp>
      <p:sp>
        <p:nvSpPr>
          <p:cNvPr id="160" name="Google Shape;160;g3dc15369c17_0_2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9" name="Google Shape;16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Section opener. Pause. Breathe. 'Most of what looks like bad AI output is actually a context problem on our end.'</a:t>
            </a:r>
            <a:endParaRPr/>
          </a:p>
        </p:txBody>
      </p:sp>
      <p:sp>
        <p:nvSpPr>
          <p:cNvPr id="170" name="Google Shape;170;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8" name="Google Shape;178;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Thank Northwoods for hosting. 'Three exercises. Bring something real from your week — that's how this gets sticky. Don't just listen. Write.'</a:t>
            </a:r>
            <a:endParaRPr/>
          </a:p>
        </p:txBody>
      </p:sp>
      <p:sp>
        <p:nvSpPr>
          <p:cNvPr id="179" name="Google Shape;179;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6" name="Google Shape;196;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Walk the agenda quickly. Point out: three exercises spaced through the workshop — they're working sessions, not demos. 'If you only do one of them, do exercise two.'</a:t>
            </a:r>
            <a:endParaRPr/>
          </a:p>
        </p:txBody>
      </p:sp>
      <p:sp>
        <p:nvSpPr>
          <p:cNvPr id="197" name="Google Shape;197;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8" name="Google Shape;228;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Quick history. Don't dwell — the point is: we are LIVING through the moment when this skill goes from optional to essential. Land hard on 2025.</a:t>
            </a:r>
            <a:endParaRPr/>
          </a:p>
        </p:txBody>
      </p:sp>
      <p:sp>
        <p:nvSpPr>
          <p:cNvPr id="229" name="Google Shape;229;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Three reasons prompts go wrong. Ask the room: 'Which of these have you done this week?' Most hands will go up on all three. That's the point.</a:t>
            </a:r>
            <a:endParaRPr/>
          </a:p>
        </p:txBody>
      </p:sp>
      <p:sp>
        <p:nvSpPr>
          <p:cNvPr id="252" name="Google Shape;25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8" name="Google Shape;268;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Set up the central pivot of the workshop. 'Prompt engineering was about magic words. Context engineering is about the whole environment. That's the shift.'</a:t>
            </a:r>
            <a:endParaRPr/>
          </a:p>
        </p:txBody>
      </p:sp>
      <p:sp>
        <p:nvSpPr>
          <p:cNvPr id="269" name="Google Shape;269;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5" name="Google Shape;285;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Read the definition slowly, twice. Let it land. This is the one sentence you want them to take home.</a:t>
            </a:r>
            <a:endParaRPr/>
          </a:p>
        </p:txBody>
      </p:sp>
      <p:sp>
        <p:nvSpPr>
          <p:cNvPr id="286" name="Google Shape;286;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3" name="Google Shape;29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Speed-walk the four pillars. Don't explain deeply — that's the next four slides. Just plant the names: Instructions, Knowledge, Tools, Memory.</a:t>
            </a:r>
            <a:endParaRPr/>
          </a:p>
        </p:txBody>
      </p:sp>
      <p:sp>
        <p:nvSpPr>
          <p:cNvPr id="294" name="Google Shape;29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3" name="Shape 323"/>
        <p:cNvGrpSpPr/>
        <p:nvPr/>
      </p:nvGrpSpPr>
      <p:grpSpPr>
        <a:xfrm>
          <a:off x="0" y="0"/>
          <a:ext cx="0" cy="0"/>
          <a:chOff x="0" y="0"/>
          <a:chExt cx="0" cy="0"/>
        </a:xfrm>
      </p:grpSpPr>
      <p:sp>
        <p:nvSpPr>
          <p:cNvPr id="324" name="Google Shape;32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5" name="Google Shape;32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Section opener. 'Now let's actually build one of these.'</a:t>
            </a:r>
            <a:endParaRPr/>
          </a:p>
        </p:txBody>
      </p:sp>
      <p:sp>
        <p:nvSpPr>
          <p:cNvPr id="326" name="Google Shape;326;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6" name="Google Shape;346;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Pillar one. Stay on the example for 60 seconds. Show how three sentences of role + tone + rules collapse a thousand future edits into the prompt itself.</a:t>
            </a:r>
            <a:endParaRPr/>
          </a:p>
        </p:txBody>
      </p:sp>
      <p:sp>
        <p:nvSpPr>
          <p:cNvPr id="347" name="Google Shape;347;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Pillar two. Emphasize: the model has zero context unless you give it some. 'It hasn't read your sermons. It hasn't met your people. You have to feed it.'</a:t>
            </a:r>
            <a:endParaRPr/>
          </a:p>
        </p:txBody>
      </p:sp>
      <p:sp>
        <p:nvSpPr>
          <p:cNvPr id="359" name="Google Shape;359;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0" name="Google Shape;370;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Pillar three. Tools. Most folks here don't ship custom tools yet — that's fine. 'But know that this is where the next 12 months goes. Read-only tools first. Earn write access.'</a:t>
            </a:r>
            <a:endParaRPr/>
          </a:p>
        </p:txBody>
      </p:sp>
      <p:sp>
        <p:nvSpPr>
          <p:cNvPr id="371" name="Google Shape;371;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2" name="Google Shape;382;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Pillar four. Memory. The most underrated. 'Every time you correct the model and don't write it down somewhere persistent, you'll do it again next week.'</a:t>
            </a:r>
            <a:endParaRPr/>
          </a:p>
        </p:txBody>
      </p:sp>
      <p:sp>
        <p:nvSpPr>
          <p:cNvPr id="383" name="Google Shape;383;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4" name="Google Shape;39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Show the bar chart. The point is: the context window is finite. You're an editor. Choose what gets in.</a:t>
            </a:r>
            <a:endParaRPr/>
          </a:p>
        </p:txBody>
      </p:sp>
      <p:sp>
        <p:nvSpPr>
          <p:cNvPr id="395" name="Google Shape;39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1" name="Google Shape;431;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Section opener for anatomy. Energy up — we're about to write together.</a:t>
            </a:r>
            <a:endParaRPr/>
          </a:p>
        </p:txBody>
      </p:sp>
      <p:sp>
        <p:nvSpPr>
          <p:cNvPr id="432" name="Google Shape;432;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2" name="Google Shape;452;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RTCF — Role, Task, Context, Format. Four lines. In that order. 'Tattoo this somewhere your team can see it.' Walk each column briefly.</a:t>
            </a:r>
            <a:endParaRPr/>
          </a:p>
        </p:txBody>
      </p:sp>
      <p:sp>
        <p:nvSpPr>
          <p:cNvPr id="453" name="Google Shape;453;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8" name="Shape 498"/>
        <p:cNvGrpSpPr/>
        <p:nvPr/>
      </p:nvGrpSpPr>
      <p:grpSpPr>
        <a:xfrm>
          <a:off x="0" y="0"/>
          <a:ext cx="0" cy="0"/>
          <a:chOff x="0" y="0"/>
          <a:chExt cx="0" cy="0"/>
        </a:xfrm>
      </p:grpSpPr>
      <p:sp>
        <p:nvSpPr>
          <p:cNvPr id="499" name="Google Shape;499;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0" name="Google Shape;500;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Read the bad prompt out loud. Then the good. Same minute. Same model. 'The good one took me 90 seconds longer. It saved me 20 minutes of editing. Every time.'</a:t>
            </a:r>
            <a:endParaRPr/>
          </a:p>
        </p:txBody>
      </p:sp>
      <p:sp>
        <p:nvSpPr>
          <p:cNvPr id="501" name="Google Shape;501;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 name="Shape 518"/>
        <p:cNvGrpSpPr/>
        <p:nvPr/>
      </p:nvGrpSpPr>
      <p:grpSpPr>
        <a:xfrm>
          <a:off x="0" y="0"/>
          <a:ext cx="0" cy="0"/>
          <a:chOff x="0" y="0"/>
          <a:chExt cx="0" cy="0"/>
        </a:xfrm>
      </p:grpSpPr>
      <p:sp>
        <p:nvSpPr>
          <p:cNvPr id="519" name="Google Shape;519;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0" name="Google Shape;520;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EXERCISE ONE. Set the timer visibly. Pair them up. Walk the room. Listen for stuck pairs — usually they don't know what 'context' to add. Help them see it's the church-specific facts.</a:t>
            </a:r>
            <a:endParaRPr/>
          </a:p>
        </p:txBody>
      </p:sp>
      <p:sp>
        <p:nvSpPr>
          <p:cNvPr id="521" name="Google Shape;521;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1" name="Google Shape;541;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Section opener. 'Now we go from generic AI to YOUR-church AI. This is the unlock.'</a:t>
            </a:r>
            <a:endParaRPr/>
          </a:p>
        </p:txBody>
      </p:sp>
      <p:sp>
        <p:nvSpPr>
          <p:cNvPr id="542" name="Google Shape;542;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2" name="Google Shape;562;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Walk the inventory table. Ask: 'Who has all six of these in a place a model could read them?' Almost no one. That's the homework.</a:t>
            </a:r>
            <a:endParaRPr/>
          </a:p>
        </p:txBody>
      </p:sp>
      <p:sp>
        <p:nvSpPr>
          <p:cNvPr id="563" name="Google Shape;563;p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1" name="Google Shape;611;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RAG slide. Three steps. 'You don't need to build this from scratch — Custom GPTs and Claude Projects do it for you. But you need to know what's happening so you can debug it.'</a:t>
            </a:r>
            <a:endParaRPr/>
          </a:p>
        </p:txBody>
      </p:sp>
      <p:sp>
        <p:nvSpPr>
          <p:cNvPr id="612" name="Google Shape;612;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Privacy slide — slow down here. Tone matters. 'This is stewardship. People trust us with their stories. Don't betray that for a faster email draft.'</a:t>
            </a:r>
            <a:endParaRPr/>
          </a:p>
        </p:txBody>
      </p:sp>
      <p:sp>
        <p:nvSpPr>
          <p:cNvPr id="635" name="Google Shape;635;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7" name="Shape 647"/>
        <p:cNvGrpSpPr/>
        <p:nvPr/>
      </p:nvGrpSpPr>
      <p:grpSpPr>
        <a:xfrm>
          <a:off x="0" y="0"/>
          <a:ext cx="0" cy="0"/>
          <a:chOff x="0" y="0"/>
          <a:chExt cx="0" cy="0"/>
        </a:xfrm>
      </p:grpSpPr>
      <p:sp>
        <p:nvSpPr>
          <p:cNvPr id="648" name="Google Shape;64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9" name="Google Shape;64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EXERCISE TWO. The big one. 15 minutes solo. Tell them: 'When you walk out today, this is the artifact you take with you.' Walk the room. Read over shoulders.</a:t>
            </a:r>
            <a:endParaRPr/>
          </a:p>
        </p:txBody>
      </p:sp>
      <p:sp>
        <p:nvSpPr>
          <p:cNvPr id="650" name="Google Shape;65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72" name="Google Shape;672;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Section opener. 'We're going to spend ten minutes on what goes wrong, because I want you to leave with a healthy skepticism.'</a:t>
            </a:r>
            <a:endParaRPr/>
          </a:p>
        </p:txBody>
      </p:sp>
      <p:sp>
        <p:nvSpPr>
          <p:cNvPr id="673" name="Google Shape;673;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1" name="Shape 691"/>
        <p:cNvGrpSpPr/>
        <p:nvPr/>
      </p:nvGrpSpPr>
      <p:grpSpPr>
        <a:xfrm>
          <a:off x="0" y="0"/>
          <a:ext cx="0" cy="0"/>
          <a:chOff x="0" y="0"/>
          <a:chExt cx="0" cy="0"/>
        </a:xfrm>
      </p:grpSpPr>
      <p:sp>
        <p:nvSpPr>
          <p:cNvPr id="692" name="Google Shape;692;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3" name="Google Shape;693;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Three pitfalls. Hallucinations get the most attention but drift kills more workflows. Tell a quick story about a long thread that went off the rails.</a:t>
            </a:r>
            <a:endParaRPr/>
          </a:p>
        </p:txBody>
      </p:sp>
      <p:sp>
        <p:nvSpPr>
          <p:cNvPr id="694" name="Google Shape;694;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6" name="Shape 716"/>
        <p:cNvGrpSpPr/>
        <p:nvPr/>
      </p:nvGrpSpPr>
      <p:grpSpPr>
        <a:xfrm>
          <a:off x="0" y="0"/>
          <a:ext cx="0" cy="0"/>
          <a:chOff x="0" y="0"/>
          <a:chExt cx="0" cy="0"/>
        </a:xfrm>
      </p:grpSpPr>
      <p:sp>
        <p:nvSpPr>
          <p:cNvPr id="717" name="Google Shape;717;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18" name="Google Shape;718;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When NOT to use AI. Read each one slowly. The pastoral care line is the most important. Don't apologize for the list — it's the most important slide of the day.</a:t>
            </a:r>
            <a:endParaRPr/>
          </a:p>
        </p:txBody>
      </p:sp>
      <p:sp>
        <p:nvSpPr>
          <p:cNvPr id="719" name="Google Shape;719;p2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9" name="Shape 739"/>
        <p:cNvGrpSpPr/>
        <p:nvPr/>
      </p:nvGrpSpPr>
      <p:grpSpPr>
        <a:xfrm>
          <a:off x="0" y="0"/>
          <a:ext cx="0" cy="0"/>
          <a:chOff x="0" y="0"/>
          <a:chExt cx="0" cy="0"/>
        </a:xfrm>
      </p:grpSpPr>
      <p:sp>
        <p:nvSpPr>
          <p:cNvPr id="740" name="Google Shape;740;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41" name="Google Shape;741;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EXERCISE THREE. Quick one. Adversarial. Show the model can self-flag if asked. This becomes their review checklist forever.</a:t>
            </a:r>
            <a:endParaRPr/>
          </a:p>
        </p:txBody>
      </p:sp>
      <p:sp>
        <p:nvSpPr>
          <p:cNvPr id="742" name="Google Shape;742;p3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2" name="Shape 762"/>
        <p:cNvGrpSpPr/>
        <p:nvPr/>
      </p:nvGrpSpPr>
      <p:grpSpPr>
        <a:xfrm>
          <a:off x="0" y="0"/>
          <a:ext cx="0" cy="0"/>
          <a:chOff x="0" y="0"/>
          <a:chExt cx="0" cy="0"/>
        </a:xfrm>
      </p:grpSpPr>
      <p:sp>
        <p:nvSpPr>
          <p:cNvPr id="763" name="Google Shape;763;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64" name="Google Shape;764;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Section opener. We're landing the plane. 'Don't leave excited and do nothing on Monday. Pick one thing.'</a:t>
            </a:r>
            <a:endParaRPr/>
          </a:p>
        </p:txBody>
      </p:sp>
      <p:sp>
        <p:nvSpPr>
          <p:cNvPr id="765" name="Google Shape;765;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3" name="Shape 783"/>
        <p:cNvGrpSpPr/>
        <p:nvPr/>
      </p:nvGrpSpPr>
      <p:grpSpPr>
        <a:xfrm>
          <a:off x="0" y="0"/>
          <a:ext cx="0" cy="0"/>
          <a:chOff x="0" y="0"/>
          <a:chExt cx="0" cy="0"/>
        </a:xfrm>
      </p:grpSpPr>
      <p:sp>
        <p:nvSpPr>
          <p:cNvPr id="784" name="Google Shape;784;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85" name="Google Shape;785;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Walk the four steps. Emphasize: ONE workflow. Boring is good. Reps over ambition. 'In six weeks you'll have a library of these and your team will think you're a wizard.'</a:t>
            </a:r>
            <a:endParaRPr/>
          </a:p>
        </p:txBody>
      </p:sp>
      <p:sp>
        <p:nvSpPr>
          <p:cNvPr id="786" name="Google Shape;786;p3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7" name="Shape 807"/>
        <p:cNvGrpSpPr/>
        <p:nvPr/>
      </p:nvGrpSpPr>
      <p:grpSpPr>
        <a:xfrm>
          <a:off x="0" y="0"/>
          <a:ext cx="0" cy="0"/>
          <a:chOff x="0" y="0"/>
          <a:chExt cx="0" cy="0"/>
        </a:xfrm>
      </p:grpSpPr>
      <p:sp>
        <p:nvSpPr>
          <p:cNvPr id="808" name="Google Shape;808;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09" name="Google Shape;809;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Q&amp;A and thank you. Hold space for hard questions. Encourage them to find each other on Discord. End on gratitude — Northwoods, the room, the work.</a:t>
            </a:r>
            <a:endParaRPr/>
          </a:p>
        </p:txBody>
      </p:sp>
      <p:sp>
        <p:nvSpPr>
          <p:cNvPr id="810" name="Google Shape;810;p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 name="Shape 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8" name="Shape 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 name="Shape 7"/>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1"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pn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161C"/>
        </a:solidFill>
      </p:bgPr>
    </p:bg>
    <p:spTree>
      <p:nvGrpSpPr>
        <p:cNvPr id="13" name="Shape 13"/>
        <p:cNvGrpSpPr/>
        <p:nvPr/>
      </p:nvGrpSpPr>
      <p:grpSpPr>
        <a:xfrm>
          <a:off x="0" y="0"/>
          <a:ext cx="0" cy="0"/>
          <a:chOff x="0" y="0"/>
          <a:chExt cx="0" cy="0"/>
        </a:xfrm>
      </p:grpSpPr>
      <p:sp>
        <p:nvSpPr>
          <p:cNvPr id="14" name="Google Shape;14;p1"/>
          <p:cNvSpPr/>
          <p:nvPr/>
        </p:nvSpPr>
        <p:spPr>
          <a:xfrm>
            <a:off x="0" y="0"/>
            <a:ext cx="18288000" cy="10287000"/>
          </a:xfrm>
          <a:prstGeom prst="rect">
            <a:avLst/>
          </a:prstGeom>
          <a:solidFill>
            <a:srgbClr val="14161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 name="Google Shape;15;p1"/>
          <p:cNvSpPr/>
          <p:nvPr/>
        </p:nvSpPr>
        <p:spPr>
          <a:xfrm>
            <a:off x="952500" y="762000"/>
            <a:ext cx="1258044"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FFFFF"/>
              </a:buClr>
              <a:buSzPts val="1950"/>
              <a:buFont typeface="Montserrat"/>
              <a:buNone/>
            </a:pPr>
            <a:r>
              <a:rPr b="1" lang="en-US" sz="1950">
                <a:solidFill>
                  <a:srgbClr val="FFFFFF"/>
                </a:solidFill>
                <a:latin typeface="Montserrat"/>
                <a:ea typeface="Montserrat"/>
                <a:cs typeface="Montserrat"/>
                <a:sym typeface="Montserrat"/>
              </a:rPr>
              <a:t>CITN</a:t>
            </a:r>
            <a:r>
              <a:rPr b="1" lang="en-US" sz="1950">
                <a:solidFill>
                  <a:srgbClr val="3FE0D0"/>
                </a:solidFill>
                <a:latin typeface="Montserrat"/>
                <a:ea typeface="Montserrat"/>
                <a:cs typeface="Montserrat"/>
                <a:sym typeface="Montserrat"/>
              </a:rPr>
              <a:t>·</a:t>
            </a:r>
            <a:r>
              <a:rPr b="1" lang="en-US" sz="1950">
                <a:solidFill>
                  <a:srgbClr val="FFFFFF"/>
                </a:solidFill>
                <a:latin typeface="Montserrat"/>
                <a:ea typeface="Montserrat"/>
                <a:cs typeface="Montserrat"/>
                <a:sym typeface="Montserrat"/>
              </a:rPr>
              <a:t>AI</a:t>
            </a:r>
            <a:endParaRPr sz="1950">
              <a:solidFill>
                <a:schemeClr val="dk1"/>
              </a:solidFill>
              <a:latin typeface="Calibri"/>
              <a:ea typeface="Calibri"/>
              <a:cs typeface="Calibri"/>
              <a:sym typeface="Calibri"/>
            </a:endParaRPr>
          </a:p>
        </p:txBody>
      </p:sp>
      <p:pic>
        <p:nvPicPr>
          <p:cNvPr descr="preencoded.png" id="16" name="Google Shape;16;p1"/>
          <p:cNvPicPr preferRelativeResize="0"/>
          <p:nvPr/>
        </p:nvPicPr>
        <p:blipFill rotWithShape="1">
          <a:blip r:embed="rId3">
            <a:alphaModFix/>
          </a:blip>
          <a:srcRect b="0" l="0" r="0" t="0"/>
          <a:stretch/>
        </p:blipFill>
        <p:spPr>
          <a:xfrm>
            <a:off x="8953500" y="-95250"/>
            <a:ext cx="10477500" cy="10477500"/>
          </a:xfrm>
          <a:prstGeom prst="rect">
            <a:avLst/>
          </a:prstGeom>
          <a:noFill/>
          <a:ln>
            <a:noFill/>
          </a:ln>
        </p:spPr>
      </p:pic>
      <p:pic>
        <p:nvPicPr>
          <p:cNvPr descr="preencoded.png" id="17" name="Google Shape;17;p1"/>
          <p:cNvPicPr preferRelativeResize="0"/>
          <p:nvPr/>
        </p:nvPicPr>
        <p:blipFill rotWithShape="1">
          <a:blip r:embed="rId4">
            <a:alphaModFix amt="50000"/>
          </a:blip>
          <a:srcRect b="0" l="0" r="0" t="0"/>
          <a:stretch/>
        </p:blipFill>
        <p:spPr>
          <a:xfrm>
            <a:off x="0" y="0"/>
            <a:ext cx="18288000" cy="10287000"/>
          </a:xfrm>
          <a:prstGeom prst="rect">
            <a:avLst/>
          </a:prstGeom>
          <a:noFill/>
          <a:ln>
            <a:noFill/>
          </a:ln>
        </p:spPr>
      </p:pic>
      <p:sp>
        <p:nvSpPr>
          <p:cNvPr id="18" name="Google Shape;18;p1"/>
          <p:cNvSpPr/>
          <p:nvPr/>
        </p:nvSpPr>
        <p:spPr>
          <a:xfrm>
            <a:off x="952500" y="3388072"/>
            <a:ext cx="7749419" cy="342900"/>
          </a:xfrm>
          <a:prstGeom prst="rect">
            <a:avLst/>
          </a:prstGeom>
          <a:noFill/>
          <a:ln>
            <a:noFill/>
          </a:ln>
        </p:spPr>
        <p:txBody>
          <a:bodyPr anchorCtr="0" anchor="ctr" bIns="25400" lIns="25400" spcFirstLastPara="1" rIns="25400" wrap="square" tIns="25400">
            <a:normAutofit/>
          </a:bodyPr>
          <a:lstStyle/>
          <a:p>
            <a:pPr indent="0" lvl="0" marL="0" marR="0" rtl="0" algn="l">
              <a:spcBef>
                <a:spcPts val="0"/>
              </a:spcBef>
              <a:spcAft>
                <a:spcPts val="0"/>
              </a:spcAft>
              <a:buClr>
                <a:srgbClr val="3FE0D0"/>
              </a:buClr>
              <a:buSzPts val="1950"/>
              <a:buFont typeface="Montserrat"/>
              <a:buNone/>
            </a:pPr>
            <a:r>
              <a:rPr b="1" lang="en-US" sz="1950">
                <a:solidFill>
                  <a:srgbClr val="3FE0D0"/>
                </a:solidFill>
                <a:latin typeface="Montserrat"/>
                <a:ea typeface="Montserrat"/>
                <a:cs typeface="Montserrat"/>
                <a:sym typeface="Montserrat"/>
              </a:rPr>
              <a:t>CHURCH IT NETWORK · WORKSHOP</a:t>
            </a:r>
            <a:endParaRPr sz="1950">
              <a:solidFill>
                <a:schemeClr val="dk1"/>
              </a:solidFill>
              <a:latin typeface="Calibri"/>
              <a:ea typeface="Calibri"/>
              <a:cs typeface="Calibri"/>
              <a:sym typeface="Calibri"/>
            </a:endParaRPr>
          </a:p>
        </p:txBody>
      </p:sp>
      <p:sp>
        <p:nvSpPr>
          <p:cNvPr id="19" name="Google Shape;19;p1"/>
          <p:cNvSpPr/>
          <p:nvPr/>
        </p:nvSpPr>
        <p:spPr>
          <a:xfrm>
            <a:off x="952500" y="4035772"/>
            <a:ext cx="7749419" cy="2282130"/>
          </a:xfrm>
          <a:prstGeom prst="rect">
            <a:avLst/>
          </a:prstGeom>
          <a:noFill/>
          <a:ln>
            <a:noFill/>
          </a:ln>
        </p:spPr>
        <p:txBody>
          <a:bodyPr anchorCtr="0" anchor="t" bIns="25400" lIns="25400" spcFirstLastPara="1" rIns="25400" wrap="square" tIns="25400">
            <a:normAutofit/>
          </a:bodyPr>
          <a:lstStyle/>
          <a:p>
            <a:pPr indent="0" lvl="0" marL="0" marR="0" rtl="0" algn="l">
              <a:lnSpc>
                <a:spcPct val="95000"/>
              </a:lnSpc>
              <a:spcBef>
                <a:spcPts val="0"/>
              </a:spcBef>
              <a:spcAft>
                <a:spcPts val="0"/>
              </a:spcAft>
              <a:buClr>
                <a:srgbClr val="FFFFFF"/>
              </a:buClr>
              <a:buSzPts val="9300"/>
              <a:buFont typeface="Montserrat"/>
              <a:buNone/>
            </a:pPr>
            <a:r>
              <a:rPr b="1" lang="en-US" sz="9300">
                <a:solidFill>
                  <a:srgbClr val="FFFFFF"/>
                </a:solidFill>
                <a:latin typeface="Montserrat"/>
                <a:ea typeface="Montserrat"/>
                <a:cs typeface="Montserrat"/>
                <a:sym typeface="Montserrat"/>
              </a:rPr>
              <a:t>AI </a:t>
            </a:r>
            <a:r>
              <a:rPr b="1" lang="en-US" sz="9300">
                <a:solidFill>
                  <a:srgbClr val="3FE0D0"/>
                </a:solidFill>
                <a:latin typeface="Montserrat"/>
                <a:ea typeface="Montserrat"/>
                <a:cs typeface="Montserrat"/>
                <a:sym typeface="Montserrat"/>
              </a:rPr>
              <a:t>Context </a:t>
            </a:r>
            <a:r>
              <a:rPr b="1" lang="en-US" sz="9300">
                <a:solidFill>
                  <a:srgbClr val="FFFFFF"/>
                </a:solidFill>
                <a:latin typeface="Montserrat"/>
                <a:ea typeface="Montserrat"/>
                <a:cs typeface="Montserrat"/>
                <a:sym typeface="Montserrat"/>
              </a:rPr>
              <a:t>Engineering</a:t>
            </a:r>
            <a:endParaRPr sz="9300">
              <a:solidFill>
                <a:schemeClr val="dk1"/>
              </a:solidFill>
              <a:latin typeface="Calibri"/>
              <a:ea typeface="Calibri"/>
              <a:cs typeface="Calibri"/>
              <a:sym typeface="Calibri"/>
            </a:endParaRPr>
          </a:p>
        </p:txBody>
      </p:sp>
      <p:sp>
        <p:nvSpPr>
          <p:cNvPr id="20" name="Google Shape;20;p1"/>
          <p:cNvSpPr/>
          <p:nvPr/>
        </p:nvSpPr>
        <p:spPr>
          <a:xfrm>
            <a:off x="952500" y="6622703"/>
            <a:ext cx="3193552" cy="3143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C9CBD1"/>
              </a:buClr>
              <a:buSzPts val="1800"/>
              <a:buFont typeface="Montserrat"/>
              <a:buNone/>
            </a:pPr>
            <a:r>
              <a:rPr b="1" lang="en-US" sz="1800">
                <a:solidFill>
                  <a:srgbClr val="C9CBD1"/>
                </a:solidFill>
                <a:latin typeface="Montserrat"/>
                <a:ea typeface="Montserrat"/>
                <a:cs typeface="Montserrat"/>
                <a:sym typeface="Montserrat"/>
              </a:rPr>
              <a:t>NORTHWOODS CHURCH</a:t>
            </a:r>
            <a:endParaRPr sz="1800">
              <a:solidFill>
                <a:schemeClr val="dk1"/>
              </a:solidFill>
              <a:latin typeface="Calibri"/>
              <a:ea typeface="Calibri"/>
              <a:cs typeface="Calibri"/>
              <a:sym typeface="Calibri"/>
            </a:endParaRPr>
          </a:p>
        </p:txBody>
      </p:sp>
      <p:sp>
        <p:nvSpPr>
          <p:cNvPr id="21" name="Google Shape;21;p1"/>
          <p:cNvSpPr/>
          <p:nvPr/>
        </p:nvSpPr>
        <p:spPr>
          <a:xfrm>
            <a:off x="4357836" y="6732240"/>
            <a:ext cx="57150" cy="57150"/>
          </a:xfrm>
          <a:prstGeom prst="ellipse">
            <a:avLst/>
          </a:prstGeom>
          <a:solidFill>
            <a:srgbClr val="3FE0D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 name="Google Shape;22;p1"/>
          <p:cNvSpPr/>
          <p:nvPr/>
        </p:nvSpPr>
        <p:spPr>
          <a:xfrm>
            <a:off x="4719786" y="6622703"/>
            <a:ext cx="1424434" cy="3143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C9CBD1"/>
              </a:buClr>
              <a:buSzPts val="1800"/>
              <a:buFont typeface="Montserrat"/>
              <a:buNone/>
            </a:pPr>
            <a:r>
              <a:rPr b="1" lang="en-US" sz="1800">
                <a:solidFill>
                  <a:srgbClr val="C9CBD1"/>
                </a:solidFill>
                <a:latin typeface="Montserrat"/>
                <a:ea typeface="Montserrat"/>
                <a:cs typeface="Montserrat"/>
                <a:sym typeface="Montserrat"/>
              </a:rPr>
              <a:t>PEORIA, IL</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 name="Shape 27"/>
        <p:cNvGrpSpPr/>
        <p:nvPr/>
      </p:nvGrpSpPr>
      <p:grpSpPr>
        <a:xfrm>
          <a:off x="0" y="0"/>
          <a:ext cx="0" cy="0"/>
          <a:chOff x="0" y="0"/>
          <a:chExt cx="0" cy="0"/>
        </a:xfrm>
      </p:grpSpPr>
      <p:sp>
        <p:nvSpPr>
          <p:cNvPr id="28" name="Google Shape;28;p2"/>
          <p:cNvSpPr/>
          <p:nvPr/>
        </p:nvSpPr>
        <p:spPr>
          <a:xfrm>
            <a:off x="952500" y="2667000"/>
            <a:ext cx="6858000" cy="6858000"/>
          </a:xfrm>
          <a:prstGeom prst="roundRect">
            <a:avLst>
              <a:gd fmla="val 2778" name="adj"/>
            </a:avLst>
          </a:prstGeom>
          <a:solidFill>
            <a:srgbClr val="1B1D2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 name="Google Shape;29;p2"/>
          <p:cNvSpPr/>
          <p:nvPr/>
        </p:nvSpPr>
        <p:spPr>
          <a:xfrm>
            <a:off x="2710309" y="4705350"/>
            <a:ext cx="3442500" cy="28194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18000"/>
              <a:buFont typeface="Montserrat"/>
              <a:buNone/>
            </a:pPr>
            <a:r>
              <a:rPr b="1" lang="en-US" sz="18000">
                <a:solidFill>
                  <a:srgbClr val="3FE0D0"/>
                </a:solidFill>
                <a:latin typeface="Montserrat"/>
                <a:ea typeface="Montserrat"/>
                <a:cs typeface="Montserrat"/>
                <a:sym typeface="Montserrat"/>
              </a:rPr>
              <a:t>CK</a:t>
            </a:r>
            <a:endParaRPr sz="18000">
              <a:solidFill>
                <a:schemeClr val="dk1"/>
              </a:solidFill>
              <a:latin typeface="Calibri"/>
              <a:ea typeface="Calibri"/>
              <a:cs typeface="Calibri"/>
              <a:sym typeface="Calibri"/>
            </a:endParaRPr>
          </a:p>
        </p:txBody>
      </p:sp>
      <p:sp>
        <p:nvSpPr>
          <p:cNvPr id="30" name="Google Shape;30;p2"/>
          <p:cNvSpPr/>
          <p:nvPr/>
        </p:nvSpPr>
        <p:spPr>
          <a:xfrm>
            <a:off x="8572500" y="4130278"/>
            <a:ext cx="9025890"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800"/>
              <a:buFont typeface="JetBrains Mono"/>
              <a:buNone/>
            </a:pPr>
            <a:r>
              <a:rPr lang="en-US" sz="1800">
                <a:solidFill>
                  <a:srgbClr val="F58220"/>
                </a:solidFill>
                <a:latin typeface="JetBrains Mono"/>
                <a:ea typeface="JetBrains Mono"/>
                <a:cs typeface="JetBrains Mono"/>
                <a:sym typeface="JetBrains Mono"/>
              </a:rPr>
              <a:t>SPEAKER</a:t>
            </a:r>
            <a:endParaRPr sz="1800">
              <a:solidFill>
                <a:schemeClr val="dk1"/>
              </a:solidFill>
              <a:latin typeface="Calibri"/>
              <a:ea typeface="Calibri"/>
              <a:cs typeface="Calibri"/>
              <a:sym typeface="Calibri"/>
            </a:endParaRPr>
          </a:p>
        </p:txBody>
      </p:sp>
      <p:sp>
        <p:nvSpPr>
          <p:cNvPr id="31" name="Google Shape;31;p2"/>
          <p:cNvSpPr/>
          <p:nvPr/>
        </p:nvSpPr>
        <p:spPr>
          <a:xfrm>
            <a:off x="8572500" y="4597003"/>
            <a:ext cx="9025890" cy="952500"/>
          </a:xfrm>
          <a:prstGeom prst="rect">
            <a:avLst/>
          </a:prstGeom>
          <a:noFill/>
          <a:ln>
            <a:noFill/>
          </a:ln>
        </p:spPr>
        <p:txBody>
          <a:bodyPr anchorCtr="0" anchor="t" bIns="25400" lIns="25400" spcFirstLastPara="1" rIns="25400" wrap="square" tIns="25400">
            <a:normAutofit/>
          </a:bodyPr>
          <a:lstStyle/>
          <a:p>
            <a:pPr indent="0" lvl="0" marL="0" marR="0" rtl="0" algn="l">
              <a:lnSpc>
                <a:spcPct val="100000"/>
              </a:lnSpc>
              <a:spcBef>
                <a:spcPts val="0"/>
              </a:spcBef>
              <a:spcAft>
                <a:spcPts val="0"/>
              </a:spcAft>
              <a:buClr>
                <a:srgbClr val="2A2D38"/>
              </a:buClr>
              <a:buSzPts val="7200"/>
              <a:buFont typeface="Montserrat"/>
              <a:buNone/>
            </a:pPr>
            <a:r>
              <a:rPr b="1" lang="en-US" sz="7200">
                <a:solidFill>
                  <a:srgbClr val="2A2D38"/>
                </a:solidFill>
                <a:latin typeface="Montserrat"/>
                <a:ea typeface="Montserrat"/>
                <a:cs typeface="Montserrat"/>
                <a:sym typeface="Montserrat"/>
              </a:rPr>
              <a:t>Chris Kehayias</a:t>
            </a:r>
            <a:endParaRPr sz="7200">
              <a:solidFill>
                <a:schemeClr val="dk1"/>
              </a:solidFill>
              <a:latin typeface="Calibri"/>
              <a:ea typeface="Calibri"/>
              <a:cs typeface="Calibri"/>
              <a:sym typeface="Calibri"/>
            </a:endParaRPr>
          </a:p>
        </p:txBody>
      </p:sp>
      <p:sp>
        <p:nvSpPr>
          <p:cNvPr id="32" name="Google Shape;32;p2"/>
          <p:cNvSpPr/>
          <p:nvPr/>
        </p:nvSpPr>
        <p:spPr>
          <a:xfrm>
            <a:off x="8584075" y="5696603"/>
            <a:ext cx="9025890" cy="409575"/>
          </a:xfrm>
          <a:prstGeom prst="rect">
            <a:avLst/>
          </a:prstGeom>
          <a:noFill/>
          <a:ln>
            <a:noFill/>
          </a:ln>
        </p:spPr>
        <p:txBody>
          <a:bodyPr anchorCtr="0" anchor="t" bIns="25400" lIns="25400" spcFirstLastPara="1" rIns="25400" wrap="square" tIns="25400">
            <a:normAutofit/>
          </a:bodyPr>
          <a:lstStyle/>
          <a:p>
            <a:pPr indent="0" lvl="0" marL="0" marR="0" rtl="0" algn="l">
              <a:lnSpc>
                <a:spcPct val="90000"/>
              </a:lnSpc>
              <a:spcBef>
                <a:spcPts val="0"/>
              </a:spcBef>
              <a:spcAft>
                <a:spcPts val="0"/>
              </a:spcAft>
              <a:buClr>
                <a:srgbClr val="F58220"/>
              </a:buClr>
              <a:buSzPts val="2400"/>
              <a:buFont typeface="Montserrat"/>
              <a:buNone/>
            </a:pPr>
            <a:r>
              <a:rPr b="1" lang="en-US" sz="2400">
                <a:solidFill>
                  <a:srgbClr val="F58220"/>
                </a:solidFill>
                <a:latin typeface="Montserrat"/>
                <a:ea typeface="Montserrat"/>
                <a:cs typeface="Montserrat"/>
                <a:sym typeface="Montserrat"/>
              </a:rPr>
              <a:t>SVP, AI &amp; INNOVATION – ACS Technologies</a:t>
            </a:r>
            <a:endParaRPr sz="24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3"/>
          <p:cNvSpPr/>
          <p:nvPr/>
        </p:nvSpPr>
        <p:spPr>
          <a:xfrm>
            <a:off x="8572500" y="4130278"/>
            <a:ext cx="9025890"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800"/>
              <a:buFont typeface="JetBrains Mono"/>
              <a:buNone/>
            </a:pPr>
            <a:r>
              <a:rPr lang="en-US" sz="1800">
                <a:solidFill>
                  <a:srgbClr val="F58220"/>
                </a:solidFill>
                <a:latin typeface="JetBrains Mono"/>
                <a:ea typeface="JetBrains Mono"/>
                <a:cs typeface="JetBrains Mono"/>
                <a:sym typeface="JetBrains Mono"/>
              </a:rPr>
              <a:t>SPEAKER</a:t>
            </a:r>
            <a:endParaRPr sz="1800">
              <a:solidFill>
                <a:schemeClr val="dk1"/>
              </a:solidFill>
              <a:latin typeface="Calibri"/>
              <a:ea typeface="Calibri"/>
              <a:cs typeface="Calibri"/>
              <a:sym typeface="Calibri"/>
            </a:endParaRPr>
          </a:p>
        </p:txBody>
      </p:sp>
      <p:sp>
        <p:nvSpPr>
          <p:cNvPr id="39" name="Google Shape;39;p3"/>
          <p:cNvSpPr/>
          <p:nvPr/>
        </p:nvSpPr>
        <p:spPr>
          <a:xfrm>
            <a:off x="8572500" y="4631728"/>
            <a:ext cx="9025890" cy="952500"/>
          </a:xfrm>
          <a:prstGeom prst="rect">
            <a:avLst/>
          </a:prstGeom>
          <a:noFill/>
          <a:ln>
            <a:noFill/>
          </a:ln>
        </p:spPr>
        <p:txBody>
          <a:bodyPr anchorCtr="0" anchor="t" bIns="25400" lIns="25400" spcFirstLastPara="1" rIns="25400" wrap="square" tIns="25400">
            <a:normAutofit/>
          </a:bodyPr>
          <a:lstStyle/>
          <a:p>
            <a:pPr indent="0" lvl="0" marL="0" marR="0" rtl="0" algn="l">
              <a:lnSpc>
                <a:spcPct val="80000"/>
              </a:lnSpc>
              <a:spcBef>
                <a:spcPts val="0"/>
              </a:spcBef>
              <a:spcAft>
                <a:spcPts val="0"/>
              </a:spcAft>
              <a:buClr>
                <a:srgbClr val="2A2D38"/>
              </a:buClr>
              <a:buSzPts val="6660"/>
              <a:buFont typeface="Montserrat"/>
              <a:buNone/>
            </a:pPr>
            <a:r>
              <a:rPr b="1" lang="en-US" sz="6660">
                <a:solidFill>
                  <a:srgbClr val="2A2D38"/>
                </a:solidFill>
                <a:latin typeface="Montserrat"/>
                <a:ea typeface="Montserrat"/>
                <a:cs typeface="Montserrat"/>
                <a:sym typeface="Montserrat"/>
              </a:rPr>
              <a:t>Tripp Lisenby</a:t>
            </a:r>
            <a:endParaRPr sz="6660">
              <a:solidFill>
                <a:schemeClr val="dk1"/>
              </a:solidFill>
              <a:latin typeface="Calibri"/>
              <a:ea typeface="Calibri"/>
              <a:cs typeface="Calibri"/>
              <a:sym typeface="Calibri"/>
            </a:endParaRPr>
          </a:p>
        </p:txBody>
      </p:sp>
      <p:sp>
        <p:nvSpPr>
          <p:cNvPr id="40" name="Google Shape;40;p3"/>
          <p:cNvSpPr/>
          <p:nvPr/>
        </p:nvSpPr>
        <p:spPr>
          <a:xfrm>
            <a:off x="8584075" y="5696603"/>
            <a:ext cx="9025890" cy="409575"/>
          </a:xfrm>
          <a:prstGeom prst="rect">
            <a:avLst/>
          </a:prstGeom>
          <a:noFill/>
          <a:ln>
            <a:noFill/>
          </a:ln>
        </p:spPr>
        <p:txBody>
          <a:bodyPr anchorCtr="0" anchor="t" bIns="25400" lIns="25400" spcFirstLastPara="1" rIns="25400" wrap="square" tIns="25400">
            <a:normAutofit/>
          </a:bodyPr>
          <a:lstStyle/>
          <a:p>
            <a:pPr indent="0" lvl="0" marL="0" marR="0" rtl="0" algn="l">
              <a:lnSpc>
                <a:spcPct val="90000"/>
              </a:lnSpc>
              <a:spcBef>
                <a:spcPts val="0"/>
              </a:spcBef>
              <a:spcAft>
                <a:spcPts val="0"/>
              </a:spcAft>
              <a:buClr>
                <a:srgbClr val="F58220"/>
              </a:buClr>
              <a:buSzPts val="2400"/>
              <a:buFont typeface="Montserrat"/>
              <a:buNone/>
            </a:pPr>
            <a:r>
              <a:rPr b="1" lang="en-US" sz="2400">
                <a:solidFill>
                  <a:srgbClr val="F58220"/>
                </a:solidFill>
                <a:latin typeface="Montserrat"/>
                <a:ea typeface="Montserrat"/>
                <a:cs typeface="Montserrat"/>
                <a:sym typeface="Montserrat"/>
              </a:rPr>
              <a:t>AI Developer – ACS Technologies</a:t>
            </a:r>
            <a:endParaRPr sz="2400">
              <a:solidFill>
                <a:schemeClr val="dk1"/>
              </a:solidFill>
              <a:latin typeface="Calibri"/>
              <a:ea typeface="Calibri"/>
              <a:cs typeface="Calibri"/>
              <a:sym typeface="Calibri"/>
            </a:endParaRPr>
          </a:p>
        </p:txBody>
      </p:sp>
      <p:pic>
        <p:nvPicPr>
          <p:cNvPr id="41" name="Google Shape;41;p3" title="DisneyTLMustacheGB.png"/>
          <p:cNvPicPr preferRelativeResize="0"/>
          <p:nvPr/>
        </p:nvPicPr>
        <p:blipFill>
          <a:blip r:embed="rId3">
            <a:alphaModFix/>
          </a:blip>
          <a:stretch>
            <a:fillRect/>
          </a:stretch>
        </p:blipFill>
        <p:spPr>
          <a:xfrm>
            <a:off x="977900" y="2692400"/>
            <a:ext cx="6832500" cy="6832500"/>
          </a:xfrm>
          <a:prstGeom prst="flowChartAlternateProcess">
            <a:avLst/>
          </a:prstGeom>
          <a:solidFill>
            <a:srgbClr val="1B1D24"/>
          </a:solidFill>
          <a:ln cap="flat" cmpd="sng" w="76200">
            <a:solidFill>
              <a:srgbClr val="000000"/>
            </a:solidFill>
            <a:prstDash val="solid"/>
            <a:round/>
            <a:headEnd len="sm" w="sm" type="none"/>
            <a:tailEnd len="sm" w="sm" type="none"/>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 name="Shape 46"/>
        <p:cNvGrpSpPr/>
        <p:nvPr/>
      </p:nvGrpSpPr>
      <p:grpSpPr>
        <a:xfrm>
          <a:off x="0" y="0"/>
          <a:ext cx="0" cy="0"/>
          <a:chOff x="0" y="0"/>
          <a:chExt cx="0" cy="0"/>
        </a:xfrm>
      </p:grpSpPr>
      <p:sp>
        <p:nvSpPr>
          <p:cNvPr id="47" name="Google Shape;47;g3dc15369c17_0_120"/>
          <p:cNvSpPr/>
          <p:nvPr/>
        </p:nvSpPr>
        <p:spPr>
          <a:xfrm>
            <a:off x="1143000" y="476250"/>
            <a:ext cx="39144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PRESENTED BY · TRIPP LISENBY</a:t>
            </a:r>
            <a:endParaRPr b="0" i="0" sz="1350" u="none" cap="none" strike="noStrike">
              <a:solidFill>
                <a:schemeClr val="dk1"/>
              </a:solidFill>
              <a:latin typeface="Calibri"/>
              <a:ea typeface="Calibri"/>
              <a:cs typeface="Calibri"/>
              <a:sym typeface="Calibri"/>
            </a:endParaRPr>
          </a:p>
        </p:txBody>
      </p:sp>
      <p:sp>
        <p:nvSpPr>
          <p:cNvPr id="48" name="Google Shape;48;g3dc15369c17_0_120"/>
          <p:cNvSpPr/>
          <p:nvPr/>
        </p:nvSpPr>
        <p:spPr>
          <a:xfrm>
            <a:off x="16365974" y="476250"/>
            <a:ext cx="8553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10 MIN</a:t>
            </a:r>
            <a:endParaRPr b="0" i="0" sz="1350" u="none" cap="none" strike="noStrike">
              <a:solidFill>
                <a:schemeClr val="dk1"/>
              </a:solidFill>
              <a:latin typeface="Calibri"/>
              <a:ea typeface="Calibri"/>
              <a:cs typeface="Calibri"/>
              <a:sym typeface="Calibri"/>
            </a:endParaRPr>
          </a:p>
        </p:txBody>
      </p:sp>
      <p:sp>
        <p:nvSpPr>
          <p:cNvPr id="49" name="Google Shape;49;g3dc15369c17_0_120"/>
          <p:cNvSpPr/>
          <p:nvPr/>
        </p:nvSpPr>
        <p:spPr>
          <a:xfrm>
            <a:off x="1143000" y="2093952"/>
            <a:ext cx="16482000" cy="3123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F58220"/>
              </a:buClr>
              <a:buSzPts val="1650"/>
              <a:buFont typeface="Arial"/>
              <a:buNone/>
            </a:pPr>
            <a:r>
              <a:rPr b="0" i="0" lang="en-US" sz="1650" u="none" cap="none" strike="noStrike">
                <a:solidFill>
                  <a:srgbClr val="F58220"/>
                </a:solidFill>
                <a:latin typeface="Arial"/>
                <a:ea typeface="Arial"/>
                <a:cs typeface="Arial"/>
                <a:sym typeface="Arial"/>
              </a:rPr>
              <a:t>A PERSONAL JOURNEY</a:t>
            </a:r>
            <a:endParaRPr b="0" i="0" sz="1650" u="none" cap="none" strike="noStrike">
              <a:solidFill>
                <a:schemeClr val="dk1"/>
              </a:solidFill>
              <a:latin typeface="Calibri"/>
              <a:ea typeface="Calibri"/>
              <a:cs typeface="Calibri"/>
              <a:sym typeface="Calibri"/>
            </a:endParaRPr>
          </a:p>
        </p:txBody>
      </p:sp>
      <p:sp>
        <p:nvSpPr>
          <p:cNvPr id="50" name="Google Shape;50;g3dc15369c17_0_120"/>
          <p:cNvSpPr/>
          <p:nvPr/>
        </p:nvSpPr>
        <p:spPr>
          <a:xfrm>
            <a:off x="1143000" y="2749272"/>
            <a:ext cx="16482000" cy="3215700"/>
          </a:xfrm>
          <a:prstGeom prst="rect">
            <a:avLst/>
          </a:prstGeom>
          <a:noFill/>
          <a:ln>
            <a:noFill/>
          </a:ln>
        </p:spPr>
        <p:txBody>
          <a:bodyPr anchorCtr="0" anchor="t" bIns="25400" lIns="25400" spcFirstLastPara="1" rIns="25400" wrap="square" tIns="25400">
            <a:noAutofit/>
          </a:bodyPr>
          <a:lstStyle/>
          <a:p>
            <a:pPr indent="0" lvl="0" marL="0" marR="0" rtl="0" algn="l">
              <a:lnSpc>
                <a:spcPct val="92000"/>
              </a:lnSpc>
              <a:spcBef>
                <a:spcPts val="0"/>
              </a:spcBef>
              <a:spcAft>
                <a:spcPts val="0"/>
              </a:spcAft>
              <a:buClr>
                <a:srgbClr val="14161C"/>
              </a:buClr>
              <a:buSzPts val="13500"/>
              <a:buFont typeface="Arial"/>
              <a:buNone/>
            </a:pPr>
            <a:r>
              <a:rPr b="1" i="0" lang="en-US" sz="13500" u="none" cap="none" strike="noStrike">
                <a:solidFill>
                  <a:srgbClr val="14161C"/>
                </a:solidFill>
                <a:latin typeface="Arial"/>
                <a:ea typeface="Arial"/>
                <a:cs typeface="Arial"/>
                <a:sym typeface="Arial"/>
              </a:rPr>
              <a:t>Vibe Coder </a:t>
            </a:r>
            <a:r>
              <a:rPr b="1" i="0" lang="en-US" sz="13500" u="none" cap="none" strike="noStrike">
                <a:solidFill>
                  <a:srgbClr val="F58220"/>
                </a:solidFill>
                <a:latin typeface="Arial"/>
                <a:ea typeface="Arial"/>
                <a:cs typeface="Arial"/>
                <a:sym typeface="Arial"/>
              </a:rPr>
              <a:t>→ </a:t>
            </a:r>
            <a:r>
              <a:rPr b="0" i="0" lang="en-US" sz="13500" u="none" cap="none" strike="noStrike">
                <a:solidFill>
                  <a:srgbClr val="14161C"/>
                </a:solidFill>
                <a:latin typeface="Arial"/>
                <a:ea typeface="Arial"/>
                <a:cs typeface="Arial"/>
                <a:sym typeface="Arial"/>
              </a:rPr>
              <a:t>Context Engineer</a:t>
            </a:r>
            <a:endParaRPr b="0" i="0" sz="13500" u="none" cap="none" strike="noStrike">
              <a:solidFill>
                <a:schemeClr val="dk1"/>
              </a:solidFill>
              <a:latin typeface="Calibri"/>
              <a:ea typeface="Calibri"/>
              <a:cs typeface="Calibri"/>
              <a:sym typeface="Calibri"/>
            </a:endParaRPr>
          </a:p>
        </p:txBody>
      </p:sp>
      <p:sp>
        <p:nvSpPr>
          <p:cNvPr id="51" name="Google Shape;51;g3dc15369c17_0_120"/>
          <p:cNvSpPr/>
          <p:nvPr/>
        </p:nvSpPr>
        <p:spPr>
          <a:xfrm>
            <a:off x="1143000" y="6460212"/>
            <a:ext cx="12753900" cy="526800"/>
          </a:xfrm>
          <a:prstGeom prst="rect">
            <a:avLst/>
          </a:prstGeom>
          <a:noFill/>
          <a:ln>
            <a:noFill/>
          </a:ln>
        </p:spPr>
        <p:txBody>
          <a:bodyPr anchorCtr="0" anchor="t" bIns="25400" lIns="25400" spcFirstLastPara="1" rIns="25400" wrap="square" tIns="25400">
            <a:noAutofit/>
          </a:bodyPr>
          <a:lstStyle/>
          <a:p>
            <a:pPr indent="0" lvl="0" marL="0" marR="0" rtl="0" algn="l">
              <a:lnSpc>
                <a:spcPct val="135000"/>
              </a:lnSpc>
              <a:spcBef>
                <a:spcPts val="0"/>
              </a:spcBef>
              <a:spcAft>
                <a:spcPts val="0"/>
              </a:spcAft>
              <a:buClr>
                <a:srgbClr val="6B6E78"/>
              </a:buClr>
              <a:buSzPts val="2850"/>
              <a:buFont typeface="Arial"/>
              <a:buNone/>
            </a:pPr>
            <a:r>
              <a:rPr b="0" i="0" lang="en-US" sz="2850" u="none" cap="none" strike="noStrike">
                <a:solidFill>
                  <a:srgbClr val="6B6E78"/>
                </a:solidFill>
                <a:latin typeface="Arial"/>
                <a:ea typeface="Arial"/>
                <a:cs typeface="Arial"/>
                <a:sym typeface="Arial"/>
              </a:rPr>
              <a:t>How I stopped one-shotting and started thinking.</a:t>
            </a:r>
            <a:endParaRPr b="0" i="0" sz="2850" u="none" cap="none" strike="noStrike">
              <a:solidFill>
                <a:schemeClr val="dk1"/>
              </a:solidFill>
              <a:latin typeface="Calibri"/>
              <a:ea typeface="Calibri"/>
              <a:cs typeface="Calibri"/>
              <a:sym typeface="Calibri"/>
            </a:endParaRPr>
          </a:p>
        </p:txBody>
      </p:sp>
      <p:sp>
        <p:nvSpPr>
          <p:cNvPr id="52" name="Google Shape;52;g3dc15369c17_0_120"/>
          <p:cNvSpPr/>
          <p:nvPr/>
        </p:nvSpPr>
        <p:spPr>
          <a:xfrm>
            <a:off x="1143000" y="9231630"/>
            <a:ext cx="164820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 6 STAGES · 1 SHIFT</a:t>
            </a:r>
            <a:endParaRPr b="0" i="0" sz="135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g3dc15369c17_0_130"/>
          <p:cNvSpPr/>
          <p:nvPr/>
        </p:nvSpPr>
        <p:spPr>
          <a:xfrm>
            <a:off x="1143000" y="476250"/>
            <a:ext cx="20808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VIBE → CONTEXT</a:t>
            </a:r>
            <a:endParaRPr b="0" i="0" sz="1350" u="none" cap="none" strike="noStrike">
              <a:solidFill>
                <a:schemeClr val="dk1"/>
              </a:solidFill>
              <a:latin typeface="Calibri"/>
              <a:ea typeface="Calibri"/>
              <a:cs typeface="Calibri"/>
              <a:sym typeface="Calibri"/>
            </a:endParaRPr>
          </a:p>
        </p:txBody>
      </p:sp>
      <p:sp>
        <p:nvSpPr>
          <p:cNvPr id="59" name="Google Shape;59;g3dc15369c17_0_130"/>
          <p:cNvSpPr/>
          <p:nvPr/>
        </p:nvSpPr>
        <p:spPr>
          <a:xfrm>
            <a:off x="16356568" y="476250"/>
            <a:ext cx="8646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01 / 06</a:t>
            </a:r>
            <a:endParaRPr b="0" i="0" sz="1350" u="none" cap="none" strike="noStrike">
              <a:solidFill>
                <a:schemeClr val="dk1"/>
              </a:solidFill>
              <a:latin typeface="Calibri"/>
              <a:ea typeface="Calibri"/>
              <a:cs typeface="Calibri"/>
              <a:sym typeface="Calibri"/>
            </a:endParaRPr>
          </a:p>
        </p:txBody>
      </p:sp>
      <p:sp>
        <p:nvSpPr>
          <p:cNvPr id="60" name="Google Shape;60;g3dc15369c17_0_130"/>
          <p:cNvSpPr/>
          <p:nvPr/>
        </p:nvSpPr>
        <p:spPr>
          <a:xfrm>
            <a:off x="12477750" y="381000"/>
            <a:ext cx="5602800" cy="4248300"/>
          </a:xfrm>
          <a:prstGeom prst="rect">
            <a:avLst/>
          </a:prstGeom>
          <a:noFill/>
          <a:ln>
            <a:noFill/>
          </a:ln>
        </p:spPr>
        <p:txBody>
          <a:bodyPr anchorCtr="0" anchor="t" bIns="25400" lIns="25400" spcFirstLastPara="1" rIns="25400" wrap="square" tIns="25400">
            <a:noAutofit/>
          </a:bodyPr>
          <a:lstStyle/>
          <a:p>
            <a:pPr indent="0" lvl="0" marL="0" marR="0" rtl="0" algn="l">
              <a:lnSpc>
                <a:spcPct val="85000"/>
              </a:lnSpc>
              <a:spcBef>
                <a:spcPts val="0"/>
              </a:spcBef>
              <a:spcAft>
                <a:spcPts val="0"/>
              </a:spcAft>
              <a:buClr>
                <a:srgbClr val="F7F5F1"/>
              </a:buClr>
              <a:buSzPts val="39000"/>
              <a:buFont typeface="Arial"/>
              <a:buNone/>
            </a:pPr>
            <a:r>
              <a:rPr b="1" i="0" lang="en-US" sz="39000" u="none" cap="none" strike="noStrike">
                <a:solidFill>
                  <a:srgbClr val="F7F5F1"/>
                </a:solidFill>
                <a:latin typeface="Arial"/>
                <a:ea typeface="Arial"/>
                <a:cs typeface="Arial"/>
                <a:sym typeface="Arial"/>
              </a:rPr>
              <a:t>01</a:t>
            </a:r>
            <a:endParaRPr b="0" i="0" sz="39000" u="none" cap="none" strike="noStrike">
              <a:solidFill>
                <a:schemeClr val="dk1"/>
              </a:solidFill>
              <a:latin typeface="Calibri"/>
              <a:ea typeface="Calibri"/>
              <a:cs typeface="Calibri"/>
              <a:sym typeface="Calibri"/>
            </a:endParaRPr>
          </a:p>
        </p:txBody>
      </p:sp>
      <p:sp>
        <p:nvSpPr>
          <p:cNvPr id="61" name="Google Shape;61;g3dc15369c17_0_130"/>
          <p:cNvSpPr/>
          <p:nvPr/>
        </p:nvSpPr>
        <p:spPr>
          <a:xfrm>
            <a:off x="1143000" y="2904172"/>
            <a:ext cx="12753900" cy="3123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F58220"/>
              </a:buClr>
              <a:buSzPts val="1650"/>
              <a:buFont typeface="Arial"/>
              <a:buNone/>
            </a:pPr>
            <a:r>
              <a:rPr b="0" i="0" lang="en-US" sz="1650" u="none" cap="none" strike="noStrike">
                <a:solidFill>
                  <a:srgbClr val="F58220"/>
                </a:solidFill>
                <a:latin typeface="Arial"/>
                <a:ea typeface="Arial"/>
                <a:cs typeface="Arial"/>
                <a:sym typeface="Arial"/>
              </a:rPr>
              <a:t>STAGE 01</a:t>
            </a:r>
            <a:endParaRPr b="0" i="0" sz="1650" u="none" cap="none" strike="noStrike">
              <a:solidFill>
                <a:schemeClr val="dk1"/>
              </a:solidFill>
              <a:latin typeface="Calibri"/>
              <a:ea typeface="Calibri"/>
              <a:cs typeface="Calibri"/>
              <a:sym typeface="Calibri"/>
            </a:endParaRPr>
          </a:p>
        </p:txBody>
      </p:sp>
      <p:sp>
        <p:nvSpPr>
          <p:cNvPr id="62" name="Google Shape;62;g3dc15369c17_0_130"/>
          <p:cNvSpPr/>
          <p:nvPr/>
        </p:nvSpPr>
        <p:spPr>
          <a:xfrm>
            <a:off x="1143000" y="3483293"/>
            <a:ext cx="12753900" cy="1558200"/>
          </a:xfrm>
          <a:prstGeom prst="rect">
            <a:avLst/>
          </a:prstGeom>
          <a:noFill/>
          <a:ln>
            <a:noFill/>
          </a:ln>
        </p:spPr>
        <p:txBody>
          <a:bodyPr anchorCtr="0" anchor="t" bIns="25400" lIns="25400" spcFirstLastPara="1" rIns="25400" wrap="square" tIns="25400">
            <a:noAutofit/>
          </a:bodyPr>
          <a:lstStyle/>
          <a:p>
            <a:pPr indent="0" lvl="0" marL="0" marR="0" rtl="0" algn="l">
              <a:lnSpc>
                <a:spcPct val="95000"/>
              </a:lnSpc>
              <a:spcBef>
                <a:spcPts val="0"/>
              </a:spcBef>
              <a:spcAft>
                <a:spcPts val="0"/>
              </a:spcAft>
              <a:buClr>
                <a:srgbClr val="14161C"/>
              </a:buClr>
              <a:buSzPts val="12600"/>
              <a:buFont typeface="Arial"/>
              <a:buNone/>
            </a:pPr>
            <a:r>
              <a:rPr b="1" i="0" lang="en-US" sz="12600" u="none" cap="none" strike="noStrike">
                <a:solidFill>
                  <a:srgbClr val="14161C"/>
                </a:solidFill>
                <a:latin typeface="Arial"/>
                <a:ea typeface="Arial"/>
                <a:cs typeface="Arial"/>
                <a:sym typeface="Arial"/>
              </a:rPr>
              <a:t>The Spark.</a:t>
            </a:r>
            <a:endParaRPr b="0" i="0" sz="12600" u="none" cap="none" strike="noStrike">
              <a:solidFill>
                <a:schemeClr val="dk1"/>
              </a:solidFill>
              <a:latin typeface="Calibri"/>
              <a:ea typeface="Calibri"/>
              <a:cs typeface="Calibri"/>
              <a:sym typeface="Calibri"/>
            </a:endParaRPr>
          </a:p>
        </p:txBody>
      </p:sp>
      <p:sp>
        <p:nvSpPr>
          <p:cNvPr id="63" name="Google Shape;63;g3dc15369c17_0_130"/>
          <p:cNvSpPr/>
          <p:nvPr/>
        </p:nvSpPr>
        <p:spPr>
          <a:xfrm>
            <a:off x="1143000" y="5460682"/>
            <a:ext cx="11772900" cy="1118100"/>
          </a:xfrm>
          <a:prstGeom prst="rect">
            <a:avLst/>
          </a:prstGeom>
          <a:noFill/>
          <a:ln>
            <a:noFill/>
          </a:ln>
        </p:spPr>
        <p:txBody>
          <a:bodyPr anchorCtr="0" anchor="t" bIns="25400" lIns="25400" spcFirstLastPara="1" rIns="25400" wrap="square" tIns="25400">
            <a:noAutofit/>
          </a:bodyPr>
          <a:lstStyle/>
          <a:p>
            <a:pPr indent="0" lvl="0" marL="0" marR="0" rtl="0" algn="l">
              <a:lnSpc>
                <a:spcPct val="135000"/>
              </a:lnSpc>
              <a:spcBef>
                <a:spcPts val="0"/>
              </a:spcBef>
              <a:spcAft>
                <a:spcPts val="0"/>
              </a:spcAft>
              <a:buClr>
                <a:srgbClr val="6B6E78"/>
              </a:buClr>
              <a:buSzPts val="3150"/>
              <a:buFont typeface="Arial"/>
              <a:buNone/>
            </a:pPr>
            <a:r>
              <a:rPr b="0" i="0" lang="en-US" sz="3150" u="none" cap="none" strike="noStrike">
                <a:solidFill>
                  <a:srgbClr val="6B6E78"/>
                </a:solidFill>
                <a:latin typeface="Arial"/>
                <a:ea typeface="Arial"/>
                <a:cs typeface="Arial"/>
                <a:sym typeface="Arial"/>
              </a:rPr>
              <a:t>ChatGPT had just dropped. I started one-shotting prompts to get through my classes.</a:t>
            </a:r>
            <a:endParaRPr b="0" i="0" sz="3150" u="none" cap="none" strike="noStrike">
              <a:solidFill>
                <a:schemeClr val="dk1"/>
              </a:solidFill>
              <a:latin typeface="Calibri"/>
              <a:ea typeface="Calibri"/>
              <a:cs typeface="Calibri"/>
              <a:sym typeface="Calibri"/>
            </a:endParaRPr>
          </a:p>
        </p:txBody>
      </p:sp>
      <p:sp>
        <p:nvSpPr>
          <p:cNvPr id="64" name="Google Shape;64;g3dc15369c17_0_130"/>
          <p:cNvSpPr/>
          <p:nvPr/>
        </p:nvSpPr>
        <p:spPr>
          <a:xfrm>
            <a:off x="1143000" y="7074218"/>
            <a:ext cx="3917400" cy="403800"/>
          </a:xfrm>
          <a:prstGeom prst="rect">
            <a:avLst/>
          </a:prstGeom>
          <a:noFill/>
          <a:ln cap="flat" cmpd="sng" w="9525">
            <a:solidFill>
              <a:srgbClr val="F5822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g3dc15369c17_0_130"/>
          <p:cNvSpPr/>
          <p:nvPr/>
        </p:nvSpPr>
        <p:spPr>
          <a:xfrm>
            <a:off x="1322070" y="7177088"/>
            <a:ext cx="3676800" cy="236100"/>
          </a:xfrm>
          <a:prstGeom prst="rect">
            <a:avLst/>
          </a:prstGeom>
          <a:noFill/>
          <a:ln>
            <a:noFill/>
          </a:ln>
        </p:spPr>
        <p:txBody>
          <a:bodyPr anchorCtr="0" anchor="ctr" bIns="25400" lIns="25400" spcFirstLastPara="1" rIns="25400" wrap="square" tIns="25400">
            <a:noAutofit/>
          </a:bodyPr>
          <a:lstStyle/>
          <a:p>
            <a:pPr indent="0" lvl="0" marL="0" marR="0" rtl="0" algn="l">
              <a:spcBef>
                <a:spcPts val="0"/>
              </a:spcBef>
              <a:spcAft>
                <a:spcPts val="0"/>
              </a:spcAft>
              <a:buClr>
                <a:srgbClr val="F58220"/>
              </a:buClr>
              <a:buSzPts val="1350"/>
              <a:buFont typeface="Arial"/>
              <a:buNone/>
            </a:pPr>
            <a:r>
              <a:rPr b="0" i="0" lang="en-US" sz="1350" u="none" cap="none" strike="noStrike">
                <a:solidFill>
                  <a:srgbClr val="F58220"/>
                </a:solidFill>
                <a:latin typeface="Arial"/>
                <a:ea typeface="Arial"/>
                <a:cs typeface="Arial"/>
                <a:sym typeface="Arial"/>
              </a:rPr>
              <a:t>NO STAKES · PURE CURIOSITY</a:t>
            </a:r>
            <a:endParaRPr b="0" i="0" sz="135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g3dc15369c17_0_142"/>
          <p:cNvSpPr/>
          <p:nvPr/>
        </p:nvSpPr>
        <p:spPr>
          <a:xfrm>
            <a:off x="1143000" y="476250"/>
            <a:ext cx="20808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VIBE → CONTEXT</a:t>
            </a:r>
            <a:endParaRPr b="0" i="0" sz="1350" u="none" cap="none" strike="noStrike">
              <a:solidFill>
                <a:schemeClr val="dk1"/>
              </a:solidFill>
              <a:latin typeface="Calibri"/>
              <a:ea typeface="Calibri"/>
              <a:cs typeface="Calibri"/>
              <a:sym typeface="Calibri"/>
            </a:endParaRPr>
          </a:p>
        </p:txBody>
      </p:sp>
      <p:sp>
        <p:nvSpPr>
          <p:cNvPr id="72" name="Google Shape;72;g3dc15369c17_0_142"/>
          <p:cNvSpPr/>
          <p:nvPr/>
        </p:nvSpPr>
        <p:spPr>
          <a:xfrm>
            <a:off x="16356568" y="476250"/>
            <a:ext cx="8646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02 / 06</a:t>
            </a:r>
            <a:endParaRPr b="0" i="0" sz="1350" u="none" cap="none" strike="noStrike">
              <a:solidFill>
                <a:schemeClr val="dk1"/>
              </a:solidFill>
              <a:latin typeface="Calibri"/>
              <a:ea typeface="Calibri"/>
              <a:cs typeface="Calibri"/>
              <a:sym typeface="Calibri"/>
            </a:endParaRPr>
          </a:p>
        </p:txBody>
      </p:sp>
      <p:sp>
        <p:nvSpPr>
          <p:cNvPr id="73" name="Google Shape;73;g3dc15369c17_0_142"/>
          <p:cNvSpPr/>
          <p:nvPr/>
        </p:nvSpPr>
        <p:spPr>
          <a:xfrm>
            <a:off x="11536681" y="381000"/>
            <a:ext cx="6070800" cy="4248300"/>
          </a:xfrm>
          <a:prstGeom prst="rect">
            <a:avLst/>
          </a:prstGeom>
          <a:noFill/>
          <a:ln>
            <a:noFill/>
          </a:ln>
        </p:spPr>
        <p:txBody>
          <a:bodyPr anchorCtr="0" anchor="t" bIns="25400" lIns="25400" spcFirstLastPara="1" rIns="25400" wrap="square" tIns="25400">
            <a:noAutofit/>
          </a:bodyPr>
          <a:lstStyle/>
          <a:p>
            <a:pPr indent="0" lvl="0" marL="0" marR="0" rtl="0" algn="l">
              <a:lnSpc>
                <a:spcPct val="85000"/>
              </a:lnSpc>
              <a:spcBef>
                <a:spcPts val="0"/>
              </a:spcBef>
              <a:spcAft>
                <a:spcPts val="0"/>
              </a:spcAft>
              <a:buClr>
                <a:srgbClr val="F7F5F1"/>
              </a:buClr>
              <a:buSzPts val="39000"/>
              <a:buFont typeface="Arial"/>
              <a:buNone/>
            </a:pPr>
            <a:r>
              <a:rPr b="1" i="0" lang="en-US" sz="39000" u="none" cap="none" strike="noStrike">
                <a:solidFill>
                  <a:srgbClr val="F7F5F1"/>
                </a:solidFill>
                <a:latin typeface="Arial"/>
                <a:ea typeface="Arial"/>
                <a:cs typeface="Arial"/>
                <a:sym typeface="Arial"/>
              </a:rPr>
              <a:t>02</a:t>
            </a:r>
            <a:endParaRPr b="0" i="0" sz="39000" u="none" cap="none" strike="noStrike">
              <a:solidFill>
                <a:schemeClr val="dk1"/>
              </a:solidFill>
              <a:latin typeface="Calibri"/>
              <a:ea typeface="Calibri"/>
              <a:cs typeface="Calibri"/>
              <a:sym typeface="Calibri"/>
            </a:endParaRPr>
          </a:p>
        </p:txBody>
      </p:sp>
      <p:sp>
        <p:nvSpPr>
          <p:cNvPr id="74" name="Google Shape;74;g3dc15369c17_0_142"/>
          <p:cNvSpPr/>
          <p:nvPr/>
        </p:nvSpPr>
        <p:spPr>
          <a:xfrm>
            <a:off x="1143000" y="2904172"/>
            <a:ext cx="12753900" cy="3123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F58220"/>
              </a:buClr>
              <a:buSzPts val="1650"/>
              <a:buFont typeface="Arial"/>
              <a:buNone/>
            </a:pPr>
            <a:r>
              <a:rPr b="0" i="0" lang="en-US" sz="1650" u="none" cap="none" strike="noStrike">
                <a:solidFill>
                  <a:srgbClr val="F58220"/>
                </a:solidFill>
                <a:latin typeface="Arial"/>
                <a:ea typeface="Arial"/>
                <a:cs typeface="Arial"/>
                <a:sym typeface="Arial"/>
              </a:rPr>
              <a:t>STAGE 02</a:t>
            </a:r>
            <a:endParaRPr b="0" i="0" sz="1650" u="none" cap="none" strike="noStrike">
              <a:solidFill>
                <a:schemeClr val="dk1"/>
              </a:solidFill>
              <a:latin typeface="Calibri"/>
              <a:ea typeface="Calibri"/>
              <a:cs typeface="Calibri"/>
              <a:sym typeface="Calibri"/>
            </a:endParaRPr>
          </a:p>
        </p:txBody>
      </p:sp>
      <p:sp>
        <p:nvSpPr>
          <p:cNvPr id="75" name="Google Shape;75;g3dc15369c17_0_142"/>
          <p:cNvSpPr/>
          <p:nvPr/>
        </p:nvSpPr>
        <p:spPr>
          <a:xfrm>
            <a:off x="1143000" y="3483293"/>
            <a:ext cx="12753900" cy="1558200"/>
          </a:xfrm>
          <a:prstGeom prst="rect">
            <a:avLst/>
          </a:prstGeom>
          <a:noFill/>
          <a:ln>
            <a:noFill/>
          </a:ln>
        </p:spPr>
        <p:txBody>
          <a:bodyPr anchorCtr="0" anchor="t" bIns="25400" lIns="25400" spcFirstLastPara="1" rIns="25400" wrap="square" tIns="25400">
            <a:noAutofit/>
          </a:bodyPr>
          <a:lstStyle/>
          <a:p>
            <a:pPr indent="0" lvl="0" marL="0" marR="0" rtl="0" algn="l">
              <a:lnSpc>
                <a:spcPct val="95000"/>
              </a:lnSpc>
              <a:spcBef>
                <a:spcPts val="0"/>
              </a:spcBef>
              <a:spcAft>
                <a:spcPts val="0"/>
              </a:spcAft>
              <a:buClr>
                <a:srgbClr val="14161C"/>
              </a:buClr>
              <a:buSzPts val="12600"/>
              <a:buFont typeface="Arial"/>
              <a:buNone/>
            </a:pPr>
            <a:r>
              <a:rPr b="1" i="0" lang="en-US" sz="12600" u="none" cap="none" strike="noStrike">
                <a:solidFill>
                  <a:srgbClr val="14161C"/>
                </a:solidFill>
                <a:latin typeface="Arial"/>
                <a:ea typeface="Arial"/>
                <a:cs typeface="Arial"/>
                <a:sym typeface="Arial"/>
              </a:rPr>
              <a:t>The Hook.</a:t>
            </a:r>
            <a:endParaRPr b="0" i="0" sz="12600" u="none" cap="none" strike="noStrike">
              <a:solidFill>
                <a:schemeClr val="dk1"/>
              </a:solidFill>
              <a:latin typeface="Calibri"/>
              <a:ea typeface="Calibri"/>
              <a:cs typeface="Calibri"/>
              <a:sym typeface="Calibri"/>
            </a:endParaRPr>
          </a:p>
        </p:txBody>
      </p:sp>
      <p:sp>
        <p:nvSpPr>
          <p:cNvPr id="76" name="Google Shape;76;g3dc15369c17_0_142"/>
          <p:cNvSpPr/>
          <p:nvPr/>
        </p:nvSpPr>
        <p:spPr>
          <a:xfrm>
            <a:off x="1143000" y="5460682"/>
            <a:ext cx="12753900" cy="1118100"/>
          </a:xfrm>
          <a:prstGeom prst="rect">
            <a:avLst/>
          </a:prstGeom>
          <a:noFill/>
          <a:ln>
            <a:noFill/>
          </a:ln>
        </p:spPr>
        <p:txBody>
          <a:bodyPr anchorCtr="0" anchor="t" bIns="25400" lIns="25400" spcFirstLastPara="1" rIns="25400" wrap="square" tIns="25400">
            <a:noAutofit/>
          </a:bodyPr>
          <a:lstStyle/>
          <a:p>
            <a:pPr indent="0" lvl="0" marL="0" marR="0" rtl="0" algn="l">
              <a:lnSpc>
                <a:spcPct val="135000"/>
              </a:lnSpc>
              <a:spcBef>
                <a:spcPts val="0"/>
              </a:spcBef>
              <a:spcAft>
                <a:spcPts val="0"/>
              </a:spcAft>
              <a:buClr>
                <a:srgbClr val="6B6E78"/>
              </a:buClr>
              <a:buSzPts val="3150"/>
              <a:buFont typeface="Arial"/>
              <a:buNone/>
            </a:pPr>
            <a:r>
              <a:rPr b="0" i="0" lang="en-US" sz="3150" u="none" cap="none" strike="noStrike">
                <a:solidFill>
                  <a:srgbClr val="6B6E78"/>
                </a:solidFill>
                <a:latin typeface="Arial"/>
                <a:ea typeface="Arial"/>
                <a:cs typeface="Arial"/>
                <a:sym typeface="Arial"/>
              </a:rPr>
              <a:t>Then I found </a:t>
            </a:r>
            <a:r>
              <a:rPr b="0" i="0" lang="en-US" sz="3150" u="none" cap="none" strike="noStrike">
                <a:solidFill>
                  <a:srgbClr val="14161C"/>
                </a:solidFill>
                <a:latin typeface="Arial"/>
                <a:ea typeface="Arial"/>
                <a:cs typeface="Arial"/>
                <a:sym typeface="Arial"/>
              </a:rPr>
              <a:t>Bolt</a:t>
            </a:r>
            <a:r>
              <a:rPr b="0" i="0" lang="en-US" sz="3150" u="none" cap="none" strike="noStrike">
                <a:solidFill>
                  <a:srgbClr val="6B6E78"/>
                </a:solidFill>
                <a:latin typeface="Arial"/>
                <a:ea typeface="Arial"/>
                <a:cs typeface="Arial"/>
                <a:sym typeface="Arial"/>
              </a:rPr>
              <a:t>. Then </a:t>
            </a:r>
            <a:r>
              <a:rPr b="0" i="0" lang="en-US" sz="3150" u="none" cap="none" strike="noStrike">
                <a:solidFill>
                  <a:srgbClr val="14161C"/>
                </a:solidFill>
                <a:latin typeface="Arial"/>
                <a:ea typeface="Arial"/>
                <a:cs typeface="Arial"/>
                <a:sym typeface="Arial"/>
              </a:rPr>
              <a:t>Replit </a:t>
            </a:r>
            <a:r>
              <a:rPr b="0" i="0" lang="en-US" sz="3150" u="none" cap="none" strike="noStrike">
                <a:solidFill>
                  <a:srgbClr val="6B6E78"/>
                </a:solidFill>
                <a:latin typeface="Arial"/>
                <a:ea typeface="Arial"/>
                <a:cs typeface="Arial"/>
                <a:sym typeface="Arial"/>
              </a:rPr>
              <a:t>. A short prompt, and out came a whole app.</a:t>
            </a:r>
            <a:endParaRPr b="0" i="0" sz="3150" u="none" cap="none" strike="noStrike">
              <a:solidFill>
                <a:schemeClr val="dk1"/>
              </a:solidFill>
              <a:latin typeface="Calibri"/>
              <a:ea typeface="Calibri"/>
              <a:cs typeface="Calibri"/>
              <a:sym typeface="Calibri"/>
            </a:endParaRPr>
          </a:p>
        </p:txBody>
      </p:sp>
      <p:sp>
        <p:nvSpPr>
          <p:cNvPr id="77" name="Google Shape;77;g3dc15369c17_0_142"/>
          <p:cNvSpPr/>
          <p:nvPr/>
        </p:nvSpPr>
        <p:spPr>
          <a:xfrm>
            <a:off x="1143000" y="7074218"/>
            <a:ext cx="3439800" cy="403800"/>
          </a:xfrm>
          <a:prstGeom prst="rect">
            <a:avLst/>
          </a:prstGeom>
          <a:noFill/>
          <a:ln cap="flat" cmpd="sng" w="9525">
            <a:solidFill>
              <a:srgbClr val="F5822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g3dc15369c17_0_142"/>
          <p:cNvSpPr/>
          <p:nvPr/>
        </p:nvSpPr>
        <p:spPr>
          <a:xfrm>
            <a:off x="1322070" y="7177088"/>
            <a:ext cx="3184800" cy="236100"/>
          </a:xfrm>
          <a:prstGeom prst="rect">
            <a:avLst/>
          </a:prstGeom>
          <a:noFill/>
          <a:ln>
            <a:noFill/>
          </a:ln>
        </p:spPr>
        <p:txBody>
          <a:bodyPr anchorCtr="0" anchor="ctr" bIns="25400" lIns="25400" spcFirstLastPara="1" rIns="25400" wrap="square" tIns="25400">
            <a:noAutofit/>
          </a:bodyPr>
          <a:lstStyle/>
          <a:p>
            <a:pPr indent="0" lvl="0" marL="0" marR="0" rtl="0" algn="l">
              <a:spcBef>
                <a:spcPts val="0"/>
              </a:spcBef>
              <a:spcAft>
                <a:spcPts val="0"/>
              </a:spcAft>
              <a:buClr>
                <a:srgbClr val="F58220"/>
              </a:buClr>
              <a:buSzPts val="1350"/>
              <a:buFont typeface="Arial"/>
              <a:buNone/>
            </a:pPr>
            <a:r>
              <a:rPr b="0" i="0" lang="en-US" sz="1350" u="none" cap="none" strike="noStrike">
                <a:solidFill>
                  <a:srgbClr val="F58220"/>
                </a:solidFill>
                <a:latin typeface="Arial"/>
                <a:ea typeface="Arial"/>
                <a:cs typeface="Arial"/>
                <a:sym typeface="Arial"/>
              </a:rPr>
              <a:t>FELT LIKE A SUPERPOWER</a:t>
            </a:r>
            <a:endParaRPr b="0" i="0" sz="135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g3dc15369c17_0_154"/>
          <p:cNvSpPr/>
          <p:nvPr/>
        </p:nvSpPr>
        <p:spPr>
          <a:xfrm>
            <a:off x="1143000" y="476250"/>
            <a:ext cx="20808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VIBE → CONTEXT</a:t>
            </a:r>
            <a:endParaRPr b="0" i="0" sz="1350" u="none" cap="none" strike="noStrike">
              <a:solidFill>
                <a:schemeClr val="dk1"/>
              </a:solidFill>
              <a:latin typeface="Calibri"/>
              <a:ea typeface="Calibri"/>
              <a:cs typeface="Calibri"/>
              <a:sym typeface="Calibri"/>
            </a:endParaRPr>
          </a:p>
        </p:txBody>
      </p:sp>
      <p:sp>
        <p:nvSpPr>
          <p:cNvPr id="85" name="Google Shape;85;g3dc15369c17_0_154"/>
          <p:cNvSpPr/>
          <p:nvPr/>
        </p:nvSpPr>
        <p:spPr>
          <a:xfrm>
            <a:off x="16356568" y="476250"/>
            <a:ext cx="8646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03 / 06</a:t>
            </a:r>
            <a:endParaRPr b="0" i="0" sz="1350" u="none" cap="none" strike="noStrike">
              <a:solidFill>
                <a:schemeClr val="dk1"/>
              </a:solidFill>
              <a:latin typeface="Calibri"/>
              <a:ea typeface="Calibri"/>
              <a:cs typeface="Calibri"/>
              <a:sym typeface="Calibri"/>
            </a:endParaRPr>
          </a:p>
        </p:txBody>
      </p:sp>
      <p:sp>
        <p:nvSpPr>
          <p:cNvPr id="86" name="Google Shape;86;g3dc15369c17_0_154"/>
          <p:cNvSpPr/>
          <p:nvPr/>
        </p:nvSpPr>
        <p:spPr>
          <a:xfrm>
            <a:off x="11506915" y="381000"/>
            <a:ext cx="6101700" cy="4248300"/>
          </a:xfrm>
          <a:prstGeom prst="rect">
            <a:avLst/>
          </a:prstGeom>
          <a:noFill/>
          <a:ln>
            <a:noFill/>
          </a:ln>
        </p:spPr>
        <p:txBody>
          <a:bodyPr anchorCtr="0" anchor="t" bIns="25400" lIns="25400" spcFirstLastPara="1" rIns="25400" wrap="square" tIns="25400">
            <a:noAutofit/>
          </a:bodyPr>
          <a:lstStyle/>
          <a:p>
            <a:pPr indent="0" lvl="0" marL="0" marR="0" rtl="0" algn="l">
              <a:lnSpc>
                <a:spcPct val="85000"/>
              </a:lnSpc>
              <a:spcBef>
                <a:spcPts val="0"/>
              </a:spcBef>
              <a:spcAft>
                <a:spcPts val="0"/>
              </a:spcAft>
              <a:buClr>
                <a:srgbClr val="F7F5F1"/>
              </a:buClr>
              <a:buSzPts val="39000"/>
              <a:buFont typeface="Arial"/>
              <a:buNone/>
            </a:pPr>
            <a:r>
              <a:rPr b="1" i="0" lang="en-US" sz="39000" u="none" cap="none" strike="noStrike">
                <a:solidFill>
                  <a:srgbClr val="F7F5F1"/>
                </a:solidFill>
                <a:latin typeface="Arial"/>
                <a:ea typeface="Arial"/>
                <a:cs typeface="Arial"/>
                <a:sym typeface="Arial"/>
              </a:rPr>
              <a:t>03</a:t>
            </a:r>
            <a:endParaRPr b="0" i="0" sz="39000" u="none" cap="none" strike="noStrike">
              <a:solidFill>
                <a:schemeClr val="dk1"/>
              </a:solidFill>
              <a:latin typeface="Calibri"/>
              <a:ea typeface="Calibri"/>
              <a:cs typeface="Calibri"/>
              <a:sym typeface="Calibri"/>
            </a:endParaRPr>
          </a:p>
        </p:txBody>
      </p:sp>
      <p:sp>
        <p:nvSpPr>
          <p:cNvPr id="87" name="Google Shape;87;g3dc15369c17_0_154"/>
          <p:cNvSpPr/>
          <p:nvPr/>
        </p:nvSpPr>
        <p:spPr>
          <a:xfrm>
            <a:off x="1143000" y="2737961"/>
            <a:ext cx="13735200" cy="3123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F58220"/>
              </a:buClr>
              <a:buSzPts val="1650"/>
              <a:buFont typeface="Arial"/>
              <a:buNone/>
            </a:pPr>
            <a:r>
              <a:rPr b="0" i="0" lang="en-US" sz="1650" u="none" cap="none" strike="noStrike">
                <a:solidFill>
                  <a:srgbClr val="F58220"/>
                </a:solidFill>
                <a:latin typeface="Arial"/>
                <a:ea typeface="Arial"/>
                <a:cs typeface="Arial"/>
                <a:sym typeface="Arial"/>
              </a:rPr>
              <a:t>STAGE 03</a:t>
            </a:r>
            <a:endParaRPr b="0" i="0" sz="1650" u="none" cap="none" strike="noStrike">
              <a:solidFill>
                <a:schemeClr val="dk1"/>
              </a:solidFill>
              <a:latin typeface="Calibri"/>
              <a:ea typeface="Calibri"/>
              <a:cs typeface="Calibri"/>
              <a:sym typeface="Calibri"/>
            </a:endParaRPr>
          </a:p>
        </p:txBody>
      </p:sp>
      <p:sp>
        <p:nvSpPr>
          <p:cNvPr id="88" name="Google Shape;88;g3dc15369c17_0_154"/>
          <p:cNvSpPr/>
          <p:nvPr/>
        </p:nvSpPr>
        <p:spPr>
          <a:xfrm>
            <a:off x="1143000" y="3317081"/>
            <a:ext cx="13735200" cy="1558200"/>
          </a:xfrm>
          <a:prstGeom prst="rect">
            <a:avLst/>
          </a:prstGeom>
          <a:noFill/>
          <a:ln>
            <a:noFill/>
          </a:ln>
        </p:spPr>
        <p:txBody>
          <a:bodyPr anchorCtr="0" anchor="t" bIns="25400" lIns="25400" spcFirstLastPara="1" rIns="25400" wrap="square" tIns="25400">
            <a:noAutofit/>
          </a:bodyPr>
          <a:lstStyle/>
          <a:p>
            <a:pPr indent="0" lvl="0" marL="0" marR="0" rtl="0" algn="l">
              <a:lnSpc>
                <a:spcPct val="95000"/>
              </a:lnSpc>
              <a:spcBef>
                <a:spcPts val="0"/>
              </a:spcBef>
              <a:spcAft>
                <a:spcPts val="0"/>
              </a:spcAft>
              <a:buClr>
                <a:srgbClr val="14161C"/>
              </a:buClr>
              <a:buSzPts val="12600"/>
              <a:buFont typeface="Arial"/>
              <a:buNone/>
            </a:pPr>
            <a:r>
              <a:rPr b="1" i="0" lang="en-US" sz="12600" u="none" cap="none" strike="noStrike">
                <a:solidFill>
                  <a:srgbClr val="14161C"/>
                </a:solidFill>
                <a:latin typeface="Arial"/>
                <a:ea typeface="Arial"/>
                <a:cs typeface="Arial"/>
                <a:sym typeface="Arial"/>
              </a:rPr>
              <a:t>The Cracks.</a:t>
            </a:r>
            <a:endParaRPr b="0" i="0" sz="12600" u="none" cap="none" strike="noStrike">
              <a:solidFill>
                <a:schemeClr val="dk1"/>
              </a:solidFill>
              <a:latin typeface="Calibri"/>
              <a:ea typeface="Calibri"/>
              <a:cs typeface="Calibri"/>
              <a:sym typeface="Calibri"/>
            </a:endParaRPr>
          </a:p>
        </p:txBody>
      </p:sp>
      <p:sp>
        <p:nvSpPr>
          <p:cNvPr id="89" name="Google Shape;89;g3dc15369c17_0_154"/>
          <p:cNvSpPr/>
          <p:nvPr/>
        </p:nvSpPr>
        <p:spPr>
          <a:xfrm>
            <a:off x="1143000" y="5294472"/>
            <a:ext cx="12753900" cy="578100"/>
          </a:xfrm>
          <a:prstGeom prst="rect">
            <a:avLst/>
          </a:prstGeom>
          <a:noFill/>
          <a:ln>
            <a:noFill/>
          </a:ln>
        </p:spPr>
        <p:txBody>
          <a:bodyPr anchorCtr="0" anchor="t" bIns="25400" lIns="25400" spcFirstLastPara="1" rIns="25400" wrap="square" tIns="25400">
            <a:noAutofit/>
          </a:bodyPr>
          <a:lstStyle/>
          <a:p>
            <a:pPr indent="0" lvl="0" marL="0" marR="0" rtl="0" algn="l">
              <a:lnSpc>
                <a:spcPct val="135000"/>
              </a:lnSpc>
              <a:spcBef>
                <a:spcPts val="0"/>
              </a:spcBef>
              <a:spcAft>
                <a:spcPts val="0"/>
              </a:spcAft>
              <a:buClr>
                <a:srgbClr val="6B6E78"/>
              </a:buClr>
              <a:buSzPts val="3150"/>
              <a:buFont typeface="Arial"/>
              <a:buNone/>
            </a:pPr>
            <a:r>
              <a:rPr b="0" i="0" lang="en-US" sz="3150" u="none" cap="none" strike="noStrike">
                <a:solidFill>
                  <a:srgbClr val="6B6E78"/>
                </a:solidFill>
                <a:latin typeface="Arial"/>
                <a:ea typeface="Arial"/>
                <a:cs typeface="Arial"/>
                <a:sym typeface="Arial"/>
              </a:rPr>
              <a:t>The demos looked great. They almost never held up.</a:t>
            </a:r>
            <a:endParaRPr b="0" i="0" sz="3150" u="none" cap="none" strike="noStrike">
              <a:solidFill>
                <a:schemeClr val="dk1"/>
              </a:solidFill>
              <a:latin typeface="Calibri"/>
              <a:ea typeface="Calibri"/>
              <a:cs typeface="Calibri"/>
              <a:sym typeface="Calibri"/>
            </a:endParaRPr>
          </a:p>
        </p:txBody>
      </p:sp>
      <p:sp>
        <p:nvSpPr>
          <p:cNvPr id="90" name="Google Shape;90;g3dc15369c17_0_154"/>
          <p:cNvSpPr/>
          <p:nvPr/>
        </p:nvSpPr>
        <p:spPr>
          <a:xfrm>
            <a:off x="1143000" y="6253639"/>
            <a:ext cx="2087400" cy="403800"/>
          </a:xfrm>
          <a:prstGeom prst="rect">
            <a:avLst/>
          </a:prstGeom>
          <a:noFill/>
          <a:ln cap="flat" cmpd="sng" w="9525">
            <a:solidFill>
              <a:srgbClr val="B5341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g3dc15369c17_0_154"/>
          <p:cNvSpPr/>
          <p:nvPr/>
        </p:nvSpPr>
        <p:spPr>
          <a:xfrm>
            <a:off x="1322070" y="6356509"/>
            <a:ext cx="1805400" cy="236100"/>
          </a:xfrm>
          <a:prstGeom prst="rect">
            <a:avLst/>
          </a:prstGeom>
          <a:noFill/>
          <a:ln>
            <a:noFill/>
          </a:ln>
        </p:spPr>
        <p:txBody>
          <a:bodyPr anchorCtr="0" anchor="ctr" bIns="25400" lIns="25400" spcFirstLastPara="1" rIns="25400" wrap="square" tIns="25400">
            <a:noAutofit/>
          </a:bodyPr>
          <a:lstStyle/>
          <a:p>
            <a:pPr indent="0" lvl="0" marL="0" marR="0" rtl="0" algn="l">
              <a:spcBef>
                <a:spcPts val="0"/>
              </a:spcBef>
              <a:spcAft>
                <a:spcPts val="0"/>
              </a:spcAft>
              <a:buClr>
                <a:srgbClr val="B5341B"/>
              </a:buClr>
              <a:buSzPts val="1350"/>
              <a:buFont typeface="Arial"/>
              <a:buNone/>
            </a:pPr>
            <a:r>
              <a:rPr b="0" i="0" lang="en-US" sz="1350" u="none" cap="none" strike="noStrike">
                <a:solidFill>
                  <a:srgbClr val="B5341B"/>
                </a:solidFill>
                <a:latin typeface="Arial"/>
                <a:ea typeface="Arial"/>
                <a:cs typeface="Arial"/>
                <a:sym typeface="Arial"/>
              </a:rPr>
              <a:t>INCONSISTENT</a:t>
            </a:r>
            <a:endParaRPr b="0" i="0" sz="1350" u="none" cap="none" strike="noStrike">
              <a:solidFill>
                <a:schemeClr val="dk1"/>
              </a:solidFill>
              <a:latin typeface="Calibri"/>
              <a:ea typeface="Calibri"/>
              <a:cs typeface="Calibri"/>
              <a:sym typeface="Calibri"/>
            </a:endParaRPr>
          </a:p>
        </p:txBody>
      </p:sp>
      <p:sp>
        <p:nvSpPr>
          <p:cNvPr id="92" name="Google Shape;92;g3dc15369c17_0_154"/>
          <p:cNvSpPr/>
          <p:nvPr/>
        </p:nvSpPr>
        <p:spPr>
          <a:xfrm>
            <a:off x="3401735" y="6253639"/>
            <a:ext cx="1356000" cy="403800"/>
          </a:xfrm>
          <a:prstGeom prst="rect">
            <a:avLst/>
          </a:prstGeom>
          <a:noFill/>
          <a:ln cap="flat" cmpd="sng" w="9525">
            <a:solidFill>
              <a:srgbClr val="B5341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g3dc15369c17_0_154"/>
          <p:cNvSpPr/>
          <p:nvPr/>
        </p:nvSpPr>
        <p:spPr>
          <a:xfrm>
            <a:off x="3580805" y="6356509"/>
            <a:ext cx="1074000" cy="236100"/>
          </a:xfrm>
          <a:prstGeom prst="rect">
            <a:avLst/>
          </a:prstGeom>
          <a:noFill/>
          <a:ln>
            <a:noFill/>
          </a:ln>
        </p:spPr>
        <p:txBody>
          <a:bodyPr anchorCtr="0" anchor="ctr" bIns="25400" lIns="25400" spcFirstLastPara="1" rIns="25400" wrap="square" tIns="25400">
            <a:noAutofit/>
          </a:bodyPr>
          <a:lstStyle/>
          <a:p>
            <a:pPr indent="0" lvl="0" marL="0" marR="0" rtl="0" algn="l">
              <a:spcBef>
                <a:spcPts val="0"/>
              </a:spcBef>
              <a:spcAft>
                <a:spcPts val="0"/>
              </a:spcAft>
              <a:buClr>
                <a:srgbClr val="B5341B"/>
              </a:buClr>
              <a:buSzPts val="1350"/>
              <a:buFont typeface="Arial"/>
              <a:buNone/>
            </a:pPr>
            <a:r>
              <a:rPr b="0" i="0" lang="en-US" sz="1350" u="none" cap="none" strike="noStrike">
                <a:solidFill>
                  <a:srgbClr val="B5341B"/>
                </a:solidFill>
                <a:latin typeface="Arial"/>
                <a:ea typeface="Arial"/>
                <a:cs typeface="Arial"/>
                <a:sym typeface="Arial"/>
              </a:rPr>
              <a:t>FRAGILE</a:t>
            </a:r>
            <a:endParaRPr b="0" i="0" sz="1350" u="none" cap="none" strike="noStrike">
              <a:solidFill>
                <a:schemeClr val="dk1"/>
              </a:solidFill>
              <a:latin typeface="Calibri"/>
              <a:ea typeface="Calibri"/>
              <a:cs typeface="Calibri"/>
              <a:sym typeface="Calibri"/>
            </a:endParaRPr>
          </a:p>
        </p:txBody>
      </p:sp>
      <p:sp>
        <p:nvSpPr>
          <p:cNvPr id="94" name="Google Shape;94;g3dc15369c17_0_154"/>
          <p:cNvSpPr/>
          <p:nvPr/>
        </p:nvSpPr>
        <p:spPr>
          <a:xfrm>
            <a:off x="4929068" y="6253639"/>
            <a:ext cx="3845100" cy="403800"/>
          </a:xfrm>
          <a:prstGeom prst="rect">
            <a:avLst/>
          </a:prstGeom>
          <a:noFill/>
          <a:ln cap="flat" cmpd="sng" w="9525">
            <a:solidFill>
              <a:srgbClr val="B5341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g3dc15369c17_0_154"/>
          <p:cNvSpPr/>
          <p:nvPr/>
        </p:nvSpPr>
        <p:spPr>
          <a:xfrm>
            <a:off x="5108138" y="6356509"/>
            <a:ext cx="3602400" cy="236100"/>
          </a:xfrm>
          <a:prstGeom prst="rect">
            <a:avLst/>
          </a:prstGeom>
          <a:noFill/>
          <a:ln>
            <a:noFill/>
          </a:ln>
        </p:spPr>
        <p:txBody>
          <a:bodyPr anchorCtr="0" anchor="ctr" bIns="25400" lIns="25400" spcFirstLastPara="1" rIns="25400" wrap="square" tIns="25400">
            <a:noAutofit/>
          </a:bodyPr>
          <a:lstStyle/>
          <a:p>
            <a:pPr indent="0" lvl="0" marL="0" marR="0" rtl="0" algn="l">
              <a:spcBef>
                <a:spcPts val="0"/>
              </a:spcBef>
              <a:spcAft>
                <a:spcPts val="0"/>
              </a:spcAft>
              <a:buClr>
                <a:srgbClr val="B5341B"/>
              </a:buClr>
              <a:buSzPts val="1350"/>
              <a:buFont typeface="Arial"/>
              <a:buNone/>
            </a:pPr>
            <a:r>
              <a:rPr b="0" i="0" lang="en-US" sz="1350" u="none" cap="none" strike="noStrike">
                <a:solidFill>
                  <a:srgbClr val="B5341B"/>
                </a:solidFill>
                <a:latin typeface="Arial"/>
                <a:ea typeface="Arial"/>
                <a:cs typeface="Arial"/>
                <a:sym typeface="Arial"/>
              </a:rPr>
              <a:t>NOWHERE NEAR PRODUCTION</a:t>
            </a:r>
            <a:endParaRPr b="0" i="0" sz="1350" u="none" cap="none" strike="noStrike">
              <a:solidFill>
                <a:schemeClr val="dk1"/>
              </a:solidFill>
              <a:latin typeface="Calibri"/>
              <a:ea typeface="Calibri"/>
              <a:cs typeface="Calibri"/>
              <a:sym typeface="Calibri"/>
            </a:endParaRPr>
          </a:p>
        </p:txBody>
      </p:sp>
      <p:sp>
        <p:nvSpPr>
          <p:cNvPr id="96" name="Google Shape;96;g3dc15369c17_0_154"/>
          <p:cNvSpPr/>
          <p:nvPr/>
        </p:nvSpPr>
        <p:spPr>
          <a:xfrm>
            <a:off x="1143000" y="7190899"/>
            <a:ext cx="13735200" cy="2820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650"/>
              <a:buFont typeface="Arial"/>
              <a:buNone/>
            </a:pPr>
            <a:r>
              <a:rPr b="0" i="0" lang="en-US" sz="1650" u="none" cap="none" strike="noStrike">
                <a:solidFill>
                  <a:srgbClr val="6B6E78"/>
                </a:solidFill>
                <a:latin typeface="Arial"/>
                <a:ea typeface="Arial"/>
                <a:cs typeface="Arial"/>
                <a:sym typeface="Arial"/>
              </a:rPr>
              <a:t>// HIDDEN COST: DEBT I COULDN'T SEE</a:t>
            </a:r>
            <a:endParaRPr b="0" i="0" sz="165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 name="Shape 101"/>
        <p:cNvGrpSpPr/>
        <p:nvPr/>
      </p:nvGrpSpPr>
      <p:grpSpPr>
        <a:xfrm>
          <a:off x="0" y="0"/>
          <a:ext cx="0" cy="0"/>
          <a:chOff x="0" y="0"/>
          <a:chExt cx="0" cy="0"/>
        </a:xfrm>
      </p:grpSpPr>
      <p:sp>
        <p:nvSpPr>
          <p:cNvPr id="102" name="Google Shape;102;g3dc15369c17_0_171"/>
          <p:cNvSpPr/>
          <p:nvPr/>
        </p:nvSpPr>
        <p:spPr>
          <a:xfrm>
            <a:off x="1143000" y="476250"/>
            <a:ext cx="20808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VIBE → CONTEXT</a:t>
            </a:r>
            <a:endParaRPr b="0" i="0" sz="1350" u="none" cap="none" strike="noStrike">
              <a:solidFill>
                <a:schemeClr val="dk1"/>
              </a:solidFill>
              <a:latin typeface="Calibri"/>
              <a:ea typeface="Calibri"/>
              <a:cs typeface="Calibri"/>
              <a:sym typeface="Calibri"/>
            </a:endParaRPr>
          </a:p>
        </p:txBody>
      </p:sp>
      <p:sp>
        <p:nvSpPr>
          <p:cNvPr id="103" name="Google Shape;103;g3dc15369c17_0_171"/>
          <p:cNvSpPr/>
          <p:nvPr/>
        </p:nvSpPr>
        <p:spPr>
          <a:xfrm>
            <a:off x="16356568" y="476250"/>
            <a:ext cx="8646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04 / 06</a:t>
            </a:r>
            <a:endParaRPr b="0" i="0" sz="1350" u="none" cap="none" strike="noStrike">
              <a:solidFill>
                <a:schemeClr val="dk1"/>
              </a:solidFill>
              <a:latin typeface="Calibri"/>
              <a:ea typeface="Calibri"/>
              <a:cs typeface="Calibri"/>
              <a:sym typeface="Calibri"/>
            </a:endParaRPr>
          </a:p>
        </p:txBody>
      </p:sp>
      <p:sp>
        <p:nvSpPr>
          <p:cNvPr id="104" name="Google Shape;104;g3dc15369c17_0_171"/>
          <p:cNvSpPr/>
          <p:nvPr/>
        </p:nvSpPr>
        <p:spPr>
          <a:xfrm>
            <a:off x="10971966" y="381000"/>
            <a:ext cx="6652500" cy="4248300"/>
          </a:xfrm>
          <a:prstGeom prst="rect">
            <a:avLst/>
          </a:prstGeom>
          <a:noFill/>
          <a:ln>
            <a:noFill/>
          </a:ln>
        </p:spPr>
        <p:txBody>
          <a:bodyPr anchorCtr="0" anchor="t" bIns="25400" lIns="25400" spcFirstLastPara="1" rIns="25400" wrap="square" tIns="25400">
            <a:noAutofit/>
          </a:bodyPr>
          <a:lstStyle/>
          <a:p>
            <a:pPr indent="0" lvl="0" marL="0" marR="0" rtl="0" algn="l">
              <a:lnSpc>
                <a:spcPct val="85000"/>
              </a:lnSpc>
              <a:spcBef>
                <a:spcPts val="0"/>
              </a:spcBef>
              <a:spcAft>
                <a:spcPts val="0"/>
              </a:spcAft>
              <a:buClr>
                <a:srgbClr val="F7F5F1"/>
              </a:buClr>
              <a:buSzPts val="39000"/>
              <a:buFont typeface="Arial"/>
              <a:buNone/>
            </a:pPr>
            <a:r>
              <a:rPr b="1" i="0" lang="en-US" sz="39000" u="none" cap="none" strike="noStrike">
                <a:solidFill>
                  <a:srgbClr val="F7F5F1"/>
                </a:solidFill>
                <a:latin typeface="Arial"/>
                <a:ea typeface="Arial"/>
                <a:cs typeface="Arial"/>
                <a:sym typeface="Arial"/>
              </a:rPr>
              <a:t>04</a:t>
            </a:r>
            <a:endParaRPr b="0" i="0" sz="39000" u="none" cap="none" strike="noStrike">
              <a:solidFill>
                <a:schemeClr val="dk1"/>
              </a:solidFill>
              <a:latin typeface="Calibri"/>
              <a:ea typeface="Calibri"/>
              <a:cs typeface="Calibri"/>
              <a:sym typeface="Calibri"/>
            </a:endParaRPr>
          </a:p>
        </p:txBody>
      </p:sp>
      <p:sp>
        <p:nvSpPr>
          <p:cNvPr id="105" name="Google Shape;105;g3dc15369c17_0_171"/>
          <p:cNvSpPr/>
          <p:nvPr/>
        </p:nvSpPr>
        <p:spPr>
          <a:xfrm>
            <a:off x="1143000" y="2559368"/>
            <a:ext cx="14225700" cy="3123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F58220"/>
              </a:buClr>
              <a:buSzPts val="1650"/>
              <a:buFont typeface="Arial"/>
              <a:buNone/>
            </a:pPr>
            <a:r>
              <a:rPr b="0" i="0" lang="en-US" sz="1650" u="none" cap="none" strike="noStrike">
                <a:solidFill>
                  <a:srgbClr val="F58220"/>
                </a:solidFill>
                <a:latin typeface="Arial"/>
                <a:ea typeface="Arial"/>
                <a:cs typeface="Arial"/>
                <a:sym typeface="Arial"/>
              </a:rPr>
              <a:t>STAGE 04</a:t>
            </a:r>
            <a:endParaRPr b="0" i="0" sz="1650" u="none" cap="none" strike="noStrike">
              <a:solidFill>
                <a:schemeClr val="dk1"/>
              </a:solidFill>
              <a:latin typeface="Calibri"/>
              <a:ea typeface="Calibri"/>
              <a:cs typeface="Calibri"/>
              <a:sym typeface="Calibri"/>
            </a:endParaRPr>
          </a:p>
        </p:txBody>
      </p:sp>
      <p:sp>
        <p:nvSpPr>
          <p:cNvPr id="106" name="Google Shape;106;g3dc15369c17_0_171"/>
          <p:cNvSpPr/>
          <p:nvPr/>
        </p:nvSpPr>
        <p:spPr>
          <a:xfrm>
            <a:off x="1143000" y="3138488"/>
            <a:ext cx="14225700" cy="2427000"/>
          </a:xfrm>
          <a:prstGeom prst="rect">
            <a:avLst/>
          </a:prstGeom>
          <a:noFill/>
          <a:ln>
            <a:noFill/>
          </a:ln>
        </p:spPr>
        <p:txBody>
          <a:bodyPr anchorCtr="0" anchor="t" bIns="25400" lIns="25400" spcFirstLastPara="1" rIns="25400" wrap="square" tIns="25400">
            <a:noAutofit/>
          </a:bodyPr>
          <a:lstStyle/>
          <a:p>
            <a:pPr indent="0" lvl="0" marL="0" marR="0" rtl="0" algn="l">
              <a:lnSpc>
                <a:spcPct val="95000"/>
              </a:lnSpc>
              <a:spcBef>
                <a:spcPts val="0"/>
              </a:spcBef>
              <a:spcAft>
                <a:spcPts val="0"/>
              </a:spcAft>
              <a:buClr>
                <a:srgbClr val="14161C"/>
              </a:buClr>
              <a:buSzPts val="9900"/>
              <a:buFont typeface="Arial"/>
              <a:buNone/>
            </a:pPr>
            <a:r>
              <a:rPr b="1" i="0" lang="en-US" sz="9900" u="none" cap="none" strike="noStrike">
                <a:solidFill>
                  <a:srgbClr val="14161C"/>
                </a:solidFill>
                <a:latin typeface="Arial"/>
                <a:ea typeface="Arial"/>
                <a:cs typeface="Arial"/>
                <a:sym typeface="Arial"/>
              </a:rPr>
              <a:t>Bigger prompts </a:t>
            </a:r>
            <a:r>
              <a:rPr b="1" i="0" lang="en-US" sz="9900" u="none" cap="none" strike="noStrike">
                <a:solidFill>
                  <a:srgbClr val="F58220"/>
                </a:solidFill>
                <a:latin typeface="Arial"/>
                <a:ea typeface="Arial"/>
                <a:cs typeface="Arial"/>
                <a:sym typeface="Arial"/>
              </a:rPr>
              <a:t>≠ </a:t>
            </a:r>
            <a:r>
              <a:rPr b="1" i="0" lang="en-US" sz="9900" u="none" cap="none" strike="noStrike">
                <a:solidFill>
                  <a:srgbClr val="14161C"/>
                </a:solidFill>
                <a:latin typeface="Arial"/>
                <a:ea typeface="Arial"/>
                <a:cs typeface="Arial"/>
                <a:sym typeface="Arial"/>
              </a:rPr>
              <a:t>better code.</a:t>
            </a:r>
            <a:endParaRPr b="0" i="0" sz="9900" u="none" cap="none" strike="noStrike">
              <a:solidFill>
                <a:schemeClr val="dk1"/>
              </a:solidFill>
              <a:latin typeface="Calibri"/>
              <a:ea typeface="Calibri"/>
              <a:cs typeface="Calibri"/>
              <a:sym typeface="Calibri"/>
            </a:endParaRPr>
          </a:p>
        </p:txBody>
      </p:sp>
      <p:sp>
        <p:nvSpPr>
          <p:cNvPr id="107" name="Google Shape;107;g3dc15369c17_0_171"/>
          <p:cNvSpPr/>
          <p:nvPr/>
        </p:nvSpPr>
        <p:spPr>
          <a:xfrm>
            <a:off x="1143000" y="5984557"/>
            <a:ext cx="13244400" cy="1015500"/>
          </a:xfrm>
          <a:prstGeom prst="rect">
            <a:avLst/>
          </a:prstGeom>
          <a:noFill/>
          <a:ln>
            <a:noFill/>
          </a:ln>
        </p:spPr>
        <p:txBody>
          <a:bodyPr anchorCtr="0" anchor="t" bIns="25400" lIns="25400" spcFirstLastPara="1" rIns="25400" wrap="square" tIns="25400">
            <a:noAutofit/>
          </a:bodyPr>
          <a:lstStyle/>
          <a:p>
            <a:pPr indent="0" lvl="0" marL="0" marR="0" rtl="0" algn="l">
              <a:lnSpc>
                <a:spcPct val="135000"/>
              </a:lnSpc>
              <a:spcBef>
                <a:spcPts val="0"/>
              </a:spcBef>
              <a:spcAft>
                <a:spcPts val="0"/>
              </a:spcAft>
              <a:buClr>
                <a:srgbClr val="6B6E78"/>
              </a:buClr>
              <a:buSzPts val="2850"/>
              <a:buFont typeface="Arial"/>
              <a:buNone/>
            </a:pPr>
            <a:r>
              <a:rPr b="0" i="0" lang="en-US" sz="2850" u="none" cap="none" strike="noStrike">
                <a:solidFill>
                  <a:srgbClr val="6B6E78"/>
                </a:solidFill>
                <a:latin typeface="Arial"/>
                <a:ea typeface="Arial"/>
                <a:cs typeface="Arial"/>
                <a:sym typeface="Arial"/>
              </a:rPr>
              <a:t>I learned </a:t>
            </a:r>
            <a:r>
              <a:rPr b="0" i="0" lang="en-US" sz="2850" u="none" cap="none" strike="noStrike">
                <a:solidFill>
                  <a:srgbClr val="14161C"/>
                </a:solidFill>
                <a:latin typeface="Arial"/>
                <a:ea typeface="Arial"/>
                <a:cs typeface="Arial"/>
                <a:sym typeface="Arial"/>
              </a:rPr>
              <a:t>"context is king," </a:t>
            </a:r>
            <a:r>
              <a:rPr b="0" i="0" lang="en-US" sz="2850" u="none" cap="none" strike="noStrike">
                <a:solidFill>
                  <a:srgbClr val="6B6E78"/>
                </a:solidFill>
                <a:latin typeface="Arial"/>
                <a:ea typeface="Arial"/>
                <a:cs typeface="Arial"/>
                <a:sym typeface="Arial"/>
              </a:rPr>
              <a:t>so I wrote paragraphs instead of sentences. Still one-shotting. Change one thing — the whole thing fell apart. Hours of hot-fixes.</a:t>
            </a:r>
            <a:endParaRPr b="0" i="0" sz="2850" u="none" cap="none" strike="noStrike">
              <a:solidFill>
                <a:schemeClr val="dk1"/>
              </a:solidFill>
              <a:latin typeface="Calibri"/>
              <a:ea typeface="Calibri"/>
              <a:cs typeface="Calibri"/>
              <a:sym typeface="Calibri"/>
            </a:endParaRPr>
          </a:p>
        </p:txBody>
      </p:sp>
      <p:sp>
        <p:nvSpPr>
          <p:cNvPr id="108" name="Google Shape;108;g3dc15369c17_0_171"/>
          <p:cNvSpPr/>
          <p:nvPr/>
        </p:nvSpPr>
        <p:spPr>
          <a:xfrm>
            <a:off x="1143000" y="7419023"/>
            <a:ext cx="4044600" cy="403800"/>
          </a:xfrm>
          <a:prstGeom prst="rect">
            <a:avLst/>
          </a:prstGeom>
          <a:noFill/>
          <a:ln cap="flat" cmpd="sng" w="9525">
            <a:solidFill>
              <a:srgbClr val="F5822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g3dc15369c17_0_171"/>
          <p:cNvSpPr/>
          <p:nvPr/>
        </p:nvSpPr>
        <p:spPr>
          <a:xfrm>
            <a:off x="1322070" y="7521893"/>
            <a:ext cx="3807900" cy="236100"/>
          </a:xfrm>
          <a:prstGeom prst="rect">
            <a:avLst/>
          </a:prstGeom>
          <a:noFill/>
          <a:ln>
            <a:noFill/>
          </a:ln>
        </p:spPr>
        <p:txBody>
          <a:bodyPr anchorCtr="0" anchor="ctr" bIns="25400" lIns="25400" spcFirstLastPara="1" rIns="25400" wrap="square" tIns="25400">
            <a:noAutofit/>
          </a:bodyPr>
          <a:lstStyle/>
          <a:p>
            <a:pPr indent="0" lvl="0" marL="0" marR="0" rtl="0" algn="l">
              <a:spcBef>
                <a:spcPts val="0"/>
              </a:spcBef>
              <a:spcAft>
                <a:spcPts val="0"/>
              </a:spcAft>
              <a:buClr>
                <a:srgbClr val="F58220"/>
              </a:buClr>
              <a:buSzPts val="1350"/>
              <a:buFont typeface="Arial"/>
              <a:buNone/>
            </a:pPr>
            <a:r>
              <a:rPr b="0" i="0" lang="en-US" sz="1350" u="none" cap="none" strike="noStrike">
                <a:solidFill>
                  <a:srgbClr val="F58220"/>
                </a:solidFill>
                <a:latin typeface="Arial"/>
                <a:ea typeface="Arial"/>
                <a:cs typeface="Arial"/>
                <a:sym typeface="Arial"/>
              </a:rPr>
              <a:t>MORE WORDS · SAME PROBLEM</a:t>
            </a:r>
            <a:endParaRPr b="0" i="0" sz="135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 name="Shape 114"/>
        <p:cNvGrpSpPr/>
        <p:nvPr/>
      </p:nvGrpSpPr>
      <p:grpSpPr>
        <a:xfrm>
          <a:off x="0" y="0"/>
          <a:ext cx="0" cy="0"/>
          <a:chOff x="0" y="0"/>
          <a:chExt cx="0" cy="0"/>
        </a:xfrm>
      </p:grpSpPr>
      <p:sp>
        <p:nvSpPr>
          <p:cNvPr id="115" name="Google Shape;115;g3dc15369c17_0_183"/>
          <p:cNvSpPr/>
          <p:nvPr/>
        </p:nvSpPr>
        <p:spPr>
          <a:xfrm>
            <a:off x="1143000" y="476250"/>
            <a:ext cx="20808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VIBE → CONTEXT</a:t>
            </a:r>
            <a:endParaRPr b="0" i="0" sz="1350" u="none" cap="none" strike="noStrike">
              <a:solidFill>
                <a:schemeClr val="dk1"/>
              </a:solidFill>
              <a:latin typeface="Calibri"/>
              <a:ea typeface="Calibri"/>
              <a:cs typeface="Calibri"/>
              <a:sym typeface="Calibri"/>
            </a:endParaRPr>
          </a:p>
        </p:txBody>
      </p:sp>
      <p:sp>
        <p:nvSpPr>
          <p:cNvPr id="116" name="Google Shape;116;g3dc15369c17_0_183"/>
          <p:cNvSpPr/>
          <p:nvPr/>
        </p:nvSpPr>
        <p:spPr>
          <a:xfrm>
            <a:off x="16356568" y="476250"/>
            <a:ext cx="8646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05 / 06</a:t>
            </a:r>
            <a:endParaRPr b="0" i="0" sz="1350" u="none" cap="none" strike="noStrike">
              <a:solidFill>
                <a:schemeClr val="dk1"/>
              </a:solidFill>
              <a:latin typeface="Calibri"/>
              <a:ea typeface="Calibri"/>
              <a:cs typeface="Calibri"/>
              <a:sym typeface="Calibri"/>
            </a:endParaRPr>
          </a:p>
        </p:txBody>
      </p:sp>
      <p:sp>
        <p:nvSpPr>
          <p:cNvPr id="117" name="Google Shape;117;g3dc15369c17_0_183"/>
          <p:cNvSpPr/>
          <p:nvPr/>
        </p:nvSpPr>
        <p:spPr>
          <a:xfrm>
            <a:off x="11432620" y="381000"/>
            <a:ext cx="6178200" cy="4248300"/>
          </a:xfrm>
          <a:prstGeom prst="rect">
            <a:avLst/>
          </a:prstGeom>
          <a:noFill/>
          <a:ln>
            <a:noFill/>
          </a:ln>
        </p:spPr>
        <p:txBody>
          <a:bodyPr anchorCtr="0" anchor="t" bIns="25400" lIns="25400" spcFirstLastPara="1" rIns="25400" wrap="square" tIns="25400">
            <a:noAutofit/>
          </a:bodyPr>
          <a:lstStyle/>
          <a:p>
            <a:pPr indent="0" lvl="0" marL="0" marR="0" rtl="0" algn="l">
              <a:lnSpc>
                <a:spcPct val="85000"/>
              </a:lnSpc>
              <a:spcBef>
                <a:spcPts val="0"/>
              </a:spcBef>
              <a:spcAft>
                <a:spcPts val="0"/>
              </a:spcAft>
              <a:buClr>
                <a:srgbClr val="F7F5F1"/>
              </a:buClr>
              <a:buSzPts val="39000"/>
              <a:buFont typeface="Arial"/>
              <a:buNone/>
            </a:pPr>
            <a:r>
              <a:rPr b="1" i="0" lang="en-US" sz="39000" u="none" cap="none" strike="noStrike">
                <a:solidFill>
                  <a:srgbClr val="F7F5F1"/>
                </a:solidFill>
                <a:latin typeface="Arial"/>
                <a:ea typeface="Arial"/>
                <a:cs typeface="Arial"/>
                <a:sym typeface="Arial"/>
              </a:rPr>
              <a:t>05</a:t>
            </a:r>
            <a:endParaRPr b="0" i="0" sz="39000" u="none" cap="none" strike="noStrike">
              <a:solidFill>
                <a:schemeClr val="dk1"/>
              </a:solidFill>
              <a:latin typeface="Calibri"/>
              <a:ea typeface="Calibri"/>
              <a:cs typeface="Calibri"/>
              <a:sym typeface="Calibri"/>
            </a:endParaRPr>
          </a:p>
        </p:txBody>
      </p:sp>
      <p:sp>
        <p:nvSpPr>
          <p:cNvPr id="118" name="Google Shape;118;g3dc15369c17_0_183"/>
          <p:cNvSpPr/>
          <p:nvPr/>
        </p:nvSpPr>
        <p:spPr>
          <a:xfrm>
            <a:off x="1143000" y="2450783"/>
            <a:ext cx="14225700" cy="3123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F58220"/>
              </a:buClr>
              <a:buSzPts val="1650"/>
              <a:buFont typeface="Arial"/>
              <a:buNone/>
            </a:pPr>
            <a:r>
              <a:rPr b="0" i="0" lang="en-US" sz="1650" u="none" cap="none" strike="noStrike">
                <a:solidFill>
                  <a:srgbClr val="F58220"/>
                </a:solidFill>
                <a:latin typeface="Arial"/>
                <a:ea typeface="Arial"/>
                <a:cs typeface="Arial"/>
                <a:sym typeface="Arial"/>
              </a:rPr>
              <a:t>STAGE 05 · THE SHIFT</a:t>
            </a:r>
            <a:endParaRPr b="0" i="0" sz="1650" u="none" cap="none" strike="noStrike">
              <a:solidFill>
                <a:schemeClr val="dk1"/>
              </a:solidFill>
              <a:latin typeface="Calibri"/>
              <a:ea typeface="Calibri"/>
              <a:cs typeface="Calibri"/>
              <a:sym typeface="Calibri"/>
            </a:endParaRPr>
          </a:p>
        </p:txBody>
      </p:sp>
      <p:sp>
        <p:nvSpPr>
          <p:cNvPr id="119" name="Google Shape;119;g3dc15369c17_0_183"/>
          <p:cNvSpPr/>
          <p:nvPr/>
        </p:nvSpPr>
        <p:spPr>
          <a:xfrm>
            <a:off x="1143000" y="3029903"/>
            <a:ext cx="14225700" cy="2644200"/>
          </a:xfrm>
          <a:prstGeom prst="rect">
            <a:avLst/>
          </a:prstGeom>
          <a:noFill/>
          <a:ln>
            <a:noFill/>
          </a:ln>
        </p:spPr>
        <p:txBody>
          <a:bodyPr anchorCtr="0" anchor="t" bIns="25400" lIns="25400" spcFirstLastPara="1" rIns="25400" wrap="square" tIns="25400">
            <a:noAutofit/>
          </a:bodyPr>
          <a:lstStyle/>
          <a:p>
            <a:pPr indent="0" lvl="0" marL="0" marR="0" rtl="0" algn="l">
              <a:lnSpc>
                <a:spcPct val="95000"/>
              </a:lnSpc>
              <a:spcBef>
                <a:spcPts val="0"/>
              </a:spcBef>
              <a:spcAft>
                <a:spcPts val="0"/>
              </a:spcAft>
              <a:buClr>
                <a:srgbClr val="14161C"/>
              </a:buClr>
              <a:buSzPts val="10800"/>
              <a:buFont typeface="Arial"/>
              <a:buNone/>
            </a:pPr>
            <a:r>
              <a:rPr b="1" i="0" lang="en-US" sz="10800" u="none" cap="none" strike="noStrike">
                <a:solidFill>
                  <a:srgbClr val="14161C"/>
                </a:solidFill>
                <a:latin typeface="Arial"/>
                <a:ea typeface="Arial"/>
                <a:cs typeface="Arial"/>
                <a:sym typeface="Arial"/>
              </a:rPr>
              <a:t>Planning </a:t>
            </a:r>
            <a:r>
              <a:rPr b="1" i="0" lang="en-US" sz="10800" u="none" cap="none" strike="noStrike">
                <a:solidFill>
                  <a:srgbClr val="F58220"/>
                </a:solidFill>
                <a:latin typeface="Arial"/>
                <a:ea typeface="Arial"/>
                <a:cs typeface="Arial"/>
                <a:sym typeface="Arial"/>
              </a:rPr>
              <a:t>&gt; </a:t>
            </a:r>
            <a:r>
              <a:rPr b="1" i="0" lang="en-US" sz="10800" u="none" cap="none" strike="noStrike">
                <a:solidFill>
                  <a:srgbClr val="14161C"/>
                </a:solidFill>
                <a:latin typeface="Arial"/>
                <a:ea typeface="Arial"/>
                <a:cs typeface="Arial"/>
                <a:sym typeface="Arial"/>
              </a:rPr>
              <a:t>Prompting.</a:t>
            </a:r>
            <a:endParaRPr b="0" i="0" sz="10800" u="none" cap="none" strike="noStrike">
              <a:solidFill>
                <a:schemeClr val="dk1"/>
              </a:solidFill>
              <a:latin typeface="Calibri"/>
              <a:ea typeface="Calibri"/>
              <a:cs typeface="Calibri"/>
              <a:sym typeface="Calibri"/>
            </a:endParaRPr>
          </a:p>
        </p:txBody>
      </p:sp>
      <p:sp>
        <p:nvSpPr>
          <p:cNvPr id="120" name="Google Shape;120;g3dc15369c17_0_183"/>
          <p:cNvSpPr/>
          <p:nvPr/>
        </p:nvSpPr>
        <p:spPr>
          <a:xfrm>
            <a:off x="1143000" y="6093143"/>
            <a:ext cx="13244400" cy="1015500"/>
          </a:xfrm>
          <a:prstGeom prst="rect">
            <a:avLst/>
          </a:prstGeom>
          <a:noFill/>
          <a:ln>
            <a:noFill/>
          </a:ln>
        </p:spPr>
        <p:txBody>
          <a:bodyPr anchorCtr="0" anchor="t" bIns="25400" lIns="25400" spcFirstLastPara="1" rIns="25400" wrap="square" tIns="25400">
            <a:noAutofit/>
          </a:bodyPr>
          <a:lstStyle/>
          <a:p>
            <a:pPr indent="0" lvl="0" marL="0" marR="0" rtl="0" algn="l">
              <a:lnSpc>
                <a:spcPct val="135000"/>
              </a:lnSpc>
              <a:spcBef>
                <a:spcPts val="0"/>
              </a:spcBef>
              <a:spcAft>
                <a:spcPts val="0"/>
              </a:spcAft>
              <a:buClr>
                <a:srgbClr val="6B6E78"/>
              </a:buClr>
              <a:buSzPts val="2850"/>
              <a:buFont typeface="Arial"/>
              <a:buNone/>
            </a:pPr>
            <a:r>
              <a:rPr b="0" i="0" lang="en-US" sz="2850" u="none" cap="none" strike="noStrike">
                <a:solidFill>
                  <a:srgbClr val="6B6E78"/>
                </a:solidFill>
                <a:latin typeface="Arial"/>
                <a:ea typeface="Arial"/>
                <a:cs typeface="Arial"/>
                <a:sym typeface="Arial"/>
              </a:rPr>
              <a:t>I started spending more time </a:t>
            </a:r>
            <a:r>
              <a:rPr b="0" i="0" lang="en-US" sz="2850" u="none" cap="none" strike="noStrike">
                <a:solidFill>
                  <a:srgbClr val="14161C"/>
                </a:solidFill>
                <a:latin typeface="Arial"/>
                <a:ea typeface="Arial"/>
                <a:cs typeface="Arial"/>
                <a:sym typeface="Arial"/>
              </a:rPr>
              <a:t>thinking </a:t>
            </a:r>
            <a:r>
              <a:rPr b="0" i="0" lang="en-US" sz="2850" u="none" cap="none" strike="noStrike">
                <a:solidFill>
                  <a:srgbClr val="6B6E78"/>
                </a:solidFill>
                <a:latin typeface="Arial"/>
                <a:ea typeface="Arial"/>
                <a:cs typeface="Arial"/>
                <a:sym typeface="Arial"/>
              </a:rPr>
              <a:t>before asking. Output got </a:t>
            </a:r>
            <a:r>
              <a:rPr b="0" i="0" lang="en-US" sz="2850" u="none" cap="none" strike="noStrike">
                <a:solidFill>
                  <a:srgbClr val="F58220"/>
                </a:solidFill>
                <a:latin typeface="Arial"/>
                <a:ea typeface="Arial"/>
                <a:cs typeface="Arial"/>
                <a:sym typeface="Arial"/>
              </a:rPr>
              <a:t>10× </a:t>
            </a:r>
            <a:r>
              <a:rPr b="0" i="0" lang="en-US" sz="2850" u="none" cap="none" strike="noStrike">
                <a:solidFill>
                  <a:srgbClr val="6B6E78"/>
                </a:solidFill>
                <a:latin typeface="Arial"/>
                <a:ea typeface="Arial"/>
                <a:cs typeface="Arial"/>
                <a:sym typeface="Arial"/>
              </a:rPr>
              <a:t>better. I still couldn't read code — but I could find what works </a:t>
            </a:r>
            <a:r>
              <a:rPr b="0" i="1" lang="en-US" sz="2850" u="none" cap="none" strike="noStrike">
                <a:solidFill>
                  <a:srgbClr val="6B6E78"/>
                </a:solidFill>
                <a:latin typeface="Arial"/>
                <a:ea typeface="Arial"/>
                <a:cs typeface="Arial"/>
                <a:sym typeface="Arial"/>
              </a:rPr>
              <a:t>before </a:t>
            </a:r>
            <a:r>
              <a:rPr b="0" i="0" lang="en-US" sz="2850" u="none" cap="none" strike="noStrike">
                <a:solidFill>
                  <a:srgbClr val="6B6E78"/>
                </a:solidFill>
                <a:latin typeface="Arial"/>
                <a:ea typeface="Arial"/>
                <a:cs typeface="Arial"/>
                <a:sym typeface="Arial"/>
              </a:rPr>
              <a:t>building it.</a:t>
            </a:r>
            <a:endParaRPr b="0" i="0" sz="2850" u="none" cap="none" strike="noStrike">
              <a:solidFill>
                <a:schemeClr val="dk1"/>
              </a:solidFill>
              <a:latin typeface="Calibri"/>
              <a:ea typeface="Calibri"/>
              <a:cs typeface="Calibri"/>
              <a:sym typeface="Calibri"/>
            </a:endParaRPr>
          </a:p>
        </p:txBody>
      </p:sp>
      <p:sp>
        <p:nvSpPr>
          <p:cNvPr id="121" name="Google Shape;121;g3dc15369c17_0_183"/>
          <p:cNvSpPr/>
          <p:nvPr/>
        </p:nvSpPr>
        <p:spPr>
          <a:xfrm>
            <a:off x="1143000" y="7527607"/>
            <a:ext cx="1583400" cy="403800"/>
          </a:xfrm>
          <a:prstGeom prst="rect">
            <a:avLst/>
          </a:prstGeom>
          <a:noFill/>
          <a:ln cap="flat" cmpd="sng" w="9525">
            <a:solidFill>
              <a:srgbClr val="F5822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g3dc15369c17_0_183"/>
          <p:cNvSpPr/>
          <p:nvPr/>
        </p:nvSpPr>
        <p:spPr>
          <a:xfrm>
            <a:off x="1322070" y="7630477"/>
            <a:ext cx="1301400" cy="236100"/>
          </a:xfrm>
          <a:prstGeom prst="rect">
            <a:avLst/>
          </a:prstGeom>
          <a:noFill/>
          <a:ln>
            <a:noFill/>
          </a:ln>
        </p:spPr>
        <p:txBody>
          <a:bodyPr anchorCtr="0" anchor="ctr" bIns="25400" lIns="25400" spcFirstLastPara="1" rIns="25400" wrap="square" tIns="25400">
            <a:noAutofit/>
          </a:bodyPr>
          <a:lstStyle/>
          <a:p>
            <a:pPr indent="0" lvl="0" marL="0" marR="0" rtl="0" algn="l">
              <a:spcBef>
                <a:spcPts val="0"/>
              </a:spcBef>
              <a:spcAft>
                <a:spcPts val="0"/>
              </a:spcAft>
              <a:buClr>
                <a:srgbClr val="F58220"/>
              </a:buClr>
              <a:buSzPts val="1350"/>
              <a:buFont typeface="Arial"/>
              <a:buNone/>
            </a:pPr>
            <a:r>
              <a:rPr b="0" i="0" lang="en-US" sz="1350" u="none" cap="none" strike="noStrike">
                <a:solidFill>
                  <a:srgbClr val="F58220"/>
                </a:solidFill>
                <a:latin typeface="Arial"/>
                <a:ea typeface="Arial"/>
                <a:cs typeface="Arial"/>
                <a:sym typeface="Arial"/>
              </a:rPr>
              <a:t>THE SHIFT</a:t>
            </a:r>
            <a:endParaRPr b="0" i="0" sz="135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 name="Shape 127"/>
        <p:cNvGrpSpPr/>
        <p:nvPr/>
      </p:nvGrpSpPr>
      <p:grpSpPr>
        <a:xfrm>
          <a:off x="0" y="0"/>
          <a:ext cx="0" cy="0"/>
          <a:chOff x="0" y="0"/>
          <a:chExt cx="0" cy="0"/>
        </a:xfrm>
      </p:grpSpPr>
      <p:sp>
        <p:nvSpPr>
          <p:cNvPr id="128" name="Google Shape;128;g3dc15369c17_0_195"/>
          <p:cNvSpPr/>
          <p:nvPr/>
        </p:nvSpPr>
        <p:spPr>
          <a:xfrm>
            <a:off x="1143000" y="476250"/>
            <a:ext cx="20808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VIBE → CONTEXT</a:t>
            </a:r>
            <a:endParaRPr b="0" i="0" sz="1350" u="none" cap="none" strike="noStrike">
              <a:solidFill>
                <a:schemeClr val="dk1"/>
              </a:solidFill>
              <a:latin typeface="Calibri"/>
              <a:ea typeface="Calibri"/>
              <a:cs typeface="Calibri"/>
              <a:sym typeface="Calibri"/>
            </a:endParaRPr>
          </a:p>
        </p:txBody>
      </p:sp>
      <p:sp>
        <p:nvSpPr>
          <p:cNvPr id="129" name="Google Shape;129;g3dc15369c17_0_195"/>
          <p:cNvSpPr/>
          <p:nvPr/>
        </p:nvSpPr>
        <p:spPr>
          <a:xfrm>
            <a:off x="16356568" y="476250"/>
            <a:ext cx="8646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06 / 06</a:t>
            </a:r>
            <a:endParaRPr b="0" i="0" sz="1350" u="none" cap="none" strike="noStrike">
              <a:solidFill>
                <a:schemeClr val="dk1"/>
              </a:solidFill>
              <a:latin typeface="Calibri"/>
              <a:ea typeface="Calibri"/>
              <a:cs typeface="Calibri"/>
              <a:sym typeface="Calibri"/>
            </a:endParaRPr>
          </a:p>
        </p:txBody>
      </p:sp>
      <p:sp>
        <p:nvSpPr>
          <p:cNvPr id="130" name="Google Shape;130;g3dc15369c17_0_195"/>
          <p:cNvSpPr/>
          <p:nvPr/>
        </p:nvSpPr>
        <p:spPr>
          <a:xfrm>
            <a:off x="11224617" y="381000"/>
            <a:ext cx="6392400" cy="4248300"/>
          </a:xfrm>
          <a:prstGeom prst="rect">
            <a:avLst/>
          </a:prstGeom>
          <a:noFill/>
          <a:ln>
            <a:noFill/>
          </a:ln>
        </p:spPr>
        <p:txBody>
          <a:bodyPr anchorCtr="0" anchor="t" bIns="25400" lIns="25400" spcFirstLastPara="1" rIns="25400" wrap="square" tIns="25400">
            <a:noAutofit/>
          </a:bodyPr>
          <a:lstStyle/>
          <a:p>
            <a:pPr indent="0" lvl="0" marL="0" marR="0" rtl="0" algn="l">
              <a:lnSpc>
                <a:spcPct val="85000"/>
              </a:lnSpc>
              <a:spcBef>
                <a:spcPts val="0"/>
              </a:spcBef>
              <a:spcAft>
                <a:spcPts val="0"/>
              </a:spcAft>
              <a:buClr>
                <a:srgbClr val="F7F5F1"/>
              </a:buClr>
              <a:buSzPts val="39000"/>
              <a:buFont typeface="Arial"/>
              <a:buNone/>
            </a:pPr>
            <a:r>
              <a:rPr b="1" i="0" lang="en-US" sz="39000" u="none" cap="none" strike="noStrike">
                <a:solidFill>
                  <a:srgbClr val="F7F5F1"/>
                </a:solidFill>
                <a:latin typeface="Arial"/>
                <a:ea typeface="Arial"/>
                <a:cs typeface="Arial"/>
                <a:sym typeface="Arial"/>
              </a:rPr>
              <a:t>06</a:t>
            </a:r>
            <a:endParaRPr b="0" i="0" sz="39000" u="none" cap="none" strike="noStrike">
              <a:solidFill>
                <a:schemeClr val="dk1"/>
              </a:solidFill>
              <a:latin typeface="Calibri"/>
              <a:ea typeface="Calibri"/>
              <a:cs typeface="Calibri"/>
              <a:sym typeface="Calibri"/>
            </a:endParaRPr>
          </a:p>
        </p:txBody>
      </p:sp>
      <p:sp>
        <p:nvSpPr>
          <p:cNvPr id="131" name="Google Shape;131;g3dc15369c17_0_195"/>
          <p:cNvSpPr/>
          <p:nvPr/>
        </p:nvSpPr>
        <p:spPr>
          <a:xfrm>
            <a:off x="1143000" y="3102293"/>
            <a:ext cx="14716200" cy="3123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F58220"/>
              </a:buClr>
              <a:buSzPts val="1650"/>
              <a:buFont typeface="Arial"/>
              <a:buNone/>
            </a:pPr>
            <a:r>
              <a:rPr b="0" i="0" lang="en-US" sz="1650" u="none" cap="none" strike="noStrike">
                <a:solidFill>
                  <a:srgbClr val="F58220"/>
                </a:solidFill>
                <a:latin typeface="Arial"/>
                <a:ea typeface="Arial"/>
                <a:cs typeface="Arial"/>
                <a:sym typeface="Arial"/>
              </a:rPr>
              <a:t>STAGE 06</a:t>
            </a:r>
            <a:endParaRPr b="0" i="0" sz="1650" u="none" cap="none" strike="noStrike">
              <a:solidFill>
                <a:schemeClr val="dk1"/>
              </a:solidFill>
              <a:latin typeface="Calibri"/>
              <a:ea typeface="Calibri"/>
              <a:cs typeface="Calibri"/>
              <a:sym typeface="Calibri"/>
            </a:endParaRPr>
          </a:p>
        </p:txBody>
      </p:sp>
      <p:sp>
        <p:nvSpPr>
          <p:cNvPr id="132" name="Google Shape;132;g3dc15369c17_0_195"/>
          <p:cNvSpPr/>
          <p:nvPr/>
        </p:nvSpPr>
        <p:spPr>
          <a:xfrm>
            <a:off x="1143000" y="3681413"/>
            <a:ext cx="14716200" cy="1341000"/>
          </a:xfrm>
          <a:prstGeom prst="rect">
            <a:avLst/>
          </a:prstGeom>
          <a:noFill/>
          <a:ln>
            <a:noFill/>
          </a:ln>
        </p:spPr>
        <p:txBody>
          <a:bodyPr anchorCtr="0" anchor="t" bIns="25400" lIns="25400" spcFirstLastPara="1" rIns="25400" wrap="square" tIns="25400">
            <a:noAutofit/>
          </a:bodyPr>
          <a:lstStyle/>
          <a:p>
            <a:pPr indent="0" lvl="0" marL="0" marR="0" rtl="0" algn="l">
              <a:lnSpc>
                <a:spcPct val="95000"/>
              </a:lnSpc>
              <a:spcBef>
                <a:spcPts val="0"/>
              </a:spcBef>
              <a:spcAft>
                <a:spcPts val="0"/>
              </a:spcAft>
              <a:buClr>
                <a:srgbClr val="14161C"/>
              </a:buClr>
              <a:buSzPts val="10800"/>
              <a:buFont typeface="Arial"/>
              <a:buNone/>
            </a:pPr>
            <a:r>
              <a:rPr b="1" i="0" lang="en-US" sz="10800" u="none" cap="none" strike="noStrike">
                <a:solidFill>
                  <a:srgbClr val="14161C"/>
                </a:solidFill>
                <a:latin typeface="Arial"/>
                <a:ea typeface="Arial"/>
                <a:cs typeface="Arial"/>
                <a:sym typeface="Arial"/>
              </a:rPr>
              <a:t>The Engineer Era.</a:t>
            </a:r>
            <a:endParaRPr b="0" i="0" sz="10800" u="none" cap="none" strike="noStrike">
              <a:solidFill>
                <a:schemeClr val="dk1"/>
              </a:solidFill>
              <a:latin typeface="Calibri"/>
              <a:ea typeface="Calibri"/>
              <a:cs typeface="Calibri"/>
              <a:sym typeface="Calibri"/>
            </a:endParaRPr>
          </a:p>
        </p:txBody>
      </p:sp>
      <p:sp>
        <p:nvSpPr>
          <p:cNvPr id="133" name="Google Shape;133;g3dc15369c17_0_195"/>
          <p:cNvSpPr/>
          <p:nvPr/>
        </p:nvSpPr>
        <p:spPr>
          <a:xfrm>
            <a:off x="1143000" y="5441632"/>
            <a:ext cx="13735200" cy="1015500"/>
          </a:xfrm>
          <a:prstGeom prst="rect">
            <a:avLst/>
          </a:prstGeom>
          <a:noFill/>
          <a:ln>
            <a:noFill/>
          </a:ln>
        </p:spPr>
        <p:txBody>
          <a:bodyPr anchorCtr="0" anchor="t" bIns="25400" lIns="25400" spcFirstLastPara="1" rIns="25400" wrap="square" tIns="25400">
            <a:noAutofit/>
          </a:bodyPr>
          <a:lstStyle/>
          <a:p>
            <a:pPr indent="0" lvl="0" marL="0" marR="0" rtl="0" algn="l">
              <a:lnSpc>
                <a:spcPct val="135000"/>
              </a:lnSpc>
              <a:spcBef>
                <a:spcPts val="0"/>
              </a:spcBef>
              <a:spcAft>
                <a:spcPts val="0"/>
              </a:spcAft>
              <a:buClr>
                <a:srgbClr val="6B6E78"/>
              </a:buClr>
              <a:buSzPts val="2850"/>
              <a:buFont typeface="Arial"/>
              <a:buNone/>
            </a:pPr>
            <a:r>
              <a:rPr b="0" i="0" lang="en-US" sz="2850" u="none" cap="none" strike="noStrike">
                <a:solidFill>
                  <a:srgbClr val="6B6E78"/>
                </a:solidFill>
                <a:latin typeface="Arial"/>
                <a:ea typeface="Arial"/>
                <a:cs typeface="Arial"/>
                <a:sym typeface="Arial"/>
              </a:rPr>
              <a:t>Now I build from a </a:t>
            </a:r>
            <a:r>
              <a:rPr b="0" i="0" lang="en-US" sz="2850" u="none" cap="none" strike="noStrike">
                <a:solidFill>
                  <a:srgbClr val="14161C"/>
                </a:solidFill>
                <a:latin typeface="Arial"/>
                <a:ea typeface="Arial"/>
                <a:cs typeface="Arial"/>
                <a:sym typeface="Arial"/>
              </a:rPr>
              <a:t>base repository </a:t>
            </a:r>
            <a:r>
              <a:rPr b="0" i="0" lang="en-US" sz="2850" u="none" cap="none" strike="noStrike">
                <a:solidFill>
                  <a:srgbClr val="6B6E78"/>
                </a:solidFill>
                <a:latin typeface="Arial"/>
                <a:ea typeface="Arial"/>
                <a:cs typeface="Arial"/>
                <a:sym typeface="Arial"/>
              </a:rPr>
              <a:t>. Same apps — but stronger every time. Not a different prompt every time. </a:t>
            </a:r>
            <a:r>
              <a:rPr b="0" i="0" lang="en-US" sz="2850" u="none" cap="none" strike="noStrike">
                <a:solidFill>
                  <a:srgbClr val="F58220"/>
                </a:solidFill>
                <a:latin typeface="Arial"/>
                <a:ea typeface="Arial"/>
                <a:cs typeface="Arial"/>
                <a:sym typeface="Arial"/>
              </a:rPr>
              <a:t>A system.</a:t>
            </a:r>
            <a:endParaRPr b="0" i="0" sz="2850" u="none" cap="none" strike="noStrike">
              <a:solidFill>
                <a:schemeClr val="dk1"/>
              </a:solidFill>
              <a:latin typeface="Calibri"/>
              <a:ea typeface="Calibri"/>
              <a:cs typeface="Calibri"/>
              <a:sym typeface="Calibri"/>
            </a:endParaRPr>
          </a:p>
        </p:txBody>
      </p:sp>
      <p:sp>
        <p:nvSpPr>
          <p:cNvPr id="134" name="Google Shape;134;g3dc15369c17_0_195"/>
          <p:cNvSpPr/>
          <p:nvPr/>
        </p:nvSpPr>
        <p:spPr>
          <a:xfrm>
            <a:off x="1143000" y="6876098"/>
            <a:ext cx="1834200" cy="403800"/>
          </a:xfrm>
          <a:prstGeom prst="rect">
            <a:avLst/>
          </a:prstGeom>
          <a:noFill/>
          <a:ln cap="flat" cmpd="sng" w="9525">
            <a:solidFill>
              <a:srgbClr val="F5822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g3dc15369c17_0_195"/>
          <p:cNvSpPr/>
          <p:nvPr/>
        </p:nvSpPr>
        <p:spPr>
          <a:xfrm>
            <a:off x="1322070" y="6978968"/>
            <a:ext cx="1552200" cy="236100"/>
          </a:xfrm>
          <a:prstGeom prst="rect">
            <a:avLst/>
          </a:prstGeom>
          <a:noFill/>
          <a:ln>
            <a:noFill/>
          </a:ln>
        </p:spPr>
        <p:txBody>
          <a:bodyPr anchorCtr="0" anchor="ctr" bIns="25400" lIns="25400" spcFirstLastPara="1" rIns="25400" wrap="square" tIns="25400">
            <a:noAutofit/>
          </a:bodyPr>
          <a:lstStyle/>
          <a:p>
            <a:pPr indent="0" lvl="0" marL="0" marR="0" rtl="0" algn="l">
              <a:spcBef>
                <a:spcPts val="0"/>
              </a:spcBef>
              <a:spcAft>
                <a:spcPts val="0"/>
              </a:spcAft>
              <a:buClr>
                <a:srgbClr val="F58220"/>
              </a:buClr>
              <a:buSzPts val="1350"/>
              <a:buFont typeface="Arial"/>
              <a:buNone/>
            </a:pPr>
            <a:r>
              <a:rPr b="0" i="0" lang="en-US" sz="1350" u="none" cap="none" strike="noStrike">
                <a:solidFill>
                  <a:srgbClr val="F58220"/>
                </a:solidFill>
                <a:latin typeface="Arial"/>
                <a:ea typeface="Arial"/>
                <a:cs typeface="Arial"/>
                <a:sym typeface="Arial"/>
              </a:rPr>
              <a:t>REPEATABLE</a:t>
            </a:r>
            <a:endParaRPr b="0" i="0" sz="1350" u="none" cap="none" strike="noStrike">
              <a:solidFill>
                <a:schemeClr val="dk1"/>
              </a:solidFill>
              <a:latin typeface="Calibri"/>
              <a:ea typeface="Calibri"/>
              <a:cs typeface="Calibri"/>
              <a:sym typeface="Calibri"/>
            </a:endParaRPr>
          </a:p>
        </p:txBody>
      </p:sp>
      <p:sp>
        <p:nvSpPr>
          <p:cNvPr id="136" name="Google Shape;136;g3dc15369c17_0_195"/>
          <p:cNvSpPr/>
          <p:nvPr/>
        </p:nvSpPr>
        <p:spPr>
          <a:xfrm>
            <a:off x="3148727" y="6876098"/>
            <a:ext cx="1840200" cy="403800"/>
          </a:xfrm>
          <a:prstGeom prst="rect">
            <a:avLst/>
          </a:prstGeom>
          <a:noFill/>
          <a:ln cap="flat" cmpd="sng" w="9525">
            <a:solidFill>
              <a:srgbClr val="F5822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g3dc15369c17_0_195"/>
          <p:cNvSpPr/>
          <p:nvPr/>
        </p:nvSpPr>
        <p:spPr>
          <a:xfrm>
            <a:off x="3327797" y="6978968"/>
            <a:ext cx="1558500" cy="236100"/>
          </a:xfrm>
          <a:prstGeom prst="rect">
            <a:avLst/>
          </a:prstGeom>
          <a:noFill/>
          <a:ln>
            <a:noFill/>
          </a:ln>
        </p:spPr>
        <p:txBody>
          <a:bodyPr anchorCtr="0" anchor="ctr" bIns="25400" lIns="25400" spcFirstLastPara="1" rIns="25400" wrap="square" tIns="25400">
            <a:noAutofit/>
          </a:bodyPr>
          <a:lstStyle/>
          <a:p>
            <a:pPr indent="0" lvl="0" marL="0" marR="0" rtl="0" algn="l">
              <a:spcBef>
                <a:spcPts val="0"/>
              </a:spcBef>
              <a:spcAft>
                <a:spcPts val="0"/>
              </a:spcAft>
              <a:buClr>
                <a:srgbClr val="F58220"/>
              </a:buClr>
              <a:buSzPts val="1350"/>
              <a:buFont typeface="Arial"/>
              <a:buNone/>
            </a:pPr>
            <a:r>
              <a:rPr b="0" i="0" lang="en-US" sz="1350" u="none" cap="none" strike="noStrike">
                <a:solidFill>
                  <a:srgbClr val="F58220"/>
                </a:solidFill>
                <a:latin typeface="Arial"/>
                <a:ea typeface="Arial"/>
                <a:cs typeface="Arial"/>
                <a:sym typeface="Arial"/>
              </a:rPr>
              <a:t>CONSISTENT</a:t>
            </a:r>
            <a:endParaRPr b="0" i="0" sz="1350" u="none" cap="none" strike="noStrike">
              <a:solidFill>
                <a:schemeClr val="dk1"/>
              </a:solidFill>
              <a:latin typeface="Calibri"/>
              <a:ea typeface="Calibri"/>
              <a:cs typeface="Calibri"/>
              <a:sym typeface="Calibri"/>
            </a:endParaRPr>
          </a:p>
        </p:txBody>
      </p:sp>
      <p:sp>
        <p:nvSpPr>
          <p:cNvPr id="138" name="Google Shape;138;g3dc15369c17_0_195"/>
          <p:cNvSpPr/>
          <p:nvPr/>
        </p:nvSpPr>
        <p:spPr>
          <a:xfrm>
            <a:off x="5160526" y="6876098"/>
            <a:ext cx="2914200" cy="403800"/>
          </a:xfrm>
          <a:prstGeom prst="rect">
            <a:avLst/>
          </a:prstGeom>
          <a:noFill/>
          <a:ln cap="flat" cmpd="sng" w="9525">
            <a:solidFill>
              <a:srgbClr val="F5822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c15369c17_0_195"/>
          <p:cNvSpPr/>
          <p:nvPr/>
        </p:nvSpPr>
        <p:spPr>
          <a:xfrm>
            <a:off x="5339596" y="6978968"/>
            <a:ext cx="2643300" cy="236100"/>
          </a:xfrm>
          <a:prstGeom prst="rect">
            <a:avLst/>
          </a:prstGeom>
          <a:noFill/>
          <a:ln>
            <a:noFill/>
          </a:ln>
        </p:spPr>
        <p:txBody>
          <a:bodyPr anchorCtr="0" anchor="ctr" bIns="25400" lIns="25400" spcFirstLastPara="1" rIns="25400" wrap="square" tIns="25400">
            <a:noAutofit/>
          </a:bodyPr>
          <a:lstStyle/>
          <a:p>
            <a:pPr indent="0" lvl="0" marL="0" marR="0" rtl="0" algn="l">
              <a:spcBef>
                <a:spcPts val="0"/>
              </a:spcBef>
              <a:spcAft>
                <a:spcPts val="0"/>
              </a:spcAft>
              <a:buClr>
                <a:srgbClr val="F58220"/>
              </a:buClr>
              <a:buSzPts val="1350"/>
              <a:buFont typeface="Arial"/>
              <a:buNone/>
            </a:pPr>
            <a:r>
              <a:rPr b="0" i="0" lang="en-US" sz="1350" u="none" cap="none" strike="noStrike">
                <a:solidFill>
                  <a:srgbClr val="F58220"/>
                </a:solidFill>
                <a:latin typeface="Arial"/>
                <a:ea typeface="Arial"/>
                <a:cs typeface="Arial"/>
                <a:sym typeface="Arial"/>
              </a:rPr>
              <a:t>PRODUCTION-SHAPED</a:t>
            </a:r>
            <a:endParaRPr b="0" i="0" sz="135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 name="Shape 144"/>
        <p:cNvGrpSpPr/>
        <p:nvPr/>
      </p:nvGrpSpPr>
      <p:grpSpPr>
        <a:xfrm>
          <a:off x="0" y="0"/>
          <a:ext cx="0" cy="0"/>
          <a:chOff x="0" y="0"/>
          <a:chExt cx="0" cy="0"/>
        </a:xfrm>
      </p:grpSpPr>
      <p:sp>
        <p:nvSpPr>
          <p:cNvPr id="145" name="Google Shape;145;g3dc15369c17_0_211"/>
          <p:cNvSpPr/>
          <p:nvPr/>
        </p:nvSpPr>
        <p:spPr>
          <a:xfrm>
            <a:off x="1143000" y="476250"/>
            <a:ext cx="18624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THE CONTRAST</a:t>
            </a:r>
            <a:endParaRPr b="0" i="0" sz="1350" u="none" cap="none" strike="noStrike">
              <a:solidFill>
                <a:schemeClr val="dk1"/>
              </a:solidFill>
              <a:latin typeface="Calibri"/>
              <a:ea typeface="Calibri"/>
              <a:cs typeface="Calibri"/>
              <a:sym typeface="Calibri"/>
            </a:endParaRPr>
          </a:p>
        </p:txBody>
      </p:sp>
      <p:sp>
        <p:nvSpPr>
          <p:cNvPr id="146" name="Google Shape;146;g3dc15369c17_0_211"/>
          <p:cNvSpPr/>
          <p:nvPr/>
        </p:nvSpPr>
        <p:spPr>
          <a:xfrm>
            <a:off x="15140344" y="476250"/>
            <a:ext cx="20808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VIBE → CONTEXT</a:t>
            </a:r>
            <a:endParaRPr b="0" i="0" sz="1350" u="none" cap="none" strike="noStrike">
              <a:solidFill>
                <a:schemeClr val="dk1"/>
              </a:solidFill>
              <a:latin typeface="Calibri"/>
              <a:ea typeface="Calibri"/>
              <a:cs typeface="Calibri"/>
              <a:sym typeface="Calibri"/>
            </a:endParaRPr>
          </a:p>
        </p:txBody>
      </p:sp>
      <p:sp>
        <p:nvSpPr>
          <p:cNvPr id="147" name="Google Shape;147;g3dc15369c17_0_211"/>
          <p:cNvSpPr/>
          <p:nvPr/>
        </p:nvSpPr>
        <p:spPr>
          <a:xfrm>
            <a:off x="1143000" y="952500"/>
            <a:ext cx="16482000" cy="3123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F58220"/>
              </a:buClr>
              <a:buSzPts val="1650"/>
              <a:buFont typeface="Arial"/>
              <a:buNone/>
            </a:pPr>
            <a:r>
              <a:rPr b="0" i="0" lang="en-US" sz="1650" u="none" cap="none" strike="noStrike">
                <a:solidFill>
                  <a:srgbClr val="F58220"/>
                </a:solidFill>
                <a:latin typeface="Arial"/>
                <a:ea typeface="Arial"/>
                <a:cs typeface="Arial"/>
                <a:sym typeface="Arial"/>
              </a:rPr>
              <a:t>SIDE BY SIDE</a:t>
            </a:r>
            <a:endParaRPr b="0" i="0" sz="1650" u="none" cap="none" strike="noStrike">
              <a:solidFill>
                <a:schemeClr val="dk1"/>
              </a:solidFill>
              <a:latin typeface="Calibri"/>
              <a:ea typeface="Calibri"/>
              <a:cs typeface="Calibri"/>
              <a:sym typeface="Calibri"/>
            </a:endParaRPr>
          </a:p>
        </p:txBody>
      </p:sp>
      <p:sp>
        <p:nvSpPr>
          <p:cNvPr id="148" name="Google Shape;148;g3dc15369c17_0_211"/>
          <p:cNvSpPr/>
          <p:nvPr/>
        </p:nvSpPr>
        <p:spPr>
          <a:xfrm>
            <a:off x="1143000" y="1455420"/>
            <a:ext cx="16482000" cy="914400"/>
          </a:xfrm>
          <a:prstGeom prst="rect">
            <a:avLst/>
          </a:prstGeom>
          <a:noFill/>
          <a:ln>
            <a:noFill/>
          </a:ln>
        </p:spPr>
        <p:txBody>
          <a:bodyPr anchorCtr="0" anchor="t" bIns="25400" lIns="25400" spcFirstLastPara="1" rIns="25400" wrap="square" tIns="25400">
            <a:noAutofit/>
          </a:bodyPr>
          <a:lstStyle/>
          <a:p>
            <a:pPr indent="0" lvl="0" marL="0" marR="0" rtl="0" algn="l">
              <a:lnSpc>
                <a:spcPct val="95000"/>
              </a:lnSpc>
              <a:spcBef>
                <a:spcPts val="0"/>
              </a:spcBef>
              <a:spcAft>
                <a:spcPts val="0"/>
              </a:spcAft>
              <a:buClr>
                <a:srgbClr val="14161C"/>
              </a:buClr>
              <a:buSzPts val="7200"/>
              <a:buFont typeface="Arial"/>
              <a:buNone/>
            </a:pPr>
            <a:r>
              <a:rPr b="1" i="0" lang="en-US" sz="7200" u="none" cap="none" strike="noStrike">
                <a:solidFill>
                  <a:srgbClr val="14161C"/>
                </a:solidFill>
                <a:latin typeface="Arial"/>
                <a:ea typeface="Arial"/>
                <a:cs typeface="Arial"/>
                <a:sym typeface="Arial"/>
              </a:rPr>
              <a:t>Vibe Coder </a:t>
            </a:r>
            <a:r>
              <a:rPr b="0" i="0" lang="en-US" sz="7200" u="none" cap="none" strike="noStrike">
                <a:solidFill>
                  <a:srgbClr val="6B6E78"/>
                </a:solidFill>
                <a:latin typeface="Arial"/>
                <a:ea typeface="Arial"/>
                <a:cs typeface="Arial"/>
                <a:sym typeface="Arial"/>
              </a:rPr>
              <a:t>vs. </a:t>
            </a:r>
            <a:r>
              <a:rPr b="1" i="0" lang="en-US" sz="7200" u="none" cap="none" strike="noStrike">
                <a:solidFill>
                  <a:srgbClr val="14161C"/>
                </a:solidFill>
                <a:latin typeface="Arial"/>
                <a:ea typeface="Arial"/>
                <a:cs typeface="Arial"/>
                <a:sym typeface="Arial"/>
              </a:rPr>
              <a:t>Context Engineer.</a:t>
            </a:r>
            <a:endParaRPr b="0" i="0" sz="7200" u="none" cap="none" strike="noStrike">
              <a:solidFill>
                <a:schemeClr val="dk1"/>
              </a:solidFill>
              <a:latin typeface="Calibri"/>
              <a:ea typeface="Calibri"/>
              <a:cs typeface="Calibri"/>
              <a:sym typeface="Calibri"/>
            </a:endParaRPr>
          </a:p>
        </p:txBody>
      </p:sp>
      <p:sp>
        <p:nvSpPr>
          <p:cNvPr id="149" name="Google Shape;149;g3dc15369c17_0_211"/>
          <p:cNvSpPr/>
          <p:nvPr/>
        </p:nvSpPr>
        <p:spPr>
          <a:xfrm>
            <a:off x="1143000" y="2941320"/>
            <a:ext cx="7810500" cy="6488400"/>
          </a:xfrm>
          <a:prstGeom prst="rect">
            <a:avLst/>
          </a:prstGeom>
          <a:solidFill>
            <a:srgbClr val="F7F5F1"/>
          </a:solidFill>
          <a:ln cap="flat" cmpd="sng" w="9525">
            <a:solidFill>
              <a:srgbClr val="E5E5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g3dc15369c17_0_211"/>
          <p:cNvSpPr/>
          <p:nvPr/>
        </p:nvSpPr>
        <p:spPr>
          <a:xfrm>
            <a:off x="1607820" y="3482340"/>
            <a:ext cx="70872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BEFORE</a:t>
            </a:r>
            <a:endParaRPr b="0" i="0" sz="1350" u="none" cap="none" strike="noStrike">
              <a:solidFill>
                <a:schemeClr val="dk1"/>
              </a:solidFill>
              <a:latin typeface="Calibri"/>
              <a:ea typeface="Calibri"/>
              <a:cs typeface="Calibri"/>
              <a:sym typeface="Calibri"/>
            </a:endParaRPr>
          </a:p>
        </p:txBody>
      </p:sp>
      <p:sp>
        <p:nvSpPr>
          <p:cNvPr id="151" name="Google Shape;151;g3dc15369c17_0_211"/>
          <p:cNvSpPr/>
          <p:nvPr/>
        </p:nvSpPr>
        <p:spPr>
          <a:xfrm>
            <a:off x="1607820" y="3890010"/>
            <a:ext cx="7087200" cy="6933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14161C"/>
              </a:buClr>
              <a:buSzPts val="4200"/>
              <a:buFont typeface="Arial"/>
              <a:buNone/>
            </a:pPr>
            <a:r>
              <a:rPr b="1" i="0" lang="en-US" sz="4200" u="none" cap="none" strike="noStrike">
                <a:solidFill>
                  <a:srgbClr val="14161C"/>
                </a:solidFill>
                <a:latin typeface="Arial"/>
                <a:ea typeface="Arial"/>
                <a:cs typeface="Arial"/>
                <a:sym typeface="Arial"/>
              </a:rPr>
              <a:t>Vibe Coder</a:t>
            </a:r>
            <a:endParaRPr b="0" i="0" sz="4200" u="none" cap="none" strike="noStrike">
              <a:solidFill>
                <a:schemeClr val="dk1"/>
              </a:solidFill>
              <a:latin typeface="Calibri"/>
              <a:ea typeface="Calibri"/>
              <a:cs typeface="Calibri"/>
              <a:sym typeface="Calibri"/>
            </a:endParaRPr>
          </a:p>
        </p:txBody>
      </p:sp>
      <p:sp>
        <p:nvSpPr>
          <p:cNvPr id="152" name="Google Shape;152;g3dc15369c17_0_211"/>
          <p:cNvSpPr/>
          <p:nvPr/>
        </p:nvSpPr>
        <p:spPr>
          <a:xfrm>
            <a:off x="1434465" y="4754880"/>
            <a:ext cx="7130400" cy="2710800"/>
          </a:xfrm>
          <a:prstGeom prst="rect">
            <a:avLst/>
          </a:prstGeom>
          <a:noFill/>
          <a:ln>
            <a:noFill/>
          </a:ln>
        </p:spPr>
        <p:txBody>
          <a:bodyPr anchorCtr="0" anchor="t" bIns="25400" lIns="25400" spcFirstLastPara="1" rIns="25400" wrap="square" tIns="25400">
            <a:noAutofit/>
          </a:bodyPr>
          <a:lstStyle/>
          <a:p>
            <a:pPr indent="0" lvl="0" marL="0" marR="0" rtl="0" algn="l">
              <a:lnSpc>
                <a:spcPct val="135000"/>
              </a:lnSpc>
              <a:spcBef>
                <a:spcPts val="0"/>
              </a:spcBef>
              <a:spcAft>
                <a:spcPts val="0"/>
              </a:spcAft>
              <a:buClr>
                <a:srgbClr val="6B6E78"/>
              </a:buClr>
              <a:buSzPts val="1950"/>
              <a:buFont typeface="Arial"/>
              <a:buNone/>
            </a:pPr>
            <a:r>
              <a:rPr b="0" i="0" lang="en-US" sz="1950" u="none" cap="none" strike="noStrike">
                <a:solidFill>
                  <a:srgbClr val="6B6E78"/>
                </a:solidFill>
                <a:latin typeface="Arial"/>
                <a:ea typeface="Arial"/>
                <a:cs typeface="Arial"/>
                <a:sym typeface="Arial"/>
              </a:rPr>
              <a:t>Prompt and pray</a:t>
            </a:r>
            <a:endParaRPr b="0" i="0" sz="1950" u="none" cap="none" strike="noStrike">
              <a:solidFill>
                <a:schemeClr val="dk1"/>
              </a:solidFill>
              <a:latin typeface="Calibri"/>
              <a:ea typeface="Calibri"/>
              <a:cs typeface="Calibri"/>
              <a:sym typeface="Calibri"/>
            </a:endParaRPr>
          </a:p>
          <a:p>
            <a:pPr indent="0" lvl="0" marL="0" marR="0" rtl="0" algn="l">
              <a:lnSpc>
                <a:spcPct val="135000"/>
              </a:lnSpc>
              <a:spcBef>
                <a:spcPts val="0"/>
              </a:spcBef>
              <a:spcAft>
                <a:spcPts val="0"/>
              </a:spcAft>
              <a:buClr>
                <a:srgbClr val="6B6E78"/>
              </a:buClr>
              <a:buSzPts val="1950"/>
              <a:buFont typeface="Arial"/>
              <a:buNone/>
            </a:pPr>
            <a:r>
              <a:rPr b="0" i="0" lang="en-US" sz="1950" u="none" cap="none" strike="noStrike">
                <a:solidFill>
                  <a:srgbClr val="6B6E78"/>
                </a:solidFill>
                <a:latin typeface="Arial"/>
                <a:ea typeface="Arial"/>
                <a:cs typeface="Arial"/>
                <a:sym typeface="Arial"/>
              </a:rPr>
              <a:t>One-shot every time</a:t>
            </a:r>
            <a:endParaRPr b="0" i="0" sz="1950" u="none" cap="none" strike="noStrike">
              <a:solidFill>
                <a:schemeClr val="dk1"/>
              </a:solidFill>
              <a:latin typeface="Calibri"/>
              <a:ea typeface="Calibri"/>
              <a:cs typeface="Calibri"/>
              <a:sym typeface="Calibri"/>
            </a:endParaRPr>
          </a:p>
          <a:p>
            <a:pPr indent="0" lvl="0" marL="0" marR="0" rtl="0" algn="l">
              <a:lnSpc>
                <a:spcPct val="135000"/>
              </a:lnSpc>
              <a:spcBef>
                <a:spcPts val="0"/>
              </a:spcBef>
              <a:spcAft>
                <a:spcPts val="0"/>
              </a:spcAft>
              <a:buClr>
                <a:srgbClr val="6B6E78"/>
              </a:buClr>
              <a:buSzPts val="1950"/>
              <a:buFont typeface="Arial"/>
              <a:buNone/>
            </a:pPr>
            <a:r>
              <a:rPr b="0" i="0" lang="en-US" sz="1950" u="none" cap="none" strike="noStrike">
                <a:solidFill>
                  <a:srgbClr val="6B6E78"/>
                </a:solidFill>
                <a:latin typeface="Arial"/>
                <a:ea typeface="Arial"/>
                <a:cs typeface="Arial"/>
                <a:sym typeface="Arial"/>
              </a:rPr>
              <a:t>Hours of hot-fixes</a:t>
            </a:r>
            <a:endParaRPr b="0" i="0" sz="1950" u="none" cap="none" strike="noStrike">
              <a:solidFill>
                <a:schemeClr val="dk1"/>
              </a:solidFill>
              <a:latin typeface="Calibri"/>
              <a:ea typeface="Calibri"/>
              <a:cs typeface="Calibri"/>
              <a:sym typeface="Calibri"/>
            </a:endParaRPr>
          </a:p>
          <a:p>
            <a:pPr indent="0" lvl="0" marL="0" marR="0" rtl="0" algn="l">
              <a:lnSpc>
                <a:spcPct val="135000"/>
              </a:lnSpc>
              <a:spcBef>
                <a:spcPts val="0"/>
              </a:spcBef>
              <a:spcAft>
                <a:spcPts val="0"/>
              </a:spcAft>
              <a:buClr>
                <a:srgbClr val="6B6E78"/>
              </a:buClr>
              <a:buSzPts val="1950"/>
              <a:buFont typeface="Arial"/>
              <a:buNone/>
            </a:pPr>
            <a:r>
              <a:rPr b="0" i="0" lang="en-US" sz="1950" u="none" cap="none" strike="noStrike">
                <a:solidFill>
                  <a:srgbClr val="6B6E78"/>
                </a:solidFill>
                <a:latin typeface="Arial"/>
                <a:ea typeface="Arial"/>
                <a:cs typeface="Arial"/>
                <a:sym typeface="Arial"/>
              </a:rPr>
              <a:t>Looks great, breaks fast</a:t>
            </a:r>
            <a:endParaRPr b="0" i="0" sz="1950" u="none" cap="none" strike="noStrike">
              <a:solidFill>
                <a:schemeClr val="dk1"/>
              </a:solidFill>
              <a:latin typeface="Calibri"/>
              <a:ea typeface="Calibri"/>
              <a:cs typeface="Calibri"/>
              <a:sym typeface="Calibri"/>
            </a:endParaRPr>
          </a:p>
          <a:p>
            <a:pPr indent="0" lvl="0" marL="0" marR="0" rtl="0" algn="l">
              <a:lnSpc>
                <a:spcPct val="135000"/>
              </a:lnSpc>
              <a:spcBef>
                <a:spcPts val="0"/>
              </a:spcBef>
              <a:spcAft>
                <a:spcPts val="0"/>
              </a:spcAft>
              <a:buClr>
                <a:srgbClr val="6B6E78"/>
              </a:buClr>
              <a:buSzPts val="1950"/>
              <a:buFont typeface="Arial"/>
              <a:buNone/>
            </a:pPr>
            <a:r>
              <a:rPr b="0" i="0" lang="en-US" sz="1950" u="none" cap="none" strike="noStrike">
                <a:solidFill>
                  <a:srgbClr val="6B6E78"/>
                </a:solidFill>
                <a:latin typeface="Arial"/>
                <a:ea typeface="Arial"/>
                <a:cs typeface="Arial"/>
                <a:sym typeface="Arial"/>
              </a:rPr>
              <a:t>Different bug every run</a:t>
            </a:r>
            <a:endParaRPr b="0" i="0" sz="1950" u="none" cap="none" strike="noStrike">
              <a:solidFill>
                <a:schemeClr val="dk1"/>
              </a:solidFill>
              <a:latin typeface="Calibri"/>
              <a:ea typeface="Calibri"/>
              <a:cs typeface="Calibri"/>
              <a:sym typeface="Calibri"/>
            </a:endParaRPr>
          </a:p>
          <a:p>
            <a:pPr indent="0" lvl="0" marL="0" marR="0" rtl="0" algn="l">
              <a:lnSpc>
                <a:spcPct val="135000"/>
              </a:lnSpc>
              <a:spcBef>
                <a:spcPts val="0"/>
              </a:spcBef>
              <a:spcAft>
                <a:spcPts val="0"/>
              </a:spcAft>
              <a:buClr>
                <a:srgbClr val="6B6E78"/>
              </a:buClr>
              <a:buSzPts val="1950"/>
              <a:buFont typeface="Arial"/>
              <a:buNone/>
            </a:pPr>
            <a:r>
              <a:rPr b="0" i="0" lang="en-US" sz="1950" u="none" cap="none" strike="noStrike">
                <a:solidFill>
                  <a:srgbClr val="6B6E78"/>
                </a:solidFill>
                <a:latin typeface="Arial"/>
                <a:ea typeface="Arial"/>
                <a:cs typeface="Arial"/>
                <a:sym typeface="Arial"/>
              </a:rPr>
              <a:t>Hidden technical debt</a:t>
            </a:r>
            <a:endParaRPr b="0" i="0" sz="1950" u="none" cap="none" strike="noStrike">
              <a:solidFill>
                <a:schemeClr val="dk1"/>
              </a:solidFill>
              <a:latin typeface="Calibri"/>
              <a:ea typeface="Calibri"/>
              <a:cs typeface="Calibri"/>
              <a:sym typeface="Calibri"/>
            </a:endParaRPr>
          </a:p>
        </p:txBody>
      </p:sp>
      <p:sp>
        <p:nvSpPr>
          <p:cNvPr id="153" name="Google Shape;153;g3dc15369c17_0_211"/>
          <p:cNvSpPr/>
          <p:nvPr/>
        </p:nvSpPr>
        <p:spPr>
          <a:xfrm>
            <a:off x="9334500" y="2941320"/>
            <a:ext cx="7810500" cy="6488400"/>
          </a:xfrm>
          <a:prstGeom prst="rect">
            <a:avLst/>
          </a:prstGeom>
          <a:solidFill>
            <a:srgbClr val="F7F5F1"/>
          </a:solidFill>
          <a:ln cap="flat" cmpd="sng" w="9525">
            <a:solidFill>
              <a:srgbClr val="F5822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g3dc15369c17_0_211"/>
          <p:cNvSpPr/>
          <p:nvPr/>
        </p:nvSpPr>
        <p:spPr>
          <a:xfrm>
            <a:off x="9799320" y="3482340"/>
            <a:ext cx="70872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F58220"/>
              </a:buClr>
              <a:buSzPts val="1350"/>
              <a:buFont typeface="Arial"/>
              <a:buNone/>
            </a:pPr>
            <a:r>
              <a:rPr b="0" i="0" lang="en-US" sz="1350" u="none" cap="none" strike="noStrike">
                <a:solidFill>
                  <a:srgbClr val="F58220"/>
                </a:solidFill>
                <a:latin typeface="Arial"/>
                <a:ea typeface="Arial"/>
                <a:cs typeface="Arial"/>
                <a:sym typeface="Arial"/>
              </a:rPr>
              <a:t>NOW</a:t>
            </a:r>
            <a:endParaRPr b="0" i="0" sz="1350" u="none" cap="none" strike="noStrike">
              <a:solidFill>
                <a:schemeClr val="dk1"/>
              </a:solidFill>
              <a:latin typeface="Calibri"/>
              <a:ea typeface="Calibri"/>
              <a:cs typeface="Calibri"/>
              <a:sym typeface="Calibri"/>
            </a:endParaRPr>
          </a:p>
        </p:txBody>
      </p:sp>
      <p:sp>
        <p:nvSpPr>
          <p:cNvPr id="155" name="Google Shape;155;g3dc15369c17_0_211"/>
          <p:cNvSpPr/>
          <p:nvPr/>
        </p:nvSpPr>
        <p:spPr>
          <a:xfrm>
            <a:off x="9799320" y="3890010"/>
            <a:ext cx="7087200" cy="6933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14161C"/>
              </a:buClr>
              <a:buSzPts val="4200"/>
              <a:buFont typeface="Arial"/>
              <a:buNone/>
            </a:pPr>
            <a:r>
              <a:rPr b="1" i="0" lang="en-US" sz="4200" u="none" cap="none" strike="noStrike">
                <a:solidFill>
                  <a:srgbClr val="14161C"/>
                </a:solidFill>
                <a:latin typeface="Arial"/>
                <a:ea typeface="Arial"/>
                <a:cs typeface="Arial"/>
                <a:sym typeface="Arial"/>
              </a:rPr>
              <a:t>Context Engineer</a:t>
            </a:r>
            <a:endParaRPr b="0" i="0" sz="4200" u="none" cap="none" strike="noStrike">
              <a:solidFill>
                <a:schemeClr val="dk1"/>
              </a:solidFill>
              <a:latin typeface="Calibri"/>
              <a:ea typeface="Calibri"/>
              <a:cs typeface="Calibri"/>
              <a:sym typeface="Calibri"/>
            </a:endParaRPr>
          </a:p>
        </p:txBody>
      </p:sp>
      <p:sp>
        <p:nvSpPr>
          <p:cNvPr id="156" name="Google Shape;156;g3dc15369c17_0_211"/>
          <p:cNvSpPr/>
          <p:nvPr/>
        </p:nvSpPr>
        <p:spPr>
          <a:xfrm>
            <a:off x="9625965" y="4754880"/>
            <a:ext cx="7130400" cy="2710800"/>
          </a:xfrm>
          <a:prstGeom prst="rect">
            <a:avLst/>
          </a:prstGeom>
          <a:noFill/>
          <a:ln>
            <a:noFill/>
          </a:ln>
        </p:spPr>
        <p:txBody>
          <a:bodyPr anchorCtr="0" anchor="t" bIns="25400" lIns="25400" spcFirstLastPara="1" rIns="25400" wrap="square" tIns="25400">
            <a:noAutofit/>
          </a:bodyPr>
          <a:lstStyle/>
          <a:p>
            <a:pPr indent="0" lvl="0" marL="0" marR="0" rtl="0" algn="l">
              <a:lnSpc>
                <a:spcPct val="135000"/>
              </a:lnSpc>
              <a:spcBef>
                <a:spcPts val="0"/>
              </a:spcBef>
              <a:spcAft>
                <a:spcPts val="0"/>
              </a:spcAft>
              <a:buClr>
                <a:srgbClr val="6B6E78"/>
              </a:buClr>
              <a:buSzPts val="1950"/>
              <a:buFont typeface="Arial"/>
              <a:buNone/>
            </a:pPr>
            <a:r>
              <a:rPr b="0" i="0" lang="en-US" sz="1950" u="none" cap="none" strike="noStrike">
                <a:solidFill>
                  <a:srgbClr val="6B6E78"/>
                </a:solidFill>
                <a:latin typeface="Arial"/>
                <a:ea typeface="Arial"/>
                <a:cs typeface="Arial"/>
                <a:sym typeface="Arial"/>
              </a:rPr>
              <a:t>Plan, then build</a:t>
            </a:r>
            <a:endParaRPr b="0" i="0" sz="1950" u="none" cap="none" strike="noStrike">
              <a:solidFill>
                <a:schemeClr val="dk1"/>
              </a:solidFill>
              <a:latin typeface="Calibri"/>
              <a:ea typeface="Calibri"/>
              <a:cs typeface="Calibri"/>
              <a:sym typeface="Calibri"/>
            </a:endParaRPr>
          </a:p>
          <a:p>
            <a:pPr indent="0" lvl="0" marL="0" marR="0" rtl="0" algn="l">
              <a:lnSpc>
                <a:spcPct val="135000"/>
              </a:lnSpc>
              <a:spcBef>
                <a:spcPts val="0"/>
              </a:spcBef>
              <a:spcAft>
                <a:spcPts val="0"/>
              </a:spcAft>
              <a:buClr>
                <a:srgbClr val="6B6E78"/>
              </a:buClr>
              <a:buSzPts val="1950"/>
              <a:buFont typeface="Arial"/>
              <a:buNone/>
            </a:pPr>
            <a:r>
              <a:rPr b="0" i="0" lang="en-US" sz="1950" u="none" cap="none" strike="noStrike">
                <a:solidFill>
                  <a:srgbClr val="6B6E78"/>
                </a:solidFill>
                <a:latin typeface="Arial"/>
                <a:ea typeface="Arial"/>
                <a:cs typeface="Arial"/>
                <a:sym typeface="Arial"/>
              </a:rPr>
              <a:t>Base repo as a foundation</a:t>
            </a:r>
            <a:endParaRPr b="0" i="0" sz="1950" u="none" cap="none" strike="noStrike">
              <a:solidFill>
                <a:schemeClr val="dk1"/>
              </a:solidFill>
              <a:latin typeface="Calibri"/>
              <a:ea typeface="Calibri"/>
              <a:cs typeface="Calibri"/>
              <a:sym typeface="Calibri"/>
            </a:endParaRPr>
          </a:p>
          <a:p>
            <a:pPr indent="0" lvl="0" marL="0" marR="0" rtl="0" algn="l">
              <a:lnSpc>
                <a:spcPct val="135000"/>
              </a:lnSpc>
              <a:spcBef>
                <a:spcPts val="0"/>
              </a:spcBef>
              <a:spcAft>
                <a:spcPts val="0"/>
              </a:spcAft>
              <a:buClr>
                <a:srgbClr val="6B6E78"/>
              </a:buClr>
              <a:buSzPts val="1950"/>
              <a:buFont typeface="Arial"/>
              <a:buNone/>
            </a:pPr>
            <a:r>
              <a:rPr b="0" i="0" lang="en-US" sz="1950" u="none" cap="none" strike="noStrike">
                <a:solidFill>
                  <a:srgbClr val="6B6E78"/>
                </a:solidFill>
                <a:latin typeface="Arial"/>
                <a:ea typeface="Arial"/>
                <a:cs typeface="Arial"/>
                <a:sym typeface="Arial"/>
              </a:rPr>
              <a:t>Hours of thinking up front</a:t>
            </a:r>
            <a:endParaRPr b="0" i="0" sz="1950" u="none" cap="none" strike="noStrike">
              <a:solidFill>
                <a:schemeClr val="dk1"/>
              </a:solidFill>
              <a:latin typeface="Calibri"/>
              <a:ea typeface="Calibri"/>
              <a:cs typeface="Calibri"/>
              <a:sym typeface="Calibri"/>
            </a:endParaRPr>
          </a:p>
          <a:p>
            <a:pPr indent="0" lvl="0" marL="0" marR="0" rtl="0" algn="l">
              <a:lnSpc>
                <a:spcPct val="135000"/>
              </a:lnSpc>
              <a:spcBef>
                <a:spcPts val="0"/>
              </a:spcBef>
              <a:spcAft>
                <a:spcPts val="0"/>
              </a:spcAft>
              <a:buClr>
                <a:srgbClr val="6B6E78"/>
              </a:buClr>
              <a:buSzPts val="1950"/>
              <a:buFont typeface="Arial"/>
              <a:buNone/>
            </a:pPr>
            <a:r>
              <a:rPr b="0" i="0" lang="en-US" sz="1950" u="none" cap="none" strike="noStrike">
                <a:solidFill>
                  <a:srgbClr val="6B6E78"/>
                </a:solidFill>
                <a:latin typeface="Arial"/>
                <a:ea typeface="Arial"/>
                <a:cs typeface="Arial"/>
                <a:sym typeface="Arial"/>
              </a:rPr>
              <a:t>Production-shaped from day one</a:t>
            </a:r>
            <a:endParaRPr b="0" i="0" sz="1950" u="none" cap="none" strike="noStrike">
              <a:solidFill>
                <a:schemeClr val="dk1"/>
              </a:solidFill>
              <a:latin typeface="Calibri"/>
              <a:ea typeface="Calibri"/>
              <a:cs typeface="Calibri"/>
              <a:sym typeface="Calibri"/>
            </a:endParaRPr>
          </a:p>
          <a:p>
            <a:pPr indent="0" lvl="0" marL="0" marR="0" rtl="0" algn="l">
              <a:lnSpc>
                <a:spcPct val="135000"/>
              </a:lnSpc>
              <a:spcBef>
                <a:spcPts val="0"/>
              </a:spcBef>
              <a:spcAft>
                <a:spcPts val="0"/>
              </a:spcAft>
              <a:buClr>
                <a:srgbClr val="6B6E78"/>
              </a:buClr>
              <a:buSzPts val="1950"/>
              <a:buFont typeface="Arial"/>
              <a:buNone/>
            </a:pPr>
            <a:r>
              <a:rPr b="0" i="0" lang="en-US" sz="1950" u="none" cap="none" strike="noStrike">
                <a:solidFill>
                  <a:srgbClr val="6B6E78"/>
                </a:solidFill>
                <a:latin typeface="Arial"/>
                <a:ea typeface="Arial"/>
                <a:cs typeface="Arial"/>
                <a:sym typeface="Arial"/>
              </a:rPr>
              <a:t>Repeatable, consistent</a:t>
            </a:r>
            <a:endParaRPr b="0" i="0" sz="1950" u="none" cap="none" strike="noStrike">
              <a:solidFill>
                <a:schemeClr val="dk1"/>
              </a:solidFill>
              <a:latin typeface="Calibri"/>
              <a:ea typeface="Calibri"/>
              <a:cs typeface="Calibri"/>
              <a:sym typeface="Calibri"/>
            </a:endParaRPr>
          </a:p>
          <a:p>
            <a:pPr indent="0" lvl="0" marL="0" marR="0" rtl="0" algn="l">
              <a:lnSpc>
                <a:spcPct val="135000"/>
              </a:lnSpc>
              <a:spcBef>
                <a:spcPts val="0"/>
              </a:spcBef>
              <a:spcAft>
                <a:spcPts val="0"/>
              </a:spcAft>
              <a:buClr>
                <a:srgbClr val="6B6E78"/>
              </a:buClr>
              <a:buSzPts val="1950"/>
              <a:buFont typeface="Arial"/>
              <a:buNone/>
            </a:pPr>
            <a:r>
              <a:rPr b="0" i="0" lang="en-US" sz="1950" u="none" cap="none" strike="noStrike">
                <a:solidFill>
                  <a:srgbClr val="6B6E78"/>
                </a:solidFill>
                <a:latin typeface="Arial"/>
                <a:ea typeface="Arial"/>
                <a:cs typeface="Arial"/>
                <a:sym typeface="Arial"/>
              </a:rPr>
              <a:t>Debt visible and managed</a:t>
            </a:r>
            <a:endParaRPr b="0" i="0" sz="195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 name="Shape 161"/>
        <p:cNvGrpSpPr/>
        <p:nvPr/>
      </p:nvGrpSpPr>
      <p:grpSpPr>
        <a:xfrm>
          <a:off x="0" y="0"/>
          <a:ext cx="0" cy="0"/>
          <a:chOff x="0" y="0"/>
          <a:chExt cx="0" cy="0"/>
        </a:xfrm>
      </p:grpSpPr>
      <p:sp>
        <p:nvSpPr>
          <p:cNvPr id="162" name="Google Shape;162;g3dc15369c17_0_227"/>
          <p:cNvSpPr/>
          <p:nvPr/>
        </p:nvSpPr>
        <p:spPr>
          <a:xfrm>
            <a:off x="1143000" y="476250"/>
            <a:ext cx="18309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THE TAKEAWAY</a:t>
            </a:r>
            <a:endParaRPr b="0" i="0" sz="1350" u="none" cap="none" strike="noStrike">
              <a:solidFill>
                <a:schemeClr val="dk1"/>
              </a:solidFill>
              <a:latin typeface="Calibri"/>
              <a:ea typeface="Calibri"/>
              <a:cs typeface="Calibri"/>
              <a:sym typeface="Calibri"/>
            </a:endParaRPr>
          </a:p>
        </p:txBody>
      </p:sp>
      <p:sp>
        <p:nvSpPr>
          <p:cNvPr id="163" name="Google Shape;163;g3dc15369c17_0_227"/>
          <p:cNvSpPr/>
          <p:nvPr/>
        </p:nvSpPr>
        <p:spPr>
          <a:xfrm>
            <a:off x="15349537" y="476250"/>
            <a:ext cx="1871700" cy="2361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350"/>
              <a:buFont typeface="Arial"/>
              <a:buNone/>
            </a:pPr>
            <a:r>
              <a:rPr b="0" i="0" lang="en-US" sz="1350" u="none" cap="none" strike="noStrike">
                <a:solidFill>
                  <a:srgbClr val="6B6E78"/>
                </a:solidFill>
                <a:latin typeface="Arial"/>
                <a:ea typeface="Arial"/>
                <a:cs typeface="Arial"/>
                <a:sym typeface="Arial"/>
              </a:rPr>
              <a:t>END · OPENING</a:t>
            </a:r>
            <a:endParaRPr b="0" i="0" sz="1350" u="none" cap="none" strike="noStrike">
              <a:solidFill>
                <a:schemeClr val="dk1"/>
              </a:solidFill>
              <a:latin typeface="Calibri"/>
              <a:ea typeface="Calibri"/>
              <a:cs typeface="Calibri"/>
              <a:sym typeface="Calibri"/>
            </a:endParaRPr>
          </a:p>
        </p:txBody>
      </p:sp>
      <p:sp>
        <p:nvSpPr>
          <p:cNvPr id="164" name="Google Shape;164;g3dc15369c17_0_227"/>
          <p:cNvSpPr/>
          <p:nvPr/>
        </p:nvSpPr>
        <p:spPr>
          <a:xfrm>
            <a:off x="1143000" y="2255996"/>
            <a:ext cx="14716200" cy="2438400"/>
          </a:xfrm>
          <a:prstGeom prst="rect">
            <a:avLst/>
          </a:prstGeom>
          <a:noFill/>
          <a:ln>
            <a:noFill/>
          </a:ln>
        </p:spPr>
        <p:txBody>
          <a:bodyPr anchorCtr="0" anchor="t" bIns="25400" lIns="25400" spcFirstLastPara="1" rIns="25400" wrap="square" tIns="25400">
            <a:noAutofit/>
          </a:bodyPr>
          <a:lstStyle/>
          <a:p>
            <a:pPr indent="0" lvl="0" marL="0" marR="0" rtl="0" algn="l">
              <a:lnSpc>
                <a:spcPct val="70000"/>
              </a:lnSpc>
              <a:spcBef>
                <a:spcPts val="0"/>
              </a:spcBef>
              <a:spcAft>
                <a:spcPts val="0"/>
              </a:spcAft>
              <a:buClr>
                <a:srgbClr val="F58220"/>
              </a:buClr>
              <a:buSzPts val="27000"/>
              <a:buFont typeface="Arial"/>
              <a:buNone/>
            </a:pPr>
            <a:r>
              <a:rPr b="1" i="0" lang="en-US" sz="27000" u="none" cap="none" strike="noStrike">
                <a:solidFill>
                  <a:srgbClr val="F58220"/>
                </a:solidFill>
                <a:latin typeface="Arial"/>
                <a:ea typeface="Arial"/>
                <a:cs typeface="Arial"/>
                <a:sym typeface="Arial"/>
              </a:rPr>
              <a:t>"</a:t>
            </a:r>
            <a:endParaRPr b="0" i="0" sz="27000" u="none" cap="none" strike="noStrike">
              <a:solidFill>
                <a:schemeClr val="dk1"/>
              </a:solidFill>
              <a:latin typeface="Calibri"/>
              <a:ea typeface="Calibri"/>
              <a:cs typeface="Calibri"/>
              <a:sym typeface="Calibri"/>
            </a:endParaRPr>
          </a:p>
        </p:txBody>
      </p:sp>
      <p:sp>
        <p:nvSpPr>
          <p:cNvPr id="165" name="Google Shape;165;g3dc15369c17_0_227"/>
          <p:cNvSpPr/>
          <p:nvPr/>
        </p:nvSpPr>
        <p:spPr>
          <a:xfrm>
            <a:off x="1143000" y="4884897"/>
            <a:ext cx="14716200" cy="2121300"/>
          </a:xfrm>
          <a:prstGeom prst="rect">
            <a:avLst/>
          </a:prstGeom>
          <a:noFill/>
          <a:ln>
            <a:noFill/>
          </a:ln>
        </p:spPr>
        <p:txBody>
          <a:bodyPr anchorCtr="0" anchor="t" bIns="25400" lIns="25400" spcFirstLastPara="1" rIns="25400" wrap="square" tIns="25400">
            <a:noAutofit/>
          </a:bodyPr>
          <a:lstStyle/>
          <a:p>
            <a:pPr indent="0" lvl="0" marL="0" marR="0" rtl="0" algn="l">
              <a:lnSpc>
                <a:spcPct val="118000"/>
              </a:lnSpc>
              <a:spcBef>
                <a:spcPts val="0"/>
              </a:spcBef>
              <a:spcAft>
                <a:spcPts val="0"/>
              </a:spcAft>
              <a:buClr>
                <a:srgbClr val="14161C"/>
              </a:buClr>
              <a:buSzPts val="6900"/>
              <a:buFont typeface="Arial"/>
              <a:buNone/>
            </a:pPr>
            <a:r>
              <a:rPr b="0" i="0" lang="en-US" sz="6900" u="none" cap="none" strike="noStrike">
                <a:solidFill>
                  <a:srgbClr val="14161C"/>
                </a:solidFill>
                <a:latin typeface="Arial"/>
                <a:ea typeface="Arial"/>
                <a:cs typeface="Arial"/>
                <a:sym typeface="Arial"/>
              </a:rPr>
              <a:t>The leverage isn't in the </a:t>
            </a:r>
            <a:r>
              <a:rPr b="1" i="0" lang="en-US" sz="6900" u="none" cap="none" strike="noStrike">
                <a:solidFill>
                  <a:srgbClr val="14161C"/>
                </a:solidFill>
                <a:latin typeface="Arial"/>
                <a:ea typeface="Arial"/>
                <a:cs typeface="Arial"/>
                <a:sym typeface="Arial"/>
              </a:rPr>
              <a:t>prompt </a:t>
            </a:r>
            <a:r>
              <a:rPr b="0" i="0" lang="en-US" sz="6900" u="none" cap="none" strike="noStrike">
                <a:solidFill>
                  <a:srgbClr val="14161C"/>
                </a:solidFill>
                <a:latin typeface="Arial"/>
                <a:ea typeface="Arial"/>
                <a:cs typeface="Arial"/>
                <a:sym typeface="Arial"/>
              </a:rPr>
              <a:t>. It's in the </a:t>
            </a:r>
            <a:r>
              <a:rPr b="1" i="0" lang="en-US" sz="6900" u="none" cap="none" strike="noStrike">
                <a:solidFill>
                  <a:srgbClr val="F58220"/>
                </a:solidFill>
                <a:latin typeface="Arial"/>
                <a:ea typeface="Arial"/>
                <a:cs typeface="Arial"/>
                <a:sym typeface="Arial"/>
              </a:rPr>
              <a:t>thinking </a:t>
            </a:r>
            <a:r>
              <a:rPr b="0" i="0" lang="en-US" sz="6900" u="none" cap="none" strike="noStrike">
                <a:solidFill>
                  <a:srgbClr val="14161C"/>
                </a:solidFill>
                <a:latin typeface="Arial"/>
                <a:ea typeface="Arial"/>
                <a:cs typeface="Arial"/>
                <a:sym typeface="Arial"/>
              </a:rPr>
              <a:t>before it.</a:t>
            </a:r>
            <a:endParaRPr b="0" i="0" sz="6900" u="none" cap="none" strike="noStrike">
              <a:solidFill>
                <a:schemeClr val="dk1"/>
              </a:solidFill>
              <a:latin typeface="Calibri"/>
              <a:ea typeface="Calibri"/>
              <a:cs typeface="Calibri"/>
              <a:sym typeface="Calibri"/>
            </a:endParaRPr>
          </a:p>
        </p:txBody>
      </p:sp>
      <p:sp>
        <p:nvSpPr>
          <p:cNvPr id="166" name="Google Shape;166;g3dc15369c17_0_227"/>
          <p:cNvSpPr/>
          <p:nvPr/>
        </p:nvSpPr>
        <p:spPr>
          <a:xfrm>
            <a:off x="1143000" y="7577614"/>
            <a:ext cx="14716200" cy="282000"/>
          </a:xfrm>
          <a:prstGeom prst="rect">
            <a:avLst/>
          </a:prstGeom>
          <a:noFill/>
          <a:ln>
            <a:noFill/>
          </a:ln>
        </p:spPr>
        <p:txBody>
          <a:bodyPr anchorCtr="0" anchor="t" bIns="25400" lIns="25400" spcFirstLastPara="1" rIns="25400" wrap="square" tIns="25400">
            <a:noAutofit/>
          </a:bodyPr>
          <a:lstStyle/>
          <a:p>
            <a:pPr indent="0" lvl="0" marL="0" marR="0" rtl="0" algn="l">
              <a:spcBef>
                <a:spcPts val="0"/>
              </a:spcBef>
              <a:spcAft>
                <a:spcPts val="0"/>
              </a:spcAft>
              <a:buClr>
                <a:srgbClr val="6B6E78"/>
              </a:buClr>
              <a:buSzPts val="1650"/>
              <a:buFont typeface="Arial"/>
              <a:buNone/>
            </a:pPr>
            <a:r>
              <a:rPr b="0" i="0" lang="en-US" sz="1650" u="none" cap="none" strike="noStrike">
                <a:solidFill>
                  <a:srgbClr val="6B6E78"/>
                </a:solidFill>
                <a:latin typeface="Arial"/>
                <a:ea typeface="Arial"/>
                <a:cs typeface="Arial"/>
                <a:sym typeface="Arial"/>
              </a:rPr>
              <a:t>— TRIPP LISENBY · ACS TECHNOLOGIES</a:t>
            </a:r>
            <a:endParaRPr b="0" i="0" sz="165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D24"/>
        </a:solidFill>
      </p:bgPr>
    </p:bg>
    <p:spTree>
      <p:nvGrpSpPr>
        <p:cNvPr id="171" name="Shape 171"/>
        <p:cNvGrpSpPr/>
        <p:nvPr/>
      </p:nvGrpSpPr>
      <p:grpSpPr>
        <a:xfrm>
          <a:off x="0" y="0"/>
          <a:ext cx="0" cy="0"/>
          <a:chOff x="0" y="0"/>
          <a:chExt cx="0" cy="0"/>
        </a:xfrm>
      </p:grpSpPr>
      <p:sp>
        <p:nvSpPr>
          <p:cNvPr id="172" name="Google Shape;172;p4"/>
          <p:cNvSpPr/>
          <p:nvPr/>
        </p:nvSpPr>
        <p:spPr>
          <a:xfrm>
            <a:off x="0" y="0"/>
            <a:ext cx="18288000" cy="10287000"/>
          </a:xfrm>
          <a:prstGeom prst="rect">
            <a:avLst/>
          </a:prstGeom>
          <a:solidFill>
            <a:srgbClr val="1B1D2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3" name="Google Shape;173;p4"/>
          <p:cNvSpPr/>
          <p:nvPr/>
        </p:nvSpPr>
        <p:spPr>
          <a:xfrm>
            <a:off x="4343251" y="3170932"/>
            <a:ext cx="9889543" cy="3905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2100"/>
              <a:buFont typeface="JetBrains Mono"/>
              <a:buNone/>
            </a:pPr>
            <a:r>
              <a:rPr lang="en-US" sz="2100">
                <a:solidFill>
                  <a:srgbClr val="3FE0D0"/>
                </a:solidFill>
                <a:latin typeface="JetBrains Mono"/>
                <a:ea typeface="JetBrains Mono"/>
                <a:cs typeface="JetBrains Mono"/>
                <a:sym typeface="JetBrains Mono"/>
              </a:rPr>
              <a:t>PART 02 / 06</a:t>
            </a:r>
            <a:endParaRPr sz="2100">
              <a:solidFill>
                <a:schemeClr val="dk1"/>
              </a:solidFill>
              <a:latin typeface="Calibri"/>
              <a:ea typeface="Calibri"/>
              <a:cs typeface="Calibri"/>
              <a:sym typeface="Calibri"/>
            </a:endParaRPr>
          </a:p>
        </p:txBody>
      </p:sp>
      <p:sp>
        <p:nvSpPr>
          <p:cNvPr id="174" name="Google Shape;174;p4"/>
          <p:cNvSpPr/>
          <p:nvPr/>
        </p:nvSpPr>
        <p:spPr>
          <a:xfrm>
            <a:off x="4343251" y="3904357"/>
            <a:ext cx="9889543" cy="2426791"/>
          </a:xfrm>
          <a:prstGeom prst="rect">
            <a:avLst/>
          </a:prstGeom>
          <a:noFill/>
          <a:ln>
            <a:noFill/>
          </a:ln>
        </p:spPr>
        <p:txBody>
          <a:bodyPr anchorCtr="0" anchor="t" bIns="25400" lIns="25400" spcFirstLastPara="1" rIns="25400" wrap="square" tIns="25400">
            <a:normAutofit/>
          </a:bodyPr>
          <a:lstStyle/>
          <a:p>
            <a:pPr indent="0" lvl="0" marL="0" marR="0" rtl="0" algn="l">
              <a:lnSpc>
                <a:spcPct val="75000"/>
              </a:lnSpc>
              <a:spcBef>
                <a:spcPts val="0"/>
              </a:spcBef>
              <a:spcAft>
                <a:spcPts val="0"/>
              </a:spcAft>
              <a:buClr>
                <a:srgbClr val="FFFFFF"/>
              </a:buClr>
              <a:buSzPts val="6187"/>
              <a:buFont typeface="Montserrat"/>
              <a:buNone/>
            </a:pPr>
            <a:r>
              <a:rPr b="1" lang="en-US" sz="6188">
                <a:solidFill>
                  <a:srgbClr val="FFFFFF"/>
                </a:solidFill>
                <a:latin typeface="Montserrat"/>
                <a:ea typeface="Montserrat"/>
                <a:cs typeface="Montserrat"/>
                <a:sym typeface="Montserrat"/>
              </a:rPr>
              <a:t>Vibe Coding vs</a:t>
            </a:r>
            <a:endParaRPr/>
          </a:p>
          <a:p>
            <a:pPr indent="0" lvl="0" marL="0" marR="0" rtl="0" algn="l">
              <a:lnSpc>
                <a:spcPct val="75000"/>
              </a:lnSpc>
              <a:spcBef>
                <a:spcPts val="0"/>
              </a:spcBef>
              <a:spcAft>
                <a:spcPts val="0"/>
              </a:spcAft>
              <a:buClr>
                <a:srgbClr val="FFFFFF"/>
              </a:buClr>
              <a:buSzPts val="6187"/>
              <a:buFont typeface="Montserrat"/>
              <a:buNone/>
            </a:pPr>
            <a:r>
              <a:rPr b="1" lang="en-US" sz="6188">
                <a:solidFill>
                  <a:srgbClr val="FFFFFF"/>
                </a:solidFill>
                <a:latin typeface="Montserrat"/>
                <a:ea typeface="Montserrat"/>
                <a:cs typeface="Montserrat"/>
                <a:sym typeface="Montserrat"/>
              </a:rPr>
              <a:t>Context </a:t>
            </a:r>
            <a:endParaRPr/>
          </a:p>
          <a:p>
            <a:pPr indent="0" lvl="0" marL="0" marR="0" rtl="0" algn="l">
              <a:lnSpc>
                <a:spcPct val="75000"/>
              </a:lnSpc>
              <a:spcBef>
                <a:spcPts val="0"/>
              </a:spcBef>
              <a:spcAft>
                <a:spcPts val="0"/>
              </a:spcAft>
              <a:buClr>
                <a:srgbClr val="FFFFFF"/>
              </a:buClr>
              <a:buSzPts val="6187"/>
              <a:buFont typeface="Montserrat"/>
              <a:buNone/>
            </a:pPr>
            <a:r>
              <a:rPr b="1" lang="en-US" sz="6188">
                <a:solidFill>
                  <a:srgbClr val="FFFFFF"/>
                </a:solidFill>
                <a:latin typeface="Montserrat"/>
                <a:ea typeface="Montserrat"/>
                <a:cs typeface="Montserrat"/>
                <a:sym typeface="Montserrat"/>
              </a:rPr>
              <a:t>Engineering</a:t>
            </a:r>
            <a:endParaRPr sz="6188">
              <a:solidFill>
                <a:schemeClr val="dk1"/>
              </a:solidFill>
              <a:latin typeface="Calibri"/>
              <a:ea typeface="Calibri"/>
              <a:cs typeface="Calibri"/>
              <a:sym typeface="Calibri"/>
            </a:endParaRPr>
          </a:p>
        </p:txBody>
      </p:sp>
      <p:sp>
        <p:nvSpPr>
          <p:cNvPr id="175" name="Google Shape;175;p4"/>
          <p:cNvSpPr/>
          <p:nvPr/>
        </p:nvSpPr>
        <p:spPr>
          <a:xfrm>
            <a:off x="4343251" y="6674048"/>
            <a:ext cx="9889543" cy="479971"/>
          </a:xfrm>
          <a:prstGeom prst="rect">
            <a:avLst/>
          </a:prstGeom>
          <a:noFill/>
          <a:ln>
            <a:noFill/>
          </a:ln>
        </p:spPr>
        <p:txBody>
          <a:bodyPr anchorCtr="0" anchor="t" bIns="25400" lIns="25400" spcFirstLastPara="1" rIns="25400" wrap="square" tIns="25400">
            <a:normAutofit/>
          </a:bodyPr>
          <a:lstStyle/>
          <a:p>
            <a:pPr indent="0" lvl="0" marL="0" marR="0" rtl="0" algn="l">
              <a:lnSpc>
                <a:spcPct val="135000"/>
              </a:lnSpc>
              <a:spcBef>
                <a:spcPts val="0"/>
              </a:spcBef>
              <a:spcAft>
                <a:spcPts val="0"/>
              </a:spcAft>
              <a:buClr>
                <a:srgbClr val="C9CBD1"/>
              </a:buClr>
              <a:buSzPts val="2220"/>
              <a:buFont typeface="Inter"/>
              <a:buNone/>
            </a:pPr>
            <a:r>
              <a:rPr lang="en-US" sz="2220">
                <a:solidFill>
                  <a:srgbClr val="C9CBD1"/>
                </a:solidFill>
                <a:latin typeface="Inter"/>
                <a:ea typeface="Inter"/>
                <a:cs typeface="Inter"/>
                <a:sym typeface="Inter"/>
              </a:rPr>
              <a:t>They are not the same!</a:t>
            </a:r>
            <a:endParaRPr sz="222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5F1"/>
        </a:solidFill>
      </p:bgPr>
    </p:bg>
    <p:spTree>
      <p:nvGrpSpPr>
        <p:cNvPr id="180" name="Shape 180"/>
        <p:cNvGrpSpPr/>
        <p:nvPr/>
      </p:nvGrpSpPr>
      <p:grpSpPr>
        <a:xfrm>
          <a:off x="0" y="0"/>
          <a:ext cx="0" cy="0"/>
          <a:chOff x="0" y="0"/>
          <a:chExt cx="0" cy="0"/>
        </a:xfrm>
      </p:grpSpPr>
      <p:sp>
        <p:nvSpPr>
          <p:cNvPr id="181" name="Google Shape;181;p5"/>
          <p:cNvSpPr/>
          <p:nvPr/>
        </p:nvSpPr>
        <p:spPr>
          <a:xfrm>
            <a:off x="952500" y="952500"/>
            <a:ext cx="16874490"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950"/>
              <a:buFont typeface="Montserrat"/>
              <a:buNone/>
            </a:pPr>
            <a:r>
              <a:rPr b="1" lang="en-US" sz="1950">
                <a:solidFill>
                  <a:srgbClr val="F58220"/>
                </a:solidFill>
                <a:latin typeface="Montserrat"/>
                <a:ea typeface="Montserrat"/>
                <a:cs typeface="Montserrat"/>
                <a:sym typeface="Montserrat"/>
              </a:rPr>
              <a:t>WELCOME</a:t>
            </a:r>
            <a:endParaRPr sz="1950">
              <a:solidFill>
                <a:schemeClr val="dk1"/>
              </a:solidFill>
              <a:latin typeface="Calibri"/>
              <a:ea typeface="Calibri"/>
              <a:cs typeface="Calibri"/>
              <a:sym typeface="Calibri"/>
            </a:endParaRPr>
          </a:p>
        </p:txBody>
      </p:sp>
      <p:sp>
        <p:nvSpPr>
          <p:cNvPr id="182" name="Google Shape;182;p5"/>
          <p:cNvSpPr/>
          <p:nvPr/>
        </p:nvSpPr>
        <p:spPr>
          <a:xfrm>
            <a:off x="952500" y="1447800"/>
            <a:ext cx="16874490" cy="798165"/>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2A2D38"/>
              </a:buClr>
              <a:buSzPts val="5700"/>
              <a:buFont typeface="Montserrat"/>
              <a:buNone/>
            </a:pPr>
            <a:r>
              <a:rPr b="1" lang="en-US" sz="5700">
                <a:solidFill>
                  <a:srgbClr val="2A2D38"/>
                </a:solidFill>
                <a:latin typeface="Montserrat"/>
                <a:ea typeface="Montserrat"/>
                <a:cs typeface="Montserrat"/>
                <a:sym typeface="Montserrat"/>
              </a:rPr>
              <a:t>Glad you're here.</a:t>
            </a:r>
            <a:endParaRPr sz="5700">
              <a:solidFill>
                <a:schemeClr val="dk1"/>
              </a:solidFill>
              <a:latin typeface="Calibri"/>
              <a:ea typeface="Calibri"/>
              <a:cs typeface="Calibri"/>
              <a:sym typeface="Calibri"/>
            </a:endParaRPr>
          </a:p>
        </p:txBody>
      </p:sp>
      <p:sp>
        <p:nvSpPr>
          <p:cNvPr id="183" name="Google Shape;183;p5"/>
          <p:cNvSpPr/>
          <p:nvPr/>
        </p:nvSpPr>
        <p:spPr>
          <a:xfrm>
            <a:off x="952500" y="2703165"/>
            <a:ext cx="914400" cy="38100"/>
          </a:xfrm>
          <a:prstGeom prst="roundRect">
            <a:avLst>
              <a:gd fmla="val 50000" name="adj"/>
            </a:avLst>
          </a:prstGeom>
          <a:solidFill>
            <a:srgbClr val="F5822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4" name="Google Shape;184;p5"/>
          <p:cNvSpPr/>
          <p:nvPr/>
        </p:nvSpPr>
        <p:spPr>
          <a:xfrm>
            <a:off x="952500" y="3236565"/>
            <a:ext cx="8044815" cy="9525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2A2D38"/>
              </a:buClr>
              <a:buSzPts val="2400"/>
              <a:buFont typeface="Inter"/>
              <a:buNone/>
            </a:pPr>
            <a:r>
              <a:rPr lang="en-US" sz="2400">
                <a:solidFill>
                  <a:srgbClr val="2A2D38"/>
                </a:solidFill>
                <a:latin typeface="Inter"/>
                <a:ea typeface="Inter"/>
                <a:cs typeface="Inter"/>
                <a:sym typeface="Inter"/>
              </a:rPr>
              <a:t>A working session on </a:t>
            </a:r>
            <a:r>
              <a:rPr b="1" lang="en-US" sz="2400">
                <a:solidFill>
                  <a:srgbClr val="2A2D38"/>
                </a:solidFill>
                <a:latin typeface="Inter"/>
                <a:ea typeface="Inter"/>
                <a:cs typeface="Inter"/>
                <a:sym typeface="Inter"/>
              </a:rPr>
              <a:t>context engineering </a:t>
            </a:r>
            <a:r>
              <a:rPr lang="en-US" sz="2400">
                <a:solidFill>
                  <a:srgbClr val="2A2D38"/>
                </a:solidFill>
                <a:latin typeface="Inter"/>
                <a:ea typeface="Inter"/>
                <a:cs typeface="Inter"/>
                <a:sym typeface="Inter"/>
              </a:rPr>
              <a:t>— the most underrated skill for getting useful work out of AI.</a:t>
            </a:r>
            <a:endParaRPr sz="2400">
              <a:solidFill>
                <a:schemeClr val="dk1"/>
              </a:solidFill>
              <a:latin typeface="Calibri"/>
              <a:ea typeface="Calibri"/>
              <a:cs typeface="Calibri"/>
              <a:sym typeface="Calibri"/>
            </a:endParaRPr>
          </a:p>
        </p:txBody>
      </p:sp>
      <p:sp>
        <p:nvSpPr>
          <p:cNvPr id="185" name="Google Shape;185;p5"/>
          <p:cNvSpPr/>
          <p:nvPr/>
        </p:nvSpPr>
        <p:spPr>
          <a:xfrm>
            <a:off x="952500" y="4417665"/>
            <a:ext cx="8044815" cy="1277987"/>
          </a:xfrm>
          <a:prstGeom prst="rect">
            <a:avLst/>
          </a:prstGeom>
          <a:noFill/>
          <a:ln>
            <a:noFill/>
          </a:ln>
        </p:spPr>
        <p:txBody>
          <a:bodyPr anchorCtr="0" anchor="t" bIns="25400" lIns="25400" spcFirstLastPara="1" rIns="25400" wrap="square" tIns="25400">
            <a:normAutofit/>
          </a:bodyPr>
          <a:lstStyle/>
          <a:p>
            <a:pPr indent="0" lvl="0" marL="0" marR="0" rtl="0" algn="l">
              <a:lnSpc>
                <a:spcPct val="155000"/>
              </a:lnSpc>
              <a:spcBef>
                <a:spcPts val="0"/>
              </a:spcBef>
              <a:spcAft>
                <a:spcPts val="0"/>
              </a:spcAft>
              <a:buClr>
                <a:srgbClr val="6B6E78"/>
              </a:buClr>
              <a:buSzPts val="2100"/>
              <a:buFont typeface="Inter"/>
              <a:buNone/>
            </a:pPr>
            <a:r>
              <a:rPr lang="en-US" sz="2100">
                <a:solidFill>
                  <a:srgbClr val="6B6E78"/>
                </a:solidFill>
                <a:latin typeface="Inter"/>
                <a:ea typeface="Inter"/>
                <a:cs typeface="Inter"/>
                <a:sym typeface="Inter"/>
              </a:rPr>
              <a:t>No slides about how AI </a:t>
            </a:r>
            <a:r>
              <a:rPr i="1" lang="en-US" sz="2100">
                <a:solidFill>
                  <a:srgbClr val="6B6E78"/>
                </a:solidFill>
                <a:latin typeface="Inter"/>
                <a:ea typeface="Inter"/>
                <a:cs typeface="Inter"/>
                <a:sym typeface="Inter"/>
              </a:rPr>
              <a:t>might </a:t>
            </a:r>
            <a:r>
              <a:rPr lang="en-US" sz="2100">
                <a:solidFill>
                  <a:srgbClr val="6B6E78"/>
                </a:solidFill>
                <a:latin typeface="Inter"/>
                <a:ea typeface="Inter"/>
                <a:cs typeface="Inter"/>
                <a:sym typeface="Inter"/>
              </a:rPr>
              <a:t>change ministry someday. We'll write prompts, break them, and rebuild them — together — for the next 90 minutes.</a:t>
            </a:r>
            <a:endParaRPr sz="2100">
              <a:solidFill>
                <a:schemeClr val="dk1"/>
              </a:solidFill>
              <a:latin typeface="Calibri"/>
              <a:ea typeface="Calibri"/>
              <a:cs typeface="Calibri"/>
              <a:sym typeface="Calibri"/>
            </a:endParaRPr>
          </a:p>
        </p:txBody>
      </p:sp>
      <p:sp>
        <p:nvSpPr>
          <p:cNvPr id="186" name="Google Shape;186;p5"/>
          <p:cNvSpPr/>
          <p:nvPr/>
        </p:nvSpPr>
        <p:spPr>
          <a:xfrm>
            <a:off x="9525000" y="3236565"/>
            <a:ext cx="7810500" cy="1943100"/>
          </a:xfrm>
          <a:prstGeom prst="roundRect">
            <a:avLst>
              <a:gd fmla="val 5882" name="adj"/>
            </a:avLst>
          </a:prstGeom>
          <a:solidFill>
            <a:srgbClr val="FFFFFF"/>
          </a:solidFill>
          <a:ln cap="flat" cmpd="sng" w="9525">
            <a:solidFill>
              <a:srgbClr val="E5E5E7"/>
            </a:solidFill>
            <a:prstDash val="solid"/>
            <a:round/>
            <a:headEnd len="sm" w="sm" type="none"/>
            <a:tailEnd len="sm" w="sm" type="none"/>
          </a:ln>
          <a:effectLst>
            <a:outerShdw blurRad="114300" rotWithShape="0" algn="bl" dir="5400000" dist="38100">
              <a:srgbClr val="2A2D38">
                <a:alpha val="5098"/>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7" name="Google Shape;187;p5"/>
          <p:cNvSpPr/>
          <p:nvPr/>
        </p:nvSpPr>
        <p:spPr>
          <a:xfrm>
            <a:off x="9915525" y="3588990"/>
            <a:ext cx="7240334" cy="3143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800"/>
              <a:buFont typeface="Montserrat"/>
              <a:buNone/>
            </a:pPr>
            <a:r>
              <a:rPr b="1" lang="en-US" sz="1800">
                <a:solidFill>
                  <a:srgbClr val="F58220"/>
                </a:solidFill>
                <a:latin typeface="Montserrat"/>
                <a:ea typeface="Montserrat"/>
                <a:cs typeface="Montserrat"/>
                <a:sym typeface="Montserrat"/>
              </a:rPr>
              <a:t>HOST</a:t>
            </a:r>
            <a:endParaRPr sz="1800">
              <a:solidFill>
                <a:schemeClr val="dk1"/>
              </a:solidFill>
              <a:latin typeface="Calibri"/>
              <a:ea typeface="Calibri"/>
              <a:cs typeface="Calibri"/>
              <a:sym typeface="Calibri"/>
            </a:endParaRPr>
          </a:p>
        </p:txBody>
      </p:sp>
      <p:sp>
        <p:nvSpPr>
          <p:cNvPr id="188" name="Google Shape;188;p5"/>
          <p:cNvSpPr/>
          <p:nvPr/>
        </p:nvSpPr>
        <p:spPr>
          <a:xfrm>
            <a:off x="9915525" y="3941415"/>
            <a:ext cx="7240334" cy="55245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3300"/>
              <a:buFont typeface="Montserrat"/>
              <a:buNone/>
            </a:pPr>
            <a:r>
              <a:rPr b="1" lang="en-US" sz="3300">
                <a:solidFill>
                  <a:srgbClr val="2A2D38"/>
                </a:solidFill>
                <a:latin typeface="Montserrat"/>
                <a:ea typeface="Montserrat"/>
                <a:cs typeface="Montserrat"/>
                <a:sym typeface="Montserrat"/>
              </a:rPr>
              <a:t>Northwoods Church</a:t>
            </a:r>
            <a:endParaRPr sz="3300">
              <a:solidFill>
                <a:schemeClr val="dk1"/>
              </a:solidFill>
              <a:latin typeface="Calibri"/>
              <a:ea typeface="Calibri"/>
              <a:cs typeface="Calibri"/>
              <a:sym typeface="Calibri"/>
            </a:endParaRPr>
          </a:p>
        </p:txBody>
      </p:sp>
      <p:sp>
        <p:nvSpPr>
          <p:cNvPr id="189" name="Google Shape;189;p5"/>
          <p:cNvSpPr/>
          <p:nvPr/>
        </p:nvSpPr>
        <p:spPr>
          <a:xfrm>
            <a:off x="9915525" y="4531965"/>
            <a:ext cx="7240334"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6B6E78"/>
              </a:buClr>
              <a:buSzPts val="1950"/>
              <a:buFont typeface="Inter"/>
              <a:buNone/>
            </a:pPr>
            <a:r>
              <a:rPr lang="en-US" sz="1950">
                <a:solidFill>
                  <a:srgbClr val="6B6E78"/>
                </a:solidFill>
                <a:latin typeface="Inter"/>
                <a:ea typeface="Inter"/>
                <a:cs typeface="Inter"/>
                <a:sym typeface="Inter"/>
              </a:rPr>
              <a:t>Peoria, IL</a:t>
            </a:r>
            <a:endParaRPr sz="1950">
              <a:solidFill>
                <a:schemeClr val="dk1"/>
              </a:solidFill>
              <a:latin typeface="Calibri"/>
              <a:ea typeface="Calibri"/>
              <a:cs typeface="Calibri"/>
              <a:sym typeface="Calibri"/>
            </a:endParaRPr>
          </a:p>
        </p:txBody>
      </p:sp>
      <p:sp>
        <p:nvSpPr>
          <p:cNvPr id="190" name="Google Shape;190;p5"/>
          <p:cNvSpPr/>
          <p:nvPr/>
        </p:nvSpPr>
        <p:spPr>
          <a:xfrm>
            <a:off x="9525000" y="5408265"/>
            <a:ext cx="7810500" cy="1943100"/>
          </a:xfrm>
          <a:prstGeom prst="roundRect">
            <a:avLst>
              <a:gd fmla="val 5882" name="adj"/>
            </a:avLst>
          </a:prstGeom>
          <a:solidFill>
            <a:srgbClr val="FFFFFF"/>
          </a:solidFill>
          <a:ln cap="flat" cmpd="sng" w="9525">
            <a:solidFill>
              <a:srgbClr val="E5E5E7"/>
            </a:solidFill>
            <a:prstDash val="solid"/>
            <a:round/>
            <a:headEnd len="sm" w="sm" type="none"/>
            <a:tailEnd len="sm" w="sm" type="none"/>
          </a:ln>
          <a:effectLst>
            <a:outerShdw blurRad="114300" rotWithShape="0" algn="bl" dir="5400000" dist="38100">
              <a:srgbClr val="2A2D38">
                <a:alpha val="5098"/>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1" name="Google Shape;191;p5"/>
          <p:cNvSpPr/>
          <p:nvPr/>
        </p:nvSpPr>
        <p:spPr>
          <a:xfrm>
            <a:off x="9915525" y="5760690"/>
            <a:ext cx="7240334" cy="3143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800"/>
              <a:buFont typeface="Montserrat"/>
              <a:buNone/>
            </a:pPr>
            <a:r>
              <a:rPr b="1" lang="en-US" sz="1800">
                <a:solidFill>
                  <a:srgbClr val="F58220"/>
                </a:solidFill>
                <a:latin typeface="Montserrat"/>
                <a:ea typeface="Montserrat"/>
                <a:cs typeface="Montserrat"/>
                <a:sym typeface="Montserrat"/>
              </a:rPr>
              <a:t>FORMAT</a:t>
            </a:r>
            <a:endParaRPr sz="1800">
              <a:solidFill>
                <a:schemeClr val="dk1"/>
              </a:solidFill>
              <a:latin typeface="Calibri"/>
              <a:ea typeface="Calibri"/>
              <a:cs typeface="Calibri"/>
              <a:sym typeface="Calibri"/>
            </a:endParaRPr>
          </a:p>
        </p:txBody>
      </p:sp>
      <p:sp>
        <p:nvSpPr>
          <p:cNvPr id="192" name="Google Shape;192;p5"/>
          <p:cNvSpPr/>
          <p:nvPr/>
        </p:nvSpPr>
        <p:spPr>
          <a:xfrm>
            <a:off x="9915525" y="6113115"/>
            <a:ext cx="7240334" cy="55245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3300"/>
              <a:buFont typeface="Montserrat"/>
              <a:buNone/>
            </a:pPr>
            <a:r>
              <a:rPr b="1" lang="en-US" sz="3300">
                <a:solidFill>
                  <a:srgbClr val="2A2D38"/>
                </a:solidFill>
                <a:latin typeface="Montserrat"/>
                <a:ea typeface="Montserrat"/>
                <a:cs typeface="Montserrat"/>
                <a:sym typeface="Montserrat"/>
              </a:rPr>
              <a:t>3 Exercises · 90 Min</a:t>
            </a:r>
            <a:endParaRPr sz="3300">
              <a:solidFill>
                <a:schemeClr val="dk1"/>
              </a:solidFill>
              <a:latin typeface="Calibri"/>
              <a:ea typeface="Calibri"/>
              <a:cs typeface="Calibri"/>
              <a:sym typeface="Calibri"/>
            </a:endParaRPr>
          </a:p>
        </p:txBody>
      </p:sp>
      <p:sp>
        <p:nvSpPr>
          <p:cNvPr id="193" name="Google Shape;193;p5"/>
          <p:cNvSpPr/>
          <p:nvPr/>
        </p:nvSpPr>
        <p:spPr>
          <a:xfrm>
            <a:off x="9915525" y="6703665"/>
            <a:ext cx="7240334"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6B6E78"/>
              </a:buClr>
              <a:buSzPts val="1950"/>
              <a:buFont typeface="Inter"/>
              <a:buNone/>
            </a:pPr>
            <a:r>
              <a:rPr lang="en-US" sz="1950">
                <a:solidFill>
                  <a:srgbClr val="6B6E78"/>
                </a:solidFill>
                <a:latin typeface="Inter"/>
                <a:ea typeface="Inter"/>
                <a:cs typeface="Inter"/>
                <a:sym typeface="Inter"/>
              </a:rPr>
              <a:t>Bring a laptop and a real example from your church.</a:t>
            </a:r>
            <a:endParaRPr sz="195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6"/>
          <p:cNvSpPr/>
          <p:nvPr/>
        </p:nvSpPr>
        <p:spPr>
          <a:xfrm>
            <a:off x="952500" y="952500"/>
            <a:ext cx="16874490"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950"/>
              <a:buFont typeface="Montserrat"/>
              <a:buNone/>
            </a:pPr>
            <a:r>
              <a:rPr b="1" lang="en-US" sz="1950">
                <a:solidFill>
                  <a:srgbClr val="F58220"/>
                </a:solidFill>
                <a:latin typeface="Montserrat"/>
                <a:ea typeface="Montserrat"/>
                <a:cs typeface="Montserrat"/>
                <a:sym typeface="Montserrat"/>
              </a:rPr>
              <a:t>TODAY'S PLAN</a:t>
            </a:r>
            <a:endParaRPr sz="1950">
              <a:solidFill>
                <a:schemeClr val="dk1"/>
              </a:solidFill>
              <a:latin typeface="Calibri"/>
              <a:ea typeface="Calibri"/>
              <a:cs typeface="Calibri"/>
              <a:sym typeface="Calibri"/>
            </a:endParaRPr>
          </a:p>
        </p:txBody>
      </p:sp>
      <p:sp>
        <p:nvSpPr>
          <p:cNvPr id="200" name="Google Shape;200;p6"/>
          <p:cNvSpPr/>
          <p:nvPr/>
        </p:nvSpPr>
        <p:spPr>
          <a:xfrm>
            <a:off x="952500" y="1447800"/>
            <a:ext cx="16874490" cy="798165"/>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2A2D38"/>
              </a:buClr>
              <a:buSzPts val="5700"/>
              <a:buFont typeface="Montserrat"/>
              <a:buNone/>
            </a:pPr>
            <a:r>
              <a:rPr b="1" lang="en-US" sz="5700">
                <a:solidFill>
                  <a:srgbClr val="2A2D38"/>
                </a:solidFill>
                <a:latin typeface="Montserrat"/>
                <a:ea typeface="Montserrat"/>
                <a:cs typeface="Montserrat"/>
                <a:sym typeface="Montserrat"/>
              </a:rPr>
              <a:t>Workshop Agenda</a:t>
            </a:r>
            <a:endParaRPr sz="5700">
              <a:solidFill>
                <a:schemeClr val="dk1"/>
              </a:solidFill>
              <a:latin typeface="Calibri"/>
              <a:ea typeface="Calibri"/>
              <a:cs typeface="Calibri"/>
              <a:sym typeface="Calibri"/>
            </a:endParaRPr>
          </a:p>
        </p:txBody>
      </p:sp>
      <p:sp>
        <p:nvSpPr>
          <p:cNvPr id="201" name="Google Shape;201;p6"/>
          <p:cNvSpPr/>
          <p:nvPr/>
        </p:nvSpPr>
        <p:spPr>
          <a:xfrm>
            <a:off x="952500" y="2703165"/>
            <a:ext cx="914400" cy="38100"/>
          </a:xfrm>
          <a:prstGeom prst="roundRect">
            <a:avLst>
              <a:gd fmla="val 50000" name="adj"/>
            </a:avLst>
          </a:prstGeom>
          <a:solidFill>
            <a:srgbClr val="F5822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2" name="Google Shape;202;p6"/>
          <p:cNvSpPr/>
          <p:nvPr/>
        </p:nvSpPr>
        <p:spPr>
          <a:xfrm>
            <a:off x="952500" y="4065240"/>
            <a:ext cx="78105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3" name="Google Shape;203;p6"/>
          <p:cNvSpPr/>
          <p:nvPr/>
        </p:nvSpPr>
        <p:spPr>
          <a:xfrm>
            <a:off x="952500" y="3531840"/>
            <a:ext cx="838200"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9A9CA4"/>
              </a:buClr>
              <a:buSzPts val="1800"/>
              <a:buFont typeface="JetBrains Mono"/>
              <a:buNone/>
            </a:pPr>
            <a:r>
              <a:rPr lang="en-US" sz="1800">
                <a:solidFill>
                  <a:srgbClr val="9A9CA4"/>
                </a:solidFill>
                <a:latin typeface="JetBrains Mono"/>
                <a:ea typeface="JetBrains Mono"/>
                <a:cs typeface="JetBrains Mono"/>
                <a:sym typeface="JetBrains Mono"/>
              </a:rPr>
              <a:t>01</a:t>
            </a:r>
            <a:endParaRPr sz="1800">
              <a:solidFill>
                <a:schemeClr val="dk1"/>
              </a:solidFill>
              <a:latin typeface="Calibri"/>
              <a:ea typeface="Calibri"/>
              <a:cs typeface="Calibri"/>
              <a:sym typeface="Calibri"/>
            </a:endParaRPr>
          </a:p>
        </p:txBody>
      </p:sp>
      <p:sp>
        <p:nvSpPr>
          <p:cNvPr id="204" name="Google Shape;204;p6"/>
          <p:cNvSpPr/>
          <p:nvPr/>
        </p:nvSpPr>
        <p:spPr>
          <a:xfrm>
            <a:off x="2019300" y="3465165"/>
            <a:ext cx="5784357" cy="4095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400"/>
              <a:buFont typeface="Montserrat"/>
              <a:buNone/>
            </a:pPr>
            <a:r>
              <a:rPr b="1" lang="en-US" sz="2400">
                <a:solidFill>
                  <a:srgbClr val="2A2D38"/>
                </a:solidFill>
                <a:latin typeface="Montserrat"/>
                <a:ea typeface="Montserrat"/>
                <a:cs typeface="Montserrat"/>
                <a:sym typeface="Montserrat"/>
              </a:rPr>
              <a:t>Why Context Matters</a:t>
            </a:r>
            <a:endParaRPr sz="2400">
              <a:solidFill>
                <a:schemeClr val="dk1"/>
              </a:solidFill>
              <a:latin typeface="Calibri"/>
              <a:ea typeface="Calibri"/>
              <a:cs typeface="Calibri"/>
              <a:sym typeface="Calibri"/>
            </a:endParaRPr>
          </a:p>
        </p:txBody>
      </p:sp>
      <p:sp>
        <p:nvSpPr>
          <p:cNvPr id="205" name="Google Shape;205;p6"/>
          <p:cNvSpPr/>
          <p:nvPr/>
        </p:nvSpPr>
        <p:spPr>
          <a:xfrm>
            <a:off x="7939980" y="3531840"/>
            <a:ext cx="899220"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800"/>
              <a:buFont typeface="JetBrains Mono"/>
              <a:buNone/>
            </a:pPr>
            <a:r>
              <a:rPr lang="en-US" sz="1800">
                <a:solidFill>
                  <a:srgbClr val="F58220"/>
                </a:solidFill>
                <a:latin typeface="JetBrains Mono"/>
                <a:ea typeface="JetBrains Mono"/>
                <a:cs typeface="JetBrains Mono"/>
                <a:sym typeface="JetBrains Mono"/>
              </a:rPr>
              <a:t>15 min</a:t>
            </a:r>
            <a:endParaRPr sz="1800">
              <a:solidFill>
                <a:schemeClr val="dk1"/>
              </a:solidFill>
              <a:latin typeface="Calibri"/>
              <a:ea typeface="Calibri"/>
              <a:cs typeface="Calibri"/>
              <a:sym typeface="Calibri"/>
            </a:endParaRPr>
          </a:p>
        </p:txBody>
      </p:sp>
      <p:sp>
        <p:nvSpPr>
          <p:cNvPr id="206" name="Google Shape;206;p6"/>
          <p:cNvSpPr/>
          <p:nvPr/>
        </p:nvSpPr>
        <p:spPr>
          <a:xfrm>
            <a:off x="9525000" y="4065240"/>
            <a:ext cx="78105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7" name="Google Shape;207;p6"/>
          <p:cNvSpPr/>
          <p:nvPr/>
        </p:nvSpPr>
        <p:spPr>
          <a:xfrm>
            <a:off x="9525000" y="3531840"/>
            <a:ext cx="838200"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9A9CA4"/>
              </a:buClr>
              <a:buSzPts val="1800"/>
              <a:buFont typeface="JetBrains Mono"/>
              <a:buNone/>
            </a:pPr>
            <a:r>
              <a:rPr lang="en-US" sz="1800">
                <a:solidFill>
                  <a:srgbClr val="9A9CA4"/>
                </a:solidFill>
                <a:latin typeface="JetBrains Mono"/>
                <a:ea typeface="JetBrains Mono"/>
                <a:cs typeface="JetBrains Mono"/>
                <a:sym typeface="JetBrains Mono"/>
              </a:rPr>
              <a:t>02</a:t>
            </a:r>
            <a:endParaRPr sz="1800">
              <a:solidFill>
                <a:schemeClr val="dk1"/>
              </a:solidFill>
              <a:latin typeface="Calibri"/>
              <a:ea typeface="Calibri"/>
              <a:cs typeface="Calibri"/>
              <a:sym typeface="Calibri"/>
            </a:endParaRPr>
          </a:p>
        </p:txBody>
      </p:sp>
      <p:sp>
        <p:nvSpPr>
          <p:cNvPr id="208" name="Google Shape;208;p6"/>
          <p:cNvSpPr/>
          <p:nvPr/>
        </p:nvSpPr>
        <p:spPr>
          <a:xfrm>
            <a:off x="10591800" y="3465165"/>
            <a:ext cx="5784357" cy="4095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400"/>
              <a:buFont typeface="Montserrat"/>
              <a:buNone/>
            </a:pPr>
            <a:r>
              <a:rPr b="1" lang="en-US" sz="2400">
                <a:solidFill>
                  <a:srgbClr val="2A2D38"/>
                </a:solidFill>
                <a:latin typeface="Montserrat"/>
                <a:ea typeface="Montserrat"/>
                <a:cs typeface="Montserrat"/>
                <a:sym typeface="Montserrat"/>
              </a:rPr>
              <a:t>The Four Pillars</a:t>
            </a:r>
            <a:endParaRPr sz="2400">
              <a:solidFill>
                <a:schemeClr val="dk1"/>
              </a:solidFill>
              <a:latin typeface="Calibri"/>
              <a:ea typeface="Calibri"/>
              <a:cs typeface="Calibri"/>
              <a:sym typeface="Calibri"/>
            </a:endParaRPr>
          </a:p>
        </p:txBody>
      </p:sp>
      <p:sp>
        <p:nvSpPr>
          <p:cNvPr id="209" name="Google Shape;209;p6"/>
          <p:cNvSpPr/>
          <p:nvPr/>
        </p:nvSpPr>
        <p:spPr>
          <a:xfrm>
            <a:off x="16512480" y="3531840"/>
            <a:ext cx="899220"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800"/>
              <a:buFont typeface="JetBrains Mono"/>
              <a:buNone/>
            </a:pPr>
            <a:r>
              <a:rPr lang="en-US" sz="1800">
                <a:solidFill>
                  <a:srgbClr val="F58220"/>
                </a:solidFill>
                <a:latin typeface="JetBrains Mono"/>
                <a:ea typeface="JetBrains Mono"/>
                <a:cs typeface="JetBrains Mono"/>
                <a:sym typeface="JetBrains Mono"/>
              </a:rPr>
              <a:t>15 min</a:t>
            </a:r>
            <a:endParaRPr sz="1800">
              <a:solidFill>
                <a:schemeClr val="dk1"/>
              </a:solidFill>
              <a:latin typeface="Calibri"/>
              <a:ea typeface="Calibri"/>
              <a:cs typeface="Calibri"/>
              <a:sym typeface="Calibri"/>
            </a:endParaRPr>
          </a:p>
        </p:txBody>
      </p:sp>
      <p:sp>
        <p:nvSpPr>
          <p:cNvPr id="210" name="Google Shape;210;p6"/>
          <p:cNvSpPr/>
          <p:nvPr/>
        </p:nvSpPr>
        <p:spPr>
          <a:xfrm>
            <a:off x="952500" y="5132040"/>
            <a:ext cx="78105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1" name="Google Shape;211;p6"/>
          <p:cNvSpPr/>
          <p:nvPr/>
        </p:nvSpPr>
        <p:spPr>
          <a:xfrm>
            <a:off x="952500" y="4598640"/>
            <a:ext cx="838200"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9A9CA4"/>
              </a:buClr>
              <a:buSzPts val="1800"/>
              <a:buFont typeface="JetBrains Mono"/>
              <a:buNone/>
            </a:pPr>
            <a:r>
              <a:rPr lang="en-US" sz="1800">
                <a:solidFill>
                  <a:srgbClr val="9A9CA4"/>
                </a:solidFill>
                <a:latin typeface="JetBrains Mono"/>
                <a:ea typeface="JetBrains Mono"/>
                <a:cs typeface="JetBrains Mono"/>
                <a:sym typeface="JetBrains Mono"/>
              </a:rPr>
              <a:t>03</a:t>
            </a:r>
            <a:endParaRPr sz="1800">
              <a:solidFill>
                <a:schemeClr val="dk1"/>
              </a:solidFill>
              <a:latin typeface="Calibri"/>
              <a:ea typeface="Calibri"/>
              <a:cs typeface="Calibri"/>
              <a:sym typeface="Calibri"/>
            </a:endParaRPr>
          </a:p>
        </p:txBody>
      </p:sp>
      <p:sp>
        <p:nvSpPr>
          <p:cNvPr id="212" name="Google Shape;212;p6"/>
          <p:cNvSpPr/>
          <p:nvPr/>
        </p:nvSpPr>
        <p:spPr>
          <a:xfrm>
            <a:off x="2019300" y="4531965"/>
            <a:ext cx="5784357" cy="4095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400"/>
              <a:buFont typeface="Montserrat"/>
              <a:buNone/>
            </a:pPr>
            <a:r>
              <a:rPr b="1" lang="en-US" sz="2400">
                <a:solidFill>
                  <a:srgbClr val="2A2D38"/>
                </a:solidFill>
                <a:latin typeface="Montserrat"/>
                <a:ea typeface="Montserrat"/>
                <a:cs typeface="Montserrat"/>
                <a:sym typeface="Montserrat"/>
              </a:rPr>
              <a:t>Anatomy of a Great Prompt</a:t>
            </a:r>
            <a:endParaRPr sz="2400">
              <a:solidFill>
                <a:schemeClr val="dk1"/>
              </a:solidFill>
              <a:latin typeface="Calibri"/>
              <a:ea typeface="Calibri"/>
              <a:cs typeface="Calibri"/>
              <a:sym typeface="Calibri"/>
            </a:endParaRPr>
          </a:p>
        </p:txBody>
      </p:sp>
      <p:sp>
        <p:nvSpPr>
          <p:cNvPr id="213" name="Google Shape;213;p6"/>
          <p:cNvSpPr/>
          <p:nvPr/>
        </p:nvSpPr>
        <p:spPr>
          <a:xfrm>
            <a:off x="7939980" y="4598640"/>
            <a:ext cx="899220"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800"/>
              <a:buFont typeface="JetBrains Mono"/>
              <a:buNone/>
            </a:pPr>
            <a:r>
              <a:rPr lang="en-US" sz="1800">
                <a:solidFill>
                  <a:srgbClr val="F58220"/>
                </a:solidFill>
                <a:latin typeface="JetBrains Mono"/>
                <a:ea typeface="JetBrains Mono"/>
                <a:cs typeface="JetBrains Mono"/>
                <a:sym typeface="JetBrains Mono"/>
              </a:rPr>
              <a:t>15 min</a:t>
            </a:r>
            <a:endParaRPr sz="1800">
              <a:solidFill>
                <a:schemeClr val="dk1"/>
              </a:solidFill>
              <a:latin typeface="Calibri"/>
              <a:ea typeface="Calibri"/>
              <a:cs typeface="Calibri"/>
              <a:sym typeface="Calibri"/>
            </a:endParaRPr>
          </a:p>
        </p:txBody>
      </p:sp>
      <p:sp>
        <p:nvSpPr>
          <p:cNvPr id="214" name="Google Shape;214;p6"/>
          <p:cNvSpPr/>
          <p:nvPr/>
        </p:nvSpPr>
        <p:spPr>
          <a:xfrm>
            <a:off x="9525000" y="5132040"/>
            <a:ext cx="78105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5" name="Google Shape;215;p6"/>
          <p:cNvSpPr/>
          <p:nvPr/>
        </p:nvSpPr>
        <p:spPr>
          <a:xfrm>
            <a:off x="9525000" y="4598640"/>
            <a:ext cx="838200"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9A9CA4"/>
              </a:buClr>
              <a:buSzPts val="1800"/>
              <a:buFont typeface="JetBrains Mono"/>
              <a:buNone/>
            </a:pPr>
            <a:r>
              <a:rPr lang="en-US" sz="1800">
                <a:solidFill>
                  <a:srgbClr val="9A9CA4"/>
                </a:solidFill>
                <a:latin typeface="JetBrains Mono"/>
                <a:ea typeface="JetBrains Mono"/>
                <a:cs typeface="JetBrains Mono"/>
                <a:sym typeface="JetBrains Mono"/>
              </a:rPr>
              <a:t>04</a:t>
            </a:r>
            <a:endParaRPr sz="1800">
              <a:solidFill>
                <a:schemeClr val="dk1"/>
              </a:solidFill>
              <a:latin typeface="Calibri"/>
              <a:ea typeface="Calibri"/>
              <a:cs typeface="Calibri"/>
              <a:sym typeface="Calibri"/>
            </a:endParaRPr>
          </a:p>
        </p:txBody>
      </p:sp>
      <p:sp>
        <p:nvSpPr>
          <p:cNvPr id="216" name="Google Shape;216;p6"/>
          <p:cNvSpPr/>
          <p:nvPr/>
        </p:nvSpPr>
        <p:spPr>
          <a:xfrm>
            <a:off x="10591800" y="4531965"/>
            <a:ext cx="5784357" cy="4095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400"/>
              <a:buFont typeface="Montserrat"/>
              <a:buNone/>
            </a:pPr>
            <a:r>
              <a:rPr b="1" lang="en-US" sz="2400">
                <a:solidFill>
                  <a:srgbClr val="2A2D38"/>
                </a:solidFill>
                <a:latin typeface="Montserrat"/>
                <a:ea typeface="Montserrat"/>
                <a:cs typeface="Montserrat"/>
                <a:sym typeface="Montserrat"/>
              </a:rPr>
              <a:t>Grounding in Your Reality</a:t>
            </a:r>
            <a:endParaRPr sz="2400">
              <a:solidFill>
                <a:schemeClr val="dk1"/>
              </a:solidFill>
              <a:latin typeface="Calibri"/>
              <a:ea typeface="Calibri"/>
              <a:cs typeface="Calibri"/>
              <a:sym typeface="Calibri"/>
            </a:endParaRPr>
          </a:p>
        </p:txBody>
      </p:sp>
      <p:sp>
        <p:nvSpPr>
          <p:cNvPr id="217" name="Google Shape;217;p6"/>
          <p:cNvSpPr/>
          <p:nvPr/>
        </p:nvSpPr>
        <p:spPr>
          <a:xfrm>
            <a:off x="16512480" y="4598640"/>
            <a:ext cx="899220"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800"/>
              <a:buFont typeface="JetBrains Mono"/>
              <a:buNone/>
            </a:pPr>
            <a:r>
              <a:rPr lang="en-US" sz="1800">
                <a:solidFill>
                  <a:srgbClr val="F58220"/>
                </a:solidFill>
                <a:latin typeface="JetBrains Mono"/>
                <a:ea typeface="JetBrains Mono"/>
                <a:cs typeface="JetBrains Mono"/>
                <a:sym typeface="JetBrains Mono"/>
              </a:rPr>
              <a:t>15 min</a:t>
            </a:r>
            <a:endParaRPr sz="1800">
              <a:solidFill>
                <a:schemeClr val="dk1"/>
              </a:solidFill>
              <a:latin typeface="Calibri"/>
              <a:ea typeface="Calibri"/>
              <a:cs typeface="Calibri"/>
              <a:sym typeface="Calibri"/>
            </a:endParaRPr>
          </a:p>
        </p:txBody>
      </p:sp>
      <p:sp>
        <p:nvSpPr>
          <p:cNvPr id="218" name="Google Shape;218;p6"/>
          <p:cNvSpPr/>
          <p:nvPr/>
        </p:nvSpPr>
        <p:spPr>
          <a:xfrm>
            <a:off x="952500" y="6198840"/>
            <a:ext cx="78105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9" name="Google Shape;219;p6"/>
          <p:cNvSpPr/>
          <p:nvPr/>
        </p:nvSpPr>
        <p:spPr>
          <a:xfrm>
            <a:off x="952500" y="5665440"/>
            <a:ext cx="838200"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9A9CA4"/>
              </a:buClr>
              <a:buSzPts val="1800"/>
              <a:buFont typeface="JetBrains Mono"/>
              <a:buNone/>
            </a:pPr>
            <a:r>
              <a:rPr lang="en-US" sz="1800">
                <a:solidFill>
                  <a:srgbClr val="9A9CA4"/>
                </a:solidFill>
                <a:latin typeface="JetBrains Mono"/>
                <a:ea typeface="JetBrains Mono"/>
                <a:cs typeface="JetBrains Mono"/>
                <a:sym typeface="JetBrains Mono"/>
              </a:rPr>
              <a:t>05</a:t>
            </a:r>
            <a:endParaRPr sz="1800">
              <a:solidFill>
                <a:schemeClr val="dk1"/>
              </a:solidFill>
              <a:latin typeface="Calibri"/>
              <a:ea typeface="Calibri"/>
              <a:cs typeface="Calibri"/>
              <a:sym typeface="Calibri"/>
            </a:endParaRPr>
          </a:p>
        </p:txBody>
      </p:sp>
      <p:sp>
        <p:nvSpPr>
          <p:cNvPr id="220" name="Google Shape;220;p6"/>
          <p:cNvSpPr/>
          <p:nvPr/>
        </p:nvSpPr>
        <p:spPr>
          <a:xfrm>
            <a:off x="2019300" y="5598765"/>
            <a:ext cx="5784357" cy="4095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400"/>
              <a:buFont typeface="Montserrat"/>
              <a:buNone/>
            </a:pPr>
            <a:r>
              <a:rPr b="1" lang="en-US" sz="2400">
                <a:solidFill>
                  <a:srgbClr val="2A2D38"/>
                </a:solidFill>
                <a:latin typeface="Montserrat"/>
                <a:ea typeface="Montserrat"/>
                <a:cs typeface="Montserrat"/>
                <a:sym typeface="Montserrat"/>
              </a:rPr>
              <a:t>Common Pitfalls</a:t>
            </a:r>
            <a:endParaRPr sz="2400">
              <a:solidFill>
                <a:schemeClr val="dk1"/>
              </a:solidFill>
              <a:latin typeface="Calibri"/>
              <a:ea typeface="Calibri"/>
              <a:cs typeface="Calibri"/>
              <a:sym typeface="Calibri"/>
            </a:endParaRPr>
          </a:p>
        </p:txBody>
      </p:sp>
      <p:sp>
        <p:nvSpPr>
          <p:cNvPr id="221" name="Google Shape;221;p6"/>
          <p:cNvSpPr/>
          <p:nvPr/>
        </p:nvSpPr>
        <p:spPr>
          <a:xfrm>
            <a:off x="7939980" y="5665440"/>
            <a:ext cx="899220"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800"/>
              <a:buFont typeface="JetBrains Mono"/>
              <a:buNone/>
            </a:pPr>
            <a:r>
              <a:rPr lang="en-US" sz="1800">
                <a:solidFill>
                  <a:srgbClr val="F58220"/>
                </a:solidFill>
                <a:latin typeface="JetBrains Mono"/>
                <a:ea typeface="JetBrains Mono"/>
                <a:cs typeface="JetBrains Mono"/>
                <a:sym typeface="JetBrains Mono"/>
              </a:rPr>
              <a:t>15 min</a:t>
            </a:r>
            <a:endParaRPr sz="1800">
              <a:solidFill>
                <a:schemeClr val="dk1"/>
              </a:solidFill>
              <a:latin typeface="Calibri"/>
              <a:ea typeface="Calibri"/>
              <a:cs typeface="Calibri"/>
              <a:sym typeface="Calibri"/>
            </a:endParaRPr>
          </a:p>
        </p:txBody>
      </p:sp>
      <p:sp>
        <p:nvSpPr>
          <p:cNvPr id="222" name="Google Shape;222;p6"/>
          <p:cNvSpPr/>
          <p:nvPr/>
        </p:nvSpPr>
        <p:spPr>
          <a:xfrm>
            <a:off x="9525000" y="6198840"/>
            <a:ext cx="78105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3" name="Google Shape;223;p6"/>
          <p:cNvSpPr/>
          <p:nvPr/>
        </p:nvSpPr>
        <p:spPr>
          <a:xfrm>
            <a:off x="9525000" y="5665440"/>
            <a:ext cx="838200"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9A9CA4"/>
              </a:buClr>
              <a:buSzPts val="1800"/>
              <a:buFont typeface="JetBrains Mono"/>
              <a:buNone/>
            </a:pPr>
            <a:r>
              <a:rPr lang="en-US" sz="1800">
                <a:solidFill>
                  <a:srgbClr val="9A9CA4"/>
                </a:solidFill>
                <a:latin typeface="JetBrains Mono"/>
                <a:ea typeface="JetBrains Mono"/>
                <a:cs typeface="JetBrains Mono"/>
                <a:sym typeface="JetBrains Mono"/>
              </a:rPr>
              <a:t>06</a:t>
            </a:r>
            <a:endParaRPr sz="1800">
              <a:solidFill>
                <a:schemeClr val="dk1"/>
              </a:solidFill>
              <a:latin typeface="Calibri"/>
              <a:ea typeface="Calibri"/>
              <a:cs typeface="Calibri"/>
              <a:sym typeface="Calibri"/>
            </a:endParaRPr>
          </a:p>
        </p:txBody>
      </p:sp>
      <p:sp>
        <p:nvSpPr>
          <p:cNvPr id="224" name="Google Shape;224;p6"/>
          <p:cNvSpPr/>
          <p:nvPr/>
        </p:nvSpPr>
        <p:spPr>
          <a:xfrm>
            <a:off x="10591800" y="5598765"/>
            <a:ext cx="5784357" cy="4095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400"/>
              <a:buFont typeface="Montserrat"/>
              <a:buNone/>
            </a:pPr>
            <a:r>
              <a:rPr b="1" lang="en-US" sz="2400">
                <a:solidFill>
                  <a:srgbClr val="2A2D38"/>
                </a:solidFill>
                <a:latin typeface="Montserrat"/>
                <a:ea typeface="Montserrat"/>
                <a:cs typeface="Montserrat"/>
                <a:sym typeface="Montserrat"/>
              </a:rPr>
              <a:t>Take It Home</a:t>
            </a:r>
            <a:endParaRPr sz="2400">
              <a:solidFill>
                <a:schemeClr val="dk1"/>
              </a:solidFill>
              <a:latin typeface="Calibri"/>
              <a:ea typeface="Calibri"/>
              <a:cs typeface="Calibri"/>
              <a:sym typeface="Calibri"/>
            </a:endParaRPr>
          </a:p>
        </p:txBody>
      </p:sp>
      <p:sp>
        <p:nvSpPr>
          <p:cNvPr id="225" name="Google Shape;225;p6"/>
          <p:cNvSpPr/>
          <p:nvPr/>
        </p:nvSpPr>
        <p:spPr>
          <a:xfrm>
            <a:off x="16512480" y="5665440"/>
            <a:ext cx="899220"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800"/>
              <a:buFont typeface="JetBrains Mono"/>
              <a:buNone/>
            </a:pPr>
            <a:r>
              <a:rPr lang="en-US" sz="1800">
                <a:solidFill>
                  <a:srgbClr val="F58220"/>
                </a:solidFill>
                <a:latin typeface="JetBrains Mono"/>
                <a:ea typeface="JetBrains Mono"/>
                <a:cs typeface="JetBrains Mono"/>
                <a:sym typeface="JetBrains Mono"/>
              </a:rPr>
              <a:t>15 min</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 name="Shape 230"/>
        <p:cNvGrpSpPr/>
        <p:nvPr/>
      </p:nvGrpSpPr>
      <p:grpSpPr>
        <a:xfrm>
          <a:off x="0" y="0"/>
          <a:ext cx="0" cy="0"/>
          <a:chOff x="0" y="0"/>
          <a:chExt cx="0" cy="0"/>
        </a:xfrm>
      </p:grpSpPr>
      <p:sp>
        <p:nvSpPr>
          <p:cNvPr id="231" name="Google Shape;231;p7"/>
          <p:cNvSpPr/>
          <p:nvPr/>
        </p:nvSpPr>
        <p:spPr>
          <a:xfrm>
            <a:off x="952500" y="952500"/>
            <a:ext cx="16874490"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950"/>
              <a:buFont typeface="Montserrat"/>
              <a:buNone/>
            </a:pPr>
            <a:r>
              <a:rPr b="1" lang="en-US" sz="1950">
                <a:solidFill>
                  <a:srgbClr val="F58220"/>
                </a:solidFill>
                <a:latin typeface="Montserrat"/>
                <a:ea typeface="Montserrat"/>
                <a:cs typeface="Montserrat"/>
                <a:sym typeface="Montserrat"/>
              </a:rPr>
              <a:t>A QUICK RECAP</a:t>
            </a:r>
            <a:endParaRPr sz="1950">
              <a:solidFill>
                <a:schemeClr val="dk1"/>
              </a:solidFill>
              <a:latin typeface="Calibri"/>
              <a:ea typeface="Calibri"/>
              <a:cs typeface="Calibri"/>
              <a:sym typeface="Calibri"/>
            </a:endParaRPr>
          </a:p>
        </p:txBody>
      </p:sp>
      <p:sp>
        <p:nvSpPr>
          <p:cNvPr id="232" name="Google Shape;232;p7"/>
          <p:cNvSpPr/>
          <p:nvPr/>
        </p:nvSpPr>
        <p:spPr>
          <a:xfrm>
            <a:off x="952500" y="1447800"/>
            <a:ext cx="16874490" cy="798165"/>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2A2D38"/>
              </a:buClr>
              <a:buSzPts val="5700"/>
              <a:buFont typeface="Montserrat"/>
              <a:buNone/>
            </a:pPr>
            <a:r>
              <a:rPr b="1" lang="en-US" sz="5700">
                <a:solidFill>
                  <a:srgbClr val="2A2D38"/>
                </a:solidFill>
                <a:latin typeface="Montserrat"/>
                <a:ea typeface="Montserrat"/>
                <a:cs typeface="Montserrat"/>
                <a:sym typeface="Montserrat"/>
              </a:rPr>
              <a:t>The last two years rewired the rules.</a:t>
            </a:r>
            <a:endParaRPr sz="5700">
              <a:solidFill>
                <a:schemeClr val="dk1"/>
              </a:solidFill>
              <a:latin typeface="Calibri"/>
              <a:ea typeface="Calibri"/>
              <a:cs typeface="Calibri"/>
              <a:sym typeface="Calibri"/>
            </a:endParaRPr>
          </a:p>
        </p:txBody>
      </p:sp>
      <p:sp>
        <p:nvSpPr>
          <p:cNvPr id="233" name="Google Shape;233;p7"/>
          <p:cNvSpPr/>
          <p:nvPr/>
        </p:nvSpPr>
        <p:spPr>
          <a:xfrm>
            <a:off x="952500" y="2703165"/>
            <a:ext cx="914400" cy="38100"/>
          </a:xfrm>
          <a:prstGeom prst="roundRect">
            <a:avLst>
              <a:gd fmla="val 50000" name="adj"/>
            </a:avLst>
          </a:prstGeom>
          <a:solidFill>
            <a:srgbClr val="F5822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4" name="Google Shape;234;p7"/>
          <p:cNvSpPr/>
          <p:nvPr/>
        </p:nvSpPr>
        <p:spPr>
          <a:xfrm>
            <a:off x="952500" y="4455765"/>
            <a:ext cx="3186501" cy="571500"/>
          </a:xfrm>
          <a:prstGeom prst="rect">
            <a:avLst/>
          </a:prstGeom>
          <a:noFill/>
          <a:ln>
            <a:noFill/>
          </a:ln>
        </p:spPr>
        <p:txBody>
          <a:bodyPr anchorCtr="0" anchor="t" bIns="25400" lIns="25400" spcFirstLastPara="1" rIns="25400" wrap="square" tIns="25400">
            <a:normAutofit/>
          </a:bodyPr>
          <a:lstStyle/>
          <a:p>
            <a:pPr indent="0" lvl="0" marL="0" marR="0" rtl="0" algn="l">
              <a:lnSpc>
                <a:spcPct val="100000"/>
              </a:lnSpc>
              <a:spcBef>
                <a:spcPts val="0"/>
              </a:spcBef>
              <a:spcAft>
                <a:spcPts val="0"/>
              </a:spcAft>
              <a:buClr>
                <a:srgbClr val="2A2D38"/>
              </a:buClr>
              <a:buSzPts val="4200"/>
              <a:buFont typeface="Montserrat"/>
              <a:buNone/>
            </a:pPr>
            <a:r>
              <a:rPr b="1" lang="en-US" sz="4200">
                <a:solidFill>
                  <a:srgbClr val="2A2D38"/>
                </a:solidFill>
                <a:latin typeface="Montserrat"/>
                <a:ea typeface="Montserrat"/>
                <a:cs typeface="Montserrat"/>
                <a:sym typeface="Montserrat"/>
              </a:rPr>
              <a:t>2022</a:t>
            </a:r>
            <a:endParaRPr sz="4200">
              <a:solidFill>
                <a:schemeClr val="dk1"/>
              </a:solidFill>
              <a:latin typeface="Calibri"/>
              <a:ea typeface="Calibri"/>
              <a:cs typeface="Calibri"/>
              <a:sym typeface="Calibri"/>
            </a:endParaRPr>
          </a:p>
        </p:txBody>
      </p:sp>
      <p:sp>
        <p:nvSpPr>
          <p:cNvPr id="235" name="Google Shape;235;p7"/>
          <p:cNvSpPr/>
          <p:nvPr/>
        </p:nvSpPr>
        <p:spPr>
          <a:xfrm>
            <a:off x="952500" y="5141565"/>
            <a:ext cx="3186501" cy="335161"/>
          </a:xfrm>
          <a:prstGeom prst="rect">
            <a:avLst/>
          </a:prstGeom>
          <a:noFill/>
          <a:ln>
            <a:noFill/>
          </a:ln>
        </p:spPr>
        <p:txBody>
          <a:bodyPr anchorCtr="0" anchor="t" bIns="25400" lIns="25400" spcFirstLastPara="1" rIns="25400" wrap="square" tIns="25400">
            <a:normAutofit/>
          </a:bodyPr>
          <a:lstStyle/>
          <a:p>
            <a:pPr indent="0" lvl="0" marL="0" marR="0" rtl="0" algn="l">
              <a:lnSpc>
                <a:spcPct val="120000"/>
              </a:lnSpc>
              <a:spcBef>
                <a:spcPts val="0"/>
              </a:spcBef>
              <a:spcAft>
                <a:spcPts val="0"/>
              </a:spcAft>
              <a:buClr>
                <a:srgbClr val="2A2D38"/>
              </a:buClr>
              <a:buSzPts val="1950"/>
              <a:buFont typeface="Montserrat"/>
              <a:buNone/>
            </a:pPr>
            <a:r>
              <a:rPr b="1" lang="en-US" sz="1950">
                <a:solidFill>
                  <a:srgbClr val="2A2D38"/>
                </a:solidFill>
                <a:latin typeface="Montserrat"/>
                <a:ea typeface="Montserrat"/>
                <a:cs typeface="Montserrat"/>
                <a:sym typeface="Montserrat"/>
              </a:rPr>
              <a:t>ChatGPT lands.</a:t>
            </a:r>
            <a:endParaRPr sz="1950">
              <a:solidFill>
                <a:schemeClr val="dk1"/>
              </a:solidFill>
              <a:latin typeface="Calibri"/>
              <a:ea typeface="Calibri"/>
              <a:cs typeface="Calibri"/>
              <a:sym typeface="Calibri"/>
            </a:endParaRPr>
          </a:p>
        </p:txBody>
      </p:sp>
      <p:sp>
        <p:nvSpPr>
          <p:cNvPr id="236" name="Google Shape;236;p7"/>
          <p:cNvSpPr/>
          <p:nvPr/>
        </p:nvSpPr>
        <p:spPr>
          <a:xfrm>
            <a:off x="952500" y="5591026"/>
            <a:ext cx="3186501" cy="1032421"/>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Everyone tries one prompt. Most decide AI is "smart autocomplete."</a:t>
            </a:r>
            <a:endParaRPr sz="1800">
              <a:solidFill>
                <a:schemeClr val="dk1"/>
              </a:solidFill>
              <a:latin typeface="Calibri"/>
              <a:ea typeface="Calibri"/>
              <a:cs typeface="Calibri"/>
              <a:sym typeface="Calibri"/>
            </a:endParaRPr>
          </a:p>
        </p:txBody>
      </p:sp>
      <p:sp>
        <p:nvSpPr>
          <p:cNvPr id="237" name="Google Shape;237;p7"/>
          <p:cNvSpPr/>
          <p:nvPr/>
        </p:nvSpPr>
        <p:spPr>
          <a:xfrm>
            <a:off x="4274790" y="4455765"/>
            <a:ext cx="3186501" cy="571500"/>
          </a:xfrm>
          <a:prstGeom prst="rect">
            <a:avLst/>
          </a:prstGeom>
          <a:noFill/>
          <a:ln>
            <a:noFill/>
          </a:ln>
        </p:spPr>
        <p:txBody>
          <a:bodyPr anchorCtr="0" anchor="t" bIns="25400" lIns="25400" spcFirstLastPara="1" rIns="25400" wrap="square" tIns="25400">
            <a:normAutofit/>
          </a:bodyPr>
          <a:lstStyle/>
          <a:p>
            <a:pPr indent="0" lvl="0" marL="0" marR="0" rtl="0" algn="l">
              <a:lnSpc>
                <a:spcPct val="100000"/>
              </a:lnSpc>
              <a:spcBef>
                <a:spcPts val="0"/>
              </a:spcBef>
              <a:spcAft>
                <a:spcPts val="0"/>
              </a:spcAft>
              <a:buClr>
                <a:srgbClr val="2A2D38"/>
              </a:buClr>
              <a:buSzPts val="4200"/>
              <a:buFont typeface="Montserrat"/>
              <a:buNone/>
            </a:pPr>
            <a:r>
              <a:rPr b="1" lang="en-US" sz="4200">
                <a:solidFill>
                  <a:srgbClr val="2A2D38"/>
                </a:solidFill>
                <a:latin typeface="Montserrat"/>
                <a:ea typeface="Montserrat"/>
                <a:cs typeface="Montserrat"/>
                <a:sym typeface="Montserrat"/>
              </a:rPr>
              <a:t>2023</a:t>
            </a:r>
            <a:endParaRPr sz="4200">
              <a:solidFill>
                <a:schemeClr val="dk1"/>
              </a:solidFill>
              <a:latin typeface="Calibri"/>
              <a:ea typeface="Calibri"/>
              <a:cs typeface="Calibri"/>
              <a:sym typeface="Calibri"/>
            </a:endParaRPr>
          </a:p>
        </p:txBody>
      </p:sp>
      <p:sp>
        <p:nvSpPr>
          <p:cNvPr id="238" name="Google Shape;238;p7"/>
          <p:cNvSpPr/>
          <p:nvPr/>
        </p:nvSpPr>
        <p:spPr>
          <a:xfrm>
            <a:off x="4274790" y="5141565"/>
            <a:ext cx="3186501" cy="335161"/>
          </a:xfrm>
          <a:prstGeom prst="rect">
            <a:avLst/>
          </a:prstGeom>
          <a:noFill/>
          <a:ln>
            <a:noFill/>
          </a:ln>
        </p:spPr>
        <p:txBody>
          <a:bodyPr anchorCtr="0" anchor="t" bIns="25400" lIns="25400" spcFirstLastPara="1" rIns="25400" wrap="square" tIns="25400">
            <a:normAutofit/>
          </a:bodyPr>
          <a:lstStyle/>
          <a:p>
            <a:pPr indent="0" lvl="0" marL="0" marR="0" rtl="0" algn="l">
              <a:lnSpc>
                <a:spcPct val="120000"/>
              </a:lnSpc>
              <a:spcBef>
                <a:spcPts val="0"/>
              </a:spcBef>
              <a:spcAft>
                <a:spcPts val="0"/>
              </a:spcAft>
              <a:buClr>
                <a:srgbClr val="2A2D38"/>
              </a:buClr>
              <a:buSzPts val="1950"/>
              <a:buFont typeface="Montserrat"/>
              <a:buNone/>
            </a:pPr>
            <a:r>
              <a:rPr b="1" lang="en-US" sz="1950">
                <a:solidFill>
                  <a:srgbClr val="2A2D38"/>
                </a:solidFill>
                <a:latin typeface="Montserrat"/>
                <a:ea typeface="Montserrat"/>
                <a:cs typeface="Montserrat"/>
                <a:sym typeface="Montserrat"/>
              </a:rPr>
              <a:t>"Prompt Engineering."</a:t>
            </a:r>
            <a:endParaRPr sz="1950">
              <a:solidFill>
                <a:schemeClr val="dk1"/>
              </a:solidFill>
              <a:latin typeface="Calibri"/>
              <a:ea typeface="Calibri"/>
              <a:cs typeface="Calibri"/>
              <a:sym typeface="Calibri"/>
            </a:endParaRPr>
          </a:p>
        </p:txBody>
      </p:sp>
      <p:sp>
        <p:nvSpPr>
          <p:cNvPr id="239" name="Google Shape;239;p7"/>
          <p:cNvSpPr/>
          <p:nvPr/>
        </p:nvSpPr>
        <p:spPr>
          <a:xfrm>
            <a:off x="4274790" y="5591026"/>
            <a:ext cx="3186501" cy="1032421"/>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Magic phrases. "Act as a…" Tricks that worked sometimes.</a:t>
            </a:r>
            <a:endParaRPr sz="1800">
              <a:solidFill>
                <a:schemeClr val="dk1"/>
              </a:solidFill>
              <a:latin typeface="Calibri"/>
              <a:ea typeface="Calibri"/>
              <a:cs typeface="Calibri"/>
              <a:sym typeface="Calibri"/>
            </a:endParaRPr>
          </a:p>
        </p:txBody>
      </p:sp>
      <p:sp>
        <p:nvSpPr>
          <p:cNvPr id="240" name="Google Shape;240;p7"/>
          <p:cNvSpPr/>
          <p:nvPr/>
        </p:nvSpPr>
        <p:spPr>
          <a:xfrm>
            <a:off x="7597080" y="4455765"/>
            <a:ext cx="3186501" cy="571500"/>
          </a:xfrm>
          <a:prstGeom prst="rect">
            <a:avLst/>
          </a:prstGeom>
          <a:noFill/>
          <a:ln>
            <a:noFill/>
          </a:ln>
        </p:spPr>
        <p:txBody>
          <a:bodyPr anchorCtr="0" anchor="t" bIns="25400" lIns="25400" spcFirstLastPara="1" rIns="25400" wrap="square" tIns="25400">
            <a:normAutofit/>
          </a:bodyPr>
          <a:lstStyle/>
          <a:p>
            <a:pPr indent="0" lvl="0" marL="0" marR="0" rtl="0" algn="l">
              <a:lnSpc>
                <a:spcPct val="100000"/>
              </a:lnSpc>
              <a:spcBef>
                <a:spcPts val="0"/>
              </a:spcBef>
              <a:spcAft>
                <a:spcPts val="0"/>
              </a:spcAft>
              <a:buClr>
                <a:srgbClr val="2A2D38"/>
              </a:buClr>
              <a:buSzPts val="4200"/>
              <a:buFont typeface="Montserrat"/>
              <a:buNone/>
            </a:pPr>
            <a:r>
              <a:rPr b="1" lang="en-US" sz="4200">
                <a:solidFill>
                  <a:srgbClr val="2A2D38"/>
                </a:solidFill>
                <a:latin typeface="Montserrat"/>
                <a:ea typeface="Montserrat"/>
                <a:cs typeface="Montserrat"/>
                <a:sym typeface="Montserrat"/>
              </a:rPr>
              <a:t>2024</a:t>
            </a:r>
            <a:endParaRPr sz="4200">
              <a:solidFill>
                <a:schemeClr val="dk1"/>
              </a:solidFill>
              <a:latin typeface="Calibri"/>
              <a:ea typeface="Calibri"/>
              <a:cs typeface="Calibri"/>
              <a:sym typeface="Calibri"/>
            </a:endParaRPr>
          </a:p>
        </p:txBody>
      </p:sp>
      <p:sp>
        <p:nvSpPr>
          <p:cNvPr id="241" name="Google Shape;241;p7"/>
          <p:cNvSpPr/>
          <p:nvPr/>
        </p:nvSpPr>
        <p:spPr>
          <a:xfrm>
            <a:off x="7597080" y="5141565"/>
            <a:ext cx="3186501" cy="335161"/>
          </a:xfrm>
          <a:prstGeom prst="rect">
            <a:avLst/>
          </a:prstGeom>
          <a:noFill/>
          <a:ln>
            <a:noFill/>
          </a:ln>
        </p:spPr>
        <p:txBody>
          <a:bodyPr anchorCtr="0" anchor="t" bIns="25400" lIns="25400" spcFirstLastPara="1" rIns="25400" wrap="square" tIns="25400">
            <a:normAutofit/>
          </a:bodyPr>
          <a:lstStyle/>
          <a:p>
            <a:pPr indent="0" lvl="0" marL="0" marR="0" rtl="0" algn="l">
              <a:lnSpc>
                <a:spcPct val="120000"/>
              </a:lnSpc>
              <a:spcBef>
                <a:spcPts val="0"/>
              </a:spcBef>
              <a:spcAft>
                <a:spcPts val="0"/>
              </a:spcAft>
              <a:buClr>
                <a:srgbClr val="2A2D38"/>
              </a:buClr>
              <a:buSzPts val="1950"/>
              <a:buFont typeface="Montserrat"/>
              <a:buNone/>
            </a:pPr>
            <a:r>
              <a:rPr b="1" lang="en-US" sz="1950">
                <a:solidFill>
                  <a:srgbClr val="2A2D38"/>
                </a:solidFill>
                <a:latin typeface="Montserrat"/>
                <a:ea typeface="Montserrat"/>
                <a:cs typeface="Montserrat"/>
                <a:sym typeface="Montserrat"/>
              </a:rPr>
              <a:t>Tools &amp; Files.</a:t>
            </a:r>
            <a:endParaRPr sz="1950">
              <a:solidFill>
                <a:schemeClr val="dk1"/>
              </a:solidFill>
              <a:latin typeface="Calibri"/>
              <a:ea typeface="Calibri"/>
              <a:cs typeface="Calibri"/>
              <a:sym typeface="Calibri"/>
            </a:endParaRPr>
          </a:p>
        </p:txBody>
      </p:sp>
      <p:sp>
        <p:nvSpPr>
          <p:cNvPr id="242" name="Google Shape;242;p7"/>
          <p:cNvSpPr/>
          <p:nvPr/>
        </p:nvSpPr>
        <p:spPr>
          <a:xfrm>
            <a:off x="7597080" y="5591026"/>
            <a:ext cx="3186501" cy="1032421"/>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Custom GPTs, retrieval, file uploads. Models stop guessing, start reading.</a:t>
            </a:r>
            <a:endParaRPr sz="1800">
              <a:solidFill>
                <a:schemeClr val="dk1"/>
              </a:solidFill>
              <a:latin typeface="Calibri"/>
              <a:ea typeface="Calibri"/>
              <a:cs typeface="Calibri"/>
              <a:sym typeface="Calibri"/>
            </a:endParaRPr>
          </a:p>
        </p:txBody>
      </p:sp>
      <p:sp>
        <p:nvSpPr>
          <p:cNvPr id="243" name="Google Shape;243;p7"/>
          <p:cNvSpPr/>
          <p:nvPr/>
        </p:nvSpPr>
        <p:spPr>
          <a:xfrm>
            <a:off x="10919371" y="4455765"/>
            <a:ext cx="3186501" cy="571500"/>
          </a:xfrm>
          <a:prstGeom prst="rect">
            <a:avLst/>
          </a:prstGeom>
          <a:noFill/>
          <a:ln>
            <a:noFill/>
          </a:ln>
        </p:spPr>
        <p:txBody>
          <a:bodyPr anchorCtr="0" anchor="t" bIns="25400" lIns="25400" spcFirstLastPara="1" rIns="25400" wrap="square" tIns="25400">
            <a:normAutofit/>
          </a:bodyPr>
          <a:lstStyle/>
          <a:p>
            <a:pPr indent="0" lvl="0" marL="0" marR="0" rtl="0" algn="l">
              <a:lnSpc>
                <a:spcPct val="100000"/>
              </a:lnSpc>
              <a:spcBef>
                <a:spcPts val="0"/>
              </a:spcBef>
              <a:spcAft>
                <a:spcPts val="0"/>
              </a:spcAft>
              <a:buClr>
                <a:srgbClr val="2A2D38"/>
              </a:buClr>
              <a:buSzPts val="4200"/>
              <a:buFont typeface="Montserrat"/>
              <a:buNone/>
            </a:pPr>
            <a:r>
              <a:rPr b="1" lang="en-US" sz="4200">
                <a:solidFill>
                  <a:srgbClr val="2A2D38"/>
                </a:solidFill>
                <a:latin typeface="Montserrat"/>
                <a:ea typeface="Montserrat"/>
                <a:cs typeface="Montserrat"/>
                <a:sym typeface="Montserrat"/>
              </a:rPr>
              <a:t>2025</a:t>
            </a:r>
            <a:endParaRPr sz="4200">
              <a:solidFill>
                <a:schemeClr val="dk1"/>
              </a:solidFill>
              <a:latin typeface="Calibri"/>
              <a:ea typeface="Calibri"/>
              <a:cs typeface="Calibri"/>
              <a:sym typeface="Calibri"/>
            </a:endParaRPr>
          </a:p>
        </p:txBody>
      </p:sp>
      <p:sp>
        <p:nvSpPr>
          <p:cNvPr id="244" name="Google Shape;244;p7"/>
          <p:cNvSpPr/>
          <p:nvPr/>
        </p:nvSpPr>
        <p:spPr>
          <a:xfrm>
            <a:off x="10919371" y="5141565"/>
            <a:ext cx="3186501" cy="335161"/>
          </a:xfrm>
          <a:prstGeom prst="rect">
            <a:avLst/>
          </a:prstGeom>
          <a:noFill/>
          <a:ln>
            <a:noFill/>
          </a:ln>
        </p:spPr>
        <p:txBody>
          <a:bodyPr anchorCtr="0" anchor="t" bIns="25400" lIns="25400" spcFirstLastPara="1" rIns="25400" wrap="square" tIns="25400">
            <a:normAutofit/>
          </a:bodyPr>
          <a:lstStyle/>
          <a:p>
            <a:pPr indent="0" lvl="0" marL="0" marR="0" rtl="0" algn="l">
              <a:lnSpc>
                <a:spcPct val="120000"/>
              </a:lnSpc>
              <a:spcBef>
                <a:spcPts val="0"/>
              </a:spcBef>
              <a:spcAft>
                <a:spcPts val="0"/>
              </a:spcAft>
              <a:buClr>
                <a:srgbClr val="2A2D38"/>
              </a:buClr>
              <a:buSzPts val="1950"/>
              <a:buFont typeface="Montserrat"/>
              <a:buNone/>
            </a:pPr>
            <a:r>
              <a:rPr b="1" lang="en-US" sz="1950">
                <a:solidFill>
                  <a:srgbClr val="2A2D38"/>
                </a:solidFill>
                <a:latin typeface="Montserrat"/>
                <a:ea typeface="Montserrat"/>
                <a:cs typeface="Montserrat"/>
                <a:sym typeface="Montserrat"/>
              </a:rPr>
              <a:t>Context Engineering.</a:t>
            </a:r>
            <a:endParaRPr sz="1950">
              <a:solidFill>
                <a:schemeClr val="dk1"/>
              </a:solidFill>
              <a:latin typeface="Calibri"/>
              <a:ea typeface="Calibri"/>
              <a:cs typeface="Calibri"/>
              <a:sym typeface="Calibri"/>
            </a:endParaRPr>
          </a:p>
        </p:txBody>
      </p:sp>
      <p:sp>
        <p:nvSpPr>
          <p:cNvPr id="245" name="Google Shape;245;p7"/>
          <p:cNvSpPr/>
          <p:nvPr/>
        </p:nvSpPr>
        <p:spPr>
          <a:xfrm>
            <a:off x="10919371" y="5591026"/>
            <a:ext cx="3186501" cy="1032421"/>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The whole game becomes </a:t>
            </a:r>
            <a:r>
              <a:rPr lang="en-US" sz="1800">
                <a:solidFill>
                  <a:srgbClr val="3FE0D0"/>
                </a:solidFill>
                <a:latin typeface="Inter"/>
                <a:ea typeface="Inter"/>
                <a:cs typeface="Inter"/>
                <a:sym typeface="Inter"/>
              </a:rPr>
              <a:t>what you put in front of the model </a:t>
            </a:r>
            <a:r>
              <a:rPr lang="en-US" sz="1800">
                <a:solidFill>
                  <a:srgbClr val="6B6E78"/>
                </a:solidFill>
                <a:latin typeface="Inter"/>
                <a:ea typeface="Inter"/>
                <a:cs typeface="Inter"/>
                <a:sym typeface="Inter"/>
              </a:rPr>
              <a:t>.</a:t>
            </a:r>
            <a:endParaRPr sz="1800">
              <a:solidFill>
                <a:schemeClr val="dk1"/>
              </a:solidFill>
              <a:latin typeface="Calibri"/>
              <a:ea typeface="Calibri"/>
              <a:cs typeface="Calibri"/>
              <a:sym typeface="Calibri"/>
            </a:endParaRPr>
          </a:p>
        </p:txBody>
      </p:sp>
      <p:sp>
        <p:nvSpPr>
          <p:cNvPr id="246" name="Google Shape;246;p7"/>
          <p:cNvSpPr/>
          <p:nvPr/>
        </p:nvSpPr>
        <p:spPr>
          <a:xfrm>
            <a:off x="14241661" y="4455765"/>
            <a:ext cx="3186501" cy="571500"/>
          </a:xfrm>
          <a:prstGeom prst="rect">
            <a:avLst/>
          </a:prstGeom>
          <a:noFill/>
          <a:ln>
            <a:noFill/>
          </a:ln>
        </p:spPr>
        <p:txBody>
          <a:bodyPr anchorCtr="0" anchor="t" bIns="25400" lIns="25400" spcFirstLastPara="1" rIns="25400" wrap="square" tIns="25400">
            <a:normAutofit/>
          </a:bodyPr>
          <a:lstStyle/>
          <a:p>
            <a:pPr indent="0" lvl="0" marL="0" marR="0" rtl="0" algn="l">
              <a:lnSpc>
                <a:spcPct val="100000"/>
              </a:lnSpc>
              <a:spcBef>
                <a:spcPts val="0"/>
              </a:spcBef>
              <a:spcAft>
                <a:spcPts val="0"/>
              </a:spcAft>
              <a:buClr>
                <a:srgbClr val="2A2D38"/>
              </a:buClr>
              <a:buSzPts val="4200"/>
              <a:buFont typeface="Montserrat"/>
              <a:buNone/>
            </a:pPr>
            <a:r>
              <a:rPr b="1" lang="en-US" sz="4200">
                <a:solidFill>
                  <a:srgbClr val="2A2D38"/>
                </a:solidFill>
                <a:latin typeface="Montserrat"/>
                <a:ea typeface="Montserrat"/>
                <a:cs typeface="Montserrat"/>
                <a:sym typeface="Montserrat"/>
              </a:rPr>
              <a:t>2026</a:t>
            </a:r>
            <a:endParaRPr sz="4200">
              <a:solidFill>
                <a:schemeClr val="dk1"/>
              </a:solidFill>
              <a:latin typeface="Calibri"/>
              <a:ea typeface="Calibri"/>
              <a:cs typeface="Calibri"/>
              <a:sym typeface="Calibri"/>
            </a:endParaRPr>
          </a:p>
        </p:txBody>
      </p:sp>
      <p:sp>
        <p:nvSpPr>
          <p:cNvPr id="247" name="Google Shape;247;p7"/>
          <p:cNvSpPr/>
          <p:nvPr/>
        </p:nvSpPr>
        <p:spPr>
          <a:xfrm>
            <a:off x="14241661" y="5141565"/>
            <a:ext cx="3186501" cy="335161"/>
          </a:xfrm>
          <a:prstGeom prst="rect">
            <a:avLst/>
          </a:prstGeom>
          <a:noFill/>
          <a:ln>
            <a:noFill/>
          </a:ln>
        </p:spPr>
        <p:txBody>
          <a:bodyPr anchorCtr="0" anchor="t" bIns="25400" lIns="25400" spcFirstLastPara="1" rIns="25400" wrap="square" tIns="25400">
            <a:normAutofit/>
          </a:bodyPr>
          <a:lstStyle/>
          <a:p>
            <a:pPr indent="0" lvl="0" marL="0" marR="0" rtl="0" algn="l">
              <a:lnSpc>
                <a:spcPct val="120000"/>
              </a:lnSpc>
              <a:spcBef>
                <a:spcPts val="0"/>
              </a:spcBef>
              <a:spcAft>
                <a:spcPts val="0"/>
              </a:spcAft>
              <a:buClr>
                <a:srgbClr val="2A2D38"/>
              </a:buClr>
              <a:buSzPts val="1950"/>
              <a:buFont typeface="Montserrat"/>
              <a:buNone/>
            </a:pPr>
            <a:r>
              <a:rPr b="1" lang="en-US" sz="1950">
                <a:solidFill>
                  <a:srgbClr val="2A2D38"/>
                </a:solidFill>
                <a:latin typeface="Montserrat"/>
                <a:ea typeface="Montserrat"/>
                <a:cs typeface="Montserrat"/>
                <a:sym typeface="Montserrat"/>
              </a:rPr>
              <a:t>Agents in production.</a:t>
            </a:r>
            <a:endParaRPr sz="1950">
              <a:solidFill>
                <a:schemeClr val="dk1"/>
              </a:solidFill>
              <a:latin typeface="Calibri"/>
              <a:ea typeface="Calibri"/>
              <a:cs typeface="Calibri"/>
              <a:sym typeface="Calibri"/>
            </a:endParaRPr>
          </a:p>
        </p:txBody>
      </p:sp>
      <p:sp>
        <p:nvSpPr>
          <p:cNvPr id="248" name="Google Shape;248;p7"/>
          <p:cNvSpPr/>
          <p:nvPr/>
        </p:nvSpPr>
        <p:spPr>
          <a:xfrm>
            <a:off x="14241661" y="5591026"/>
            <a:ext cx="3186501" cy="1032421"/>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Models that pull their own context. The skill compounds.</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5F1"/>
        </a:solidFill>
      </p:bgPr>
    </p:bg>
    <p:spTree>
      <p:nvGrpSpPr>
        <p:cNvPr id="253" name="Shape 253"/>
        <p:cNvGrpSpPr/>
        <p:nvPr/>
      </p:nvGrpSpPr>
      <p:grpSpPr>
        <a:xfrm>
          <a:off x="0" y="0"/>
          <a:ext cx="0" cy="0"/>
          <a:chOff x="0" y="0"/>
          <a:chExt cx="0" cy="0"/>
        </a:xfrm>
      </p:grpSpPr>
      <p:sp>
        <p:nvSpPr>
          <p:cNvPr id="254" name="Google Shape;254;p8"/>
          <p:cNvSpPr/>
          <p:nvPr/>
        </p:nvSpPr>
        <p:spPr>
          <a:xfrm>
            <a:off x="952500" y="952500"/>
            <a:ext cx="16874490"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950"/>
              <a:buFont typeface="Montserrat"/>
              <a:buNone/>
            </a:pPr>
            <a:r>
              <a:rPr b="1" lang="en-US" sz="1950">
                <a:solidFill>
                  <a:srgbClr val="F58220"/>
                </a:solidFill>
                <a:latin typeface="Montserrat"/>
                <a:ea typeface="Montserrat"/>
                <a:cs typeface="Montserrat"/>
                <a:sym typeface="Montserrat"/>
              </a:rPr>
              <a:t>THE DIAGNOSIS</a:t>
            </a:r>
            <a:endParaRPr sz="1950">
              <a:solidFill>
                <a:schemeClr val="dk1"/>
              </a:solidFill>
              <a:latin typeface="Calibri"/>
              <a:ea typeface="Calibri"/>
              <a:cs typeface="Calibri"/>
              <a:sym typeface="Calibri"/>
            </a:endParaRPr>
          </a:p>
        </p:txBody>
      </p:sp>
      <p:sp>
        <p:nvSpPr>
          <p:cNvPr id="255" name="Google Shape;255;p8"/>
          <p:cNvSpPr/>
          <p:nvPr/>
        </p:nvSpPr>
        <p:spPr>
          <a:xfrm>
            <a:off x="952500" y="1447800"/>
            <a:ext cx="16874490" cy="798165"/>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2A2D38"/>
              </a:buClr>
              <a:buSzPts val="5700"/>
              <a:buFont typeface="Montserrat"/>
              <a:buNone/>
            </a:pPr>
            <a:r>
              <a:rPr b="1" lang="en-US" sz="5700">
                <a:solidFill>
                  <a:srgbClr val="2A2D38"/>
                </a:solidFill>
                <a:latin typeface="Montserrat"/>
                <a:ea typeface="Montserrat"/>
                <a:cs typeface="Montserrat"/>
                <a:sym typeface="Montserrat"/>
              </a:rPr>
              <a:t>Where most prompts go wrong.</a:t>
            </a:r>
            <a:endParaRPr sz="5700">
              <a:solidFill>
                <a:schemeClr val="dk1"/>
              </a:solidFill>
              <a:latin typeface="Calibri"/>
              <a:ea typeface="Calibri"/>
              <a:cs typeface="Calibri"/>
              <a:sym typeface="Calibri"/>
            </a:endParaRPr>
          </a:p>
        </p:txBody>
      </p:sp>
      <p:sp>
        <p:nvSpPr>
          <p:cNvPr id="256" name="Google Shape;256;p8"/>
          <p:cNvSpPr/>
          <p:nvPr/>
        </p:nvSpPr>
        <p:spPr>
          <a:xfrm>
            <a:off x="952500" y="2703165"/>
            <a:ext cx="914400" cy="38100"/>
          </a:xfrm>
          <a:prstGeom prst="roundRect">
            <a:avLst>
              <a:gd fmla="val 50000" name="adj"/>
            </a:avLst>
          </a:prstGeom>
          <a:solidFill>
            <a:srgbClr val="F5822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7" name="Google Shape;257;p8"/>
          <p:cNvSpPr/>
          <p:nvPr/>
        </p:nvSpPr>
        <p:spPr>
          <a:xfrm>
            <a:off x="952500" y="3236565"/>
            <a:ext cx="5232349" cy="1478161"/>
          </a:xfrm>
          <a:prstGeom prst="rect">
            <a:avLst/>
          </a:prstGeom>
          <a:noFill/>
          <a:ln>
            <a:noFill/>
          </a:ln>
        </p:spPr>
        <p:txBody>
          <a:bodyPr anchorCtr="0" anchor="t" bIns="25400" lIns="25400" spcFirstLastPara="1" rIns="25400" wrap="square" tIns="25400">
            <a:normAutofit/>
          </a:bodyPr>
          <a:lstStyle/>
          <a:p>
            <a:pPr indent="0" lvl="0" marL="0" marR="0" rtl="0" algn="l">
              <a:lnSpc>
                <a:spcPct val="90000"/>
              </a:lnSpc>
              <a:spcBef>
                <a:spcPts val="0"/>
              </a:spcBef>
              <a:spcAft>
                <a:spcPts val="0"/>
              </a:spcAft>
              <a:buClr>
                <a:srgbClr val="F58220"/>
              </a:buClr>
              <a:buSzPts val="12600"/>
              <a:buFont typeface="Montserrat"/>
              <a:buNone/>
            </a:pPr>
            <a:r>
              <a:rPr b="1" lang="en-US" sz="12600">
                <a:solidFill>
                  <a:srgbClr val="F58220"/>
                </a:solidFill>
                <a:latin typeface="Montserrat"/>
                <a:ea typeface="Montserrat"/>
                <a:cs typeface="Montserrat"/>
                <a:sym typeface="Montserrat"/>
              </a:rPr>
              <a:t>1</a:t>
            </a:r>
            <a:endParaRPr sz="12600">
              <a:solidFill>
                <a:schemeClr val="dk1"/>
              </a:solidFill>
              <a:latin typeface="Calibri"/>
              <a:ea typeface="Calibri"/>
              <a:cs typeface="Calibri"/>
              <a:sym typeface="Calibri"/>
            </a:endParaRPr>
          </a:p>
        </p:txBody>
      </p:sp>
      <p:sp>
        <p:nvSpPr>
          <p:cNvPr id="258" name="Google Shape;258;p8"/>
          <p:cNvSpPr/>
          <p:nvPr/>
        </p:nvSpPr>
        <p:spPr>
          <a:xfrm>
            <a:off x="952500" y="4943326"/>
            <a:ext cx="5232349"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6B6E78"/>
              </a:buClr>
              <a:buSzPts val="1950"/>
              <a:buFont typeface="Montserrat"/>
              <a:buNone/>
            </a:pPr>
            <a:r>
              <a:rPr b="1" lang="en-US" sz="1950">
                <a:solidFill>
                  <a:srgbClr val="6B6E78"/>
                </a:solidFill>
                <a:latin typeface="Montserrat"/>
                <a:ea typeface="Montserrat"/>
                <a:cs typeface="Montserrat"/>
                <a:sym typeface="Montserrat"/>
              </a:rPr>
              <a:t>MISSING THE BRIEF</a:t>
            </a:r>
            <a:endParaRPr sz="1950">
              <a:solidFill>
                <a:schemeClr val="dk1"/>
              </a:solidFill>
              <a:latin typeface="Calibri"/>
              <a:ea typeface="Calibri"/>
              <a:cs typeface="Calibri"/>
              <a:sym typeface="Calibri"/>
            </a:endParaRPr>
          </a:p>
        </p:txBody>
      </p:sp>
      <p:sp>
        <p:nvSpPr>
          <p:cNvPr id="259" name="Google Shape;259;p8"/>
          <p:cNvSpPr/>
          <p:nvPr/>
        </p:nvSpPr>
        <p:spPr>
          <a:xfrm>
            <a:off x="952500" y="5514826"/>
            <a:ext cx="5232349" cy="70098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"Write a thank-you email." — to whom? About what? In whose voice?</a:t>
            </a:r>
            <a:endParaRPr sz="1800">
              <a:solidFill>
                <a:schemeClr val="dk1"/>
              </a:solidFill>
              <a:latin typeface="Calibri"/>
              <a:ea typeface="Calibri"/>
              <a:cs typeface="Calibri"/>
              <a:sym typeface="Calibri"/>
            </a:endParaRPr>
          </a:p>
        </p:txBody>
      </p:sp>
      <p:sp>
        <p:nvSpPr>
          <p:cNvPr id="260" name="Google Shape;260;p8"/>
          <p:cNvSpPr/>
          <p:nvPr/>
        </p:nvSpPr>
        <p:spPr>
          <a:xfrm>
            <a:off x="6603950" y="3236565"/>
            <a:ext cx="5232349" cy="1478161"/>
          </a:xfrm>
          <a:prstGeom prst="rect">
            <a:avLst/>
          </a:prstGeom>
          <a:noFill/>
          <a:ln>
            <a:noFill/>
          </a:ln>
        </p:spPr>
        <p:txBody>
          <a:bodyPr anchorCtr="0" anchor="t" bIns="25400" lIns="25400" spcFirstLastPara="1" rIns="25400" wrap="square" tIns="25400">
            <a:normAutofit/>
          </a:bodyPr>
          <a:lstStyle/>
          <a:p>
            <a:pPr indent="0" lvl="0" marL="0" marR="0" rtl="0" algn="l">
              <a:lnSpc>
                <a:spcPct val="90000"/>
              </a:lnSpc>
              <a:spcBef>
                <a:spcPts val="0"/>
              </a:spcBef>
              <a:spcAft>
                <a:spcPts val="0"/>
              </a:spcAft>
              <a:buClr>
                <a:srgbClr val="F58220"/>
              </a:buClr>
              <a:buSzPts val="12600"/>
              <a:buFont typeface="Montserrat"/>
              <a:buNone/>
            </a:pPr>
            <a:r>
              <a:rPr b="1" lang="en-US" sz="12600">
                <a:solidFill>
                  <a:srgbClr val="F58220"/>
                </a:solidFill>
                <a:latin typeface="Montserrat"/>
                <a:ea typeface="Montserrat"/>
                <a:cs typeface="Montserrat"/>
                <a:sym typeface="Montserrat"/>
              </a:rPr>
              <a:t>2</a:t>
            </a:r>
            <a:endParaRPr sz="12600">
              <a:solidFill>
                <a:schemeClr val="dk1"/>
              </a:solidFill>
              <a:latin typeface="Calibri"/>
              <a:ea typeface="Calibri"/>
              <a:cs typeface="Calibri"/>
              <a:sym typeface="Calibri"/>
            </a:endParaRPr>
          </a:p>
        </p:txBody>
      </p:sp>
      <p:sp>
        <p:nvSpPr>
          <p:cNvPr id="261" name="Google Shape;261;p8"/>
          <p:cNvSpPr/>
          <p:nvPr/>
        </p:nvSpPr>
        <p:spPr>
          <a:xfrm>
            <a:off x="6603950" y="4943326"/>
            <a:ext cx="5232349"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6B6E78"/>
              </a:buClr>
              <a:buSzPts val="1950"/>
              <a:buFont typeface="Montserrat"/>
              <a:buNone/>
            </a:pPr>
            <a:r>
              <a:rPr b="1" lang="en-US" sz="1950">
                <a:solidFill>
                  <a:srgbClr val="6B6E78"/>
                </a:solidFill>
                <a:latin typeface="Montserrat"/>
                <a:ea typeface="Montserrat"/>
                <a:cs typeface="Montserrat"/>
                <a:sym typeface="Montserrat"/>
              </a:rPr>
              <a:t>MISSING THE SOURCE</a:t>
            </a:r>
            <a:endParaRPr sz="1950">
              <a:solidFill>
                <a:schemeClr val="dk1"/>
              </a:solidFill>
              <a:latin typeface="Calibri"/>
              <a:ea typeface="Calibri"/>
              <a:cs typeface="Calibri"/>
              <a:sym typeface="Calibri"/>
            </a:endParaRPr>
          </a:p>
        </p:txBody>
      </p:sp>
      <p:sp>
        <p:nvSpPr>
          <p:cNvPr id="262" name="Google Shape;262;p8"/>
          <p:cNvSpPr/>
          <p:nvPr/>
        </p:nvSpPr>
        <p:spPr>
          <a:xfrm>
            <a:off x="6603950" y="5514826"/>
            <a:ext cx="5232349" cy="70098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The model doesn't know your sermon series. It doesn't have your donor list.</a:t>
            </a:r>
            <a:endParaRPr sz="1800">
              <a:solidFill>
                <a:schemeClr val="dk1"/>
              </a:solidFill>
              <a:latin typeface="Calibri"/>
              <a:ea typeface="Calibri"/>
              <a:cs typeface="Calibri"/>
              <a:sym typeface="Calibri"/>
            </a:endParaRPr>
          </a:p>
        </p:txBody>
      </p:sp>
      <p:sp>
        <p:nvSpPr>
          <p:cNvPr id="263" name="Google Shape;263;p8"/>
          <p:cNvSpPr/>
          <p:nvPr/>
        </p:nvSpPr>
        <p:spPr>
          <a:xfrm>
            <a:off x="12255401" y="3236565"/>
            <a:ext cx="5232349" cy="1478161"/>
          </a:xfrm>
          <a:prstGeom prst="rect">
            <a:avLst/>
          </a:prstGeom>
          <a:noFill/>
          <a:ln>
            <a:noFill/>
          </a:ln>
        </p:spPr>
        <p:txBody>
          <a:bodyPr anchorCtr="0" anchor="t" bIns="25400" lIns="25400" spcFirstLastPara="1" rIns="25400" wrap="square" tIns="25400">
            <a:normAutofit/>
          </a:bodyPr>
          <a:lstStyle/>
          <a:p>
            <a:pPr indent="0" lvl="0" marL="0" marR="0" rtl="0" algn="l">
              <a:lnSpc>
                <a:spcPct val="90000"/>
              </a:lnSpc>
              <a:spcBef>
                <a:spcPts val="0"/>
              </a:spcBef>
              <a:spcAft>
                <a:spcPts val="0"/>
              </a:spcAft>
              <a:buClr>
                <a:srgbClr val="F58220"/>
              </a:buClr>
              <a:buSzPts val="12600"/>
              <a:buFont typeface="Montserrat"/>
              <a:buNone/>
            </a:pPr>
            <a:r>
              <a:rPr b="1" lang="en-US" sz="12600">
                <a:solidFill>
                  <a:srgbClr val="F58220"/>
                </a:solidFill>
                <a:latin typeface="Montserrat"/>
                <a:ea typeface="Montserrat"/>
                <a:cs typeface="Montserrat"/>
                <a:sym typeface="Montserrat"/>
              </a:rPr>
              <a:t>3</a:t>
            </a:r>
            <a:endParaRPr sz="12600">
              <a:solidFill>
                <a:schemeClr val="dk1"/>
              </a:solidFill>
              <a:latin typeface="Calibri"/>
              <a:ea typeface="Calibri"/>
              <a:cs typeface="Calibri"/>
              <a:sym typeface="Calibri"/>
            </a:endParaRPr>
          </a:p>
        </p:txBody>
      </p:sp>
      <p:sp>
        <p:nvSpPr>
          <p:cNvPr id="264" name="Google Shape;264;p8"/>
          <p:cNvSpPr/>
          <p:nvPr/>
        </p:nvSpPr>
        <p:spPr>
          <a:xfrm>
            <a:off x="12255401" y="4943326"/>
            <a:ext cx="5232349"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6B6E78"/>
              </a:buClr>
              <a:buSzPts val="1950"/>
              <a:buFont typeface="Montserrat"/>
              <a:buNone/>
            </a:pPr>
            <a:r>
              <a:rPr b="1" lang="en-US" sz="1950">
                <a:solidFill>
                  <a:srgbClr val="6B6E78"/>
                </a:solidFill>
                <a:latin typeface="Montserrat"/>
                <a:ea typeface="Montserrat"/>
                <a:cs typeface="Montserrat"/>
                <a:sym typeface="Montserrat"/>
              </a:rPr>
              <a:t>MISSING THE SHAPE</a:t>
            </a:r>
            <a:endParaRPr sz="1950">
              <a:solidFill>
                <a:schemeClr val="dk1"/>
              </a:solidFill>
              <a:latin typeface="Calibri"/>
              <a:ea typeface="Calibri"/>
              <a:cs typeface="Calibri"/>
              <a:sym typeface="Calibri"/>
            </a:endParaRPr>
          </a:p>
        </p:txBody>
      </p:sp>
      <p:sp>
        <p:nvSpPr>
          <p:cNvPr id="265" name="Google Shape;265;p8"/>
          <p:cNvSpPr/>
          <p:nvPr/>
        </p:nvSpPr>
        <p:spPr>
          <a:xfrm>
            <a:off x="12255401" y="5514826"/>
            <a:ext cx="5232349" cy="70098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No format spec, so you get a wall of prose when you needed a table.</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 name="Shape 270"/>
        <p:cNvGrpSpPr/>
        <p:nvPr/>
      </p:nvGrpSpPr>
      <p:grpSpPr>
        <a:xfrm>
          <a:off x="0" y="0"/>
          <a:ext cx="0" cy="0"/>
          <a:chOff x="0" y="0"/>
          <a:chExt cx="0" cy="0"/>
        </a:xfrm>
      </p:grpSpPr>
      <p:sp>
        <p:nvSpPr>
          <p:cNvPr id="271" name="Google Shape;271;p9"/>
          <p:cNvSpPr/>
          <p:nvPr/>
        </p:nvSpPr>
        <p:spPr>
          <a:xfrm>
            <a:off x="952500" y="952500"/>
            <a:ext cx="16874490"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950"/>
              <a:buFont typeface="Montserrat"/>
              <a:buNone/>
            </a:pPr>
            <a:r>
              <a:rPr b="1" lang="en-US" sz="1950">
                <a:solidFill>
                  <a:srgbClr val="F58220"/>
                </a:solidFill>
                <a:latin typeface="Montserrat"/>
                <a:ea typeface="Montserrat"/>
                <a:cs typeface="Montserrat"/>
                <a:sym typeface="Montserrat"/>
              </a:rPr>
              <a:t>THE SHIFT</a:t>
            </a:r>
            <a:endParaRPr sz="1950">
              <a:solidFill>
                <a:schemeClr val="dk1"/>
              </a:solidFill>
              <a:latin typeface="Calibri"/>
              <a:ea typeface="Calibri"/>
              <a:cs typeface="Calibri"/>
              <a:sym typeface="Calibri"/>
            </a:endParaRPr>
          </a:p>
        </p:txBody>
      </p:sp>
      <p:sp>
        <p:nvSpPr>
          <p:cNvPr id="272" name="Google Shape;272;p9"/>
          <p:cNvSpPr/>
          <p:nvPr/>
        </p:nvSpPr>
        <p:spPr>
          <a:xfrm>
            <a:off x="952500" y="1447800"/>
            <a:ext cx="16874490" cy="1558230"/>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2A2D38"/>
              </a:buClr>
              <a:buSzPts val="5700"/>
              <a:buFont typeface="Montserrat"/>
              <a:buNone/>
            </a:pPr>
            <a:r>
              <a:rPr b="1" lang="en-US" sz="5700">
                <a:solidFill>
                  <a:srgbClr val="2A2D38"/>
                </a:solidFill>
                <a:latin typeface="Montserrat"/>
                <a:ea typeface="Montserrat"/>
                <a:cs typeface="Montserrat"/>
                <a:sym typeface="Montserrat"/>
              </a:rPr>
              <a:t>From prompt engineering to context engineering.</a:t>
            </a:r>
            <a:endParaRPr sz="5700">
              <a:solidFill>
                <a:schemeClr val="dk1"/>
              </a:solidFill>
              <a:latin typeface="Calibri"/>
              <a:ea typeface="Calibri"/>
              <a:cs typeface="Calibri"/>
              <a:sym typeface="Calibri"/>
            </a:endParaRPr>
          </a:p>
        </p:txBody>
      </p:sp>
      <p:sp>
        <p:nvSpPr>
          <p:cNvPr id="273" name="Google Shape;273;p9"/>
          <p:cNvSpPr/>
          <p:nvPr/>
        </p:nvSpPr>
        <p:spPr>
          <a:xfrm>
            <a:off x="952500" y="3463230"/>
            <a:ext cx="914400" cy="38100"/>
          </a:xfrm>
          <a:prstGeom prst="roundRect">
            <a:avLst>
              <a:gd fmla="val 50000" name="adj"/>
            </a:avLst>
          </a:prstGeom>
          <a:solidFill>
            <a:srgbClr val="F5822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4" name="Google Shape;274;p9"/>
          <p:cNvSpPr/>
          <p:nvPr/>
        </p:nvSpPr>
        <p:spPr>
          <a:xfrm>
            <a:off x="952500" y="4158555"/>
            <a:ext cx="7429500" cy="4362450"/>
          </a:xfrm>
          <a:prstGeom prst="roundRect">
            <a:avLst>
              <a:gd fmla="val 2620" name="adj"/>
            </a:avLst>
          </a:prstGeom>
          <a:solidFill>
            <a:srgbClr val="FFFFFF"/>
          </a:solidFill>
          <a:ln cap="flat" cmpd="sng" w="9525">
            <a:solidFill>
              <a:srgbClr val="E5E5E7"/>
            </a:solidFill>
            <a:prstDash val="solid"/>
            <a:round/>
            <a:headEnd len="sm" w="sm" type="none"/>
            <a:tailEnd len="sm" w="sm" type="none"/>
          </a:ln>
          <a:effectLst>
            <a:outerShdw blurRad="114300" rotWithShape="0" algn="bl" dir="5400000" dist="38100">
              <a:srgbClr val="2A2D38">
                <a:alpha val="5098"/>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5" name="Google Shape;275;p9"/>
          <p:cNvSpPr/>
          <p:nvPr/>
        </p:nvSpPr>
        <p:spPr>
          <a:xfrm>
            <a:off x="1381125" y="4625280"/>
            <a:ext cx="6769418" cy="3143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9A9CA4"/>
              </a:buClr>
              <a:buSzPts val="1800"/>
              <a:buFont typeface="Montserrat"/>
              <a:buNone/>
            </a:pPr>
            <a:r>
              <a:rPr b="1" lang="en-US" sz="1800">
                <a:solidFill>
                  <a:srgbClr val="9A9CA4"/>
                </a:solidFill>
                <a:latin typeface="Montserrat"/>
                <a:ea typeface="Montserrat"/>
                <a:cs typeface="Montserrat"/>
                <a:sym typeface="Montserrat"/>
              </a:rPr>
              <a:t>THEN</a:t>
            </a:r>
            <a:endParaRPr sz="1800">
              <a:solidFill>
                <a:schemeClr val="dk1"/>
              </a:solidFill>
              <a:latin typeface="Calibri"/>
              <a:ea typeface="Calibri"/>
              <a:cs typeface="Calibri"/>
              <a:sym typeface="Calibri"/>
            </a:endParaRPr>
          </a:p>
        </p:txBody>
      </p:sp>
      <p:sp>
        <p:nvSpPr>
          <p:cNvPr id="276" name="Google Shape;276;p9"/>
          <p:cNvSpPr/>
          <p:nvPr/>
        </p:nvSpPr>
        <p:spPr>
          <a:xfrm>
            <a:off x="1381125" y="5072955"/>
            <a:ext cx="6769418" cy="6858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4200"/>
              <a:buFont typeface="Montserrat"/>
              <a:buNone/>
            </a:pPr>
            <a:r>
              <a:rPr b="1" lang="en-US" sz="4200">
                <a:solidFill>
                  <a:srgbClr val="2A2D38"/>
                </a:solidFill>
                <a:latin typeface="Montserrat"/>
                <a:ea typeface="Montserrat"/>
                <a:cs typeface="Montserrat"/>
                <a:sym typeface="Montserrat"/>
              </a:rPr>
              <a:t>Prompt Engineering</a:t>
            </a:r>
            <a:endParaRPr sz="4200">
              <a:solidFill>
                <a:schemeClr val="dk1"/>
              </a:solidFill>
              <a:latin typeface="Calibri"/>
              <a:ea typeface="Calibri"/>
              <a:cs typeface="Calibri"/>
              <a:sym typeface="Calibri"/>
            </a:endParaRPr>
          </a:p>
        </p:txBody>
      </p:sp>
      <p:sp>
        <p:nvSpPr>
          <p:cNvPr id="277" name="Google Shape;277;p9"/>
          <p:cNvSpPr/>
          <p:nvPr/>
        </p:nvSpPr>
        <p:spPr>
          <a:xfrm>
            <a:off x="1381125" y="5949255"/>
            <a:ext cx="6769418" cy="78105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6B6E78"/>
              </a:buClr>
              <a:buSzPts val="1950"/>
              <a:buFont typeface="Inter"/>
              <a:buNone/>
            </a:pPr>
            <a:r>
              <a:rPr lang="en-US" sz="1950">
                <a:solidFill>
                  <a:srgbClr val="6B6E78"/>
                </a:solidFill>
                <a:latin typeface="Inter"/>
                <a:ea typeface="Inter"/>
                <a:cs typeface="Inter"/>
                <a:sym typeface="Inter"/>
              </a:rPr>
              <a:t>Find the right </a:t>
            </a:r>
            <a:r>
              <a:rPr i="1" lang="en-US" sz="1950">
                <a:solidFill>
                  <a:srgbClr val="6B6E78"/>
                </a:solidFill>
                <a:latin typeface="Inter"/>
                <a:ea typeface="Inter"/>
                <a:cs typeface="Inter"/>
                <a:sym typeface="Inter"/>
              </a:rPr>
              <a:t>magic words </a:t>
            </a:r>
            <a:r>
              <a:rPr lang="en-US" sz="1950">
                <a:solidFill>
                  <a:srgbClr val="6B6E78"/>
                </a:solidFill>
                <a:latin typeface="Inter"/>
                <a:ea typeface="Inter"/>
                <a:cs typeface="Inter"/>
                <a:sym typeface="Inter"/>
              </a:rPr>
              <a:t>to coax a single response out of a model.</a:t>
            </a:r>
            <a:endParaRPr sz="1950">
              <a:solidFill>
                <a:schemeClr val="dk1"/>
              </a:solidFill>
              <a:latin typeface="Calibri"/>
              <a:ea typeface="Calibri"/>
              <a:cs typeface="Calibri"/>
              <a:sym typeface="Calibri"/>
            </a:endParaRPr>
          </a:p>
        </p:txBody>
      </p:sp>
      <p:sp>
        <p:nvSpPr>
          <p:cNvPr id="278" name="Google Shape;278;p9"/>
          <p:cNvSpPr/>
          <p:nvPr/>
        </p:nvSpPr>
        <p:spPr>
          <a:xfrm>
            <a:off x="8724900" y="5882580"/>
            <a:ext cx="838200" cy="952500"/>
          </a:xfrm>
          <a:prstGeom prst="rect">
            <a:avLst/>
          </a:prstGeom>
          <a:noFill/>
          <a:ln>
            <a:noFill/>
          </a:ln>
        </p:spPr>
        <p:txBody>
          <a:bodyPr anchorCtr="0" anchor="t" bIns="25400" lIns="25400" spcFirstLastPara="1" rIns="25400" wrap="square" tIns="25400">
            <a:normAutofit/>
          </a:bodyPr>
          <a:lstStyle/>
          <a:p>
            <a:pPr indent="0" lvl="0" marL="0" marR="0" rtl="0" algn="ctr">
              <a:lnSpc>
                <a:spcPct val="100000"/>
              </a:lnSpc>
              <a:spcBef>
                <a:spcPts val="0"/>
              </a:spcBef>
              <a:spcAft>
                <a:spcPts val="0"/>
              </a:spcAft>
              <a:buClr>
                <a:srgbClr val="3FE0D0"/>
              </a:buClr>
              <a:buSzPts val="7200"/>
              <a:buFont typeface="Montserrat"/>
              <a:buNone/>
            </a:pPr>
            <a:r>
              <a:rPr b="1" lang="en-US" sz="7200">
                <a:solidFill>
                  <a:srgbClr val="3FE0D0"/>
                </a:solidFill>
                <a:latin typeface="Montserrat"/>
                <a:ea typeface="Montserrat"/>
                <a:cs typeface="Montserrat"/>
                <a:sym typeface="Montserrat"/>
              </a:rPr>
              <a:t>→</a:t>
            </a:r>
            <a:endParaRPr sz="7200">
              <a:solidFill>
                <a:schemeClr val="dk1"/>
              </a:solidFill>
              <a:latin typeface="Calibri"/>
              <a:ea typeface="Calibri"/>
              <a:cs typeface="Calibri"/>
              <a:sym typeface="Calibri"/>
            </a:endParaRPr>
          </a:p>
        </p:txBody>
      </p:sp>
      <p:sp>
        <p:nvSpPr>
          <p:cNvPr id="279" name="Google Shape;279;p9"/>
          <p:cNvSpPr/>
          <p:nvPr/>
        </p:nvSpPr>
        <p:spPr>
          <a:xfrm>
            <a:off x="9906000" y="4149030"/>
            <a:ext cx="7429500" cy="4381500"/>
          </a:xfrm>
          <a:prstGeom prst="roundRect">
            <a:avLst>
              <a:gd fmla="val 2609" name="adj"/>
            </a:avLst>
          </a:prstGeom>
          <a:solidFill>
            <a:srgbClr val="FFFFFF"/>
          </a:solidFill>
          <a:ln cap="flat" cmpd="sng" w="19050">
            <a:solidFill>
              <a:srgbClr val="3FE0D0"/>
            </a:solidFill>
            <a:prstDash val="solid"/>
            <a:round/>
            <a:headEnd len="sm" w="sm" type="none"/>
            <a:tailEnd len="sm" w="sm" type="none"/>
          </a:ln>
          <a:effectLst>
            <a:outerShdw blurRad="114300" rotWithShape="0" algn="bl" dir="5400000" dist="38100">
              <a:srgbClr val="2A2D38">
                <a:alpha val="5098"/>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0" name="Google Shape;280;p9"/>
          <p:cNvSpPr/>
          <p:nvPr/>
        </p:nvSpPr>
        <p:spPr>
          <a:xfrm>
            <a:off x="10344150" y="4625280"/>
            <a:ext cx="6749796" cy="3143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1800"/>
              <a:buFont typeface="Montserrat"/>
              <a:buNone/>
            </a:pPr>
            <a:r>
              <a:rPr b="1" lang="en-US" sz="1800">
                <a:solidFill>
                  <a:srgbClr val="3FE0D0"/>
                </a:solidFill>
                <a:latin typeface="Montserrat"/>
                <a:ea typeface="Montserrat"/>
                <a:cs typeface="Montserrat"/>
                <a:sym typeface="Montserrat"/>
              </a:rPr>
              <a:t>NOW</a:t>
            </a:r>
            <a:endParaRPr sz="1800">
              <a:solidFill>
                <a:schemeClr val="dk1"/>
              </a:solidFill>
              <a:latin typeface="Calibri"/>
              <a:ea typeface="Calibri"/>
              <a:cs typeface="Calibri"/>
              <a:sym typeface="Calibri"/>
            </a:endParaRPr>
          </a:p>
        </p:txBody>
      </p:sp>
      <p:sp>
        <p:nvSpPr>
          <p:cNvPr id="281" name="Google Shape;281;p9"/>
          <p:cNvSpPr/>
          <p:nvPr/>
        </p:nvSpPr>
        <p:spPr>
          <a:xfrm>
            <a:off x="10344150" y="5072955"/>
            <a:ext cx="6749796" cy="6858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4200"/>
              <a:buFont typeface="Montserrat"/>
              <a:buNone/>
            </a:pPr>
            <a:r>
              <a:rPr b="1" lang="en-US" sz="4200">
                <a:solidFill>
                  <a:srgbClr val="2A2D38"/>
                </a:solidFill>
                <a:latin typeface="Montserrat"/>
                <a:ea typeface="Montserrat"/>
                <a:cs typeface="Montserrat"/>
                <a:sym typeface="Montserrat"/>
              </a:rPr>
              <a:t>Context Engineering</a:t>
            </a:r>
            <a:endParaRPr sz="4200">
              <a:solidFill>
                <a:schemeClr val="dk1"/>
              </a:solidFill>
              <a:latin typeface="Calibri"/>
              <a:ea typeface="Calibri"/>
              <a:cs typeface="Calibri"/>
              <a:sym typeface="Calibri"/>
            </a:endParaRPr>
          </a:p>
        </p:txBody>
      </p:sp>
      <p:sp>
        <p:nvSpPr>
          <p:cNvPr id="282" name="Google Shape;282;p9"/>
          <p:cNvSpPr/>
          <p:nvPr/>
        </p:nvSpPr>
        <p:spPr>
          <a:xfrm>
            <a:off x="10344150" y="5949255"/>
            <a:ext cx="6749796" cy="78105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2A2D38"/>
              </a:buClr>
              <a:buSzPts val="1950"/>
              <a:buFont typeface="Inter"/>
              <a:buNone/>
            </a:pPr>
            <a:r>
              <a:rPr lang="en-US" sz="1950">
                <a:solidFill>
                  <a:srgbClr val="2A2D38"/>
                </a:solidFill>
                <a:latin typeface="Inter"/>
                <a:ea typeface="Inter"/>
                <a:cs typeface="Inter"/>
                <a:sym typeface="Inter"/>
              </a:rPr>
              <a:t>Design </a:t>
            </a:r>
            <a:r>
              <a:rPr i="1" lang="en-US" sz="1950">
                <a:solidFill>
                  <a:srgbClr val="2A2D38"/>
                </a:solidFill>
                <a:latin typeface="Inter"/>
                <a:ea typeface="Inter"/>
                <a:cs typeface="Inter"/>
                <a:sym typeface="Inter"/>
              </a:rPr>
              <a:t>everything the model sees </a:t>
            </a:r>
            <a:r>
              <a:rPr lang="en-US" sz="1950">
                <a:solidFill>
                  <a:srgbClr val="2A2D38"/>
                </a:solidFill>
                <a:latin typeface="Inter"/>
                <a:ea typeface="Inter"/>
                <a:cs typeface="Inter"/>
                <a:sym typeface="Inter"/>
              </a:rPr>
              <a:t>— instructions, knowledge, tools, memory — before it answers.</a:t>
            </a:r>
            <a:endParaRPr sz="195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161C"/>
        </a:solidFill>
      </p:bgPr>
    </p:bg>
    <p:spTree>
      <p:nvGrpSpPr>
        <p:cNvPr id="287" name="Shape 287"/>
        <p:cNvGrpSpPr/>
        <p:nvPr/>
      </p:nvGrpSpPr>
      <p:grpSpPr>
        <a:xfrm>
          <a:off x="0" y="0"/>
          <a:ext cx="0" cy="0"/>
          <a:chOff x="0" y="0"/>
          <a:chExt cx="0" cy="0"/>
        </a:xfrm>
      </p:grpSpPr>
      <p:sp>
        <p:nvSpPr>
          <p:cNvPr id="288" name="Google Shape;288;p10"/>
          <p:cNvSpPr/>
          <p:nvPr/>
        </p:nvSpPr>
        <p:spPr>
          <a:xfrm>
            <a:off x="1531888" y="952500"/>
            <a:ext cx="1660475" cy="1638300"/>
          </a:xfrm>
          <a:prstGeom prst="rect">
            <a:avLst/>
          </a:prstGeom>
          <a:noFill/>
          <a:ln>
            <a:noFill/>
          </a:ln>
        </p:spPr>
        <p:txBody>
          <a:bodyPr anchorCtr="0" anchor="t" bIns="25400" lIns="25400" spcFirstLastPara="1" rIns="25400" wrap="square" tIns="25400">
            <a:normAutofit/>
          </a:bodyPr>
          <a:lstStyle/>
          <a:p>
            <a:pPr indent="0" lvl="0" marL="0" marR="0" rtl="0" algn="l">
              <a:lnSpc>
                <a:spcPct val="60000"/>
              </a:lnSpc>
              <a:spcBef>
                <a:spcPts val="0"/>
              </a:spcBef>
              <a:spcAft>
                <a:spcPts val="0"/>
              </a:spcAft>
              <a:buClr>
                <a:srgbClr val="3FE0D0"/>
              </a:buClr>
              <a:buSzPts val="21000"/>
              <a:buFont typeface="Montserrat"/>
              <a:buNone/>
            </a:pPr>
            <a:r>
              <a:rPr b="1" lang="en-US" sz="21000">
                <a:solidFill>
                  <a:srgbClr val="3FE0D0"/>
                </a:solidFill>
                <a:latin typeface="Montserrat"/>
                <a:ea typeface="Montserrat"/>
                <a:cs typeface="Montserrat"/>
                <a:sym typeface="Montserrat"/>
              </a:rPr>
              <a:t>“</a:t>
            </a:r>
            <a:endParaRPr sz="21000">
              <a:solidFill>
                <a:schemeClr val="dk1"/>
              </a:solidFill>
              <a:latin typeface="Calibri"/>
              <a:ea typeface="Calibri"/>
              <a:cs typeface="Calibri"/>
              <a:sym typeface="Calibri"/>
            </a:endParaRPr>
          </a:p>
        </p:txBody>
      </p:sp>
      <p:sp>
        <p:nvSpPr>
          <p:cNvPr id="289" name="Google Shape;289;p10"/>
          <p:cNvSpPr/>
          <p:nvPr/>
        </p:nvSpPr>
        <p:spPr>
          <a:xfrm>
            <a:off x="3420963" y="2605088"/>
            <a:ext cx="13735050" cy="4229100"/>
          </a:xfrm>
          <a:prstGeom prst="rect">
            <a:avLst/>
          </a:prstGeom>
          <a:noFill/>
          <a:ln>
            <a:noFill/>
          </a:ln>
        </p:spPr>
        <p:txBody>
          <a:bodyPr anchorCtr="0" anchor="t" bIns="25400" lIns="25400" spcFirstLastPara="1" rIns="25400" wrap="square" tIns="25400">
            <a:normAutofit/>
          </a:bodyPr>
          <a:lstStyle/>
          <a:p>
            <a:pPr indent="0" lvl="0" marL="0" marR="0" rtl="0" algn="l">
              <a:lnSpc>
                <a:spcPct val="110000"/>
              </a:lnSpc>
              <a:spcBef>
                <a:spcPts val="0"/>
              </a:spcBef>
              <a:spcAft>
                <a:spcPts val="0"/>
              </a:spcAft>
              <a:buClr>
                <a:srgbClr val="FFFFFF"/>
              </a:buClr>
              <a:buSzPts val="6000"/>
              <a:buFont typeface="Montserrat"/>
              <a:buNone/>
            </a:pPr>
            <a:r>
              <a:rPr b="1" lang="en-US" sz="6000">
                <a:solidFill>
                  <a:srgbClr val="FFFFFF"/>
                </a:solidFill>
                <a:latin typeface="Montserrat"/>
                <a:ea typeface="Montserrat"/>
                <a:cs typeface="Montserrat"/>
                <a:sym typeface="Montserrat"/>
              </a:rPr>
              <a:t>Context engineering is the discipline of giving a model </a:t>
            </a:r>
            <a:r>
              <a:rPr b="1" lang="en-US" sz="6000">
                <a:solidFill>
                  <a:srgbClr val="3FE0D0"/>
                </a:solidFill>
                <a:latin typeface="Montserrat"/>
                <a:ea typeface="Montserrat"/>
                <a:cs typeface="Montserrat"/>
                <a:sym typeface="Montserrat"/>
              </a:rPr>
              <a:t>everything it needs </a:t>
            </a:r>
            <a:r>
              <a:rPr b="1" lang="en-US" sz="6000">
                <a:solidFill>
                  <a:srgbClr val="FFFFFF"/>
                </a:solidFill>
                <a:latin typeface="Montserrat"/>
                <a:ea typeface="Montserrat"/>
                <a:cs typeface="Montserrat"/>
                <a:sym typeface="Montserrat"/>
              </a:rPr>
              <a:t>— and nothing it doesn't — to do the job in front of it.</a:t>
            </a:r>
            <a:endParaRPr sz="6000">
              <a:solidFill>
                <a:schemeClr val="dk1"/>
              </a:solidFill>
              <a:latin typeface="Calibri"/>
              <a:ea typeface="Calibri"/>
              <a:cs typeface="Calibri"/>
              <a:sym typeface="Calibri"/>
            </a:endParaRPr>
          </a:p>
        </p:txBody>
      </p:sp>
      <p:sp>
        <p:nvSpPr>
          <p:cNvPr id="290" name="Google Shape;290;p10"/>
          <p:cNvSpPr/>
          <p:nvPr/>
        </p:nvSpPr>
        <p:spPr>
          <a:xfrm>
            <a:off x="3420963" y="7177088"/>
            <a:ext cx="13735050" cy="3143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9A9CA4"/>
              </a:buClr>
              <a:buSzPts val="1800"/>
              <a:buFont typeface="Montserrat"/>
              <a:buNone/>
            </a:pPr>
            <a:r>
              <a:rPr b="1" lang="en-US" sz="1800">
                <a:solidFill>
                  <a:srgbClr val="9A9CA4"/>
                </a:solidFill>
                <a:latin typeface="Montserrat"/>
                <a:ea typeface="Montserrat"/>
                <a:cs typeface="Montserrat"/>
                <a:sym typeface="Montserrat"/>
              </a:rPr>
              <a:t>— WORKING DEFINITION</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5" name="Shape 295"/>
        <p:cNvGrpSpPr/>
        <p:nvPr/>
      </p:nvGrpSpPr>
      <p:grpSpPr>
        <a:xfrm>
          <a:off x="0" y="0"/>
          <a:ext cx="0" cy="0"/>
          <a:chOff x="0" y="0"/>
          <a:chExt cx="0" cy="0"/>
        </a:xfrm>
      </p:grpSpPr>
      <p:sp>
        <p:nvSpPr>
          <p:cNvPr id="296" name="Google Shape;296;p11"/>
          <p:cNvSpPr/>
          <p:nvPr/>
        </p:nvSpPr>
        <p:spPr>
          <a:xfrm>
            <a:off x="952500" y="952500"/>
            <a:ext cx="16874490"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950"/>
              <a:buFont typeface="Montserrat"/>
              <a:buNone/>
            </a:pPr>
            <a:r>
              <a:rPr b="1" lang="en-US" sz="1950">
                <a:solidFill>
                  <a:srgbClr val="F58220"/>
                </a:solidFill>
                <a:latin typeface="Montserrat"/>
                <a:ea typeface="Montserrat"/>
                <a:cs typeface="Montserrat"/>
                <a:sym typeface="Montserrat"/>
              </a:rPr>
              <a:t>THE MENTAL MODEL</a:t>
            </a:r>
            <a:endParaRPr sz="1950">
              <a:solidFill>
                <a:schemeClr val="dk1"/>
              </a:solidFill>
              <a:latin typeface="Calibri"/>
              <a:ea typeface="Calibri"/>
              <a:cs typeface="Calibri"/>
              <a:sym typeface="Calibri"/>
            </a:endParaRPr>
          </a:p>
        </p:txBody>
      </p:sp>
      <p:sp>
        <p:nvSpPr>
          <p:cNvPr id="297" name="Google Shape;297;p11"/>
          <p:cNvSpPr/>
          <p:nvPr/>
        </p:nvSpPr>
        <p:spPr>
          <a:xfrm>
            <a:off x="952500" y="1447800"/>
            <a:ext cx="16874490" cy="798165"/>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2A2D38"/>
              </a:buClr>
              <a:buSzPts val="5700"/>
              <a:buFont typeface="Montserrat"/>
              <a:buNone/>
            </a:pPr>
            <a:r>
              <a:rPr b="1" lang="en-US" sz="5700">
                <a:solidFill>
                  <a:srgbClr val="2A2D38"/>
                </a:solidFill>
                <a:latin typeface="Montserrat"/>
                <a:ea typeface="Montserrat"/>
                <a:cs typeface="Montserrat"/>
                <a:sym typeface="Montserrat"/>
              </a:rPr>
              <a:t>Four pillars of context.</a:t>
            </a:r>
            <a:endParaRPr sz="5700">
              <a:solidFill>
                <a:schemeClr val="dk1"/>
              </a:solidFill>
              <a:latin typeface="Calibri"/>
              <a:ea typeface="Calibri"/>
              <a:cs typeface="Calibri"/>
              <a:sym typeface="Calibri"/>
            </a:endParaRPr>
          </a:p>
        </p:txBody>
      </p:sp>
      <p:sp>
        <p:nvSpPr>
          <p:cNvPr id="298" name="Google Shape;298;p11"/>
          <p:cNvSpPr/>
          <p:nvPr/>
        </p:nvSpPr>
        <p:spPr>
          <a:xfrm>
            <a:off x="952500" y="2398365"/>
            <a:ext cx="13735050" cy="491430"/>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6B6E78"/>
              </a:buClr>
              <a:buSzPts val="2550"/>
              <a:buFont typeface="Inter"/>
              <a:buNone/>
            </a:pPr>
            <a:r>
              <a:rPr lang="en-US" sz="2550">
                <a:solidFill>
                  <a:srgbClr val="6B6E78"/>
                </a:solidFill>
                <a:latin typeface="Inter"/>
                <a:ea typeface="Inter"/>
                <a:cs typeface="Inter"/>
                <a:sym typeface="Inter"/>
              </a:rPr>
              <a:t>Every prompt that works has all four. Every prompt that fails is missing one.</a:t>
            </a:r>
            <a:endParaRPr sz="2550">
              <a:solidFill>
                <a:schemeClr val="dk1"/>
              </a:solidFill>
              <a:latin typeface="Calibri"/>
              <a:ea typeface="Calibri"/>
              <a:cs typeface="Calibri"/>
              <a:sym typeface="Calibri"/>
            </a:endParaRPr>
          </a:p>
        </p:txBody>
      </p:sp>
      <p:sp>
        <p:nvSpPr>
          <p:cNvPr id="299" name="Google Shape;299;p11"/>
          <p:cNvSpPr/>
          <p:nvPr/>
        </p:nvSpPr>
        <p:spPr>
          <a:xfrm>
            <a:off x="952500" y="3499396"/>
            <a:ext cx="3895725" cy="6305550"/>
          </a:xfrm>
          <a:prstGeom prst="roundRect">
            <a:avLst>
              <a:gd fmla="val 3912" name="adj"/>
            </a:avLst>
          </a:prstGeom>
          <a:solidFill>
            <a:srgbClr val="F7F5F1"/>
          </a:solidFill>
          <a:ln cap="flat" cmpd="sng" w="9525">
            <a:solidFill>
              <a:srgbClr val="E5E5E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0" name="Google Shape;300;p11"/>
          <p:cNvSpPr/>
          <p:nvPr/>
        </p:nvSpPr>
        <p:spPr>
          <a:xfrm>
            <a:off x="1266825" y="3851821"/>
            <a:ext cx="3365087"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01 / INSTRUCTIONS</a:t>
            </a:r>
            <a:endParaRPr sz="1800">
              <a:solidFill>
                <a:schemeClr val="dk1"/>
              </a:solidFill>
              <a:latin typeface="Calibri"/>
              <a:ea typeface="Calibri"/>
              <a:cs typeface="Calibri"/>
              <a:sym typeface="Calibri"/>
            </a:endParaRPr>
          </a:p>
        </p:txBody>
      </p:sp>
      <p:sp>
        <p:nvSpPr>
          <p:cNvPr id="301" name="Google Shape;301;p11"/>
          <p:cNvSpPr/>
          <p:nvPr/>
        </p:nvSpPr>
        <p:spPr>
          <a:xfrm>
            <a:off x="1266825" y="4337596"/>
            <a:ext cx="3365087" cy="457200"/>
          </a:xfrm>
          <a:prstGeom prst="rect">
            <a:avLst/>
          </a:prstGeom>
          <a:noFill/>
          <a:ln>
            <a:noFill/>
          </a:ln>
        </p:spPr>
        <p:txBody>
          <a:bodyPr anchorCtr="0" anchor="t" bIns="25400" lIns="25400" spcFirstLastPara="1" rIns="25400" wrap="square" tIns="25400">
            <a:normAutofit/>
          </a:bodyPr>
          <a:lstStyle/>
          <a:p>
            <a:pPr indent="0" lvl="0" marL="0" marR="0" rtl="0" algn="l">
              <a:lnSpc>
                <a:spcPct val="100000"/>
              </a:lnSpc>
              <a:spcBef>
                <a:spcPts val="0"/>
              </a:spcBef>
              <a:spcAft>
                <a:spcPts val="0"/>
              </a:spcAft>
              <a:buClr>
                <a:srgbClr val="2A2D38"/>
              </a:buClr>
              <a:buSzPts val="3300"/>
              <a:buFont typeface="Montserrat"/>
              <a:buNone/>
            </a:pPr>
            <a:r>
              <a:rPr b="1" lang="en-US" sz="3300">
                <a:solidFill>
                  <a:srgbClr val="2A2D38"/>
                </a:solidFill>
                <a:latin typeface="Montserrat"/>
                <a:ea typeface="Montserrat"/>
                <a:cs typeface="Montserrat"/>
                <a:sym typeface="Montserrat"/>
              </a:rPr>
              <a:t>Who &amp; what.</a:t>
            </a:r>
            <a:endParaRPr sz="3300">
              <a:solidFill>
                <a:schemeClr val="dk1"/>
              </a:solidFill>
              <a:latin typeface="Calibri"/>
              <a:ea typeface="Calibri"/>
              <a:cs typeface="Calibri"/>
              <a:sym typeface="Calibri"/>
            </a:endParaRPr>
          </a:p>
        </p:txBody>
      </p:sp>
      <p:sp>
        <p:nvSpPr>
          <p:cNvPr id="302" name="Google Shape;302;p11"/>
          <p:cNvSpPr/>
          <p:nvPr/>
        </p:nvSpPr>
        <p:spPr>
          <a:xfrm>
            <a:off x="1266825" y="4947196"/>
            <a:ext cx="3365087" cy="14097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3D404A"/>
              </a:buClr>
              <a:buSzPts val="1800"/>
              <a:buFont typeface="Inter"/>
              <a:buNone/>
            </a:pPr>
            <a:r>
              <a:rPr lang="en-US" sz="1800">
                <a:solidFill>
                  <a:srgbClr val="3D404A"/>
                </a:solidFill>
                <a:latin typeface="Inter"/>
                <a:ea typeface="Inter"/>
                <a:cs typeface="Inter"/>
                <a:sym typeface="Inter"/>
              </a:rPr>
              <a:t>The role, the goal, the constraints. The standing orders the model follows for every turn.</a:t>
            </a:r>
            <a:endParaRPr sz="1800">
              <a:solidFill>
                <a:schemeClr val="dk1"/>
              </a:solidFill>
              <a:latin typeface="Calibri"/>
              <a:ea typeface="Calibri"/>
              <a:cs typeface="Calibri"/>
              <a:sym typeface="Calibri"/>
            </a:endParaRPr>
          </a:p>
        </p:txBody>
      </p:sp>
      <p:sp>
        <p:nvSpPr>
          <p:cNvPr id="303" name="Google Shape;303;p11"/>
          <p:cNvSpPr/>
          <p:nvPr/>
        </p:nvSpPr>
        <p:spPr>
          <a:xfrm>
            <a:off x="1266825" y="7271296"/>
            <a:ext cx="3267075" cy="9525"/>
          </a:xfrm>
          <a:prstGeom prst="rect">
            <a:avLst/>
          </a:prstGeom>
          <a:solidFill>
            <a:srgbClr val="C9CB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4" name="Google Shape;304;p11"/>
          <p:cNvSpPr/>
          <p:nvPr/>
        </p:nvSpPr>
        <p:spPr>
          <a:xfrm>
            <a:off x="1266825" y="7509421"/>
            <a:ext cx="3365087" cy="17526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6B6E78"/>
              </a:buClr>
              <a:buSzPts val="1800"/>
              <a:buFont typeface="JetBrains Mono"/>
              <a:buNone/>
            </a:pPr>
            <a:r>
              <a:rPr b="1" lang="en-US" sz="1800">
                <a:solidFill>
                  <a:srgbClr val="6B6E78"/>
                </a:solidFill>
                <a:latin typeface="JetBrains Mono"/>
                <a:ea typeface="JetBrains Mono"/>
                <a:cs typeface="JetBrains Mono"/>
                <a:sym typeface="JetBrains Mono"/>
              </a:rPr>
              <a:t>Example: </a:t>
            </a:r>
            <a:r>
              <a:rPr lang="en-US" sz="1800">
                <a:solidFill>
                  <a:srgbClr val="6B6E78"/>
                </a:solidFill>
                <a:latin typeface="JetBrains Mono"/>
                <a:ea typeface="JetBrains Mono"/>
                <a:cs typeface="JetBrains Mono"/>
                <a:sym typeface="JetBrains Mono"/>
              </a:rPr>
              <a:t>"You are an editor for a small church newsletter. Keep it warm, short, and never preachy."</a:t>
            </a:r>
            <a:endParaRPr sz="1800">
              <a:solidFill>
                <a:schemeClr val="dk1"/>
              </a:solidFill>
              <a:latin typeface="Calibri"/>
              <a:ea typeface="Calibri"/>
              <a:cs typeface="Calibri"/>
              <a:sym typeface="Calibri"/>
            </a:endParaRPr>
          </a:p>
        </p:txBody>
      </p:sp>
      <p:sp>
        <p:nvSpPr>
          <p:cNvPr id="305" name="Google Shape;305;p11"/>
          <p:cNvSpPr/>
          <p:nvPr/>
        </p:nvSpPr>
        <p:spPr>
          <a:xfrm>
            <a:off x="5114925" y="3499396"/>
            <a:ext cx="3895725" cy="6305550"/>
          </a:xfrm>
          <a:prstGeom prst="roundRect">
            <a:avLst>
              <a:gd fmla="val 3912" name="adj"/>
            </a:avLst>
          </a:prstGeom>
          <a:solidFill>
            <a:srgbClr val="F7F5F1"/>
          </a:solidFill>
          <a:ln cap="flat" cmpd="sng" w="9525">
            <a:solidFill>
              <a:srgbClr val="E5E5E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6" name="Google Shape;306;p11"/>
          <p:cNvSpPr/>
          <p:nvPr/>
        </p:nvSpPr>
        <p:spPr>
          <a:xfrm>
            <a:off x="5429250" y="3851821"/>
            <a:ext cx="3365087"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02 / KNOWLEDGE</a:t>
            </a:r>
            <a:endParaRPr sz="1800">
              <a:solidFill>
                <a:schemeClr val="dk1"/>
              </a:solidFill>
              <a:latin typeface="Calibri"/>
              <a:ea typeface="Calibri"/>
              <a:cs typeface="Calibri"/>
              <a:sym typeface="Calibri"/>
            </a:endParaRPr>
          </a:p>
        </p:txBody>
      </p:sp>
      <p:sp>
        <p:nvSpPr>
          <p:cNvPr id="307" name="Google Shape;307;p11"/>
          <p:cNvSpPr/>
          <p:nvPr/>
        </p:nvSpPr>
        <p:spPr>
          <a:xfrm>
            <a:off x="5429250" y="4337596"/>
            <a:ext cx="3365087" cy="457200"/>
          </a:xfrm>
          <a:prstGeom prst="rect">
            <a:avLst/>
          </a:prstGeom>
          <a:noFill/>
          <a:ln>
            <a:noFill/>
          </a:ln>
        </p:spPr>
        <p:txBody>
          <a:bodyPr anchorCtr="0" anchor="t" bIns="25400" lIns="25400" spcFirstLastPara="1" rIns="25400" wrap="square" tIns="25400">
            <a:normAutofit/>
          </a:bodyPr>
          <a:lstStyle/>
          <a:p>
            <a:pPr indent="0" lvl="0" marL="0" marR="0" rtl="0" algn="l">
              <a:lnSpc>
                <a:spcPct val="100000"/>
              </a:lnSpc>
              <a:spcBef>
                <a:spcPts val="0"/>
              </a:spcBef>
              <a:spcAft>
                <a:spcPts val="0"/>
              </a:spcAft>
              <a:buClr>
                <a:srgbClr val="2A2D38"/>
              </a:buClr>
              <a:buSzPts val="3300"/>
              <a:buFont typeface="Montserrat"/>
              <a:buNone/>
            </a:pPr>
            <a:r>
              <a:rPr b="1" lang="en-US" sz="3300">
                <a:solidFill>
                  <a:srgbClr val="2A2D38"/>
                </a:solidFill>
                <a:latin typeface="Montserrat"/>
                <a:ea typeface="Montserrat"/>
                <a:cs typeface="Montserrat"/>
                <a:sym typeface="Montserrat"/>
              </a:rPr>
              <a:t>Facts in front.</a:t>
            </a:r>
            <a:endParaRPr sz="3300">
              <a:solidFill>
                <a:schemeClr val="dk1"/>
              </a:solidFill>
              <a:latin typeface="Calibri"/>
              <a:ea typeface="Calibri"/>
              <a:cs typeface="Calibri"/>
              <a:sym typeface="Calibri"/>
            </a:endParaRPr>
          </a:p>
        </p:txBody>
      </p:sp>
      <p:sp>
        <p:nvSpPr>
          <p:cNvPr id="308" name="Google Shape;308;p11"/>
          <p:cNvSpPr/>
          <p:nvPr/>
        </p:nvSpPr>
        <p:spPr>
          <a:xfrm>
            <a:off x="5429250" y="4947196"/>
            <a:ext cx="3365087" cy="14097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3D404A"/>
              </a:buClr>
              <a:buSzPts val="1800"/>
              <a:buFont typeface="Inter"/>
              <a:buNone/>
            </a:pPr>
            <a:r>
              <a:rPr lang="en-US" sz="1800">
                <a:solidFill>
                  <a:srgbClr val="3D404A"/>
                </a:solidFill>
                <a:latin typeface="Inter"/>
                <a:ea typeface="Inter"/>
                <a:cs typeface="Inter"/>
                <a:sym typeface="Inter"/>
              </a:rPr>
              <a:t>The documents, data, transcripts, and notes the model needs to reason from — not from memory.</a:t>
            </a:r>
            <a:endParaRPr sz="1800">
              <a:solidFill>
                <a:schemeClr val="dk1"/>
              </a:solidFill>
              <a:latin typeface="Calibri"/>
              <a:ea typeface="Calibri"/>
              <a:cs typeface="Calibri"/>
              <a:sym typeface="Calibri"/>
            </a:endParaRPr>
          </a:p>
        </p:txBody>
      </p:sp>
      <p:sp>
        <p:nvSpPr>
          <p:cNvPr id="309" name="Google Shape;309;p11"/>
          <p:cNvSpPr/>
          <p:nvPr/>
        </p:nvSpPr>
        <p:spPr>
          <a:xfrm>
            <a:off x="5429250" y="7614196"/>
            <a:ext cx="3267075" cy="9525"/>
          </a:xfrm>
          <a:prstGeom prst="rect">
            <a:avLst/>
          </a:prstGeom>
          <a:solidFill>
            <a:srgbClr val="C9CB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0" name="Google Shape;310;p11"/>
          <p:cNvSpPr/>
          <p:nvPr/>
        </p:nvSpPr>
        <p:spPr>
          <a:xfrm>
            <a:off x="5429250" y="7852321"/>
            <a:ext cx="3365087" cy="14097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6B6E78"/>
              </a:buClr>
              <a:buSzPts val="1800"/>
              <a:buFont typeface="JetBrains Mono"/>
              <a:buNone/>
            </a:pPr>
            <a:r>
              <a:rPr b="1" lang="en-US" sz="1800">
                <a:solidFill>
                  <a:srgbClr val="6B6E78"/>
                </a:solidFill>
                <a:latin typeface="JetBrains Mono"/>
                <a:ea typeface="JetBrains Mono"/>
                <a:cs typeface="JetBrains Mono"/>
                <a:sym typeface="JetBrains Mono"/>
              </a:rPr>
              <a:t>Example: </a:t>
            </a:r>
            <a:r>
              <a:rPr lang="en-US" sz="1800">
                <a:solidFill>
                  <a:srgbClr val="6B6E78"/>
                </a:solidFill>
                <a:latin typeface="JetBrains Mono"/>
                <a:ea typeface="JetBrains Mono"/>
                <a:cs typeface="JetBrains Mono"/>
                <a:sym typeface="JetBrains Mono"/>
              </a:rPr>
              <a:t>Last 4 sermons, the church mission statement, the volunteer policy doc.</a:t>
            </a:r>
            <a:endParaRPr sz="1800">
              <a:solidFill>
                <a:schemeClr val="dk1"/>
              </a:solidFill>
              <a:latin typeface="Calibri"/>
              <a:ea typeface="Calibri"/>
              <a:cs typeface="Calibri"/>
              <a:sym typeface="Calibri"/>
            </a:endParaRPr>
          </a:p>
        </p:txBody>
      </p:sp>
      <p:sp>
        <p:nvSpPr>
          <p:cNvPr id="311" name="Google Shape;311;p11"/>
          <p:cNvSpPr/>
          <p:nvPr/>
        </p:nvSpPr>
        <p:spPr>
          <a:xfrm>
            <a:off x="9277350" y="3499396"/>
            <a:ext cx="3895725" cy="6305550"/>
          </a:xfrm>
          <a:prstGeom prst="roundRect">
            <a:avLst>
              <a:gd fmla="val 3912" name="adj"/>
            </a:avLst>
          </a:prstGeom>
          <a:solidFill>
            <a:srgbClr val="F7F5F1"/>
          </a:solidFill>
          <a:ln cap="flat" cmpd="sng" w="9525">
            <a:solidFill>
              <a:srgbClr val="E5E5E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2" name="Google Shape;312;p11"/>
          <p:cNvSpPr/>
          <p:nvPr/>
        </p:nvSpPr>
        <p:spPr>
          <a:xfrm>
            <a:off x="9591675" y="3851821"/>
            <a:ext cx="3365087"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03 / TOOLS</a:t>
            </a:r>
            <a:endParaRPr sz="1800">
              <a:solidFill>
                <a:schemeClr val="dk1"/>
              </a:solidFill>
              <a:latin typeface="Calibri"/>
              <a:ea typeface="Calibri"/>
              <a:cs typeface="Calibri"/>
              <a:sym typeface="Calibri"/>
            </a:endParaRPr>
          </a:p>
        </p:txBody>
      </p:sp>
      <p:sp>
        <p:nvSpPr>
          <p:cNvPr id="313" name="Google Shape;313;p11"/>
          <p:cNvSpPr/>
          <p:nvPr/>
        </p:nvSpPr>
        <p:spPr>
          <a:xfrm>
            <a:off x="9591675" y="4337596"/>
            <a:ext cx="3365087" cy="876300"/>
          </a:xfrm>
          <a:prstGeom prst="rect">
            <a:avLst/>
          </a:prstGeom>
          <a:noFill/>
          <a:ln>
            <a:noFill/>
          </a:ln>
        </p:spPr>
        <p:txBody>
          <a:bodyPr anchorCtr="0" anchor="t" bIns="25400" lIns="25400" spcFirstLastPara="1" rIns="25400" wrap="square" tIns="25400">
            <a:normAutofit/>
          </a:bodyPr>
          <a:lstStyle/>
          <a:p>
            <a:pPr indent="0" lvl="0" marL="0" marR="0" rtl="0" algn="l">
              <a:lnSpc>
                <a:spcPct val="100000"/>
              </a:lnSpc>
              <a:spcBef>
                <a:spcPts val="0"/>
              </a:spcBef>
              <a:spcAft>
                <a:spcPts val="0"/>
              </a:spcAft>
              <a:buClr>
                <a:srgbClr val="2A2D38"/>
              </a:buClr>
              <a:buSzPts val="3300"/>
              <a:buFont typeface="Montserrat"/>
              <a:buNone/>
            </a:pPr>
            <a:r>
              <a:rPr b="1" lang="en-US" sz="3300">
                <a:solidFill>
                  <a:srgbClr val="2A2D38"/>
                </a:solidFill>
                <a:latin typeface="Montserrat"/>
                <a:ea typeface="Montserrat"/>
                <a:cs typeface="Montserrat"/>
                <a:sym typeface="Montserrat"/>
              </a:rPr>
              <a:t>What it can do.</a:t>
            </a:r>
            <a:endParaRPr sz="3300">
              <a:solidFill>
                <a:schemeClr val="dk1"/>
              </a:solidFill>
              <a:latin typeface="Calibri"/>
              <a:ea typeface="Calibri"/>
              <a:cs typeface="Calibri"/>
              <a:sym typeface="Calibri"/>
            </a:endParaRPr>
          </a:p>
        </p:txBody>
      </p:sp>
      <p:sp>
        <p:nvSpPr>
          <p:cNvPr id="314" name="Google Shape;314;p11"/>
          <p:cNvSpPr/>
          <p:nvPr/>
        </p:nvSpPr>
        <p:spPr>
          <a:xfrm>
            <a:off x="9591675" y="5366296"/>
            <a:ext cx="3365087" cy="14097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3D404A"/>
              </a:buClr>
              <a:buSzPts val="1800"/>
              <a:buFont typeface="Inter"/>
              <a:buNone/>
            </a:pPr>
            <a:r>
              <a:rPr lang="en-US" sz="1800">
                <a:solidFill>
                  <a:srgbClr val="3D404A"/>
                </a:solidFill>
                <a:latin typeface="Inter"/>
                <a:ea typeface="Inter"/>
                <a:cs typeface="Inter"/>
                <a:sym typeface="Inter"/>
              </a:rPr>
              <a:t>Functions, search, file readers, calendars. The buttons the model can press to act on your behalf.</a:t>
            </a:r>
            <a:endParaRPr sz="1800">
              <a:solidFill>
                <a:schemeClr val="dk1"/>
              </a:solidFill>
              <a:latin typeface="Calibri"/>
              <a:ea typeface="Calibri"/>
              <a:cs typeface="Calibri"/>
              <a:sym typeface="Calibri"/>
            </a:endParaRPr>
          </a:p>
        </p:txBody>
      </p:sp>
      <p:sp>
        <p:nvSpPr>
          <p:cNvPr id="315" name="Google Shape;315;p11"/>
          <p:cNvSpPr/>
          <p:nvPr/>
        </p:nvSpPr>
        <p:spPr>
          <a:xfrm>
            <a:off x="9591675" y="7614196"/>
            <a:ext cx="3267075" cy="9525"/>
          </a:xfrm>
          <a:prstGeom prst="rect">
            <a:avLst/>
          </a:prstGeom>
          <a:solidFill>
            <a:srgbClr val="C9CB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6" name="Google Shape;316;p11"/>
          <p:cNvSpPr/>
          <p:nvPr/>
        </p:nvSpPr>
        <p:spPr>
          <a:xfrm>
            <a:off x="9591675" y="7852321"/>
            <a:ext cx="3365087" cy="14097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6B6E78"/>
              </a:buClr>
              <a:buSzPts val="1800"/>
              <a:buFont typeface="JetBrains Mono"/>
              <a:buNone/>
            </a:pPr>
            <a:r>
              <a:rPr b="1" lang="en-US" sz="1800">
                <a:solidFill>
                  <a:srgbClr val="6B6E78"/>
                </a:solidFill>
                <a:latin typeface="JetBrains Mono"/>
                <a:ea typeface="JetBrains Mono"/>
                <a:cs typeface="JetBrains Mono"/>
                <a:sym typeface="JetBrains Mono"/>
              </a:rPr>
              <a:t>Example: </a:t>
            </a:r>
            <a:r>
              <a:rPr lang="en-US" sz="1800">
                <a:solidFill>
                  <a:srgbClr val="6B6E78"/>
                </a:solidFill>
                <a:latin typeface="JetBrains Mono"/>
                <a:ea typeface="JetBrains Mono"/>
                <a:cs typeface="JetBrains Mono"/>
                <a:sym typeface="JetBrains Mono"/>
              </a:rPr>
              <a:t>Read the staff calendar, send a draft to email, look up giving totals.</a:t>
            </a:r>
            <a:endParaRPr sz="1800">
              <a:solidFill>
                <a:schemeClr val="dk1"/>
              </a:solidFill>
              <a:latin typeface="Calibri"/>
              <a:ea typeface="Calibri"/>
              <a:cs typeface="Calibri"/>
              <a:sym typeface="Calibri"/>
            </a:endParaRPr>
          </a:p>
        </p:txBody>
      </p:sp>
      <p:sp>
        <p:nvSpPr>
          <p:cNvPr id="317" name="Google Shape;317;p11"/>
          <p:cNvSpPr/>
          <p:nvPr/>
        </p:nvSpPr>
        <p:spPr>
          <a:xfrm>
            <a:off x="13439775" y="3499396"/>
            <a:ext cx="3895725" cy="6305550"/>
          </a:xfrm>
          <a:prstGeom prst="roundRect">
            <a:avLst>
              <a:gd fmla="val 3912" name="adj"/>
            </a:avLst>
          </a:prstGeom>
          <a:solidFill>
            <a:srgbClr val="F7F5F1"/>
          </a:solidFill>
          <a:ln cap="flat" cmpd="sng" w="9525">
            <a:solidFill>
              <a:srgbClr val="E5E5E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8" name="Google Shape;318;p11"/>
          <p:cNvSpPr/>
          <p:nvPr/>
        </p:nvSpPr>
        <p:spPr>
          <a:xfrm>
            <a:off x="13754100" y="3851821"/>
            <a:ext cx="3365087"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04 / MEMORY</a:t>
            </a:r>
            <a:endParaRPr sz="1800">
              <a:solidFill>
                <a:schemeClr val="dk1"/>
              </a:solidFill>
              <a:latin typeface="Calibri"/>
              <a:ea typeface="Calibri"/>
              <a:cs typeface="Calibri"/>
              <a:sym typeface="Calibri"/>
            </a:endParaRPr>
          </a:p>
        </p:txBody>
      </p:sp>
      <p:sp>
        <p:nvSpPr>
          <p:cNvPr id="319" name="Google Shape;319;p11"/>
          <p:cNvSpPr/>
          <p:nvPr/>
        </p:nvSpPr>
        <p:spPr>
          <a:xfrm>
            <a:off x="13754100" y="4337596"/>
            <a:ext cx="3365087" cy="876300"/>
          </a:xfrm>
          <a:prstGeom prst="rect">
            <a:avLst/>
          </a:prstGeom>
          <a:noFill/>
          <a:ln>
            <a:noFill/>
          </a:ln>
        </p:spPr>
        <p:txBody>
          <a:bodyPr anchorCtr="0" anchor="t" bIns="25400" lIns="25400" spcFirstLastPara="1" rIns="25400" wrap="square" tIns="25400">
            <a:normAutofit/>
          </a:bodyPr>
          <a:lstStyle/>
          <a:p>
            <a:pPr indent="0" lvl="0" marL="0" marR="0" rtl="0" algn="l">
              <a:lnSpc>
                <a:spcPct val="100000"/>
              </a:lnSpc>
              <a:spcBef>
                <a:spcPts val="0"/>
              </a:spcBef>
              <a:spcAft>
                <a:spcPts val="0"/>
              </a:spcAft>
              <a:buClr>
                <a:srgbClr val="2A2D38"/>
              </a:buClr>
              <a:buSzPts val="3300"/>
              <a:buFont typeface="Montserrat"/>
              <a:buNone/>
            </a:pPr>
            <a:r>
              <a:rPr b="1" lang="en-US" sz="3300">
                <a:solidFill>
                  <a:srgbClr val="2A2D38"/>
                </a:solidFill>
                <a:latin typeface="Montserrat"/>
                <a:ea typeface="Montserrat"/>
                <a:cs typeface="Montserrat"/>
                <a:sym typeface="Montserrat"/>
              </a:rPr>
              <a:t>What it remembers.</a:t>
            </a:r>
            <a:endParaRPr sz="3300">
              <a:solidFill>
                <a:schemeClr val="dk1"/>
              </a:solidFill>
              <a:latin typeface="Calibri"/>
              <a:ea typeface="Calibri"/>
              <a:cs typeface="Calibri"/>
              <a:sym typeface="Calibri"/>
            </a:endParaRPr>
          </a:p>
        </p:txBody>
      </p:sp>
      <p:sp>
        <p:nvSpPr>
          <p:cNvPr id="320" name="Google Shape;320;p11"/>
          <p:cNvSpPr/>
          <p:nvPr/>
        </p:nvSpPr>
        <p:spPr>
          <a:xfrm>
            <a:off x="13754100" y="5366296"/>
            <a:ext cx="3365087" cy="17526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3D404A"/>
              </a:buClr>
              <a:buSzPts val="1800"/>
              <a:buFont typeface="Inter"/>
              <a:buNone/>
            </a:pPr>
            <a:r>
              <a:rPr lang="en-US" sz="1800">
                <a:solidFill>
                  <a:srgbClr val="3D404A"/>
                </a:solidFill>
                <a:latin typeface="Inter"/>
                <a:ea typeface="Inter"/>
                <a:cs typeface="Inter"/>
                <a:sym typeface="Inter"/>
              </a:rPr>
              <a:t>Conversation history, prior decisions, user preferences. The thread that makes the next turn smarter than the last.</a:t>
            </a:r>
            <a:endParaRPr sz="1800">
              <a:solidFill>
                <a:schemeClr val="dk1"/>
              </a:solidFill>
              <a:latin typeface="Calibri"/>
              <a:ea typeface="Calibri"/>
              <a:cs typeface="Calibri"/>
              <a:sym typeface="Calibri"/>
            </a:endParaRPr>
          </a:p>
        </p:txBody>
      </p:sp>
      <p:sp>
        <p:nvSpPr>
          <p:cNvPr id="321" name="Google Shape;321;p11"/>
          <p:cNvSpPr/>
          <p:nvPr/>
        </p:nvSpPr>
        <p:spPr>
          <a:xfrm>
            <a:off x="13754100" y="7271296"/>
            <a:ext cx="3267075" cy="9525"/>
          </a:xfrm>
          <a:prstGeom prst="rect">
            <a:avLst/>
          </a:prstGeom>
          <a:solidFill>
            <a:srgbClr val="C9CB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2" name="Google Shape;322;p11"/>
          <p:cNvSpPr/>
          <p:nvPr/>
        </p:nvSpPr>
        <p:spPr>
          <a:xfrm>
            <a:off x="13754100" y="7509421"/>
            <a:ext cx="3365087" cy="17526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6B6E78"/>
              </a:buClr>
              <a:buSzPts val="1800"/>
              <a:buFont typeface="JetBrains Mono"/>
              <a:buNone/>
            </a:pPr>
            <a:r>
              <a:rPr b="1" lang="en-US" sz="1800">
                <a:solidFill>
                  <a:srgbClr val="6B6E78"/>
                </a:solidFill>
                <a:latin typeface="JetBrains Mono"/>
                <a:ea typeface="JetBrains Mono"/>
                <a:cs typeface="JetBrains Mono"/>
                <a:sym typeface="JetBrains Mono"/>
              </a:rPr>
              <a:t>Example: </a:t>
            </a:r>
            <a:r>
              <a:rPr lang="en-US" sz="1800">
                <a:solidFill>
                  <a:srgbClr val="6B6E78"/>
                </a:solidFill>
                <a:latin typeface="JetBrains Mono"/>
                <a:ea typeface="JetBrains Mono"/>
                <a:cs typeface="JetBrains Mono"/>
                <a:sym typeface="JetBrains Mono"/>
              </a:rPr>
              <a:t>"Pastor prefers ESV. Don't use exclamation points. Always include a verse reference."</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D24"/>
        </a:solidFill>
      </p:bgPr>
    </p:bg>
    <p:spTree>
      <p:nvGrpSpPr>
        <p:cNvPr id="327" name="Shape 327"/>
        <p:cNvGrpSpPr/>
        <p:nvPr/>
      </p:nvGrpSpPr>
      <p:grpSpPr>
        <a:xfrm>
          <a:off x="0" y="0"/>
          <a:ext cx="0" cy="0"/>
          <a:chOff x="0" y="0"/>
          <a:chExt cx="0" cy="0"/>
        </a:xfrm>
      </p:grpSpPr>
      <p:sp>
        <p:nvSpPr>
          <p:cNvPr id="328" name="Google Shape;328;p12"/>
          <p:cNvSpPr/>
          <p:nvPr/>
        </p:nvSpPr>
        <p:spPr>
          <a:xfrm>
            <a:off x="0" y="0"/>
            <a:ext cx="18288000" cy="10287000"/>
          </a:xfrm>
          <a:prstGeom prst="rect">
            <a:avLst/>
          </a:prstGeom>
          <a:solidFill>
            <a:srgbClr val="1B1D2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9" name="Google Shape;329;p12"/>
          <p:cNvSpPr/>
          <p:nvPr/>
        </p:nvSpPr>
        <p:spPr>
          <a:xfrm>
            <a:off x="4594324" y="3170932"/>
            <a:ext cx="9372179" cy="3905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2100"/>
              <a:buFont typeface="JetBrains Mono"/>
              <a:buNone/>
            </a:pPr>
            <a:r>
              <a:rPr lang="en-US" sz="2100">
                <a:solidFill>
                  <a:srgbClr val="3FE0D0"/>
                </a:solidFill>
                <a:latin typeface="JetBrains Mono"/>
                <a:ea typeface="JetBrains Mono"/>
                <a:cs typeface="JetBrains Mono"/>
                <a:sym typeface="JetBrains Mono"/>
              </a:rPr>
              <a:t>PART 02 / 06</a:t>
            </a:r>
            <a:endParaRPr sz="2100">
              <a:solidFill>
                <a:schemeClr val="dk1"/>
              </a:solidFill>
              <a:latin typeface="Calibri"/>
              <a:ea typeface="Calibri"/>
              <a:cs typeface="Calibri"/>
              <a:sym typeface="Calibri"/>
            </a:endParaRPr>
          </a:p>
        </p:txBody>
      </p:sp>
      <p:sp>
        <p:nvSpPr>
          <p:cNvPr id="330" name="Google Shape;330;p12"/>
          <p:cNvSpPr/>
          <p:nvPr/>
        </p:nvSpPr>
        <p:spPr>
          <a:xfrm>
            <a:off x="4594324" y="3904357"/>
            <a:ext cx="9372179" cy="2426791"/>
          </a:xfrm>
          <a:prstGeom prst="rect">
            <a:avLst/>
          </a:prstGeom>
          <a:noFill/>
          <a:ln>
            <a:noFill/>
          </a:ln>
        </p:spPr>
        <p:txBody>
          <a:bodyPr anchorCtr="0" anchor="t" bIns="25400" lIns="25400" spcFirstLastPara="1" rIns="25400" wrap="square" tIns="25400">
            <a:normAutofit/>
          </a:bodyPr>
          <a:lstStyle/>
          <a:p>
            <a:pPr indent="0" lvl="0" marL="0" marR="0" rtl="0" algn="l">
              <a:lnSpc>
                <a:spcPct val="95000"/>
              </a:lnSpc>
              <a:spcBef>
                <a:spcPts val="0"/>
              </a:spcBef>
              <a:spcAft>
                <a:spcPts val="0"/>
              </a:spcAft>
              <a:buClr>
                <a:srgbClr val="FFFFFF"/>
              </a:buClr>
              <a:buSzPts val="9900"/>
              <a:buFont typeface="Montserrat"/>
              <a:buNone/>
            </a:pPr>
            <a:r>
              <a:rPr b="1" lang="en-US" sz="9900">
                <a:solidFill>
                  <a:srgbClr val="FFFFFF"/>
                </a:solidFill>
                <a:latin typeface="Montserrat"/>
                <a:ea typeface="Montserrat"/>
                <a:cs typeface="Montserrat"/>
                <a:sym typeface="Montserrat"/>
              </a:rPr>
              <a:t>The four pillars.</a:t>
            </a:r>
            <a:endParaRPr sz="9900">
              <a:solidFill>
                <a:schemeClr val="dk1"/>
              </a:solidFill>
              <a:latin typeface="Calibri"/>
              <a:ea typeface="Calibri"/>
              <a:cs typeface="Calibri"/>
              <a:sym typeface="Calibri"/>
            </a:endParaRPr>
          </a:p>
        </p:txBody>
      </p:sp>
      <p:sp>
        <p:nvSpPr>
          <p:cNvPr id="331" name="Google Shape;331;p12"/>
          <p:cNvSpPr/>
          <p:nvPr/>
        </p:nvSpPr>
        <p:spPr>
          <a:xfrm>
            <a:off x="4594324" y="6674048"/>
            <a:ext cx="9372179" cy="479971"/>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C9CBD1"/>
              </a:buClr>
              <a:buSzPts val="2400"/>
              <a:buFont typeface="Inter"/>
              <a:buNone/>
            </a:pPr>
            <a:r>
              <a:rPr lang="en-US" sz="2400">
                <a:solidFill>
                  <a:srgbClr val="C9CBD1"/>
                </a:solidFill>
                <a:latin typeface="Inter"/>
                <a:ea typeface="Inter"/>
                <a:cs typeface="Inter"/>
                <a:sym typeface="Inter"/>
              </a:rPr>
              <a:t>Let's walk each one with a concrete example you can lift today.</a:t>
            </a:r>
            <a:endParaRPr sz="2400">
              <a:solidFill>
                <a:schemeClr val="dk1"/>
              </a:solidFill>
              <a:latin typeface="Calibri"/>
              <a:ea typeface="Calibri"/>
              <a:cs typeface="Calibri"/>
              <a:sym typeface="Calibri"/>
            </a:endParaRPr>
          </a:p>
        </p:txBody>
      </p:sp>
      <p:sp>
        <p:nvSpPr>
          <p:cNvPr id="332" name="Google Shape;332;p12"/>
          <p:cNvSpPr/>
          <p:nvPr/>
        </p:nvSpPr>
        <p:spPr>
          <a:xfrm>
            <a:off x="15031492" y="3643313"/>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3" name="Google Shape;333;p12"/>
          <p:cNvSpPr/>
          <p:nvPr/>
        </p:nvSpPr>
        <p:spPr>
          <a:xfrm>
            <a:off x="15279142" y="3552825"/>
            <a:ext cx="2222153"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01 · Why Context</a:t>
            </a:r>
            <a:endParaRPr sz="1800">
              <a:solidFill>
                <a:schemeClr val="dk1"/>
              </a:solidFill>
              <a:latin typeface="Calibri"/>
              <a:ea typeface="Calibri"/>
              <a:cs typeface="Calibri"/>
              <a:sym typeface="Calibri"/>
            </a:endParaRPr>
          </a:p>
        </p:txBody>
      </p:sp>
      <p:sp>
        <p:nvSpPr>
          <p:cNvPr id="334" name="Google Shape;334;p12"/>
          <p:cNvSpPr/>
          <p:nvPr/>
        </p:nvSpPr>
        <p:spPr>
          <a:xfrm>
            <a:off x="15031492" y="4224338"/>
            <a:ext cx="95250" cy="95250"/>
          </a:xfrm>
          <a:prstGeom prst="ellipse">
            <a:avLst/>
          </a:prstGeom>
          <a:solidFill>
            <a:srgbClr val="3FE0D0"/>
          </a:solidFill>
          <a:ln>
            <a:noFill/>
          </a:ln>
          <a:effectLst>
            <a:outerShdw blurRad="190500" rotWithShape="0" algn="bl" dir="16200000" dist="50800">
              <a:srgbClr val="3FE0D0"/>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5" name="Google Shape;335;p12"/>
          <p:cNvSpPr/>
          <p:nvPr/>
        </p:nvSpPr>
        <p:spPr>
          <a:xfrm>
            <a:off x="15279142" y="4133850"/>
            <a:ext cx="2069306"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3FE0D0"/>
              </a:buClr>
              <a:buSzPts val="1800"/>
              <a:buFont typeface="Montserrat"/>
              <a:buNone/>
            </a:pPr>
            <a:r>
              <a:rPr b="1" lang="en-US" sz="1800">
                <a:solidFill>
                  <a:srgbClr val="3FE0D0"/>
                </a:solidFill>
                <a:latin typeface="Montserrat"/>
                <a:ea typeface="Montserrat"/>
                <a:cs typeface="Montserrat"/>
                <a:sym typeface="Montserrat"/>
              </a:rPr>
              <a:t>02 · Four Pillars</a:t>
            </a:r>
            <a:endParaRPr sz="1800">
              <a:solidFill>
                <a:schemeClr val="dk1"/>
              </a:solidFill>
              <a:latin typeface="Calibri"/>
              <a:ea typeface="Calibri"/>
              <a:cs typeface="Calibri"/>
              <a:sym typeface="Calibri"/>
            </a:endParaRPr>
          </a:p>
        </p:txBody>
      </p:sp>
      <p:sp>
        <p:nvSpPr>
          <p:cNvPr id="336" name="Google Shape;336;p12"/>
          <p:cNvSpPr/>
          <p:nvPr/>
        </p:nvSpPr>
        <p:spPr>
          <a:xfrm>
            <a:off x="15031492" y="4805363"/>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7" name="Google Shape;337;p12"/>
          <p:cNvSpPr/>
          <p:nvPr/>
        </p:nvSpPr>
        <p:spPr>
          <a:xfrm>
            <a:off x="15279142" y="4714875"/>
            <a:ext cx="1765995"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03 · Anatomy</a:t>
            </a:r>
            <a:endParaRPr sz="1800">
              <a:solidFill>
                <a:schemeClr val="dk1"/>
              </a:solidFill>
              <a:latin typeface="Calibri"/>
              <a:ea typeface="Calibri"/>
              <a:cs typeface="Calibri"/>
              <a:sym typeface="Calibri"/>
            </a:endParaRPr>
          </a:p>
        </p:txBody>
      </p:sp>
      <p:sp>
        <p:nvSpPr>
          <p:cNvPr id="338" name="Google Shape;338;p12"/>
          <p:cNvSpPr/>
          <p:nvPr/>
        </p:nvSpPr>
        <p:spPr>
          <a:xfrm>
            <a:off x="15031492" y="5386388"/>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9" name="Google Shape;339;p12"/>
          <p:cNvSpPr/>
          <p:nvPr/>
        </p:nvSpPr>
        <p:spPr>
          <a:xfrm>
            <a:off x="15279142" y="5295900"/>
            <a:ext cx="2005310"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04 · Grounding</a:t>
            </a:r>
            <a:endParaRPr sz="1800">
              <a:solidFill>
                <a:schemeClr val="dk1"/>
              </a:solidFill>
              <a:latin typeface="Calibri"/>
              <a:ea typeface="Calibri"/>
              <a:cs typeface="Calibri"/>
              <a:sym typeface="Calibri"/>
            </a:endParaRPr>
          </a:p>
        </p:txBody>
      </p:sp>
      <p:sp>
        <p:nvSpPr>
          <p:cNvPr id="340" name="Google Shape;340;p12"/>
          <p:cNvSpPr/>
          <p:nvPr/>
        </p:nvSpPr>
        <p:spPr>
          <a:xfrm>
            <a:off x="15031492" y="5967413"/>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1" name="Google Shape;341;p12"/>
          <p:cNvSpPr/>
          <p:nvPr/>
        </p:nvSpPr>
        <p:spPr>
          <a:xfrm>
            <a:off x="15279142" y="5876925"/>
            <a:ext cx="1503015"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05 · Pitfalls</a:t>
            </a:r>
            <a:endParaRPr sz="1800">
              <a:solidFill>
                <a:schemeClr val="dk1"/>
              </a:solidFill>
              <a:latin typeface="Calibri"/>
              <a:ea typeface="Calibri"/>
              <a:cs typeface="Calibri"/>
              <a:sym typeface="Calibri"/>
            </a:endParaRPr>
          </a:p>
        </p:txBody>
      </p:sp>
      <p:sp>
        <p:nvSpPr>
          <p:cNvPr id="342" name="Google Shape;342;p12"/>
          <p:cNvSpPr/>
          <p:nvPr/>
        </p:nvSpPr>
        <p:spPr>
          <a:xfrm>
            <a:off x="15031492" y="6548438"/>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3" name="Google Shape;343;p12"/>
          <p:cNvSpPr/>
          <p:nvPr/>
        </p:nvSpPr>
        <p:spPr>
          <a:xfrm>
            <a:off x="15279142" y="6457950"/>
            <a:ext cx="2323058"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06 · Take It Home</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8" name="Shape 348"/>
        <p:cNvGrpSpPr/>
        <p:nvPr/>
      </p:nvGrpSpPr>
      <p:grpSpPr>
        <a:xfrm>
          <a:off x="0" y="0"/>
          <a:ext cx="0" cy="0"/>
          <a:chOff x="0" y="0"/>
          <a:chExt cx="0" cy="0"/>
        </a:xfrm>
      </p:grpSpPr>
      <p:sp>
        <p:nvSpPr>
          <p:cNvPr id="349" name="Google Shape;349;p13"/>
          <p:cNvSpPr/>
          <p:nvPr/>
        </p:nvSpPr>
        <p:spPr>
          <a:xfrm>
            <a:off x="952500" y="3525441"/>
            <a:ext cx="8044815" cy="3905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2100"/>
              <a:buFont typeface="JetBrains Mono"/>
              <a:buNone/>
            </a:pPr>
            <a:r>
              <a:rPr lang="en-US" sz="2100">
                <a:solidFill>
                  <a:srgbClr val="F58220"/>
                </a:solidFill>
                <a:latin typeface="JetBrains Mono"/>
                <a:ea typeface="JetBrains Mono"/>
                <a:cs typeface="JetBrains Mono"/>
                <a:sym typeface="JetBrains Mono"/>
              </a:rPr>
              <a:t>PILLAR 01 / 04</a:t>
            </a:r>
            <a:endParaRPr sz="2100">
              <a:solidFill>
                <a:schemeClr val="dk1"/>
              </a:solidFill>
              <a:latin typeface="Calibri"/>
              <a:ea typeface="Calibri"/>
              <a:cs typeface="Calibri"/>
              <a:sym typeface="Calibri"/>
            </a:endParaRPr>
          </a:p>
        </p:txBody>
      </p:sp>
      <p:sp>
        <p:nvSpPr>
          <p:cNvPr id="350" name="Google Shape;350;p13"/>
          <p:cNvSpPr/>
          <p:nvPr/>
        </p:nvSpPr>
        <p:spPr>
          <a:xfrm>
            <a:off x="952500" y="4144566"/>
            <a:ext cx="8044815" cy="1123950"/>
          </a:xfrm>
          <a:prstGeom prst="rect">
            <a:avLst/>
          </a:prstGeom>
          <a:noFill/>
          <a:ln>
            <a:noFill/>
          </a:ln>
        </p:spPr>
        <p:txBody>
          <a:bodyPr anchorCtr="0" anchor="t" bIns="25400" lIns="25400" spcFirstLastPara="1" rIns="25400" wrap="square" tIns="25400">
            <a:normAutofit/>
          </a:bodyPr>
          <a:lstStyle/>
          <a:p>
            <a:pPr indent="0" lvl="0" marL="0" marR="0" rtl="0" algn="l">
              <a:lnSpc>
                <a:spcPct val="95000"/>
              </a:lnSpc>
              <a:spcBef>
                <a:spcPts val="0"/>
              </a:spcBef>
              <a:spcAft>
                <a:spcPts val="0"/>
              </a:spcAft>
              <a:buClr>
                <a:srgbClr val="2A2D38"/>
              </a:buClr>
              <a:buSzPts val="9000"/>
              <a:buFont typeface="Montserrat"/>
              <a:buNone/>
            </a:pPr>
            <a:r>
              <a:rPr b="1" lang="en-US" sz="9000">
                <a:solidFill>
                  <a:srgbClr val="2A2D38"/>
                </a:solidFill>
                <a:latin typeface="Montserrat"/>
                <a:ea typeface="Montserrat"/>
                <a:cs typeface="Montserrat"/>
                <a:sym typeface="Montserrat"/>
              </a:rPr>
              <a:t>Instructions.</a:t>
            </a:r>
            <a:endParaRPr sz="9000">
              <a:solidFill>
                <a:schemeClr val="dk1"/>
              </a:solidFill>
              <a:latin typeface="Calibri"/>
              <a:ea typeface="Calibri"/>
              <a:cs typeface="Calibri"/>
              <a:sym typeface="Calibri"/>
            </a:endParaRPr>
          </a:p>
        </p:txBody>
      </p:sp>
      <p:sp>
        <p:nvSpPr>
          <p:cNvPr id="351" name="Google Shape;351;p13"/>
          <p:cNvSpPr/>
          <p:nvPr/>
        </p:nvSpPr>
        <p:spPr>
          <a:xfrm>
            <a:off x="952500" y="5497116"/>
            <a:ext cx="6867525" cy="1363712"/>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2400"/>
              <a:buFont typeface="Inter"/>
              <a:buNone/>
            </a:pPr>
            <a:r>
              <a:rPr lang="en-US" sz="2400">
                <a:solidFill>
                  <a:srgbClr val="6B6E78"/>
                </a:solidFill>
                <a:latin typeface="Inter"/>
                <a:ea typeface="Inter"/>
                <a:cs typeface="Inter"/>
                <a:sym typeface="Inter"/>
              </a:rPr>
              <a:t>The model's job description. Set once, applied to every reply. Where you describe </a:t>
            </a:r>
            <a:r>
              <a:rPr lang="en-US" sz="2400">
                <a:solidFill>
                  <a:srgbClr val="F58220"/>
                </a:solidFill>
                <a:latin typeface="Inter"/>
                <a:ea typeface="Inter"/>
                <a:cs typeface="Inter"/>
                <a:sym typeface="Inter"/>
              </a:rPr>
              <a:t>how </a:t>
            </a:r>
            <a:r>
              <a:rPr lang="en-US" sz="2400">
                <a:solidFill>
                  <a:srgbClr val="6B6E78"/>
                </a:solidFill>
                <a:latin typeface="Inter"/>
                <a:ea typeface="Inter"/>
                <a:cs typeface="Inter"/>
                <a:sym typeface="Inter"/>
              </a:rPr>
              <a:t>to think, not just </a:t>
            </a:r>
            <a:r>
              <a:rPr lang="en-US" sz="2400">
                <a:solidFill>
                  <a:srgbClr val="F58220"/>
                </a:solidFill>
                <a:latin typeface="Inter"/>
                <a:ea typeface="Inter"/>
                <a:cs typeface="Inter"/>
                <a:sym typeface="Inter"/>
              </a:rPr>
              <a:t>what </a:t>
            </a:r>
            <a:r>
              <a:rPr lang="en-US" sz="2400">
                <a:solidFill>
                  <a:srgbClr val="6B6E78"/>
                </a:solidFill>
                <a:latin typeface="Inter"/>
                <a:ea typeface="Inter"/>
                <a:cs typeface="Inter"/>
                <a:sym typeface="Inter"/>
              </a:rPr>
              <a:t>to do.</a:t>
            </a:r>
            <a:endParaRPr sz="2400">
              <a:solidFill>
                <a:schemeClr val="dk1"/>
              </a:solidFill>
              <a:latin typeface="Calibri"/>
              <a:ea typeface="Calibri"/>
              <a:cs typeface="Calibri"/>
              <a:sym typeface="Calibri"/>
            </a:endParaRPr>
          </a:p>
        </p:txBody>
      </p:sp>
      <p:sp>
        <p:nvSpPr>
          <p:cNvPr id="352" name="Google Shape;352;p13"/>
          <p:cNvSpPr/>
          <p:nvPr/>
        </p:nvSpPr>
        <p:spPr>
          <a:xfrm>
            <a:off x="765810" y="7165628"/>
            <a:ext cx="8073390" cy="1538883"/>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Role + audience + tone (one sentence each).</a:t>
            </a:r>
            <a:endParaRPr sz="2100">
              <a:solidFill>
                <a:schemeClr val="dk1"/>
              </a:solidFill>
              <a:latin typeface="Calibri"/>
              <a:ea typeface="Calibri"/>
              <a:cs typeface="Calibri"/>
              <a:sym typeface="Calibri"/>
            </a:endParaRPr>
          </a:p>
          <a:p>
            <a:pPr indent="0" lvl="0" marL="0" marR="0" rtl="0" algn="l">
              <a:lnSpc>
                <a:spcPct val="14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Hard rules (never do X, always include Y).</a:t>
            </a:r>
            <a:endParaRPr sz="2100">
              <a:solidFill>
                <a:schemeClr val="dk1"/>
              </a:solidFill>
              <a:latin typeface="Calibri"/>
              <a:ea typeface="Calibri"/>
              <a:cs typeface="Calibri"/>
              <a:sym typeface="Calibri"/>
            </a:endParaRPr>
          </a:p>
          <a:p>
            <a:pPr indent="0" lvl="0" marL="0" marR="0" rtl="0" algn="l">
              <a:lnSpc>
                <a:spcPct val="14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Default format when none is specified.</a:t>
            </a:r>
            <a:endParaRPr sz="2100">
              <a:solidFill>
                <a:schemeClr val="dk1"/>
              </a:solidFill>
              <a:latin typeface="Calibri"/>
              <a:ea typeface="Calibri"/>
              <a:cs typeface="Calibri"/>
              <a:sym typeface="Calibri"/>
            </a:endParaRPr>
          </a:p>
        </p:txBody>
      </p:sp>
      <p:sp>
        <p:nvSpPr>
          <p:cNvPr id="353" name="Google Shape;353;p13"/>
          <p:cNvSpPr/>
          <p:nvPr/>
        </p:nvSpPr>
        <p:spPr>
          <a:xfrm>
            <a:off x="9525000" y="3288209"/>
            <a:ext cx="7810500" cy="5615583"/>
          </a:xfrm>
          <a:prstGeom prst="roundRect">
            <a:avLst>
              <a:gd fmla="val 2714" name="adj"/>
            </a:avLst>
          </a:prstGeom>
          <a:solidFill>
            <a:srgbClr val="1B1D2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4" name="Google Shape;354;p13"/>
          <p:cNvSpPr/>
          <p:nvPr/>
        </p:nvSpPr>
        <p:spPr>
          <a:xfrm>
            <a:off x="9944100" y="3669209"/>
            <a:ext cx="7181469" cy="426690"/>
          </a:xfrm>
          <a:prstGeom prst="rect">
            <a:avLst/>
          </a:prstGeom>
          <a:noFill/>
          <a:ln>
            <a:noFill/>
          </a:ln>
        </p:spPr>
        <p:txBody>
          <a:bodyPr anchorCtr="0" anchor="t" bIns="25400" lIns="25400" spcFirstLastPara="1" rIns="25400" wrap="square" tIns="25400">
            <a:normAutofit/>
          </a:bodyPr>
          <a:lstStyle/>
          <a:p>
            <a:pPr indent="0" lvl="0" marL="0" marR="0" rtl="0" algn="l">
              <a:lnSpc>
                <a:spcPct val="170000"/>
              </a:lnSpc>
              <a:spcBef>
                <a:spcPts val="0"/>
              </a:spcBef>
              <a:spcAft>
                <a:spcPts val="0"/>
              </a:spcAft>
              <a:buClr>
                <a:srgbClr val="3FE0D0"/>
              </a:buClr>
              <a:buSzPts val="1800"/>
              <a:buFont typeface="Montserrat"/>
              <a:buNone/>
            </a:pPr>
            <a:r>
              <a:rPr b="1" lang="en-US" sz="1800">
                <a:solidFill>
                  <a:srgbClr val="3FE0D0"/>
                </a:solidFill>
                <a:latin typeface="Montserrat"/>
                <a:ea typeface="Montserrat"/>
                <a:cs typeface="Montserrat"/>
                <a:sym typeface="Montserrat"/>
              </a:rPr>
              <a:t>// SYSTEM PROMPT</a:t>
            </a:r>
            <a:endParaRPr sz="1800">
              <a:solidFill>
                <a:schemeClr val="dk1"/>
              </a:solidFill>
              <a:latin typeface="Calibri"/>
              <a:ea typeface="Calibri"/>
              <a:cs typeface="Calibri"/>
              <a:sym typeface="Calibri"/>
            </a:endParaRPr>
          </a:p>
        </p:txBody>
      </p:sp>
      <p:sp>
        <p:nvSpPr>
          <p:cNvPr id="355" name="Google Shape;355;p13"/>
          <p:cNvSpPr/>
          <p:nvPr/>
        </p:nvSpPr>
        <p:spPr>
          <a:xfrm>
            <a:off x="9944100" y="4248299"/>
            <a:ext cx="7181469" cy="4312593"/>
          </a:xfrm>
          <a:prstGeom prst="rect">
            <a:avLst/>
          </a:prstGeom>
          <a:noFill/>
          <a:ln>
            <a:noFill/>
          </a:ln>
        </p:spPr>
        <p:txBody>
          <a:bodyPr anchorCtr="0" anchor="t" bIns="25400" lIns="25400" spcFirstLastPara="1" rIns="25400" wrap="square" tIns="25400">
            <a:normAutofit/>
          </a:bodyPr>
          <a:lstStyle/>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You are </a:t>
            </a:r>
            <a:r>
              <a:rPr lang="en-US" sz="1800">
                <a:solidFill>
                  <a:srgbClr val="3FE0D0"/>
                </a:solidFill>
                <a:latin typeface="JetBrains Mono"/>
                <a:ea typeface="JetBrains Mono"/>
                <a:cs typeface="JetBrains Mono"/>
                <a:sym typeface="JetBrains Mono"/>
              </a:rPr>
              <a:t>an assistant editor </a:t>
            </a:r>
            <a:r>
              <a:rPr lang="en-US" sz="1800">
                <a:solidFill>
                  <a:srgbClr val="FFFFFF"/>
                </a:solidFill>
                <a:latin typeface="JetBrains Mono"/>
                <a:ea typeface="JetBrains Mono"/>
                <a:cs typeface="JetBrains Mono"/>
                <a:sym typeface="JetBrains Mono"/>
              </a:rPr>
              <a:t> for the communications team at a 1,200-attendee church.</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Audience:  </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busy church members ages 30–65 </a:t>
            </a:r>
            <a:r>
              <a:rPr lang="en-US" sz="1800">
                <a:solidFill>
                  <a:srgbClr val="FFFFFF"/>
                </a:solidFill>
                <a:latin typeface="JetBrains Mono"/>
                <a:ea typeface="JetBrains Mono"/>
                <a:cs typeface="JetBrains Mono"/>
                <a:sym typeface="JetBrains Mono"/>
              </a:rPr>
              <a:t>.</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Tone:  </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58220"/>
              </a:buClr>
              <a:buSzPts val="1800"/>
              <a:buFont typeface="JetBrains Mono"/>
              <a:buNone/>
            </a:pPr>
            <a:r>
              <a:rPr b="1" lang="en-US" sz="1800">
                <a:solidFill>
                  <a:srgbClr val="F58220"/>
                </a:solidFill>
                <a:latin typeface="JetBrains Mono"/>
                <a:ea typeface="JetBrains Mono"/>
                <a:cs typeface="JetBrains Mono"/>
                <a:sym typeface="JetBrains Mono"/>
              </a:rPr>
              <a:t>warm, plainspoken, never preachy </a:t>
            </a:r>
            <a:r>
              <a:rPr lang="en-US" sz="1800">
                <a:solidFill>
                  <a:srgbClr val="FFFFFF"/>
                </a:solidFill>
                <a:latin typeface="JetBrains Mono"/>
                <a:ea typeface="JetBrains Mono"/>
                <a:cs typeface="JetBrains Mono"/>
                <a:sym typeface="JetBrains Mono"/>
              </a:rPr>
              <a:t>.</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Rules:</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  </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58220"/>
              </a:buClr>
              <a:buSzPts val="1800"/>
              <a:buFont typeface="JetBrains Mono"/>
              <a:buNone/>
            </a:pPr>
            <a:r>
              <a:rPr b="1" lang="en-US" sz="1800">
                <a:solidFill>
                  <a:srgbClr val="F58220"/>
                </a:solidFill>
                <a:latin typeface="JetBrains Mono"/>
                <a:ea typeface="JetBrains Mono"/>
                <a:cs typeface="JetBrains Mono"/>
                <a:sym typeface="JetBrains Mono"/>
              </a:rPr>
              <a:t>Never </a:t>
            </a:r>
            <a:r>
              <a:rPr lang="en-US" sz="1800">
                <a:solidFill>
                  <a:srgbClr val="FFFFFF"/>
                </a:solidFill>
                <a:latin typeface="JetBrains Mono"/>
                <a:ea typeface="JetBrains Mono"/>
                <a:cs typeface="JetBrains Mono"/>
                <a:sym typeface="JetBrains Mono"/>
              </a:rPr>
              <a:t> use exclamation points.</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  </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58220"/>
              </a:buClr>
              <a:buSzPts val="1800"/>
              <a:buFont typeface="JetBrains Mono"/>
              <a:buNone/>
            </a:pPr>
            <a:r>
              <a:rPr b="1" lang="en-US" sz="1800">
                <a:solidFill>
                  <a:srgbClr val="F58220"/>
                </a:solidFill>
                <a:latin typeface="JetBrains Mono"/>
                <a:ea typeface="JetBrains Mono"/>
                <a:cs typeface="JetBrains Mono"/>
                <a:sym typeface="JetBrains Mono"/>
              </a:rPr>
              <a:t>Never </a:t>
            </a:r>
            <a:r>
              <a:rPr lang="en-US" sz="1800">
                <a:solidFill>
                  <a:srgbClr val="FFFFFF"/>
                </a:solidFill>
                <a:latin typeface="JetBrains Mono"/>
                <a:ea typeface="JetBrains Mono"/>
                <a:cs typeface="JetBrains Mono"/>
                <a:sym typeface="JetBrains Mono"/>
              </a:rPr>
              <a:t> invent verse references.</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 Keep paragraphs to 3 sentences max.</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 When unsure, ask one clarifying question.</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0" name="Shape 360"/>
        <p:cNvGrpSpPr/>
        <p:nvPr/>
      </p:nvGrpSpPr>
      <p:grpSpPr>
        <a:xfrm>
          <a:off x="0" y="0"/>
          <a:ext cx="0" cy="0"/>
          <a:chOff x="0" y="0"/>
          <a:chExt cx="0" cy="0"/>
        </a:xfrm>
      </p:grpSpPr>
      <p:sp>
        <p:nvSpPr>
          <p:cNvPr id="361" name="Google Shape;361;p14"/>
          <p:cNvSpPr/>
          <p:nvPr/>
        </p:nvSpPr>
        <p:spPr>
          <a:xfrm>
            <a:off x="952500" y="3525441"/>
            <a:ext cx="8044815" cy="3905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2100"/>
              <a:buFont typeface="JetBrains Mono"/>
              <a:buNone/>
            </a:pPr>
            <a:r>
              <a:rPr lang="en-US" sz="2100">
                <a:solidFill>
                  <a:srgbClr val="F58220"/>
                </a:solidFill>
                <a:latin typeface="JetBrains Mono"/>
                <a:ea typeface="JetBrains Mono"/>
                <a:cs typeface="JetBrains Mono"/>
                <a:sym typeface="JetBrains Mono"/>
              </a:rPr>
              <a:t>PILLAR 02 / 04</a:t>
            </a:r>
            <a:endParaRPr sz="2100">
              <a:solidFill>
                <a:schemeClr val="dk1"/>
              </a:solidFill>
              <a:latin typeface="Calibri"/>
              <a:ea typeface="Calibri"/>
              <a:cs typeface="Calibri"/>
              <a:sym typeface="Calibri"/>
            </a:endParaRPr>
          </a:p>
        </p:txBody>
      </p:sp>
      <p:sp>
        <p:nvSpPr>
          <p:cNvPr id="362" name="Google Shape;362;p14"/>
          <p:cNvSpPr/>
          <p:nvPr/>
        </p:nvSpPr>
        <p:spPr>
          <a:xfrm>
            <a:off x="952500" y="4144566"/>
            <a:ext cx="8044815" cy="1123950"/>
          </a:xfrm>
          <a:prstGeom prst="rect">
            <a:avLst/>
          </a:prstGeom>
          <a:noFill/>
          <a:ln>
            <a:noFill/>
          </a:ln>
        </p:spPr>
        <p:txBody>
          <a:bodyPr anchorCtr="0" anchor="t" bIns="25400" lIns="25400" spcFirstLastPara="1" rIns="25400" wrap="square" tIns="25400">
            <a:normAutofit/>
          </a:bodyPr>
          <a:lstStyle/>
          <a:p>
            <a:pPr indent="0" lvl="0" marL="0" marR="0" rtl="0" algn="l">
              <a:lnSpc>
                <a:spcPct val="95000"/>
              </a:lnSpc>
              <a:spcBef>
                <a:spcPts val="0"/>
              </a:spcBef>
              <a:spcAft>
                <a:spcPts val="0"/>
              </a:spcAft>
              <a:buClr>
                <a:srgbClr val="2A2D38"/>
              </a:buClr>
              <a:buSzPts val="9000"/>
              <a:buFont typeface="Montserrat"/>
              <a:buNone/>
            </a:pPr>
            <a:r>
              <a:rPr b="1" lang="en-US" sz="9000">
                <a:solidFill>
                  <a:srgbClr val="2A2D38"/>
                </a:solidFill>
                <a:latin typeface="Montserrat"/>
                <a:ea typeface="Montserrat"/>
                <a:cs typeface="Montserrat"/>
                <a:sym typeface="Montserrat"/>
              </a:rPr>
              <a:t>Knowledge.</a:t>
            </a:r>
            <a:endParaRPr sz="9000">
              <a:solidFill>
                <a:schemeClr val="dk1"/>
              </a:solidFill>
              <a:latin typeface="Calibri"/>
              <a:ea typeface="Calibri"/>
              <a:cs typeface="Calibri"/>
              <a:sym typeface="Calibri"/>
            </a:endParaRPr>
          </a:p>
        </p:txBody>
      </p:sp>
      <p:sp>
        <p:nvSpPr>
          <p:cNvPr id="363" name="Google Shape;363;p14"/>
          <p:cNvSpPr/>
          <p:nvPr/>
        </p:nvSpPr>
        <p:spPr>
          <a:xfrm>
            <a:off x="952500" y="5497116"/>
            <a:ext cx="6867525" cy="1363712"/>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2400"/>
              <a:buFont typeface="Inter"/>
              <a:buNone/>
            </a:pPr>
            <a:r>
              <a:rPr lang="en-US" sz="2400">
                <a:solidFill>
                  <a:srgbClr val="6B6E78"/>
                </a:solidFill>
                <a:latin typeface="Inter"/>
                <a:ea typeface="Inter"/>
                <a:cs typeface="Inter"/>
                <a:sym typeface="Inter"/>
              </a:rPr>
              <a:t>The documents the model reasons from. If you don't paste it in or attach it, the model doesn't know it — full stop.</a:t>
            </a:r>
            <a:endParaRPr sz="2400">
              <a:solidFill>
                <a:schemeClr val="dk1"/>
              </a:solidFill>
              <a:latin typeface="Calibri"/>
              <a:ea typeface="Calibri"/>
              <a:cs typeface="Calibri"/>
              <a:sym typeface="Calibri"/>
            </a:endParaRPr>
          </a:p>
        </p:txBody>
      </p:sp>
      <p:sp>
        <p:nvSpPr>
          <p:cNvPr id="364" name="Google Shape;364;p14"/>
          <p:cNvSpPr/>
          <p:nvPr/>
        </p:nvSpPr>
        <p:spPr>
          <a:xfrm>
            <a:off x="765810" y="7165628"/>
            <a:ext cx="8073390" cy="1538883"/>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Your church's actual writing — not a generic baseline.</a:t>
            </a:r>
            <a:endParaRPr sz="2100">
              <a:solidFill>
                <a:schemeClr val="dk1"/>
              </a:solidFill>
              <a:latin typeface="Calibri"/>
              <a:ea typeface="Calibri"/>
              <a:cs typeface="Calibri"/>
              <a:sym typeface="Calibri"/>
            </a:endParaRPr>
          </a:p>
          <a:p>
            <a:pPr indent="0" lvl="0" marL="0" marR="0" rtl="0" algn="l">
              <a:lnSpc>
                <a:spcPct val="14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Recent &amp; relevant beats large &amp; old.</a:t>
            </a:r>
            <a:endParaRPr sz="2100">
              <a:solidFill>
                <a:schemeClr val="dk1"/>
              </a:solidFill>
              <a:latin typeface="Calibri"/>
              <a:ea typeface="Calibri"/>
              <a:cs typeface="Calibri"/>
              <a:sym typeface="Calibri"/>
            </a:endParaRPr>
          </a:p>
          <a:p>
            <a:pPr indent="0" lvl="0" marL="0" marR="0" rtl="0" algn="l">
              <a:lnSpc>
                <a:spcPct val="14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Trim before you paste — signal over volume.</a:t>
            </a:r>
            <a:endParaRPr sz="2100">
              <a:solidFill>
                <a:schemeClr val="dk1"/>
              </a:solidFill>
              <a:latin typeface="Calibri"/>
              <a:ea typeface="Calibri"/>
              <a:cs typeface="Calibri"/>
              <a:sym typeface="Calibri"/>
            </a:endParaRPr>
          </a:p>
        </p:txBody>
      </p:sp>
      <p:sp>
        <p:nvSpPr>
          <p:cNvPr id="365" name="Google Shape;365;p14"/>
          <p:cNvSpPr/>
          <p:nvPr/>
        </p:nvSpPr>
        <p:spPr>
          <a:xfrm>
            <a:off x="9525000" y="3871020"/>
            <a:ext cx="7810500" cy="4449812"/>
          </a:xfrm>
          <a:prstGeom prst="roundRect">
            <a:avLst>
              <a:gd fmla="val 3425" name="adj"/>
            </a:avLst>
          </a:prstGeom>
          <a:solidFill>
            <a:srgbClr val="1B1D2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6" name="Google Shape;366;p14"/>
          <p:cNvSpPr/>
          <p:nvPr/>
        </p:nvSpPr>
        <p:spPr>
          <a:xfrm>
            <a:off x="9944100" y="4252020"/>
            <a:ext cx="7181469" cy="426690"/>
          </a:xfrm>
          <a:prstGeom prst="rect">
            <a:avLst/>
          </a:prstGeom>
          <a:noFill/>
          <a:ln>
            <a:noFill/>
          </a:ln>
        </p:spPr>
        <p:txBody>
          <a:bodyPr anchorCtr="0" anchor="t" bIns="25400" lIns="25400" spcFirstLastPara="1" rIns="25400" wrap="square" tIns="25400">
            <a:normAutofit/>
          </a:bodyPr>
          <a:lstStyle/>
          <a:p>
            <a:pPr indent="0" lvl="0" marL="0" marR="0" rtl="0" algn="l">
              <a:lnSpc>
                <a:spcPct val="170000"/>
              </a:lnSpc>
              <a:spcBef>
                <a:spcPts val="0"/>
              </a:spcBef>
              <a:spcAft>
                <a:spcPts val="0"/>
              </a:spcAft>
              <a:buClr>
                <a:srgbClr val="3FE0D0"/>
              </a:buClr>
              <a:buSzPts val="1800"/>
              <a:buFont typeface="Montserrat"/>
              <a:buNone/>
            </a:pPr>
            <a:r>
              <a:rPr b="1" lang="en-US" sz="1800">
                <a:solidFill>
                  <a:srgbClr val="3FE0D0"/>
                </a:solidFill>
                <a:latin typeface="Montserrat"/>
                <a:ea typeface="Montserrat"/>
                <a:cs typeface="Montserrat"/>
                <a:sym typeface="Montserrat"/>
              </a:rPr>
              <a:t>// ATTACHED FOR THIS TURN</a:t>
            </a:r>
            <a:endParaRPr sz="1800">
              <a:solidFill>
                <a:schemeClr val="dk1"/>
              </a:solidFill>
              <a:latin typeface="Calibri"/>
              <a:ea typeface="Calibri"/>
              <a:cs typeface="Calibri"/>
              <a:sym typeface="Calibri"/>
            </a:endParaRPr>
          </a:p>
        </p:txBody>
      </p:sp>
      <p:sp>
        <p:nvSpPr>
          <p:cNvPr id="367" name="Google Shape;367;p14"/>
          <p:cNvSpPr/>
          <p:nvPr/>
        </p:nvSpPr>
        <p:spPr>
          <a:xfrm>
            <a:off x="9944100" y="4831110"/>
            <a:ext cx="7181469" cy="3146822"/>
          </a:xfrm>
          <a:prstGeom prst="rect">
            <a:avLst/>
          </a:prstGeom>
          <a:noFill/>
          <a:ln>
            <a:noFill/>
          </a:ln>
        </p:spPr>
        <p:txBody>
          <a:bodyPr anchorCtr="0" anchor="t" bIns="25400" lIns="25400" spcFirstLastPara="1" rIns="25400" wrap="square" tIns="25400">
            <a:normAutofit/>
          </a:bodyPr>
          <a:lstStyle/>
          <a:p>
            <a:pPr indent="0" lvl="0" marL="0" marR="0" rtl="0" algn="l">
              <a:lnSpc>
                <a:spcPct val="170000"/>
              </a:lnSpc>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last_4_sermon_transcripts.txt</a:t>
            </a:r>
            <a:r>
              <a:rPr lang="en-US" sz="1800">
                <a:solidFill>
                  <a:srgbClr val="FFFFFF"/>
                </a:solidFill>
                <a:latin typeface="JetBrains Mono"/>
                <a:ea typeface="JetBrains Mono"/>
                <a:cs typeface="JetBrains Mono"/>
                <a:sym typeface="JetBrains Mono"/>
              </a:rPr>
              <a:t>        18,400 words </a:t>
            </a:r>
            <a:r>
              <a:rPr lang="en-US" sz="1800">
                <a:solidFill>
                  <a:srgbClr val="3FE0D0"/>
                </a:solidFill>
                <a:latin typeface="JetBrains Mono"/>
                <a:ea typeface="JetBrains Mono"/>
                <a:cs typeface="JetBrains Mono"/>
                <a:sym typeface="JetBrains Mono"/>
              </a:rPr>
              <a:t>mission_and_values.md</a:t>
            </a:r>
            <a:r>
              <a:rPr lang="en-US" sz="1800">
                <a:solidFill>
                  <a:srgbClr val="FFFFFF"/>
                </a:solidFill>
                <a:latin typeface="JetBrains Mono"/>
                <a:ea typeface="JetBrains Mono"/>
                <a:cs typeface="JetBrains Mono"/>
                <a:sym typeface="JetBrains Mono"/>
              </a:rPr>
              <a:t>                 420 words </a:t>
            </a:r>
            <a:r>
              <a:rPr lang="en-US" sz="1800">
                <a:solidFill>
                  <a:srgbClr val="3FE0D0"/>
                </a:solidFill>
                <a:latin typeface="JetBrains Mono"/>
                <a:ea typeface="JetBrains Mono"/>
                <a:cs typeface="JetBrains Mono"/>
                <a:sym typeface="JetBrains Mono"/>
              </a:rPr>
              <a:t>brand_voice_examples.md</a:t>
            </a:r>
            <a:r>
              <a:rPr lang="en-US" sz="1800">
                <a:solidFill>
                  <a:srgbClr val="FFFFFF"/>
                </a:solidFill>
                <a:latin typeface="JetBrains Mono"/>
                <a:ea typeface="JetBrains Mono"/>
                <a:cs typeface="JetBrains Mono"/>
                <a:sym typeface="JetBrains Mono"/>
              </a:rPr>
              <a:t>               380 words </a:t>
            </a:r>
            <a:r>
              <a:rPr lang="en-US" sz="1800">
                <a:solidFill>
                  <a:srgbClr val="3FE0D0"/>
                </a:solidFill>
                <a:latin typeface="JetBrains Mono"/>
                <a:ea typeface="JetBrains Mono"/>
                <a:cs typeface="JetBrains Mono"/>
                <a:sym typeface="JetBrains Mono"/>
              </a:rPr>
              <a:t>upcoming_events.csv </a:t>
            </a:r>
            <a:r>
              <a:rPr lang="en-US" sz="1800">
                <a:solidFill>
                  <a:srgbClr val="FFFFFF"/>
                </a:solidFill>
                <a:latin typeface="JetBrains Mono"/>
                <a:ea typeface="JetBrains Mono"/>
                <a:cs typeface="JetBrains Mono"/>
                <a:sym typeface="JetBrains Mono"/>
              </a:rPr>
              <a:t>                    12 rows</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Reference these  </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58220"/>
              </a:buClr>
              <a:buSzPts val="1800"/>
              <a:buFont typeface="JetBrains Mono"/>
              <a:buNone/>
            </a:pPr>
            <a:r>
              <a:rPr b="1" lang="en-US" sz="1800">
                <a:solidFill>
                  <a:srgbClr val="F58220"/>
                </a:solidFill>
                <a:latin typeface="JetBrains Mono"/>
                <a:ea typeface="JetBrains Mono"/>
                <a:cs typeface="JetBrains Mono"/>
                <a:sym typeface="JetBrains Mono"/>
              </a:rPr>
              <a:t>only </a:t>
            </a:r>
            <a:r>
              <a:rPr lang="en-US" sz="1800">
                <a:solidFill>
                  <a:srgbClr val="FFFFFF"/>
                </a:solidFill>
                <a:latin typeface="JetBrains Mono"/>
                <a:ea typeface="JetBrains Mono"/>
                <a:cs typeface="JetBrains Mono"/>
                <a:sym typeface="JetBrains Mono"/>
              </a:rPr>
              <a:t> when the user</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asks about church-specific content.</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Cite which file you used.</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2" name="Shape 372"/>
        <p:cNvGrpSpPr/>
        <p:nvPr/>
      </p:nvGrpSpPr>
      <p:grpSpPr>
        <a:xfrm>
          <a:off x="0" y="0"/>
          <a:ext cx="0" cy="0"/>
          <a:chOff x="0" y="0"/>
          <a:chExt cx="0" cy="0"/>
        </a:xfrm>
      </p:grpSpPr>
      <p:sp>
        <p:nvSpPr>
          <p:cNvPr id="373" name="Google Shape;373;p15"/>
          <p:cNvSpPr/>
          <p:nvPr/>
        </p:nvSpPr>
        <p:spPr>
          <a:xfrm>
            <a:off x="952500" y="3338810"/>
            <a:ext cx="8044815" cy="3905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2100"/>
              <a:buFont typeface="JetBrains Mono"/>
              <a:buNone/>
            </a:pPr>
            <a:r>
              <a:rPr lang="en-US" sz="2100">
                <a:solidFill>
                  <a:srgbClr val="F58220"/>
                </a:solidFill>
                <a:latin typeface="JetBrains Mono"/>
                <a:ea typeface="JetBrains Mono"/>
                <a:cs typeface="JetBrains Mono"/>
                <a:sym typeface="JetBrains Mono"/>
              </a:rPr>
              <a:t>PILLAR 03 / 04</a:t>
            </a:r>
            <a:endParaRPr sz="2100">
              <a:solidFill>
                <a:schemeClr val="dk1"/>
              </a:solidFill>
              <a:latin typeface="Calibri"/>
              <a:ea typeface="Calibri"/>
              <a:cs typeface="Calibri"/>
              <a:sym typeface="Calibri"/>
            </a:endParaRPr>
          </a:p>
        </p:txBody>
      </p:sp>
      <p:sp>
        <p:nvSpPr>
          <p:cNvPr id="374" name="Google Shape;374;p15"/>
          <p:cNvSpPr/>
          <p:nvPr/>
        </p:nvSpPr>
        <p:spPr>
          <a:xfrm>
            <a:off x="952500" y="3957935"/>
            <a:ext cx="8044815" cy="1123950"/>
          </a:xfrm>
          <a:prstGeom prst="rect">
            <a:avLst/>
          </a:prstGeom>
          <a:noFill/>
          <a:ln>
            <a:noFill/>
          </a:ln>
        </p:spPr>
        <p:txBody>
          <a:bodyPr anchorCtr="0" anchor="t" bIns="25400" lIns="25400" spcFirstLastPara="1" rIns="25400" wrap="square" tIns="25400">
            <a:normAutofit/>
          </a:bodyPr>
          <a:lstStyle/>
          <a:p>
            <a:pPr indent="0" lvl="0" marL="0" marR="0" rtl="0" algn="l">
              <a:lnSpc>
                <a:spcPct val="95000"/>
              </a:lnSpc>
              <a:spcBef>
                <a:spcPts val="0"/>
              </a:spcBef>
              <a:spcAft>
                <a:spcPts val="0"/>
              </a:spcAft>
              <a:buClr>
                <a:srgbClr val="2A2D38"/>
              </a:buClr>
              <a:buSzPts val="9000"/>
              <a:buFont typeface="Montserrat"/>
              <a:buNone/>
            </a:pPr>
            <a:r>
              <a:rPr b="1" lang="en-US" sz="9000">
                <a:solidFill>
                  <a:srgbClr val="2A2D38"/>
                </a:solidFill>
                <a:latin typeface="Montserrat"/>
                <a:ea typeface="Montserrat"/>
                <a:cs typeface="Montserrat"/>
                <a:sym typeface="Montserrat"/>
              </a:rPr>
              <a:t>Tools.</a:t>
            </a:r>
            <a:endParaRPr sz="9000">
              <a:solidFill>
                <a:schemeClr val="dk1"/>
              </a:solidFill>
              <a:latin typeface="Calibri"/>
              <a:ea typeface="Calibri"/>
              <a:cs typeface="Calibri"/>
              <a:sym typeface="Calibri"/>
            </a:endParaRPr>
          </a:p>
        </p:txBody>
      </p:sp>
      <p:sp>
        <p:nvSpPr>
          <p:cNvPr id="375" name="Google Shape;375;p15"/>
          <p:cNvSpPr/>
          <p:nvPr/>
        </p:nvSpPr>
        <p:spPr>
          <a:xfrm>
            <a:off x="952500" y="5310485"/>
            <a:ext cx="6867525" cy="1363712"/>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2400"/>
              <a:buFont typeface="Inter"/>
              <a:buNone/>
            </a:pPr>
            <a:r>
              <a:rPr lang="en-US" sz="2400">
                <a:solidFill>
                  <a:srgbClr val="6B6E78"/>
                </a:solidFill>
                <a:latin typeface="Inter"/>
                <a:ea typeface="Inter"/>
                <a:cs typeface="Inter"/>
                <a:sym typeface="Inter"/>
              </a:rPr>
              <a:t>The verbs available to the model. Each tool turns "the model talks" into "the model can </a:t>
            </a:r>
            <a:r>
              <a:rPr lang="en-US" sz="2400">
                <a:solidFill>
                  <a:srgbClr val="F58220"/>
                </a:solidFill>
                <a:latin typeface="Inter"/>
                <a:ea typeface="Inter"/>
                <a:cs typeface="Inter"/>
                <a:sym typeface="Inter"/>
              </a:rPr>
              <a:t>do</a:t>
            </a:r>
            <a:r>
              <a:rPr lang="en-US" sz="2400">
                <a:solidFill>
                  <a:srgbClr val="6B6E78"/>
                </a:solidFill>
                <a:latin typeface="Inter"/>
                <a:ea typeface="Inter"/>
                <a:cs typeface="Inter"/>
                <a:sym typeface="Inter"/>
              </a:rPr>
              <a:t>."</a:t>
            </a:r>
            <a:endParaRPr sz="2400">
              <a:solidFill>
                <a:schemeClr val="dk1"/>
              </a:solidFill>
              <a:latin typeface="Calibri"/>
              <a:ea typeface="Calibri"/>
              <a:cs typeface="Calibri"/>
              <a:sym typeface="Calibri"/>
            </a:endParaRPr>
          </a:p>
        </p:txBody>
      </p:sp>
      <p:sp>
        <p:nvSpPr>
          <p:cNvPr id="376" name="Google Shape;376;p15"/>
          <p:cNvSpPr/>
          <p:nvPr/>
        </p:nvSpPr>
        <p:spPr>
          <a:xfrm>
            <a:off x="765810" y="6978997"/>
            <a:ext cx="8073390" cy="1912144"/>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Start with read-only tools. Earn write access.</a:t>
            </a:r>
            <a:endParaRPr sz="2100">
              <a:solidFill>
                <a:schemeClr val="dk1"/>
              </a:solidFill>
              <a:latin typeface="Calibri"/>
              <a:ea typeface="Calibri"/>
              <a:cs typeface="Calibri"/>
              <a:sym typeface="Calibri"/>
            </a:endParaRPr>
          </a:p>
          <a:p>
            <a:pPr indent="0" lvl="0" marL="0" marR="0" rtl="0" algn="l">
              <a:lnSpc>
                <a:spcPct val="14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Name tools the way humans would — the model picks better.</a:t>
            </a:r>
            <a:endParaRPr sz="2100">
              <a:solidFill>
                <a:schemeClr val="dk1"/>
              </a:solidFill>
              <a:latin typeface="Calibri"/>
              <a:ea typeface="Calibri"/>
              <a:cs typeface="Calibri"/>
              <a:sym typeface="Calibri"/>
            </a:endParaRPr>
          </a:p>
          <a:p>
            <a:pPr indent="0" lvl="0" marL="0" marR="0" rtl="0" algn="l">
              <a:lnSpc>
                <a:spcPct val="14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Fewer good tools beat many vague ones.</a:t>
            </a:r>
            <a:endParaRPr sz="2100">
              <a:solidFill>
                <a:schemeClr val="dk1"/>
              </a:solidFill>
              <a:latin typeface="Calibri"/>
              <a:ea typeface="Calibri"/>
              <a:cs typeface="Calibri"/>
              <a:sym typeface="Calibri"/>
            </a:endParaRPr>
          </a:p>
        </p:txBody>
      </p:sp>
      <p:sp>
        <p:nvSpPr>
          <p:cNvPr id="377" name="Google Shape;377;p15"/>
          <p:cNvSpPr/>
          <p:nvPr/>
        </p:nvSpPr>
        <p:spPr>
          <a:xfrm>
            <a:off x="9525000" y="3871020"/>
            <a:ext cx="7810500" cy="4449812"/>
          </a:xfrm>
          <a:prstGeom prst="roundRect">
            <a:avLst>
              <a:gd fmla="val 3425" name="adj"/>
            </a:avLst>
          </a:prstGeom>
          <a:solidFill>
            <a:srgbClr val="1B1D2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8" name="Google Shape;378;p15"/>
          <p:cNvSpPr/>
          <p:nvPr/>
        </p:nvSpPr>
        <p:spPr>
          <a:xfrm>
            <a:off x="9944100" y="4252020"/>
            <a:ext cx="7181469" cy="426690"/>
          </a:xfrm>
          <a:prstGeom prst="rect">
            <a:avLst/>
          </a:prstGeom>
          <a:noFill/>
          <a:ln>
            <a:noFill/>
          </a:ln>
        </p:spPr>
        <p:txBody>
          <a:bodyPr anchorCtr="0" anchor="t" bIns="25400" lIns="25400" spcFirstLastPara="1" rIns="25400" wrap="square" tIns="25400">
            <a:normAutofit/>
          </a:bodyPr>
          <a:lstStyle/>
          <a:p>
            <a:pPr indent="0" lvl="0" marL="0" marR="0" rtl="0" algn="l">
              <a:lnSpc>
                <a:spcPct val="170000"/>
              </a:lnSpc>
              <a:spcBef>
                <a:spcPts val="0"/>
              </a:spcBef>
              <a:spcAft>
                <a:spcPts val="0"/>
              </a:spcAft>
              <a:buClr>
                <a:srgbClr val="3FE0D0"/>
              </a:buClr>
              <a:buSzPts val="1800"/>
              <a:buFont typeface="Montserrat"/>
              <a:buNone/>
            </a:pPr>
            <a:r>
              <a:rPr b="1" lang="en-US" sz="1800">
                <a:solidFill>
                  <a:srgbClr val="3FE0D0"/>
                </a:solidFill>
                <a:latin typeface="Montserrat"/>
                <a:ea typeface="Montserrat"/>
                <a:cs typeface="Montserrat"/>
                <a:sym typeface="Montserrat"/>
              </a:rPr>
              <a:t>// AVAILABLE TOOLS</a:t>
            </a:r>
            <a:endParaRPr sz="1800">
              <a:solidFill>
                <a:schemeClr val="dk1"/>
              </a:solidFill>
              <a:latin typeface="Calibri"/>
              <a:ea typeface="Calibri"/>
              <a:cs typeface="Calibri"/>
              <a:sym typeface="Calibri"/>
            </a:endParaRPr>
          </a:p>
        </p:txBody>
      </p:sp>
      <p:sp>
        <p:nvSpPr>
          <p:cNvPr id="379" name="Google Shape;379;p15"/>
          <p:cNvSpPr/>
          <p:nvPr/>
        </p:nvSpPr>
        <p:spPr>
          <a:xfrm>
            <a:off x="9944100" y="4831110"/>
            <a:ext cx="7181469" cy="3146822"/>
          </a:xfrm>
          <a:prstGeom prst="rect">
            <a:avLst/>
          </a:prstGeom>
          <a:noFill/>
          <a:ln>
            <a:noFill/>
          </a:ln>
        </p:spPr>
        <p:txBody>
          <a:bodyPr anchorCtr="0" anchor="t" bIns="25400" lIns="25400" spcFirstLastPara="1" rIns="25400" wrap="square" tIns="25400">
            <a:normAutofit/>
          </a:bodyPr>
          <a:lstStyle/>
          <a:p>
            <a:pPr indent="0" lvl="0" marL="0" marR="0" rtl="0" algn="l">
              <a:lnSpc>
                <a:spcPct val="170000"/>
              </a:lnSpc>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search_sermons</a:t>
            </a:r>
            <a:r>
              <a:rPr lang="en-US" sz="1800">
                <a:solidFill>
                  <a:srgbClr val="FFFFFF"/>
                </a:solidFill>
                <a:latin typeface="JetBrains Mono"/>
                <a:ea typeface="JetBrains Mono"/>
                <a:cs typeface="JetBrains Mono"/>
                <a:sym typeface="JetBrains Mono"/>
              </a:rPr>
              <a:t>(query, last_n=5) </a:t>
            </a:r>
            <a:r>
              <a:rPr lang="en-US" sz="1800">
                <a:solidFill>
                  <a:srgbClr val="3FE0D0"/>
                </a:solidFill>
                <a:latin typeface="JetBrains Mono"/>
                <a:ea typeface="JetBrains Mono"/>
                <a:cs typeface="JetBrains Mono"/>
                <a:sym typeface="JetBrains Mono"/>
              </a:rPr>
              <a:t>look_up_event</a:t>
            </a:r>
            <a:r>
              <a:rPr lang="en-US" sz="1800">
                <a:solidFill>
                  <a:srgbClr val="FFFFFF"/>
                </a:solidFill>
                <a:latin typeface="JetBrains Mono"/>
                <a:ea typeface="JetBrains Mono"/>
                <a:cs typeface="JetBrains Mono"/>
                <a:sym typeface="JetBrains Mono"/>
              </a:rPr>
              <a:t>(name | date) </a:t>
            </a:r>
            <a:r>
              <a:rPr lang="en-US" sz="1800">
                <a:solidFill>
                  <a:srgbClr val="3FE0D0"/>
                </a:solidFill>
                <a:latin typeface="JetBrains Mono"/>
                <a:ea typeface="JetBrains Mono"/>
                <a:cs typeface="JetBrains Mono"/>
                <a:sym typeface="JetBrains Mono"/>
              </a:rPr>
              <a:t>list_volunteers</a:t>
            </a:r>
            <a:r>
              <a:rPr lang="en-US" sz="1800">
                <a:solidFill>
                  <a:srgbClr val="FFFFFF"/>
                </a:solidFill>
                <a:latin typeface="JetBrains Mono"/>
                <a:ea typeface="JetBrains Mono"/>
                <a:cs typeface="JetBrains Mono"/>
                <a:sym typeface="JetBrains Mono"/>
              </a:rPr>
              <a:t>(team, status="active") </a:t>
            </a:r>
            <a:r>
              <a:rPr lang="en-US" sz="1800">
                <a:solidFill>
                  <a:srgbClr val="3FE0D0"/>
                </a:solidFill>
                <a:latin typeface="JetBrains Mono"/>
                <a:ea typeface="JetBrains Mono"/>
                <a:cs typeface="JetBrains Mono"/>
                <a:sym typeface="JetBrains Mono"/>
              </a:rPr>
              <a:t>draft_email </a:t>
            </a:r>
            <a:r>
              <a:rPr lang="en-US" sz="1800">
                <a:solidFill>
                  <a:srgbClr val="FFFFFF"/>
                </a:solidFill>
                <a:latin typeface="JetBrains Mono"/>
                <a:ea typeface="JetBrains Mono"/>
                <a:cs typeface="JetBrains Mono"/>
                <a:sym typeface="JetBrains Mono"/>
              </a:rPr>
              <a:t>(to, subject, body)</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         </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58220"/>
              </a:buClr>
              <a:buSzPts val="1800"/>
              <a:buFont typeface="JetBrains Mono"/>
              <a:buNone/>
            </a:pPr>
            <a:r>
              <a:rPr b="1" lang="en-US" sz="1800">
                <a:solidFill>
                  <a:srgbClr val="F58220"/>
                </a:solidFill>
                <a:latin typeface="JetBrains Mono"/>
                <a:ea typeface="JetBrains Mono"/>
                <a:cs typeface="JetBrains Mono"/>
                <a:sym typeface="JetBrains Mono"/>
              </a:rPr>
              <a:t>// requires human approval </a:t>
            </a:r>
            <a:r>
              <a:rPr lang="en-US" sz="1800">
                <a:solidFill>
                  <a:srgbClr val="3FE0D0"/>
                </a:solidFill>
                <a:latin typeface="JetBrains Mono"/>
                <a:ea typeface="JetBrains Mono"/>
                <a:cs typeface="JetBrains Mono"/>
                <a:sym typeface="JetBrains Mono"/>
              </a:rPr>
              <a:t>get_giving_totals </a:t>
            </a:r>
            <a:r>
              <a:rPr lang="en-US" sz="1800">
                <a:solidFill>
                  <a:srgbClr val="FFFFFF"/>
                </a:solidFill>
                <a:latin typeface="JetBrains Mono"/>
                <a:ea typeface="JetBrains Mono"/>
                <a:cs typeface="JetBrains Mono"/>
                <a:sym typeface="JetBrains Mono"/>
              </a:rPr>
              <a:t>(start, end)</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         </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58220"/>
              </a:buClr>
              <a:buSzPts val="1800"/>
              <a:buFont typeface="JetBrains Mono"/>
              <a:buNone/>
            </a:pPr>
            <a:r>
              <a:rPr b="1" lang="en-US" sz="1800">
                <a:solidFill>
                  <a:srgbClr val="F58220"/>
                </a:solidFill>
                <a:latin typeface="JetBrains Mono"/>
                <a:ea typeface="JetBrains Mono"/>
                <a:cs typeface="JetBrains Mono"/>
                <a:sym typeface="JetBrains Mono"/>
              </a:rPr>
              <a:t>// staff-only, audited</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4" name="Shape 384"/>
        <p:cNvGrpSpPr/>
        <p:nvPr/>
      </p:nvGrpSpPr>
      <p:grpSpPr>
        <a:xfrm>
          <a:off x="0" y="0"/>
          <a:ext cx="0" cy="0"/>
          <a:chOff x="0" y="0"/>
          <a:chExt cx="0" cy="0"/>
        </a:xfrm>
      </p:grpSpPr>
      <p:sp>
        <p:nvSpPr>
          <p:cNvPr id="385" name="Google Shape;385;p16"/>
          <p:cNvSpPr/>
          <p:nvPr/>
        </p:nvSpPr>
        <p:spPr>
          <a:xfrm>
            <a:off x="952500" y="3746450"/>
            <a:ext cx="8044815" cy="3905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2100"/>
              <a:buFont typeface="JetBrains Mono"/>
              <a:buNone/>
            </a:pPr>
            <a:r>
              <a:rPr lang="en-US" sz="2100">
                <a:solidFill>
                  <a:srgbClr val="F58220"/>
                </a:solidFill>
                <a:latin typeface="JetBrains Mono"/>
                <a:ea typeface="JetBrains Mono"/>
                <a:cs typeface="JetBrains Mono"/>
                <a:sym typeface="JetBrains Mono"/>
              </a:rPr>
              <a:t>PILLAR 04 / 04</a:t>
            </a:r>
            <a:endParaRPr sz="2100">
              <a:solidFill>
                <a:schemeClr val="dk1"/>
              </a:solidFill>
              <a:latin typeface="Calibri"/>
              <a:ea typeface="Calibri"/>
              <a:cs typeface="Calibri"/>
              <a:sym typeface="Calibri"/>
            </a:endParaRPr>
          </a:p>
        </p:txBody>
      </p:sp>
      <p:sp>
        <p:nvSpPr>
          <p:cNvPr id="386" name="Google Shape;386;p16"/>
          <p:cNvSpPr/>
          <p:nvPr/>
        </p:nvSpPr>
        <p:spPr>
          <a:xfrm>
            <a:off x="952500" y="4365575"/>
            <a:ext cx="8044815" cy="1123950"/>
          </a:xfrm>
          <a:prstGeom prst="rect">
            <a:avLst/>
          </a:prstGeom>
          <a:noFill/>
          <a:ln>
            <a:noFill/>
          </a:ln>
        </p:spPr>
        <p:txBody>
          <a:bodyPr anchorCtr="0" anchor="t" bIns="25400" lIns="25400" spcFirstLastPara="1" rIns="25400" wrap="square" tIns="25400">
            <a:normAutofit/>
          </a:bodyPr>
          <a:lstStyle/>
          <a:p>
            <a:pPr indent="0" lvl="0" marL="0" marR="0" rtl="0" algn="l">
              <a:lnSpc>
                <a:spcPct val="95000"/>
              </a:lnSpc>
              <a:spcBef>
                <a:spcPts val="0"/>
              </a:spcBef>
              <a:spcAft>
                <a:spcPts val="0"/>
              </a:spcAft>
              <a:buClr>
                <a:srgbClr val="2A2D38"/>
              </a:buClr>
              <a:buSzPts val="9000"/>
              <a:buFont typeface="Montserrat"/>
              <a:buNone/>
            </a:pPr>
            <a:r>
              <a:rPr b="1" lang="en-US" sz="9000">
                <a:solidFill>
                  <a:srgbClr val="2A2D38"/>
                </a:solidFill>
                <a:latin typeface="Montserrat"/>
                <a:ea typeface="Montserrat"/>
                <a:cs typeface="Montserrat"/>
                <a:sym typeface="Montserrat"/>
              </a:rPr>
              <a:t>Memory.</a:t>
            </a:r>
            <a:endParaRPr sz="9000">
              <a:solidFill>
                <a:schemeClr val="dk1"/>
              </a:solidFill>
              <a:latin typeface="Calibri"/>
              <a:ea typeface="Calibri"/>
              <a:cs typeface="Calibri"/>
              <a:sym typeface="Calibri"/>
            </a:endParaRPr>
          </a:p>
        </p:txBody>
      </p:sp>
      <p:sp>
        <p:nvSpPr>
          <p:cNvPr id="387" name="Google Shape;387;p16"/>
          <p:cNvSpPr/>
          <p:nvPr/>
        </p:nvSpPr>
        <p:spPr>
          <a:xfrm>
            <a:off x="952500" y="5718125"/>
            <a:ext cx="6867525" cy="921841"/>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2400"/>
              <a:buFont typeface="Inter"/>
              <a:buNone/>
            </a:pPr>
            <a:r>
              <a:rPr lang="en-US" sz="2400">
                <a:solidFill>
                  <a:srgbClr val="6B6E78"/>
                </a:solidFill>
                <a:latin typeface="Inter"/>
                <a:ea typeface="Inter"/>
                <a:cs typeface="Inter"/>
                <a:sym typeface="Inter"/>
              </a:rPr>
              <a:t>The thread — what's already happened, what was decided, what to never have to say again.</a:t>
            </a:r>
            <a:endParaRPr sz="2400">
              <a:solidFill>
                <a:schemeClr val="dk1"/>
              </a:solidFill>
              <a:latin typeface="Calibri"/>
              <a:ea typeface="Calibri"/>
              <a:cs typeface="Calibri"/>
              <a:sym typeface="Calibri"/>
            </a:endParaRPr>
          </a:p>
        </p:txBody>
      </p:sp>
      <p:sp>
        <p:nvSpPr>
          <p:cNvPr id="388" name="Google Shape;388;p16"/>
          <p:cNvSpPr/>
          <p:nvPr/>
        </p:nvSpPr>
        <p:spPr>
          <a:xfrm>
            <a:off x="765810" y="6944767"/>
            <a:ext cx="8073390" cy="1538883"/>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Short-term: this conversation.</a:t>
            </a:r>
            <a:endParaRPr sz="2100">
              <a:solidFill>
                <a:schemeClr val="dk1"/>
              </a:solidFill>
              <a:latin typeface="Calibri"/>
              <a:ea typeface="Calibri"/>
              <a:cs typeface="Calibri"/>
              <a:sym typeface="Calibri"/>
            </a:endParaRPr>
          </a:p>
          <a:p>
            <a:pPr indent="0" lvl="0" marL="0" marR="0" rtl="0" algn="l">
              <a:lnSpc>
                <a:spcPct val="14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Long-term: preferences, decisions, style notes.</a:t>
            </a:r>
            <a:endParaRPr sz="2100">
              <a:solidFill>
                <a:schemeClr val="dk1"/>
              </a:solidFill>
              <a:latin typeface="Calibri"/>
              <a:ea typeface="Calibri"/>
              <a:cs typeface="Calibri"/>
              <a:sym typeface="Calibri"/>
            </a:endParaRPr>
          </a:p>
          <a:p>
            <a:pPr indent="0" lvl="0" marL="0" marR="0" rtl="0" algn="l">
              <a:lnSpc>
                <a:spcPct val="14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Audit it. Memory rot is real.</a:t>
            </a:r>
            <a:endParaRPr sz="2100">
              <a:solidFill>
                <a:schemeClr val="dk1"/>
              </a:solidFill>
              <a:latin typeface="Calibri"/>
              <a:ea typeface="Calibri"/>
              <a:cs typeface="Calibri"/>
              <a:sym typeface="Calibri"/>
            </a:endParaRPr>
          </a:p>
        </p:txBody>
      </p:sp>
      <p:sp>
        <p:nvSpPr>
          <p:cNvPr id="389" name="Google Shape;389;p16"/>
          <p:cNvSpPr/>
          <p:nvPr/>
        </p:nvSpPr>
        <p:spPr>
          <a:xfrm>
            <a:off x="9525000" y="3093839"/>
            <a:ext cx="7810500" cy="6004173"/>
          </a:xfrm>
          <a:prstGeom prst="roundRect">
            <a:avLst>
              <a:gd fmla="val 2538" name="adj"/>
            </a:avLst>
          </a:prstGeom>
          <a:solidFill>
            <a:srgbClr val="1B1D2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0" name="Google Shape;390;p16"/>
          <p:cNvSpPr/>
          <p:nvPr/>
        </p:nvSpPr>
        <p:spPr>
          <a:xfrm>
            <a:off x="9944100" y="3474839"/>
            <a:ext cx="7181469" cy="426690"/>
          </a:xfrm>
          <a:prstGeom prst="rect">
            <a:avLst/>
          </a:prstGeom>
          <a:noFill/>
          <a:ln>
            <a:noFill/>
          </a:ln>
        </p:spPr>
        <p:txBody>
          <a:bodyPr anchorCtr="0" anchor="t" bIns="25400" lIns="25400" spcFirstLastPara="1" rIns="25400" wrap="square" tIns="25400">
            <a:normAutofit/>
          </a:bodyPr>
          <a:lstStyle/>
          <a:p>
            <a:pPr indent="0" lvl="0" marL="0" marR="0" rtl="0" algn="l">
              <a:lnSpc>
                <a:spcPct val="170000"/>
              </a:lnSpc>
              <a:spcBef>
                <a:spcPts val="0"/>
              </a:spcBef>
              <a:spcAft>
                <a:spcPts val="0"/>
              </a:spcAft>
              <a:buClr>
                <a:srgbClr val="3FE0D0"/>
              </a:buClr>
              <a:buSzPts val="1800"/>
              <a:buFont typeface="Montserrat"/>
              <a:buNone/>
            </a:pPr>
            <a:r>
              <a:rPr b="1" lang="en-US" sz="1800">
                <a:solidFill>
                  <a:srgbClr val="3FE0D0"/>
                </a:solidFill>
                <a:latin typeface="Montserrat"/>
                <a:ea typeface="Montserrat"/>
                <a:cs typeface="Montserrat"/>
                <a:sym typeface="Montserrat"/>
              </a:rPr>
              <a:t>// PERSISTENT NOTES</a:t>
            </a:r>
            <a:endParaRPr sz="1800">
              <a:solidFill>
                <a:schemeClr val="dk1"/>
              </a:solidFill>
              <a:latin typeface="Calibri"/>
              <a:ea typeface="Calibri"/>
              <a:cs typeface="Calibri"/>
              <a:sym typeface="Calibri"/>
            </a:endParaRPr>
          </a:p>
        </p:txBody>
      </p:sp>
      <p:sp>
        <p:nvSpPr>
          <p:cNvPr id="391" name="Google Shape;391;p16"/>
          <p:cNvSpPr/>
          <p:nvPr/>
        </p:nvSpPr>
        <p:spPr>
          <a:xfrm>
            <a:off x="9944100" y="4053929"/>
            <a:ext cx="7181469" cy="4701183"/>
          </a:xfrm>
          <a:prstGeom prst="rect">
            <a:avLst/>
          </a:prstGeom>
          <a:noFill/>
          <a:ln>
            <a:noFill/>
          </a:ln>
        </p:spPr>
        <p:txBody>
          <a:bodyPr anchorCtr="0" anchor="t" bIns="25400" lIns="25400" spcFirstLastPara="1" rIns="25400" wrap="square" tIns="25400">
            <a:normAutofit/>
          </a:bodyPr>
          <a:lstStyle/>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user.preferences:</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  • translation: </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ESV </a:t>
            </a:r>
            <a:r>
              <a:rPr lang="en-US" sz="1800">
                <a:solidFill>
                  <a:srgbClr val="FFFFFF"/>
                </a:solidFill>
                <a:latin typeface="JetBrains Mono"/>
                <a:ea typeface="JetBrains Mono"/>
                <a:cs typeface="JetBrains Mono"/>
                <a:sym typeface="JetBrains Mono"/>
              </a:rPr>
              <a:t>  • avoid: </a:t>
            </a:r>
            <a:r>
              <a:rPr b="1" lang="en-US" sz="1800">
                <a:solidFill>
                  <a:srgbClr val="F58220"/>
                </a:solidFill>
                <a:latin typeface="JetBrains Mono"/>
                <a:ea typeface="JetBrains Mono"/>
                <a:cs typeface="JetBrains Mono"/>
                <a:sym typeface="JetBrains Mono"/>
              </a:rPr>
              <a:t>exclamation points, emoji </a:t>
            </a:r>
            <a:r>
              <a:rPr lang="en-US" sz="1800">
                <a:solidFill>
                  <a:srgbClr val="FFFFFF"/>
                </a:solidFill>
                <a:latin typeface="JetBrains Mono"/>
                <a:ea typeface="JetBrains Mono"/>
                <a:cs typeface="JetBrains Mono"/>
                <a:sym typeface="JetBrains Mono"/>
              </a:rPr>
              <a:t>  • signature_block: "— Comms Team"</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decisions:</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  • 2026-04-12:  </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fall series titled "Re:Make" </a:t>
            </a:r>
            <a:r>
              <a:rPr lang="en-US" sz="1800">
                <a:solidFill>
                  <a:srgbClr val="FFFFFF"/>
                </a:solidFill>
                <a:latin typeface="JetBrains Mono"/>
                <a:ea typeface="JetBrains Mono"/>
                <a:cs typeface="JetBrains Mono"/>
                <a:sym typeface="JetBrains Mono"/>
              </a:rPr>
              <a:t>  • 2026-04-18: drop the Wed e-blast,</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                merge into Sunday recap</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never_say_again:</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FFFFF"/>
              </a:buClr>
              <a:buSzPts val="1800"/>
              <a:buFont typeface="JetBrains Mono"/>
              <a:buNone/>
            </a:pPr>
            <a:r>
              <a:rPr lang="en-US" sz="1800">
                <a:solidFill>
                  <a:srgbClr val="FFFFFF"/>
                </a:solidFill>
                <a:latin typeface="JetBrains Mono"/>
                <a:ea typeface="JetBrains Mono"/>
                <a:cs typeface="JetBrains Mono"/>
                <a:sym typeface="JetBrains Mono"/>
              </a:rPr>
              <a:t>  •  </a:t>
            </a:r>
            <a:endParaRPr sz="1800">
              <a:solidFill>
                <a:schemeClr val="dk1"/>
              </a:solidFill>
              <a:latin typeface="Calibri"/>
              <a:ea typeface="Calibri"/>
              <a:cs typeface="Calibri"/>
              <a:sym typeface="Calibri"/>
            </a:endParaRPr>
          </a:p>
          <a:p>
            <a:pPr indent="0" lvl="0" marL="0" marR="0" rtl="0" algn="l">
              <a:lnSpc>
                <a:spcPct val="170000"/>
              </a:lnSpc>
              <a:spcBef>
                <a:spcPts val="0"/>
              </a:spcBef>
              <a:spcAft>
                <a:spcPts val="0"/>
              </a:spcAft>
              <a:buClr>
                <a:srgbClr val="F58220"/>
              </a:buClr>
              <a:buSzPts val="1800"/>
              <a:buFont typeface="JetBrains Mono"/>
              <a:buNone/>
            </a:pPr>
            <a:r>
              <a:rPr b="1" lang="en-US" sz="1800">
                <a:solidFill>
                  <a:srgbClr val="F58220"/>
                </a:solidFill>
                <a:latin typeface="JetBrains Mono"/>
                <a:ea typeface="JetBrains Mono"/>
                <a:cs typeface="JetBrains Mono"/>
                <a:sym typeface="JetBrains Mono"/>
              </a:rPr>
              <a:t>"In today's fast-paced world..."</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5F1"/>
        </a:solidFill>
      </p:bgPr>
    </p:bg>
    <p:spTree>
      <p:nvGrpSpPr>
        <p:cNvPr id="396" name="Shape 396"/>
        <p:cNvGrpSpPr/>
        <p:nvPr/>
      </p:nvGrpSpPr>
      <p:grpSpPr>
        <a:xfrm>
          <a:off x="0" y="0"/>
          <a:ext cx="0" cy="0"/>
          <a:chOff x="0" y="0"/>
          <a:chExt cx="0" cy="0"/>
        </a:xfrm>
      </p:grpSpPr>
      <p:sp>
        <p:nvSpPr>
          <p:cNvPr id="397" name="Google Shape;397;p17"/>
          <p:cNvSpPr/>
          <p:nvPr/>
        </p:nvSpPr>
        <p:spPr>
          <a:xfrm>
            <a:off x="952500" y="952500"/>
            <a:ext cx="16874490"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950"/>
              <a:buFont typeface="Montserrat"/>
              <a:buNone/>
            </a:pPr>
            <a:r>
              <a:rPr b="1" lang="en-US" sz="1950">
                <a:solidFill>
                  <a:srgbClr val="F58220"/>
                </a:solidFill>
                <a:latin typeface="Montserrat"/>
                <a:ea typeface="Montserrat"/>
                <a:cs typeface="Montserrat"/>
                <a:sym typeface="Montserrat"/>
              </a:rPr>
              <a:t>PUTTING IT TOGETHER</a:t>
            </a:r>
            <a:endParaRPr sz="1950">
              <a:solidFill>
                <a:schemeClr val="dk1"/>
              </a:solidFill>
              <a:latin typeface="Calibri"/>
              <a:ea typeface="Calibri"/>
              <a:cs typeface="Calibri"/>
              <a:sym typeface="Calibri"/>
            </a:endParaRPr>
          </a:p>
        </p:txBody>
      </p:sp>
      <p:sp>
        <p:nvSpPr>
          <p:cNvPr id="398" name="Google Shape;398;p17"/>
          <p:cNvSpPr/>
          <p:nvPr/>
        </p:nvSpPr>
        <p:spPr>
          <a:xfrm>
            <a:off x="952500" y="1447800"/>
            <a:ext cx="16874490" cy="1558230"/>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2A2D38"/>
              </a:buClr>
              <a:buSzPts val="5700"/>
              <a:buFont typeface="Montserrat"/>
              <a:buNone/>
            </a:pPr>
            <a:r>
              <a:rPr b="1" lang="en-US" sz="5700">
                <a:solidFill>
                  <a:srgbClr val="2A2D38"/>
                </a:solidFill>
                <a:latin typeface="Montserrat"/>
                <a:ea typeface="Montserrat"/>
                <a:cs typeface="Montserrat"/>
                <a:sym typeface="Montserrat"/>
              </a:rPr>
              <a:t>Every turn, the model reads all of this at once.</a:t>
            </a:r>
            <a:endParaRPr sz="5700">
              <a:solidFill>
                <a:schemeClr val="dk1"/>
              </a:solidFill>
              <a:latin typeface="Calibri"/>
              <a:ea typeface="Calibri"/>
              <a:cs typeface="Calibri"/>
              <a:sym typeface="Calibri"/>
            </a:endParaRPr>
          </a:p>
        </p:txBody>
      </p:sp>
      <p:sp>
        <p:nvSpPr>
          <p:cNvPr id="399" name="Google Shape;399;p17"/>
          <p:cNvSpPr/>
          <p:nvPr/>
        </p:nvSpPr>
        <p:spPr>
          <a:xfrm>
            <a:off x="952500" y="3158430"/>
            <a:ext cx="13735050" cy="491430"/>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6B6E78"/>
              </a:buClr>
              <a:buSzPts val="2550"/>
              <a:buFont typeface="Inter"/>
              <a:buNone/>
            </a:pPr>
            <a:r>
              <a:rPr lang="en-US" sz="2550">
                <a:solidFill>
                  <a:srgbClr val="6B6E78"/>
                </a:solidFill>
                <a:latin typeface="Inter"/>
                <a:ea typeface="Inter"/>
                <a:cs typeface="Inter"/>
                <a:sym typeface="Inter"/>
              </a:rPr>
              <a:t>The "context window" is a finite room. You're the one deciding who gets a seat.</a:t>
            </a:r>
            <a:endParaRPr sz="2550">
              <a:solidFill>
                <a:schemeClr val="dk1"/>
              </a:solidFill>
              <a:latin typeface="Calibri"/>
              <a:ea typeface="Calibri"/>
              <a:cs typeface="Calibri"/>
              <a:sym typeface="Calibri"/>
            </a:endParaRPr>
          </a:p>
        </p:txBody>
      </p:sp>
      <p:sp>
        <p:nvSpPr>
          <p:cNvPr id="400" name="Google Shape;400;p17"/>
          <p:cNvSpPr/>
          <p:nvPr/>
        </p:nvSpPr>
        <p:spPr>
          <a:xfrm>
            <a:off x="952500" y="4335661"/>
            <a:ext cx="16383000" cy="3981450"/>
          </a:xfrm>
          <a:prstGeom prst="roundRect">
            <a:avLst>
              <a:gd fmla="val 3828" name="adj"/>
            </a:avLst>
          </a:prstGeom>
          <a:solidFill>
            <a:srgbClr val="1B1D2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1" name="Google Shape;401;p17"/>
          <p:cNvSpPr/>
          <p:nvPr/>
        </p:nvSpPr>
        <p:spPr>
          <a:xfrm>
            <a:off x="1257300" y="4711898"/>
            <a:ext cx="1981200" cy="3143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INSTRUCTIONS</a:t>
            </a:r>
            <a:endParaRPr sz="1800">
              <a:solidFill>
                <a:schemeClr val="dk1"/>
              </a:solidFill>
              <a:latin typeface="Calibri"/>
              <a:ea typeface="Calibri"/>
              <a:cs typeface="Calibri"/>
              <a:sym typeface="Calibri"/>
            </a:endParaRPr>
          </a:p>
        </p:txBody>
      </p:sp>
      <p:sp>
        <p:nvSpPr>
          <p:cNvPr id="402" name="Google Shape;402;p17"/>
          <p:cNvSpPr/>
          <p:nvPr/>
        </p:nvSpPr>
        <p:spPr>
          <a:xfrm>
            <a:off x="3352800" y="4640461"/>
            <a:ext cx="12534900" cy="419100"/>
          </a:xfrm>
          <a:prstGeom prst="roundRect">
            <a:avLst>
              <a:gd fmla="val 13636" name="adj"/>
            </a:avLst>
          </a:prstGeom>
          <a:solidFill>
            <a:srgbClr val="FFFFFF">
              <a:alpha val="5882"/>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3" name="Google Shape;403;p17"/>
          <p:cNvSpPr/>
          <p:nvPr/>
        </p:nvSpPr>
        <p:spPr>
          <a:xfrm>
            <a:off x="3352800" y="4640461"/>
            <a:ext cx="1770757" cy="419100"/>
          </a:xfrm>
          <a:prstGeom prst="roundRect">
            <a:avLst>
              <a:gd fmla="val 13636" name="adj"/>
            </a:avLst>
          </a:prstGeom>
          <a:solidFill>
            <a:srgbClr val="3FE0D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4" name="Google Shape;404;p17"/>
          <p:cNvSpPr/>
          <p:nvPr/>
        </p:nvSpPr>
        <p:spPr>
          <a:xfrm>
            <a:off x="3409950" y="4640461"/>
            <a:ext cx="1580257" cy="457200"/>
          </a:xfrm>
          <a:prstGeom prst="rect">
            <a:avLst/>
          </a:prstGeom>
          <a:noFill/>
          <a:ln>
            <a:noFill/>
          </a:ln>
        </p:spPr>
        <p:txBody>
          <a:bodyPr anchorCtr="0" anchor="ctr" bIns="25400" lIns="25400" spcFirstLastPara="1" rIns="25400" wrap="square" tIns="25400">
            <a:normAutofit/>
          </a:bodyPr>
          <a:lstStyle/>
          <a:p>
            <a:pPr indent="0" lvl="0" marL="0" marR="0" rtl="0" algn="r">
              <a:spcBef>
                <a:spcPts val="0"/>
              </a:spcBef>
              <a:spcAft>
                <a:spcPts val="0"/>
              </a:spcAft>
              <a:buClr>
                <a:srgbClr val="1B1D24"/>
              </a:buClr>
              <a:buSzPts val="1800"/>
              <a:buFont typeface="JetBrains Mono"/>
              <a:buNone/>
            </a:pPr>
            <a:r>
              <a:rPr b="1" lang="en-US" sz="1800">
                <a:solidFill>
                  <a:srgbClr val="1B1D24"/>
                </a:solidFill>
                <a:latin typeface="JetBrains Mono"/>
                <a:ea typeface="JetBrains Mono"/>
                <a:cs typeface="JetBrains Mono"/>
                <a:sym typeface="JetBrains Mono"/>
              </a:rPr>
              <a:t>~12%</a:t>
            </a:r>
            <a:endParaRPr sz="1800">
              <a:solidFill>
                <a:schemeClr val="dk1"/>
              </a:solidFill>
              <a:latin typeface="Calibri"/>
              <a:ea typeface="Calibri"/>
              <a:cs typeface="Calibri"/>
              <a:sym typeface="Calibri"/>
            </a:endParaRPr>
          </a:p>
        </p:txBody>
      </p:sp>
      <p:sp>
        <p:nvSpPr>
          <p:cNvPr id="405" name="Google Shape;405;p17"/>
          <p:cNvSpPr/>
          <p:nvPr/>
        </p:nvSpPr>
        <p:spPr>
          <a:xfrm>
            <a:off x="16002000" y="4702373"/>
            <a:ext cx="1028700" cy="333375"/>
          </a:xfrm>
          <a:prstGeom prst="rect">
            <a:avLst/>
          </a:prstGeom>
          <a:noFill/>
          <a:ln>
            <a:noFill/>
          </a:ln>
        </p:spPr>
        <p:txBody>
          <a:bodyPr anchorCtr="0" anchor="t" bIns="25400" lIns="25400" spcFirstLastPara="1" rIns="25400" wrap="square" tIns="25400">
            <a:normAutofit/>
          </a:bodyPr>
          <a:lstStyle/>
          <a:p>
            <a:pPr indent="0" lvl="0" marL="0" marR="0" rtl="0" algn="r">
              <a:spcBef>
                <a:spcPts val="0"/>
              </a:spcBef>
              <a:spcAft>
                <a:spcPts val="0"/>
              </a:spcAft>
              <a:buClr>
                <a:srgbClr val="C9CBD1"/>
              </a:buClr>
              <a:buSzPts val="1800"/>
              <a:buFont typeface="JetBrains Mono"/>
              <a:buNone/>
            </a:pPr>
            <a:r>
              <a:rPr b="1" lang="en-US" sz="1800">
                <a:solidFill>
                  <a:srgbClr val="C9CBD1"/>
                </a:solidFill>
                <a:latin typeface="JetBrains Mono"/>
                <a:ea typeface="JetBrains Mono"/>
                <a:cs typeface="JetBrains Mono"/>
                <a:sym typeface="JetBrains Mono"/>
              </a:rPr>
              <a:t>2K tok</a:t>
            </a:r>
            <a:endParaRPr sz="1800">
              <a:solidFill>
                <a:schemeClr val="dk1"/>
              </a:solidFill>
              <a:latin typeface="Calibri"/>
              <a:ea typeface="Calibri"/>
              <a:cs typeface="Calibri"/>
              <a:sym typeface="Calibri"/>
            </a:endParaRPr>
          </a:p>
        </p:txBody>
      </p:sp>
      <p:sp>
        <p:nvSpPr>
          <p:cNvPr id="406" name="Google Shape;406;p17"/>
          <p:cNvSpPr/>
          <p:nvPr/>
        </p:nvSpPr>
        <p:spPr>
          <a:xfrm>
            <a:off x="1257300" y="5245298"/>
            <a:ext cx="1981200" cy="3143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KNOWLEDGE</a:t>
            </a:r>
            <a:endParaRPr sz="1800">
              <a:solidFill>
                <a:schemeClr val="dk1"/>
              </a:solidFill>
              <a:latin typeface="Calibri"/>
              <a:ea typeface="Calibri"/>
              <a:cs typeface="Calibri"/>
              <a:sym typeface="Calibri"/>
            </a:endParaRPr>
          </a:p>
        </p:txBody>
      </p:sp>
      <p:sp>
        <p:nvSpPr>
          <p:cNvPr id="407" name="Google Shape;407;p17"/>
          <p:cNvSpPr/>
          <p:nvPr/>
        </p:nvSpPr>
        <p:spPr>
          <a:xfrm>
            <a:off x="3352800" y="5173861"/>
            <a:ext cx="12534900" cy="419100"/>
          </a:xfrm>
          <a:prstGeom prst="roundRect">
            <a:avLst>
              <a:gd fmla="val 13636" name="adj"/>
            </a:avLst>
          </a:prstGeom>
          <a:solidFill>
            <a:srgbClr val="FFFFFF">
              <a:alpha val="5882"/>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17"/>
          <p:cNvSpPr/>
          <p:nvPr/>
        </p:nvSpPr>
        <p:spPr>
          <a:xfrm>
            <a:off x="3352800" y="5173861"/>
            <a:ext cx="5907286" cy="419100"/>
          </a:xfrm>
          <a:prstGeom prst="roundRect">
            <a:avLst>
              <a:gd fmla="val 13636" name="adj"/>
            </a:avLst>
          </a:prstGeom>
          <a:solidFill>
            <a:srgbClr val="7DEC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9" name="Google Shape;409;p17"/>
          <p:cNvSpPr/>
          <p:nvPr/>
        </p:nvSpPr>
        <p:spPr>
          <a:xfrm>
            <a:off x="3308931" y="5173861"/>
            <a:ext cx="5817805" cy="457200"/>
          </a:xfrm>
          <a:prstGeom prst="rect">
            <a:avLst/>
          </a:prstGeom>
          <a:noFill/>
          <a:ln>
            <a:noFill/>
          </a:ln>
        </p:spPr>
        <p:txBody>
          <a:bodyPr anchorCtr="0" anchor="ctr" bIns="25400" lIns="25400" spcFirstLastPara="1" rIns="25400" wrap="square" tIns="25400">
            <a:normAutofit/>
          </a:bodyPr>
          <a:lstStyle/>
          <a:p>
            <a:pPr indent="0" lvl="0" marL="0" marR="0" rtl="0" algn="r">
              <a:spcBef>
                <a:spcPts val="0"/>
              </a:spcBef>
              <a:spcAft>
                <a:spcPts val="0"/>
              </a:spcAft>
              <a:buClr>
                <a:srgbClr val="1B1D24"/>
              </a:buClr>
              <a:buSzPts val="1800"/>
              <a:buFont typeface="JetBrains Mono"/>
              <a:buNone/>
            </a:pPr>
            <a:r>
              <a:rPr b="1" lang="en-US" sz="1800">
                <a:solidFill>
                  <a:srgbClr val="1B1D24"/>
                </a:solidFill>
                <a:latin typeface="JetBrains Mono"/>
                <a:ea typeface="JetBrains Mono"/>
                <a:cs typeface="JetBrains Mono"/>
                <a:sym typeface="JetBrains Mono"/>
              </a:rPr>
              <a:t>~45%</a:t>
            </a:r>
            <a:endParaRPr sz="1800">
              <a:solidFill>
                <a:schemeClr val="dk1"/>
              </a:solidFill>
              <a:latin typeface="Calibri"/>
              <a:ea typeface="Calibri"/>
              <a:cs typeface="Calibri"/>
              <a:sym typeface="Calibri"/>
            </a:endParaRPr>
          </a:p>
        </p:txBody>
      </p:sp>
      <p:sp>
        <p:nvSpPr>
          <p:cNvPr id="410" name="Google Shape;410;p17"/>
          <p:cNvSpPr/>
          <p:nvPr/>
        </p:nvSpPr>
        <p:spPr>
          <a:xfrm>
            <a:off x="16002000" y="5235773"/>
            <a:ext cx="1028700" cy="333375"/>
          </a:xfrm>
          <a:prstGeom prst="rect">
            <a:avLst/>
          </a:prstGeom>
          <a:noFill/>
          <a:ln>
            <a:noFill/>
          </a:ln>
        </p:spPr>
        <p:txBody>
          <a:bodyPr anchorCtr="0" anchor="t" bIns="25400" lIns="25400" spcFirstLastPara="1" rIns="25400" wrap="square" tIns="25400">
            <a:normAutofit/>
          </a:bodyPr>
          <a:lstStyle/>
          <a:p>
            <a:pPr indent="0" lvl="0" marL="0" marR="0" rtl="0" algn="r">
              <a:spcBef>
                <a:spcPts val="0"/>
              </a:spcBef>
              <a:spcAft>
                <a:spcPts val="0"/>
              </a:spcAft>
              <a:buClr>
                <a:srgbClr val="C9CBD1"/>
              </a:buClr>
              <a:buSzPts val="1800"/>
              <a:buFont typeface="JetBrains Mono"/>
              <a:buNone/>
            </a:pPr>
            <a:r>
              <a:rPr b="1" lang="en-US" sz="1800">
                <a:solidFill>
                  <a:srgbClr val="C9CBD1"/>
                </a:solidFill>
                <a:latin typeface="JetBrains Mono"/>
                <a:ea typeface="JetBrains Mono"/>
                <a:cs typeface="JetBrains Mono"/>
                <a:sym typeface="JetBrains Mono"/>
              </a:rPr>
              <a:t>7K tok</a:t>
            </a:r>
            <a:endParaRPr sz="1800">
              <a:solidFill>
                <a:schemeClr val="dk1"/>
              </a:solidFill>
              <a:latin typeface="Calibri"/>
              <a:ea typeface="Calibri"/>
              <a:cs typeface="Calibri"/>
              <a:sym typeface="Calibri"/>
            </a:endParaRPr>
          </a:p>
        </p:txBody>
      </p:sp>
      <p:sp>
        <p:nvSpPr>
          <p:cNvPr id="411" name="Google Shape;411;p17"/>
          <p:cNvSpPr/>
          <p:nvPr/>
        </p:nvSpPr>
        <p:spPr>
          <a:xfrm>
            <a:off x="1257300" y="5864423"/>
            <a:ext cx="1981200" cy="3143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TOOLS</a:t>
            </a:r>
            <a:endParaRPr sz="1800">
              <a:solidFill>
                <a:schemeClr val="dk1"/>
              </a:solidFill>
              <a:latin typeface="Calibri"/>
              <a:ea typeface="Calibri"/>
              <a:cs typeface="Calibri"/>
              <a:sym typeface="Calibri"/>
            </a:endParaRPr>
          </a:p>
        </p:txBody>
      </p:sp>
      <p:sp>
        <p:nvSpPr>
          <p:cNvPr id="412" name="Google Shape;412;p17"/>
          <p:cNvSpPr/>
          <p:nvPr/>
        </p:nvSpPr>
        <p:spPr>
          <a:xfrm>
            <a:off x="3352800" y="5792986"/>
            <a:ext cx="12534900" cy="419100"/>
          </a:xfrm>
          <a:prstGeom prst="roundRect">
            <a:avLst>
              <a:gd fmla="val 13636" name="adj"/>
            </a:avLst>
          </a:prstGeom>
          <a:solidFill>
            <a:srgbClr val="FFFFFF">
              <a:alpha val="5882"/>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3" name="Google Shape;413;p17"/>
          <p:cNvSpPr/>
          <p:nvPr/>
        </p:nvSpPr>
        <p:spPr>
          <a:xfrm>
            <a:off x="3352800" y="5792986"/>
            <a:ext cx="1269355" cy="419100"/>
          </a:xfrm>
          <a:prstGeom prst="roundRect">
            <a:avLst>
              <a:gd fmla="val 13636" name="adj"/>
            </a:avLst>
          </a:prstGeom>
          <a:solidFill>
            <a:srgbClr val="F5822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17"/>
          <p:cNvSpPr/>
          <p:nvPr/>
        </p:nvSpPr>
        <p:spPr>
          <a:xfrm>
            <a:off x="3409950" y="5792986"/>
            <a:ext cx="1078855" cy="457200"/>
          </a:xfrm>
          <a:prstGeom prst="rect">
            <a:avLst/>
          </a:prstGeom>
          <a:noFill/>
          <a:ln>
            <a:noFill/>
          </a:ln>
        </p:spPr>
        <p:txBody>
          <a:bodyPr anchorCtr="0" anchor="ctr" bIns="25400" lIns="25400" spcFirstLastPara="1" rIns="25400" wrap="square" tIns="25400">
            <a:normAutofit/>
          </a:bodyPr>
          <a:lstStyle/>
          <a:p>
            <a:pPr indent="0" lvl="0" marL="0" marR="0" rtl="0" algn="r">
              <a:spcBef>
                <a:spcPts val="0"/>
              </a:spcBef>
              <a:spcAft>
                <a:spcPts val="0"/>
              </a:spcAft>
              <a:buClr>
                <a:srgbClr val="FFFFFF"/>
              </a:buClr>
              <a:buSzPts val="1800"/>
              <a:buFont typeface="JetBrains Mono"/>
              <a:buNone/>
            </a:pPr>
            <a:r>
              <a:rPr b="1" lang="en-US" sz="1800">
                <a:solidFill>
                  <a:srgbClr val="FFFFFF"/>
                </a:solidFill>
                <a:latin typeface="JetBrains Mono"/>
                <a:ea typeface="JetBrains Mono"/>
                <a:cs typeface="JetBrains Mono"/>
                <a:sym typeface="JetBrains Mono"/>
              </a:rPr>
              <a:t>~8%</a:t>
            </a:r>
            <a:endParaRPr sz="1800">
              <a:solidFill>
                <a:schemeClr val="dk1"/>
              </a:solidFill>
              <a:latin typeface="Calibri"/>
              <a:ea typeface="Calibri"/>
              <a:cs typeface="Calibri"/>
              <a:sym typeface="Calibri"/>
            </a:endParaRPr>
          </a:p>
        </p:txBody>
      </p:sp>
      <p:sp>
        <p:nvSpPr>
          <p:cNvPr id="415" name="Google Shape;415;p17"/>
          <p:cNvSpPr/>
          <p:nvPr/>
        </p:nvSpPr>
        <p:spPr>
          <a:xfrm>
            <a:off x="16002000" y="5707261"/>
            <a:ext cx="1028700" cy="628650"/>
          </a:xfrm>
          <a:prstGeom prst="rect">
            <a:avLst/>
          </a:prstGeom>
          <a:noFill/>
          <a:ln>
            <a:noFill/>
          </a:ln>
        </p:spPr>
        <p:txBody>
          <a:bodyPr anchorCtr="0" anchor="t" bIns="25400" lIns="25400" spcFirstLastPara="1" rIns="25400" wrap="square" tIns="25400">
            <a:normAutofit/>
          </a:bodyPr>
          <a:lstStyle/>
          <a:p>
            <a:pPr indent="0" lvl="0" marL="0" marR="0" rtl="0" algn="r">
              <a:spcBef>
                <a:spcPts val="0"/>
              </a:spcBef>
              <a:spcAft>
                <a:spcPts val="0"/>
              </a:spcAft>
              <a:buClr>
                <a:srgbClr val="C9CBD1"/>
              </a:buClr>
              <a:buSzPts val="1800"/>
              <a:buFont typeface="JetBrains Mono"/>
              <a:buNone/>
            </a:pPr>
            <a:r>
              <a:rPr b="1" lang="en-US" sz="1800">
                <a:solidFill>
                  <a:srgbClr val="C9CBD1"/>
                </a:solidFill>
                <a:latin typeface="JetBrains Mono"/>
                <a:ea typeface="JetBrains Mono"/>
                <a:cs typeface="JetBrains Mono"/>
                <a:sym typeface="JetBrains Mono"/>
              </a:rPr>
              <a:t>1.3K tok</a:t>
            </a:r>
            <a:endParaRPr sz="1800">
              <a:solidFill>
                <a:schemeClr val="dk1"/>
              </a:solidFill>
              <a:latin typeface="Calibri"/>
              <a:ea typeface="Calibri"/>
              <a:cs typeface="Calibri"/>
              <a:sym typeface="Calibri"/>
            </a:endParaRPr>
          </a:p>
        </p:txBody>
      </p:sp>
      <p:sp>
        <p:nvSpPr>
          <p:cNvPr id="416" name="Google Shape;416;p17"/>
          <p:cNvSpPr/>
          <p:nvPr/>
        </p:nvSpPr>
        <p:spPr>
          <a:xfrm>
            <a:off x="1257300" y="6483548"/>
            <a:ext cx="1981200" cy="3143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MEMORY</a:t>
            </a:r>
            <a:endParaRPr sz="1800">
              <a:solidFill>
                <a:schemeClr val="dk1"/>
              </a:solidFill>
              <a:latin typeface="Calibri"/>
              <a:ea typeface="Calibri"/>
              <a:cs typeface="Calibri"/>
              <a:sym typeface="Calibri"/>
            </a:endParaRPr>
          </a:p>
        </p:txBody>
      </p:sp>
      <p:sp>
        <p:nvSpPr>
          <p:cNvPr id="417" name="Google Shape;417;p17"/>
          <p:cNvSpPr/>
          <p:nvPr/>
        </p:nvSpPr>
        <p:spPr>
          <a:xfrm>
            <a:off x="3352800" y="6412111"/>
            <a:ext cx="12534900" cy="419100"/>
          </a:xfrm>
          <a:prstGeom prst="roundRect">
            <a:avLst>
              <a:gd fmla="val 13636" name="adj"/>
            </a:avLst>
          </a:prstGeom>
          <a:solidFill>
            <a:srgbClr val="FFFFFF">
              <a:alpha val="5882"/>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8" name="Google Shape;418;p17"/>
          <p:cNvSpPr/>
          <p:nvPr/>
        </p:nvSpPr>
        <p:spPr>
          <a:xfrm>
            <a:off x="3352800" y="6412111"/>
            <a:ext cx="2522934" cy="419100"/>
          </a:xfrm>
          <a:prstGeom prst="roundRect">
            <a:avLst>
              <a:gd fmla="val 13636" name="adj"/>
            </a:avLst>
          </a:prstGeom>
          <a:solidFill>
            <a:srgbClr val="FFC58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9" name="Google Shape;419;p17"/>
          <p:cNvSpPr/>
          <p:nvPr/>
        </p:nvSpPr>
        <p:spPr>
          <a:xfrm>
            <a:off x="3409950" y="6412111"/>
            <a:ext cx="2332434" cy="457200"/>
          </a:xfrm>
          <a:prstGeom prst="rect">
            <a:avLst/>
          </a:prstGeom>
          <a:noFill/>
          <a:ln>
            <a:noFill/>
          </a:ln>
        </p:spPr>
        <p:txBody>
          <a:bodyPr anchorCtr="0" anchor="ctr" bIns="25400" lIns="25400" spcFirstLastPara="1" rIns="25400" wrap="square" tIns="25400">
            <a:normAutofit/>
          </a:bodyPr>
          <a:lstStyle/>
          <a:p>
            <a:pPr indent="0" lvl="0" marL="0" marR="0" rtl="0" algn="r">
              <a:spcBef>
                <a:spcPts val="0"/>
              </a:spcBef>
              <a:spcAft>
                <a:spcPts val="0"/>
              </a:spcAft>
              <a:buClr>
                <a:srgbClr val="1B1D24"/>
              </a:buClr>
              <a:buSzPts val="1800"/>
              <a:buFont typeface="JetBrains Mono"/>
              <a:buNone/>
            </a:pPr>
            <a:r>
              <a:rPr b="1" lang="en-US" sz="1800">
                <a:solidFill>
                  <a:srgbClr val="1B1D24"/>
                </a:solidFill>
                <a:latin typeface="JetBrains Mono"/>
                <a:ea typeface="JetBrains Mono"/>
                <a:cs typeface="JetBrains Mono"/>
                <a:sym typeface="JetBrains Mono"/>
              </a:rPr>
              <a:t>~18%</a:t>
            </a:r>
            <a:endParaRPr sz="1800">
              <a:solidFill>
                <a:schemeClr val="dk1"/>
              </a:solidFill>
              <a:latin typeface="Calibri"/>
              <a:ea typeface="Calibri"/>
              <a:cs typeface="Calibri"/>
              <a:sym typeface="Calibri"/>
            </a:endParaRPr>
          </a:p>
        </p:txBody>
      </p:sp>
      <p:sp>
        <p:nvSpPr>
          <p:cNvPr id="420" name="Google Shape;420;p17"/>
          <p:cNvSpPr/>
          <p:nvPr/>
        </p:nvSpPr>
        <p:spPr>
          <a:xfrm>
            <a:off x="16002000" y="6474023"/>
            <a:ext cx="1028700" cy="333375"/>
          </a:xfrm>
          <a:prstGeom prst="rect">
            <a:avLst/>
          </a:prstGeom>
          <a:noFill/>
          <a:ln>
            <a:noFill/>
          </a:ln>
        </p:spPr>
        <p:txBody>
          <a:bodyPr anchorCtr="0" anchor="t" bIns="25400" lIns="25400" spcFirstLastPara="1" rIns="25400" wrap="square" tIns="25400">
            <a:normAutofit/>
          </a:bodyPr>
          <a:lstStyle/>
          <a:p>
            <a:pPr indent="0" lvl="0" marL="0" marR="0" rtl="0" algn="r">
              <a:spcBef>
                <a:spcPts val="0"/>
              </a:spcBef>
              <a:spcAft>
                <a:spcPts val="0"/>
              </a:spcAft>
              <a:buClr>
                <a:srgbClr val="C9CBD1"/>
              </a:buClr>
              <a:buSzPts val="1800"/>
              <a:buFont typeface="JetBrains Mono"/>
              <a:buNone/>
            </a:pPr>
            <a:r>
              <a:rPr b="1" lang="en-US" sz="1800">
                <a:solidFill>
                  <a:srgbClr val="C9CBD1"/>
                </a:solidFill>
                <a:latin typeface="JetBrains Mono"/>
                <a:ea typeface="JetBrains Mono"/>
                <a:cs typeface="JetBrains Mono"/>
                <a:sym typeface="JetBrains Mono"/>
              </a:rPr>
              <a:t>3K tok</a:t>
            </a:r>
            <a:endParaRPr sz="1800">
              <a:solidFill>
                <a:schemeClr val="dk1"/>
              </a:solidFill>
              <a:latin typeface="Calibri"/>
              <a:ea typeface="Calibri"/>
              <a:cs typeface="Calibri"/>
              <a:sym typeface="Calibri"/>
            </a:endParaRPr>
          </a:p>
        </p:txBody>
      </p:sp>
      <p:sp>
        <p:nvSpPr>
          <p:cNvPr id="421" name="Google Shape;421;p17"/>
          <p:cNvSpPr/>
          <p:nvPr/>
        </p:nvSpPr>
        <p:spPr>
          <a:xfrm>
            <a:off x="1257300" y="7016948"/>
            <a:ext cx="1981200" cy="3143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USER TURN</a:t>
            </a:r>
            <a:endParaRPr sz="1800">
              <a:solidFill>
                <a:schemeClr val="dk1"/>
              </a:solidFill>
              <a:latin typeface="Calibri"/>
              <a:ea typeface="Calibri"/>
              <a:cs typeface="Calibri"/>
              <a:sym typeface="Calibri"/>
            </a:endParaRPr>
          </a:p>
        </p:txBody>
      </p:sp>
      <p:sp>
        <p:nvSpPr>
          <p:cNvPr id="422" name="Google Shape;422;p17"/>
          <p:cNvSpPr/>
          <p:nvPr/>
        </p:nvSpPr>
        <p:spPr>
          <a:xfrm>
            <a:off x="3352800" y="6945511"/>
            <a:ext cx="12534900" cy="419100"/>
          </a:xfrm>
          <a:prstGeom prst="roundRect">
            <a:avLst>
              <a:gd fmla="val 13636" name="adj"/>
            </a:avLst>
          </a:prstGeom>
          <a:solidFill>
            <a:srgbClr val="FFFFFF">
              <a:alpha val="5882"/>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3" name="Google Shape;423;p17"/>
          <p:cNvSpPr/>
          <p:nvPr/>
        </p:nvSpPr>
        <p:spPr>
          <a:xfrm>
            <a:off x="3352800" y="6945511"/>
            <a:ext cx="1018729" cy="419100"/>
          </a:xfrm>
          <a:prstGeom prst="roundRect">
            <a:avLst>
              <a:gd fmla="val 13636" name="adj"/>
            </a:avLst>
          </a:prstGeom>
          <a:solidFill>
            <a:srgbClr val="FFFF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4" name="Google Shape;424;p17"/>
          <p:cNvSpPr/>
          <p:nvPr/>
        </p:nvSpPr>
        <p:spPr>
          <a:xfrm>
            <a:off x="3409950" y="6945511"/>
            <a:ext cx="828229" cy="457200"/>
          </a:xfrm>
          <a:prstGeom prst="rect">
            <a:avLst/>
          </a:prstGeom>
          <a:noFill/>
          <a:ln>
            <a:noFill/>
          </a:ln>
        </p:spPr>
        <p:txBody>
          <a:bodyPr anchorCtr="0" anchor="ctr" bIns="25400" lIns="25400" spcFirstLastPara="1" rIns="25400" wrap="square" tIns="25400">
            <a:normAutofit/>
          </a:bodyPr>
          <a:lstStyle/>
          <a:p>
            <a:pPr indent="0" lvl="0" marL="0" marR="0" rtl="0" algn="r">
              <a:spcBef>
                <a:spcPts val="0"/>
              </a:spcBef>
              <a:spcAft>
                <a:spcPts val="0"/>
              </a:spcAft>
              <a:buClr>
                <a:srgbClr val="1B1D24"/>
              </a:buClr>
              <a:buSzPts val="1800"/>
              <a:buFont typeface="JetBrains Mono"/>
              <a:buNone/>
            </a:pPr>
            <a:r>
              <a:rPr b="1" lang="en-US" sz="1800">
                <a:solidFill>
                  <a:srgbClr val="1B1D24"/>
                </a:solidFill>
                <a:latin typeface="JetBrains Mono"/>
                <a:ea typeface="JetBrains Mono"/>
                <a:cs typeface="JetBrains Mono"/>
                <a:sym typeface="JetBrains Mono"/>
              </a:rPr>
              <a:t>~6%</a:t>
            </a:r>
            <a:endParaRPr sz="1800">
              <a:solidFill>
                <a:schemeClr val="dk1"/>
              </a:solidFill>
              <a:latin typeface="Calibri"/>
              <a:ea typeface="Calibri"/>
              <a:cs typeface="Calibri"/>
              <a:sym typeface="Calibri"/>
            </a:endParaRPr>
          </a:p>
        </p:txBody>
      </p:sp>
      <p:sp>
        <p:nvSpPr>
          <p:cNvPr id="425" name="Google Shape;425;p17"/>
          <p:cNvSpPr/>
          <p:nvPr/>
        </p:nvSpPr>
        <p:spPr>
          <a:xfrm>
            <a:off x="16002000" y="7007423"/>
            <a:ext cx="1028700" cy="333375"/>
          </a:xfrm>
          <a:prstGeom prst="rect">
            <a:avLst/>
          </a:prstGeom>
          <a:noFill/>
          <a:ln>
            <a:noFill/>
          </a:ln>
        </p:spPr>
        <p:txBody>
          <a:bodyPr anchorCtr="0" anchor="t" bIns="25400" lIns="25400" spcFirstLastPara="1" rIns="25400" wrap="square" tIns="25400">
            <a:normAutofit/>
          </a:bodyPr>
          <a:lstStyle/>
          <a:p>
            <a:pPr indent="0" lvl="0" marL="0" marR="0" rtl="0" algn="r">
              <a:spcBef>
                <a:spcPts val="0"/>
              </a:spcBef>
              <a:spcAft>
                <a:spcPts val="0"/>
              </a:spcAft>
              <a:buClr>
                <a:srgbClr val="C9CBD1"/>
              </a:buClr>
              <a:buSzPts val="1800"/>
              <a:buFont typeface="JetBrains Mono"/>
              <a:buNone/>
            </a:pPr>
            <a:r>
              <a:rPr b="1" lang="en-US" sz="1800">
                <a:solidFill>
                  <a:srgbClr val="C9CBD1"/>
                </a:solidFill>
                <a:latin typeface="JetBrains Mono"/>
                <a:ea typeface="JetBrains Mono"/>
                <a:cs typeface="JetBrains Mono"/>
                <a:sym typeface="JetBrains Mono"/>
              </a:rPr>
              <a:t>1K tok</a:t>
            </a:r>
            <a:endParaRPr sz="1800">
              <a:solidFill>
                <a:schemeClr val="dk1"/>
              </a:solidFill>
              <a:latin typeface="Calibri"/>
              <a:ea typeface="Calibri"/>
              <a:cs typeface="Calibri"/>
              <a:sym typeface="Calibri"/>
            </a:endParaRPr>
          </a:p>
        </p:txBody>
      </p:sp>
      <p:sp>
        <p:nvSpPr>
          <p:cNvPr id="426" name="Google Shape;426;p17"/>
          <p:cNvSpPr/>
          <p:nvPr/>
        </p:nvSpPr>
        <p:spPr>
          <a:xfrm>
            <a:off x="1257300" y="7555111"/>
            <a:ext cx="15773400" cy="9525"/>
          </a:xfrm>
          <a:prstGeom prst="rect">
            <a:avLst/>
          </a:prstGeom>
          <a:solidFill>
            <a:srgbClr val="FFFFFF">
              <a:alpha val="10196"/>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7" name="Google Shape;427;p17"/>
          <p:cNvSpPr/>
          <p:nvPr/>
        </p:nvSpPr>
        <p:spPr>
          <a:xfrm>
            <a:off x="1257300" y="7717036"/>
            <a:ext cx="4662252"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C9CBD1"/>
              </a:buClr>
              <a:buSzPts val="1800"/>
              <a:buFont typeface="JetBrains Mono"/>
              <a:buNone/>
            </a:pPr>
            <a:r>
              <a:rPr lang="en-US" sz="1800">
                <a:solidFill>
                  <a:srgbClr val="C9CBD1"/>
                </a:solidFill>
                <a:latin typeface="JetBrains Mono"/>
                <a:ea typeface="JetBrains Mono"/>
                <a:cs typeface="JetBrains Mono"/>
                <a:sym typeface="JetBrains Mono"/>
              </a:rPr>
              <a:t>Total used: </a:t>
            </a:r>
            <a:r>
              <a:rPr b="1" lang="en-US" sz="1800">
                <a:solidFill>
                  <a:srgbClr val="3FE0D0"/>
                </a:solidFill>
                <a:latin typeface="JetBrains Mono"/>
                <a:ea typeface="JetBrains Mono"/>
                <a:cs typeface="JetBrains Mono"/>
                <a:sym typeface="JetBrains Mono"/>
              </a:rPr>
              <a:t>~14.3K of 200K tokens</a:t>
            </a:r>
            <a:endParaRPr sz="1800">
              <a:solidFill>
                <a:schemeClr val="dk1"/>
              </a:solidFill>
              <a:latin typeface="Calibri"/>
              <a:ea typeface="Calibri"/>
              <a:cs typeface="Calibri"/>
              <a:sym typeface="Calibri"/>
            </a:endParaRPr>
          </a:p>
        </p:txBody>
      </p:sp>
      <p:sp>
        <p:nvSpPr>
          <p:cNvPr id="428" name="Google Shape;428;p17"/>
          <p:cNvSpPr/>
          <p:nvPr/>
        </p:nvSpPr>
        <p:spPr>
          <a:xfrm>
            <a:off x="12915900" y="7717036"/>
            <a:ext cx="4238244"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C9CBD1"/>
              </a:buClr>
              <a:buSzPts val="1800"/>
              <a:buFont typeface="JetBrains Mono"/>
              <a:buNone/>
            </a:pPr>
            <a:r>
              <a:rPr lang="en-US" sz="1800">
                <a:solidFill>
                  <a:srgbClr val="C9CBD1"/>
                </a:solidFill>
                <a:latin typeface="JetBrains Mono"/>
                <a:ea typeface="JetBrains Mono"/>
                <a:cs typeface="JetBrains Mono"/>
                <a:sym typeface="JetBrains Mono"/>
              </a:rPr>
              <a:t>Headroom for the answer: </a:t>
            </a:r>
            <a:r>
              <a:rPr b="1" lang="en-US" sz="1800">
                <a:solidFill>
                  <a:srgbClr val="C9CBD1"/>
                </a:solidFill>
                <a:latin typeface="JetBrains Mono"/>
                <a:ea typeface="JetBrains Mono"/>
                <a:cs typeface="JetBrains Mono"/>
                <a:sym typeface="JetBrains Mono"/>
              </a:rPr>
              <a:t>~185K</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D24"/>
        </a:solidFill>
      </p:bgPr>
    </p:bg>
    <p:spTree>
      <p:nvGrpSpPr>
        <p:cNvPr id="433" name="Shape 433"/>
        <p:cNvGrpSpPr/>
        <p:nvPr/>
      </p:nvGrpSpPr>
      <p:grpSpPr>
        <a:xfrm>
          <a:off x="0" y="0"/>
          <a:ext cx="0" cy="0"/>
          <a:chOff x="0" y="0"/>
          <a:chExt cx="0" cy="0"/>
        </a:xfrm>
      </p:grpSpPr>
      <p:sp>
        <p:nvSpPr>
          <p:cNvPr id="434" name="Google Shape;434;p18"/>
          <p:cNvSpPr/>
          <p:nvPr/>
        </p:nvSpPr>
        <p:spPr>
          <a:xfrm>
            <a:off x="0" y="0"/>
            <a:ext cx="18288000" cy="10287000"/>
          </a:xfrm>
          <a:prstGeom prst="rect">
            <a:avLst/>
          </a:prstGeom>
          <a:solidFill>
            <a:srgbClr val="1B1D2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5" name="Google Shape;435;p18"/>
          <p:cNvSpPr/>
          <p:nvPr/>
        </p:nvSpPr>
        <p:spPr>
          <a:xfrm>
            <a:off x="2952750" y="2570113"/>
            <a:ext cx="12753975" cy="3905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2100"/>
              <a:buFont typeface="JetBrains Mono"/>
              <a:buNone/>
            </a:pPr>
            <a:r>
              <a:rPr lang="en-US" sz="2100">
                <a:solidFill>
                  <a:srgbClr val="3FE0D0"/>
                </a:solidFill>
                <a:latin typeface="JetBrains Mono"/>
                <a:ea typeface="JetBrains Mono"/>
                <a:cs typeface="JetBrains Mono"/>
                <a:sym typeface="JetBrains Mono"/>
              </a:rPr>
              <a:t>PART 03 / 06</a:t>
            </a:r>
            <a:endParaRPr sz="2100">
              <a:solidFill>
                <a:schemeClr val="dk1"/>
              </a:solidFill>
              <a:latin typeface="Calibri"/>
              <a:ea typeface="Calibri"/>
              <a:cs typeface="Calibri"/>
              <a:sym typeface="Calibri"/>
            </a:endParaRPr>
          </a:p>
        </p:txBody>
      </p:sp>
      <p:sp>
        <p:nvSpPr>
          <p:cNvPr id="436" name="Google Shape;436;p18"/>
          <p:cNvSpPr/>
          <p:nvPr/>
        </p:nvSpPr>
        <p:spPr>
          <a:xfrm>
            <a:off x="2952750" y="3303538"/>
            <a:ext cx="12753975" cy="3186708"/>
          </a:xfrm>
          <a:prstGeom prst="rect">
            <a:avLst/>
          </a:prstGeom>
          <a:noFill/>
          <a:ln>
            <a:noFill/>
          </a:ln>
        </p:spPr>
        <p:txBody>
          <a:bodyPr anchorCtr="0" anchor="t" bIns="25400" lIns="25400" spcFirstLastPara="1" rIns="25400" wrap="square" tIns="25400">
            <a:normAutofit/>
          </a:bodyPr>
          <a:lstStyle/>
          <a:p>
            <a:pPr indent="0" lvl="0" marL="0" marR="0" rtl="0" algn="l">
              <a:lnSpc>
                <a:spcPct val="95000"/>
              </a:lnSpc>
              <a:spcBef>
                <a:spcPts val="0"/>
              </a:spcBef>
              <a:spcAft>
                <a:spcPts val="0"/>
              </a:spcAft>
              <a:buClr>
                <a:srgbClr val="FFFFFF"/>
              </a:buClr>
              <a:buSzPts val="8700"/>
              <a:buFont typeface="Montserrat"/>
              <a:buNone/>
            </a:pPr>
            <a:r>
              <a:rPr b="1" lang="en-US" sz="8700">
                <a:solidFill>
                  <a:srgbClr val="FFFFFF"/>
                </a:solidFill>
                <a:latin typeface="Montserrat"/>
                <a:ea typeface="Montserrat"/>
                <a:cs typeface="Montserrat"/>
                <a:sym typeface="Montserrat"/>
              </a:rPr>
              <a:t>Anatomy of a great prompt.</a:t>
            </a:r>
            <a:endParaRPr sz="8700">
              <a:solidFill>
                <a:schemeClr val="dk1"/>
              </a:solidFill>
              <a:latin typeface="Calibri"/>
              <a:ea typeface="Calibri"/>
              <a:cs typeface="Calibri"/>
              <a:sym typeface="Calibri"/>
            </a:endParaRPr>
          </a:p>
        </p:txBody>
      </p:sp>
      <p:sp>
        <p:nvSpPr>
          <p:cNvPr id="437" name="Google Shape;437;p18"/>
          <p:cNvSpPr/>
          <p:nvPr/>
        </p:nvSpPr>
        <p:spPr>
          <a:xfrm>
            <a:off x="2952750" y="6833146"/>
            <a:ext cx="12753975" cy="921841"/>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C9CBD1"/>
              </a:buClr>
              <a:buSzPts val="2400"/>
              <a:buFont typeface="Inter"/>
              <a:buNone/>
            </a:pPr>
            <a:r>
              <a:rPr lang="en-US" sz="2400">
                <a:solidFill>
                  <a:srgbClr val="C9CBD1"/>
                </a:solidFill>
                <a:latin typeface="Inter"/>
                <a:ea typeface="Inter"/>
                <a:cs typeface="Inter"/>
                <a:sym typeface="Inter"/>
              </a:rPr>
              <a:t>A reusable shape that works whether you're writing in ChatGPT, Claude, or your own app.</a:t>
            </a:r>
            <a:endParaRPr sz="2400">
              <a:solidFill>
                <a:schemeClr val="dk1"/>
              </a:solidFill>
              <a:latin typeface="Calibri"/>
              <a:ea typeface="Calibri"/>
              <a:cs typeface="Calibri"/>
              <a:sym typeface="Calibri"/>
            </a:endParaRPr>
          </a:p>
        </p:txBody>
      </p:sp>
      <p:sp>
        <p:nvSpPr>
          <p:cNvPr id="438" name="Google Shape;438;p18"/>
          <p:cNvSpPr/>
          <p:nvPr/>
        </p:nvSpPr>
        <p:spPr>
          <a:xfrm>
            <a:off x="15031492" y="3643313"/>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9" name="Google Shape;439;p18"/>
          <p:cNvSpPr/>
          <p:nvPr/>
        </p:nvSpPr>
        <p:spPr>
          <a:xfrm>
            <a:off x="15279142" y="3552825"/>
            <a:ext cx="2222153"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01 · Why Context</a:t>
            </a:r>
            <a:endParaRPr sz="1800">
              <a:solidFill>
                <a:schemeClr val="dk1"/>
              </a:solidFill>
              <a:latin typeface="Calibri"/>
              <a:ea typeface="Calibri"/>
              <a:cs typeface="Calibri"/>
              <a:sym typeface="Calibri"/>
            </a:endParaRPr>
          </a:p>
        </p:txBody>
      </p:sp>
      <p:sp>
        <p:nvSpPr>
          <p:cNvPr id="440" name="Google Shape;440;p18"/>
          <p:cNvSpPr/>
          <p:nvPr/>
        </p:nvSpPr>
        <p:spPr>
          <a:xfrm>
            <a:off x="15031492" y="4224338"/>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1" name="Google Shape;441;p18"/>
          <p:cNvSpPr/>
          <p:nvPr/>
        </p:nvSpPr>
        <p:spPr>
          <a:xfrm>
            <a:off x="15279142" y="4133850"/>
            <a:ext cx="2069306"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02 · Four Pillars</a:t>
            </a:r>
            <a:endParaRPr sz="1800">
              <a:solidFill>
                <a:schemeClr val="dk1"/>
              </a:solidFill>
              <a:latin typeface="Calibri"/>
              <a:ea typeface="Calibri"/>
              <a:cs typeface="Calibri"/>
              <a:sym typeface="Calibri"/>
            </a:endParaRPr>
          </a:p>
        </p:txBody>
      </p:sp>
      <p:sp>
        <p:nvSpPr>
          <p:cNvPr id="442" name="Google Shape;442;p18"/>
          <p:cNvSpPr/>
          <p:nvPr/>
        </p:nvSpPr>
        <p:spPr>
          <a:xfrm>
            <a:off x="15031492" y="4805363"/>
            <a:ext cx="95250" cy="95250"/>
          </a:xfrm>
          <a:prstGeom prst="ellipse">
            <a:avLst/>
          </a:prstGeom>
          <a:solidFill>
            <a:srgbClr val="3FE0D0"/>
          </a:solidFill>
          <a:ln>
            <a:noFill/>
          </a:ln>
          <a:effectLst>
            <a:outerShdw blurRad="190500" rotWithShape="0" algn="bl" dir="16200000" dist="50800">
              <a:srgbClr val="3FE0D0"/>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3" name="Google Shape;443;p18"/>
          <p:cNvSpPr/>
          <p:nvPr/>
        </p:nvSpPr>
        <p:spPr>
          <a:xfrm>
            <a:off x="15279142" y="4714875"/>
            <a:ext cx="1765995"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3FE0D0"/>
              </a:buClr>
              <a:buSzPts val="1800"/>
              <a:buFont typeface="Montserrat"/>
              <a:buNone/>
            </a:pPr>
            <a:r>
              <a:rPr b="1" lang="en-US" sz="1800">
                <a:solidFill>
                  <a:srgbClr val="3FE0D0"/>
                </a:solidFill>
                <a:latin typeface="Montserrat"/>
                <a:ea typeface="Montserrat"/>
                <a:cs typeface="Montserrat"/>
                <a:sym typeface="Montserrat"/>
              </a:rPr>
              <a:t>03 · Anatomy</a:t>
            </a:r>
            <a:endParaRPr sz="1800">
              <a:solidFill>
                <a:schemeClr val="dk1"/>
              </a:solidFill>
              <a:latin typeface="Calibri"/>
              <a:ea typeface="Calibri"/>
              <a:cs typeface="Calibri"/>
              <a:sym typeface="Calibri"/>
            </a:endParaRPr>
          </a:p>
        </p:txBody>
      </p:sp>
      <p:sp>
        <p:nvSpPr>
          <p:cNvPr id="444" name="Google Shape;444;p18"/>
          <p:cNvSpPr/>
          <p:nvPr/>
        </p:nvSpPr>
        <p:spPr>
          <a:xfrm>
            <a:off x="15031492" y="5386388"/>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5" name="Google Shape;445;p18"/>
          <p:cNvSpPr/>
          <p:nvPr/>
        </p:nvSpPr>
        <p:spPr>
          <a:xfrm>
            <a:off x="15279142" y="5295900"/>
            <a:ext cx="2005310"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04 · Grounding</a:t>
            </a:r>
            <a:endParaRPr sz="1800">
              <a:solidFill>
                <a:schemeClr val="dk1"/>
              </a:solidFill>
              <a:latin typeface="Calibri"/>
              <a:ea typeface="Calibri"/>
              <a:cs typeface="Calibri"/>
              <a:sym typeface="Calibri"/>
            </a:endParaRPr>
          </a:p>
        </p:txBody>
      </p:sp>
      <p:sp>
        <p:nvSpPr>
          <p:cNvPr id="446" name="Google Shape;446;p18"/>
          <p:cNvSpPr/>
          <p:nvPr/>
        </p:nvSpPr>
        <p:spPr>
          <a:xfrm>
            <a:off x="15031492" y="5967413"/>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7" name="Google Shape;447;p18"/>
          <p:cNvSpPr/>
          <p:nvPr/>
        </p:nvSpPr>
        <p:spPr>
          <a:xfrm>
            <a:off x="15279142" y="5876925"/>
            <a:ext cx="1503015"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05 · Pitfalls</a:t>
            </a:r>
            <a:endParaRPr sz="1800">
              <a:solidFill>
                <a:schemeClr val="dk1"/>
              </a:solidFill>
              <a:latin typeface="Calibri"/>
              <a:ea typeface="Calibri"/>
              <a:cs typeface="Calibri"/>
              <a:sym typeface="Calibri"/>
            </a:endParaRPr>
          </a:p>
        </p:txBody>
      </p:sp>
      <p:sp>
        <p:nvSpPr>
          <p:cNvPr id="448" name="Google Shape;448;p18"/>
          <p:cNvSpPr/>
          <p:nvPr/>
        </p:nvSpPr>
        <p:spPr>
          <a:xfrm>
            <a:off x="15031492" y="6548438"/>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9" name="Google Shape;449;p18"/>
          <p:cNvSpPr/>
          <p:nvPr/>
        </p:nvSpPr>
        <p:spPr>
          <a:xfrm>
            <a:off x="15279142" y="6457950"/>
            <a:ext cx="2323058"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06 · Take It Home</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4" name="Shape 454"/>
        <p:cNvGrpSpPr/>
        <p:nvPr/>
      </p:nvGrpSpPr>
      <p:grpSpPr>
        <a:xfrm>
          <a:off x="0" y="0"/>
          <a:ext cx="0" cy="0"/>
          <a:chOff x="0" y="0"/>
          <a:chExt cx="0" cy="0"/>
        </a:xfrm>
      </p:grpSpPr>
      <p:sp>
        <p:nvSpPr>
          <p:cNvPr id="455" name="Google Shape;455;p19"/>
          <p:cNvSpPr/>
          <p:nvPr/>
        </p:nvSpPr>
        <p:spPr>
          <a:xfrm>
            <a:off x="952500" y="952500"/>
            <a:ext cx="16874490"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950"/>
              <a:buFont typeface="Montserrat"/>
              <a:buNone/>
            </a:pPr>
            <a:r>
              <a:rPr b="1" lang="en-US" sz="1950">
                <a:solidFill>
                  <a:srgbClr val="F58220"/>
                </a:solidFill>
                <a:latin typeface="Montserrat"/>
                <a:ea typeface="Montserrat"/>
                <a:cs typeface="Montserrat"/>
                <a:sym typeface="Montserrat"/>
              </a:rPr>
              <a:t>THE SHAPE</a:t>
            </a:r>
            <a:endParaRPr sz="1950">
              <a:solidFill>
                <a:schemeClr val="dk1"/>
              </a:solidFill>
              <a:latin typeface="Calibri"/>
              <a:ea typeface="Calibri"/>
              <a:cs typeface="Calibri"/>
              <a:sym typeface="Calibri"/>
            </a:endParaRPr>
          </a:p>
        </p:txBody>
      </p:sp>
      <p:sp>
        <p:nvSpPr>
          <p:cNvPr id="456" name="Google Shape;456;p19"/>
          <p:cNvSpPr/>
          <p:nvPr/>
        </p:nvSpPr>
        <p:spPr>
          <a:xfrm>
            <a:off x="952500" y="1447800"/>
            <a:ext cx="16874490" cy="798165"/>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2A2D38"/>
              </a:buClr>
              <a:buSzPts val="5700"/>
              <a:buFont typeface="Montserrat"/>
              <a:buNone/>
            </a:pPr>
            <a:r>
              <a:rPr b="1" lang="en-US" sz="5700">
                <a:solidFill>
                  <a:srgbClr val="2A2D38"/>
                </a:solidFill>
                <a:latin typeface="Montserrat"/>
                <a:ea typeface="Montserrat"/>
                <a:cs typeface="Montserrat"/>
                <a:sym typeface="Montserrat"/>
              </a:rPr>
              <a:t>Role · Task · Context · Format.</a:t>
            </a:r>
            <a:endParaRPr sz="5700">
              <a:solidFill>
                <a:schemeClr val="dk1"/>
              </a:solidFill>
              <a:latin typeface="Calibri"/>
              <a:ea typeface="Calibri"/>
              <a:cs typeface="Calibri"/>
              <a:sym typeface="Calibri"/>
            </a:endParaRPr>
          </a:p>
        </p:txBody>
      </p:sp>
      <p:sp>
        <p:nvSpPr>
          <p:cNvPr id="457" name="Google Shape;457;p19"/>
          <p:cNvSpPr/>
          <p:nvPr/>
        </p:nvSpPr>
        <p:spPr>
          <a:xfrm>
            <a:off x="952500" y="2398365"/>
            <a:ext cx="13735050" cy="491430"/>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6B6E78"/>
              </a:buClr>
              <a:buSzPts val="2550"/>
              <a:buFont typeface="Inter"/>
              <a:buNone/>
            </a:pPr>
            <a:r>
              <a:rPr lang="en-US" sz="2550">
                <a:solidFill>
                  <a:srgbClr val="6B6E78"/>
                </a:solidFill>
                <a:latin typeface="Inter"/>
                <a:ea typeface="Inter"/>
                <a:cs typeface="Inter"/>
                <a:sym typeface="Inter"/>
              </a:rPr>
              <a:t>Four lines. In that order. Add details inside each line as needed.</a:t>
            </a:r>
            <a:endParaRPr sz="2550">
              <a:solidFill>
                <a:schemeClr val="dk1"/>
              </a:solidFill>
              <a:latin typeface="Calibri"/>
              <a:ea typeface="Calibri"/>
              <a:cs typeface="Calibri"/>
              <a:sym typeface="Calibri"/>
            </a:endParaRPr>
          </a:p>
        </p:txBody>
      </p:sp>
      <p:sp>
        <p:nvSpPr>
          <p:cNvPr id="458" name="Google Shape;458;p19"/>
          <p:cNvSpPr/>
          <p:nvPr/>
        </p:nvSpPr>
        <p:spPr>
          <a:xfrm>
            <a:off x="952500" y="3575596"/>
            <a:ext cx="3619500" cy="5413325"/>
          </a:xfrm>
          <a:prstGeom prst="roundRect">
            <a:avLst>
              <a:gd fmla="val 4211" name="adj"/>
            </a:avLst>
          </a:prstGeom>
          <a:solidFill>
            <a:srgbClr val="F7F5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9" name="Google Shape;459;p19"/>
          <p:cNvSpPr/>
          <p:nvPr/>
        </p:nvSpPr>
        <p:spPr>
          <a:xfrm>
            <a:off x="952500" y="8979396"/>
            <a:ext cx="36195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0" name="Google Shape;460;p19"/>
          <p:cNvSpPr/>
          <p:nvPr/>
        </p:nvSpPr>
        <p:spPr>
          <a:xfrm>
            <a:off x="952500" y="3575596"/>
            <a:ext cx="3619500" cy="38100"/>
          </a:xfrm>
          <a:prstGeom prst="rect">
            <a:avLst/>
          </a:prstGeom>
          <a:solidFill>
            <a:srgbClr val="F5822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1" name="Google Shape;461;p19"/>
          <p:cNvSpPr/>
          <p:nvPr/>
        </p:nvSpPr>
        <p:spPr>
          <a:xfrm>
            <a:off x="952500" y="3575596"/>
            <a:ext cx="9525" cy="54133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2" name="Google Shape;462;p19"/>
          <p:cNvSpPr/>
          <p:nvPr/>
        </p:nvSpPr>
        <p:spPr>
          <a:xfrm>
            <a:off x="4562475" y="3575596"/>
            <a:ext cx="9525" cy="54133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3" name="Google Shape;463;p19"/>
          <p:cNvSpPr/>
          <p:nvPr/>
        </p:nvSpPr>
        <p:spPr>
          <a:xfrm>
            <a:off x="1266825" y="3918496"/>
            <a:ext cx="3080576" cy="860971"/>
          </a:xfrm>
          <a:prstGeom prst="rect">
            <a:avLst/>
          </a:prstGeom>
          <a:noFill/>
          <a:ln>
            <a:noFill/>
          </a:ln>
        </p:spPr>
        <p:txBody>
          <a:bodyPr anchorCtr="0" anchor="t" bIns="25400" lIns="25400" spcFirstLastPara="1" rIns="25400" wrap="square" tIns="25400">
            <a:normAutofit/>
          </a:bodyPr>
          <a:lstStyle/>
          <a:p>
            <a:pPr indent="0" lvl="0" marL="0" marR="0" rtl="0" algn="l">
              <a:lnSpc>
                <a:spcPct val="90000"/>
              </a:lnSpc>
              <a:spcBef>
                <a:spcPts val="0"/>
              </a:spcBef>
              <a:spcAft>
                <a:spcPts val="0"/>
              </a:spcAft>
              <a:buClr>
                <a:srgbClr val="F58220"/>
              </a:buClr>
              <a:buSzPts val="7200"/>
              <a:buFont typeface="Montserrat"/>
              <a:buNone/>
            </a:pPr>
            <a:r>
              <a:rPr b="1" lang="en-US" sz="7200">
                <a:solidFill>
                  <a:srgbClr val="F58220"/>
                </a:solidFill>
                <a:latin typeface="Montserrat"/>
                <a:ea typeface="Montserrat"/>
                <a:cs typeface="Montserrat"/>
                <a:sym typeface="Montserrat"/>
              </a:rPr>
              <a:t>R</a:t>
            </a:r>
            <a:endParaRPr sz="7200">
              <a:solidFill>
                <a:schemeClr val="dk1"/>
              </a:solidFill>
              <a:latin typeface="Calibri"/>
              <a:ea typeface="Calibri"/>
              <a:cs typeface="Calibri"/>
              <a:sym typeface="Calibri"/>
            </a:endParaRPr>
          </a:p>
        </p:txBody>
      </p:sp>
      <p:sp>
        <p:nvSpPr>
          <p:cNvPr id="464" name="Google Shape;464;p19"/>
          <p:cNvSpPr/>
          <p:nvPr/>
        </p:nvSpPr>
        <p:spPr>
          <a:xfrm>
            <a:off x="1266825" y="4893766"/>
            <a:ext cx="3080576" cy="3905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250"/>
              <a:buFont typeface="Montserrat"/>
              <a:buNone/>
            </a:pPr>
            <a:r>
              <a:rPr b="1" lang="en-US" sz="2250">
                <a:solidFill>
                  <a:srgbClr val="2A2D38"/>
                </a:solidFill>
                <a:latin typeface="Montserrat"/>
                <a:ea typeface="Montserrat"/>
                <a:cs typeface="Montserrat"/>
                <a:sym typeface="Montserrat"/>
              </a:rPr>
              <a:t>Role</a:t>
            </a:r>
            <a:endParaRPr sz="2250">
              <a:solidFill>
                <a:schemeClr val="dk1"/>
              </a:solidFill>
              <a:latin typeface="Calibri"/>
              <a:ea typeface="Calibri"/>
              <a:cs typeface="Calibri"/>
              <a:sym typeface="Calibri"/>
            </a:endParaRPr>
          </a:p>
        </p:txBody>
      </p:sp>
      <p:sp>
        <p:nvSpPr>
          <p:cNvPr id="465" name="Google Shape;465;p19"/>
          <p:cNvSpPr/>
          <p:nvPr/>
        </p:nvSpPr>
        <p:spPr>
          <a:xfrm>
            <a:off x="1266825" y="5398591"/>
            <a:ext cx="3080576" cy="7239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Who is the model right now? One sentence.</a:t>
            </a:r>
            <a:endParaRPr sz="1800">
              <a:solidFill>
                <a:schemeClr val="dk1"/>
              </a:solidFill>
              <a:latin typeface="Calibri"/>
              <a:ea typeface="Calibri"/>
              <a:cs typeface="Calibri"/>
              <a:sym typeface="Calibri"/>
            </a:endParaRPr>
          </a:p>
        </p:txBody>
      </p:sp>
      <p:sp>
        <p:nvSpPr>
          <p:cNvPr id="466" name="Google Shape;466;p19"/>
          <p:cNvSpPr/>
          <p:nvPr/>
        </p:nvSpPr>
        <p:spPr>
          <a:xfrm>
            <a:off x="1266825" y="6933902"/>
            <a:ext cx="2990850" cy="1740694"/>
          </a:xfrm>
          <a:prstGeom prst="roundRect">
            <a:avLst>
              <a:gd fmla="val 4378" name="adj"/>
            </a:avLst>
          </a:prstGeom>
          <a:solidFill>
            <a:srgbClr val="FFFFFF"/>
          </a:solidFill>
          <a:ln cap="flat" cmpd="sng" w="9525">
            <a:solidFill>
              <a:srgbClr val="E5E5E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19"/>
          <p:cNvSpPr/>
          <p:nvPr/>
        </p:nvSpPr>
        <p:spPr>
          <a:xfrm>
            <a:off x="1447800" y="7095827"/>
            <a:ext cx="2718626" cy="1454944"/>
          </a:xfrm>
          <a:prstGeom prst="rect">
            <a:avLst/>
          </a:prstGeom>
          <a:noFill/>
          <a:ln>
            <a:noFill/>
          </a:ln>
        </p:spPr>
        <p:txBody>
          <a:bodyPr anchorCtr="0" anchor="t" bIns="25400" lIns="25400" spcFirstLastPara="1" rIns="25400" wrap="square" tIns="25400">
            <a:normAutofit/>
          </a:bodyPr>
          <a:lstStyle/>
          <a:p>
            <a:pPr indent="0" lvl="0" marL="0" marR="0" rtl="0" algn="l">
              <a:lnSpc>
                <a:spcPct val="155000"/>
              </a:lnSpc>
              <a:spcBef>
                <a:spcPts val="0"/>
              </a:spcBef>
              <a:spcAft>
                <a:spcPts val="0"/>
              </a:spcAft>
              <a:buClr>
                <a:srgbClr val="2A2D38"/>
              </a:buClr>
              <a:buSzPts val="1800"/>
              <a:buFont typeface="JetBrains Mono"/>
              <a:buNone/>
            </a:pPr>
            <a:r>
              <a:rPr lang="en-US" sz="1800">
                <a:solidFill>
                  <a:srgbClr val="2A2D38"/>
                </a:solidFill>
                <a:latin typeface="JetBrains Mono"/>
                <a:ea typeface="JetBrains Mono"/>
                <a:cs typeface="JetBrains Mono"/>
                <a:sym typeface="JetBrains Mono"/>
              </a:rPr>
              <a:t>"You are a comms-team editor at a 1,200-attendee church."</a:t>
            </a:r>
            <a:endParaRPr sz="1800">
              <a:solidFill>
                <a:schemeClr val="dk1"/>
              </a:solidFill>
              <a:latin typeface="Calibri"/>
              <a:ea typeface="Calibri"/>
              <a:cs typeface="Calibri"/>
              <a:sym typeface="Calibri"/>
            </a:endParaRPr>
          </a:p>
        </p:txBody>
      </p:sp>
      <p:sp>
        <p:nvSpPr>
          <p:cNvPr id="468" name="Google Shape;468;p19"/>
          <p:cNvSpPr/>
          <p:nvPr/>
        </p:nvSpPr>
        <p:spPr>
          <a:xfrm>
            <a:off x="4838700" y="3575596"/>
            <a:ext cx="3619500" cy="5413325"/>
          </a:xfrm>
          <a:prstGeom prst="roundRect">
            <a:avLst>
              <a:gd fmla="val 4211" name="adj"/>
            </a:avLst>
          </a:prstGeom>
          <a:solidFill>
            <a:srgbClr val="F7F5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19"/>
          <p:cNvSpPr/>
          <p:nvPr/>
        </p:nvSpPr>
        <p:spPr>
          <a:xfrm>
            <a:off x="4838700" y="8979396"/>
            <a:ext cx="36195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0" name="Google Shape;470;p19"/>
          <p:cNvSpPr/>
          <p:nvPr/>
        </p:nvSpPr>
        <p:spPr>
          <a:xfrm>
            <a:off x="4838700" y="3575596"/>
            <a:ext cx="3619500" cy="38100"/>
          </a:xfrm>
          <a:prstGeom prst="rect">
            <a:avLst/>
          </a:prstGeom>
          <a:solidFill>
            <a:srgbClr val="3FE0D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1" name="Google Shape;471;p19"/>
          <p:cNvSpPr/>
          <p:nvPr/>
        </p:nvSpPr>
        <p:spPr>
          <a:xfrm>
            <a:off x="4838700" y="3575596"/>
            <a:ext cx="9525" cy="54133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19"/>
          <p:cNvSpPr/>
          <p:nvPr/>
        </p:nvSpPr>
        <p:spPr>
          <a:xfrm>
            <a:off x="8448675" y="3575596"/>
            <a:ext cx="9525" cy="54133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3" name="Google Shape;473;p19"/>
          <p:cNvSpPr/>
          <p:nvPr/>
        </p:nvSpPr>
        <p:spPr>
          <a:xfrm>
            <a:off x="5153025" y="3918496"/>
            <a:ext cx="3080576" cy="860971"/>
          </a:xfrm>
          <a:prstGeom prst="rect">
            <a:avLst/>
          </a:prstGeom>
          <a:noFill/>
          <a:ln>
            <a:noFill/>
          </a:ln>
        </p:spPr>
        <p:txBody>
          <a:bodyPr anchorCtr="0" anchor="t" bIns="25400" lIns="25400" spcFirstLastPara="1" rIns="25400" wrap="square" tIns="25400">
            <a:normAutofit/>
          </a:bodyPr>
          <a:lstStyle/>
          <a:p>
            <a:pPr indent="0" lvl="0" marL="0" marR="0" rtl="0" algn="l">
              <a:lnSpc>
                <a:spcPct val="90000"/>
              </a:lnSpc>
              <a:spcBef>
                <a:spcPts val="0"/>
              </a:spcBef>
              <a:spcAft>
                <a:spcPts val="0"/>
              </a:spcAft>
              <a:buClr>
                <a:srgbClr val="3FE0D0"/>
              </a:buClr>
              <a:buSzPts val="7200"/>
              <a:buFont typeface="Montserrat"/>
              <a:buNone/>
            </a:pPr>
            <a:r>
              <a:rPr b="1" lang="en-US" sz="7200">
                <a:solidFill>
                  <a:srgbClr val="3FE0D0"/>
                </a:solidFill>
                <a:latin typeface="Montserrat"/>
                <a:ea typeface="Montserrat"/>
                <a:cs typeface="Montserrat"/>
                <a:sym typeface="Montserrat"/>
              </a:rPr>
              <a:t>T</a:t>
            </a:r>
            <a:endParaRPr sz="7200">
              <a:solidFill>
                <a:schemeClr val="dk1"/>
              </a:solidFill>
              <a:latin typeface="Calibri"/>
              <a:ea typeface="Calibri"/>
              <a:cs typeface="Calibri"/>
              <a:sym typeface="Calibri"/>
            </a:endParaRPr>
          </a:p>
        </p:txBody>
      </p:sp>
      <p:sp>
        <p:nvSpPr>
          <p:cNvPr id="474" name="Google Shape;474;p19"/>
          <p:cNvSpPr/>
          <p:nvPr/>
        </p:nvSpPr>
        <p:spPr>
          <a:xfrm>
            <a:off x="5153025" y="4893766"/>
            <a:ext cx="3080576" cy="3905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250"/>
              <a:buFont typeface="Montserrat"/>
              <a:buNone/>
            </a:pPr>
            <a:r>
              <a:rPr b="1" lang="en-US" sz="2250">
                <a:solidFill>
                  <a:srgbClr val="2A2D38"/>
                </a:solidFill>
                <a:latin typeface="Montserrat"/>
                <a:ea typeface="Montserrat"/>
                <a:cs typeface="Montserrat"/>
                <a:sym typeface="Montserrat"/>
              </a:rPr>
              <a:t>Task</a:t>
            </a:r>
            <a:endParaRPr sz="2250">
              <a:solidFill>
                <a:schemeClr val="dk1"/>
              </a:solidFill>
              <a:latin typeface="Calibri"/>
              <a:ea typeface="Calibri"/>
              <a:cs typeface="Calibri"/>
              <a:sym typeface="Calibri"/>
            </a:endParaRPr>
          </a:p>
        </p:txBody>
      </p:sp>
      <p:sp>
        <p:nvSpPr>
          <p:cNvPr id="475" name="Google Shape;475;p19"/>
          <p:cNvSpPr/>
          <p:nvPr/>
        </p:nvSpPr>
        <p:spPr>
          <a:xfrm>
            <a:off x="5153025" y="5398591"/>
            <a:ext cx="3080576" cy="7239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What single outcome do you want this turn?</a:t>
            </a:r>
            <a:endParaRPr sz="1800">
              <a:solidFill>
                <a:schemeClr val="dk1"/>
              </a:solidFill>
              <a:latin typeface="Calibri"/>
              <a:ea typeface="Calibri"/>
              <a:cs typeface="Calibri"/>
              <a:sym typeface="Calibri"/>
            </a:endParaRPr>
          </a:p>
        </p:txBody>
      </p:sp>
      <p:sp>
        <p:nvSpPr>
          <p:cNvPr id="476" name="Google Shape;476;p19"/>
          <p:cNvSpPr/>
          <p:nvPr/>
        </p:nvSpPr>
        <p:spPr>
          <a:xfrm>
            <a:off x="5153025" y="6579691"/>
            <a:ext cx="2990850" cy="2094905"/>
          </a:xfrm>
          <a:prstGeom prst="roundRect">
            <a:avLst>
              <a:gd fmla="val 3637" name="adj"/>
            </a:avLst>
          </a:prstGeom>
          <a:solidFill>
            <a:srgbClr val="FFFFFF"/>
          </a:solidFill>
          <a:ln cap="flat" cmpd="sng" w="9525">
            <a:solidFill>
              <a:srgbClr val="E5E5E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7" name="Google Shape;477;p19"/>
          <p:cNvSpPr/>
          <p:nvPr/>
        </p:nvSpPr>
        <p:spPr>
          <a:xfrm>
            <a:off x="5334000" y="6741616"/>
            <a:ext cx="2718626" cy="1809155"/>
          </a:xfrm>
          <a:prstGeom prst="rect">
            <a:avLst/>
          </a:prstGeom>
          <a:noFill/>
          <a:ln>
            <a:noFill/>
          </a:ln>
        </p:spPr>
        <p:txBody>
          <a:bodyPr anchorCtr="0" anchor="t" bIns="25400" lIns="25400" spcFirstLastPara="1" rIns="25400" wrap="square" tIns="25400">
            <a:normAutofit/>
          </a:bodyPr>
          <a:lstStyle/>
          <a:p>
            <a:pPr indent="0" lvl="0" marL="0" marR="0" rtl="0" algn="l">
              <a:lnSpc>
                <a:spcPct val="155000"/>
              </a:lnSpc>
              <a:spcBef>
                <a:spcPts val="0"/>
              </a:spcBef>
              <a:spcAft>
                <a:spcPts val="0"/>
              </a:spcAft>
              <a:buClr>
                <a:srgbClr val="2A2D38"/>
              </a:buClr>
              <a:buSzPts val="1800"/>
              <a:buFont typeface="JetBrains Mono"/>
              <a:buNone/>
            </a:pPr>
            <a:r>
              <a:rPr lang="en-US" sz="1800">
                <a:solidFill>
                  <a:srgbClr val="2A2D38"/>
                </a:solidFill>
                <a:latin typeface="JetBrains Mono"/>
                <a:ea typeface="JetBrains Mono"/>
                <a:cs typeface="JetBrains Mono"/>
                <a:sym typeface="JetBrains Mono"/>
              </a:rPr>
              <a:t>"Draft a 120-word email reminding parents about Tuesday's parent meeting."</a:t>
            </a:r>
            <a:endParaRPr sz="1800">
              <a:solidFill>
                <a:schemeClr val="dk1"/>
              </a:solidFill>
              <a:latin typeface="Calibri"/>
              <a:ea typeface="Calibri"/>
              <a:cs typeface="Calibri"/>
              <a:sym typeface="Calibri"/>
            </a:endParaRPr>
          </a:p>
        </p:txBody>
      </p:sp>
      <p:sp>
        <p:nvSpPr>
          <p:cNvPr id="478" name="Google Shape;478;p19"/>
          <p:cNvSpPr/>
          <p:nvPr/>
        </p:nvSpPr>
        <p:spPr>
          <a:xfrm>
            <a:off x="8724900" y="3575596"/>
            <a:ext cx="3619500" cy="5413325"/>
          </a:xfrm>
          <a:prstGeom prst="roundRect">
            <a:avLst>
              <a:gd fmla="val 4211" name="adj"/>
            </a:avLst>
          </a:prstGeom>
          <a:solidFill>
            <a:srgbClr val="F7F5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19"/>
          <p:cNvSpPr/>
          <p:nvPr/>
        </p:nvSpPr>
        <p:spPr>
          <a:xfrm>
            <a:off x="8724900" y="8979396"/>
            <a:ext cx="36195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0" name="Google Shape;480;p19"/>
          <p:cNvSpPr/>
          <p:nvPr/>
        </p:nvSpPr>
        <p:spPr>
          <a:xfrm>
            <a:off x="8724900" y="3575596"/>
            <a:ext cx="3619500" cy="38100"/>
          </a:xfrm>
          <a:prstGeom prst="rect">
            <a:avLst/>
          </a:prstGeom>
          <a:solidFill>
            <a:srgbClr val="F5822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1" name="Google Shape;481;p19"/>
          <p:cNvSpPr/>
          <p:nvPr/>
        </p:nvSpPr>
        <p:spPr>
          <a:xfrm>
            <a:off x="8724900" y="3575596"/>
            <a:ext cx="9525" cy="54133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2" name="Google Shape;482;p19"/>
          <p:cNvSpPr/>
          <p:nvPr/>
        </p:nvSpPr>
        <p:spPr>
          <a:xfrm>
            <a:off x="12334875" y="3575596"/>
            <a:ext cx="9525" cy="54133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3" name="Google Shape;483;p19"/>
          <p:cNvSpPr/>
          <p:nvPr/>
        </p:nvSpPr>
        <p:spPr>
          <a:xfrm>
            <a:off x="9039225" y="3918496"/>
            <a:ext cx="3080576" cy="860971"/>
          </a:xfrm>
          <a:prstGeom prst="rect">
            <a:avLst/>
          </a:prstGeom>
          <a:noFill/>
          <a:ln>
            <a:noFill/>
          </a:ln>
        </p:spPr>
        <p:txBody>
          <a:bodyPr anchorCtr="0" anchor="t" bIns="25400" lIns="25400" spcFirstLastPara="1" rIns="25400" wrap="square" tIns="25400">
            <a:normAutofit/>
          </a:bodyPr>
          <a:lstStyle/>
          <a:p>
            <a:pPr indent="0" lvl="0" marL="0" marR="0" rtl="0" algn="l">
              <a:lnSpc>
                <a:spcPct val="90000"/>
              </a:lnSpc>
              <a:spcBef>
                <a:spcPts val="0"/>
              </a:spcBef>
              <a:spcAft>
                <a:spcPts val="0"/>
              </a:spcAft>
              <a:buClr>
                <a:srgbClr val="F58220"/>
              </a:buClr>
              <a:buSzPts val="7200"/>
              <a:buFont typeface="Montserrat"/>
              <a:buNone/>
            </a:pPr>
            <a:r>
              <a:rPr b="1" lang="en-US" sz="7200">
                <a:solidFill>
                  <a:srgbClr val="F58220"/>
                </a:solidFill>
                <a:latin typeface="Montserrat"/>
                <a:ea typeface="Montserrat"/>
                <a:cs typeface="Montserrat"/>
                <a:sym typeface="Montserrat"/>
              </a:rPr>
              <a:t>C</a:t>
            </a:r>
            <a:endParaRPr sz="7200">
              <a:solidFill>
                <a:schemeClr val="dk1"/>
              </a:solidFill>
              <a:latin typeface="Calibri"/>
              <a:ea typeface="Calibri"/>
              <a:cs typeface="Calibri"/>
              <a:sym typeface="Calibri"/>
            </a:endParaRPr>
          </a:p>
        </p:txBody>
      </p:sp>
      <p:sp>
        <p:nvSpPr>
          <p:cNvPr id="484" name="Google Shape;484;p19"/>
          <p:cNvSpPr/>
          <p:nvPr/>
        </p:nvSpPr>
        <p:spPr>
          <a:xfrm>
            <a:off x="9039225" y="4893766"/>
            <a:ext cx="3080576" cy="3905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250"/>
              <a:buFont typeface="Montserrat"/>
              <a:buNone/>
            </a:pPr>
            <a:r>
              <a:rPr b="1" lang="en-US" sz="2250">
                <a:solidFill>
                  <a:srgbClr val="2A2D38"/>
                </a:solidFill>
                <a:latin typeface="Montserrat"/>
                <a:ea typeface="Montserrat"/>
                <a:cs typeface="Montserrat"/>
                <a:sym typeface="Montserrat"/>
              </a:rPr>
              <a:t>Context</a:t>
            </a:r>
            <a:endParaRPr sz="2250">
              <a:solidFill>
                <a:schemeClr val="dk1"/>
              </a:solidFill>
              <a:latin typeface="Calibri"/>
              <a:ea typeface="Calibri"/>
              <a:cs typeface="Calibri"/>
              <a:sym typeface="Calibri"/>
            </a:endParaRPr>
          </a:p>
        </p:txBody>
      </p:sp>
      <p:sp>
        <p:nvSpPr>
          <p:cNvPr id="485" name="Google Shape;485;p19"/>
          <p:cNvSpPr/>
          <p:nvPr/>
        </p:nvSpPr>
        <p:spPr>
          <a:xfrm>
            <a:off x="9039225" y="5398591"/>
            <a:ext cx="3080576" cy="7239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Facts the model couldn't possibly know on its own.</a:t>
            </a:r>
            <a:endParaRPr sz="1800">
              <a:solidFill>
                <a:schemeClr val="dk1"/>
              </a:solidFill>
              <a:latin typeface="Calibri"/>
              <a:ea typeface="Calibri"/>
              <a:cs typeface="Calibri"/>
              <a:sym typeface="Calibri"/>
            </a:endParaRPr>
          </a:p>
        </p:txBody>
      </p:sp>
      <p:sp>
        <p:nvSpPr>
          <p:cNvPr id="486" name="Google Shape;486;p19"/>
          <p:cNvSpPr/>
          <p:nvPr/>
        </p:nvSpPr>
        <p:spPr>
          <a:xfrm>
            <a:off x="9039225" y="6933902"/>
            <a:ext cx="2990850" cy="1740694"/>
          </a:xfrm>
          <a:prstGeom prst="roundRect">
            <a:avLst>
              <a:gd fmla="val 4378" name="adj"/>
            </a:avLst>
          </a:prstGeom>
          <a:solidFill>
            <a:srgbClr val="FFFFFF"/>
          </a:solidFill>
          <a:ln cap="flat" cmpd="sng" w="9525">
            <a:solidFill>
              <a:srgbClr val="E5E5E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7" name="Google Shape;487;p19"/>
          <p:cNvSpPr/>
          <p:nvPr/>
        </p:nvSpPr>
        <p:spPr>
          <a:xfrm>
            <a:off x="9220200" y="7095827"/>
            <a:ext cx="2718626" cy="1454944"/>
          </a:xfrm>
          <a:prstGeom prst="rect">
            <a:avLst/>
          </a:prstGeom>
          <a:noFill/>
          <a:ln>
            <a:noFill/>
          </a:ln>
        </p:spPr>
        <p:txBody>
          <a:bodyPr anchorCtr="0" anchor="t" bIns="25400" lIns="25400" spcFirstLastPara="1" rIns="25400" wrap="square" tIns="25400">
            <a:normAutofit/>
          </a:bodyPr>
          <a:lstStyle/>
          <a:p>
            <a:pPr indent="0" lvl="0" marL="0" marR="0" rtl="0" algn="l">
              <a:lnSpc>
                <a:spcPct val="155000"/>
              </a:lnSpc>
              <a:spcBef>
                <a:spcPts val="0"/>
              </a:spcBef>
              <a:spcAft>
                <a:spcPts val="0"/>
              </a:spcAft>
              <a:buClr>
                <a:srgbClr val="2A2D38"/>
              </a:buClr>
              <a:buSzPts val="1800"/>
              <a:buFont typeface="JetBrains Mono"/>
              <a:buNone/>
            </a:pPr>
            <a:r>
              <a:rPr lang="en-US" sz="1800">
                <a:solidFill>
                  <a:srgbClr val="2A2D38"/>
                </a:solidFill>
                <a:latin typeface="JetBrains Mono"/>
                <a:ea typeface="JetBrains Mono"/>
                <a:cs typeface="JetBrains Mono"/>
                <a:sym typeface="JetBrains Mono"/>
              </a:rPr>
              <a:t>"Meeting is 6:30pm in the Commons. RSVPs go to kids@nwchurch.org ."</a:t>
            </a:r>
            <a:endParaRPr sz="1800">
              <a:solidFill>
                <a:schemeClr val="dk1"/>
              </a:solidFill>
              <a:latin typeface="Calibri"/>
              <a:ea typeface="Calibri"/>
              <a:cs typeface="Calibri"/>
              <a:sym typeface="Calibri"/>
            </a:endParaRPr>
          </a:p>
        </p:txBody>
      </p:sp>
      <p:sp>
        <p:nvSpPr>
          <p:cNvPr id="488" name="Google Shape;488;p19"/>
          <p:cNvSpPr/>
          <p:nvPr/>
        </p:nvSpPr>
        <p:spPr>
          <a:xfrm>
            <a:off x="12611100" y="3575596"/>
            <a:ext cx="3619500" cy="5413325"/>
          </a:xfrm>
          <a:prstGeom prst="roundRect">
            <a:avLst>
              <a:gd fmla="val 4211" name="adj"/>
            </a:avLst>
          </a:prstGeom>
          <a:solidFill>
            <a:srgbClr val="F7F5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9" name="Google Shape;489;p19"/>
          <p:cNvSpPr/>
          <p:nvPr/>
        </p:nvSpPr>
        <p:spPr>
          <a:xfrm>
            <a:off x="12611100" y="8979396"/>
            <a:ext cx="36195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0" name="Google Shape;490;p19"/>
          <p:cNvSpPr/>
          <p:nvPr/>
        </p:nvSpPr>
        <p:spPr>
          <a:xfrm>
            <a:off x="12611100" y="3575596"/>
            <a:ext cx="3619500" cy="38100"/>
          </a:xfrm>
          <a:prstGeom prst="rect">
            <a:avLst/>
          </a:prstGeom>
          <a:solidFill>
            <a:srgbClr val="3FE0D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1" name="Google Shape;491;p19"/>
          <p:cNvSpPr/>
          <p:nvPr/>
        </p:nvSpPr>
        <p:spPr>
          <a:xfrm>
            <a:off x="12611100" y="3575596"/>
            <a:ext cx="9525" cy="54133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2" name="Google Shape;492;p19"/>
          <p:cNvSpPr/>
          <p:nvPr/>
        </p:nvSpPr>
        <p:spPr>
          <a:xfrm>
            <a:off x="16221075" y="3575596"/>
            <a:ext cx="9525" cy="54133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3" name="Google Shape;493;p19"/>
          <p:cNvSpPr/>
          <p:nvPr/>
        </p:nvSpPr>
        <p:spPr>
          <a:xfrm>
            <a:off x="12925425" y="3918496"/>
            <a:ext cx="3080576" cy="860971"/>
          </a:xfrm>
          <a:prstGeom prst="rect">
            <a:avLst/>
          </a:prstGeom>
          <a:noFill/>
          <a:ln>
            <a:noFill/>
          </a:ln>
        </p:spPr>
        <p:txBody>
          <a:bodyPr anchorCtr="0" anchor="t" bIns="25400" lIns="25400" spcFirstLastPara="1" rIns="25400" wrap="square" tIns="25400">
            <a:normAutofit/>
          </a:bodyPr>
          <a:lstStyle/>
          <a:p>
            <a:pPr indent="0" lvl="0" marL="0" marR="0" rtl="0" algn="l">
              <a:lnSpc>
                <a:spcPct val="90000"/>
              </a:lnSpc>
              <a:spcBef>
                <a:spcPts val="0"/>
              </a:spcBef>
              <a:spcAft>
                <a:spcPts val="0"/>
              </a:spcAft>
              <a:buClr>
                <a:srgbClr val="3FE0D0"/>
              </a:buClr>
              <a:buSzPts val="7200"/>
              <a:buFont typeface="Montserrat"/>
              <a:buNone/>
            </a:pPr>
            <a:r>
              <a:rPr b="1" lang="en-US" sz="7200">
                <a:solidFill>
                  <a:srgbClr val="3FE0D0"/>
                </a:solidFill>
                <a:latin typeface="Montserrat"/>
                <a:ea typeface="Montserrat"/>
                <a:cs typeface="Montserrat"/>
                <a:sym typeface="Montserrat"/>
              </a:rPr>
              <a:t>F</a:t>
            </a:r>
            <a:endParaRPr sz="7200">
              <a:solidFill>
                <a:schemeClr val="dk1"/>
              </a:solidFill>
              <a:latin typeface="Calibri"/>
              <a:ea typeface="Calibri"/>
              <a:cs typeface="Calibri"/>
              <a:sym typeface="Calibri"/>
            </a:endParaRPr>
          </a:p>
        </p:txBody>
      </p:sp>
      <p:sp>
        <p:nvSpPr>
          <p:cNvPr id="494" name="Google Shape;494;p19"/>
          <p:cNvSpPr/>
          <p:nvPr/>
        </p:nvSpPr>
        <p:spPr>
          <a:xfrm>
            <a:off x="12925425" y="4893766"/>
            <a:ext cx="3080576" cy="3905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250"/>
              <a:buFont typeface="Montserrat"/>
              <a:buNone/>
            </a:pPr>
            <a:r>
              <a:rPr b="1" lang="en-US" sz="2250">
                <a:solidFill>
                  <a:srgbClr val="2A2D38"/>
                </a:solidFill>
                <a:latin typeface="Montserrat"/>
                <a:ea typeface="Montserrat"/>
                <a:cs typeface="Montserrat"/>
                <a:sym typeface="Montserrat"/>
              </a:rPr>
              <a:t>Format</a:t>
            </a:r>
            <a:endParaRPr sz="2250">
              <a:solidFill>
                <a:schemeClr val="dk1"/>
              </a:solidFill>
              <a:latin typeface="Calibri"/>
              <a:ea typeface="Calibri"/>
              <a:cs typeface="Calibri"/>
              <a:sym typeface="Calibri"/>
            </a:endParaRPr>
          </a:p>
        </p:txBody>
      </p:sp>
      <p:sp>
        <p:nvSpPr>
          <p:cNvPr id="495" name="Google Shape;495;p19"/>
          <p:cNvSpPr/>
          <p:nvPr/>
        </p:nvSpPr>
        <p:spPr>
          <a:xfrm>
            <a:off x="12925425" y="5398591"/>
            <a:ext cx="3080576" cy="10668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The shape of the output. Length, structure, do's and don'ts.</a:t>
            </a:r>
            <a:endParaRPr sz="1800">
              <a:solidFill>
                <a:schemeClr val="dk1"/>
              </a:solidFill>
              <a:latin typeface="Calibri"/>
              <a:ea typeface="Calibri"/>
              <a:cs typeface="Calibri"/>
              <a:sym typeface="Calibri"/>
            </a:endParaRPr>
          </a:p>
        </p:txBody>
      </p:sp>
      <p:sp>
        <p:nvSpPr>
          <p:cNvPr id="496" name="Google Shape;496;p19"/>
          <p:cNvSpPr/>
          <p:nvPr/>
        </p:nvSpPr>
        <p:spPr>
          <a:xfrm>
            <a:off x="12925425" y="6579691"/>
            <a:ext cx="2990850" cy="2094905"/>
          </a:xfrm>
          <a:prstGeom prst="roundRect">
            <a:avLst>
              <a:gd fmla="val 3637" name="adj"/>
            </a:avLst>
          </a:prstGeom>
          <a:solidFill>
            <a:srgbClr val="FFFFFF"/>
          </a:solidFill>
          <a:ln cap="flat" cmpd="sng" w="9525">
            <a:solidFill>
              <a:srgbClr val="E5E5E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7" name="Google Shape;497;p19"/>
          <p:cNvSpPr/>
          <p:nvPr/>
        </p:nvSpPr>
        <p:spPr>
          <a:xfrm>
            <a:off x="13106400" y="6741616"/>
            <a:ext cx="2718626" cy="1809155"/>
          </a:xfrm>
          <a:prstGeom prst="rect">
            <a:avLst/>
          </a:prstGeom>
          <a:noFill/>
          <a:ln>
            <a:noFill/>
          </a:ln>
        </p:spPr>
        <p:txBody>
          <a:bodyPr anchorCtr="0" anchor="t" bIns="25400" lIns="25400" spcFirstLastPara="1" rIns="25400" wrap="square" tIns="25400">
            <a:normAutofit/>
          </a:bodyPr>
          <a:lstStyle/>
          <a:p>
            <a:pPr indent="0" lvl="0" marL="0" marR="0" rtl="0" algn="l">
              <a:lnSpc>
                <a:spcPct val="155000"/>
              </a:lnSpc>
              <a:spcBef>
                <a:spcPts val="0"/>
              </a:spcBef>
              <a:spcAft>
                <a:spcPts val="0"/>
              </a:spcAft>
              <a:buClr>
                <a:srgbClr val="2A2D38"/>
              </a:buClr>
              <a:buSzPts val="1800"/>
              <a:buFont typeface="JetBrains Mono"/>
              <a:buNone/>
            </a:pPr>
            <a:r>
              <a:rPr lang="en-US" sz="1800">
                <a:solidFill>
                  <a:srgbClr val="2A2D38"/>
                </a:solidFill>
                <a:latin typeface="JetBrains Mono"/>
                <a:ea typeface="JetBrains Mono"/>
                <a:cs typeface="JetBrains Mono"/>
                <a:sym typeface="JetBrains Mono"/>
              </a:rPr>
              <a:t>"Subject line + 2 short paragraphs. No exclamation points. Sign as 'Kids Team.'"</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2" name="Shape 502"/>
        <p:cNvGrpSpPr/>
        <p:nvPr/>
      </p:nvGrpSpPr>
      <p:grpSpPr>
        <a:xfrm>
          <a:off x="0" y="0"/>
          <a:ext cx="0" cy="0"/>
          <a:chOff x="0" y="0"/>
          <a:chExt cx="0" cy="0"/>
        </a:xfrm>
      </p:grpSpPr>
      <p:sp>
        <p:nvSpPr>
          <p:cNvPr id="503" name="Google Shape;503;p20"/>
          <p:cNvSpPr/>
          <p:nvPr/>
        </p:nvSpPr>
        <p:spPr>
          <a:xfrm>
            <a:off x="952500" y="952500"/>
            <a:ext cx="16874490"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950"/>
              <a:buFont typeface="Montserrat"/>
              <a:buNone/>
            </a:pPr>
            <a:r>
              <a:rPr b="1" lang="en-US" sz="1950">
                <a:solidFill>
                  <a:srgbClr val="F58220"/>
                </a:solidFill>
                <a:latin typeface="Montserrat"/>
                <a:ea typeface="Montserrat"/>
                <a:cs typeface="Montserrat"/>
                <a:sym typeface="Montserrat"/>
              </a:rPr>
              <a:t>SAME GOAL · DIFFERENT OUTPUT</a:t>
            </a:r>
            <a:endParaRPr sz="1950">
              <a:solidFill>
                <a:schemeClr val="dk1"/>
              </a:solidFill>
              <a:latin typeface="Calibri"/>
              <a:ea typeface="Calibri"/>
              <a:cs typeface="Calibri"/>
              <a:sym typeface="Calibri"/>
            </a:endParaRPr>
          </a:p>
        </p:txBody>
      </p:sp>
      <p:sp>
        <p:nvSpPr>
          <p:cNvPr id="504" name="Google Shape;504;p20"/>
          <p:cNvSpPr/>
          <p:nvPr/>
        </p:nvSpPr>
        <p:spPr>
          <a:xfrm>
            <a:off x="952500" y="1447800"/>
            <a:ext cx="16874490" cy="798165"/>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2A2D38"/>
              </a:buClr>
              <a:buSzPts val="5700"/>
              <a:buFont typeface="Montserrat"/>
              <a:buNone/>
            </a:pPr>
            <a:r>
              <a:rPr b="1" lang="en-US" sz="5700">
                <a:solidFill>
                  <a:srgbClr val="2A2D38"/>
                </a:solidFill>
                <a:latin typeface="Montserrat"/>
                <a:ea typeface="Montserrat"/>
                <a:cs typeface="Montserrat"/>
                <a:sym typeface="Montserrat"/>
              </a:rPr>
              <a:t>Bad prompt. Good prompt.</a:t>
            </a:r>
            <a:endParaRPr sz="5700">
              <a:solidFill>
                <a:schemeClr val="dk1"/>
              </a:solidFill>
              <a:latin typeface="Calibri"/>
              <a:ea typeface="Calibri"/>
              <a:cs typeface="Calibri"/>
              <a:sym typeface="Calibri"/>
            </a:endParaRPr>
          </a:p>
        </p:txBody>
      </p:sp>
      <p:sp>
        <p:nvSpPr>
          <p:cNvPr id="505" name="Google Shape;505;p20"/>
          <p:cNvSpPr/>
          <p:nvPr/>
        </p:nvSpPr>
        <p:spPr>
          <a:xfrm>
            <a:off x="952500" y="2703165"/>
            <a:ext cx="914400" cy="38100"/>
          </a:xfrm>
          <a:prstGeom prst="roundRect">
            <a:avLst>
              <a:gd fmla="val 50000" name="adj"/>
            </a:avLst>
          </a:prstGeom>
          <a:solidFill>
            <a:srgbClr val="F5822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6" name="Google Shape;506;p20"/>
          <p:cNvSpPr/>
          <p:nvPr/>
        </p:nvSpPr>
        <p:spPr>
          <a:xfrm>
            <a:off x="952500" y="3236565"/>
            <a:ext cx="8039100" cy="5338614"/>
          </a:xfrm>
          <a:prstGeom prst="roundRect">
            <a:avLst>
              <a:gd fmla="val 2855" name="adj"/>
            </a:avLst>
          </a:prstGeom>
          <a:solidFill>
            <a:srgbClr val="FBE5E1"/>
          </a:solidFill>
          <a:ln cap="flat" cmpd="sng" w="9525">
            <a:solidFill>
              <a:srgbClr val="F0BFB6"/>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7" name="Google Shape;507;p20"/>
          <p:cNvSpPr/>
          <p:nvPr/>
        </p:nvSpPr>
        <p:spPr>
          <a:xfrm>
            <a:off x="1343025" y="3588990"/>
            <a:ext cx="304205"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B5341B"/>
              </a:buClr>
              <a:buSzPts val="1800"/>
              <a:buFont typeface="Montserrat"/>
              <a:buNone/>
            </a:pPr>
            <a:r>
              <a:rPr b="1" lang="en-US" sz="1800">
                <a:solidFill>
                  <a:srgbClr val="B5341B"/>
                </a:solidFill>
                <a:latin typeface="Montserrat"/>
                <a:ea typeface="Montserrat"/>
                <a:cs typeface="Montserrat"/>
                <a:sym typeface="Montserrat"/>
              </a:rPr>
              <a:t>✕</a:t>
            </a:r>
            <a:endParaRPr sz="1800">
              <a:solidFill>
                <a:schemeClr val="dk1"/>
              </a:solidFill>
              <a:latin typeface="Calibri"/>
              <a:ea typeface="Calibri"/>
              <a:cs typeface="Calibri"/>
              <a:sym typeface="Calibri"/>
            </a:endParaRPr>
          </a:p>
        </p:txBody>
      </p:sp>
      <p:sp>
        <p:nvSpPr>
          <p:cNvPr id="508" name="Google Shape;508;p20"/>
          <p:cNvSpPr/>
          <p:nvPr/>
        </p:nvSpPr>
        <p:spPr>
          <a:xfrm>
            <a:off x="1704380" y="3603278"/>
            <a:ext cx="1134963"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B5341B"/>
              </a:buClr>
              <a:buSzPts val="1800"/>
              <a:buFont typeface="Montserrat"/>
              <a:buNone/>
            </a:pPr>
            <a:r>
              <a:rPr b="1" lang="en-US" sz="1800">
                <a:solidFill>
                  <a:srgbClr val="B5341B"/>
                </a:solidFill>
                <a:latin typeface="Montserrat"/>
                <a:ea typeface="Montserrat"/>
                <a:cs typeface="Montserrat"/>
                <a:sym typeface="Montserrat"/>
              </a:rPr>
              <a:t>VAGUE</a:t>
            </a:r>
            <a:endParaRPr sz="1800">
              <a:solidFill>
                <a:schemeClr val="dk1"/>
              </a:solidFill>
              <a:latin typeface="Calibri"/>
              <a:ea typeface="Calibri"/>
              <a:cs typeface="Calibri"/>
              <a:sym typeface="Calibri"/>
            </a:endParaRPr>
          </a:p>
        </p:txBody>
      </p:sp>
      <p:sp>
        <p:nvSpPr>
          <p:cNvPr id="509" name="Google Shape;509;p20"/>
          <p:cNvSpPr/>
          <p:nvPr/>
        </p:nvSpPr>
        <p:spPr>
          <a:xfrm>
            <a:off x="1343025" y="4084290"/>
            <a:ext cx="7475792" cy="746522"/>
          </a:xfrm>
          <a:prstGeom prst="rect">
            <a:avLst/>
          </a:prstGeom>
          <a:noFill/>
          <a:ln>
            <a:noFill/>
          </a:ln>
        </p:spPr>
        <p:txBody>
          <a:bodyPr anchorCtr="0" anchor="t" bIns="25400" lIns="25400" spcFirstLastPara="1" rIns="25400" wrap="square" tIns="25400">
            <a:normAutofit/>
          </a:bodyPr>
          <a:lstStyle/>
          <a:p>
            <a:pPr indent="0" lvl="0" marL="0" marR="0" rtl="0" algn="l">
              <a:lnSpc>
                <a:spcPct val="155000"/>
              </a:lnSpc>
              <a:spcBef>
                <a:spcPts val="0"/>
              </a:spcBef>
              <a:spcAft>
                <a:spcPts val="0"/>
              </a:spcAft>
              <a:buClr>
                <a:srgbClr val="2A2D38"/>
              </a:buClr>
              <a:buSzPts val="1800"/>
              <a:buFont typeface="JetBrains Mono"/>
              <a:buNone/>
            </a:pPr>
            <a:r>
              <a:rPr lang="en-US" sz="1800">
                <a:solidFill>
                  <a:srgbClr val="2A2D38"/>
                </a:solidFill>
                <a:latin typeface="JetBrains Mono"/>
                <a:ea typeface="JetBrains Mono"/>
                <a:cs typeface="JetBrains Mono"/>
                <a:sym typeface="JetBrains Mono"/>
              </a:rPr>
              <a:t>Write a thank-you email to volunteers from last weekend.</a:t>
            </a:r>
            <a:endParaRPr sz="1800">
              <a:solidFill>
                <a:schemeClr val="dk1"/>
              </a:solidFill>
              <a:latin typeface="Calibri"/>
              <a:ea typeface="Calibri"/>
              <a:cs typeface="Calibri"/>
              <a:sym typeface="Calibri"/>
            </a:endParaRPr>
          </a:p>
        </p:txBody>
      </p:sp>
      <p:sp>
        <p:nvSpPr>
          <p:cNvPr id="510" name="Google Shape;510;p20"/>
          <p:cNvSpPr/>
          <p:nvPr/>
        </p:nvSpPr>
        <p:spPr>
          <a:xfrm>
            <a:off x="1343025" y="7131248"/>
            <a:ext cx="7258050" cy="9525"/>
          </a:xfrm>
          <a:prstGeom prst="rect">
            <a:avLst/>
          </a:prstGeom>
          <a:solidFill>
            <a:srgbClr val="000000">
              <a:alpha val="7843"/>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1" name="Google Shape;511;p20"/>
          <p:cNvSpPr/>
          <p:nvPr/>
        </p:nvSpPr>
        <p:spPr>
          <a:xfrm>
            <a:off x="1343025" y="7331273"/>
            <a:ext cx="7475792" cy="70098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3D404A"/>
              </a:buClr>
              <a:buSzPts val="1800"/>
              <a:buFont typeface="Inter"/>
              <a:buNone/>
            </a:pPr>
            <a:r>
              <a:rPr lang="en-US" sz="1800">
                <a:solidFill>
                  <a:srgbClr val="3D404A"/>
                </a:solidFill>
                <a:latin typeface="Inter"/>
                <a:ea typeface="Inter"/>
                <a:cs typeface="Inter"/>
                <a:sym typeface="Inter"/>
              </a:rPr>
              <a:t>Model has to guess </a:t>
            </a:r>
            <a:r>
              <a:rPr b="1" lang="en-US" sz="1800">
                <a:solidFill>
                  <a:srgbClr val="3D404A"/>
                </a:solidFill>
                <a:latin typeface="Inter"/>
                <a:ea typeface="Inter"/>
                <a:cs typeface="Inter"/>
                <a:sym typeface="Inter"/>
              </a:rPr>
              <a:t>who</a:t>
            </a:r>
            <a:r>
              <a:rPr lang="en-US" sz="1800">
                <a:solidFill>
                  <a:srgbClr val="3D404A"/>
                </a:solidFill>
                <a:latin typeface="Inter"/>
                <a:ea typeface="Inter"/>
                <a:cs typeface="Inter"/>
                <a:sym typeface="Inter"/>
              </a:rPr>
              <a:t>, </a:t>
            </a:r>
            <a:r>
              <a:rPr b="1" lang="en-US" sz="1800">
                <a:solidFill>
                  <a:srgbClr val="3D404A"/>
                </a:solidFill>
                <a:latin typeface="Inter"/>
                <a:ea typeface="Inter"/>
                <a:cs typeface="Inter"/>
                <a:sym typeface="Inter"/>
              </a:rPr>
              <a:t>what they did</a:t>
            </a:r>
            <a:r>
              <a:rPr lang="en-US" sz="1800">
                <a:solidFill>
                  <a:srgbClr val="3D404A"/>
                </a:solidFill>
                <a:latin typeface="Inter"/>
                <a:ea typeface="Inter"/>
                <a:cs typeface="Inter"/>
                <a:sym typeface="Inter"/>
              </a:rPr>
              <a:t>, your </a:t>
            </a:r>
            <a:r>
              <a:rPr b="1" lang="en-US" sz="1800">
                <a:solidFill>
                  <a:srgbClr val="3D404A"/>
                </a:solidFill>
                <a:latin typeface="Inter"/>
                <a:ea typeface="Inter"/>
                <a:cs typeface="Inter"/>
                <a:sym typeface="Inter"/>
              </a:rPr>
              <a:t>voice</a:t>
            </a:r>
            <a:r>
              <a:rPr lang="en-US" sz="1800">
                <a:solidFill>
                  <a:srgbClr val="3D404A"/>
                </a:solidFill>
                <a:latin typeface="Inter"/>
                <a:ea typeface="Inter"/>
                <a:cs typeface="Inter"/>
                <a:sym typeface="Inter"/>
              </a:rPr>
              <a:t>, and the </a:t>
            </a:r>
            <a:r>
              <a:rPr b="1" lang="en-US" sz="1800">
                <a:solidFill>
                  <a:srgbClr val="3D404A"/>
                </a:solidFill>
                <a:latin typeface="Inter"/>
                <a:ea typeface="Inter"/>
                <a:cs typeface="Inter"/>
                <a:sym typeface="Inter"/>
              </a:rPr>
              <a:t>length</a:t>
            </a:r>
            <a:r>
              <a:rPr lang="en-US" sz="1800">
                <a:solidFill>
                  <a:srgbClr val="3D404A"/>
                </a:solidFill>
                <a:latin typeface="Inter"/>
                <a:ea typeface="Inter"/>
                <a:cs typeface="Inter"/>
                <a:sym typeface="Inter"/>
              </a:rPr>
              <a:t>. You'll edit for 20 minutes.</a:t>
            </a:r>
            <a:endParaRPr sz="1800">
              <a:solidFill>
                <a:schemeClr val="dk1"/>
              </a:solidFill>
              <a:latin typeface="Calibri"/>
              <a:ea typeface="Calibri"/>
              <a:cs typeface="Calibri"/>
              <a:sym typeface="Calibri"/>
            </a:endParaRPr>
          </a:p>
        </p:txBody>
      </p:sp>
      <p:sp>
        <p:nvSpPr>
          <p:cNvPr id="512" name="Google Shape;512;p20"/>
          <p:cNvSpPr/>
          <p:nvPr/>
        </p:nvSpPr>
        <p:spPr>
          <a:xfrm>
            <a:off x="9296400" y="3236565"/>
            <a:ext cx="8039100" cy="5338614"/>
          </a:xfrm>
          <a:prstGeom prst="roundRect">
            <a:avLst>
              <a:gd fmla="val 2855" name="adj"/>
            </a:avLst>
          </a:prstGeom>
          <a:solidFill>
            <a:srgbClr val="E6F4EA"/>
          </a:solidFill>
          <a:ln cap="flat" cmpd="sng" w="9525">
            <a:solidFill>
              <a:srgbClr val="B7DCC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3" name="Google Shape;513;p20"/>
          <p:cNvSpPr/>
          <p:nvPr/>
        </p:nvSpPr>
        <p:spPr>
          <a:xfrm>
            <a:off x="9686925" y="3588990"/>
            <a:ext cx="288578"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F8F4E"/>
              </a:buClr>
              <a:buSzPts val="1800"/>
              <a:buFont typeface="Montserrat"/>
              <a:buNone/>
            </a:pPr>
            <a:r>
              <a:rPr b="1" lang="en-US" sz="1800">
                <a:solidFill>
                  <a:srgbClr val="2F8F4E"/>
                </a:solidFill>
                <a:latin typeface="Montserrat"/>
                <a:ea typeface="Montserrat"/>
                <a:cs typeface="Montserrat"/>
                <a:sym typeface="Montserrat"/>
              </a:rPr>
              <a:t>✓</a:t>
            </a:r>
            <a:endParaRPr sz="1800">
              <a:solidFill>
                <a:schemeClr val="dk1"/>
              </a:solidFill>
              <a:latin typeface="Calibri"/>
              <a:ea typeface="Calibri"/>
              <a:cs typeface="Calibri"/>
              <a:sym typeface="Calibri"/>
            </a:endParaRPr>
          </a:p>
        </p:txBody>
      </p:sp>
      <p:sp>
        <p:nvSpPr>
          <p:cNvPr id="514" name="Google Shape;514;p20"/>
          <p:cNvSpPr/>
          <p:nvPr/>
        </p:nvSpPr>
        <p:spPr>
          <a:xfrm>
            <a:off x="10032653" y="3603278"/>
            <a:ext cx="2082254"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2F8F4E"/>
              </a:buClr>
              <a:buSzPts val="1800"/>
              <a:buFont typeface="Montserrat"/>
              <a:buNone/>
            </a:pPr>
            <a:r>
              <a:rPr b="1" lang="en-US" sz="1800">
                <a:solidFill>
                  <a:srgbClr val="2F8F4E"/>
                </a:solidFill>
                <a:latin typeface="Montserrat"/>
                <a:ea typeface="Montserrat"/>
                <a:cs typeface="Montserrat"/>
                <a:sym typeface="Montserrat"/>
              </a:rPr>
              <a:t>ENGINEERED</a:t>
            </a:r>
            <a:endParaRPr sz="1800">
              <a:solidFill>
                <a:schemeClr val="dk1"/>
              </a:solidFill>
              <a:latin typeface="Calibri"/>
              <a:ea typeface="Calibri"/>
              <a:cs typeface="Calibri"/>
              <a:sym typeface="Calibri"/>
            </a:endParaRPr>
          </a:p>
        </p:txBody>
      </p:sp>
      <p:sp>
        <p:nvSpPr>
          <p:cNvPr id="515" name="Google Shape;515;p20"/>
          <p:cNvSpPr/>
          <p:nvPr/>
        </p:nvSpPr>
        <p:spPr>
          <a:xfrm>
            <a:off x="9686925" y="4084290"/>
            <a:ext cx="7475792" cy="3225998"/>
          </a:xfrm>
          <a:prstGeom prst="rect">
            <a:avLst/>
          </a:prstGeom>
          <a:noFill/>
          <a:ln>
            <a:noFill/>
          </a:ln>
        </p:spPr>
        <p:txBody>
          <a:bodyPr anchorCtr="0" anchor="t" bIns="25400" lIns="25400" spcFirstLastPara="1" rIns="25400" wrap="square" tIns="25400">
            <a:normAutofit/>
          </a:bodyPr>
          <a:lstStyle/>
          <a:p>
            <a:pPr indent="0" lvl="0" marL="0" marR="0" rtl="0" algn="l">
              <a:lnSpc>
                <a:spcPct val="155000"/>
              </a:lnSpc>
              <a:spcBef>
                <a:spcPts val="0"/>
              </a:spcBef>
              <a:spcAft>
                <a:spcPts val="0"/>
              </a:spcAft>
              <a:buClr>
                <a:srgbClr val="2A2D38"/>
              </a:buClr>
              <a:buSzPts val="1800"/>
              <a:buFont typeface="JetBrains Mono"/>
              <a:buNone/>
            </a:pPr>
            <a:r>
              <a:rPr lang="en-US" sz="1800">
                <a:solidFill>
                  <a:srgbClr val="2A2D38"/>
                </a:solidFill>
                <a:latin typeface="JetBrains Mono"/>
                <a:ea typeface="JetBrains Mono"/>
                <a:cs typeface="JetBrains Mono"/>
                <a:sym typeface="JetBrains Mono"/>
              </a:rPr>
              <a:t>You're our comms editor (warm, plainspoken).</a:t>
            </a:r>
            <a:endParaRPr sz="1800">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2A2D38"/>
              </a:buClr>
              <a:buSzPts val="1800"/>
              <a:buFont typeface="JetBrains Mono"/>
              <a:buNone/>
            </a:pPr>
            <a:r>
              <a:rPr lang="en-US" sz="1800">
                <a:solidFill>
                  <a:srgbClr val="2A2D38"/>
                </a:solidFill>
                <a:latin typeface="JetBrains Mono"/>
                <a:ea typeface="JetBrains Mono"/>
                <a:cs typeface="JetBrains Mono"/>
                <a:sym typeface="JetBrains Mono"/>
              </a:rPr>
              <a:t>Draft a 90-word thank-you email to the 14 first-time hospitality volunteers from Easter weekend.</a:t>
            </a:r>
            <a:endParaRPr sz="1800">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2A2D38"/>
              </a:buClr>
              <a:buSzPts val="1800"/>
              <a:buFont typeface="JetBrains Mono"/>
              <a:buNone/>
            </a:pPr>
            <a:r>
              <a:rPr lang="en-US" sz="1800">
                <a:solidFill>
                  <a:srgbClr val="2A2D38"/>
                </a:solidFill>
                <a:latin typeface="JetBrains Mono"/>
                <a:ea typeface="JetBrains Mono"/>
                <a:cs typeface="JetBrains Mono"/>
                <a:sym typeface="JetBrains Mono"/>
              </a:rPr>
              <a:t>Reference the espresso bar mishap kindly. End with one sentence inviting them to the May 12 huddle.</a:t>
            </a:r>
            <a:endParaRPr sz="1800">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2A2D38"/>
              </a:buClr>
              <a:buSzPts val="1800"/>
              <a:buFont typeface="JetBrains Mono"/>
              <a:buNone/>
            </a:pPr>
            <a:r>
              <a:rPr lang="en-US" sz="1800">
                <a:solidFill>
                  <a:srgbClr val="2A2D38"/>
                </a:solidFill>
                <a:latin typeface="JetBrains Mono"/>
                <a:ea typeface="JetBrains Mono"/>
                <a:cs typeface="JetBrains Mono"/>
                <a:sym typeface="JetBrains Mono"/>
              </a:rPr>
              <a:t>No exclamation points.</a:t>
            </a:r>
            <a:endParaRPr sz="1800">
              <a:solidFill>
                <a:schemeClr val="dk1"/>
              </a:solidFill>
              <a:latin typeface="Calibri"/>
              <a:ea typeface="Calibri"/>
              <a:cs typeface="Calibri"/>
              <a:sym typeface="Calibri"/>
            </a:endParaRPr>
          </a:p>
        </p:txBody>
      </p:sp>
      <p:sp>
        <p:nvSpPr>
          <p:cNvPr id="516" name="Google Shape;516;p20"/>
          <p:cNvSpPr/>
          <p:nvPr/>
        </p:nvSpPr>
        <p:spPr>
          <a:xfrm>
            <a:off x="9686925" y="7462689"/>
            <a:ext cx="7258050" cy="9525"/>
          </a:xfrm>
          <a:prstGeom prst="rect">
            <a:avLst/>
          </a:prstGeom>
          <a:solidFill>
            <a:srgbClr val="000000">
              <a:alpha val="7843"/>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7" name="Google Shape;517;p20"/>
          <p:cNvSpPr/>
          <p:nvPr/>
        </p:nvSpPr>
        <p:spPr>
          <a:xfrm>
            <a:off x="9686925" y="7662714"/>
            <a:ext cx="7475792" cy="36954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3D404A"/>
              </a:buClr>
              <a:buSzPts val="1800"/>
              <a:buFont typeface="Inter"/>
              <a:buNone/>
            </a:pPr>
            <a:r>
              <a:rPr lang="en-US" sz="1800">
                <a:solidFill>
                  <a:srgbClr val="3D404A"/>
                </a:solidFill>
                <a:latin typeface="Inter"/>
                <a:ea typeface="Inter"/>
                <a:cs typeface="Inter"/>
                <a:sym typeface="Inter"/>
              </a:rPr>
              <a:t>Same model. Same minute. Vastly better first draft.</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2" name="Shape 522"/>
        <p:cNvGrpSpPr/>
        <p:nvPr/>
      </p:nvGrpSpPr>
      <p:grpSpPr>
        <a:xfrm>
          <a:off x="0" y="0"/>
          <a:ext cx="0" cy="0"/>
          <a:chOff x="0" y="0"/>
          <a:chExt cx="0" cy="0"/>
        </a:xfrm>
      </p:grpSpPr>
      <p:sp>
        <p:nvSpPr>
          <p:cNvPr id="523" name="Google Shape;523;p21"/>
          <p:cNvSpPr/>
          <p:nvPr/>
        </p:nvSpPr>
        <p:spPr>
          <a:xfrm>
            <a:off x="0" y="0"/>
            <a:ext cx="5143500" cy="10287000"/>
          </a:xfrm>
          <a:prstGeom prst="rect">
            <a:avLst/>
          </a:prstGeom>
          <a:solidFill>
            <a:srgbClr val="1B1D2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4" name="Google Shape;524;p21"/>
          <p:cNvSpPr/>
          <p:nvPr/>
        </p:nvSpPr>
        <p:spPr>
          <a:xfrm>
            <a:off x="571500" y="952500"/>
            <a:ext cx="4120515"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EXERCISE</a:t>
            </a:r>
            <a:endParaRPr sz="1800">
              <a:solidFill>
                <a:schemeClr val="dk1"/>
              </a:solidFill>
              <a:latin typeface="Calibri"/>
              <a:ea typeface="Calibri"/>
              <a:cs typeface="Calibri"/>
              <a:sym typeface="Calibri"/>
            </a:endParaRPr>
          </a:p>
        </p:txBody>
      </p:sp>
      <p:sp>
        <p:nvSpPr>
          <p:cNvPr id="525" name="Google Shape;525;p21"/>
          <p:cNvSpPr/>
          <p:nvPr/>
        </p:nvSpPr>
        <p:spPr>
          <a:xfrm>
            <a:off x="571500" y="1552575"/>
            <a:ext cx="4120515" cy="1819275"/>
          </a:xfrm>
          <a:prstGeom prst="rect">
            <a:avLst/>
          </a:prstGeom>
          <a:noFill/>
          <a:ln>
            <a:noFill/>
          </a:ln>
        </p:spPr>
        <p:txBody>
          <a:bodyPr anchorCtr="0" anchor="t" bIns="25400" lIns="25400" spcFirstLastPara="1" rIns="25400" wrap="square" tIns="25400">
            <a:normAutofit/>
          </a:bodyPr>
          <a:lstStyle/>
          <a:p>
            <a:pPr indent="0" lvl="0" marL="0" marR="0" rtl="0" algn="l">
              <a:lnSpc>
                <a:spcPct val="85000"/>
              </a:lnSpc>
              <a:spcBef>
                <a:spcPts val="0"/>
              </a:spcBef>
              <a:spcAft>
                <a:spcPts val="0"/>
              </a:spcAft>
              <a:buClr>
                <a:srgbClr val="FFFFFF"/>
              </a:buClr>
              <a:buSzPts val="16500"/>
              <a:buFont typeface="Montserrat"/>
              <a:buNone/>
            </a:pPr>
            <a:r>
              <a:rPr b="1" lang="en-US" sz="16500">
                <a:solidFill>
                  <a:srgbClr val="FFFFFF"/>
                </a:solidFill>
                <a:latin typeface="Montserrat"/>
                <a:ea typeface="Montserrat"/>
                <a:cs typeface="Montserrat"/>
                <a:sym typeface="Montserrat"/>
              </a:rPr>
              <a:t>0</a:t>
            </a:r>
            <a:r>
              <a:rPr b="1" lang="en-US" sz="16500">
                <a:solidFill>
                  <a:srgbClr val="3FE0D0"/>
                </a:solidFill>
                <a:latin typeface="Montserrat"/>
                <a:ea typeface="Montserrat"/>
                <a:cs typeface="Montserrat"/>
                <a:sym typeface="Montserrat"/>
              </a:rPr>
              <a:t>1</a:t>
            </a:r>
            <a:endParaRPr sz="16500">
              <a:solidFill>
                <a:schemeClr val="dk1"/>
              </a:solidFill>
              <a:latin typeface="Calibri"/>
              <a:ea typeface="Calibri"/>
              <a:cs typeface="Calibri"/>
              <a:sym typeface="Calibri"/>
            </a:endParaRPr>
          </a:p>
        </p:txBody>
      </p:sp>
      <p:sp>
        <p:nvSpPr>
          <p:cNvPr id="526" name="Google Shape;526;p21"/>
          <p:cNvSpPr/>
          <p:nvPr/>
        </p:nvSpPr>
        <p:spPr>
          <a:xfrm>
            <a:off x="571500" y="3638550"/>
            <a:ext cx="4120515" cy="708422"/>
          </a:xfrm>
          <a:prstGeom prst="rect">
            <a:avLst/>
          </a:prstGeom>
          <a:noFill/>
          <a:ln>
            <a:noFill/>
          </a:ln>
        </p:spPr>
        <p:txBody>
          <a:bodyPr anchorCtr="0" anchor="t" bIns="25400" lIns="25400" spcFirstLastPara="1" rIns="25400" wrap="square" tIns="25400">
            <a:normAutofit/>
          </a:bodyPr>
          <a:lstStyle/>
          <a:p>
            <a:pPr indent="0" lvl="0" marL="0" marR="0" rtl="0" algn="l">
              <a:lnSpc>
                <a:spcPct val="110000"/>
              </a:lnSpc>
              <a:spcBef>
                <a:spcPts val="0"/>
              </a:spcBef>
              <a:spcAft>
                <a:spcPts val="0"/>
              </a:spcAft>
              <a:buClr>
                <a:srgbClr val="FFFFFF"/>
              </a:buClr>
              <a:buSzPts val="2400"/>
              <a:buFont typeface="Montserrat"/>
              <a:buNone/>
            </a:pPr>
            <a:r>
              <a:rPr b="1" lang="en-US" sz="2400">
                <a:solidFill>
                  <a:srgbClr val="FFFFFF"/>
                </a:solidFill>
                <a:latin typeface="Montserrat"/>
                <a:ea typeface="Montserrat"/>
                <a:cs typeface="Montserrat"/>
                <a:sym typeface="Montserrat"/>
              </a:rPr>
              <a:t>REWRITE A REAL PROMPT</a:t>
            </a:r>
            <a:endParaRPr sz="2400">
              <a:solidFill>
                <a:schemeClr val="dk1"/>
              </a:solidFill>
              <a:latin typeface="Calibri"/>
              <a:ea typeface="Calibri"/>
              <a:cs typeface="Calibri"/>
              <a:sym typeface="Calibri"/>
            </a:endParaRPr>
          </a:p>
        </p:txBody>
      </p:sp>
      <p:sp>
        <p:nvSpPr>
          <p:cNvPr id="527" name="Google Shape;527;p21"/>
          <p:cNvSpPr/>
          <p:nvPr/>
        </p:nvSpPr>
        <p:spPr>
          <a:xfrm>
            <a:off x="571500" y="9129713"/>
            <a:ext cx="114300" cy="114300"/>
          </a:xfrm>
          <a:prstGeom prst="ellipse">
            <a:avLst/>
          </a:prstGeom>
          <a:solidFill>
            <a:srgbClr val="3FE0D0"/>
          </a:solidFill>
          <a:ln>
            <a:noFill/>
          </a:ln>
          <a:effectLst>
            <a:outerShdw blurRad="152400" rotWithShape="0" algn="bl" dir="16200000" dist="50800">
              <a:srgbClr val="3FE0D0"/>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8" name="Google Shape;528;p21"/>
          <p:cNvSpPr/>
          <p:nvPr/>
        </p:nvSpPr>
        <p:spPr>
          <a:xfrm>
            <a:off x="838200" y="9039225"/>
            <a:ext cx="2545110" cy="33337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C9CBD1"/>
              </a:buClr>
              <a:buSzPts val="1800"/>
              <a:buFont typeface="JetBrains Mono"/>
              <a:buNone/>
            </a:pPr>
            <a:r>
              <a:rPr lang="en-US" sz="1800">
                <a:solidFill>
                  <a:srgbClr val="C9CBD1"/>
                </a:solidFill>
                <a:latin typeface="JetBrains Mono"/>
                <a:ea typeface="JetBrains Mono"/>
                <a:cs typeface="JetBrains Mono"/>
                <a:sym typeface="JetBrains Mono"/>
              </a:rPr>
              <a:t>10 minutes · pairs</a:t>
            </a:r>
            <a:endParaRPr sz="1800">
              <a:solidFill>
                <a:schemeClr val="dk1"/>
              </a:solidFill>
              <a:latin typeface="Calibri"/>
              <a:ea typeface="Calibri"/>
              <a:cs typeface="Calibri"/>
              <a:sym typeface="Calibri"/>
            </a:endParaRPr>
          </a:p>
        </p:txBody>
      </p:sp>
      <p:sp>
        <p:nvSpPr>
          <p:cNvPr id="529" name="Google Shape;529;p21"/>
          <p:cNvSpPr/>
          <p:nvPr/>
        </p:nvSpPr>
        <p:spPr>
          <a:xfrm>
            <a:off x="5143500" y="0"/>
            <a:ext cx="13144500" cy="10287000"/>
          </a:xfrm>
          <a:prstGeom prst="rect">
            <a:avLst/>
          </a:prstGeom>
          <a:solidFill>
            <a:srgbClr val="F7F5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0" name="Google Shape;530;p21"/>
          <p:cNvSpPr/>
          <p:nvPr/>
        </p:nvSpPr>
        <p:spPr>
          <a:xfrm>
            <a:off x="6096000" y="952500"/>
            <a:ext cx="11576685" cy="2078087"/>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2A2D38"/>
              </a:buClr>
              <a:buSzPts val="5100"/>
              <a:buFont typeface="Montserrat"/>
              <a:buNone/>
            </a:pPr>
            <a:r>
              <a:rPr b="1" lang="en-US" sz="5100">
                <a:solidFill>
                  <a:srgbClr val="2A2D38"/>
                </a:solidFill>
                <a:latin typeface="Montserrat"/>
                <a:ea typeface="Montserrat"/>
                <a:cs typeface="Montserrat"/>
                <a:sym typeface="Montserrat"/>
              </a:rPr>
              <a:t>Take a prompt you've actually used. Rewrite it as Role · Task · Context · Format.</a:t>
            </a:r>
            <a:endParaRPr sz="5100">
              <a:solidFill>
                <a:schemeClr val="dk1"/>
              </a:solidFill>
              <a:latin typeface="Calibri"/>
              <a:ea typeface="Calibri"/>
              <a:cs typeface="Calibri"/>
              <a:sym typeface="Calibri"/>
            </a:endParaRPr>
          </a:p>
        </p:txBody>
      </p:sp>
      <p:sp>
        <p:nvSpPr>
          <p:cNvPr id="531" name="Google Shape;531;p21"/>
          <p:cNvSpPr/>
          <p:nvPr/>
        </p:nvSpPr>
        <p:spPr>
          <a:xfrm>
            <a:off x="6096000" y="3383012"/>
            <a:ext cx="609600" cy="3810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F58220"/>
              </a:buClr>
              <a:buSzPts val="1800"/>
              <a:buFont typeface="JetBrains Mono"/>
              <a:buNone/>
            </a:pPr>
            <a:r>
              <a:rPr b="1" lang="en-US" sz="1800">
                <a:solidFill>
                  <a:srgbClr val="F58220"/>
                </a:solidFill>
                <a:latin typeface="JetBrains Mono"/>
                <a:ea typeface="JetBrains Mono"/>
                <a:cs typeface="JetBrains Mono"/>
                <a:sym typeface="JetBrains Mono"/>
              </a:rPr>
              <a:t>01</a:t>
            </a:r>
            <a:endParaRPr sz="1800">
              <a:solidFill>
                <a:schemeClr val="dk1"/>
              </a:solidFill>
              <a:latin typeface="Calibri"/>
              <a:ea typeface="Calibri"/>
              <a:cs typeface="Calibri"/>
              <a:sym typeface="Calibri"/>
            </a:endParaRPr>
          </a:p>
        </p:txBody>
      </p:sp>
      <p:sp>
        <p:nvSpPr>
          <p:cNvPr id="532" name="Google Shape;532;p21"/>
          <p:cNvSpPr/>
          <p:nvPr/>
        </p:nvSpPr>
        <p:spPr>
          <a:xfrm>
            <a:off x="6819900" y="3335387"/>
            <a:ext cx="10831068" cy="43815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Open ChatGPT or Claude. Pick a prompt from your last week of work.</a:t>
            </a:r>
            <a:endParaRPr sz="2100">
              <a:solidFill>
                <a:schemeClr val="dk1"/>
              </a:solidFill>
              <a:latin typeface="Calibri"/>
              <a:ea typeface="Calibri"/>
              <a:cs typeface="Calibri"/>
              <a:sym typeface="Calibri"/>
            </a:endParaRPr>
          </a:p>
        </p:txBody>
      </p:sp>
      <p:sp>
        <p:nvSpPr>
          <p:cNvPr id="533" name="Google Shape;533;p21"/>
          <p:cNvSpPr/>
          <p:nvPr/>
        </p:nvSpPr>
        <p:spPr>
          <a:xfrm>
            <a:off x="6096000" y="3973562"/>
            <a:ext cx="609600" cy="3810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F58220"/>
              </a:buClr>
              <a:buSzPts val="1800"/>
              <a:buFont typeface="JetBrains Mono"/>
              <a:buNone/>
            </a:pPr>
            <a:r>
              <a:rPr b="1" lang="en-US" sz="1800">
                <a:solidFill>
                  <a:srgbClr val="F58220"/>
                </a:solidFill>
                <a:latin typeface="JetBrains Mono"/>
                <a:ea typeface="JetBrains Mono"/>
                <a:cs typeface="JetBrains Mono"/>
                <a:sym typeface="JetBrains Mono"/>
              </a:rPr>
              <a:t>02</a:t>
            </a:r>
            <a:endParaRPr sz="1800">
              <a:solidFill>
                <a:schemeClr val="dk1"/>
              </a:solidFill>
              <a:latin typeface="Calibri"/>
              <a:ea typeface="Calibri"/>
              <a:cs typeface="Calibri"/>
              <a:sym typeface="Calibri"/>
            </a:endParaRPr>
          </a:p>
        </p:txBody>
      </p:sp>
      <p:sp>
        <p:nvSpPr>
          <p:cNvPr id="534" name="Google Shape;534;p21"/>
          <p:cNvSpPr/>
          <p:nvPr/>
        </p:nvSpPr>
        <p:spPr>
          <a:xfrm>
            <a:off x="6819900" y="3925937"/>
            <a:ext cx="10831068" cy="43815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Rewrite it using the four lines. Add the church-specific facts the model can't know.</a:t>
            </a:r>
            <a:endParaRPr sz="2100">
              <a:solidFill>
                <a:schemeClr val="dk1"/>
              </a:solidFill>
              <a:latin typeface="Calibri"/>
              <a:ea typeface="Calibri"/>
              <a:cs typeface="Calibri"/>
              <a:sym typeface="Calibri"/>
            </a:endParaRPr>
          </a:p>
        </p:txBody>
      </p:sp>
      <p:sp>
        <p:nvSpPr>
          <p:cNvPr id="535" name="Google Shape;535;p21"/>
          <p:cNvSpPr/>
          <p:nvPr/>
        </p:nvSpPr>
        <p:spPr>
          <a:xfrm>
            <a:off x="6096000" y="4564112"/>
            <a:ext cx="609600" cy="3810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F58220"/>
              </a:buClr>
              <a:buSzPts val="1800"/>
              <a:buFont typeface="JetBrains Mono"/>
              <a:buNone/>
            </a:pPr>
            <a:r>
              <a:rPr b="1" lang="en-US" sz="1800">
                <a:solidFill>
                  <a:srgbClr val="F58220"/>
                </a:solidFill>
                <a:latin typeface="JetBrains Mono"/>
                <a:ea typeface="JetBrains Mono"/>
                <a:cs typeface="JetBrains Mono"/>
                <a:sym typeface="JetBrains Mono"/>
              </a:rPr>
              <a:t>03</a:t>
            </a:r>
            <a:endParaRPr sz="1800">
              <a:solidFill>
                <a:schemeClr val="dk1"/>
              </a:solidFill>
              <a:latin typeface="Calibri"/>
              <a:ea typeface="Calibri"/>
              <a:cs typeface="Calibri"/>
              <a:sym typeface="Calibri"/>
            </a:endParaRPr>
          </a:p>
        </p:txBody>
      </p:sp>
      <p:sp>
        <p:nvSpPr>
          <p:cNvPr id="536" name="Google Shape;536;p21"/>
          <p:cNvSpPr/>
          <p:nvPr/>
        </p:nvSpPr>
        <p:spPr>
          <a:xfrm>
            <a:off x="6819900" y="4516487"/>
            <a:ext cx="10831068" cy="43815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Run both. Compare. Note one observable difference.</a:t>
            </a:r>
            <a:endParaRPr sz="2100">
              <a:solidFill>
                <a:schemeClr val="dk1"/>
              </a:solidFill>
              <a:latin typeface="Calibri"/>
              <a:ea typeface="Calibri"/>
              <a:cs typeface="Calibri"/>
              <a:sym typeface="Calibri"/>
            </a:endParaRPr>
          </a:p>
        </p:txBody>
      </p:sp>
      <p:sp>
        <p:nvSpPr>
          <p:cNvPr id="537" name="Google Shape;537;p21"/>
          <p:cNvSpPr/>
          <p:nvPr/>
        </p:nvSpPr>
        <p:spPr>
          <a:xfrm>
            <a:off x="6096000" y="5259437"/>
            <a:ext cx="11239500" cy="2304455"/>
          </a:xfrm>
          <a:prstGeom prst="roundRect">
            <a:avLst>
              <a:gd fmla="val 5787" name="adj"/>
            </a:avLst>
          </a:prstGeom>
          <a:solidFill>
            <a:srgbClr val="1B1D2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8" name="Google Shape;538;p21"/>
          <p:cNvSpPr/>
          <p:nvPr/>
        </p:nvSpPr>
        <p:spPr>
          <a:xfrm>
            <a:off x="6400800" y="5526137"/>
            <a:ext cx="10967085" cy="1809155"/>
          </a:xfrm>
          <a:prstGeom prst="rect">
            <a:avLst/>
          </a:prstGeom>
          <a:noFill/>
          <a:ln>
            <a:noFill/>
          </a:ln>
        </p:spPr>
        <p:txBody>
          <a:bodyPr anchorCtr="0" anchor="t" bIns="25400" lIns="25400" spcFirstLastPara="1" rIns="25400" wrap="square" tIns="25400">
            <a:normAutofit/>
          </a:bodyPr>
          <a:lstStyle/>
          <a:p>
            <a:pPr indent="0" lvl="0" marL="0" marR="0" rtl="0" algn="l">
              <a:lnSpc>
                <a:spcPct val="155000"/>
              </a:lnSpc>
              <a:spcBef>
                <a:spcPts val="0"/>
              </a:spcBef>
              <a:spcAft>
                <a:spcPts val="0"/>
              </a:spcAft>
              <a:buClr>
                <a:srgbClr val="FFFFFF"/>
              </a:buClr>
              <a:buSzPts val="1800"/>
              <a:buFont typeface="JetBrains Mono"/>
              <a:buNone/>
            </a:pPr>
            <a:r>
              <a:rPr lang="en-US" sz="1800">
                <a:solidFill>
                  <a:srgbClr val="FFFFFF"/>
                </a:solidFill>
                <a:highlight>
                  <a:srgbClr val="1B1D24"/>
                </a:highlight>
                <a:latin typeface="JetBrains Mono"/>
                <a:ea typeface="JetBrains Mono"/>
                <a:cs typeface="JetBrains Mono"/>
                <a:sym typeface="JetBrains Mono"/>
              </a:rPr>
              <a:t>Try this template: </a:t>
            </a:r>
            <a:r>
              <a:rPr lang="en-US" sz="1800">
                <a:solidFill>
                  <a:srgbClr val="3FE0D0"/>
                </a:solidFill>
                <a:latin typeface="JetBrains Mono"/>
                <a:ea typeface="JetBrains Mono"/>
                <a:cs typeface="JetBrains Mono"/>
                <a:sym typeface="JetBrains Mono"/>
              </a:rPr>
              <a:t>You are [role] for [audience]. Task:</a:t>
            </a:r>
            <a:r>
              <a:rPr lang="en-US" sz="1800">
                <a:solidFill>
                  <a:srgbClr val="FFFFFF"/>
                </a:solidFill>
                <a:highlight>
                  <a:srgbClr val="1B1D24"/>
                </a:highlight>
                <a:latin typeface="JetBrains Mono"/>
                <a:ea typeface="JetBrains Mono"/>
                <a:cs typeface="JetBrains Mono"/>
                <a:sym typeface="JetBrains Mono"/>
              </a:rPr>
              <a:t> [single outcome, with length]. </a:t>
            </a:r>
            <a:r>
              <a:rPr lang="en-US" sz="1800">
                <a:solidFill>
                  <a:srgbClr val="3FE0D0"/>
                </a:solidFill>
                <a:latin typeface="JetBrains Mono"/>
                <a:ea typeface="JetBrains Mono"/>
                <a:cs typeface="JetBrains Mono"/>
                <a:sym typeface="JetBrains Mono"/>
              </a:rPr>
              <a:t>Context:</a:t>
            </a:r>
            <a:r>
              <a:rPr lang="en-US" sz="1800">
                <a:solidFill>
                  <a:srgbClr val="FFFFFF"/>
                </a:solidFill>
                <a:highlight>
                  <a:srgbClr val="1B1D24"/>
                </a:highlight>
                <a:latin typeface="JetBrains Mono"/>
                <a:ea typeface="JetBrains Mono"/>
                <a:cs typeface="JetBrains Mono"/>
                <a:sym typeface="JetBrains Mono"/>
              </a:rPr>
              <a:t> [3–5 facts only]. </a:t>
            </a:r>
            <a:r>
              <a:rPr lang="en-US" sz="1800">
                <a:solidFill>
                  <a:srgbClr val="3FE0D0"/>
                </a:solidFill>
                <a:latin typeface="JetBrains Mono"/>
                <a:ea typeface="JetBrains Mono"/>
                <a:cs typeface="JetBrains Mono"/>
                <a:sym typeface="JetBrains Mono"/>
              </a:rPr>
              <a:t>Format:</a:t>
            </a:r>
            <a:r>
              <a:rPr lang="en-US" sz="1800">
                <a:solidFill>
                  <a:srgbClr val="FFFFFF"/>
                </a:solidFill>
                <a:highlight>
                  <a:srgbClr val="1B1D24"/>
                </a:highlight>
                <a:latin typeface="JetBrains Mono"/>
                <a:ea typeface="JetBrains Mono"/>
                <a:cs typeface="JetBrains Mono"/>
                <a:sym typeface="JetBrains Mono"/>
              </a:rPr>
              <a:t> [shape + 1 hard rule].</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D24"/>
        </a:solidFill>
      </p:bgPr>
    </p:bg>
    <p:spTree>
      <p:nvGrpSpPr>
        <p:cNvPr id="543" name="Shape 543"/>
        <p:cNvGrpSpPr/>
        <p:nvPr/>
      </p:nvGrpSpPr>
      <p:grpSpPr>
        <a:xfrm>
          <a:off x="0" y="0"/>
          <a:ext cx="0" cy="0"/>
          <a:chOff x="0" y="0"/>
          <a:chExt cx="0" cy="0"/>
        </a:xfrm>
      </p:grpSpPr>
      <p:sp>
        <p:nvSpPr>
          <p:cNvPr id="544" name="Google Shape;544;p22"/>
          <p:cNvSpPr/>
          <p:nvPr/>
        </p:nvSpPr>
        <p:spPr>
          <a:xfrm>
            <a:off x="0" y="0"/>
            <a:ext cx="18288000" cy="10287000"/>
          </a:xfrm>
          <a:prstGeom prst="rect">
            <a:avLst/>
          </a:prstGeom>
          <a:solidFill>
            <a:srgbClr val="1B1D2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5" name="Google Shape;545;p22"/>
          <p:cNvSpPr/>
          <p:nvPr/>
        </p:nvSpPr>
        <p:spPr>
          <a:xfrm>
            <a:off x="3532436" y="2573834"/>
            <a:ext cx="11559669" cy="3905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2100"/>
              <a:buFont typeface="JetBrains Mono"/>
              <a:buNone/>
            </a:pPr>
            <a:r>
              <a:rPr lang="en-US" sz="2100">
                <a:solidFill>
                  <a:srgbClr val="3FE0D0"/>
                </a:solidFill>
                <a:latin typeface="JetBrains Mono"/>
                <a:ea typeface="JetBrains Mono"/>
                <a:cs typeface="JetBrains Mono"/>
                <a:sym typeface="JetBrains Mono"/>
              </a:rPr>
              <a:t>PART 04 / 06</a:t>
            </a:r>
            <a:endParaRPr sz="2100">
              <a:solidFill>
                <a:schemeClr val="dk1"/>
              </a:solidFill>
              <a:latin typeface="Calibri"/>
              <a:ea typeface="Calibri"/>
              <a:cs typeface="Calibri"/>
              <a:sym typeface="Calibri"/>
            </a:endParaRPr>
          </a:p>
        </p:txBody>
      </p:sp>
      <p:sp>
        <p:nvSpPr>
          <p:cNvPr id="546" name="Google Shape;546;p22"/>
          <p:cNvSpPr/>
          <p:nvPr/>
        </p:nvSpPr>
        <p:spPr>
          <a:xfrm>
            <a:off x="3532436" y="3307259"/>
            <a:ext cx="11559669" cy="3621137"/>
          </a:xfrm>
          <a:prstGeom prst="rect">
            <a:avLst/>
          </a:prstGeom>
          <a:noFill/>
          <a:ln>
            <a:noFill/>
          </a:ln>
        </p:spPr>
        <p:txBody>
          <a:bodyPr anchorCtr="0" anchor="t" bIns="25400" lIns="25400" spcFirstLastPara="1" rIns="25400" wrap="square" tIns="25400">
            <a:normAutofit/>
          </a:bodyPr>
          <a:lstStyle/>
          <a:p>
            <a:pPr indent="0" lvl="0" marL="0" marR="0" rtl="0" algn="l">
              <a:lnSpc>
                <a:spcPct val="95000"/>
              </a:lnSpc>
              <a:spcBef>
                <a:spcPts val="0"/>
              </a:spcBef>
              <a:spcAft>
                <a:spcPts val="0"/>
              </a:spcAft>
              <a:buClr>
                <a:srgbClr val="FFFFFF"/>
              </a:buClr>
              <a:buSzPts val="9900"/>
              <a:buFont typeface="Montserrat"/>
              <a:buNone/>
            </a:pPr>
            <a:r>
              <a:rPr b="1" lang="en-US" sz="9900">
                <a:solidFill>
                  <a:srgbClr val="FFFFFF"/>
                </a:solidFill>
                <a:latin typeface="Montserrat"/>
                <a:ea typeface="Montserrat"/>
                <a:cs typeface="Montserrat"/>
                <a:sym typeface="Montserrat"/>
              </a:rPr>
              <a:t>Grounding in your reality.</a:t>
            </a:r>
            <a:endParaRPr sz="9900">
              <a:solidFill>
                <a:schemeClr val="dk1"/>
              </a:solidFill>
              <a:latin typeface="Calibri"/>
              <a:ea typeface="Calibri"/>
              <a:cs typeface="Calibri"/>
              <a:sym typeface="Calibri"/>
            </a:endParaRPr>
          </a:p>
        </p:txBody>
      </p:sp>
      <p:sp>
        <p:nvSpPr>
          <p:cNvPr id="547" name="Google Shape;547;p22"/>
          <p:cNvSpPr/>
          <p:nvPr/>
        </p:nvSpPr>
        <p:spPr>
          <a:xfrm>
            <a:off x="3532436" y="7271296"/>
            <a:ext cx="11559669" cy="479971"/>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C9CBD1"/>
              </a:buClr>
              <a:buSzPts val="2400"/>
              <a:buFont typeface="Inter"/>
              <a:buNone/>
            </a:pPr>
            <a:r>
              <a:rPr lang="en-US" sz="2400">
                <a:solidFill>
                  <a:srgbClr val="C9CBD1"/>
                </a:solidFill>
                <a:latin typeface="Inter"/>
                <a:ea typeface="Inter"/>
                <a:cs typeface="Inter"/>
                <a:sym typeface="Inter"/>
              </a:rPr>
              <a:t>Generic AI gives generic answers. The fix is the data </a:t>
            </a:r>
            <a:r>
              <a:rPr lang="en-US" sz="2400">
                <a:solidFill>
                  <a:srgbClr val="3FE0D0"/>
                </a:solidFill>
                <a:latin typeface="Inter"/>
                <a:ea typeface="Inter"/>
                <a:cs typeface="Inter"/>
                <a:sym typeface="Inter"/>
              </a:rPr>
              <a:t>your church </a:t>
            </a:r>
            <a:r>
              <a:rPr lang="en-US" sz="2400">
                <a:solidFill>
                  <a:srgbClr val="C9CBD1"/>
                </a:solidFill>
                <a:latin typeface="Inter"/>
                <a:ea typeface="Inter"/>
                <a:cs typeface="Inter"/>
                <a:sym typeface="Inter"/>
              </a:rPr>
              <a:t>already has.</a:t>
            </a:r>
            <a:endParaRPr sz="2400">
              <a:solidFill>
                <a:schemeClr val="dk1"/>
              </a:solidFill>
              <a:latin typeface="Calibri"/>
              <a:ea typeface="Calibri"/>
              <a:cs typeface="Calibri"/>
              <a:sym typeface="Calibri"/>
            </a:endParaRPr>
          </a:p>
        </p:txBody>
      </p:sp>
      <p:sp>
        <p:nvSpPr>
          <p:cNvPr id="548" name="Google Shape;548;p22"/>
          <p:cNvSpPr/>
          <p:nvPr/>
        </p:nvSpPr>
        <p:spPr>
          <a:xfrm>
            <a:off x="15031492" y="3643313"/>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p22"/>
          <p:cNvSpPr/>
          <p:nvPr/>
        </p:nvSpPr>
        <p:spPr>
          <a:xfrm>
            <a:off x="15279142" y="3552825"/>
            <a:ext cx="2222153"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01 · Why Context</a:t>
            </a:r>
            <a:endParaRPr sz="1800">
              <a:solidFill>
                <a:schemeClr val="dk1"/>
              </a:solidFill>
              <a:latin typeface="Calibri"/>
              <a:ea typeface="Calibri"/>
              <a:cs typeface="Calibri"/>
              <a:sym typeface="Calibri"/>
            </a:endParaRPr>
          </a:p>
        </p:txBody>
      </p:sp>
      <p:sp>
        <p:nvSpPr>
          <p:cNvPr id="550" name="Google Shape;550;p22"/>
          <p:cNvSpPr/>
          <p:nvPr/>
        </p:nvSpPr>
        <p:spPr>
          <a:xfrm>
            <a:off x="15031492" y="4224338"/>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1" name="Google Shape;551;p22"/>
          <p:cNvSpPr/>
          <p:nvPr/>
        </p:nvSpPr>
        <p:spPr>
          <a:xfrm>
            <a:off x="15279142" y="4133850"/>
            <a:ext cx="2069306"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02 · Four Pillars</a:t>
            </a:r>
            <a:endParaRPr sz="1800">
              <a:solidFill>
                <a:schemeClr val="dk1"/>
              </a:solidFill>
              <a:latin typeface="Calibri"/>
              <a:ea typeface="Calibri"/>
              <a:cs typeface="Calibri"/>
              <a:sym typeface="Calibri"/>
            </a:endParaRPr>
          </a:p>
        </p:txBody>
      </p:sp>
      <p:sp>
        <p:nvSpPr>
          <p:cNvPr id="552" name="Google Shape;552;p22"/>
          <p:cNvSpPr/>
          <p:nvPr/>
        </p:nvSpPr>
        <p:spPr>
          <a:xfrm>
            <a:off x="15031492" y="4805363"/>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3" name="Google Shape;553;p22"/>
          <p:cNvSpPr/>
          <p:nvPr/>
        </p:nvSpPr>
        <p:spPr>
          <a:xfrm>
            <a:off x="15279142" y="4714875"/>
            <a:ext cx="1765995"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03 · Anatomy</a:t>
            </a:r>
            <a:endParaRPr sz="1800">
              <a:solidFill>
                <a:schemeClr val="dk1"/>
              </a:solidFill>
              <a:latin typeface="Calibri"/>
              <a:ea typeface="Calibri"/>
              <a:cs typeface="Calibri"/>
              <a:sym typeface="Calibri"/>
            </a:endParaRPr>
          </a:p>
        </p:txBody>
      </p:sp>
      <p:sp>
        <p:nvSpPr>
          <p:cNvPr id="554" name="Google Shape;554;p22"/>
          <p:cNvSpPr/>
          <p:nvPr/>
        </p:nvSpPr>
        <p:spPr>
          <a:xfrm>
            <a:off x="15031492" y="5386388"/>
            <a:ext cx="95250" cy="95250"/>
          </a:xfrm>
          <a:prstGeom prst="ellipse">
            <a:avLst/>
          </a:prstGeom>
          <a:solidFill>
            <a:srgbClr val="3FE0D0"/>
          </a:solidFill>
          <a:ln>
            <a:noFill/>
          </a:ln>
          <a:effectLst>
            <a:outerShdw blurRad="190500" rotWithShape="0" algn="bl" dir="16200000" dist="50800">
              <a:srgbClr val="3FE0D0"/>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5" name="Google Shape;555;p22"/>
          <p:cNvSpPr/>
          <p:nvPr/>
        </p:nvSpPr>
        <p:spPr>
          <a:xfrm>
            <a:off x="15279142" y="5295900"/>
            <a:ext cx="2005310"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3FE0D0"/>
              </a:buClr>
              <a:buSzPts val="1800"/>
              <a:buFont typeface="Montserrat"/>
              <a:buNone/>
            </a:pPr>
            <a:r>
              <a:rPr b="1" lang="en-US" sz="1800">
                <a:solidFill>
                  <a:srgbClr val="3FE0D0"/>
                </a:solidFill>
                <a:latin typeface="Montserrat"/>
                <a:ea typeface="Montserrat"/>
                <a:cs typeface="Montserrat"/>
                <a:sym typeface="Montserrat"/>
              </a:rPr>
              <a:t>04 · Grounding</a:t>
            </a:r>
            <a:endParaRPr sz="1800">
              <a:solidFill>
                <a:schemeClr val="dk1"/>
              </a:solidFill>
              <a:latin typeface="Calibri"/>
              <a:ea typeface="Calibri"/>
              <a:cs typeface="Calibri"/>
              <a:sym typeface="Calibri"/>
            </a:endParaRPr>
          </a:p>
        </p:txBody>
      </p:sp>
      <p:sp>
        <p:nvSpPr>
          <p:cNvPr id="556" name="Google Shape;556;p22"/>
          <p:cNvSpPr/>
          <p:nvPr/>
        </p:nvSpPr>
        <p:spPr>
          <a:xfrm>
            <a:off x="15031492" y="5967413"/>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7" name="Google Shape;557;p22"/>
          <p:cNvSpPr/>
          <p:nvPr/>
        </p:nvSpPr>
        <p:spPr>
          <a:xfrm>
            <a:off x="15279142" y="5876925"/>
            <a:ext cx="1503015"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05 · Pitfalls</a:t>
            </a:r>
            <a:endParaRPr sz="1800">
              <a:solidFill>
                <a:schemeClr val="dk1"/>
              </a:solidFill>
              <a:latin typeface="Calibri"/>
              <a:ea typeface="Calibri"/>
              <a:cs typeface="Calibri"/>
              <a:sym typeface="Calibri"/>
            </a:endParaRPr>
          </a:p>
        </p:txBody>
      </p:sp>
      <p:sp>
        <p:nvSpPr>
          <p:cNvPr id="558" name="Google Shape;558;p22"/>
          <p:cNvSpPr/>
          <p:nvPr/>
        </p:nvSpPr>
        <p:spPr>
          <a:xfrm>
            <a:off x="15031492" y="6548438"/>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9" name="Google Shape;559;p22"/>
          <p:cNvSpPr/>
          <p:nvPr/>
        </p:nvSpPr>
        <p:spPr>
          <a:xfrm>
            <a:off x="15279142" y="6457950"/>
            <a:ext cx="2323058"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06 · Take It Home</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4" name="Shape 564"/>
        <p:cNvGrpSpPr/>
        <p:nvPr/>
      </p:nvGrpSpPr>
      <p:grpSpPr>
        <a:xfrm>
          <a:off x="0" y="0"/>
          <a:ext cx="0" cy="0"/>
          <a:chOff x="0" y="0"/>
          <a:chExt cx="0" cy="0"/>
        </a:xfrm>
      </p:grpSpPr>
      <p:sp>
        <p:nvSpPr>
          <p:cNvPr id="565" name="Google Shape;565;p23"/>
          <p:cNvSpPr/>
          <p:nvPr/>
        </p:nvSpPr>
        <p:spPr>
          <a:xfrm>
            <a:off x="952500" y="952500"/>
            <a:ext cx="16874490"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950"/>
              <a:buFont typeface="Montserrat"/>
              <a:buNone/>
            </a:pPr>
            <a:r>
              <a:rPr b="1" lang="en-US" sz="1950">
                <a:solidFill>
                  <a:srgbClr val="F58220"/>
                </a:solidFill>
                <a:latin typeface="Montserrat"/>
                <a:ea typeface="Montserrat"/>
                <a:cs typeface="Montserrat"/>
                <a:sym typeface="Montserrat"/>
              </a:rPr>
              <a:t>INVENTORY</a:t>
            </a:r>
            <a:endParaRPr sz="1950">
              <a:solidFill>
                <a:schemeClr val="dk1"/>
              </a:solidFill>
              <a:latin typeface="Calibri"/>
              <a:ea typeface="Calibri"/>
              <a:cs typeface="Calibri"/>
              <a:sym typeface="Calibri"/>
            </a:endParaRPr>
          </a:p>
        </p:txBody>
      </p:sp>
      <p:sp>
        <p:nvSpPr>
          <p:cNvPr id="566" name="Google Shape;566;p23"/>
          <p:cNvSpPr/>
          <p:nvPr/>
        </p:nvSpPr>
        <p:spPr>
          <a:xfrm>
            <a:off x="952500" y="1447800"/>
            <a:ext cx="16874490" cy="798165"/>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2A2D38"/>
              </a:buClr>
              <a:buSzPts val="5700"/>
              <a:buFont typeface="Montserrat"/>
              <a:buNone/>
            </a:pPr>
            <a:r>
              <a:rPr b="1" lang="en-US" sz="5700">
                <a:solidFill>
                  <a:srgbClr val="2A2D38"/>
                </a:solidFill>
                <a:latin typeface="Montserrat"/>
                <a:ea typeface="Montserrat"/>
                <a:cs typeface="Montserrat"/>
                <a:sym typeface="Montserrat"/>
              </a:rPr>
              <a:t>What counts as context for your church.</a:t>
            </a:r>
            <a:endParaRPr sz="5700">
              <a:solidFill>
                <a:schemeClr val="dk1"/>
              </a:solidFill>
              <a:latin typeface="Calibri"/>
              <a:ea typeface="Calibri"/>
              <a:cs typeface="Calibri"/>
              <a:sym typeface="Calibri"/>
            </a:endParaRPr>
          </a:p>
        </p:txBody>
      </p:sp>
      <p:sp>
        <p:nvSpPr>
          <p:cNvPr id="567" name="Google Shape;567;p23"/>
          <p:cNvSpPr/>
          <p:nvPr/>
        </p:nvSpPr>
        <p:spPr>
          <a:xfrm>
            <a:off x="952500" y="3541365"/>
            <a:ext cx="4914900" cy="19050"/>
          </a:xfrm>
          <a:prstGeom prst="rect">
            <a:avLst/>
          </a:prstGeom>
          <a:solidFill>
            <a:srgbClr val="2A2D3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8" name="Google Shape;568;p23"/>
          <p:cNvSpPr/>
          <p:nvPr/>
        </p:nvSpPr>
        <p:spPr>
          <a:xfrm>
            <a:off x="1181100" y="3103215"/>
            <a:ext cx="4605147" cy="304800"/>
          </a:xfrm>
          <a:prstGeom prst="rect">
            <a:avLst/>
          </a:prstGeom>
          <a:noFill/>
          <a:ln>
            <a:noFill/>
          </a:ln>
        </p:spPr>
        <p:txBody>
          <a:bodyPr anchorCtr="0" anchor="ctr" bIns="25400" lIns="25400" spcFirstLastPara="1" rIns="25400" wrap="square" tIns="25400">
            <a:normAutofit/>
          </a:bodyPr>
          <a:lstStyle/>
          <a:p>
            <a:pPr indent="0" lvl="0" marL="0" marR="0" rtl="0" algn="l">
              <a:spcBef>
                <a:spcPts val="0"/>
              </a:spcBef>
              <a:spcAft>
                <a:spcPts val="0"/>
              </a:spcAft>
              <a:buClr>
                <a:srgbClr val="F58220"/>
              </a:buClr>
              <a:buSzPts val="1800"/>
              <a:buFont typeface="Montserrat"/>
              <a:buNone/>
            </a:pPr>
            <a:r>
              <a:rPr b="1" lang="en-US" sz="1800">
                <a:solidFill>
                  <a:srgbClr val="F58220"/>
                </a:solidFill>
                <a:latin typeface="Montserrat"/>
                <a:ea typeface="Montserrat"/>
                <a:cs typeface="Montserrat"/>
                <a:sym typeface="Montserrat"/>
              </a:rPr>
              <a:t>SOURCE</a:t>
            </a:r>
            <a:endParaRPr sz="1800">
              <a:solidFill>
                <a:schemeClr val="dk1"/>
              </a:solidFill>
              <a:latin typeface="Calibri"/>
              <a:ea typeface="Calibri"/>
              <a:cs typeface="Calibri"/>
              <a:sym typeface="Calibri"/>
            </a:endParaRPr>
          </a:p>
        </p:txBody>
      </p:sp>
      <p:sp>
        <p:nvSpPr>
          <p:cNvPr id="569" name="Google Shape;569;p23"/>
          <p:cNvSpPr/>
          <p:nvPr/>
        </p:nvSpPr>
        <p:spPr>
          <a:xfrm>
            <a:off x="5867400" y="3541365"/>
            <a:ext cx="8717161" cy="19050"/>
          </a:xfrm>
          <a:prstGeom prst="rect">
            <a:avLst/>
          </a:prstGeom>
          <a:solidFill>
            <a:srgbClr val="2A2D3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23"/>
          <p:cNvSpPr/>
          <p:nvPr/>
        </p:nvSpPr>
        <p:spPr>
          <a:xfrm>
            <a:off x="6096000" y="3103215"/>
            <a:ext cx="8521476" cy="304800"/>
          </a:xfrm>
          <a:prstGeom prst="rect">
            <a:avLst/>
          </a:prstGeom>
          <a:noFill/>
          <a:ln>
            <a:noFill/>
          </a:ln>
        </p:spPr>
        <p:txBody>
          <a:bodyPr anchorCtr="0" anchor="ctr" bIns="25400" lIns="25400" spcFirstLastPara="1" rIns="25400" wrap="square" tIns="25400">
            <a:normAutofit/>
          </a:bodyPr>
          <a:lstStyle/>
          <a:p>
            <a:pPr indent="0" lvl="0" marL="0" marR="0" rtl="0" algn="l">
              <a:spcBef>
                <a:spcPts val="0"/>
              </a:spcBef>
              <a:spcAft>
                <a:spcPts val="0"/>
              </a:spcAft>
              <a:buClr>
                <a:srgbClr val="F58220"/>
              </a:buClr>
              <a:buSzPts val="1800"/>
              <a:buFont typeface="Montserrat"/>
              <a:buNone/>
            </a:pPr>
            <a:r>
              <a:rPr b="1" lang="en-US" sz="1800">
                <a:solidFill>
                  <a:srgbClr val="F58220"/>
                </a:solidFill>
                <a:latin typeface="Montserrat"/>
                <a:ea typeface="Montserrat"/>
                <a:cs typeface="Montserrat"/>
                <a:sym typeface="Montserrat"/>
              </a:rPr>
              <a:t>WHAT IT GIVES THE MODEL</a:t>
            </a:r>
            <a:endParaRPr sz="1800">
              <a:solidFill>
                <a:schemeClr val="dk1"/>
              </a:solidFill>
              <a:latin typeface="Calibri"/>
              <a:ea typeface="Calibri"/>
              <a:cs typeface="Calibri"/>
              <a:sym typeface="Calibri"/>
            </a:endParaRPr>
          </a:p>
        </p:txBody>
      </p:sp>
      <p:sp>
        <p:nvSpPr>
          <p:cNvPr id="571" name="Google Shape;571;p23"/>
          <p:cNvSpPr/>
          <p:nvPr/>
        </p:nvSpPr>
        <p:spPr>
          <a:xfrm>
            <a:off x="14584561" y="3541365"/>
            <a:ext cx="2750939" cy="19050"/>
          </a:xfrm>
          <a:prstGeom prst="rect">
            <a:avLst/>
          </a:prstGeom>
          <a:solidFill>
            <a:srgbClr val="2A2D3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2" name="Google Shape;572;p23"/>
          <p:cNvSpPr/>
          <p:nvPr/>
        </p:nvSpPr>
        <p:spPr>
          <a:xfrm>
            <a:off x="14813161" y="3103215"/>
            <a:ext cx="2376267" cy="304800"/>
          </a:xfrm>
          <a:prstGeom prst="rect">
            <a:avLst/>
          </a:prstGeom>
          <a:noFill/>
          <a:ln>
            <a:noFill/>
          </a:ln>
        </p:spPr>
        <p:txBody>
          <a:bodyPr anchorCtr="0" anchor="ctr" bIns="25400" lIns="25400" spcFirstLastPara="1" rIns="25400" wrap="square" tIns="25400">
            <a:normAutofit/>
          </a:bodyPr>
          <a:lstStyle/>
          <a:p>
            <a:pPr indent="0" lvl="0" marL="0" marR="0" rtl="0" algn="l">
              <a:spcBef>
                <a:spcPts val="0"/>
              </a:spcBef>
              <a:spcAft>
                <a:spcPts val="0"/>
              </a:spcAft>
              <a:buClr>
                <a:srgbClr val="F58220"/>
              </a:buClr>
              <a:buSzPts val="1800"/>
              <a:buFont typeface="Montserrat"/>
              <a:buNone/>
            </a:pPr>
            <a:r>
              <a:rPr b="1" lang="en-US" sz="1800">
                <a:solidFill>
                  <a:srgbClr val="F58220"/>
                </a:solidFill>
                <a:latin typeface="Montserrat"/>
                <a:ea typeface="Montserrat"/>
                <a:cs typeface="Montserrat"/>
                <a:sym typeface="Montserrat"/>
              </a:rPr>
              <a:t>REFRESH</a:t>
            </a:r>
            <a:endParaRPr sz="1800">
              <a:solidFill>
                <a:schemeClr val="dk1"/>
              </a:solidFill>
              <a:latin typeface="Calibri"/>
              <a:ea typeface="Calibri"/>
              <a:cs typeface="Calibri"/>
              <a:sym typeface="Calibri"/>
            </a:endParaRPr>
          </a:p>
        </p:txBody>
      </p:sp>
      <p:sp>
        <p:nvSpPr>
          <p:cNvPr id="573" name="Google Shape;573;p23"/>
          <p:cNvSpPr/>
          <p:nvPr/>
        </p:nvSpPr>
        <p:spPr>
          <a:xfrm>
            <a:off x="952500" y="4330898"/>
            <a:ext cx="49149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4" name="Google Shape;574;p23"/>
          <p:cNvSpPr/>
          <p:nvPr/>
        </p:nvSpPr>
        <p:spPr>
          <a:xfrm>
            <a:off x="1181100" y="3769965"/>
            <a:ext cx="4605147" cy="389483"/>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2A2D38"/>
              </a:buClr>
              <a:buSzPts val="1950"/>
              <a:buFont typeface="Montserrat"/>
              <a:buNone/>
            </a:pPr>
            <a:r>
              <a:rPr b="1" lang="en-US" sz="1950">
                <a:solidFill>
                  <a:srgbClr val="2A2D38"/>
                </a:solidFill>
                <a:latin typeface="Montserrat"/>
                <a:ea typeface="Montserrat"/>
                <a:cs typeface="Montserrat"/>
                <a:sym typeface="Montserrat"/>
              </a:rPr>
              <a:t>Sermon transcripts</a:t>
            </a:r>
            <a:endParaRPr sz="1950">
              <a:solidFill>
                <a:schemeClr val="dk1"/>
              </a:solidFill>
              <a:latin typeface="Calibri"/>
              <a:ea typeface="Calibri"/>
              <a:cs typeface="Calibri"/>
              <a:sym typeface="Calibri"/>
            </a:endParaRPr>
          </a:p>
        </p:txBody>
      </p:sp>
      <p:sp>
        <p:nvSpPr>
          <p:cNvPr id="575" name="Google Shape;575;p23"/>
          <p:cNvSpPr/>
          <p:nvPr/>
        </p:nvSpPr>
        <p:spPr>
          <a:xfrm>
            <a:off x="5867400" y="4330898"/>
            <a:ext cx="8717161"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6" name="Google Shape;576;p23"/>
          <p:cNvSpPr/>
          <p:nvPr/>
        </p:nvSpPr>
        <p:spPr>
          <a:xfrm>
            <a:off x="6096000" y="3769965"/>
            <a:ext cx="8521476" cy="389483"/>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2A2D38"/>
              </a:buClr>
              <a:buSzPts val="1950"/>
              <a:buFont typeface="Inter"/>
              <a:buNone/>
            </a:pPr>
            <a:r>
              <a:rPr lang="en-US" sz="1950">
                <a:solidFill>
                  <a:srgbClr val="2A2D38"/>
                </a:solidFill>
                <a:latin typeface="Inter"/>
                <a:ea typeface="Inter"/>
                <a:cs typeface="Inter"/>
                <a:sym typeface="Inter"/>
              </a:rPr>
              <a:t>Voice, theology, recurring themes</a:t>
            </a:r>
            <a:endParaRPr sz="1950">
              <a:solidFill>
                <a:schemeClr val="dk1"/>
              </a:solidFill>
              <a:latin typeface="Calibri"/>
              <a:ea typeface="Calibri"/>
              <a:cs typeface="Calibri"/>
              <a:sym typeface="Calibri"/>
            </a:endParaRPr>
          </a:p>
        </p:txBody>
      </p:sp>
      <p:sp>
        <p:nvSpPr>
          <p:cNvPr id="577" name="Google Shape;577;p23"/>
          <p:cNvSpPr/>
          <p:nvPr/>
        </p:nvSpPr>
        <p:spPr>
          <a:xfrm>
            <a:off x="14584561" y="4330898"/>
            <a:ext cx="2750939"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8" name="Google Shape;578;p23"/>
          <p:cNvSpPr/>
          <p:nvPr/>
        </p:nvSpPr>
        <p:spPr>
          <a:xfrm>
            <a:off x="14813161" y="3769965"/>
            <a:ext cx="2376267" cy="389483"/>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Weekly</a:t>
            </a:r>
            <a:endParaRPr sz="1800">
              <a:solidFill>
                <a:schemeClr val="dk1"/>
              </a:solidFill>
              <a:latin typeface="Calibri"/>
              <a:ea typeface="Calibri"/>
              <a:cs typeface="Calibri"/>
              <a:sym typeface="Calibri"/>
            </a:endParaRPr>
          </a:p>
        </p:txBody>
      </p:sp>
      <p:sp>
        <p:nvSpPr>
          <p:cNvPr id="579" name="Google Shape;579;p23"/>
          <p:cNvSpPr/>
          <p:nvPr/>
        </p:nvSpPr>
        <p:spPr>
          <a:xfrm>
            <a:off x="952500" y="5106144"/>
            <a:ext cx="49149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0" name="Google Shape;580;p23"/>
          <p:cNvSpPr/>
          <p:nvPr/>
        </p:nvSpPr>
        <p:spPr>
          <a:xfrm>
            <a:off x="1181100" y="4549973"/>
            <a:ext cx="4605147" cy="384721"/>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2A2D38"/>
              </a:buClr>
              <a:buSzPts val="1950"/>
              <a:buFont typeface="Montserrat"/>
              <a:buNone/>
            </a:pPr>
            <a:r>
              <a:rPr b="1" lang="en-US" sz="1950">
                <a:solidFill>
                  <a:srgbClr val="2A2D38"/>
                </a:solidFill>
                <a:latin typeface="Montserrat"/>
                <a:ea typeface="Montserrat"/>
                <a:cs typeface="Montserrat"/>
                <a:sym typeface="Montserrat"/>
              </a:rPr>
              <a:t>Mission &amp; values doc</a:t>
            </a:r>
            <a:endParaRPr sz="1950">
              <a:solidFill>
                <a:schemeClr val="dk1"/>
              </a:solidFill>
              <a:latin typeface="Calibri"/>
              <a:ea typeface="Calibri"/>
              <a:cs typeface="Calibri"/>
              <a:sym typeface="Calibri"/>
            </a:endParaRPr>
          </a:p>
        </p:txBody>
      </p:sp>
      <p:sp>
        <p:nvSpPr>
          <p:cNvPr id="581" name="Google Shape;581;p23"/>
          <p:cNvSpPr/>
          <p:nvPr/>
        </p:nvSpPr>
        <p:spPr>
          <a:xfrm>
            <a:off x="5867400" y="5106144"/>
            <a:ext cx="8717161"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2" name="Google Shape;582;p23"/>
          <p:cNvSpPr/>
          <p:nvPr/>
        </p:nvSpPr>
        <p:spPr>
          <a:xfrm>
            <a:off x="6096000" y="4549973"/>
            <a:ext cx="8521476" cy="384721"/>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2A2D38"/>
              </a:buClr>
              <a:buSzPts val="1950"/>
              <a:buFont typeface="Inter"/>
              <a:buNone/>
            </a:pPr>
            <a:r>
              <a:rPr lang="en-US" sz="1950">
                <a:solidFill>
                  <a:srgbClr val="2A2D38"/>
                </a:solidFill>
                <a:latin typeface="Inter"/>
                <a:ea typeface="Inter"/>
                <a:cs typeface="Inter"/>
                <a:sym typeface="Inter"/>
              </a:rPr>
              <a:t>The non-negotiables, the language you use</a:t>
            </a:r>
            <a:endParaRPr sz="1950">
              <a:solidFill>
                <a:schemeClr val="dk1"/>
              </a:solidFill>
              <a:latin typeface="Calibri"/>
              <a:ea typeface="Calibri"/>
              <a:cs typeface="Calibri"/>
              <a:sym typeface="Calibri"/>
            </a:endParaRPr>
          </a:p>
        </p:txBody>
      </p:sp>
      <p:sp>
        <p:nvSpPr>
          <p:cNvPr id="583" name="Google Shape;583;p23"/>
          <p:cNvSpPr/>
          <p:nvPr/>
        </p:nvSpPr>
        <p:spPr>
          <a:xfrm>
            <a:off x="14584561" y="5106144"/>
            <a:ext cx="2750939"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4" name="Google Shape;584;p23"/>
          <p:cNvSpPr/>
          <p:nvPr/>
        </p:nvSpPr>
        <p:spPr>
          <a:xfrm>
            <a:off x="14813161" y="4549973"/>
            <a:ext cx="2376267" cy="384721"/>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Yearly</a:t>
            </a:r>
            <a:endParaRPr sz="1800">
              <a:solidFill>
                <a:schemeClr val="dk1"/>
              </a:solidFill>
              <a:latin typeface="Calibri"/>
              <a:ea typeface="Calibri"/>
              <a:cs typeface="Calibri"/>
              <a:sym typeface="Calibri"/>
            </a:endParaRPr>
          </a:p>
        </p:txBody>
      </p:sp>
      <p:sp>
        <p:nvSpPr>
          <p:cNvPr id="585" name="Google Shape;585;p23"/>
          <p:cNvSpPr/>
          <p:nvPr/>
        </p:nvSpPr>
        <p:spPr>
          <a:xfrm>
            <a:off x="952500" y="5881390"/>
            <a:ext cx="49149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23"/>
          <p:cNvSpPr/>
          <p:nvPr/>
        </p:nvSpPr>
        <p:spPr>
          <a:xfrm>
            <a:off x="1181100" y="5325219"/>
            <a:ext cx="4605147" cy="384721"/>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2A2D38"/>
              </a:buClr>
              <a:buSzPts val="1950"/>
              <a:buFont typeface="Montserrat"/>
              <a:buNone/>
            </a:pPr>
            <a:r>
              <a:rPr b="1" lang="en-US" sz="1950">
                <a:solidFill>
                  <a:srgbClr val="2A2D38"/>
                </a:solidFill>
                <a:latin typeface="Montserrat"/>
                <a:ea typeface="Montserrat"/>
                <a:cs typeface="Montserrat"/>
                <a:sym typeface="Montserrat"/>
              </a:rPr>
              <a:t>Past newsletters &amp; emails</a:t>
            </a:r>
            <a:endParaRPr sz="1950">
              <a:solidFill>
                <a:schemeClr val="dk1"/>
              </a:solidFill>
              <a:latin typeface="Calibri"/>
              <a:ea typeface="Calibri"/>
              <a:cs typeface="Calibri"/>
              <a:sym typeface="Calibri"/>
            </a:endParaRPr>
          </a:p>
        </p:txBody>
      </p:sp>
      <p:sp>
        <p:nvSpPr>
          <p:cNvPr id="587" name="Google Shape;587;p23"/>
          <p:cNvSpPr/>
          <p:nvPr/>
        </p:nvSpPr>
        <p:spPr>
          <a:xfrm>
            <a:off x="5867400" y="5881390"/>
            <a:ext cx="8717161"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8" name="Google Shape;588;p23"/>
          <p:cNvSpPr/>
          <p:nvPr/>
        </p:nvSpPr>
        <p:spPr>
          <a:xfrm>
            <a:off x="6096000" y="5325219"/>
            <a:ext cx="8521476" cy="384721"/>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2A2D38"/>
              </a:buClr>
              <a:buSzPts val="1950"/>
              <a:buFont typeface="Inter"/>
              <a:buNone/>
            </a:pPr>
            <a:r>
              <a:rPr lang="en-US" sz="1950">
                <a:solidFill>
                  <a:srgbClr val="2A2D38"/>
                </a:solidFill>
                <a:latin typeface="Inter"/>
                <a:ea typeface="Inter"/>
                <a:cs typeface="Inter"/>
                <a:sym typeface="Inter"/>
              </a:rPr>
              <a:t>Tone calibration — what "sounds like us"</a:t>
            </a:r>
            <a:endParaRPr sz="1950">
              <a:solidFill>
                <a:schemeClr val="dk1"/>
              </a:solidFill>
              <a:latin typeface="Calibri"/>
              <a:ea typeface="Calibri"/>
              <a:cs typeface="Calibri"/>
              <a:sym typeface="Calibri"/>
            </a:endParaRPr>
          </a:p>
        </p:txBody>
      </p:sp>
      <p:sp>
        <p:nvSpPr>
          <p:cNvPr id="589" name="Google Shape;589;p23"/>
          <p:cNvSpPr/>
          <p:nvPr/>
        </p:nvSpPr>
        <p:spPr>
          <a:xfrm>
            <a:off x="14584561" y="5881390"/>
            <a:ext cx="2750939"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0" name="Google Shape;590;p23"/>
          <p:cNvSpPr/>
          <p:nvPr/>
        </p:nvSpPr>
        <p:spPr>
          <a:xfrm>
            <a:off x="14813161" y="5325219"/>
            <a:ext cx="2376267" cy="384721"/>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Monthly</a:t>
            </a:r>
            <a:endParaRPr sz="1800">
              <a:solidFill>
                <a:schemeClr val="dk1"/>
              </a:solidFill>
              <a:latin typeface="Calibri"/>
              <a:ea typeface="Calibri"/>
              <a:cs typeface="Calibri"/>
              <a:sym typeface="Calibri"/>
            </a:endParaRPr>
          </a:p>
        </p:txBody>
      </p:sp>
      <p:sp>
        <p:nvSpPr>
          <p:cNvPr id="591" name="Google Shape;591;p23"/>
          <p:cNvSpPr/>
          <p:nvPr/>
        </p:nvSpPr>
        <p:spPr>
          <a:xfrm>
            <a:off x="952500" y="6656636"/>
            <a:ext cx="49149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2" name="Google Shape;592;p23"/>
          <p:cNvSpPr/>
          <p:nvPr/>
        </p:nvSpPr>
        <p:spPr>
          <a:xfrm>
            <a:off x="1181100" y="6100465"/>
            <a:ext cx="4605147" cy="384721"/>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2A2D38"/>
              </a:buClr>
              <a:buSzPts val="1950"/>
              <a:buFont typeface="Montserrat"/>
              <a:buNone/>
            </a:pPr>
            <a:r>
              <a:rPr b="1" lang="en-US" sz="1950">
                <a:solidFill>
                  <a:srgbClr val="2A2D38"/>
                </a:solidFill>
                <a:latin typeface="Montserrat"/>
                <a:ea typeface="Montserrat"/>
                <a:cs typeface="Montserrat"/>
                <a:sym typeface="Montserrat"/>
              </a:rPr>
              <a:t>Event &amp; service calendar</a:t>
            </a:r>
            <a:endParaRPr sz="1950">
              <a:solidFill>
                <a:schemeClr val="dk1"/>
              </a:solidFill>
              <a:latin typeface="Calibri"/>
              <a:ea typeface="Calibri"/>
              <a:cs typeface="Calibri"/>
              <a:sym typeface="Calibri"/>
            </a:endParaRPr>
          </a:p>
        </p:txBody>
      </p:sp>
      <p:sp>
        <p:nvSpPr>
          <p:cNvPr id="593" name="Google Shape;593;p23"/>
          <p:cNvSpPr/>
          <p:nvPr/>
        </p:nvSpPr>
        <p:spPr>
          <a:xfrm>
            <a:off x="5867400" y="6656636"/>
            <a:ext cx="8717161"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4" name="Google Shape;594;p23"/>
          <p:cNvSpPr/>
          <p:nvPr/>
        </p:nvSpPr>
        <p:spPr>
          <a:xfrm>
            <a:off x="6096000" y="6100465"/>
            <a:ext cx="8521476" cy="384721"/>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2A2D38"/>
              </a:buClr>
              <a:buSzPts val="1950"/>
              <a:buFont typeface="Inter"/>
              <a:buNone/>
            </a:pPr>
            <a:r>
              <a:rPr lang="en-US" sz="1950">
                <a:solidFill>
                  <a:srgbClr val="2A2D38"/>
                </a:solidFill>
                <a:latin typeface="Inter"/>
                <a:ea typeface="Inter"/>
                <a:cs typeface="Inter"/>
                <a:sym typeface="Inter"/>
              </a:rPr>
              <a:t>Dates, times, locations, registration links</a:t>
            </a:r>
            <a:endParaRPr sz="1950">
              <a:solidFill>
                <a:schemeClr val="dk1"/>
              </a:solidFill>
              <a:latin typeface="Calibri"/>
              <a:ea typeface="Calibri"/>
              <a:cs typeface="Calibri"/>
              <a:sym typeface="Calibri"/>
            </a:endParaRPr>
          </a:p>
        </p:txBody>
      </p:sp>
      <p:sp>
        <p:nvSpPr>
          <p:cNvPr id="595" name="Google Shape;595;p23"/>
          <p:cNvSpPr/>
          <p:nvPr/>
        </p:nvSpPr>
        <p:spPr>
          <a:xfrm>
            <a:off x="14584561" y="6656636"/>
            <a:ext cx="2750939"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6" name="Google Shape;596;p23"/>
          <p:cNvSpPr/>
          <p:nvPr/>
        </p:nvSpPr>
        <p:spPr>
          <a:xfrm>
            <a:off x="14813161" y="6100465"/>
            <a:ext cx="2376267" cy="384721"/>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Live</a:t>
            </a:r>
            <a:endParaRPr sz="1800">
              <a:solidFill>
                <a:schemeClr val="dk1"/>
              </a:solidFill>
              <a:latin typeface="Calibri"/>
              <a:ea typeface="Calibri"/>
              <a:cs typeface="Calibri"/>
              <a:sym typeface="Calibri"/>
            </a:endParaRPr>
          </a:p>
        </p:txBody>
      </p:sp>
      <p:sp>
        <p:nvSpPr>
          <p:cNvPr id="597" name="Google Shape;597;p23"/>
          <p:cNvSpPr/>
          <p:nvPr/>
        </p:nvSpPr>
        <p:spPr>
          <a:xfrm>
            <a:off x="952500" y="7431881"/>
            <a:ext cx="49149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8" name="Google Shape;598;p23"/>
          <p:cNvSpPr/>
          <p:nvPr/>
        </p:nvSpPr>
        <p:spPr>
          <a:xfrm>
            <a:off x="1181100" y="6875711"/>
            <a:ext cx="4605147" cy="384721"/>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2A2D38"/>
              </a:buClr>
              <a:buSzPts val="1950"/>
              <a:buFont typeface="Montserrat"/>
              <a:buNone/>
            </a:pPr>
            <a:r>
              <a:rPr b="1" lang="en-US" sz="1950">
                <a:solidFill>
                  <a:srgbClr val="2A2D38"/>
                </a:solidFill>
                <a:latin typeface="Montserrat"/>
                <a:ea typeface="Montserrat"/>
                <a:cs typeface="Montserrat"/>
                <a:sym typeface="Montserrat"/>
              </a:rPr>
              <a:t>Volunteer &amp; team rosters</a:t>
            </a:r>
            <a:endParaRPr sz="1950">
              <a:solidFill>
                <a:schemeClr val="dk1"/>
              </a:solidFill>
              <a:latin typeface="Calibri"/>
              <a:ea typeface="Calibri"/>
              <a:cs typeface="Calibri"/>
              <a:sym typeface="Calibri"/>
            </a:endParaRPr>
          </a:p>
        </p:txBody>
      </p:sp>
      <p:sp>
        <p:nvSpPr>
          <p:cNvPr id="599" name="Google Shape;599;p23"/>
          <p:cNvSpPr/>
          <p:nvPr/>
        </p:nvSpPr>
        <p:spPr>
          <a:xfrm>
            <a:off x="5867400" y="7431881"/>
            <a:ext cx="8717161"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0" name="Google Shape;600;p23"/>
          <p:cNvSpPr/>
          <p:nvPr/>
        </p:nvSpPr>
        <p:spPr>
          <a:xfrm>
            <a:off x="6096000" y="6875711"/>
            <a:ext cx="8521476" cy="384721"/>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2A2D38"/>
              </a:buClr>
              <a:buSzPts val="1950"/>
              <a:buFont typeface="Inter"/>
              <a:buNone/>
            </a:pPr>
            <a:r>
              <a:rPr lang="en-US" sz="1950">
                <a:solidFill>
                  <a:srgbClr val="2A2D38"/>
                </a:solidFill>
                <a:latin typeface="Inter"/>
                <a:ea typeface="Inter"/>
                <a:cs typeface="Inter"/>
                <a:sym typeface="Inter"/>
              </a:rPr>
              <a:t>Who does what, who to address, who's new</a:t>
            </a:r>
            <a:endParaRPr sz="1950">
              <a:solidFill>
                <a:schemeClr val="dk1"/>
              </a:solidFill>
              <a:latin typeface="Calibri"/>
              <a:ea typeface="Calibri"/>
              <a:cs typeface="Calibri"/>
              <a:sym typeface="Calibri"/>
            </a:endParaRPr>
          </a:p>
        </p:txBody>
      </p:sp>
      <p:sp>
        <p:nvSpPr>
          <p:cNvPr id="601" name="Google Shape;601;p23"/>
          <p:cNvSpPr/>
          <p:nvPr/>
        </p:nvSpPr>
        <p:spPr>
          <a:xfrm>
            <a:off x="14584561" y="7431881"/>
            <a:ext cx="2750939"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2" name="Google Shape;602;p23"/>
          <p:cNvSpPr/>
          <p:nvPr/>
        </p:nvSpPr>
        <p:spPr>
          <a:xfrm>
            <a:off x="14813161" y="6875711"/>
            <a:ext cx="2376267" cy="384721"/>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Weekly</a:t>
            </a:r>
            <a:endParaRPr sz="1800">
              <a:solidFill>
                <a:schemeClr val="dk1"/>
              </a:solidFill>
              <a:latin typeface="Calibri"/>
              <a:ea typeface="Calibri"/>
              <a:cs typeface="Calibri"/>
              <a:sym typeface="Calibri"/>
            </a:endParaRPr>
          </a:p>
        </p:txBody>
      </p:sp>
      <p:sp>
        <p:nvSpPr>
          <p:cNvPr id="603" name="Google Shape;603;p23"/>
          <p:cNvSpPr/>
          <p:nvPr/>
        </p:nvSpPr>
        <p:spPr>
          <a:xfrm>
            <a:off x="952500" y="8207127"/>
            <a:ext cx="49149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4" name="Google Shape;604;p23"/>
          <p:cNvSpPr/>
          <p:nvPr/>
        </p:nvSpPr>
        <p:spPr>
          <a:xfrm>
            <a:off x="1181100" y="7650956"/>
            <a:ext cx="4605147" cy="384721"/>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2A2D38"/>
              </a:buClr>
              <a:buSzPts val="1950"/>
              <a:buFont typeface="Montserrat"/>
              <a:buNone/>
            </a:pPr>
            <a:r>
              <a:rPr b="1" lang="en-US" sz="1950">
                <a:solidFill>
                  <a:srgbClr val="2A2D38"/>
                </a:solidFill>
                <a:latin typeface="Montserrat"/>
                <a:ea typeface="Montserrat"/>
                <a:cs typeface="Montserrat"/>
                <a:sym typeface="Montserrat"/>
              </a:rPr>
              <a:t>Brand &amp; style guide</a:t>
            </a:r>
            <a:endParaRPr sz="1950">
              <a:solidFill>
                <a:schemeClr val="dk1"/>
              </a:solidFill>
              <a:latin typeface="Calibri"/>
              <a:ea typeface="Calibri"/>
              <a:cs typeface="Calibri"/>
              <a:sym typeface="Calibri"/>
            </a:endParaRPr>
          </a:p>
        </p:txBody>
      </p:sp>
      <p:sp>
        <p:nvSpPr>
          <p:cNvPr id="605" name="Google Shape;605;p23"/>
          <p:cNvSpPr/>
          <p:nvPr/>
        </p:nvSpPr>
        <p:spPr>
          <a:xfrm>
            <a:off x="5867400" y="8207127"/>
            <a:ext cx="8717161"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6" name="Google Shape;606;p23"/>
          <p:cNvSpPr/>
          <p:nvPr/>
        </p:nvSpPr>
        <p:spPr>
          <a:xfrm>
            <a:off x="6096000" y="7650956"/>
            <a:ext cx="8521476" cy="384721"/>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2A2D38"/>
              </a:buClr>
              <a:buSzPts val="1950"/>
              <a:buFont typeface="Inter"/>
              <a:buNone/>
            </a:pPr>
            <a:r>
              <a:rPr lang="en-US" sz="1950">
                <a:solidFill>
                  <a:srgbClr val="2A2D38"/>
                </a:solidFill>
                <a:latin typeface="Inter"/>
                <a:ea typeface="Inter"/>
                <a:cs typeface="Inter"/>
                <a:sym typeface="Inter"/>
              </a:rPr>
              <a:t>Visual rules, voice rules, never-say list</a:t>
            </a:r>
            <a:endParaRPr sz="1950">
              <a:solidFill>
                <a:schemeClr val="dk1"/>
              </a:solidFill>
              <a:latin typeface="Calibri"/>
              <a:ea typeface="Calibri"/>
              <a:cs typeface="Calibri"/>
              <a:sym typeface="Calibri"/>
            </a:endParaRPr>
          </a:p>
        </p:txBody>
      </p:sp>
      <p:sp>
        <p:nvSpPr>
          <p:cNvPr id="607" name="Google Shape;607;p23"/>
          <p:cNvSpPr/>
          <p:nvPr/>
        </p:nvSpPr>
        <p:spPr>
          <a:xfrm>
            <a:off x="14584561" y="8207127"/>
            <a:ext cx="2750939"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8" name="Google Shape;608;p23"/>
          <p:cNvSpPr/>
          <p:nvPr/>
        </p:nvSpPr>
        <p:spPr>
          <a:xfrm>
            <a:off x="14813161" y="7650956"/>
            <a:ext cx="2376267" cy="384721"/>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Quarterly</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5F1"/>
        </a:solidFill>
      </p:bgPr>
    </p:bg>
    <p:spTree>
      <p:nvGrpSpPr>
        <p:cNvPr id="613" name="Shape 613"/>
        <p:cNvGrpSpPr/>
        <p:nvPr/>
      </p:nvGrpSpPr>
      <p:grpSpPr>
        <a:xfrm>
          <a:off x="0" y="0"/>
          <a:ext cx="0" cy="0"/>
          <a:chOff x="0" y="0"/>
          <a:chExt cx="0" cy="0"/>
        </a:xfrm>
      </p:grpSpPr>
      <p:sp>
        <p:nvSpPr>
          <p:cNvPr id="614" name="Google Shape;614;p24"/>
          <p:cNvSpPr/>
          <p:nvPr/>
        </p:nvSpPr>
        <p:spPr>
          <a:xfrm>
            <a:off x="952500" y="952500"/>
            <a:ext cx="16874490"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950"/>
              <a:buFont typeface="Montserrat"/>
              <a:buNone/>
            </a:pPr>
            <a:r>
              <a:rPr b="1" lang="en-US" sz="1950">
                <a:solidFill>
                  <a:srgbClr val="F58220"/>
                </a:solidFill>
                <a:latin typeface="Montserrat"/>
                <a:ea typeface="Montserrat"/>
                <a:cs typeface="Montserrat"/>
                <a:sym typeface="Montserrat"/>
              </a:rPr>
              <a:t>ACRONYM, DEMYSTIFIED</a:t>
            </a:r>
            <a:endParaRPr sz="1950">
              <a:solidFill>
                <a:schemeClr val="dk1"/>
              </a:solidFill>
              <a:latin typeface="Calibri"/>
              <a:ea typeface="Calibri"/>
              <a:cs typeface="Calibri"/>
              <a:sym typeface="Calibri"/>
            </a:endParaRPr>
          </a:p>
        </p:txBody>
      </p:sp>
      <p:sp>
        <p:nvSpPr>
          <p:cNvPr id="615" name="Google Shape;615;p24"/>
          <p:cNvSpPr/>
          <p:nvPr/>
        </p:nvSpPr>
        <p:spPr>
          <a:xfrm>
            <a:off x="952500" y="1447800"/>
            <a:ext cx="16874490" cy="798165"/>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2A2D38"/>
              </a:buClr>
              <a:buSzPts val="5700"/>
              <a:buFont typeface="Montserrat"/>
              <a:buNone/>
            </a:pPr>
            <a:r>
              <a:rPr b="1" lang="en-US" sz="5700">
                <a:solidFill>
                  <a:srgbClr val="2A2D38"/>
                </a:solidFill>
                <a:latin typeface="Montserrat"/>
                <a:ea typeface="Montserrat"/>
                <a:cs typeface="Montserrat"/>
                <a:sym typeface="Montserrat"/>
              </a:rPr>
              <a:t>RAG, in plain English.</a:t>
            </a:r>
            <a:endParaRPr sz="5700">
              <a:solidFill>
                <a:schemeClr val="dk1"/>
              </a:solidFill>
              <a:latin typeface="Calibri"/>
              <a:ea typeface="Calibri"/>
              <a:cs typeface="Calibri"/>
              <a:sym typeface="Calibri"/>
            </a:endParaRPr>
          </a:p>
        </p:txBody>
      </p:sp>
      <p:sp>
        <p:nvSpPr>
          <p:cNvPr id="616" name="Google Shape;616;p24"/>
          <p:cNvSpPr/>
          <p:nvPr/>
        </p:nvSpPr>
        <p:spPr>
          <a:xfrm>
            <a:off x="952500" y="2398365"/>
            <a:ext cx="13735050" cy="491430"/>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6B6E78"/>
              </a:buClr>
              <a:buSzPts val="2550"/>
              <a:buFont typeface="Inter"/>
              <a:buNone/>
            </a:pPr>
            <a:r>
              <a:rPr lang="en-US" sz="2550">
                <a:solidFill>
                  <a:srgbClr val="6B6E78"/>
                </a:solidFill>
                <a:latin typeface="Inter"/>
                <a:ea typeface="Inter"/>
                <a:cs typeface="Inter"/>
                <a:sym typeface="Inter"/>
              </a:rPr>
              <a:t>Retrieval-Augmented Generation. Three steps. No PhD required.</a:t>
            </a:r>
            <a:endParaRPr sz="2550">
              <a:solidFill>
                <a:schemeClr val="dk1"/>
              </a:solidFill>
              <a:latin typeface="Calibri"/>
              <a:ea typeface="Calibri"/>
              <a:cs typeface="Calibri"/>
              <a:sym typeface="Calibri"/>
            </a:endParaRPr>
          </a:p>
        </p:txBody>
      </p:sp>
      <p:sp>
        <p:nvSpPr>
          <p:cNvPr id="617" name="Google Shape;617;p24"/>
          <p:cNvSpPr/>
          <p:nvPr/>
        </p:nvSpPr>
        <p:spPr>
          <a:xfrm>
            <a:off x="952500" y="3575596"/>
            <a:ext cx="5257800" cy="4324350"/>
          </a:xfrm>
          <a:prstGeom prst="roundRect">
            <a:avLst>
              <a:gd fmla="val 2643" name="adj"/>
            </a:avLst>
          </a:prstGeom>
          <a:solidFill>
            <a:srgbClr val="FFFFFF"/>
          </a:solidFill>
          <a:ln cap="flat" cmpd="sng" w="9525">
            <a:solidFill>
              <a:srgbClr val="E5E5E7"/>
            </a:solidFill>
            <a:prstDash val="solid"/>
            <a:round/>
            <a:headEnd len="sm" w="sm" type="none"/>
            <a:tailEnd len="sm" w="sm" type="none"/>
          </a:ln>
          <a:effectLst>
            <a:outerShdw blurRad="114300" rotWithShape="0" algn="bl" dir="5400000" dist="38100">
              <a:srgbClr val="2A2D38">
                <a:alpha val="5098"/>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8" name="Google Shape;618;p24"/>
          <p:cNvSpPr/>
          <p:nvPr/>
        </p:nvSpPr>
        <p:spPr>
          <a:xfrm>
            <a:off x="1343025" y="3928021"/>
            <a:ext cx="4611052"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STEP 01</a:t>
            </a:r>
            <a:endParaRPr sz="1800">
              <a:solidFill>
                <a:schemeClr val="dk1"/>
              </a:solidFill>
              <a:latin typeface="Calibri"/>
              <a:ea typeface="Calibri"/>
              <a:cs typeface="Calibri"/>
              <a:sym typeface="Calibri"/>
            </a:endParaRPr>
          </a:p>
        </p:txBody>
      </p:sp>
      <p:sp>
        <p:nvSpPr>
          <p:cNvPr id="619" name="Google Shape;619;p24"/>
          <p:cNvSpPr/>
          <p:nvPr/>
        </p:nvSpPr>
        <p:spPr>
          <a:xfrm>
            <a:off x="1343025" y="4394746"/>
            <a:ext cx="4611052" cy="495300"/>
          </a:xfrm>
          <a:prstGeom prst="rect">
            <a:avLst/>
          </a:prstGeom>
          <a:noFill/>
          <a:ln>
            <a:noFill/>
          </a:ln>
        </p:spPr>
        <p:txBody>
          <a:bodyPr anchorCtr="0" anchor="t" bIns="25400" lIns="25400" spcFirstLastPara="1" rIns="25400" wrap="square" tIns="25400">
            <a:normAutofit/>
          </a:bodyPr>
          <a:lstStyle/>
          <a:p>
            <a:pPr indent="0" lvl="0" marL="0" marR="0" rtl="0" algn="l">
              <a:lnSpc>
                <a:spcPct val="100000"/>
              </a:lnSpc>
              <a:spcBef>
                <a:spcPts val="0"/>
              </a:spcBef>
              <a:spcAft>
                <a:spcPts val="0"/>
              </a:spcAft>
              <a:buClr>
                <a:srgbClr val="2A2D38"/>
              </a:buClr>
              <a:buSzPts val="3600"/>
              <a:buFont typeface="Montserrat"/>
              <a:buNone/>
            </a:pPr>
            <a:r>
              <a:rPr b="1" lang="en-US" sz="3600">
                <a:solidFill>
                  <a:srgbClr val="2A2D38"/>
                </a:solidFill>
                <a:latin typeface="Montserrat"/>
                <a:ea typeface="Montserrat"/>
                <a:cs typeface="Montserrat"/>
                <a:sym typeface="Montserrat"/>
              </a:rPr>
              <a:t>Retrieve</a:t>
            </a:r>
            <a:endParaRPr sz="3600">
              <a:solidFill>
                <a:schemeClr val="dk1"/>
              </a:solidFill>
              <a:latin typeface="Calibri"/>
              <a:ea typeface="Calibri"/>
              <a:cs typeface="Calibri"/>
              <a:sym typeface="Calibri"/>
            </a:endParaRPr>
          </a:p>
        </p:txBody>
      </p:sp>
      <p:sp>
        <p:nvSpPr>
          <p:cNvPr id="620" name="Google Shape;620;p24"/>
          <p:cNvSpPr/>
          <p:nvPr/>
        </p:nvSpPr>
        <p:spPr>
          <a:xfrm>
            <a:off x="1343025" y="5023396"/>
            <a:ext cx="4611052" cy="10668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2A2D38"/>
              </a:buClr>
              <a:buSzPts val="1800"/>
              <a:buFont typeface="Inter"/>
              <a:buNone/>
            </a:pPr>
            <a:r>
              <a:rPr lang="en-US" sz="1800">
                <a:solidFill>
                  <a:srgbClr val="2A2D38"/>
                </a:solidFill>
                <a:latin typeface="Inter"/>
                <a:ea typeface="Inter"/>
                <a:cs typeface="Inter"/>
                <a:sym typeface="Inter"/>
              </a:rPr>
              <a:t>User asks something. A search step finds the 3–5 most relevant chunks from your church's documents.</a:t>
            </a:r>
            <a:endParaRPr sz="1800">
              <a:solidFill>
                <a:schemeClr val="dk1"/>
              </a:solidFill>
              <a:latin typeface="Calibri"/>
              <a:ea typeface="Calibri"/>
              <a:cs typeface="Calibri"/>
              <a:sym typeface="Calibri"/>
            </a:endParaRPr>
          </a:p>
        </p:txBody>
      </p:sp>
      <p:sp>
        <p:nvSpPr>
          <p:cNvPr id="621" name="Google Shape;621;p24"/>
          <p:cNvSpPr/>
          <p:nvPr/>
        </p:nvSpPr>
        <p:spPr>
          <a:xfrm>
            <a:off x="1343025" y="6433096"/>
            <a:ext cx="4611052" cy="9239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6B6E78"/>
              </a:buClr>
              <a:buSzPts val="1800"/>
              <a:buFont typeface="JetBrains Mono"/>
              <a:buNone/>
            </a:pPr>
            <a:r>
              <a:rPr lang="en-US" sz="1800">
                <a:solidFill>
                  <a:srgbClr val="6B6E78"/>
                </a:solidFill>
                <a:latin typeface="JetBrains Mono"/>
                <a:ea typeface="JetBrains Mono"/>
                <a:cs typeface="JetBrains Mono"/>
                <a:sym typeface="JetBrains Mono"/>
              </a:rPr>
              <a:t>"What did Pastor say about generosity in March?" → 3 sermon chunks pulled.</a:t>
            </a:r>
            <a:endParaRPr sz="1800">
              <a:solidFill>
                <a:schemeClr val="dk1"/>
              </a:solidFill>
              <a:latin typeface="Calibri"/>
              <a:ea typeface="Calibri"/>
              <a:cs typeface="Calibri"/>
              <a:sym typeface="Calibri"/>
            </a:endParaRPr>
          </a:p>
        </p:txBody>
      </p:sp>
      <p:sp>
        <p:nvSpPr>
          <p:cNvPr id="622" name="Google Shape;622;p24"/>
          <p:cNvSpPr/>
          <p:nvPr/>
        </p:nvSpPr>
        <p:spPr>
          <a:xfrm>
            <a:off x="6515100" y="3575596"/>
            <a:ext cx="5257800" cy="4324350"/>
          </a:xfrm>
          <a:prstGeom prst="roundRect">
            <a:avLst>
              <a:gd fmla="val 2643" name="adj"/>
            </a:avLst>
          </a:prstGeom>
          <a:solidFill>
            <a:srgbClr val="FFFFFF"/>
          </a:solidFill>
          <a:ln cap="flat" cmpd="sng" w="9525">
            <a:solidFill>
              <a:srgbClr val="E5E5E7"/>
            </a:solidFill>
            <a:prstDash val="solid"/>
            <a:round/>
            <a:headEnd len="sm" w="sm" type="none"/>
            <a:tailEnd len="sm" w="sm" type="none"/>
          </a:ln>
          <a:effectLst>
            <a:outerShdw blurRad="114300" rotWithShape="0" algn="bl" dir="5400000" dist="38100">
              <a:srgbClr val="2A2D38">
                <a:alpha val="5098"/>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3" name="Google Shape;623;p24"/>
          <p:cNvSpPr/>
          <p:nvPr/>
        </p:nvSpPr>
        <p:spPr>
          <a:xfrm>
            <a:off x="6905625" y="3928021"/>
            <a:ext cx="4611052"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STEP 02</a:t>
            </a:r>
            <a:endParaRPr sz="1800">
              <a:solidFill>
                <a:schemeClr val="dk1"/>
              </a:solidFill>
              <a:latin typeface="Calibri"/>
              <a:ea typeface="Calibri"/>
              <a:cs typeface="Calibri"/>
              <a:sym typeface="Calibri"/>
            </a:endParaRPr>
          </a:p>
        </p:txBody>
      </p:sp>
      <p:sp>
        <p:nvSpPr>
          <p:cNvPr id="624" name="Google Shape;624;p24"/>
          <p:cNvSpPr/>
          <p:nvPr/>
        </p:nvSpPr>
        <p:spPr>
          <a:xfrm>
            <a:off x="6905625" y="4394746"/>
            <a:ext cx="4611052" cy="495300"/>
          </a:xfrm>
          <a:prstGeom prst="rect">
            <a:avLst/>
          </a:prstGeom>
          <a:noFill/>
          <a:ln>
            <a:noFill/>
          </a:ln>
        </p:spPr>
        <p:txBody>
          <a:bodyPr anchorCtr="0" anchor="t" bIns="25400" lIns="25400" spcFirstLastPara="1" rIns="25400" wrap="square" tIns="25400">
            <a:normAutofit/>
          </a:bodyPr>
          <a:lstStyle/>
          <a:p>
            <a:pPr indent="0" lvl="0" marL="0" marR="0" rtl="0" algn="l">
              <a:lnSpc>
                <a:spcPct val="100000"/>
              </a:lnSpc>
              <a:spcBef>
                <a:spcPts val="0"/>
              </a:spcBef>
              <a:spcAft>
                <a:spcPts val="0"/>
              </a:spcAft>
              <a:buClr>
                <a:srgbClr val="2A2D38"/>
              </a:buClr>
              <a:buSzPts val="3600"/>
              <a:buFont typeface="Montserrat"/>
              <a:buNone/>
            </a:pPr>
            <a:r>
              <a:rPr b="1" lang="en-US" sz="3600">
                <a:solidFill>
                  <a:srgbClr val="2A2D38"/>
                </a:solidFill>
                <a:latin typeface="Montserrat"/>
                <a:ea typeface="Montserrat"/>
                <a:cs typeface="Montserrat"/>
                <a:sym typeface="Montserrat"/>
              </a:rPr>
              <a:t>Augment</a:t>
            </a:r>
            <a:endParaRPr sz="3600">
              <a:solidFill>
                <a:schemeClr val="dk1"/>
              </a:solidFill>
              <a:latin typeface="Calibri"/>
              <a:ea typeface="Calibri"/>
              <a:cs typeface="Calibri"/>
              <a:sym typeface="Calibri"/>
            </a:endParaRPr>
          </a:p>
        </p:txBody>
      </p:sp>
      <p:sp>
        <p:nvSpPr>
          <p:cNvPr id="625" name="Google Shape;625;p24"/>
          <p:cNvSpPr/>
          <p:nvPr/>
        </p:nvSpPr>
        <p:spPr>
          <a:xfrm>
            <a:off x="6905625" y="5023396"/>
            <a:ext cx="4611052" cy="10668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2A2D38"/>
              </a:buClr>
              <a:buSzPts val="1800"/>
              <a:buFont typeface="Inter"/>
              <a:buNone/>
            </a:pPr>
            <a:r>
              <a:rPr lang="en-US" sz="1800">
                <a:solidFill>
                  <a:srgbClr val="2A2D38"/>
                </a:solidFill>
                <a:latin typeface="Inter"/>
                <a:ea typeface="Inter"/>
                <a:cs typeface="Inter"/>
                <a:sym typeface="Inter"/>
              </a:rPr>
              <a:t>Those chunks get pasted into the prompt — in front of the user's question — before the model sees it.</a:t>
            </a:r>
            <a:endParaRPr sz="1800">
              <a:solidFill>
                <a:schemeClr val="dk1"/>
              </a:solidFill>
              <a:latin typeface="Calibri"/>
              <a:ea typeface="Calibri"/>
              <a:cs typeface="Calibri"/>
              <a:sym typeface="Calibri"/>
            </a:endParaRPr>
          </a:p>
        </p:txBody>
      </p:sp>
      <p:sp>
        <p:nvSpPr>
          <p:cNvPr id="626" name="Google Shape;626;p24"/>
          <p:cNvSpPr/>
          <p:nvPr/>
        </p:nvSpPr>
        <p:spPr>
          <a:xfrm>
            <a:off x="6905625" y="6433096"/>
            <a:ext cx="4611052" cy="9239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6B6E78"/>
              </a:buClr>
              <a:buSzPts val="1800"/>
              <a:buFont typeface="JetBrains Mono"/>
              <a:buNone/>
            </a:pPr>
            <a:r>
              <a:rPr lang="en-US" sz="1800">
                <a:solidFill>
                  <a:srgbClr val="6B6E78"/>
                </a:solidFill>
                <a:latin typeface="JetBrains Mono"/>
                <a:ea typeface="JetBrains Mono"/>
                <a:cs typeface="JetBrains Mono"/>
                <a:sym typeface="JetBrains Mono"/>
              </a:rPr>
              <a:t>Prompt = [chunks] + [instructions] + [user question].</a:t>
            </a:r>
            <a:endParaRPr sz="1800">
              <a:solidFill>
                <a:schemeClr val="dk1"/>
              </a:solidFill>
              <a:latin typeface="Calibri"/>
              <a:ea typeface="Calibri"/>
              <a:cs typeface="Calibri"/>
              <a:sym typeface="Calibri"/>
            </a:endParaRPr>
          </a:p>
        </p:txBody>
      </p:sp>
      <p:sp>
        <p:nvSpPr>
          <p:cNvPr id="627" name="Google Shape;627;p24"/>
          <p:cNvSpPr/>
          <p:nvPr/>
        </p:nvSpPr>
        <p:spPr>
          <a:xfrm>
            <a:off x="12077700" y="3575596"/>
            <a:ext cx="5257800" cy="4324350"/>
          </a:xfrm>
          <a:prstGeom prst="roundRect">
            <a:avLst>
              <a:gd fmla="val 2643" name="adj"/>
            </a:avLst>
          </a:prstGeom>
          <a:solidFill>
            <a:srgbClr val="FFFFFF"/>
          </a:solidFill>
          <a:ln cap="flat" cmpd="sng" w="9525">
            <a:solidFill>
              <a:srgbClr val="E5E5E7"/>
            </a:solidFill>
            <a:prstDash val="solid"/>
            <a:round/>
            <a:headEnd len="sm" w="sm" type="none"/>
            <a:tailEnd len="sm" w="sm" type="none"/>
          </a:ln>
          <a:effectLst>
            <a:outerShdw blurRad="114300" rotWithShape="0" algn="bl" dir="5400000" dist="38100">
              <a:srgbClr val="2A2D38">
                <a:alpha val="5098"/>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8" name="Google Shape;628;p24"/>
          <p:cNvSpPr/>
          <p:nvPr/>
        </p:nvSpPr>
        <p:spPr>
          <a:xfrm>
            <a:off x="12468225" y="3928021"/>
            <a:ext cx="4611052"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STEP 03</a:t>
            </a:r>
            <a:endParaRPr sz="1800">
              <a:solidFill>
                <a:schemeClr val="dk1"/>
              </a:solidFill>
              <a:latin typeface="Calibri"/>
              <a:ea typeface="Calibri"/>
              <a:cs typeface="Calibri"/>
              <a:sym typeface="Calibri"/>
            </a:endParaRPr>
          </a:p>
        </p:txBody>
      </p:sp>
      <p:sp>
        <p:nvSpPr>
          <p:cNvPr id="629" name="Google Shape;629;p24"/>
          <p:cNvSpPr/>
          <p:nvPr/>
        </p:nvSpPr>
        <p:spPr>
          <a:xfrm>
            <a:off x="12468225" y="4394746"/>
            <a:ext cx="4611052" cy="495300"/>
          </a:xfrm>
          <a:prstGeom prst="rect">
            <a:avLst/>
          </a:prstGeom>
          <a:noFill/>
          <a:ln>
            <a:noFill/>
          </a:ln>
        </p:spPr>
        <p:txBody>
          <a:bodyPr anchorCtr="0" anchor="t" bIns="25400" lIns="25400" spcFirstLastPara="1" rIns="25400" wrap="square" tIns="25400">
            <a:normAutofit/>
          </a:bodyPr>
          <a:lstStyle/>
          <a:p>
            <a:pPr indent="0" lvl="0" marL="0" marR="0" rtl="0" algn="l">
              <a:lnSpc>
                <a:spcPct val="100000"/>
              </a:lnSpc>
              <a:spcBef>
                <a:spcPts val="0"/>
              </a:spcBef>
              <a:spcAft>
                <a:spcPts val="0"/>
              </a:spcAft>
              <a:buClr>
                <a:srgbClr val="2A2D38"/>
              </a:buClr>
              <a:buSzPts val="3600"/>
              <a:buFont typeface="Montserrat"/>
              <a:buNone/>
            </a:pPr>
            <a:r>
              <a:rPr b="1" lang="en-US" sz="3600">
                <a:solidFill>
                  <a:srgbClr val="2A2D38"/>
                </a:solidFill>
                <a:latin typeface="Montserrat"/>
                <a:ea typeface="Montserrat"/>
                <a:cs typeface="Montserrat"/>
                <a:sym typeface="Montserrat"/>
              </a:rPr>
              <a:t>Generate</a:t>
            </a:r>
            <a:endParaRPr sz="3600">
              <a:solidFill>
                <a:schemeClr val="dk1"/>
              </a:solidFill>
              <a:latin typeface="Calibri"/>
              <a:ea typeface="Calibri"/>
              <a:cs typeface="Calibri"/>
              <a:sym typeface="Calibri"/>
            </a:endParaRPr>
          </a:p>
        </p:txBody>
      </p:sp>
      <p:sp>
        <p:nvSpPr>
          <p:cNvPr id="630" name="Google Shape;630;p24"/>
          <p:cNvSpPr/>
          <p:nvPr/>
        </p:nvSpPr>
        <p:spPr>
          <a:xfrm>
            <a:off x="12468225" y="5023396"/>
            <a:ext cx="4611052" cy="10668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2A2D38"/>
              </a:buClr>
              <a:buSzPts val="1800"/>
              <a:buFont typeface="Inter"/>
              <a:buNone/>
            </a:pPr>
            <a:r>
              <a:rPr lang="en-US" sz="1800">
                <a:solidFill>
                  <a:srgbClr val="2A2D38"/>
                </a:solidFill>
                <a:latin typeface="Inter"/>
                <a:ea typeface="Inter"/>
                <a:cs typeface="Inter"/>
                <a:sym typeface="Inter"/>
              </a:rPr>
              <a:t>Model answers from </a:t>
            </a:r>
            <a:r>
              <a:rPr i="1" lang="en-US" sz="1800">
                <a:solidFill>
                  <a:srgbClr val="2A2D38"/>
                </a:solidFill>
                <a:latin typeface="Inter"/>
                <a:ea typeface="Inter"/>
                <a:cs typeface="Inter"/>
                <a:sym typeface="Inter"/>
              </a:rPr>
              <a:t>your sources </a:t>
            </a:r>
            <a:r>
              <a:rPr lang="en-US" sz="1800">
                <a:solidFill>
                  <a:srgbClr val="2A2D38"/>
                </a:solidFill>
                <a:latin typeface="Inter"/>
                <a:ea typeface="Inter"/>
                <a:cs typeface="Inter"/>
                <a:sym typeface="Inter"/>
              </a:rPr>
              <a:t>, not its training data. Cite the chunk it used so you can verify.</a:t>
            </a:r>
            <a:endParaRPr sz="1800">
              <a:solidFill>
                <a:schemeClr val="dk1"/>
              </a:solidFill>
              <a:latin typeface="Calibri"/>
              <a:ea typeface="Calibri"/>
              <a:cs typeface="Calibri"/>
              <a:sym typeface="Calibri"/>
            </a:endParaRPr>
          </a:p>
        </p:txBody>
      </p:sp>
      <p:sp>
        <p:nvSpPr>
          <p:cNvPr id="631" name="Google Shape;631;p24"/>
          <p:cNvSpPr/>
          <p:nvPr/>
        </p:nvSpPr>
        <p:spPr>
          <a:xfrm>
            <a:off x="12468225" y="6728371"/>
            <a:ext cx="4611052" cy="62865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6B6E78"/>
              </a:buClr>
              <a:buSzPts val="1800"/>
              <a:buFont typeface="JetBrains Mono"/>
              <a:buNone/>
            </a:pPr>
            <a:r>
              <a:rPr lang="en-US" sz="1800">
                <a:solidFill>
                  <a:srgbClr val="6B6E78"/>
                </a:solidFill>
                <a:latin typeface="JetBrains Mono"/>
                <a:ea typeface="JetBrains Mono"/>
                <a:cs typeface="JetBrains Mono"/>
                <a:sym typeface="JetBrains Mono"/>
              </a:rPr>
              <a:t>"Per the March 9 sermon, Pastor framed generosity as..."</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6" name="Shape 636"/>
        <p:cNvGrpSpPr/>
        <p:nvPr/>
      </p:nvGrpSpPr>
      <p:grpSpPr>
        <a:xfrm>
          <a:off x="0" y="0"/>
          <a:ext cx="0" cy="0"/>
          <a:chOff x="0" y="0"/>
          <a:chExt cx="0" cy="0"/>
        </a:xfrm>
      </p:grpSpPr>
      <p:sp>
        <p:nvSpPr>
          <p:cNvPr id="637" name="Google Shape;637;p25"/>
          <p:cNvSpPr/>
          <p:nvPr/>
        </p:nvSpPr>
        <p:spPr>
          <a:xfrm>
            <a:off x="952500" y="952500"/>
            <a:ext cx="16874490"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950"/>
              <a:buFont typeface="Montserrat"/>
              <a:buNone/>
            </a:pPr>
            <a:r>
              <a:rPr b="1" lang="en-US" sz="1950">
                <a:solidFill>
                  <a:srgbClr val="F58220"/>
                </a:solidFill>
                <a:latin typeface="Montserrat"/>
                <a:ea typeface="Montserrat"/>
                <a:cs typeface="Montserrat"/>
                <a:sym typeface="Montserrat"/>
              </a:rPr>
              <a:t>STEWARDSHIP BEFORE SPEED</a:t>
            </a:r>
            <a:endParaRPr sz="1950">
              <a:solidFill>
                <a:schemeClr val="dk1"/>
              </a:solidFill>
              <a:latin typeface="Calibri"/>
              <a:ea typeface="Calibri"/>
              <a:cs typeface="Calibri"/>
              <a:sym typeface="Calibri"/>
            </a:endParaRPr>
          </a:p>
        </p:txBody>
      </p:sp>
      <p:sp>
        <p:nvSpPr>
          <p:cNvPr id="638" name="Google Shape;638;p25"/>
          <p:cNvSpPr/>
          <p:nvPr/>
        </p:nvSpPr>
        <p:spPr>
          <a:xfrm>
            <a:off x="952500" y="1447800"/>
            <a:ext cx="16874490" cy="798165"/>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2A2D38"/>
              </a:buClr>
              <a:buSzPts val="5700"/>
              <a:buFont typeface="Montserrat"/>
              <a:buNone/>
            </a:pPr>
            <a:r>
              <a:rPr b="1" lang="en-US" sz="5700">
                <a:solidFill>
                  <a:srgbClr val="2A2D38"/>
                </a:solidFill>
                <a:latin typeface="Montserrat"/>
                <a:ea typeface="Montserrat"/>
                <a:cs typeface="Montserrat"/>
                <a:sym typeface="Montserrat"/>
              </a:rPr>
              <a:t>Privacy is part of the job.</a:t>
            </a:r>
            <a:endParaRPr sz="5700">
              <a:solidFill>
                <a:schemeClr val="dk1"/>
              </a:solidFill>
              <a:latin typeface="Calibri"/>
              <a:ea typeface="Calibri"/>
              <a:cs typeface="Calibri"/>
              <a:sym typeface="Calibri"/>
            </a:endParaRPr>
          </a:p>
        </p:txBody>
      </p:sp>
      <p:sp>
        <p:nvSpPr>
          <p:cNvPr id="639" name="Google Shape;639;p25"/>
          <p:cNvSpPr/>
          <p:nvPr/>
        </p:nvSpPr>
        <p:spPr>
          <a:xfrm>
            <a:off x="952500" y="2398365"/>
            <a:ext cx="13735050" cy="944761"/>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6B6E78"/>
              </a:buClr>
              <a:buSzPts val="2550"/>
              <a:buFont typeface="Inter"/>
              <a:buNone/>
            </a:pPr>
            <a:r>
              <a:rPr lang="en-US" sz="2550">
                <a:solidFill>
                  <a:srgbClr val="6B6E78"/>
                </a:solidFill>
                <a:latin typeface="Inter"/>
                <a:ea typeface="Inter"/>
                <a:cs typeface="Inter"/>
                <a:sym typeface="Inter"/>
              </a:rPr>
              <a:t>If a member wouldn't want it on the church website, it doesn't go in a public model prompt.</a:t>
            </a:r>
            <a:endParaRPr sz="2550">
              <a:solidFill>
                <a:schemeClr val="dk1"/>
              </a:solidFill>
              <a:latin typeface="Calibri"/>
              <a:ea typeface="Calibri"/>
              <a:cs typeface="Calibri"/>
              <a:sym typeface="Calibri"/>
            </a:endParaRPr>
          </a:p>
        </p:txBody>
      </p:sp>
      <p:sp>
        <p:nvSpPr>
          <p:cNvPr id="640" name="Google Shape;640;p25"/>
          <p:cNvSpPr/>
          <p:nvPr/>
        </p:nvSpPr>
        <p:spPr>
          <a:xfrm>
            <a:off x="952500" y="3800326"/>
            <a:ext cx="914400" cy="38100"/>
          </a:xfrm>
          <a:prstGeom prst="roundRect">
            <a:avLst>
              <a:gd fmla="val 50000" name="adj"/>
            </a:avLst>
          </a:prstGeom>
          <a:solidFill>
            <a:srgbClr val="F5822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1" name="Google Shape;641;p25"/>
          <p:cNvSpPr/>
          <p:nvPr/>
        </p:nvSpPr>
        <p:spPr>
          <a:xfrm>
            <a:off x="952500" y="4333726"/>
            <a:ext cx="8039100" cy="3752850"/>
          </a:xfrm>
          <a:prstGeom prst="roundRect">
            <a:avLst>
              <a:gd fmla="val 3046" name="adj"/>
            </a:avLst>
          </a:prstGeom>
          <a:solidFill>
            <a:srgbClr val="FFFFFF"/>
          </a:solidFill>
          <a:ln cap="flat" cmpd="sng" w="9525">
            <a:solidFill>
              <a:srgbClr val="E5E5E7"/>
            </a:solidFill>
            <a:prstDash val="solid"/>
            <a:round/>
            <a:headEnd len="sm" w="sm" type="none"/>
            <a:tailEnd len="sm" w="sm" type="none"/>
          </a:ln>
          <a:effectLst>
            <a:outerShdw blurRad="114300" rotWithShape="0" algn="bl" dir="5400000" dist="38100">
              <a:srgbClr val="2A2D38">
                <a:alpha val="5098"/>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25"/>
          <p:cNvSpPr/>
          <p:nvPr/>
        </p:nvSpPr>
        <p:spPr>
          <a:xfrm>
            <a:off x="1343025" y="4686151"/>
            <a:ext cx="7475792"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F8F4E"/>
              </a:buClr>
              <a:buSzPts val="1800"/>
              <a:buFont typeface="Montserrat"/>
              <a:buNone/>
            </a:pPr>
            <a:r>
              <a:rPr b="1" lang="en-US" sz="1800">
                <a:solidFill>
                  <a:srgbClr val="2F8F4E"/>
                </a:solidFill>
                <a:latin typeface="Montserrat"/>
                <a:ea typeface="Montserrat"/>
                <a:cs typeface="Montserrat"/>
                <a:sym typeface="Montserrat"/>
              </a:rPr>
              <a:t>✓ GENERALLY OK</a:t>
            </a:r>
            <a:endParaRPr sz="1800">
              <a:solidFill>
                <a:schemeClr val="dk1"/>
              </a:solidFill>
              <a:latin typeface="Calibri"/>
              <a:ea typeface="Calibri"/>
              <a:cs typeface="Calibri"/>
              <a:sym typeface="Calibri"/>
            </a:endParaRPr>
          </a:p>
        </p:txBody>
      </p:sp>
      <p:sp>
        <p:nvSpPr>
          <p:cNvPr id="643" name="Google Shape;643;p25"/>
          <p:cNvSpPr/>
          <p:nvPr/>
        </p:nvSpPr>
        <p:spPr>
          <a:xfrm>
            <a:off x="1436370" y="5124301"/>
            <a:ext cx="7240905" cy="1573411"/>
          </a:xfrm>
          <a:prstGeom prst="rect">
            <a:avLst/>
          </a:prstGeom>
          <a:noFill/>
          <a:ln>
            <a:noFill/>
          </a:ln>
        </p:spPr>
        <p:txBody>
          <a:bodyPr anchorCtr="0" anchor="t" bIns="25400" lIns="25400" spcFirstLastPara="1" rIns="25400" wrap="square" tIns="25400">
            <a:normAutofit/>
          </a:bodyPr>
          <a:lstStyle/>
          <a:p>
            <a:pPr indent="-173355" lvl="0" marL="173355" marR="0" rtl="0" algn="l">
              <a:lnSpc>
                <a:spcPct val="155000"/>
              </a:lnSpc>
              <a:spcBef>
                <a:spcPts val="0"/>
              </a:spcBef>
              <a:spcAft>
                <a:spcPts val="0"/>
              </a:spcAft>
              <a:buClr>
                <a:srgbClr val="2A2D38"/>
              </a:buClr>
              <a:buSzPts val="1950"/>
              <a:buFont typeface="Inter"/>
              <a:buChar char="•"/>
            </a:pPr>
            <a:r>
              <a:rPr lang="en-US" sz="1950">
                <a:solidFill>
                  <a:srgbClr val="2A2D38"/>
                </a:solidFill>
                <a:latin typeface="Inter"/>
                <a:ea typeface="Inter"/>
                <a:cs typeface="Inter"/>
                <a:sym typeface="Inter"/>
              </a:rPr>
              <a:t>Public sermons &amp; newsletters</a:t>
            </a:r>
            <a:endParaRPr sz="1950">
              <a:solidFill>
                <a:schemeClr val="dk1"/>
              </a:solidFill>
              <a:latin typeface="Calibri"/>
              <a:ea typeface="Calibri"/>
              <a:cs typeface="Calibri"/>
              <a:sym typeface="Calibri"/>
            </a:endParaRPr>
          </a:p>
          <a:p>
            <a:pPr indent="-173355" lvl="0" marL="173355" marR="0" rtl="0" algn="l">
              <a:lnSpc>
                <a:spcPct val="155000"/>
              </a:lnSpc>
              <a:spcBef>
                <a:spcPts val="0"/>
              </a:spcBef>
              <a:spcAft>
                <a:spcPts val="0"/>
              </a:spcAft>
              <a:buClr>
                <a:srgbClr val="2A2D38"/>
              </a:buClr>
              <a:buSzPts val="1950"/>
              <a:buFont typeface="Inter"/>
              <a:buChar char="•"/>
            </a:pPr>
            <a:r>
              <a:rPr lang="en-US" sz="1950">
                <a:solidFill>
                  <a:srgbClr val="2A2D38"/>
                </a:solidFill>
                <a:latin typeface="Inter"/>
                <a:ea typeface="Inter"/>
                <a:cs typeface="Inter"/>
                <a:sym typeface="Inter"/>
              </a:rPr>
              <a:t>Mission, values, and brand voice docs</a:t>
            </a:r>
            <a:endParaRPr sz="1950">
              <a:solidFill>
                <a:schemeClr val="dk1"/>
              </a:solidFill>
              <a:latin typeface="Calibri"/>
              <a:ea typeface="Calibri"/>
              <a:cs typeface="Calibri"/>
              <a:sym typeface="Calibri"/>
            </a:endParaRPr>
          </a:p>
          <a:p>
            <a:pPr indent="-173355" lvl="0" marL="173355" marR="0" rtl="0" algn="l">
              <a:lnSpc>
                <a:spcPct val="155000"/>
              </a:lnSpc>
              <a:spcBef>
                <a:spcPts val="0"/>
              </a:spcBef>
              <a:spcAft>
                <a:spcPts val="0"/>
              </a:spcAft>
              <a:buClr>
                <a:srgbClr val="2A2D38"/>
              </a:buClr>
              <a:buSzPts val="1950"/>
              <a:buFont typeface="Inter"/>
              <a:buChar char="•"/>
            </a:pPr>
            <a:r>
              <a:rPr lang="en-US" sz="1950">
                <a:solidFill>
                  <a:srgbClr val="2A2D38"/>
                </a:solidFill>
                <a:latin typeface="Inter"/>
                <a:ea typeface="Inter"/>
                <a:cs typeface="Inter"/>
                <a:sym typeface="Inter"/>
              </a:rPr>
              <a:t>Event copy, schedule data, FAQs</a:t>
            </a:r>
            <a:endParaRPr sz="1950">
              <a:solidFill>
                <a:schemeClr val="dk1"/>
              </a:solidFill>
              <a:latin typeface="Calibri"/>
              <a:ea typeface="Calibri"/>
              <a:cs typeface="Calibri"/>
              <a:sym typeface="Calibri"/>
            </a:endParaRPr>
          </a:p>
          <a:p>
            <a:pPr indent="-173355" lvl="0" marL="173355" marR="0" rtl="0" algn="l">
              <a:lnSpc>
                <a:spcPct val="155000"/>
              </a:lnSpc>
              <a:spcBef>
                <a:spcPts val="0"/>
              </a:spcBef>
              <a:spcAft>
                <a:spcPts val="0"/>
              </a:spcAft>
              <a:buClr>
                <a:srgbClr val="2A2D38"/>
              </a:buClr>
              <a:buSzPts val="1950"/>
              <a:buFont typeface="Inter"/>
              <a:buChar char="•"/>
            </a:pPr>
            <a:r>
              <a:rPr lang="en-US" sz="1950">
                <a:solidFill>
                  <a:srgbClr val="2A2D38"/>
                </a:solidFill>
                <a:latin typeface="Inter"/>
                <a:ea typeface="Inter"/>
                <a:cs typeface="Inter"/>
                <a:sym typeface="Inter"/>
              </a:rPr>
              <a:t>Aggregate, anonymized stats</a:t>
            </a:r>
            <a:endParaRPr sz="1950">
              <a:solidFill>
                <a:schemeClr val="dk1"/>
              </a:solidFill>
              <a:latin typeface="Calibri"/>
              <a:ea typeface="Calibri"/>
              <a:cs typeface="Calibri"/>
              <a:sym typeface="Calibri"/>
            </a:endParaRPr>
          </a:p>
        </p:txBody>
      </p:sp>
      <p:sp>
        <p:nvSpPr>
          <p:cNvPr id="644" name="Google Shape;644;p25"/>
          <p:cNvSpPr/>
          <p:nvPr/>
        </p:nvSpPr>
        <p:spPr>
          <a:xfrm>
            <a:off x="9296400" y="4333726"/>
            <a:ext cx="8039100" cy="3752850"/>
          </a:xfrm>
          <a:prstGeom prst="roundRect">
            <a:avLst>
              <a:gd fmla="val 3046" name="adj"/>
            </a:avLst>
          </a:prstGeom>
          <a:solidFill>
            <a:srgbClr val="FFFFFF"/>
          </a:solidFill>
          <a:ln cap="flat" cmpd="sng" w="9525">
            <a:solidFill>
              <a:srgbClr val="E5E5E7"/>
            </a:solidFill>
            <a:prstDash val="solid"/>
            <a:round/>
            <a:headEnd len="sm" w="sm" type="none"/>
            <a:tailEnd len="sm" w="sm" type="none"/>
          </a:ln>
          <a:effectLst>
            <a:outerShdw blurRad="114300" rotWithShape="0" algn="bl" dir="5400000" dist="38100">
              <a:srgbClr val="2A2D38">
                <a:alpha val="5098"/>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5" name="Google Shape;645;p25"/>
          <p:cNvSpPr/>
          <p:nvPr/>
        </p:nvSpPr>
        <p:spPr>
          <a:xfrm>
            <a:off x="9686925" y="4686151"/>
            <a:ext cx="7475792"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B5341B"/>
              </a:buClr>
              <a:buSzPts val="1800"/>
              <a:buFont typeface="Montserrat"/>
              <a:buNone/>
            </a:pPr>
            <a:r>
              <a:rPr b="1" lang="en-US" sz="1800">
                <a:solidFill>
                  <a:srgbClr val="B5341B"/>
                </a:solidFill>
                <a:latin typeface="Montserrat"/>
                <a:ea typeface="Montserrat"/>
                <a:cs typeface="Montserrat"/>
                <a:sym typeface="Montserrat"/>
              </a:rPr>
              <a:t>✕ STOP &amp; THINK</a:t>
            </a:r>
            <a:endParaRPr sz="1800">
              <a:solidFill>
                <a:schemeClr val="dk1"/>
              </a:solidFill>
              <a:latin typeface="Calibri"/>
              <a:ea typeface="Calibri"/>
              <a:cs typeface="Calibri"/>
              <a:sym typeface="Calibri"/>
            </a:endParaRPr>
          </a:p>
        </p:txBody>
      </p:sp>
      <p:sp>
        <p:nvSpPr>
          <p:cNvPr id="646" name="Google Shape;646;p25"/>
          <p:cNvSpPr/>
          <p:nvPr/>
        </p:nvSpPr>
        <p:spPr>
          <a:xfrm>
            <a:off x="9780270" y="5124301"/>
            <a:ext cx="7240905" cy="1573411"/>
          </a:xfrm>
          <a:prstGeom prst="rect">
            <a:avLst/>
          </a:prstGeom>
          <a:noFill/>
          <a:ln>
            <a:noFill/>
          </a:ln>
        </p:spPr>
        <p:txBody>
          <a:bodyPr anchorCtr="0" anchor="t" bIns="25400" lIns="25400" spcFirstLastPara="1" rIns="25400" wrap="square" tIns="25400">
            <a:normAutofit/>
          </a:bodyPr>
          <a:lstStyle/>
          <a:p>
            <a:pPr indent="-173355" lvl="0" marL="173355" marR="0" rtl="0" algn="l">
              <a:lnSpc>
                <a:spcPct val="155000"/>
              </a:lnSpc>
              <a:spcBef>
                <a:spcPts val="0"/>
              </a:spcBef>
              <a:spcAft>
                <a:spcPts val="0"/>
              </a:spcAft>
              <a:buClr>
                <a:srgbClr val="2A2D38"/>
              </a:buClr>
              <a:buSzPts val="1950"/>
              <a:buFont typeface="Inter"/>
              <a:buChar char="•"/>
            </a:pPr>
            <a:r>
              <a:rPr lang="en-US" sz="1950">
                <a:solidFill>
                  <a:srgbClr val="2A2D38"/>
                </a:solidFill>
                <a:latin typeface="Inter"/>
                <a:ea typeface="Inter"/>
                <a:cs typeface="Inter"/>
                <a:sym typeface="Inter"/>
              </a:rPr>
              <a:t>Names tied to giving, attendance, or counseling</a:t>
            </a:r>
            <a:endParaRPr sz="1950">
              <a:solidFill>
                <a:schemeClr val="dk1"/>
              </a:solidFill>
              <a:latin typeface="Calibri"/>
              <a:ea typeface="Calibri"/>
              <a:cs typeface="Calibri"/>
              <a:sym typeface="Calibri"/>
            </a:endParaRPr>
          </a:p>
          <a:p>
            <a:pPr indent="-173355" lvl="0" marL="173355" marR="0" rtl="0" algn="l">
              <a:lnSpc>
                <a:spcPct val="155000"/>
              </a:lnSpc>
              <a:spcBef>
                <a:spcPts val="0"/>
              </a:spcBef>
              <a:spcAft>
                <a:spcPts val="0"/>
              </a:spcAft>
              <a:buClr>
                <a:srgbClr val="2A2D38"/>
              </a:buClr>
              <a:buSzPts val="1950"/>
              <a:buFont typeface="Inter"/>
              <a:buChar char="•"/>
            </a:pPr>
            <a:r>
              <a:rPr lang="en-US" sz="1950">
                <a:solidFill>
                  <a:srgbClr val="2A2D38"/>
                </a:solidFill>
                <a:latin typeface="Inter"/>
                <a:ea typeface="Inter"/>
                <a:cs typeface="Inter"/>
                <a:sym typeface="Inter"/>
              </a:rPr>
              <a:t>Children's data of any kind</a:t>
            </a:r>
            <a:endParaRPr sz="1950">
              <a:solidFill>
                <a:schemeClr val="dk1"/>
              </a:solidFill>
              <a:latin typeface="Calibri"/>
              <a:ea typeface="Calibri"/>
              <a:cs typeface="Calibri"/>
              <a:sym typeface="Calibri"/>
            </a:endParaRPr>
          </a:p>
          <a:p>
            <a:pPr indent="-173355" lvl="0" marL="173355" marR="0" rtl="0" algn="l">
              <a:lnSpc>
                <a:spcPct val="155000"/>
              </a:lnSpc>
              <a:spcBef>
                <a:spcPts val="0"/>
              </a:spcBef>
              <a:spcAft>
                <a:spcPts val="0"/>
              </a:spcAft>
              <a:buClr>
                <a:srgbClr val="2A2D38"/>
              </a:buClr>
              <a:buSzPts val="1950"/>
              <a:buFont typeface="Inter"/>
              <a:buChar char="•"/>
            </a:pPr>
            <a:r>
              <a:rPr lang="en-US" sz="1950">
                <a:solidFill>
                  <a:srgbClr val="2A2D38"/>
                </a:solidFill>
                <a:latin typeface="Inter"/>
                <a:ea typeface="Inter"/>
                <a:cs typeface="Inter"/>
                <a:sym typeface="Inter"/>
              </a:rPr>
              <a:t>Staff HR records, conflict notes</a:t>
            </a:r>
            <a:endParaRPr sz="1950">
              <a:solidFill>
                <a:schemeClr val="dk1"/>
              </a:solidFill>
              <a:latin typeface="Calibri"/>
              <a:ea typeface="Calibri"/>
              <a:cs typeface="Calibri"/>
              <a:sym typeface="Calibri"/>
            </a:endParaRPr>
          </a:p>
          <a:p>
            <a:pPr indent="-173355" lvl="0" marL="173355" marR="0" rtl="0" algn="l">
              <a:lnSpc>
                <a:spcPct val="155000"/>
              </a:lnSpc>
              <a:spcBef>
                <a:spcPts val="0"/>
              </a:spcBef>
              <a:spcAft>
                <a:spcPts val="0"/>
              </a:spcAft>
              <a:buClr>
                <a:srgbClr val="2A2D38"/>
              </a:buClr>
              <a:buSzPts val="1950"/>
              <a:buFont typeface="Inter"/>
              <a:buChar char="•"/>
            </a:pPr>
            <a:r>
              <a:rPr lang="en-US" sz="1950">
                <a:solidFill>
                  <a:srgbClr val="2A2D38"/>
                </a:solidFill>
                <a:latin typeface="Inter"/>
                <a:ea typeface="Inter"/>
                <a:cs typeface="Inter"/>
                <a:sym typeface="Inter"/>
              </a:rPr>
              <a:t>Anything you'd hesitate to email externally</a:t>
            </a:r>
            <a:endParaRPr sz="195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1" name="Shape 651"/>
        <p:cNvGrpSpPr/>
        <p:nvPr/>
      </p:nvGrpSpPr>
      <p:grpSpPr>
        <a:xfrm>
          <a:off x="0" y="0"/>
          <a:ext cx="0" cy="0"/>
          <a:chOff x="0" y="0"/>
          <a:chExt cx="0" cy="0"/>
        </a:xfrm>
      </p:grpSpPr>
      <p:sp>
        <p:nvSpPr>
          <p:cNvPr id="652" name="Google Shape;652;p26"/>
          <p:cNvSpPr/>
          <p:nvPr/>
        </p:nvSpPr>
        <p:spPr>
          <a:xfrm>
            <a:off x="0" y="0"/>
            <a:ext cx="5143500" cy="10287000"/>
          </a:xfrm>
          <a:prstGeom prst="rect">
            <a:avLst/>
          </a:prstGeom>
          <a:solidFill>
            <a:srgbClr val="1B1D2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3" name="Google Shape;653;p26"/>
          <p:cNvSpPr/>
          <p:nvPr/>
        </p:nvSpPr>
        <p:spPr>
          <a:xfrm>
            <a:off x="571500" y="952500"/>
            <a:ext cx="4120515"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EXERCISE</a:t>
            </a:r>
            <a:endParaRPr sz="1800">
              <a:solidFill>
                <a:schemeClr val="dk1"/>
              </a:solidFill>
              <a:latin typeface="Calibri"/>
              <a:ea typeface="Calibri"/>
              <a:cs typeface="Calibri"/>
              <a:sym typeface="Calibri"/>
            </a:endParaRPr>
          </a:p>
        </p:txBody>
      </p:sp>
      <p:sp>
        <p:nvSpPr>
          <p:cNvPr id="654" name="Google Shape;654;p26"/>
          <p:cNvSpPr/>
          <p:nvPr/>
        </p:nvSpPr>
        <p:spPr>
          <a:xfrm>
            <a:off x="571500" y="1552575"/>
            <a:ext cx="4120515" cy="1819275"/>
          </a:xfrm>
          <a:prstGeom prst="rect">
            <a:avLst/>
          </a:prstGeom>
          <a:noFill/>
          <a:ln>
            <a:noFill/>
          </a:ln>
        </p:spPr>
        <p:txBody>
          <a:bodyPr anchorCtr="0" anchor="t" bIns="25400" lIns="25400" spcFirstLastPara="1" rIns="25400" wrap="square" tIns="25400">
            <a:normAutofit/>
          </a:bodyPr>
          <a:lstStyle/>
          <a:p>
            <a:pPr indent="0" lvl="0" marL="0" marR="0" rtl="0" algn="l">
              <a:lnSpc>
                <a:spcPct val="85000"/>
              </a:lnSpc>
              <a:spcBef>
                <a:spcPts val="0"/>
              </a:spcBef>
              <a:spcAft>
                <a:spcPts val="0"/>
              </a:spcAft>
              <a:buClr>
                <a:srgbClr val="FFFFFF"/>
              </a:buClr>
              <a:buSzPts val="16500"/>
              <a:buFont typeface="Montserrat"/>
              <a:buNone/>
            </a:pPr>
            <a:r>
              <a:rPr b="1" lang="en-US" sz="16500">
                <a:solidFill>
                  <a:srgbClr val="FFFFFF"/>
                </a:solidFill>
                <a:latin typeface="Montserrat"/>
                <a:ea typeface="Montserrat"/>
                <a:cs typeface="Montserrat"/>
                <a:sym typeface="Montserrat"/>
              </a:rPr>
              <a:t>0</a:t>
            </a:r>
            <a:r>
              <a:rPr b="1" lang="en-US" sz="16500">
                <a:solidFill>
                  <a:srgbClr val="3FE0D0"/>
                </a:solidFill>
                <a:latin typeface="Montserrat"/>
                <a:ea typeface="Montserrat"/>
                <a:cs typeface="Montserrat"/>
                <a:sym typeface="Montserrat"/>
              </a:rPr>
              <a:t>2</a:t>
            </a:r>
            <a:endParaRPr sz="16500">
              <a:solidFill>
                <a:schemeClr val="dk1"/>
              </a:solidFill>
              <a:latin typeface="Calibri"/>
              <a:ea typeface="Calibri"/>
              <a:cs typeface="Calibri"/>
              <a:sym typeface="Calibri"/>
            </a:endParaRPr>
          </a:p>
        </p:txBody>
      </p:sp>
      <p:sp>
        <p:nvSpPr>
          <p:cNvPr id="655" name="Google Shape;655;p26"/>
          <p:cNvSpPr/>
          <p:nvPr/>
        </p:nvSpPr>
        <p:spPr>
          <a:xfrm>
            <a:off x="571500" y="3638550"/>
            <a:ext cx="4120515" cy="708422"/>
          </a:xfrm>
          <a:prstGeom prst="rect">
            <a:avLst/>
          </a:prstGeom>
          <a:noFill/>
          <a:ln>
            <a:noFill/>
          </a:ln>
        </p:spPr>
        <p:txBody>
          <a:bodyPr anchorCtr="0" anchor="t" bIns="25400" lIns="25400" spcFirstLastPara="1" rIns="25400" wrap="square" tIns="25400">
            <a:normAutofit/>
          </a:bodyPr>
          <a:lstStyle/>
          <a:p>
            <a:pPr indent="0" lvl="0" marL="0" marR="0" rtl="0" algn="l">
              <a:lnSpc>
                <a:spcPct val="110000"/>
              </a:lnSpc>
              <a:spcBef>
                <a:spcPts val="0"/>
              </a:spcBef>
              <a:spcAft>
                <a:spcPts val="0"/>
              </a:spcAft>
              <a:buClr>
                <a:srgbClr val="FFFFFF"/>
              </a:buClr>
              <a:buSzPts val="2400"/>
              <a:buFont typeface="Montserrat"/>
              <a:buNone/>
            </a:pPr>
            <a:r>
              <a:rPr b="1" lang="en-US" sz="2400">
                <a:solidFill>
                  <a:srgbClr val="FFFFFF"/>
                </a:solidFill>
                <a:latin typeface="Montserrat"/>
                <a:ea typeface="Montserrat"/>
                <a:cs typeface="Montserrat"/>
                <a:sym typeface="Montserrat"/>
              </a:rPr>
              <a:t>BUILD A SERMON ASSISTANT BRIEF</a:t>
            </a:r>
            <a:endParaRPr sz="2400">
              <a:solidFill>
                <a:schemeClr val="dk1"/>
              </a:solidFill>
              <a:latin typeface="Calibri"/>
              <a:ea typeface="Calibri"/>
              <a:cs typeface="Calibri"/>
              <a:sym typeface="Calibri"/>
            </a:endParaRPr>
          </a:p>
        </p:txBody>
      </p:sp>
      <p:sp>
        <p:nvSpPr>
          <p:cNvPr id="656" name="Google Shape;656;p26"/>
          <p:cNvSpPr/>
          <p:nvPr/>
        </p:nvSpPr>
        <p:spPr>
          <a:xfrm>
            <a:off x="571500" y="9129713"/>
            <a:ext cx="114300" cy="114300"/>
          </a:xfrm>
          <a:prstGeom prst="ellipse">
            <a:avLst/>
          </a:prstGeom>
          <a:solidFill>
            <a:srgbClr val="3FE0D0"/>
          </a:solidFill>
          <a:ln>
            <a:noFill/>
          </a:ln>
          <a:effectLst>
            <a:outerShdw blurRad="152400" rotWithShape="0" algn="bl" dir="16200000" dist="50800">
              <a:srgbClr val="3FE0D0"/>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7" name="Google Shape;657;p26"/>
          <p:cNvSpPr/>
          <p:nvPr/>
        </p:nvSpPr>
        <p:spPr>
          <a:xfrm>
            <a:off x="838200" y="9039225"/>
            <a:ext cx="2408039" cy="33337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C9CBD1"/>
              </a:buClr>
              <a:buSzPts val="1800"/>
              <a:buFont typeface="JetBrains Mono"/>
              <a:buNone/>
            </a:pPr>
            <a:r>
              <a:rPr lang="en-US" sz="1800">
                <a:solidFill>
                  <a:srgbClr val="C9CBD1"/>
                </a:solidFill>
                <a:latin typeface="JetBrains Mono"/>
                <a:ea typeface="JetBrains Mono"/>
                <a:cs typeface="JetBrains Mono"/>
                <a:sym typeface="JetBrains Mono"/>
              </a:rPr>
              <a:t>15 minutes · solo</a:t>
            </a:r>
            <a:endParaRPr sz="1800">
              <a:solidFill>
                <a:schemeClr val="dk1"/>
              </a:solidFill>
              <a:latin typeface="Calibri"/>
              <a:ea typeface="Calibri"/>
              <a:cs typeface="Calibri"/>
              <a:sym typeface="Calibri"/>
            </a:endParaRPr>
          </a:p>
        </p:txBody>
      </p:sp>
      <p:sp>
        <p:nvSpPr>
          <p:cNvPr id="658" name="Google Shape;658;p26"/>
          <p:cNvSpPr/>
          <p:nvPr/>
        </p:nvSpPr>
        <p:spPr>
          <a:xfrm>
            <a:off x="5143500" y="0"/>
            <a:ext cx="13144500" cy="10287000"/>
          </a:xfrm>
          <a:prstGeom prst="rect">
            <a:avLst/>
          </a:prstGeom>
          <a:solidFill>
            <a:srgbClr val="F7F5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9" name="Google Shape;659;p26"/>
          <p:cNvSpPr/>
          <p:nvPr/>
        </p:nvSpPr>
        <p:spPr>
          <a:xfrm>
            <a:off x="6096000" y="952500"/>
            <a:ext cx="11576685" cy="2078087"/>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2A2D38"/>
              </a:buClr>
              <a:buSzPts val="5100"/>
              <a:buFont typeface="Montserrat"/>
              <a:buNone/>
            </a:pPr>
            <a:r>
              <a:rPr b="1" lang="en-US" sz="5100">
                <a:solidFill>
                  <a:srgbClr val="2A2D38"/>
                </a:solidFill>
                <a:latin typeface="Montserrat"/>
                <a:ea typeface="Montserrat"/>
                <a:cs typeface="Montserrat"/>
                <a:sym typeface="Montserrat"/>
              </a:rPr>
              <a:t>Write the system prompt for an AI helper that drafts sermon-recap emails for your church.</a:t>
            </a:r>
            <a:endParaRPr sz="5100">
              <a:solidFill>
                <a:schemeClr val="dk1"/>
              </a:solidFill>
              <a:latin typeface="Calibri"/>
              <a:ea typeface="Calibri"/>
              <a:cs typeface="Calibri"/>
              <a:sym typeface="Calibri"/>
            </a:endParaRPr>
          </a:p>
        </p:txBody>
      </p:sp>
      <p:sp>
        <p:nvSpPr>
          <p:cNvPr id="660" name="Google Shape;660;p26"/>
          <p:cNvSpPr/>
          <p:nvPr/>
        </p:nvSpPr>
        <p:spPr>
          <a:xfrm>
            <a:off x="6096000" y="3383012"/>
            <a:ext cx="609600" cy="3810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F58220"/>
              </a:buClr>
              <a:buSzPts val="1800"/>
              <a:buFont typeface="JetBrains Mono"/>
              <a:buNone/>
            </a:pPr>
            <a:r>
              <a:rPr b="1" lang="en-US" sz="1800">
                <a:solidFill>
                  <a:srgbClr val="F58220"/>
                </a:solidFill>
                <a:latin typeface="JetBrains Mono"/>
                <a:ea typeface="JetBrains Mono"/>
                <a:cs typeface="JetBrains Mono"/>
                <a:sym typeface="JetBrains Mono"/>
              </a:rPr>
              <a:t>01</a:t>
            </a:r>
            <a:endParaRPr sz="1800">
              <a:solidFill>
                <a:schemeClr val="dk1"/>
              </a:solidFill>
              <a:latin typeface="Calibri"/>
              <a:ea typeface="Calibri"/>
              <a:cs typeface="Calibri"/>
              <a:sym typeface="Calibri"/>
            </a:endParaRPr>
          </a:p>
        </p:txBody>
      </p:sp>
      <p:sp>
        <p:nvSpPr>
          <p:cNvPr id="661" name="Google Shape;661;p26"/>
          <p:cNvSpPr/>
          <p:nvPr/>
        </p:nvSpPr>
        <p:spPr>
          <a:xfrm>
            <a:off x="6819900" y="3335387"/>
            <a:ext cx="10831068" cy="43815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Define the role, audience, and tone in 3 sentences.</a:t>
            </a:r>
            <a:endParaRPr sz="2100">
              <a:solidFill>
                <a:schemeClr val="dk1"/>
              </a:solidFill>
              <a:latin typeface="Calibri"/>
              <a:ea typeface="Calibri"/>
              <a:cs typeface="Calibri"/>
              <a:sym typeface="Calibri"/>
            </a:endParaRPr>
          </a:p>
        </p:txBody>
      </p:sp>
      <p:sp>
        <p:nvSpPr>
          <p:cNvPr id="662" name="Google Shape;662;p26"/>
          <p:cNvSpPr/>
          <p:nvPr/>
        </p:nvSpPr>
        <p:spPr>
          <a:xfrm>
            <a:off x="6096000" y="3973562"/>
            <a:ext cx="609600" cy="3810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F58220"/>
              </a:buClr>
              <a:buSzPts val="1800"/>
              <a:buFont typeface="JetBrains Mono"/>
              <a:buNone/>
            </a:pPr>
            <a:r>
              <a:rPr b="1" lang="en-US" sz="1800">
                <a:solidFill>
                  <a:srgbClr val="F58220"/>
                </a:solidFill>
                <a:latin typeface="JetBrains Mono"/>
                <a:ea typeface="JetBrains Mono"/>
                <a:cs typeface="JetBrains Mono"/>
                <a:sym typeface="JetBrains Mono"/>
              </a:rPr>
              <a:t>02</a:t>
            </a:r>
            <a:endParaRPr sz="1800">
              <a:solidFill>
                <a:schemeClr val="dk1"/>
              </a:solidFill>
              <a:latin typeface="Calibri"/>
              <a:ea typeface="Calibri"/>
              <a:cs typeface="Calibri"/>
              <a:sym typeface="Calibri"/>
            </a:endParaRPr>
          </a:p>
        </p:txBody>
      </p:sp>
      <p:sp>
        <p:nvSpPr>
          <p:cNvPr id="663" name="Google Shape;663;p26"/>
          <p:cNvSpPr/>
          <p:nvPr/>
        </p:nvSpPr>
        <p:spPr>
          <a:xfrm>
            <a:off x="6819900" y="3925937"/>
            <a:ext cx="10831068" cy="43815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List the 3 documents you'd attach. Trim each to its essential parts.</a:t>
            </a:r>
            <a:endParaRPr sz="2100">
              <a:solidFill>
                <a:schemeClr val="dk1"/>
              </a:solidFill>
              <a:latin typeface="Calibri"/>
              <a:ea typeface="Calibri"/>
              <a:cs typeface="Calibri"/>
              <a:sym typeface="Calibri"/>
            </a:endParaRPr>
          </a:p>
        </p:txBody>
      </p:sp>
      <p:sp>
        <p:nvSpPr>
          <p:cNvPr id="664" name="Google Shape;664;p26"/>
          <p:cNvSpPr/>
          <p:nvPr/>
        </p:nvSpPr>
        <p:spPr>
          <a:xfrm>
            <a:off x="6096000" y="4564112"/>
            <a:ext cx="609600" cy="3810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F58220"/>
              </a:buClr>
              <a:buSzPts val="1800"/>
              <a:buFont typeface="JetBrains Mono"/>
              <a:buNone/>
            </a:pPr>
            <a:r>
              <a:rPr b="1" lang="en-US" sz="1800">
                <a:solidFill>
                  <a:srgbClr val="F58220"/>
                </a:solidFill>
                <a:latin typeface="JetBrains Mono"/>
                <a:ea typeface="JetBrains Mono"/>
                <a:cs typeface="JetBrains Mono"/>
                <a:sym typeface="JetBrains Mono"/>
              </a:rPr>
              <a:t>03</a:t>
            </a:r>
            <a:endParaRPr sz="1800">
              <a:solidFill>
                <a:schemeClr val="dk1"/>
              </a:solidFill>
              <a:latin typeface="Calibri"/>
              <a:ea typeface="Calibri"/>
              <a:cs typeface="Calibri"/>
              <a:sym typeface="Calibri"/>
            </a:endParaRPr>
          </a:p>
        </p:txBody>
      </p:sp>
      <p:sp>
        <p:nvSpPr>
          <p:cNvPr id="665" name="Google Shape;665;p26"/>
          <p:cNvSpPr/>
          <p:nvPr/>
        </p:nvSpPr>
        <p:spPr>
          <a:xfrm>
            <a:off x="6819900" y="4516487"/>
            <a:ext cx="10831068" cy="43815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Write 5 hard rules (always / never).</a:t>
            </a:r>
            <a:endParaRPr sz="2100">
              <a:solidFill>
                <a:schemeClr val="dk1"/>
              </a:solidFill>
              <a:latin typeface="Calibri"/>
              <a:ea typeface="Calibri"/>
              <a:cs typeface="Calibri"/>
              <a:sym typeface="Calibri"/>
            </a:endParaRPr>
          </a:p>
        </p:txBody>
      </p:sp>
      <p:sp>
        <p:nvSpPr>
          <p:cNvPr id="666" name="Google Shape;666;p26"/>
          <p:cNvSpPr/>
          <p:nvPr/>
        </p:nvSpPr>
        <p:spPr>
          <a:xfrm>
            <a:off x="6096000" y="5154662"/>
            <a:ext cx="609600" cy="3810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F58220"/>
              </a:buClr>
              <a:buSzPts val="1800"/>
              <a:buFont typeface="JetBrains Mono"/>
              <a:buNone/>
            </a:pPr>
            <a:r>
              <a:rPr b="1" lang="en-US" sz="1800">
                <a:solidFill>
                  <a:srgbClr val="F58220"/>
                </a:solidFill>
                <a:latin typeface="JetBrains Mono"/>
                <a:ea typeface="JetBrains Mono"/>
                <a:cs typeface="JetBrains Mono"/>
                <a:sym typeface="JetBrains Mono"/>
              </a:rPr>
              <a:t>04</a:t>
            </a:r>
            <a:endParaRPr sz="1800">
              <a:solidFill>
                <a:schemeClr val="dk1"/>
              </a:solidFill>
              <a:latin typeface="Calibri"/>
              <a:ea typeface="Calibri"/>
              <a:cs typeface="Calibri"/>
              <a:sym typeface="Calibri"/>
            </a:endParaRPr>
          </a:p>
        </p:txBody>
      </p:sp>
      <p:sp>
        <p:nvSpPr>
          <p:cNvPr id="667" name="Google Shape;667;p26"/>
          <p:cNvSpPr/>
          <p:nvPr/>
        </p:nvSpPr>
        <p:spPr>
          <a:xfrm>
            <a:off x="6819900" y="5107037"/>
            <a:ext cx="10831068" cy="43815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Test it on this Sunday's sermon. Note what's still off.</a:t>
            </a:r>
            <a:endParaRPr sz="2100">
              <a:solidFill>
                <a:schemeClr val="dk1"/>
              </a:solidFill>
              <a:latin typeface="Calibri"/>
              <a:ea typeface="Calibri"/>
              <a:cs typeface="Calibri"/>
              <a:sym typeface="Calibri"/>
            </a:endParaRPr>
          </a:p>
        </p:txBody>
      </p:sp>
      <p:sp>
        <p:nvSpPr>
          <p:cNvPr id="668" name="Google Shape;668;p26"/>
          <p:cNvSpPr/>
          <p:nvPr/>
        </p:nvSpPr>
        <p:spPr>
          <a:xfrm>
            <a:off x="6096000" y="5849987"/>
            <a:ext cx="11239500" cy="1241822"/>
          </a:xfrm>
          <a:prstGeom prst="roundRect">
            <a:avLst>
              <a:gd fmla="val 10738" name="adj"/>
            </a:avLst>
          </a:prstGeom>
          <a:solidFill>
            <a:srgbClr val="1B1D2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9" name="Google Shape;669;p26"/>
          <p:cNvSpPr/>
          <p:nvPr/>
        </p:nvSpPr>
        <p:spPr>
          <a:xfrm>
            <a:off x="6400800" y="6116687"/>
            <a:ext cx="10967085" cy="746522"/>
          </a:xfrm>
          <a:prstGeom prst="rect">
            <a:avLst/>
          </a:prstGeom>
          <a:noFill/>
          <a:ln>
            <a:noFill/>
          </a:ln>
        </p:spPr>
        <p:txBody>
          <a:bodyPr anchorCtr="0" anchor="t" bIns="25400" lIns="25400" spcFirstLastPara="1" rIns="25400" wrap="square" tIns="25400">
            <a:normAutofit/>
          </a:bodyPr>
          <a:lstStyle/>
          <a:p>
            <a:pPr indent="0" lvl="0" marL="0" marR="0" rtl="0" algn="l">
              <a:lnSpc>
                <a:spcPct val="155000"/>
              </a:lnSpc>
              <a:spcBef>
                <a:spcPts val="0"/>
              </a:spcBef>
              <a:spcAft>
                <a:spcPts val="0"/>
              </a:spcAft>
              <a:buClr>
                <a:srgbClr val="FFFFFF"/>
              </a:buClr>
              <a:buSzPts val="1800"/>
              <a:buFont typeface="JetBrains Mono"/>
              <a:buNone/>
            </a:pPr>
            <a:r>
              <a:rPr lang="en-US" sz="1800">
                <a:solidFill>
                  <a:srgbClr val="FFFFFF"/>
                </a:solidFill>
                <a:highlight>
                  <a:srgbClr val="1B1D24"/>
                </a:highlight>
                <a:latin typeface="JetBrains Mono"/>
                <a:ea typeface="JetBrains Mono"/>
                <a:cs typeface="JetBrains Mono"/>
                <a:sym typeface="JetBrains Mono"/>
              </a:rPr>
              <a:t>Hint: copy </a:t>
            </a:r>
            <a:r>
              <a:rPr lang="en-US" sz="1800">
                <a:solidFill>
                  <a:srgbClr val="3FE0D0"/>
                </a:solidFill>
                <a:latin typeface="JetBrains Mono"/>
                <a:ea typeface="JetBrains Mono"/>
                <a:cs typeface="JetBrains Mono"/>
                <a:sym typeface="JetBrains Mono"/>
              </a:rPr>
              <a:t>your </a:t>
            </a:r>
            <a:r>
              <a:rPr lang="en-US" sz="1800">
                <a:solidFill>
                  <a:srgbClr val="FFFFFF"/>
                </a:solidFill>
                <a:highlight>
                  <a:srgbClr val="1B1D24"/>
                </a:highlight>
                <a:latin typeface="JetBrains Mono"/>
                <a:ea typeface="JetBrains Mono"/>
                <a:cs typeface="JetBrains Mono"/>
                <a:sym typeface="JetBrains Mono"/>
              </a:rPr>
              <a:t> last sermon-recap email into the brief and tell the model "match this voice." That single line beats most clever prompting.</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D24"/>
        </a:solidFill>
      </p:bgPr>
    </p:bg>
    <p:spTree>
      <p:nvGrpSpPr>
        <p:cNvPr id="674" name="Shape 674"/>
        <p:cNvGrpSpPr/>
        <p:nvPr/>
      </p:nvGrpSpPr>
      <p:grpSpPr>
        <a:xfrm>
          <a:off x="0" y="0"/>
          <a:ext cx="0" cy="0"/>
          <a:chOff x="0" y="0"/>
          <a:chExt cx="0" cy="0"/>
        </a:xfrm>
      </p:grpSpPr>
      <p:sp>
        <p:nvSpPr>
          <p:cNvPr id="675" name="Google Shape;675;p27"/>
          <p:cNvSpPr/>
          <p:nvPr/>
        </p:nvSpPr>
        <p:spPr>
          <a:xfrm>
            <a:off x="0" y="0"/>
            <a:ext cx="18288000" cy="10287000"/>
          </a:xfrm>
          <a:prstGeom prst="rect">
            <a:avLst/>
          </a:prstGeom>
          <a:solidFill>
            <a:srgbClr val="1B1D2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27"/>
          <p:cNvSpPr/>
          <p:nvPr/>
        </p:nvSpPr>
        <p:spPr>
          <a:xfrm>
            <a:off x="3266480" y="3170932"/>
            <a:ext cx="12107539" cy="3905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2100"/>
              <a:buFont typeface="JetBrains Mono"/>
              <a:buNone/>
            </a:pPr>
            <a:r>
              <a:rPr lang="en-US" sz="2100">
                <a:solidFill>
                  <a:srgbClr val="3FE0D0"/>
                </a:solidFill>
                <a:latin typeface="JetBrains Mono"/>
                <a:ea typeface="JetBrains Mono"/>
                <a:cs typeface="JetBrains Mono"/>
                <a:sym typeface="JetBrains Mono"/>
              </a:rPr>
              <a:t>PART 05 / 06</a:t>
            </a:r>
            <a:endParaRPr sz="2100">
              <a:solidFill>
                <a:schemeClr val="dk1"/>
              </a:solidFill>
              <a:latin typeface="Calibri"/>
              <a:ea typeface="Calibri"/>
              <a:cs typeface="Calibri"/>
              <a:sym typeface="Calibri"/>
            </a:endParaRPr>
          </a:p>
        </p:txBody>
      </p:sp>
      <p:sp>
        <p:nvSpPr>
          <p:cNvPr id="677" name="Google Shape;677;p27"/>
          <p:cNvSpPr/>
          <p:nvPr/>
        </p:nvSpPr>
        <p:spPr>
          <a:xfrm>
            <a:off x="3266480" y="3904357"/>
            <a:ext cx="12107539" cy="2426791"/>
          </a:xfrm>
          <a:prstGeom prst="rect">
            <a:avLst/>
          </a:prstGeom>
          <a:noFill/>
          <a:ln>
            <a:noFill/>
          </a:ln>
        </p:spPr>
        <p:txBody>
          <a:bodyPr anchorCtr="0" anchor="t" bIns="25400" lIns="25400" spcFirstLastPara="1" rIns="25400" wrap="square" tIns="25400">
            <a:normAutofit/>
          </a:bodyPr>
          <a:lstStyle/>
          <a:p>
            <a:pPr indent="0" lvl="0" marL="0" marR="0" rtl="0" algn="l">
              <a:lnSpc>
                <a:spcPct val="95000"/>
              </a:lnSpc>
              <a:spcBef>
                <a:spcPts val="0"/>
              </a:spcBef>
              <a:spcAft>
                <a:spcPts val="0"/>
              </a:spcAft>
              <a:buClr>
                <a:srgbClr val="FFFFFF"/>
              </a:buClr>
              <a:buSzPts val="9900"/>
              <a:buFont typeface="Montserrat"/>
              <a:buNone/>
            </a:pPr>
            <a:r>
              <a:rPr b="1" lang="en-US" sz="9900">
                <a:solidFill>
                  <a:srgbClr val="FFFFFF"/>
                </a:solidFill>
                <a:latin typeface="Montserrat"/>
                <a:ea typeface="Montserrat"/>
                <a:cs typeface="Montserrat"/>
                <a:sym typeface="Montserrat"/>
              </a:rPr>
              <a:t>Common pitfalls.</a:t>
            </a:r>
            <a:endParaRPr sz="9900">
              <a:solidFill>
                <a:schemeClr val="dk1"/>
              </a:solidFill>
              <a:latin typeface="Calibri"/>
              <a:ea typeface="Calibri"/>
              <a:cs typeface="Calibri"/>
              <a:sym typeface="Calibri"/>
            </a:endParaRPr>
          </a:p>
        </p:txBody>
      </p:sp>
      <p:sp>
        <p:nvSpPr>
          <p:cNvPr id="678" name="Google Shape;678;p27"/>
          <p:cNvSpPr/>
          <p:nvPr/>
        </p:nvSpPr>
        <p:spPr>
          <a:xfrm>
            <a:off x="3266480" y="6674048"/>
            <a:ext cx="12107539" cy="479971"/>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C9CBD1"/>
              </a:buClr>
              <a:buSzPts val="2400"/>
              <a:buFont typeface="Inter"/>
              <a:buNone/>
            </a:pPr>
            <a:r>
              <a:rPr lang="en-US" sz="2400">
                <a:solidFill>
                  <a:srgbClr val="C9CBD1"/>
                </a:solidFill>
                <a:latin typeface="Inter"/>
                <a:ea typeface="Inter"/>
                <a:cs typeface="Inter"/>
                <a:sym typeface="Inter"/>
              </a:rPr>
              <a:t>The failure modes nobody warned you about. Spot them early; they all have fixes.</a:t>
            </a:r>
            <a:endParaRPr sz="2400">
              <a:solidFill>
                <a:schemeClr val="dk1"/>
              </a:solidFill>
              <a:latin typeface="Calibri"/>
              <a:ea typeface="Calibri"/>
              <a:cs typeface="Calibri"/>
              <a:sym typeface="Calibri"/>
            </a:endParaRPr>
          </a:p>
        </p:txBody>
      </p:sp>
      <p:sp>
        <p:nvSpPr>
          <p:cNvPr id="679" name="Google Shape;679;p27"/>
          <p:cNvSpPr/>
          <p:nvPr/>
        </p:nvSpPr>
        <p:spPr>
          <a:xfrm>
            <a:off x="15031492" y="3643313"/>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0" name="Google Shape;680;p27"/>
          <p:cNvSpPr/>
          <p:nvPr/>
        </p:nvSpPr>
        <p:spPr>
          <a:xfrm>
            <a:off x="15279142" y="3552825"/>
            <a:ext cx="2222153"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01 · Why Context</a:t>
            </a:r>
            <a:endParaRPr sz="1800">
              <a:solidFill>
                <a:schemeClr val="dk1"/>
              </a:solidFill>
              <a:latin typeface="Calibri"/>
              <a:ea typeface="Calibri"/>
              <a:cs typeface="Calibri"/>
              <a:sym typeface="Calibri"/>
            </a:endParaRPr>
          </a:p>
        </p:txBody>
      </p:sp>
      <p:sp>
        <p:nvSpPr>
          <p:cNvPr id="681" name="Google Shape;681;p27"/>
          <p:cNvSpPr/>
          <p:nvPr/>
        </p:nvSpPr>
        <p:spPr>
          <a:xfrm>
            <a:off x="15031492" y="4224338"/>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2" name="Google Shape;682;p27"/>
          <p:cNvSpPr/>
          <p:nvPr/>
        </p:nvSpPr>
        <p:spPr>
          <a:xfrm>
            <a:off x="15279142" y="4133850"/>
            <a:ext cx="2069306"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02 · Four Pillars</a:t>
            </a:r>
            <a:endParaRPr sz="1800">
              <a:solidFill>
                <a:schemeClr val="dk1"/>
              </a:solidFill>
              <a:latin typeface="Calibri"/>
              <a:ea typeface="Calibri"/>
              <a:cs typeface="Calibri"/>
              <a:sym typeface="Calibri"/>
            </a:endParaRPr>
          </a:p>
        </p:txBody>
      </p:sp>
      <p:sp>
        <p:nvSpPr>
          <p:cNvPr id="683" name="Google Shape;683;p27"/>
          <p:cNvSpPr/>
          <p:nvPr/>
        </p:nvSpPr>
        <p:spPr>
          <a:xfrm>
            <a:off x="15031492" y="4805363"/>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4" name="Google Shape;684;p27"/>
          <p:cNvSpPr/>
          <p:nvPr/>
        </p:nvSpPr>
        <p:spPr>
          <a:xfrm>
            <a:off x="15279142" y="4714875"/>
            <a:ext cx="1765995"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03 · Anatomy</a:t>
            </a:r>
            <a:endParaRPr sz="1800">
              <a:solidFill>
                <a:schemeClr val="dk1"/>
              </a:solidFill>
              <a:latin typeface="Calibri"/>
              <a:ea typeface="Calibri"/>
              <a:cs typeface="Calibri"/>
              <a:sym typeface="Calibri"/>
            </a:endParaRPr>
          </a:p>
        </p:txBody>
      </p:sp>
      <p:sp>
        <p:nvSpPr>
          <p:cNvPr id="685" name="Google Shape;685;p27"/>
          <p:cNvSpPr/>
          <p:nvPr/>
        </p:nvSpPr>
        <p:spPr>
          <a:xfrm>
            <a:off x="15031492" y="5386388"/>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6" name="Google Shape;686;p27"/>
          <p:cNvSpPr/>
          <p:nvPr/>
        </p:nvSpPr>
        <p:spPr>
          <a:xfrm>
            <a:off x="15279142" y="5295900"/>
            <a:ext cx="2005310"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04 · Grounding</a:t>
            </a:r>
            <a:endParaRPr sz="1800">
              <a:solidFill>
                <a:schemeClr val="dk1"/>
              </a:solidFill>
              <a:latin typeface="Calibri"/>
              <a:ea typeface="Calibri"/>
              <a:cs typeface="Calibri"/>
              <a:sym typeface="Calibri"/>
            </a:endParaRPr>
          </a:p>
        </p:txBody>
      </p:sp>
      <p:sp>
        <p:nvSpPr>
          <p:cNvPr id="687" name="Google Shape;687;p27"/>
          <p:cNvSpPr/>
          <p:nvPr/>
        </p:nvSpPr>
        <p:spPr>
          <a:xfrm>
            <a:off x="15031492" y="5967413"/>
            <a:ext cx="95250" cy="95250"/>
          </a:xfrm>
          <a:prstGeom prst="ellipse">
            <a:avLst/>
          </a:prstGeom>
          <a:solidFill>
            <a:srgbClr val="3FE0D0"/>
          </a:solidFill>
          <a:ln>
            <a:noFill/>
          </a:ln>
          <a:effectLst>
            <a:outerShdw blurRad="190500" rotWithShape="0" algn="bl" dir="16200000" dist="50800">
              <a:srgbClr val="3FE0D0"/>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8" name="Google Shape;688;p27"/>
          <p:cNvSpPr/>
          <p:nvPr/>
        </p:nvSpPr>
        <p:spPr>
          <a:xfrm>
            <a:off x="15279142" y="5876925"/>
            <a:ext cx="1503015"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3FE0D0"/>
              </a:buClr>
              <a:buSzPts val="1800"/>
              <a:buFont typeface="Montserrat"/>
              <a:buNone/>
            </a:pPr>
            <a:r>
              <a:rPr b="1" lang="en-US" sz="1800">
                <a:solidFill>
                  <a:srgbClr val="3FE0D0"/>
                </a:solidFill>
                <a:latin typeface="Montserrat"/>
                <a:ea typeface="Montserrat"/>
                <a:cs typeface="Montserrat"/>
                <a:sym typeface="Montserrat"/>
              </a:rPr>
              <a:t>05 · Pitfalls</a:t>
            </a:r>
            <a:endParaRPr sz="1800">
              <a:solidFill>
                <a:schemeClr val="dk1"/>
              </a:solidFill>
              <a:latin typeface="Calibri"/>
              <a:ea typeface="Calibri"/>
              <a:cs typeface="Calibri"/>
              <a:sym typeface="Calibri"/>
            </a:endParaRPr>
          </a:p>
        </p:txBody>
      </p:sp>
      <p:sp>
        <p:nvSpPr>
          <p:cNvPr id="689" name="Google Shape;689;p27"/>
          <p:cNvSpPr/>
          <p:nvPr/>
        </p:nvSpPr>
        <p:spPr>
          <a:xfrm>
            <a:off x="15031492" y="6548438"/>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90" name="Google Shape;690;p27"/>
          <p:cNvSpPr/>
          <p:nvPr/>
        </p:nvSpPr>
        <p:spPr>
          <a:xfrm>
            <a:off x="15279142" y="6457950"/>
            <a:ext cx="2323058"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06 · Take It Home</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5F1"/>
        </a:solidFill>
      </p:bgPr>
    </p:bg>
    <p:spTree>
      <p:nvGrpSpPr>
        <p:cNvPr id="695" name="Shape 695"/>
        <p:cNvGrpSpPr/>
        <p:nvPr/>
      </p:nvGrpSpPr>
      <p:grpSpPr>
        <a:xfrm>
          <a:off x="0" y="0"/>
          <a:ext cx="0" cy="0"/>
          <a:chOff x="0" y="0"/>
          <a:chExt cx="0" cy="0"/>
        </a:xfrm>
      </p:grpSpPr>
      <p:sp>
        <p:nvSpPr>
          <p:cNvPr id="696" name="Google Shape;696;p28"/>
          <p:cNvSpPr/>
          <p:nvPr/>
        </p:nvSpPr>
        <p:spPr>
          <a:xfrm>
            <a:off x="952500" y="952500"/>
            <a:ext cx="16874490"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950"/>
              <a:buFont typeface="Montserrat"/>
              <a:buNone/>
            </a:pPr>
            <a:r>
              <a:rPr b="1" lang="en-US" sz="1950">
                <a:solidFill>
                  <a:srgbClr val="F58220"/>
                </a:solidFill>
                <a:latin typeface="Montserrat"/>
                <a:ea typeface="Montserrat"/>
                <a:cs typeface="Montserrat"/>
                <a:sym typeface="Montserrat"/>
              </a:rPr>
              <a:t>THREE FAILURE MODES</a:t>
            </a:r>
            <a:endParaRPr sz="1950">
              <a:solidFill>
                <a:schemeClr val="dk1"/>
              </a:solidFill>
              <a:latin typeface="Calibri"/>
              <a:ea typeface="Calibri"/>
              <a:cs typeface="Calibri"/>
              <a:sym typeface="Calibri"/>
            </a:endParaRPr>
          </a:p>
        </p:txBody>
      </p:sp>
      <p:sp>
        <p:nvSpPr>
          <p:cNvPr id="697" name="Google Shape;697;p28"/>
          <p:cNvSpPr/>
          <p:nvPr/>
        </p:nvSpPr>
        <p:spPr>
          <a:xfrm>
            <a:off x="952500" y="1447800"/>
            <a:ext cx="16874490" cy="798165"/>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2A2D38"/>
              </a:buClr>
              <a:buSzPts val="5700"/>
              <a:buFont typeface="Montserrat"/>
              <a:buNone/>
            </a:pPr>
            <a:r>
              <a:rPr b="1" lang="en-US" sz="5700">
                <a:solidFill>
                  <a:srgbClr val="2A2D38"/>
                </a:solidFill>
                <a:latin typeface="Montserrat"/>
                <a:ea typeface="Montserrat"/>
                <a:cs typeface="Montserrat"/>
                <a:sym typeface="Montserrat"/>
              </a:rPr>
              <a:t>Hallucinations, drift, and overconfidence.</a:t>
            </a:r>
            <a:endParaRPr sz="5700">
              <a:solidFill>
                <a:schemeClr val="dk1"/>
              </a:solidFill>
              <a:latin typeface="Calibri"/>
              <a:ea typeface="Calibri"/>
              <a:cs typeface="Calibri"/>
              <a:sym typeface="Calibri"/>
            </a:endParaRPr>
          </a:p>
        </p:txBody>
      </p:sp>
      <p:sp>
        <p:nvSpPr>
          <p:cNvPr id="698" name="Google Shape;698;p28"/>
          <p:cNvSpPr/>
          <p:nvPr/>
        </p:nvSpPr>
        <p:spPr>
          <a:xfrm>
            <a:off x="952500" y="2855565"/>
            <a:ext cx="5257800" cy="5276850"/>
          </a:xfrm>
          <a:prstGeom prst="roundRect">
            <a:avLst>
              <a:gd fmla="val 2899" name="adj"/>
            </a:avLst>
          </a:prstGeom>
          <a:solidFill>
            <a:srgbClr val="FFFFFF"/>
          </a:solidFill>
          <a:ln cap="flat" cmpd="sng" w="9525">
            <a:solidFill>
              <a:srgbClr val="E5E5E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99" name="Google Shape;699;p28"/>
          <p:cNvSpPr/>
          <p:nvPr/>
        </p:nvSpPr>
        <p:spPr>
          <a:xfrm>
            <a:off x="1304925" y="3207990"/>
            <a:ext cx="4689539" cy="4572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700"/>
              <a:buFont typeface="Montserrat"/>
              <a:buNone/>
            </a:pPr>
            <a:r>
              <a:rPr b="1" lang="en-US" sz="2700">
                <a:solidFill>
                  <a:srgbClr val="2A2D38"/>
                </a:solidFill>
                <a:latin typeface="Montserrat"/>
                <a:ea typeface="Montserrat"/>
                <a:cs typeface="Montserrat"/>
                <a:sym typeface="Montserrat"/>
              </a:rPr>
              <a:t>Hallucinations</a:t>
            </a:r>
            <a:endParaRPr sz="2700">
              <a:solidFill>
                <a:schemeClr val="dk1"/>
              </a:solidFill>
              <a:latin typeface="Calibri"/>
              <a:ea typeface="Calibri"/>
              <a:cs typeface="Calibri"/>
              <a:sym typeface="Calibri"/>
            </a:endParaRPr>
          </a:p>
        </p:txBody>
      </p:sp>
      <p:sp>
        <p:nvSpPr>
          <p:cNvPr id="700" name="Google Shape;700;p28"/>
          <p:cNvSpPr/>
          <p:nvPr/>
        </p:nvSpPr>
        <p:spPr>
          <a:xfrm>
            <a:off x="1304925" y="3798540"/>
            <a:ext cx="4689539" cy="10668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The model invents a verse, a name, a date, or a quote — and writes it with full confidence.</a:t>
            </a:r>
            <a:endParaRPr sz="1800">
              <a:solidFill>
                <a:schemeClr val="dk1"/>
              </a:solidFill>
              <a:latin typeface="Calibri"/>
              <a:ea typeface="Calibri"/>
              <a:cs typeface="Calibri"/>
              <a:sym typeface="Calibri"/>
            </a:endParaRPr>
          </a:p>
        </p:txBody>
      </p:sp>
      <p:sp>
        <p:nvSpPr>
          <p:cNvPr id="701" name="Google Shape;701;p28"/>
          <p:cNvSpPr/>
          <p:nvPr/>
        </p:nvSpPr>
        <p:spPr>
          <a:xfrm>
            <a:off x="1304925" y="5036790"/>
            <a:ext cx="455295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02" name="Google Shape;702;p28"/>
          <p:cNvSpPr/>
          <p:nvPr/>
        </p:nvSpPr>
        <p:spPr>
          <a:xfrm>
            <a:off x="1304925" y="5255865"/>
            <a:ext cx="4689539" cy="3143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1800"/>
              <a:buFont typeface="Montserrat"/>
              <a:buNone/>
            </a:pPr>
            <a:r>
              <a:rPr b="1" lang="en-US" sz="1800">
                <a:solidFill>
                  <a:srgbClr val="3FE0D0"/>
                </a:solidFill>
                <a:latin typeface="Montserrat"/>
                <a:ea typeface="Montserrat"/>
                <a:cs typeface="Montserrat"/>
                <a:sym typeface="Montserrat"/>
              </a:rPr>
              <a:t>FIX</a:t>
            </a:r>
            <a:endParaRPr sz="1800">
              <a:solidFill>
                <a:schemeClr val="dk1"/>
              </a:solidFill>
              <a:latin typeface="Calibri"/>
              <a:ea typeface="Calibri"/>
              <a:cs typeface="Calibri"/>
              <a:sym typeface="Calibri"/>
            </a:endParaRPr>
          </a:p>
        </p:txBody>
      </p:sp>
      <p:sp>
        <p:nvSpPr>
          <p:cNvPr id="703" name="Google Shape;703;p28"/>
          <p:cNvSpPr/>
          <p:nvPr/>
        </p:nvSpPr>
        <p:spPr>
          <a:xfrm>
            <a:off x="1304925" y="5703540"/>
            <a:ext cx="4689539" cy="1032421"/>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2A2D38"/>
              </a:buClr>
              <a:buSzPts val="1800"/>
              <a:buFont typeface="Inter"/>
              <a:buNone/>
            </a:pPr>
            <a:r>
              <a:rPr lang="en-US" sz="1800">
                <a:solidFill>
                  <a:srgbClr val="2A2D38"/>
                </a:solidFill>
                <a:latin typeface="Inter"/>
                <a:ea typeface="Inter"/>
                <a:cs typeface="Inter"/>
                <a:sym typeface="Inter"/>
              </a:rPr>
              <a:t>Ground every factual claim in attached source. Tell the model: "if it isn't in the docs, say </a:t>
            </a:r>
            <a:r>
              <a:rPr i="1" lang="en-US" sz="1800">
                <a:solidFill>
                  <a:srgbClr val="2A2D38"/>
                </a:solidFill>
                <a:latin typeface="Inter"/>
                <a:ea typeface="Inter"/>
                <a:cs typeface="Inter"/>
                <a:sym typeface="Inter"/>
              </a:rPr>
              <a:t>'I don't have that.'</a:t>
            </a:r>
            <a:r>
              <a:rPr lang="en-US" sz="1800">
                <a:solidFill>
                  <a:srgbClr val="2A2D38"/>
                </a:solidFill>
                <a:latin typeface="Inter"/>
                <a:ea typeface="Inter"/>
                <a:cs typeface="Inter"/>
                <a:sym typeface="Inter"/>
              </a:rPr>
              <a:t>"</a:t>
            </a:r>
            <a:endParaRPr sz="1800">
              <a:solidFill>
                <a:schemeClr val="dk1"/>
              </a:solidFill>
              <a:latin typeface="Calibri"/>
              <a:ea typeface="Calibri"/>
              <a:cs typeface="Calibri"/>
              <a:sym typeface="Calibri"/>
            </a:endParaRPr>
          </a:p>
        </p:txBody>
      </p:sp>
      <p:sp>
        <p:nvSpPr>
          <p:cNvPr id="704" name="Google Shape;704;p28"/>
          <p:cNvSpPr/>
          <p:nvPr/>
        </p:nvSpPr>
        <p:spPr>
          <a:xfrm>
            <a:off x="6515100" y="2855565"/>
            <a:ext cx="5257800" cy="5276850"/>
          </a:xfrm>
          <a:prstGeom prst="roundRect">
            <a:avLst>
              <a:gd fmla="val 2899" name="adj"/>
            </a:avLst>
          </a:prstGeom>
          <a:solidFill>
            <a:srgbClr val="FFFFFF"/>
          </a:solidFill>
          <a:ln cap="flat" cmpd="sng" w="9525">
            <a:solidFill>
              <a:srgbClr val="E5E5E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05" name="Google Shape;705;p28"/>
          <p:cNvSpPr/>
          <p:nvPr/>
        </p:nvSpPr>
        <p:spPr>
          <a:xfrm>
            <a:off x="6867525" y="3207990"/>
            <a:ext cx="4689539" cy="4572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700"/>
              <a:buFont typeface="Montserrat"/>
              <a:buNone/>
            </a:pPr>
            <a:r>
              <a:rPr b="1" lang="en-US" sz="2700">
                <a:solidFill>
                  <a:srgbClr val="2A2D38"/>
                </a:solidFill>
                <a:latin typeface="Montserrat"/>
                <a:ea typeface="Montserrat"/>
                <a:cs typeface="Montserrat"/>
                <a:sym typeface="Montserrat"/>
              </a:rPr>
              <a:t>Drift</a:t>
            </a:r>
            <a:endParaRPr sz="2700">
              <a:solidFill>
                <a:schemeClr val="dk1"/>
              </a:solidFill>
              <a:latin typeface="Calibri"/>
              <a:ea typeface="Calibri"/>
              <a:cs typeface="Calibri"/>
              <a:sym typeface="Calibri"/>
            </a:endParaRPr>
          </a:p>
        </p:txBody>
      </p:sp>
      <p:sp>
        <p:nvSpPr>
          <p:cNvPr id="706" name="Google Shape;706;p28"/>
          <p:cNvSpPr/>
          <p:nvPr/>
        </p:nvSpPr>
        <p:spPr>
          <a:xfrm>
            <a:off x="6867525" y="3798540"/>
            <a:ext cx="4689539" cy="10668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Conversation goes 12 turns deep. Model slowly forgets your tone rules. Ends up sounding like a marketing brochure.</a:t>
            </a:r>
            <a:endParaRPr sz="1800">
              <a:solidFill>
                <a:schemeClr val="dk1"/>
              </a:solidFill>
              <a:latin typeface="Calibri"/>
              <a:ea typeface="Calibri"/>
              <a:cs typeface="Calibri"/>
              <a:sym typeface="Calibri"/>
            </a:endParaRPr>
          </a:p>
        </p:txBody>
      </p:sp>
      <p:sp>
        <p:nvSpPr>
          <p:cNvPr id="707" name="Google Shape;707;p28"/>
          <p:cNvSpPr/>
          <p:nvPr/>
        </p:nvSpPr>
        <p:spPr>
          <a:xfrm>
            <a:off x="6867525" y="5036790"/>
            <a:ext cx="455295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08" name="Google Shape;708;p28"/>
          <p:cNvSpPr/>
          <p:nvPr/>
        </p:nvSpPr>
        <p:spPr>
          <a:xfrm>
            <a:off x="6867525" y="5255865"/>
            <a:ext cx="4689539" cy="3143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1800"/>
              <a:buFont typeface="Montserrat"/>
              <a:buNone/>
            </a:pPr>
            <a:r>
              <a:rPr b="1" lang="en-US" sz="1800">
                <a:solidFill>
                  <a:srgbClr val="3FE0D0"/>
                </a:solidFill>
                <a:latin typeface="Montserrat"/>
                <a:ea typeface="Montserrat"/>
                <a:cs typeface="Montserrat"/>
                <a:sym typeface="Montserrat"/>
              </a:rPr>
              <a:t>FIX</a:t>
            </a:r>
            <a:endParaRPr sz="1800">
              <a:solidFill>
                <a:schemeClr val="dk1"/>
              </a:solidFill>
              <a:latin typeface="Calibri"/>
              <a:ea typeface="Calibri"/>
              <a:cs typeface="Calibri"/>
              <a:sym typeface="Calibri"/>
            </a:endParaRPr>
          </a:p>
        </p:txBody>
      </p:sp>
      <p:sp>
        <p:nvSpPr>
          <p:cNvPr id="709" name="Google Shape;709;p28"/>
          <p:cNvSpPr/>
          <p:nvPr/>
        </p:nvSpPr>
        <p:spPr>
          <a:xfrm>
            <a:off x="6867525" y="5703540"/>
            <a:ext cx="4689539" cy="1032421"/>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2A2D38"/>
              </a:buClr>
              <a:buSzPts val="1800"/>
              <a:buFont typeface="Inter"/>
              <a:buNone/>
            </a:pPr>
            <a:r>
              <a:rPr lang="en-US" sz="1800">
                <a:solidFill>
                  <a:srgbClr val="2A2D38"/>
                </a:solidFill>
                <a:latin typeface="Inter"/>
                <a:ea typeface="Inter"/>
                <a:cs typeface="Inter"/>
                <a:sym typeface="Inter"/>
              </a:rPr>
              <a:t>Restate the system prompt every 6–8 turns, or start a fresh thread for each new task.</a:t>
            </a:r>
            <a:endParaRPr sz="1800">
              <a:solidFill>
                <a:schemeClr val="dk1"/>
              </a:solidFill>
              <a:latin typeface="Calibri"/>
              <a:ea typeface="Calibri"/>
              <a:cs typeface="Calibri"/>
              <a:sym typeface="Calibri"/>
            </a:endParaRPr>
          </a:p>
        </p:txBody>
      </p:sp>
      <p:sp>
        <p:nvSpPr>
          <p:cNvPr id="710" name="Google Shape;710;p28"/>
          <p:cNvSpPr/>
          <p:nvPr/>
        </p:nvSpPr>
        <p:spPr>
          <a:xfrm>
            <a:off x="12077700" y="2855565"/>
            <a:ext cx="5257800" cy="5276850"/>
          </a:xfrm>
          <a:prstGeom prst="roundRect">
            <a:avLst>
              <a:gd fmla="val 2899" name="adj"/>
            </a:avLst>
          </a:prstGeom>
          <a:solidFill>
            <a:srgbClr val="FFFFFF"/>
          </a:solidFill>
          <a:ln cap="flat" cmpd="sng" w="9525">
            <a:solidFill>
              <a:srgbClr val="E5E5E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11" name="Google Shape;711;p28"/>
          <p:cNvSpPr/>
          <p:nvPr/>
        </p:nvSpPr>
        <p:spPr>
          <a:xfrm>
            <a:off x="12430125" y="3207990"/>
            <a:ext cx="4689539" cy="4572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700"/>
              <a:buFont typeface="Montserrat"/>
              <a:buNone/>
            </a:pPr>
            <a:r>
              <a:rPr b="1" lang="en-US" sz="2700">
                <a:solidFill>
                  <a:srgbClr val="2A2D38"/>
                </a:solidFill>
                <a:latin typeface="Montserrat"/>
                <a:ea typeface="Montserrat"/>
                <a:cs typeface="Montserrat"/>
                <a:sym typeface="Montserrat"/>
              </a:rPr>
              <a:t>Overconfidence</a:t>
            </a:r>
            <a:endParaRPr sz="2700">
              <a:solidFill>
                <a:schemeClr val="dk1"/>
              </a:solidFill>
              <a:latin typeface="Calibri"/>
              <a:ea typeface="Calibri"/>
              <a:cs typeface="Calibri"/>
              <a:sym typeface="Calibri"/>
            </a:endParaRPr>
          </a:p>
        </p:txBody>
      </p:sp>
      <p:sp>
        <p:nvSpPr>
          <p:cNvPr id="712" name="Google Shape;712;p28"/>
          <p:cNvSpPr/>
          <p:nvPr/>
        </p:nvSpPr>
        <p:spPr>
          <a:xfrm>
            <a:off x="12430125" y="3798540"/>
            <a:ext cx="4689539" cy="10668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Model takes a guess at a giving total or a member name and never flags the uncertainty.</a:t>
            </a:r>
            <a:endParaRPr sz="1800">
              <a:solidFill>
                <a:schemeClr val="dk1"/>
              </a:solidFill>
              <a:latin typeface="Calibri"/>
              <a:ea typeface="Calibri"/>
              <a:cs typeface="Calibri"/>
              <a:sym typeface="Calibri"/>
            </a:endParaRPr>
          </a:p>
        </p:txBody>
      </p:sp>
      <p:sp>
        <p:nvSpPr>
          <p:cNvPr id="713" name="Google Shape;713;p28"/>
          <p:cNvSpPr/>
          <p:nvPr/>
        </p:nvSpPr>
        <p:spPr>
          <a:xfrm>
            <a:off x="12430125" y="5036790"/>
            <a:ext cx="455295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14" name="Google Shape;714;p28"/>
          <p:cNvSpPr/>
          <p:nvPr/>
        </p:nvSpPr>
        <p:spPr>
          <a:xfrm>
            <a:off x="12430125" y="5255865"/>
            <a:ext cx="4689539" cy="3143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1800"/>
              <a:buFont typeface="Montserrat"/>
              <a:buNone/>
            </a:pPr>
            <a:r>
              <a:rPr b="1" lang="en-US" sz="1800">
                <a:solidFill>
                  <a:srgbClr val="3FE0D0"/>
                </a:solidFill>
                <a:latin typeface="Montserrat"/>
                <a:ea typeface="Montserrat"/>
                <a:cs typeface="Montserrat"/>
                <a:sym typeface="Montserrat"/>
              </a:rPr>
              <a:t>FIX</a:t>
            </a:r>
            <a:endParaRPr sz="1800">
              <a:solidFill>
                <a:schemeClr val="dk1"/>
              </a:solidFill>
              <a:latin typeface="Calibri"/>
              <a:ea typeface="Calibri"/>
              <a:cs typeface="Calibri"/>
              <a:sym typeface="Calibri"/>
            </a:endParaRPr>
          </a:p>
        </p:txBody>
      </p:sp>
      <p:sp>
        <p:nvSpPr>
          <p:cNvPr id="715" name="Google Shape;715;p28"/>
          <p:cNvSpPr/>
          <p:nvPr/>
        </p:nvSpPr>
        <p:spPr>
          <a:xfrm>
            <a:off x="12430125" y="5703540"/>
            <a:ext cx="4689539" cy="1032421"/>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2A2D38"/>
              </a:buClr>
              <a:buSzPts val="1800"/>
              <a:buFont typeface="Inter"/>
              <a:buNone/>
            </a:pPr>
            <a:r>
              <a:rPr lang="en-US" sz="1800">
                <a:solidFill>
                  <a:srgbClr val="2A2D38"/>
                </a:solidFill>
                <a:latin typeface="Inter"/>
                <a:ea typeface="Inter"/>
                <a:cs typeface="Inter"/>
                <a:sym typeface="Inter"/>
              </a:rPr>
              <a:t>Add: "When uncertain, say so explicitly. Never paraphrase a number unless you have the source."</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0" name="Shape 720"/>
        <p:cNvGrpSpPr/>
        <p:nvPr/>
      </p:nvGrpSpPr>
      <p:grpSpPr>
        <a:xfrm>
          <a:off x="0" y="0"/>
          <a:ext cx="0" cy="0"/>
          <a:chOff x="0" y="0"/>
          <a:chExt cx="0" cy="0"/>
        </a:xfrm>
      </p:grpSpPr>
      <p:sp>
        <p:nvSpPr>
          <p:cNvPr id="721" name="Google Shape;721;p29"/>
          <p:cNvSpPr/>
          <p:nvPr/>
        </p:nvSpPr>
        <p:spPr>
          <a:xfrm>
            <a:off x="952500" y="952500"/>
            <a:ext cx="16874490"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950"/>
              <a:buFont typeface="Montserrat"/>
              <a:buNone/>
            </a:pPr>
            <a:r>
              <a:rPr b="1" lang="en-US" sz="1950">
                <a:solidFill>
                  <a:srgbClr val="F58220"/>
                </a:solidFill>
                <a:latin typeface="Montserrat"/>
                <a:ea typeface="Montserrat"/>
                <a:cs typeface="Montserrat"/>
                <a:sym typeface="Montserrat"/>
              </a:rPr>
              <a:t>A SHORT LIST</a:t>
            </a:r>
            <a:endParaRPr sz="1950">
              <a:solidFill>
                <a:schemeClr val="dk1"/>
              </a:solidFill>
              <a:latin typeface="Calibri"/>
              <a:ea typeface="Calibri"/>
              <a:cs typeface="Calibri"/>
              <a:sym typeface="Calibri"/>
            </a:endParaRPr>
          </a:p>
        </p:txBody>
      </p:sp>
      <p:sp>
        <p:nvSpPr>
          <p:cNvPr id="722" name="Google Shape;722;p29"/>
          <p:cNvSpPr/>
          <p:nvPr/>
        </p:nvSpPr>
        <p:spPr>
          <a:xfrm>
            <a:off x="952500" y="1447800"/>
            <a:ext cx="16874490" cy="798165"/>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2A2D38"/>
              </a:buClr>
              <a:buSzPts val="5700"/>
              <a:buFont typeface="Montserrat"/>
              <a:buNone/>
            </a:pPr>
            <a:r>
              <a:rPr b="1" lang="en-US" sz="5700">
                <a:solidFill>
                  <a:srgbClr val="2A2D38"/>
                </a:solidFill>
                <a:latin typeface="Montserrat"/>
                <a:ea typeface="Montserrat"/>
                <a:cs typeface="Montserrat"/>
                <a:sym typeface="Montserrat"/>
              </a:rPr>
              <a:t>When not to use AI.</a:t>
            </a:r>
            <a:endParaRPr sz="5700">
              <a:solidFill>
                <a:schemeClr val="dk1"/>
              </a:solidFill>
              <a:latin typeface="Calibri"/>
              <a:ea typeface="Calibri"/>
              <a:cs typeface="Calibri"/>
              <a:sym typeface="Calibri"/>
            </a:endParaRPr>
          </a:p>
        </p:txBody>
      </p:sp>
      <p:sp>
        <p:nvSpPr>
          <p:cNvPr id="723" name="Google Shape;723;p29"/>
          <p:cNvSpPr/>
          <p:nvPr/>
        </p:nvSpPr>
        <p:spPr>
          <a:xfrm>
            <a:off x="952500" y="2398365"/>
            <a:ext cx="13735050" cy="491430"/>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6B6E78"/>
              </a:buClr>
              <a:buSzPts val="2550"/>
              <a:buFont typeface="Inter"/>
              <a:buNone/>
            </a:pPr>
            <a:r>
              <a:rPr lang="en-US" sz="2550">
                <a:solidFill>
                  <a:srgbClr val="6B6E78"/>
                </a:solidFill>
                <a:latin typeface="Inter"/>
                <a:ea typeface="Inter"/>
                <a:cs typeface="Inter"/>
                <a:sym typeface="Inter"/>
              </a:rPr>
              <a:t>Discernment is part of the craft. These belong to a person.</a:t>
            </a:r>
            <a:endParaRPr sz="2550">
              <a:solidFill>
                <a:schemeClr val="dk1"/>
              </a:solidFill>
              <a:latin typeface="Calibri"/>
              <a:ea typeface="Calibri"/>
              <a:cs typeface="Calibri"/>
              <a:sym typeface="Calibri"/>
            </a:endParaRPr>
          </a:p>
        </p:txBody>
      </p:sp>
      <p:sp>
        <p:nvSpPr>
          <p:cNvPr id="724" name="Google Shape;724;p29"/>
          <p:cNvSpPr/>
          <p:nvPr/>
        </p:nvSpPr>
        <p:spPr>
          <a:xfrm>
            <a:off x="952500" y="4678561"/>
            <a:ext cx="163830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25" name="Google Shape;725;p29"/>
          <p:cNvSpPr/>
          <p:nvPr/>
        </p:nvSpPr>
        <p:spPr>
          <a:xfrm>
            <a:off x="952500" y="3575596"/>
            <a:ext cx="838200" cy="518071"/>
          </a:xfrm>
          <a:prstGeom prst="rect">
            <a:avLst/>
          </a:prstGeom>
          <a:noFill/>
          <a:ln>
            <a:noFill/>
          </a:ln>
        </p:spPr>
        <p:txBody>
          <a:bodyPr anchorCtr="0" anchor="t" bIns="25400" lIns="25400" spcFirstLastPara="1" rIns="25400" wrap="square" tIns="25400">
            <a:normAutofit/>
          </a:bodyPr>
          <a:lstStyle/>
          <a:p>
            <a:pPr indent="0" lvl="0" marL="0" marR="0" rtl="0" algn="l">
              <a:lnSpc>
                <a:spcPct val="90000"/>
              </a:lnSpc>
              <a:spcBef>
                <a:spcPts val="0"/>
              </a:spcBef>
              <a:spcAft>
                <a:spcPts val="0"/>
              </a:spcAft>
              <a:buClr>
                <a:srgbClr val="B5341B"/>
              </a:buClr>
              <a:buSzPts val="4200"/>
              <a:buFont typeface="Montserrat"/>
              <a:buNone/>
            </a:pPr>
            <a:r>
              <a:rPr b="1" lang="en-US" sz="4200">
                <a:solidFill>
                  <a:srgbClr val="B5341B"/>
                </a:solidFill>
                <a:latin typeface="Montserrat"/>
                <a:ea typeface="Montserrat"/>
                <a:cs typeface="Montserrat"/>
                <a:sym typeface="Montserrat"/>
              </a:rPr>
              <a:t>✕</a:t>
            </a:r>
            <a:endParaRPr sz="4200">
              <a:solidFill>
                <a:schemeClr val="dk1"/>
              </a:solidFill>
              <a:latin typeface="Calibri"/>
              <a:ea typeface="Calibri"/>
              <a:cs typeface="Calibri"/>
              <a:sym typeface="Calibri"/>
            </a:endParaRPr>
          </a:p>
        </p:txBody>
      </p:sp>
      <p:sp>
        <p:nvSpPr>
          <p:cNvPr id="726" name="Google Shape;726;p29"/>
          <p:cNvSpPr/>
          <p:nvPr/>
        </p:nvSpPr>
        <p:spPr>
          <a:xfrm>
            <a:off x="1981200" y="3708946"/>
            <a:ext cx="15814929" cy="4095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400"/>
              <a:buFont typeface="Montserrat"/>
              <a:buNone/>
            </a:pPr>
            <a:r>
              <a:rPr b="1" lang="en-US" sz="2400">
                <a:solidFill>
                  <a:srgbClr val="2A2D38"/>
                </a:solidFill>
                <a:latin typeface="Montserrat"/>
                <a:ea typeface="Montserrat"/>
                <a:cs typeface="Montserrat"/>
                <a:sym typeface="Montserrat"/>
              </a:rPr>
              <a:t>Pastoral care messages.</a:t>
            </a:r>
            <a:endParaRPr sz="2400">
              <a:solidFill>
                <a:schemeClr val="dk1"/>
              </a:solidFill>
              <a:latin typeface="Calibri"/>
              <a:ea typeface="Calibri"/>
              <a:cs typeface="Calibri"/>
              <a:sym typeface="Calibri"/>
            </a:endParaRPr>
          </a:p>
        </p:txBody>
      </p:sp>
      <p:sp>
        <p:nvSpPr>
          <p:cNvPr id="727" name="Google Shape;727;p29"/>
          <p:cNvSpPr/>
          <p:nvPr/>
        </p:nvSpPr>
        <p:spPr>
          <a:xfrm>
            <a:off x="1981200" y="4137571"/>
            <a:ext cx="15814929" cy="36954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A grieving member can tell. So can their family. Write it yourself, even briefly.</a:t>
            </a:r>
            <a:endParaRPr sz="1800">
              <a:solidFill>
                <a:schemeClr val="dk1"/>
              </a:solidFill>
              <a:latin typeface="Calibri"/>
              <a:ea typeface="Calibri"/>
              <a:cs typeface="Calibri"/>
              <a:sym typeface="Calibri"/>
            </a:endParaRPr>
          </a:p>
        </p:txBody>
      </p:sp>
      <p:sp>
        <p:nvSpPr>
          <p:cNvPr id="728" name="Google Shape;728;p29"/>
          <p:cNvSpPr/>
          <p:nvPr/>
        </p:nvSpPr>
        <p:spPr>
          <a:xfrm>
            <a:off x="952500" y="6000601"/>
            <a:ext cx="163830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29" name="Google Shape;729;p29"/>
          <p:cNvSpPr/>
          <p:nvPr/>
        </p:nvSpPr>
        <p:spPr>
          <a:xfrm>
            <a:off x="952500" y="4897636"/>
            <a:ext cx="838200" cy="518071"/>
          </a:xfrm>
          <a:prstGeom prst="rect">
            <a:avLst/>
          </a:prstGeom>
          <a:noFill/>
          <a:ln>
            <a:noFill/>
          </a:ln>
        </p:spPr>
        <p:txBody>
          <a:bodyPr anchorCtr="0" anchor="t" bIns="25400" lIns="25400" spcFirstLastPara="1" rIns="25400" wrap="square" tIns="25400">
            <a:normAutofit/>
          </a:bodyPr>
          <a:lstStyle/>
          <a:p>
            <a:pPr indent="0" lvl="0" marL="0" marR="0" rtl="0" algn="l">
              <a:lnSpc>
                <a:spcPct val="90000"/>
              </a:lnSpc>
              <a:spcBef>
                <a:spcPts val="0"/>
              </a:spcBef>
              <a:spcAft>
                <a:spcPts val="0"/>
              </a:spcAft>
              <a:buClr>
                <a:srgbClr val="B5341B"/>
              </a:buClr>
              <a:buSzPts val="4200"/>
              <a:buFont typeface="Montserrat"/>
              <a:buNone/>
            </a:pPr>
            <a:r>
              <a:rPr b="1" lang="en-US" sz="4200">
                <a:solidFill>
                  <a:srgbClr val="B5341B"/>
                </a:solidFill>
                <a:latin typeface="Montserrat"/>
                <a:ea typeface="Montserrat"/>
                <a:cs typeface="Montserrat"/>
                <a:sym typeface="Montserrat"/>
              </a:rPr>
              <a:t>✕</a:t>
            </a:r>
            <a:endParaRPr sz="4200">
              <a:solidFill>
                <a:schemeClr val="dk1"/>
              </a:solidFill>
              <a:latin typeface="Calibri"/>
              <a:ea typeface="Calibri"/>
              <a:cs typeface="Calibri"/>
              <a:sym typeface="Calibri"/>
            </a:endParaRPr>
          </a:p>
        </p:txBody>
      </p:sp>
      <p:sp>
        <p:nvSpPr>
          <p:cNvPr id="730" name="Google Shape;730;p29"/>
          <p:cNvSpPr/>
          <p:nvPr/>
        </p:nvSpPr>
        <p:spPr>
          <a:xfrm>
            <a:off x="1981200" y="5030986"/>
            <a:ext cx="15814929" cy="4095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400"/>
              <a:buFont typeface="Montserrat"/>
              <a:buNone/>
            </a:pPr>
            <a:r>
              <a:rPr b="1" lang="en-US" sz="2400">
                <a:solidFill>
                  <a:srgbClr val="2A2D38"/>
                </a:solidFill>
                <a:latin typeface="Montserrat"/>
                <a:ea typeface="Montserrat"/>
                <a:cs typeface="Montserrat"/>
                <a:sym typeface="Montserrat"/>
              </a:rPr>
              <a:t>Anything legally binding or financial.</a:t>
            </a:r>
            <a:endParaRPr sz="2400">
              <a:solidFill>
                <a:schemeClr val="dk1"/>
              </a:solidFill>
              <a:latin typeface="Calibri"/>
              <a:ea typeface="Calibri"/>
              <a:cs typeface="Calibri"/>
              <a:sym typeface="Calibri"/>
            </a:endParaRPr>
          </a:p>
        </p:txBody>
      </p:sp>
      <p:sp>
        <p:nvSpPr>
          <p:cNvPr id="731" name="Google Shape;731;p29"/>
          <p:cNvSpPr/>
          <p:nvPr/>
        </p:nvSpPr>
        <p:spPr>
          <a:xfrm>
            <a:off x="1981200" y="5459611"/>
            <a:ext cx="15814929" cy="36954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Bylaws, MOUs, donor agreements, tax letters. AI can draft — a human signs.</a:t>
            </a:r>
            <a:endParaRPr sz="1800">
              <a:solidFill>
                <a:schemeClr val="dk1"/>
              </a:solidFill>
              <a:latin typeface="Calibri"/>
              <a:ea typeface="Calibri"/>
              <a:cs typeface="Calibri"/>
              <a:sym typeface="Calibri"/>
            </a:endParaRPr>
          </a:p>
        </p:txBody>
      </p:sp>
      <p:sp>
        <p:nvSpPr>
          <p:cNvPr id="732" name="Google Shape;732;p29"/>
          <p:cNvSpPr/>
          <p:nvPr/>
        </p:nvSpPr>
        <p:spPr>
          <a:xfrm>
            <a:off x="952500" y="7322641"/>
            <a:ext cx="16383000" cy="9525"/>
          </a:xfrm>
          <a:prstGeom prst="rect">
            <a:avLst/>
          </a:prstGeom>
          <a:solidFill>
            <a:srgbClr val="E5E5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33" name="Google Shape;733;p29"/>
          <p:cNvSpPr/>
          <p:nvPr/>
        </p:nvSpPr>
        <p:spPr>
          <a:xfrm>
            <a:off x="952500" y="6219676"/>
            <a:ext cx="838200" cy="518071"/>
          </a:xfrm>
          <a:prstGeom prst="rect">
            <a:avLst/>
          </a:prstGeom>
          <a:noFill/>
          <a:ln>
            <a:noFill/>
          </a:ln>
        </p:spPr>
        <p:txBody>
          <a:bodyPr anchorCtr="0" anchor="t" bIns="25400" lIns="25400" spcFirstLastPara="1" rIns="25400" wrap="square" tIns="25400">
            <a:normAutofit/>
          </a:bodyPr>
          <a:lstStyle/>
          <a:p>
            <a:pPr indent="0" lvl="0" marL="0" marR="0" rtl="0" algn="l">
              <a:lnSpc>
                <a:spcPct val="90000"/>
              </a:lnSpc>
              <a:spcBef>
                <a:spcPts val="0"/>
              </a:spcBef>
              <a:spcAft>
                <a:spcPts val="0"/>
              </a:spcAft>
              <a:buClr>
                <a:srgbClr val="B5341B"/>
              </a:buClr>
              <a:buSzPts val="4200"/>
              <a:buFont typeface="Montserrat"/>
              <a:buNone/>
            </a:pPr>
            <a:r>
              <a:rPr b="1" lang="en-US" sz="4200">
                <a:solidFill>
                  <a:srgbClr val="B5341B"/>
                </a:solidFill>
                <a:latin typeface="Montserrat"/>
                <a:ea typeface="Montserrat"/>
                <a:cs typeface="Montserrat"/>
                <a:sym typeface="Montserrat"/>
              </a:rPr>
              <a:t>✕</a:t>
            </a:r>
            <a:endParaRPr sz="4200">
              <a:solidFill>
                <a:schemeClr val="dk1"/>
              </a:solidFill>
              <a:latin typeface="Calibri"/>
              <a:ea typeface="Calibri"/>
              <a:cs typeface="Calibri"/>
              <a:sym typeface="Calibri"/>
            </a:endParaRPr>
          </a:p>
        </p:txBody>
      </p:sp>
      <p:sp>
        <p:nvSpPr>
          <p:cNvPr id="734" name="Google Shape;734;p29"/>
          <p:cNvSpPr/>
          <p:nvPr/>
        </p:nvSpPr>
        <p:spPr>
          <a:xfrm>
            <a:off x="1981200" y="6353026"/>
            <a:ext cx="15814929" cy="4095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400"/>
              <a:buFont typeface="Montserrat"/>
              <a:buNone/>
            </a:pPr>
            <a:r>
              <a:rPr b="1" lang="en-US" sz="2400">
                <a:solidFill>
                  <a:srgbClr val="2A2D38"/>
                </a:solidFill>
                <a:latin typeface="Montserrat"/>
                <a:ea typeface="Montserrat"/>
                <a:cs typeface="Montserrat"/>
                <a:sym typeface="Montserrat"/>
              </a:rPr>
              <a:t>Doctrinal positions on contested issues.</a:t>
            </a:r>
            <a:endParaRPr sz="2400">
              <a:solidFill>
                <a:schemeClr val="dk1"/>
              </a:solidFill>
              <a:latin typeface="Calibri"/>
              <a:ea typeface="Calibri"/>
              <a:cs typeface="Calibri"/>
              <a:sym typeface="Calibri"/>
            </a:endParaRPr>
          </a:p>
        </p:txBody>
      </p:sp>
      <p:sp>
        <p:nvSpPr>
          <p:cNvPr id="735" name="Google Shape;735;p29"/>
          <p:cNvSpPr/>
          <p:nvPr/>
        </p:nvSpPr>
        <p:spPr>
          <a:xfrm>
            <a:off x="1981200" y="6781651"/>
            <a:ext cx="15814929" cy="36954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The training data isn't from your tradition. Don't outsource your statement of faith.</a:t>
            </a:r>
            <a:endParaRPr sz="1800">
              <a:solidFill>
                <a:schemeClr val="dk1"/>
              </a:solidFill>
              <a:latin typeface="Calibri"/>
              <a:ea typeface="Calibri"/>
              <a:cs typeface="Calibri"/>
              <a:sym typeface="Calibri"/>
            </a:endParaRPr>
          </a:p>
        </p:txBody>
      </p:sp>
      <p:sp>
        <p:nvSpPr>
          <p:cNvPr id="736" name="Google Shape;736;p29"/>
          <p:cNvSpPr/>
          <p:nvPr/>
        </p:nvSpPr>
        <p:spPr>
          <a:xfrm>
            <a:off x="952500" y="7541716"/>
            <a:ext cx="838200" cy="518071"/>
          </a:xfrm>
          <a:prstGeom prst="rect">
            <a:avLst/>
          </a:prstGeom>
          <a:noFill/>
          <a:ln>
            <a:noFill/>
          </a:ln>
        </p:spPr>
        <p:txBody>
          <a:bodyPr anchorCtr="0" anchor="t" bIns="25400" lIns="25400" spcFirstLastPara="1" rIns="25400" wrap="square" tIns="25400">
            <a:normAutofit/>
          </a:bodyPr>
          <a:lstStyle/>
          <a:p>
            <a:pPr indent="0" lvl="0" marL="0" marR="0" rtl="0" algn="l">
              <a:lnSpc>
                <a:spcPct val="90000"/>
              </a:lnSpc>
              <a:spcBef>
                <a:spcPts val="0"/>
              </a:spcBef>
              <a:spcAft>
                <a:spcPts val="0"/>
              </a:spcAft>
              <a:buClr>
                <a:srgbClr val="B5341B"/>
              </a:buClr>
              <a:buSzPts val="4200"/>
              <a:buFont typeface="Montserrat"/>
              <a:buNone/>
            </a:pPr>
            <a:r>
              <a:rPr b="1" lang="en-US" sz="4200">
                <a:solidFill>
                  <a:srgbClr val="B5341B"/>
                </a:solidFill>
                <a:latin typeface="Montserrat"/>
                <a:ea typeface="Montserrat"/>
                <a:cs typeface="Montserrat"/>
                <a:sym typeface="Montserrat"/>
              </a:rPr>
              <a:t>✕</a:t>
            </a:r>
            <a:endParaRPr sz="4200">
              <a:solidFill>
                <a:schemeClr val="dk1"/>
              </a:solidFill>
              <a:latin typeface="Calibri"/>
              <a:ea typeface="Calibri"/>
              <a:cs typeface="Calibri"/>
              <a:sym typeface="Calibri"/>
            </a:endParaRPr>
          </a:p>
        </p:txBody>
      </p:sp>
      <p:sp>
        <p:nvSpPr>
          <p:cNvPr id="737" name="Google Shape;737;p29"/>
          <p:cNvSpPr/>
          <p:nvPr/>
        </p:nvSpPr>
        <p:spPr>
          <a:xfrm>
            <a:off x="1981200" y="7675066"/>
            <a:ext cx="15814929" cy="4095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400"/>
              <a:buFont typeface="Montserrat"/>
              <a:buNone/>
            </a:pPr>
            <a:r>
              <a:rPr b="1" lang="en-US" sz="2400">
                <a:solidFill>
                  <a:srgbClr val="2A2D38"/>
                </a:solidFill>
                <a:latin typeface="Montserrat"/>
                <a:ea typeface="Montserrat"/>
                <a:cs typeface="Montserrat"/>
                <a:sym typeface="Montserrat"/>
              </a:rPr>
              <a:t>Anything you can't review before it ships.</a:t>
            </a:r>
            <a:endParaRPr sz="2400">
              <a:solidFill>
                <a:schemeClr val="dk1"/>
              </a:solidFill>
              <a:latin typeface="Calibri"/>
              <a:ea typeface="Calibri"/>
              <a:cs typeface="Calibri"/>
              <a:sym typeface="Calibri"/>
            </a:endParaRPr>
          </a:p>
        </p:txBody>
      </p:sp>
      <p:sp>
        <p:nvSpPr>
          <p:cNvPr id="738" name="Google Shape;738;p29"/>
          <p:cNvSpPr/>
          <p:nvPr/>
        </p:nvSpPr>
        <p:spPr>
          <a:xfrm>
            <a:off x="1981200" y="8103691"/>
            <a:ext cx="15814929" cy="36954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If you don't have time to read it, you don't have time to send it.</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3" name="Shape 743"/>
        <p:cNvGrpSpPr/>
        <p:nvPr/>
      </p:nvGrpSpPr>
      <p:grpSpPr>
        <a:xfrm>
          <a:off x="0" y="0"/>
          <a:ext cx="0" cy="0"/>
          <a:chOff x="0" y="0"/>
          <a:chExt cx="0" cy="0"/>
        </a:xfrm>
      </p:grpSpPr>
      <p:sp>
        <p:nvSpPr>
          <p:cNvPr id="744" name="Google Shape;744;p30"/>
          <p:cNvSpPr/>
          <p:nvPr/>
        </p:nvSpPr>
        <p:spPr>
          <a:xfrm>
            <a:off x="0" y="0"/>
            <a:ext cx="5143500" cy="10287000"/>
          </a:xfrm>
          <a:prstGeom prst="rect">
            <a:avLst/>
          </a:prstGeom>
          <a:solidFill>
            <a:srgbClr val="1B1D2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45" name="Google Shape;745;p30"/>
          <p:cNvSpPr/>
          <p:nvPr/>
        </p:nvSpPr>
        <p:spPr>
          <a:xfrm>
            <a:off x="571500" y="952500"/>
            <a:ext cx="4120515" cy="3333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EXERCISE</a:t>
            </a:r>
            <a:endParaRPr sz="1800">
              <a:solidFill>
                <a:schemeClr val="dk1"/>
              </a:solidFill>
              <a:latin typeface="Calibri"/>
              <a:ea typeface="Calibri"/>
              <a:cs typeface="Calibri"/>
              <a:sym typeface="Calibri"/>
            </a:endParaRPr>
          </a:p>
        </p:txBody>
      </p:sp>
      <p:sp>
        <p:nvSpPr>
          <p:cNvPr id="746" name="Google Shape;746;p30"/>
          <p:cNvSpPr/>
          <p:nvPr/>
        </p:nvSpPr>
        <p:spPr>
          <a:xfrm>
            <a:off x="571500" y="1552575"/>
            <a:ext cx="4120515" cy="1819275"/>
          </a:xfrm>
          <a:prstGeom prst="rect">
            <a:avLst/>
          </a:prstGeom>
          <a:noFill/>
          <a:ln>
            <a:noFill/>
          </a:ln>
        </p:spPr>
        <p:txBody>
          <a:bodyPr anchorCtr="0" anchor="t" bIns="25400" lIns="25400" spcFirstLastPara="1" rIns="25400" wrap="square" tIns="25400">
            <a:normAutofit/>
          </a:bodyPr>
          <a:lstStyle/>
          <a:p>
            <a:pPr indent="0" lvl="0" marL="0" marR="0" rtl="0" algn="l">
              <a:lnSpc>
                <a:spcPct val="85000"/>
              </a:lnSpc>
              <a:spcBef>
                <a:spcPts val="0"/>
              </a:spcBef>
              <a:spcAft>
                <a:spcPts val="0"/>
              </a:spcAft>
              <a:buClr>
                <a:srgbClr val="FFFFFF"/>
              </a:buClr>
              <a:buSzPts val="16500"/>
              <a:buFont typeface="Montserrat"/>
              <a:buNone/>
            </a:pPr>
            <a:r>
              <a:rPr b="1" lang="en-US" sz="16500">
                <a:solidFill>
                  <a:srgbClr val="FFFFFF"/>
                </a:solidFill>
                <a:latin typeface="Montserrat"/>
                <a:ea typeface="Montserrat"/>
                <a:cs typeface="Montserrat"/>
                <a:sym typeface="Montserrat"/>
              </a:rPr>
              <a:t>0</a:t>
            </a:r>
            <a:r>
              <a:rPr b="1" lang="en-US" sz="16500">
                <a:solidFill>
                  <a:srgbClr val="3FE0D0"/>
                </a:solidFill>
                <a:latin typeface="Montserrat"/>
                <a:ea typeface="Montserrat"/>
                <a:cs typeface="Montserrat"/>
                <a:sym typeface="Montserrat"/>
              </a:rPr>
              <a:t>3</a:t>
            </a:r>
            <a:endParaRPr sz="16500">
              <a:solidFill>
                <a:schemeClr val="dk1"/>
              </a:solidFill>
              <a:latin typeface="Calibri"/>
              <a:ea typeface="Calibri"/>
              <a:cs typeface="Calibri"/>
              <a:sym typeface="Calibri"/>
            </a:endParaRPr>
          </a:p>
        </p:txBody>
      </p:sp>
      <p:sp>
        <p:nvSpPr>
          <p:cNvPr id="747" name="Google Shape;747;p30"/>
          <p:cNvSpPr/>
          <p:nvPr/>
        </p:nvSpPr>
        <p:spPr>
          <a:xfrm>
            <a:off x="571500" y="3638550"/>
            <a:ext cx="4120515" cy="708422"/>
          </a:xfrm>
          <a:prstGeom prst="rect">
            <a:avLst/>
          </a:prstGeom>
          <a:noFill/>
          <a:ln>
            <a:noFill/>
          </a:ln>
        </p:spPr>
        <p:txBody>
          <a:bodyPr anchorCtr="0" anchor="t" bIns="25400" lIns="25400" spcFirstLastPara="1" rIns="25400" wrap="square" tIns="25400">
            <a:normAutofit/>
          </a:bodyPr>
          <a:lstStyle/>
          <a:p>
            <a:pPr indent="0" lvl="0" marL="0" marR="0" rtl="0" algn="l">
              <a:lnSpc>
                <a:spcPct val="110000"/>
              </a:lnSpc>
              <a:spcBef>
                <a:spcPts val="0"/>
              </a:spcBef>
              <a:spcAft>
                <a:spcPts val="0"/>
              </a:spcAft>
              <a:buClr>
                <a:srgbClr val="FFFFFF"/>
              </a:buClr>
              <a:buSzPts val="2400"/>
              <a:buFont typeface="Montserrat"/>
              <a:buNone/>
            </a:pPr>
            <a:r>
              <a:rPr b="1" lang="en-US" sz="2400">
                <a:solidFill>
                  <a:srgbClr val="FFFFFF"/>
                </a:solidFill>
                <a:latin typeface="Montserrat"/>
                <a:ea typeface="Montserrat"/>
                <a:cs typeface="Montserrat"/>
                <a:sym typeface="Montserrat"/>
              </a:rPr>
              <a:t>STRESS-TEST YOUR OUTPUT</a:t>
            </a:r>
            <a:endParaRPr sz="2400">
              <a:solidFill>
                <a:schemeClr val="dk1"/>
              </a:solidFill>
              <a:latin typeface="Calibri"/>
              <a:ea typeface="Calibri"/>
              <a:cs typeface="Calibri"/>
              <a:sym typeface="Calibri"/>
            </a:endParaRPr>
          </a:p>
        </p:txBody>
      </p:sp>
      <p:sp>
        <p:nvSpPr>
          <p:cNvPr id="748" name="Google Shape;748;p30"/>
          <p:cNvSpPr/>
          <p:nvPr/>
        </p:nvSpPr>
        <p:spPr>
          <a:xfrm>
            <a:off x="571500" y="9129713"/>
            <a:ext cx="114300" cy="114300"/>
          </a:xfrm>
          <a:prstGeom prst="ellipse">
            <a:avLst/>
          </a:prstGeom>
          <a:solidFill>
            <a:srgbClr val="3FE0D0"/>
          </a:solidFill>
          <a:ln>
            <a:noFill/>
          </a:ln>
          <a:effectLst>
            <a:outerShdw blurRad="152400" rotWithShape="0" algn="bl" dir="16200000" dist="50800">
              <a:srgbClr val="3FE0D0"/>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49" name="Google Shape;749;p30"/>
          <p:cNvSpPr/>
          <p:nvPr/>
        </p:nvSpPr>
        <p:spPr>
          <a:xfrm>
            <a:off x="838200" y="9039225"/>
            <a:ext cx="2545110" cy="33337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C9CBD1"/>
              </a:buClr>
              <a:buSzPts val="1800"/>
              <a:buFont typeface="JetBrains Mono"/>
              <a:buNone/>
            </a:pPr>
            <a:r>
              <a:rPr lang="en-US" sz="1800">
                <a:solidFill>
                  <a:srgbClr val="C9CBD1"/>
                </a:solidFill>
                <a:latin typeface="JetBrains Mono"/>
                <a:ea typeface="JetBrains Mono"/>
                <a:cs typeface="JetBrains Mono"/>
                <a:sym typeface="JetBrains Mono"/>
              </a:rPr>
              <a:t>10 minutes · pairs</a:t>
            </a:r>
            <a:endParaRPr sz="1800">
              <a:solidFill>
                <a:schemeClr val="dk1"/>
              </a:solidFill>
              <a:latin typeface="Calibri"/>
              <a:ea typeface="Calibri"/>
              <a:cs typeface="Calibri"/>
              <a:sym typeface="Calibri"/>
            </a:endParaRPr>
          </a:p>
        </p:txBody>
      </p:sp>
      <p:sp>
        <p:nvSpPr>
          <p:cNvPr id="750" name="Google Shape;750;p30"/>
          <p:cNvSpPr/>
          <p:nvPr/>
        </p:nvSpPr>
        <p:spPr>
          <a:xfrm>
            <a:off x="5143500" y="0"/>
            <a:ext cx="13144500" cy="10287000"/>
          </a:xfrm>
          <a:prstGeom prst="rect">
            <a:avLst/>
          </a:prstGeom>
          <a:solidFill>
            <a:srgbClr val="F7F5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51" name="Google Shape;751;p30"/>
          <p:cNvSpPr/>
          <p:nvPr/>
        </p:nvSpPr>
        <p:spPr>
          <a:xfrm>
            <a:off x="6096000" y="952500"/>
            <a:ext cx="11576685" cy="1398091"/>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2A2D38"/>
              </a:buClr>
              <a:buSzPts val="5100"/>
              <a:buFont typeface="Montserrat"/>
              <a:buNone/>
            </a:pPr>
            <a:r>
              <a:rPr b="1" lang="en-US" sz="5100">
                <a:solidFill>
                  <a:srgbClr val="2A2D38"/>
                </a:solidFill>
                <a:latin typeface="Montserrat"/>
                <a:ea typeface="Montserrat"/>
                <a:cs typeface="Montserrat"/>
                <a:sym typeface="Montserrat"/>
              </a:rPr>
              <a:t>Take the draft you generated in Exercise 2. Now try to break it.</a:t>
            </a:r>
            <a:endParaRPr sz="5100">
              <a:solidFill>
                <a:schemeClr val="dk1"/>
              </a:solidFill>
              <a:latin typeface="Calibri"/>
              <a:ea typeface="Calibri"/>
              <a:cs typeface="Calibri"/>
              <a:sym typeface="Calibri"/>
            </a:endParaRPr>
          </a:p>
        </p:txBody>
      </p:sp>
      <p:sp>
        <p:nvSpPr>
          <p:cNvPr id="752" name="Google Shape;752;p30"/>
          <p:cNvSpPr/>
          <p:nvPr/>
        </p:nvSpPr>
        <p:spPr>
          <a:xfrm>
            <a:off x="6096000" y="2703016"/>
            <a:ext cx="609600" cy="3810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F58220"/>
              </a:buClr>
              <a:buSzPts val="1800"/>
              <a:buFont typeface="JetBrains Mono"/>
              <a:buNone/>
            </a:pPr>
            <a:r>
              <a:rPr b="1" lang="en-US" sz="1800">
                <a:solidFill>
                  <a:srgbClr val="F58220"/>
                </a:solidFill>
                <a:latin typeface="JetBrains Mono"/>
                <a:ea typeface="JetBrains Mono"/>
                <a:cs typeface="JetBrains Mono"/>
                <a:sym typeface="JetBrains Mono"/>
              </a:rPr>
              <a:t>01</a:t>
            </a:r>
            <a:endParaRPr sz="1800">
              <a:solidFill>
                <a:schemeClr val="dk1"/>
              </a:solidFill>
              <a:latin typeface="Calibri"/>
              <a:ea typeface="Calibri"/>
              <a:cs typeface="Calibri"/>
              <a:sym typeface="Calibri"/>
            </a:endParaRPr>
          </a:p>
        </p:txBody>
      </p:sp>
      <p:sp>
        <p:nvSpPr>
          <p:cNvPr id="753" name="Google Shape;753;p30"/>
          <p:cNvSpPr/>
          <p:nvPr/>
        </p:nvSpPr>
        <p:spPr>
          <a:xfrm>
            <a:off x="6819900" y="2655391"/>
            <a:ext cx="10831068" cy="43815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Ask: "Show me the verse references you used. Quote them exactly."</a:t>
            </a:r>
            <a:endParaRPr sz="2100">
              <a:solidFill>
                <a:schemeClr val="dk1"/>
              </a:solidFill>
              <a:latin typeface="Calibri"/>
              <a:ea typeface="Calibri"/>
              <a:cs typeface="Calibri"/>
              <a:sym typeface="Calibri"/>
            </a:endParaRPr>
          </a:p>
        </p:txBody>
      </p:sp>
      <p:sp>
        <p:nvSpPr>
          <p:cNvPr id="754" name="Google Shape;754;p30"/>
          <p:cNvSpPr/>
          <p:nvPr/>
        </p:nvSpPr>
        <p:spPr>
          <a:xfrm>
            <a:off x="6096000" y="3293566"/>
            <a:ext cx="609600" cy="3810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F58220"/>
              </a:buClr>
              <a:buSzPts val="1800"/>
              <a:buFont typeface="JetBrains Mono"/>
              <a:buNone/>
            </a:pPr>
            <a:r>
              <a:rPr b="1" lang="en-US" sz="1800">
                <a:solidFill>
                  <a:srgbClr val="F58220"/>
                </a:solidFill>
                <a:latin typeface="JetBrains Mono"/>
                <a:ea typeface="JetBrains Mono"/>
                <a:cs typeface="JetBrains Mono"/>
                <a:sym typeface="JetBrains Mono"/>
              </a:rPr>
              <a:t>02</a:t>
            </a:r>
            <a:endParaRPr sz="1800">
              <a:solidFill>
                <a:schemeClr val="dk1"/>
              </a:solidFill>
              <a:latin typeface="Calibri"/>
              <a:ea typeface="Calibri"/>
              <a:cs typeface="Calibri"/>
              <a:sym typeface="Calibri"/>
            </a:endParaRPr>
          </a:p>
        </p:txBody>
      </p:sp>
      <p:sp>
        <p:nvSpPr>
          <p:cNvPr id="755" name="Google Shape;755;p30"/>
          <p:cNvSpPr/>
          <p:nvPr/>
        </p:nvSpPr>
        <p:spPr>
          <a:xfrm>
            <a:off x="6819900" y="3245941"/>
            <a:ext cx="10831068" cy="43815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Ask: "Which parts of this came from my attached docs vs. your training data?"</a:t>
            </a:r>
            <a:endParaRPr sz="2100">
              <a:solidFill>
                <a:schemeClr val="dk1"/>
              </a:solidFill>
              <a:latin typeface="Calibri"/>
              <a:ea typeface="Calibri"/>
              <a:cs typeface="Calibri"/>
              <a:sym typeface="Calibri"/>
            </a:endParaRPr>
          </a:p>
        </p:txBody>
      </p:sp>
      <p:sp>
        <p:nvSpPr>
          <p:cNvPr id="756" name="Google Shape;756;p30"/>
          <p:cNvSpPr/>
          <p:nvPr/>
        </p:nvSpPr>
        <p:spPr>
          <a:xfrm>
            <a:off x="6096000" y="3884116"/>
            <a:ext cx="609600" cy="3810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F58220"/>
              </a:buClr>
              <a:buSzPts val="1800"/>
              <a:buFont typeface="JetBrains Mono"/>
              <a:buNone/>
            </a:pPr>
            <a:r>
              <a:rPr b="1" lang="en-US" sz="1800">
                <a:solidFill>
                  <a:srgbClr val="F58220"/>
                </a:solidFill>
                <a:latin typeface="JetBrains Mono"/>
                <a:ea typeface="JetBrains Mono"/>
                <a:cs typeface="JetBrains Mono"/>
                <a:sym typeface="JetBrains Mono"/>
              </a:rPr>
              <a:t>03</a:t>
            </a:r>
            <a:endParaRPr sz="1800">
              <a:solidFill>
                <a:schemeClr val="dk1"/>
              </a:solidFill>
              <a:latin typeface="Calibri"/>
              <a:ea typeface="Calibri"/>
              <a:cs typeface="Calibri"/>
              <a:sym typeface="Calibri"/>
            </a:endParaRPr>
          </a:p>
        </p:txBody>
      </p:sp>
      <p:sp>
        <p:nvSpPr>
          <p:cNvPr id="757" name="Google Shape;757;p30"/>
          <p:cNvSpPr/>
          <p:nvPr/>
        </p:nvSpPr>
        <p:spPr>
          <a:xfrm>
            <a:off x="6819900" y="3836491"/>
            <a:ext cx="10831068" cy="43815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Ask: "What's one thing you might have made up here?"</a:t>
            </a:r>
            <a:endParaRPr sz="2100">
              <a:solidFill>
                <a:schemeClr val="dk1"/>
              </a:solidFill>
              <a:latin typeface="Calibri"/>
              <a:ea typeface="Calibri"/>
              <a:cs typeface="Calibri"/>
              <a:sym typeface="Calibri"/>
            </a:endParaRPr>
          </a:p>
        </p:txBody>
      </p:sp>
      <p:sp>
        <p:nvSpPr>
          <p:cNvPr id="758" name="Google Shape;758;p30"/>
          <p:cNvSpPr/>
          <p:nvPr/>
        </p:nvSpPr>
        <p:spPr>
          <a:xfrm>
            <a:off x="6096000" y="4474666"/>
            <a:ext cx="609600" cy="38100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F58220"/>
              </a:buClr>
              <a:buSzPts val="1800"/>
              <a:buFont typeface="JetBrains Mono"/>
              <a:buNone/>
            </a:pPr>
            <a:r>
              <a:rPr b="1" lang="en-US" sz="1800">
                <a:solidFill>
                  <a:srgbClr val="F58220"/>
                </a:solidFill>
                <a:latin typeface="JetBrains Mono"/>
                <a:ea typeface="JetBrains Mono"/>
                <a:cs typeface="JetBrains Mono"/>
                <a:sym typeface="JetBrains Mono"/>
              </a:rPr>
              <a:t>04</a:t>
            </a:r>
            <a:endParaRPr sz="1800">
              <a:solidFill>
                <a:schemeClr val="dk1"/>
              </a:solidFill>
              <a:latin typeface="Calibri"/>
              <a:ea typeface="Calibri"/>
              <a:cs typeface="Calibri"/>
              <a:sym typeface="Calibri"/>
            </a:endParaRPr>
          </a:p>
        </p:txBody>
      </p:sp>
      <p:sp>
        <p:nvSpPr>
          <p:cNvPr id="759" name="Google Shape;759;p30"/>
          <p:cNvSpPr/>
          <p:nvPr/>
        </p:nvSpPr>
        <p:spPr>
          <a:xfrm>
            <a:off x="6819900" y="4427041"/>
            <a:ext cx="10831068" cy="438150"/>
          </a:xfrm>
          <a:prstGeom prst="rect">
            <a:avLst/>
          </a:prstGeom>
          <a:noFill/>
          <a:ln>
            <a:noFill/>
          </a:ln>
        </p:spPr>
        <p:txBody>
          <a:bodyPr anchorCtr="0" anchor="t" bIns="25400" lIns="25400" spcFirstLastPara="1" rIns="25400" wrap="square" tIns="25400">
            <a:normAutofit/>
          </a:bodyPr>
          <a:lstStyle/>
          <a:p>
            <a:pPr indent="0" lvl="0" marL="0" marR="0" rtl="0" algn="l">
              <a:lnSpc>
                <a:spcPct val="150000"/>
              </a:lnSpc>
              <a:spcBef>
                <a:spcPts val="0"/>
              </a:spcBef>
              <a:spcAft>
                <a:spcPts val="0"/>
              </a:spcAft>
              <a:buClr>
                <a:srgbClr val="2A2D38"/>
              </a:buClr>
              <a:buSzPts val="2100"/>
              <a:buFont typeface="Inter"/>
              <a:buNone/>
            </a:pPr>
            <a:r>
              <a:rPr lang="en-US" sz="2100">
                <a:solidFill>
                  <a:srgbClr val="2A2D38"/>
                </a:solidFill>
                <a:latin typeface="Inter"/>
                <a:ea typeface="Inter"/>
                <a:cs typeface="Inter"/>
                <a:sym typeface="Inter"/>
              </a:rPr>
              <a:t>Note what the model admits to. </a:t>
            </a:r>
            <a:r>
              <a:rPr i="1" lang="en-US" sz="2100">
                <a:solidFill>
                  <a:srgbClr val="2A2D38"/>
                </a:solidFill>
                <a:latin typeface="Inter"/>
                <a:ea typeface="Inter"/>
                <a:cs typeface="Inter"/>
                <a:sym typeface="Inter"/>
              </a:rPr>
              <a:t>That's </a:t>
            </a:r>
            <a:r>
              <a:rPr lang="en-US" sz="2100">
                <a:solidFill>
                  <a:srgbClr val="2A2D38"/>
                </a:solidFill>
                <a:latin typeface="Inter"/>
                <a:ea typeface="Inter"/>
                <a:cs typeface="Inter"/>
                <a:sym typeface="Inter"/>
              </a:rPr>
              <a:t>what your review checklist should catch.</a:t>
            </a:r>
            <a:endParaRPr sz="2100">
              <a:solidFill>
                <a:schemeClr val="dk1"/>
              </a:solidFill>
              <a:latin typeface="Calibri"/>
              <a:ea typeface="Calibri"/>
              <a:cs typeface="Calibri"/>
              <a:sym typeface="Calibri"/>
            </a:endParaRPr>
          </a:p>
        </p:txBody>
      </p:sp>
      <p:sp>
        <p:nvSpPr>
          <p:cNvPr id="760" name="Google Shape;760;p30"/>
          <p:cNvSpPr/>
          <p:nvPr/>
        </p:nvSpPr>
        <p:spPr>
          <a:xfrm>
            <a:off x="6096000" y="5169991"/>
            <a:ext cx="11239500" cy="1241822"/>
          </a:xfrm>
          <a:prstGeom prst="roundRect">
            <a:avLst>
              <a:gd fmla="val 10738" name="adj"/>
            </a:avLst>
          </a:prstGeom>
          <a:solidFill>
            <a:srgbClr val="1B1D2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61" name="Google Shape;761;p30"/>
          <p:cNvSpPr/>
          <p:nvPr/>
        </p:nvSpPr>
        <p:spPr>
          <a:xfrm>
            <a:off x="6400800" y="5436691"/>
            <a:ext cx="10967085" cy="746522"/>
          </a:xfrm>
          <a:prstGeom prst="rect">
            <a:avLst/>
          </a:prstGeom>
          <a:noFill/>
          <a:ln>
            <a:noFill/>
          </a:ln>
        </p:spPr>
        <p:txBody>
          <a:bodyPr anchorCtr="0" anchor="t" bIns="25400" lIns="25400" spcFirstLastPara="1" rIns="25400" wrap="square" tIns="25400">
            <a:normAutofit/>
          </a:bodyPr>
          <a:lstStyle/>
          <a:p>
            <a:pPr indent="0" lvl="0" marL="0" marR="0" rtl="0" algn="l">
              <a:lnSpc>
                <a:spcPct val="155000"/>
              </a:lnSpc>
              <a:spcBef>
                <a:spcPts val="0"/>
              </a:spcBef>
              <a:spcAft>
                <a:spcPts val="0"/>
              </a:spcAft>
              <a:buClr>
                <a:srgbClr val="FFFFFF"/>
              </a:buClr>
              <a:buSzPts val="1800"/>
              <a:buFont typeface="JetBrains Mono"/>
              <a:buNone/>
            </a:pPr>
            <a:r>
              <a:rPr lang="en-US" sz="1800">
                <a:solidFill>
                  <a:srgbClr val="FFFFFF"/>
                </a:solidFill>
                <a:highlight>
                  <a:srgbClr val="1B1D24"/>
                </a:highlight>
                <a:latin typeface="JetBrains Mono"/>
                <a:ea typeface="JetBrains Mono"/>
                <a:cs typeface="JetBrains Mono"/>
                <a:sym typeface="JetBrains Mono"/>
              </a:rPr>
              <a:t>If the model can </a:t>
            </a:r>
            <a:r>
              <a:rPr lang="en-US" sz="1800">
                <a:solidFill>
                  <a:srgbClr val="3FE0D0"/>
                </a:solidFill>
                <a:latin typeface="JetBrains Mono"/>
                <a:ea typeface="JetBrains Mono"/>
                <a:cs typeface="JetBrains Mono"/>
                <a:sym typeface="JetBrains Mono"/>
              </a:rPr>
              <a:t>self-flag </a:t>
            </a:r>
            <a:r>
              <a:rPr lang="en-US" sz="1800">
                <a:solidFill>
                  <a:srgbClr val="FFFFFF"/>
                </a:solidFill>
                <a:highlight>
                  <a:srgbClr val="1B1D24"/>
                </a:highlight>
                <a:latin typeface="JetBrains Mono"/>
                <a:ea typeface="JetBrains Mono"/>
                <a:cs typeface="JetBrains Mono"/>
                <a:sym typeface="JetBrains Mono"/>
              </a:rPr>
              <a:t> its weak spots when asked, you're 80% of the way to a safe workflow.</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D24"/>
        </a:solidFill>
      </p:bgPr>
    </p:bg>
    <p:spTree>
      <p:nvGrpSpPr>
        <p:cNvPr id="766" name="Shape 766"/>
        <p:cNvGrpSpPr/>
        <p:nvPr/>
      </p:nvGrpSpPr>
      <p:grpSpPr>
        <a:xfrm>
          <a:off x="0" y="0"/>
          <a:ext cx="0" cy="0"/>
          <a:chOff x="0" y="0"/>
          <a:chExt cx="0" cy="0"/>
        </a:xfrm>
      </p:grpSpPr>
      <p:sp>
        <p:nvSpPr>
          <p:cNvPr id="767" name="Google Shape;767;p31"/>
          <p:cNvSpPr/>
          <p:nvPr/>
        </p:nvSpPr>
        <p:spPr>
          <a:xfrm>
            <a:off x="0" y="0"/>
            <a:ext cx="18288000" cy="10287000"/>
          </a:xfrm>
          <a:prstGeom prst="rect">
            <a:avLst/>
          </a:prstGeom>
          <a:solidFill>
            <a:srgbClr val="1B1D2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68" name="Google Shape;768;p31"/>
          <p:cNvSpPr/>
          <p:nvPr/>
        </p:nvSpPr>
        <p:spPr>
          <a:xfrm>
            <a:off x="3911947" y="3170932"/>
            <a:ext cx="10777875" cy="39052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3FE0D0"/>
              </a:buClr>
              <a:buSzPts val="2100"/>
              <a:buFont typeface="JetBrains Mono"/>
              <a:buNone/>
            </a:pPr>
            <a:r>
              <a:rPr lang="en-US" sz="2100">
                <a:solidFill>
                  <a:srgbClr val="3FE0D0"/>
                </a:solidFill>
                <a:latin typeface="JetBrains Mono"/>
                <a:ea typeface="JetBrains Mono"/>
                <a:cs typeface="JetBrains Mono"/>
                <a:sym typeface="JetBrains Mono"/>
              </a:rPr>
              <a:t>PART 06 / 06</a:t>
            </a:r>
            <a:endParaRPr sz="2100">
              <a:solidFill>
                <a:schemeClr val="dk1"/>
              </a:solidFill>
              <a:latin typeface="Calibri"/>
              <a:ea typeface="Calibri"/>
              <a:cs typeface="Calibri"/>
              <a:sym typeface="Calibri"/>
            </a:endParaRPr>
          </a:p>
        </p:txBody>
      </p:sp>
      <p:sp>
        <p:nvSpPr>
          <p:cNvPr id="769" name="Google Shape;769;p31"/>
          <p:cNvSpPr/>
          <p:nvPr/>
        </p:nvSpPr>
        <p:spPr>
          <a:xfrm>
            <a:off x="3911947" y="3904357"/>
            <a:ext cx="10777875" cy="2426791"/>
          </a:xfrm>
          <a:prstGeom prst="rect">
            <a:avLst/>
          </a:prstGeom>
          <a:noFill/>
          <a:ln>
            <a:noFill/>
          </a:ln>
        </p:spPr>
        <p:txBody>
          <a:bodyPr anchorCtr="0" anchor="t" bIns="25400" lIns="25400" spcFirstLastPara="1" rIns="25400" wrap="square" tIns="25400">
            <a:normAutofit/>
          </a:bodyPr>
          <a:lstStyle/>
          <a:p>
            <a:pPr indent="0" lvl="0" marL="0" marR="0" rtl="0" algn="l">
              <a:lnSpc>
                <a:spcPct val="95000"/>
              </a:lnSpc>
              <a:spcBef>
                <a:spcPts val="0"/>
              </a:spcBef>
              <a:spcAft>
                <a:spcPts val="0"/>
              </a:spcAft>
              <a:buClr>
                <a:srgbClr val="FFFFFF"/>
              </a:buClr>
              <a:buSzPts val="9900"/>
              <a:buFont typeface="Montserrat"/>
              <a:buNone/>
            </a:pPr>
            <a:r>
              <a:rPr b="1" lang="en-US" sz="9900">
                <a:solidFill>
                  <a:srgbClr val="FFFFFF"/>
                </a:solidFill>
                <a:latin typeface="Montserrat"/>
                <a:ea typeface="Montserrat"/>
                <a:cs typeface="Montserrat"/>
                <a:sym typeface="Montserrat"/>
              </a:rPr>
              <a:t>Take it home.</a:t>
            </a:r>
            <a:endParaRPr sz="9900">
              <a:solidFill>
                <a:schemeClr val="dk1"/>
              </a:solidFill>
              <a:latin typeface="Calibri"/>
              <a:ea typeface="Calibri"/>
              <a:cs typeface="Calibri"/>
              <a:sym typeface="Calibri"/>
            </a:endParaRPr>
          </a:p>
        </p:txBody>
      </p:sp>
      <p:sp>
        <p:nvSpPr>
          <p:cNvPr id="770" name="Google Shape;770;p31"/>
          <p:cNvSpPr/>
          <p:nvPr/>
        </p:nvSpPr>
        <p:spPr>
          <a:xfrm>
            <a:off x="3911947" y="6674048"/>
            <a:ext cx="10777875" cy="479971"/>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C9CBD1"/>
              </a:buClr>
              <a:buSzPts val="2400"/>
              <a:buFont typeface="Inter"/>
              <a:buNone/>
            </a:pPr>
            <a:r>
              <a:rPr lang="en-US" sz="2400">
                <a:solidFill>
                  <a:srgbClr val="C9CBD1"/>
                </a:solidFill>
                <a:latin typeface="Inter"/>
                <a:ea typeface="Inter"/>
                <a:cs typeface="Inter"/>
                <a:sym typeface="Inter"/>
              </a:rPr>
              <a:t>Concrete things to do this week, before the energy from today wears off.</a:t>
            </a:r>
            <a:endParaRPr sz="2400">
              <a:solidFill>
                <a:schemeClr val="dk1"/>
              </a:solidFill>
              <a:latin typeface="Calibri"/>
              <a:ea typeface="Calibri"/>
              <a:cs typeface="Calibri"/>
              <a:sym typeface="Calibri"/>
            </a:endParaRPr>
          </a:p>
        </p:txBody>
      </p:sp>
      <p:sp>
        <p:nvSpPr>
          <p:cNvPr id="771" name="Google Shape;771;p31"/>
          <p:cNvSpPr/>
          <p:nvPr/>
        </p:nvSpPr>
        <p:spPr>
          <a:xfrm>
            <a:off x="15031492" y="3643313"/>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72" name="Google Shape;772;p31"/>
          <p:cNvSpPr/>
          <p:nvPr/>
        </p:nvSpPr>
        <p:spPr>
          <a:xfrm>
            <a:off x="15279142" y="3552825"/>
            <a:ext cx="2222153"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01 · Why Context</a:t>
            </a:r>
            <a:endParaRPr sz="1800">
              <a:solidFill>
                <a:schemeClr val="dk1"/>
              </a:solidFill>
              <a:latin typeface="Calibri"/>
              <a:ea typeface="Calibri"/>
              <a:cs typeface="Calibri"/>
              <a:sym typeface="Calibri"/>
            </a:endParaRPr>
          </a:p>
        </p:txBody>
      </p:sp>
      <p:sp>
        <p:nvSpPr>
          <p:cNvPr id="773" name="Google Shape;773;p31"/>
          <p:cNvSpPr/>
          <p:nvPr/>
        </p:nvSpPr>
        <p:spPr>
          <a:xfrm>
            <a:off x="15031492" y="4224338"/>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74" name="Google Shape;774;p31"/>
          <p:cNvSpPr/>
          <p:nvPr/>
        </p:nvSpPr>
        <p:spPr>
          <a:xfrm>
            <a:off x="15279142" y="4133850"/>
            <a:ext cx="2069306"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02 · Four Pillars</a:t>
            </a:r>
            <a:endParaRPr sz="1800">
              <a:solidFill>
                <a:schemeClr val="dk1"/>
              </a:solidFill>
              <a:latin typeface="Calibri"/>
              <a:ea typeface="Calibri"/>
              <a:cs typeface="Calibri"/>
              <a:sym typeface="Calibri"/>
            </a:endParaRPr>
          </a:p>
        </p:txBody>
      </p:sp>
      <p:sp>
        <p:nvSpPr>
          <p:cNvPr id="775" name="Google Shape;775;p31"/>
          <p:cNvSpPr/>
          <p:nvPr/>
        </p:nvSpPr>
        <p:spPr>
          <a:xfrm>
            <a:off x="15031492" y="4805363"/>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76" name="Google Shape;776;p31"/>
          <p:cNvSpPr/>
          <p:nvPr/>
        </p:nvSpPr>
        <p:spPr>
          <a:xfrm>
            <a:off x="15279142" y="4714875"/>
            <a:ext cx="1765995"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03 · Anatomy</a:t>
            </a:r>
            <a:endParaRPr sz="1800">
              <a:solidFill>
                <a:schemeClr val="dk1"/>
              </a:solidFill>
              <a:latin typeface="Calibri"/>
              <a:ea typeface="Calibri"/>
              <a:cs typeface="Calibri"/>
              <a:sym typeface="Calibri"/>
            </a:endParaRPr>
          </a:p>
        </p:txBody>
      </p:sp>
      <p:sp>
        <p:nvSpPr>
          <p:cNvPr id="777" name="Google Shape;777;p31"/>
          <p:cNvSpPr/>
          <p:nvPr/>
        </p:nvSpPr>
        <p:spPr>
          <a:xfrm>
            <a:off x="15031492" y="5386388"/>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78" name="Google Shape;778;p31"/>
          <p:cNvSpPr/>
          <p:nvPr/>
        </p:nvSpPr>
        <p:spPr>
          <a:xfrm>
            <a:off x="15279142" y="5295900"/>
            <a:ext cx="2005310"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04 · Grounding</a:t>
            </a:r>
            <a:endParaRPr sz="1800">
              <a:solidFill>
                <a:schemeClr val="dk1"/>
              </a:solidFill>
              <a:latin typeface="Calibri"/>
              <a:ea typeface="Calibri"/>
              <a:cs typeface="Calibri"/>
              <a:sym typeface="Calibri"/>
            </a:endParaRPr>
          </a:p>
        </p:txBody>
      </p:sp>
      <p:sp>
        <p:nvSpPr>
          <p:cNvPr id="779" name="Google Shape;779;p31"/>
          <p:cNvSpPr/>
          <p:nvPr/>
        </p:nvSpPr>
        <p:spPr>
          <a:xfrm>
            <a:off x="15031492" y="5967413"/>
            <a:ext cx="95250" cy="95250"/>
          </a:xfrm>
          <a:prstGeom prst="ellipse">
            <a:avLst/>
          </a:prstGeom>
          <a:solidFill>
            <a:srgbClr val="FFFFFF">
              <a:alpha val="2509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0" name="Google Shape;780;p31"/>
          <p:cNvSpPr/>
          <p:nvPr/>
        </p:nvSpPr>
        <p:spPr>
          <a:xfrm>
            <a:off x="15279142" y="5876925"/>
            <a:ext cx="1503015"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FFFFFF"/>
              </a:buClr>
              <a:buSzPts val="1800"/>
              <a:buFont typeface="Montserrat"/>
              <a:buNone/>
            </a:pPr>
            <a:r>
              <a:rPr b="1" lang="en-US" sz="1800">
                <a:solidFill>
                  <a:srgbClr val="FFFFFF"/>
                </a:solidFill>
                <a:latin typeface="Montserrat"/>
                <a:ea typeface="Montserrat"/>
                <a:cs typeface="Montserrat"/>
                <a:sym typeface="Montserrat"/>
              </a:rPr>
              <a:t>05 · Pitfalls</a:t>
            </a:r>
            <a:endParaRPr sz="1800">
              <a:solidFill>
                <a:schemeClr val="dk1"/>
              </a:solidFill>
              <a:latin typeface="Calibri"/>
              <a:ea typeface="Calibri"/>
              <a:cs typeface="Calibri"/>
              <a:sym typeface="Calibri"/>
            </a:endParaRPr>
          </a:p>
        </p:txBody>
      </p:sp>
      <p:sp>
        <p:nvSpPr>
          <p:cNvPr id="781" name="Google Shape;781;p31"/>
          <p:cNvSpPr/>
          <p:nvPr/>
        </p:nvSpPr>
        <p:spPr>
          <a:xfrm>
            <a:off x="15031492" y="6548438"/>
            <a:ext cx="95250" cy="95250"/>
          </a:xfrm>
          <a:prstGeom prst="ellipse">
            <a:avLst/>
          </a:prstGeom>
          <a:solidFill>
            <a:srgbClr val="3FE0D0"/>
          </a:solidFill>
          <a:ln>
            <a:noFill/>
          </a:ln>
          <a:effectLst>
            <a:outerShdw blurRad="190500" rotWithShape="0" algn="bl" dir="16200000" dist="50800">
              <a:srgbClr val="3FE0D0"/>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2" name="Google Shape;782;p31"/>
          <p:cNvSpPr/>
          <p:nvPr/>
        </p:nvSpPr>
        <p:spPr>
          <a:xfrm>
            <a:off x="15279142" y="6457950"/>
            <a:ext cx="2323058" cy="314325"/>
          </a:xfrm>
          <a:prstGeom prst="rect">
            <a:avLst/>
          </a:prstGeom>
          <a:noFill/>
          <a:ln>
            <a:noFill/>
          </a:ln>
        </p:spPr>
        <p:txBody>
          <a:bodyPr anchorCtr="0" anchor="t" bIns="0" lIns="0" spcFirstLastPara="1" rIns="0" wrap="square" tIns="0">
            <a:normAutofit/>
          </a:bodyPr>
          <a:lstStyle/>
          <a:p>
            <a:pPr indent="0" lvl="0" marL="0" marR="0" rtl="0" algn="l">
              <a:spcBef>
                <a:spcPts val="0"/>
              </a:spcBef>
              <a:spcAft>
                <a:spcPts val="0"/>
              </a:spcAft>
              <a:buClr>
                <a:srgbClr val="3FE0D0"/>
              </a:buClr>
              <a:buSzPts val="1800"/>
              <a:buFont typeface="Montserrat"/>
              <a:buNone/>
            </a:pPr>
            <a:r>
              <a:rPr b="1" lang="en-US" sz="1800">
                <a:solidFill>
                  <a:srgbClr val="3FE0D0"/>
                </a:solidFill>
                <a:latin typeface="Montserrat"/>
                <a:ea typeface="Montserrat"/>
                <a:cs typeface="Montserrat"/>
                <a:sym typeface="Montserrat"/>
              </a:rPr>
              <a:t>06 · Take It Home</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7" name="Shape 787"/>
        <p:cNvGrpSpPr/>
        <p:nvPr/>
      </p:nvGrpSpPr>
      <p:grpSpPr>
        <a:xfrm>
          <a:off x="0" y="0"/>
          <a:ext cx="0" cy="0"/>
          <a:chOff x="0" y="0"/>
          <a:chExt cx="0" cy="0"/>
        </a:xfrm>
      </p:grpSpPr>
      <p:sp>
        <p:nvSpPr>
          <p:cNvPr id="788" name="Google Shape;788;p32"/>
          <p:cNvSpPr/>
          <p:nvPr/>
        </p:nvSpPr>
        <p:spPr>
          <a:xfrm>
            <a:off x="952500" y="952500"/>
            <a:ext cx="16874490" cy="342900"/>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F58220"/>
              </a:buClr>
              <a:buSzPts val="1950"/>
              <a:buFont typeface="Montserrat"/>
              <a:buNone/>
            </a:pPr>
            <a:r>
              <a:rPr b="1" lang="en-US" sz="1950">
                <a:solidFill>
                  <a:srgbClr val="F58220"/>
                </a:solidFill>
                <a:latin typeface="Montserrat"/>
                <a:ea typeface="Montserrat"/>
                <a:cs typeface="Montserrat"/>
                <a:sym typeface="Montserrat"/>
              </a:rPr>
              <a:t>A 7-DAY PLAN</a:t>
            </a:r>
            <a:endParaRPr sz="1950">
              <a:solidFill>
                <a:schemeClr val="dk1"/>
              </a:solidFill>
              <a:latin typeface="Calibri"/>
              <a:ea typeface="Calibri"/>
              <a:cs typeface="Calibri"/>
              <a:sym typeface="Calibri"/>
            </a:endParaRPr>
          </a:p>
        </p:txBody>
      </p:sp>
      <p:sp>
        <p:nvSpPr>
          <p:cNvPr id="789" name="Google Shape;789;p32"/>
          <p:cNvSpPr/>
          <p:nvPr/>
        </p:nvSpPr>
        <p:spPr>
          <a:xfrm>
            <a:off x="952500" y="1447800"/>
            <a:ext cx="16874490" cy="798165"/>
          </a:xfrm>
          <a:prstGeom prst="rect">
            <a:avLst/>
          </a:prstGeom>
          <a:noFill/>
          <a:ln>
            <a:noFill/>
          </a:ln>
        </p:spPr>
        <p:txBody>
          <a:bodyPr anchorCtr="0" anchor="t" bIns="25400" lIns="25400" spcFirstLastPara="1" rIns="25400" wrap="square" tIns="25400">
            <a:normAutofit/>
          </a:bodyPr>
          <a:lstStyle/>
          <a:p>
            <a:pPr indent="0" lvl="0" marL="0" marR="0" rtl="0" algn="l">
              <a:lnSpc>
                <a:spcPct val="105000"/>
              </a:lnSpc>
              <a:spcBef>
                <a:spcPts val="0"/>
              </a:spcBef>
              <a:spcAft>
                <a:spcPts val="0"/>
              </a:spcAft>
              <a:buClr>
                <a:srgbClr val="2A2D38"/>
              </a:buClr>
              <a:buSzPts val="5700"/>
              <a:buFont typeface="Montserrat"/>
              <a:buNone/>
            </a:pPr>
            <a:r>
              <a:rPr b="1" lang="en-US" sz="5700">
                <a:solidFill>
                  <a:srgbClr val="2A2D38"/>
                </a:solidFill>
                <a:latin typeface="Montserrat"/>
                <a:ea typeface="Montserrat"/>
                <a:cs typeface="Montserrat"/>
                <a:sym typeface="Montserrat"/>
              </a:rPr>
              <a:t>Your next seven days.</a:t>
            </a:r>
            <a:endParaRPr sz="5700">
              <a:solidFill>
                <a:schemeClr val="dk1"/>
              </a:solidFill>
              <a:latin typeface="Calibri"/>
              <a:ea typeface="Calibri"/>
              <a:cs typeface="Calibri"/>
              <a:sym typeface="Calibri"/>
            </a:endParaRPr>
          </a:p>
        </p:txBody>
      </p:sp>
      <p:sp>
        <p:nvSpPr>
          <p:cNvPr id="790" name="Google Shape;790;p32"/>
          <p:cNvSpPr/>
          <p:nvPr/>
        </p:nvSpPr>
        <p:spPr>
          <a:xfrm>
            <a:off x="952500" y="2398365"/>
            <a:ext cx="13735050" cy="491430"/>
          </a:xfrm>
          <a:prstGeom prst="rect">
            <a:avLst/>
          </a:prstGeom>
          <a:noFill/>
          <a:ln>
            <a:noFill/>
          </a:ln>
        </p:spPr>
        <p:txBody>
          <a:bodyPr anchorCtr="0" anchor="t" bIns="25400" lIns="25400" spcFirstLastPara="1" rIns="25400" wrap="square" tIns="25400">
            <a:normAutofit/>
          </a:bodyPr>
          <a:lstStyle/>
          <a:p>
            <a:pPr indent="0" lvl="0" marL="0" marR="0" rtl="0" algn="l">
              <a:lnSpc>
                <a:spcPct val="140000"/>
              </a:lnSpc>
              <a:spcBef>
                <a:spcPts val="0"/>
              </a:spcBef>
              <a:spcAft>
                <a:spcPts val="0"/>
              </a:spcAft>
              <a:buClr>
                <a:srgbClr val="6B6E78"/>
              </a:buClr>
              <a:buSzPts val="2550"/>
              <a:buFont typeface="Inter"/>
              <a:buNone/>
            </a:pPr>
            <a:r>
              <a:rPr lang="en-US" sz="2550">
                <a:solidFill>
                  <a:srgbClr val="6B6E78"/>
                </a:solidFill>
                <a:latin typeface="Inter"/>
                <a:ea typeface="Inter"/>
                <a:cs typeface="Inter"/>
                <a:sym typeface="Inter"/>
              </a:rPr>
              <a:t>Don't try to "implement AI." Pick one workflow. Engineer the context for it. Ship it.</a:t>
            </a:r>
            <a:endParaRPr sz="2550">
              <a:solidFill>
                <a:schemeClr val="dk1"/>
              </a:solidFill>
              <a:latin typeface="Calibri"/>
              <a:ea typeface="Calibri"/>
              <a:cs typeface="Calibri"/>
              <a:sym typeface="Calibri"/>
            </a:endParaRPr>
          </a:p>
        </p:txBody>
      </p:sp>
      <p:sp>
        <p:nvSpPr>
          <p:cNvPr id="791" name="Google Shape;791;p32"/>
          <p:cNvSpPr/>
          <p:nvPr/>
        </p:nvSpPr>
        <p:spPr>
          <a:xfrm>
            <a:off x="952500" y="3537496"/>
            <a:ext cx="16383000" cy="1398240"/>
          </a:xfrm>
          <a:prstGeom prst="roundRect">
            <a:avLst>
              <a:gd fmla="val 9537" name="adj"/>
            </a:avLst>
          </a:prstGeom>
          <a:solidFill>
            <a:srgbClr val="F7F5F1"/>
          </a:solidFill>
          <a:ln cap="flat" cmpd="sng" w="9525">
            <a:solidFill>
              <a:srgbClr val="E5E5E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92" name="Google Shape;792;p32"/>
          <p:cNvSpPr/>
          <p:nvPr/>
        </p:nvSpPr>
        <p:spPr>
          <a:xfrm>
            <a:off x="1266825" y="3775621"/>
            <a:ext cx="1028700" cy="571500"/>
          </a:xfrm>
          <a:prstGeom prst="rect">
            <a:avLst/>
          </a:prstGeom>
          <a:noFill/>
          <a:ln>
            <a:noFill/>
          </a:ln>
        </p:spPr>
        <p:txBody>
          <a:bodyPr anchorCtr="0" anchor="t" bIns="25400" lIns="25400" spcFirstLastPara="1" rIns="25400" wrap="square" tIns="25400">
            <a:normAutofit/>
          </a:bodyPr>
          <a:lstStyle/>
          <a:p>
            <a:pPr indent="0" lvl="0" marL="0" marR="0" rtl="0" algn="l">
              <a:lnSpc>
                <a:spcPct val="100000"/>
              </a:lnSpc>
              <a:spcBef>
                <a:spcPts val="0"/>
              </a:spcBef>
              <a:spcAft>
                <a:spcPts val="0"/>
              </a:spcAft>
              <a:buClr>
                <a:srgbClr val="F58220"/>
              </a:buClr>
              <a:buSzPts val="4200"/>
              <a:buFont typeface="Montserrat"/>
              <a:buNone/>
            </a:pPr>
            <a:r>
              <a:rPr b="1" lang="en-US" sz="4200">
                <a:solidFill>
                  <a:srgbClr val="F58220"/>
                </a:solidFill>
                <a:latin typeface="Montserrat"/>
                <a:ea typeface="Montserrat"/>
                <a:cs typeface="Montserrat"/>
                <a:sym typeface="Montserrat"/>
              </a:rPr>
              <a:t>01</a:t>
            </a:r>
            <a:endParaRPr sz="4200">
              <a:solidFill>
                <a:schemeClr val="dk1"/>
              </a:solidFill>
              <a:latin typeface="Calibri"/>
              <a:ea typeface="Calibri"/>
              <a:cs typeface="Calibri"/>
              <a:sym typeface="Calibri"/>
            </a:endParaRPr>
          </a:p>
        </p:txBody>
      </p:sp>
      <p:sp>
        <p:nvSpPr>
          <p:cNvPr id="793" name="Google Shape;793;p32"/>
          <p:cNvSpPr/>
          <p:nvPr/>
        </p:nvSpPr>
        <p:spPr>
          <a:xfrm>
            <a:off x="2524125" y="3937546"/>
            <a:ext cx="14931961" cy="4095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400"/>
              <a:buFont typeface="Montserrat"/>
              <a:buNone/>
            </a:pPr>
            <a:r>
              <a:rPr b="1" lang="en-US" sz="2400">
                <a:solidFill>
                  <a:srgbClr val="2A2D38"/>
                </a:solidFill>
                <a:latin typeface="Montserrat"/>
                <a:ea typeface="Montserrat"/>
                <a:cs typeface="Montserrat"/>
                <a:sym typeface="Montserrat"/>
              </a:rPr>
              <a:t>Pick one workflow your team does every week.</a:t>
            </a:r>
            <a:endParaRPr sz="2400">
              <a:solidFill>
                <a:schemeClr val="dk1"/>
              </a:solidFill>
              <a:latin typeface="Calibri"/>
              <a:ea typeface="Calibri"/>
              <a:cs typeface="Calibri"/>
              <a:sym typeface="Calibri"/>
            </a:endParaRPr>
          </a:p>
        </p:txBody>
      </p:sp>
      <p:sp>
        <p:nvSpPr>
          <p:cNvPr id="794" name="Google Shape;794;p32"/>
          <p:cNvSpPr/>
          <p:nvPr/>
        </p:nvSpPr>
        <p:spPr>
          <a:xfrm>
            <a:off x="2524125" y="4366171"/>
            <a:ext cx="14931961" cy="36954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Sermon recap email, volunteer reminder, event blurb. Boring is good — reps matter.</a:t>
            </a:r>
            <a:endParaRPr sz="1800">
              <a:solidFill>
                <a:schemeClr val="dk1"/>
              </a:solidFill>
              <a:latin typeface="Calibri"/>
              <a:ea typeface="Calibri"/>
              <a:cs typeface="Calibri"/>
              <a:sym typeface="Calibri"/>
            </a:endParaRPr>
          </a:p>
        </p:txBody>
      </p:sp>
      <p:sp>
        <p:nvSpPr>
          <p:cNvPr id="795" name="Google Shape;795;p32"/>
          <p:cNvSpPr/>
          <p:nvPr/>
        </p:nvSpPr>
        <p:spPr>
          <a:xfrm>
            <a:off x="952500" y="5107186"/>
            <a:ext cx="16383000" cy="1398240"/>
          </a:xfrm>
          <a:prstGeom prst="roundRect">
            <a:avLst>
              <a:gd fmla="val 9537" name="adj"/>
            </a:avLst>
          </a:prstGeom>
          <a:solidFill>
            <a:srgbClr val="F7F5F1"/>
          </a:solidFill>
          <a:ln cap="flat" cmpd="sng" w="9525">
            <a:solidFill>
              <a:srgbClr val="E5E5E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96" name="Google Shape;796;p32"/>
          <p:cNvSpPr/>
          <p:nvPr/>
        </p:nvSpPr>
        <p:spPr>
          <a:xfrm>
            <a:off x="1266825" y="5345311"/>
            <a:ext cx="1028700" cy="571500"/>
          </a:xfrm>
          <a:prstGeom prst="rect">
            <a:avLst/>
          </a:prstGeom>
          <a:noFill/>
          <a:ln>
            <a:noFill/>
          </a:ln>
        </p:spPr>
        <p:txBody>
          <a:bodyPr anchorCtr="0" anchor="t" bIns="25400" lIns="25400" spcFirstLastPara="1" rIns="25400" wrap="square" tIns="25400">
            <a:normAutofit/>
          </a:bodyPr>
          <a:lstStyle/>
          <a:p>
            <a:pPr indent="0" lvl="0" marL="0" marR="0" rtl="0" algn="l">
              <a:lnSpc>
                <a:spcPct val="100000"/>
              </a:lnSpc>
              <a:spcBef>
                <a:spcPts val="0"/>
              </a:spcBef>
              <a:spcAft>
                <a:spcPts val="0"/>
              </a:spcAft>
              <a:buClr>
                <a:srgbClr val="F58220"/>
              </a:buClr>
              <a:buSzPts val="4200"/>
              <a:buFont typeface="Montserrat"/>
              <a:buNone/>
            </a:pPr>
            <a:r>
              <a:rPr b="1" lang="en-US" sz="4200">
                <a:solidFill>
                  <a:srgbClr val="F58220"/>
                </a:solidFill>
                <a:latin typeface="Montserrat"/>
                <a:ea typeface="Montserrat"/>
                <a:cs typeface="Montserrat"/>
                <a:sym typeface="Montserrat"/>
              </a:rPr>
              <a:t>02</a:t>
            </a:r>
            <a:endParaRPr sz="4200">
              <a:solidFill>
                <a:schemeClr val="dk1"/>
              </a:solidFill>
              <a:latin typeface="Calibri"/>
              <a:ea typeface="Calibri"/>
              <a:cs typeface="Calibri"/>
              <a:sym typeface="Calibri"/>
            </a:endParaRPr>
          </a:p>
        </p:txBody>
      </p:sp>
      <p:sp>
        <p:nvSpPr>
          <p:cNvPr id="797" name="Google Shape;797;p32"/>
          <p:cNvSpPr/>
          <p:nvPr/>
        </p:nvSpPr>
        <p:spPr>
          <a:xfrm>
            <a:off x="2524125" y="5507236"/>
            <a:ext cx="14931961" cy="4095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400"/>
              <a:buFont typeface="Montserrat"/>
              <a:buNone/>
            </a:pPr>
            <a:r>
              <a:rPr b="1" lang="en-US" sz="2400">
                <a:solidFill>
                  <a:srgbClr val="2A2D38"/>
                </a:solidFill>
                <a:latin typeface="Montserrat"/>
                <a:ea typeface="Montserrat"/>
                <a:cs typeface="Montserrat"/>
                <a:sym typeface="Montserrat"/>
              </a:rPr>
              <a:t>Write its system prompt as Role · Task · Context · Format.</a:t>
            </a:r>
            <a:endParaRPr sz="2400">
              <a:solidFill>
                <a:schemeClr val="dk1"/>
              </a:solidFill>
              <a:latin typeface="Calibri"/>
              <a:ea typeface="Calibri"/>
              <a:cs typeface="Calibri"/>
              <a:sym typeface="Calibri"/>
            </a:endParaRPr>
          </a:p>
        </p:txBody>
      </p:sp>
      <p:sp>
        <p:nvSpPr>
          <p:cNvPr id="798" name="Google Shape;798;p32"/>
          <p:cNvSpPr/>
          <p:nvPr/>
        </p:nvSpPr>
        <p:spPr>
          <a:xfrm>
            <a:off x="2524125" y="5935861"/>
            <a:ext cx="14931961" cy="36954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Save it somewhere your team can edit it — Notion, a shared doc, a custom GPT.</a:t>
            </a:r>
            <a:endParaRPr sz="1800">
              <a:solidFill>
                <a:schemeClr val="dk1"/>
              </a:solidFill>
              <a:latin typeface="Calibri"/>
              <a:ea typeface="Calibri"/>
              <a:cs typeface="Calibri"/>
              <a:sym typeface="Calibri"/>
            </a:endParaRPr>
          </a:p>
        </p:txBody>
      </p:sp>
      <p:sp>
        <p:nvSpPr>
          <p:cNvPr id="799" name="Google Shape;799;p32"/>
          <p:cNvSpPr/>
          <p:nvPr/>
        </p:nvSpPr>
        <p:spPr>
          <a:xfrm>
            <a:off x="952500" y="6676876"/>
            <a:ext cx="16383000" cy="1398240"/>
          </a:xfrm>
          <a:prstGeom prst="roundRect">
            <a:avLst>
              <a:gd fmla="val 9537" name="adj"/>
            </a:avLst>
          </a:prstGeom>
          <a:solidFill>
            <a:srgbClr val="F7F5F1"/>
          </a:solidFill>
          <a:ln cap="flat" cmpd="sng" w="9525">
            <a:solidFill>
              <a:srgbClr val="E5E5E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00" name="Google Shape;800;p32"/>
          <p:cNvSpPr/>
          <p:nvPr/>
        </p:nvSpPr>
        <p:spPr>
          <a:xfrm>
            <a:off x="1266825" y="6915001"/>
            <a:ext cx="1028700" cy="571500"/>
          </a:xfrm>
          <a:prstGeom prst="rect">
            <a:avLst/>
          </a:prstGeom>
          <a:noFill/>
          <a:ln>
            <a:noFill/>
          </a:ln>
        </p:spPr>
        <p:txBody>
          <a:bodyPr anchorCtr="0" anchor="t" bIns="25400" lIns="25400" spcFirstLastPara="1" rIns="25400" wrap="square" tIns="25400">
            <a:normAutofit/>
          </a:bodyPr>
          <a:lstStyle/>
          <a:p>
            <a:pPr indent="0" lvl="0" marL="0" marR="0" rtl="0" algn="l">
              <a:lnSpc>
                <a:spcPct val="100000"/>
              </a:lnSpc>
              <a:spcBef>
                <a:spcPts val="0"/>
              </a:spcBef>
              <a:spcAft>
                <a:spcPts val="0"/>
              </a:spcAft>
              <a:buClr>
                <a:srgbClr val="F58220"/>
              </a:buClr>
              <a:buSzPts val="4200"/>
              <a:buFont typeface="Montserrat"/>
              <a:buNone/>
            </a:pPr>
            <a:r>
              <a:rPr b="1" lang="en-US" sz="4200">
                <a:solidFill>
                  <a:srgbClr val="F58220"/>
                </a:solidFill>
                <a:latin typeface="Montserrat"/>
                <a:ea typeface="Montserrat"/>
                <a:cs typeface="Montserrat"/>
                <a:sym typeface="Montserrat"/>
              </a:rPr>
              <a:t>03</a:t>
            </a:r>
            <a:endParaRPr sz="4200">
              <a:solidFill>
                <a:schemeClr val="dk1"/>
              </a:solidFill>
              <a:latin typeface="Calibri"/>
              <a:ea typeface="Calibri"/>
              <a:cs typeface="Calibri"/>
              <a:sym typeface="Calibri"/>
            </a:endParaRPr>
          </a:p>
        </p:txBody>
      </p:sp>
      <p:sp>
        <p:nvSpPr>
          <p:cNvPr id="801" name="Google Shape;801;p32"/>
          <p:cNvSpPr/>
          <p:nvPr/>
        </p:nvSpPr>
        <p:spPr>
          <a:xfrm>
            <a:off x="2524125" y="7076926"/>
            <a:ext cx="14931961" cy="4095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400"/>
              <a:buFont typeface="Montserrat"/>
              <a:buNone/>
            </a:pPr>
            <a:r>
              <a:rPr b="1" lang="en-US" sz="2400">
                <a:solidFill>
                  <a:srgbClr val="2A2D38"/>
                </a:solidFill>
                <a:latin typeface="Montserrat"/>
                <a:ea typeface="Montserrat"/>
                <a:cs typeface="Montserrat"/>
                <a:sym typeface="Montserrat"/>
              </a:rPr>
              <a:t>Attach the 3 documents the model needs to sound like you.</a:t>
            </a:r>
            <a:endParaRPr sz="2400">
              <a:solidFill>
                <a:schemeClr val="dk1"/>
              </a:solidFill>
              <a:latin typeface="Calibri"/>
              <a:ea typeface="Calibri"/>
              <a:cs typeface="Calibri"/>
              <a:sym typeface="Calibri"/>
            </a:endParaRPr>
          </a:p>
        </p:txBody>
      </p:sp>
      <p:sp>
        <p:nvSpPr>
          <p:cNvPr id="802" name="Google Shape;802;p32"/>
          <p:cNvSpPr/>
          <p:nvPr/>
        </p:nvSpPr>
        <p:spPr>
          <a:xfrm>
            <a:off x="2524125" y="7505551"/>
            <a:ext cx="14931961" cy="36954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Recent newsletter, mission doc, and one example of the output you wish you could get.</a:t>
            </a:r>
            <a:endParaRPr sz="1800">
              <a:solidFill>
                <a:schemeClr val="dk1"/>
              </a:solidFill>
              <a:latin typeface="Calibri"/>
              <a:ea typeface="Calibri"/>
              <a:cs typeface="Calibri"/>
              <a:sym typeface="Calibri"/>
            </a:endParaRPr>
          </a:p>
        </p:txBody>
      </p:sp>
      <p:sp>
        <p:nvSpPr>
          <p:cNvPr id="803" name="Google Shape;803;p32"/>
          <p:cNvSpPr/>
          <p:nvPr/>
        </p:nvSpPr>
        <p:spPr>
          <a:xfrm>
            <a:off x="952500" y="8246566"/>
            <a:ext cx="16383000" cy="1398240"/>
          </a:xfrm>
          <a:prstGeom prst="roundRect">
            <a:avLst>
              <a:gd fmla="val 9537" name="adj"/>
            </a:avLst>
          </a:prstGeom>
          <a:solidFill>
            <a:srgbClr val="F7F5F1"/>
          </a:solidFill>
          <a:ln cap="flat" cmpd="sng" w="9525">
            <a:solidFill>
              <a:srgbClr val="E5E5E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04" name="Google Shape;804;p32"/>
          <p:cNvSpPr/>
          <p:nvPr/>
        </p:nvSpPr>
        <p:spPr>
          <a:xfrm>
            <a:off x="1266825" y="8484691"/>
            <a:ext cx="1028700" cy="571500"/>
          </a:xfrm>
          <a:prstGeom prst="rect">
            <a:avLst/>
          </a:prstGeom>
          <a:noFill/>
          <a:ln>
            <a:noFill/>
          </a:ln>
        </p:spPr>
        <p:txBody>
          <a:bodyPr anchorCtr="0" anchor="t" bIns="25400" lIns="25400" spcFirstLastPara="1" rIns="25400" wrap="square" tIns="25400">
            <a:normAutofit/>
          </a:bodyPr>
          <a:lstStyle/>
          <a:p>
            <a:pPr indent="0" lvl="0" marL="0" marR="0" rtl="0" algn="l">
              <a:lnSpc>
                <a:spcPct val="100000"/>
              </a:lnSpc>
              <a:spcBef>
                <a:spcPts val="0"/>
              </a:spcBef>
              <a:spcAft>
                <a:spcPts val="0"/>
              </a:spcAft>
              <a:buClr>
                <a:srgbClr val="F58220"/>
              </a:buClr>
              <a:buSzPts val="4200"/>
              <a:buFont typeface="Montserrat"/>
              <a:buNone/>
            </a:pPr>
            <a:r>
              <a:rPr b="1" lang="en-US" sz="4200">
                <a:solidFill>
                  <a:srgbClr val="F58220"/>
                </a:solidFill>
                <a:latin typeface="Montserrat"/>
                <a:ea typeface="Montserrat"/>
                <a:cs typeface="Montserrat"/>
                <a:sym typeface="Montserrat"/>
              </a:rPr>
              <a:t>04</a:t>
            </a:r>
            <a:endParaRPr sz="4200">
              <a:solidFill>
                <a:schemeClr val="dk1"/>
              </a:solidFill>
              <a:latin typeface="Calibri"/>
              <a:ea typeface="Calibri"/>
              <a:cs typeface="Calibri"/>
              <a:sym typeface="Calibri"/>
            </a:endParaRPr>
          </a:p>
        </p:txBody>
      </p:sp>
      <p:sp>
        <p:nvSpPr>
          <p:cNvPr id="805" name="Google Shape;805;p32"/>
          <p:cNvSpPr/>
          <p:nvPr/>
        </p:nvSpPr>
        <p:spPr>
          <a:xfrm>
            <a:off x="2524125" y="8646616"/>
            <a:ext cx="14931961" cy="409575"/>
          </a:xfrm>
          <a:prstGeom prst="rect">
            <a:avLst/>
          </a:prstGeom>
          <a:noFill/>
          <a:ln>
            <a:noFill/>
          </a:ln>
        </p:spPr>
        <p:txBody>
          <a:bodyPr anchorCtr="0" anchor="t" bIns="25400" lIns="25400" spcFirstLastPara="1" rIns="25400" wrap="square" tIns="25400">
            <a:normAutofit/>
          </a:bodyPr>
          <a:lstStyle/>
          <a:p>
            <a:pPr indent="0" lvl="0" marL="0" marR="0" rtl="0" algn="l">
              <a:spcBef>
                <a:spcPts val="0"/>
              </a:spcBef>
              <a:spcAft>
                <a:spcPts val="0"/>
              </a:spcAft>
              <a:buClr>
                <a:srgbClr val="2A2D38"/>
              </a:buClr>
              <a:buSzPts val="2400"/>
              <a:buFont typeface="Montserrat"/>
              <a:buNone/>
            </a:pPr>
            <a:r>
              <a:rPr b="1" lang="en-US" sz="2400">
                <a:solidFill>
                  <a:srgbClr val="2A2D38"/>
                </a:solidFill>
                <a:latin typeface="Montserrat"/>
                <a:ea typeface="Montserrat"/>
                <a:cs typeface="Montserrat"/>
                <a:sym typeface="Montserrat"/>
              </a:rPr>
              <a:t>Use it twice. Refine after each use.</a:t>
            </a:r>
            <a:endParaRPr sz="2400">
              <a:solidFill>
                <a:schemeClr val="dk1"/>
              </a:solidFill>
              <a:latin typeface="Calibri"/>
              <a:ea typeface="Calibri"/>
              <a:cs typeface="Calibri"/>
              <a:sym typeface="Calibri"/>
            </a:endParaRPr>
          </a:p>
        </p:txBody>
      </p:sp>
      <p:sp>
        <p:nvSpPr>
          <p:cNvPr id="806" name="Google Shape;806;p32"/>
          <p:cNvSpPr/>
          <p:nvPr/>
        </p:nvSpPr>
        <p:spPr>
          <a:xfrm>
            <a:off x="2524125" y="9075241"/>
            <a:ext cx="14931961" cy="369540"/>
          </a:xfrm>
          <a:prstGeom prst="rect">
            <a:avLst/>
          </a:prstGeom>
          <a:noFill/>
          <a:ln>
            <a:noFill/>
          </a:ln>
        </p:spPr>
        <p:txBody>
          <a:bodyPr anchorCtr="0" anchor="t" bIns="25400" lIns="25400" spcFirstLastPara="1" rIns="25400" wrap="square" tIns="25400">
            <a:normAutofit/>
          </a:bodyPr>
          <a:lstStyle/>
          <a:p>
            <a:pPr indent="0" lvl="0" marL="0" marR="0" rtl="0" algn="l">
              <a:lnSpc>
                <a:spcPct val="145000"/>
              </a:lnSpc>
              <a:spcBef>
                <a:spcPts val="0"/>
              </a:spcBef>
              <a:spcAft>
                <a:spcPts val="0"/>
              </a:spcAft>
              <a:buClr>
                <a:srgbClr val="6B6E78"/>
              </a:buClr>
              <a:buSzPts val="1800"/>
              <a:buFont typeface="Inter"/>
              <a:buNone/>
            </a:pPr>
            <a:r>
              <a:rPr lang="en-US" sz="1800">
                <a:solidFill>
                  <a:srgbClr val="6B6E78"/>
                </a:solidFill>
                <a:latin typeface="Inter"/>
                <a:ea typeface="Inter"/>
                <a:cs typeface="Inter"/>
                <a:sym typeface="Inter"/>
              </a:rPr>
              <a:t>Every edit you make to the output becomes a new line in the brief. The brief gets better forever.</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161C"/>
        </a:solidFill>
      </p:bgPr>
    </p:bg>
    <p:spTree>
      <p:nvGrpSpPr>
        <p:cNvPr id="811" name="Shape 811"/>
        <p:cNvGrpSpPr/>
        <p:nvPr/>
      </p:nvGrpSpPr>
      <p:grpSpPr>
        <a:xfrm>
          <a:off x="0" y="0"/>
          <a:ext cx="0" cy="0"/>
          <a:chOff x="0" y="0"/>
          <a:chExt cx="0" cy="0"/>
        </a:xfrm>
      </p:grpSpPr>
      <p:sp>
        <p:nvSpPr>
          <p:cNvPr id="812" name="Google Shape;812;p33"/>
          <p:cNvSpPr/>
          <p:nvPr/>
        </p:nvSpPr>
        <p:spPr>
          <a:xfrm>
            <a:off x="0" y="0"/>
            <a:ext cx="18288000" cy="10287000"/>
          </a:xfrm>
          <a:prstGeom prst="rect">
            <a:avLst/>
          </a:prstGeom>
          <a:solidFill>
            <a:srgbClr val="14161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preencoded.png" id="813" name="Google Shape;813;p33"/>
          <p:cNvPicPr preferRelativeResize="0"/>
          <p:nvPr/>
        </p:nvPicPr>
        <p:blipFill rotWithShape="1">
          <a:blip r:embed="rId3">
            <a:alphaModFix amt="50000"/>
          </a:blip>
          <a:srcRect b="0" l="0" r="0" t="0"/>
          <a:stretch/>
        </p:blipFill>
        <p:spPr>
          <a:xfrm>
            <a:off x="0" y="0"/>
            <a:ext cx="18288000" cy="10287000"/>
          </a:xfrm>
          <a:prstGeom prst="rect">
            <a:avLst/>
          </a:prstGeom>
          <a:noFill/>
          <a:ln>
            <a:noFill/>
          </a:ln>
        </p:spPr>
      </p:pic>
      <p:pic>
        <p:nvPicPr>
          <p:cNvPr descr="preencoded.png" id="814" name="Google Shape;814;p33"/>
          <p:cNvPicPr preferRelativeResize="0"/>
          <p:nvPr/>
        </p:nvPicPr>
        <p:blipFill rotWithShape="1">
          <a:blip r:embed="rId4">
            <a:alphaModFix/>
          </a:blip>
          <a:srcRect b="0" l="0" r="0" t="0"/>
          <a:stretch/>
        </p:blipFill>
        <p:spPr>
          <a:xfrm>
            <a:off x="7429500" y="768697"/>
            <a:ext cx="3429000" cy="3429000"/>
          </a:xfrm>
          <a:prstGeom prst="rect">
            <a:avLst/>
          </a:prstGeom>
          <a:noFill/>
          <a:ln>
            <a:noFill/>
          </a:ln>
        </p:spPr>
      </p:pic>
      <p:sp>
        <p:nvSpPr>
          <p:cNvPr id="815" name="Google Shape;815;p33"/>
          <p:cNvSpPr/>
          <p:nvPr/>
        </p:nvSpPr>
        <p:spPr>
          <a:xfrm>
            <a:off x="6318504" y="4692997"/>
            <a:ext cx="5650992" cy="333375"/>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QUESTIONS &amp; CONVERSATION</a:t>
            </a:r>
            <a:endParaRPr sz="1800">
              <a:solidFill>
                <a:schemeClr val="dk1"/>
              </a:solidFill>
              <a:latin typeface="Calibri"/>
              <a:ea typeface="Calibri"/>
              <a:cs typeface="Calibri"/>
              <a:sym typeface="Calibri"/>
            </a:endParaRPr>
          </a:p>
        </p:txBody>
      </p:sp>
      <p:sp>
        <p:nvSpPr>
          <p:cNvPr id="816" name="Google Shape;816;p33"/>
          <p:cNvSpPr/>
          <p:nvPr/>
        </p:nvSpPr>
        <p:spPr>
          <a:xfrm>
            <a:off x="706755" y="5331172"/>
            <a:ext cx="16874490" cy="2644080"/>
          </a:xfrm>
          <a:prstGeom prst="rect">
            <a:avLst/>
          </a:prstGeom>
          <a:noFill/>
          <a:ln>
            <a:noFill/>
          </a:ln>
        </p:spPr>
        <p:txBody>
          <a:bodyPr anchorCtr="0" anchor="t" bIns="25400" lIns="25400" spcFirstLastPara="1" rIns="25400" wrap="square" tIns="25400">
            <a:normAutofit/>
          </a:bodyPr>
          <a:lstStyle/>
          <a:p>
            <a:pPr indent="0" lvl="0" marL="0" marR="0" rtl="0" algn="ctr">
              <a:lnSpc>
                <a:spcPct val="95000"/>
              </a:lnSpc>
              <a:spcBef>
                <a:spcPts val="0"/>
              </a:spcBef>
              <a:spcAft>
                <a:spcPts val="0"/>
              </a:spcAft>
              <a:buClr>
                <a:srgbClr val="FFFFFF"/>
              </a:buClr>
              <a:buSzPts val="10800"/>
              <a:buFont typeface="Montserrat"/>
              <a:buNone/>
            </a:pPr>
            <a:r>
              <a:rPr b="1" lang="en-US" sz="10800">
                <a:solidFill>
                  <a:srgbClr val="FFFFFF"/>
                </a:solidFill>
                <a:latin typeface="Montserrat"/>
                <a:ea typeface="Montserrat"/>
                <a:cs typeface="Montserrat"/>
                <a:sym typeface="Montserrat"/>
              </a:rPr>
              <a:t>Thank you, </a:t>
            </a:r>
            <a:r>
              <a:rPr b="1" lang="en-US" sz="10800">
                <a:solidFill>
                  <a:srgbClr val="3FE0D0"/>
                </a:solidFill>
                <a:latin typeface="Montserrat"/>
                <a:ea typeface="Montserrat"/>
                <a:cs typeface="Montserrat"/>
                <a:sym typeface="Montserrat"/>
              </a:rPr>
              <a:t>Northwoods.</a:t>
            </a:r>
            <a:endParaRPr sz="10800">
              <a:solidFill>
                <a:schemeClr val="dk1"/>
              </a:solidFill>
              <a:latin typeface="Calibri"/>
              <a:ea typeface="Calibri"/>
              <a:cs typeface="Calibri"/>
              <a:sym typeface="Calibri"/>
            </a:endParaRPr>
          </a:p>
        </p:txBody>
      </p:sp>
      <p:sp>
        <p:nvSpPr>
          <p:cNvPr id="817" name="Google Shape;817;p33"/>
          <p:cNvSpPr/>
          <p:nvPr/>
        </p:nvSpPr>
        <p:spPr>
          <a:xfrm>
            <a:off x="4559774" y="8280053"/>
            <a:ext cx="9168452" cy="409575"/>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C9CBD1"/>
              </a:buClr>
              <a:buSzPts val="2400"/>
              <a:buFont typeface="Inter"/>
              <a:buNone/>
            </a:pPr>
            <a:r>
              <a:rPr lang="en-US" sz="2400">
                <a:solidFill>
                  <a:srgbClr val="C9CBD1"/>
                </a:solidFill>
                <a:latin typeface="Inter"/>
                <a:ea typeface="Inter"/>
                <a:cs typeface="Inter"/>
                <a:sym typeface="Inter"/>
              </a:rPr>
              <a:t>Chris Kehayias · SVP AI &amp; Innovation · Church IT Network</a:t>
            </a:r>
            <a:endParaRPr sz="2400">
              <a:solidFill>
                <a:schemeClr val="dk1"/>
              </a:solidFill>
              <a:latin typeface="Calibri"/>
              <a:ea typeface="Calibri"/>
              <a:cs typeface="Calibri"/>
              <a:sym typeface="Calibri"/>
            </a:endParaRPr>
          </a:p>
        </p:txBody>
      </p:sp>
      <p:sp>
        <p:nvSpPr>
          <p:cNvPr id="818" name="Google Shape;818;p33"/>
          <p:cNvSpPr/>
          <p:nvPr/>
        </p:nvSpPr>
        <p:spPr>
          <a:xfrm>
            <a:off x="5858669" y="9223028"/>
            <a:ext cx="2684313" cy="333375"/>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#citn-ai on Discord</a:t>
            </a:r>
            <a:endParaRPr sz="1800">
              <a:solidFill>
                <a:schemeClr val="dk1"/>
              </a:solidFill>
              <a:latin typeface="Calibri"/>
              <a:ea typeface="Calibri"/>
              <a:cs typeface="Calibri"/>
              <a:sym typeface="Calibri"/>
            </a:endParaRPr>
          </a:p>
        </p:txBody>
      </p:sp>
      <p:sp>
        <p:nvSpPr>
          <p:cNvPr id="819" name="Google Shape;819;p33"/>
          <p:cNvSpPr/>
          <p:nvPr/>
        </p:nvSpPr>
        <p:spPr>
          <a:xfrm>
            <a:off x="9037290" y="9223028"/>
            <a:ext cx="213420" cy="333375"/>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a:t>
            </a:r>
            <a:endParaRPr sz="1800">
              <a:solidFill>
                <a:schemeClr val="dk1"/>
              </a:solidFill>
              <a:latin typeface="Calibri"/>
              <a:ea typeface="Calibri"/>
              <a:cs typeface="Calibri"/>
              <a:sym typeface="Calibri"/>
            </a:endParaRPr>
          </a:p>
        </p:txBody>
      </p:sp>
      <p:sp>
        <p:nvSpPr>
          <p:cNvPr id="820" name="Google Shape;820;p33"/>
          <p:cNvSpPr/>
          <p:nvPr/>
        </p:nvSpPr>
        <p:spPr>
          <a:xfrm>
            <a:off x="9745018" y="9223028"/>
            <a:ext cx="2684313" cy="333375"/>
          </a:xfrm>
          <a:prstGeom prst="rect">
            <a:avLst/>
          </a:prstGeom>
          <a:noFill/>
          <a:ln>
            <a:noFill/>
          </a:ln>
        </p:spPr>
        <p:txBody>
          <a:bodyPr anchorCtr="0" anchor="t" bIns="25400" lIns="25400" spcFirstLastPara="1" rIns="25400" wrap="square" tIns="25400">
            <a:normAutofit/>
          </a:bodyPr>
          <a:lstStyle/>
          <a:p>
            <a:pPr indent="0" lvl="0" marL="0" marR="0" rtl="0" algn="ctr">
              <a:spcBef>
                <a:spcPts val="0"/>
              </a:spcBef>
              <a:spcAft>
                <a:spcPts val="0"/>
              </a:spcAft>
              <a:buClr>
                <a:srgbClr val="3FE0D0"/>
              </a:buClr>
              <a:buSzPts val="1800"/>
              <a:buFont typeface="JetBrains Mono"/>
              <a:buNone/>
            </a:pPr>
            <a:r>
              <a:rPr lang="en-US" sz="1800">
                <a:solidFill>
                  <a:srgbClr val="3FE0D0"/>
                </a:solidFill>
                <a:latin typeface="JetBrains Mono"/>
                <a:ea typeface="JetBrains Mono"/>
                <a:cs typeface="JetBrains Mono"/>
                <a:sym typeface="JetBrains Mono"/>
              </a:rPr>
              <a:t>churchitnetwork.com</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2026-05-03T13:32:23Z</dcterms:created>
  <dc:creator>PptxGenJS</dc:creator>
</cp:coreProperties>
</file>
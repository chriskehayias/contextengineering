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5"/>
  </p:notesMasterIdLst>
  <p:sldIdLst>
    <p:sldId id="256" r:id="rId2"/>
    <p:sldId id="258" r:id="rId3"/>
    <p:sldId id="288" r:id="rId4"/>
    <p:sldId id="260" r:id="rId5"/>
    <p:sldId id="257" r:id="rId6"/>
    <p:sldId id="259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240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780954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them in. Big energy. 'AI Context Engineering — that's a long title for what's actually a really practical workshop. Over the next 90 minutes we're going to get hands-on with what makes AI useful at your church versus useless at your church.'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Brief intro — keep it under 60 seconds. 'I ship AI products for a living and I've been in the church tech world a while. Most of what I'm sharing today is what I wish someone had told me two years ago.'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B7F1E5-9D11-A8A6-F124-D090FCFBA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CC721D-1D2F-44C7-16A1-4366C99077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E3C6BB-CFC1-4BED-37B9-007565AF3A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Brief intro — keep it under 60 seconds. 'I ship AI products for a living and I've been in the church tech world a while. Most of what I'm sharing today is what I wish someone had told me two years ago.'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BE964C-E38C-E008-3407-91EA238F0BE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9223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opener. Pause. Breathe. 'Most of what looks like bad AI output is actually a context problem on our end.'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Northwoods for hosting. 'Three exercises. Bring something real from your week — that's how this gets sticky. Don't just listen. Write.'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agenda quickly. Point out: three exercises spaced through the workshop — they're working sessions, not demos. 'If you only do one of them, do exercise two.'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history. Don't dwell — the point is: we are LIVING through the moment when this skill goes from optional to essential. Land hard on 2025.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reasons prompts go wrong. Ask the room: 'Which of these have you done this week?' Most hands will go up on all three. That's the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up the central pivot of the workshop. 'Prompt engineering was about magic words. Context engineering is about the whole environment. That's the shift.'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definition slowly, twice. Let it land. This is the one sentence you want them to take home.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Speed-walk the four pillars. Don't explain deeply — that's the next four slides. Just plant the names: Instructions, Knowledge, Tools, Memory.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opener. 'Now let's actually build one of these.'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Pillar one. Stay on the example for 60 seconds. Show how three sentences of role + tone + rules collapse a thousand future edits into the prompt itself.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Pillar two. Emphasize: the model has zero context unless you give it some. 'It hasn't read your sermons. It hasn't met your people. You have to feed it.'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Pillar three. Tools. Most folks here don't ship custom tools yet — that's fine. 'But know that this is where the next 12 months goes. Read-only tools first. Earn write access.'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Pillar four. Memory. The most underrated. 'Every time you correct the model and don't write it down somewhere persistent, you'll do it again next week.'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bar chart. The point is: the context window is finite. You're an editor. Choose what gets 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opener for anatomy. Energy up — we're about to write together.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RTCF — Role, Task, Context, Format. Four lines. In that order. 'Tattoo this somewhere your team can see it.' Walk each column briefly.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bad prompt out loud. Then the good. Same minute. Same model. 'The good one took me 90 seconds longer. It saved me 20 minutes of editing. Every time.'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EXERCISE ONE. Set the timer visibly. Pair them up. Walk the room. Listen for stuck pairs — usually they don't know what 'context' to add. Help them see it's the church-specific facts.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opener. 'Now we go from generic AI to YOUR-church AI. This is the unlock.'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inventory table. Ask: 'Who has all six of these in a place a model could read them?' Almost no one. That's the homework.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RAG slide. Three steps. 'You don't need to build this from scratch — Custom GPTs and Claude Projects do it for you. But you need to know what's happening so you can debug it.'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Privacy slide — slow down here. Tone matters. 'This is stewardship. People trust us with their stories. Don't betray that for a faster email draft.'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EXERCISE TWO. The big one. 15 minutes solo. Tell them: 'When you walk out today, this is the artifact you take with you.' Walk the room. Read over shoulders.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opener. 'We're going to spend ten minutes on what goes wrong, because I want you to leave with a healthy skepticism.'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pitfalls. Hallucinations get the most attention but drift kills more workflows. Tell a quick story about a long thread that went off the rails.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When NOT to use AI. Read each one slowly. The pastoral care line is the most important. Don't apologize for the list — it's the most important slide of the 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EXERCISE THREE. Quick one. Adversarial. Show the model can self-flag if asked. This becomes their review checklist forever.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opener. We're landing the plane. 'Don't leave excited and do nothing on Monday. Pick one thing.'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four steps. Emphasize: ONE workflow. Boring is good. Reps over ambition. 'In six weeks you'll have a library of these and your team will think you're a wizard.'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Q&amp;A and thank you. Hold space for hard questions. Encourage them to find each other on Discord. End on gratitude — Northwoods, the room, the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416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52500" y="762000"/>
            <a:ext cx="125804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234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CITN</a:t>
            </a:r>
            <a:r>
              <a:rPr lang="en-US" sz="1950" b="1" kern="0" spc="234" dirty="0">
                <a:solidFill>
                  <a:srgbClr val="3FE0D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·</a:t>
            </a:r>
            <a:r>
              <a:rPr lang="en-US" sz="1950" b="1" kern="0" spc="234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</a:t>
            </a:r>
            <a:endParaRPr lang="en-US" sz="19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953500" y="-95250"/>
            <a:ext cx="10477500" cy="1047750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alphaModFix amt="50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52500" y="3388072"/>
            <a:ext cx="774941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b="1" kern="0" spc="585" dirty="0">
                <a:solidFill>
                  <a:srgbClr val="3FE0D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CHURCH IT NETWORK · WORKSHOP</a:t>
            </a:r>
            <a:endParaRPr lang="en-US" sz="1950" dirty="0"/>
          </a:p>
        </p:txBody>
      </p:sp>
      <p:sp>
        <p:nvSpPr>
          <p:cNvPr id="7" name="Text 3"/>
          <p:cNvSpPr/>
          <p:nvPr/>
        </p:nvSpPr>
        <p:spPr>
          <a:xfrm>
            <a:off x="952500" y="4035772"/>
            <a:ext cx="7749419" cy="2282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9300" b="1" kern="0" spc="-233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</a:t>
            </a:r>
            <a:r>
              <a:rPr lang="en-US" sz="9300" b="1" kern="0" spc="-233" dirty="0">
                <a:solidFill>
                  <a:srgbClr val="3FE0D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Context </a:t>
            </a:r>
            <a:r>
              <a:rPr lang="en-US" sz="9300" b="1" kern="0" spc="-233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Engineering</a:t>
            </a:r>
            <a:endParaRPr lang="en-US" sz="9300" dirty="0"/>
          </a:p>
        </p:txBody>
      </p:sp>
      <p:sp>
        <p:nvSpPr>
          <p:cNvPr id="8" name="Text 4"/>
          <p:cNvSpPr/>
          <p:nvPr/>
        </p:nvSpPr>
        <p:spPr>
          <a:xfrm>
            <a:off x="952500" y="6622703"/>
            <a:ext cx="319355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72" dirty="0">
                <a:solidFill>
                  <a:srgbClr val="C9CBD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NORTHWOODS CHURCH</a:t>
            </a:r>
            <a:endParaRPr lang="en-US" sz="1800" dirty="0"/>
          </a:p>
        </p:txBody>
      </p:sp>
      <p:sp>
        <p:nvSpPr>
          <p:cNvPr id="9" name="Shape 5"/>
          <p:cNvSpPr/>
          <p:nvPr/>
        </p:nvSpPr>
        <p:spPr>
          <a:xfrm>
            <a:off x="4357836" y="6732240"/>
            <a:ext cx="57150" cy="57150"/>
          </a:xfrm>
          <a:prstGeom prst="ellipse">
            <a:avLst/>
          </a:prstGeom>
          <a:solidFill>
            <a:srgbClr val="3FE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4719786" y="6622703"/>
            <a:ext cx="142443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72" dirty="0">
                <a:solidFill>
                  <a:srgbClr val="C9CBD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PEORIA, IL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2667000"/>
            <a:ext cx="6858000" cy="6858000"/>
          </a:xfrm>
          <a:prstGeom prst="roundRect">
            <a:avLst>
              <a:gd name="adj" fmla="val 2778"/>
            </a:avLst>
          </a:prstGeom>
          <a:solidFill>
            <a:srgbClr val="1B1D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10309" y="4705350"/>
            <a:ext cx="3442500" cy="281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0" b="1" kern="0" spc="-360" dirty="0">
                <a:solidFill>
                  <a:srgbClr val="3FE0D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CK</a:t>
            </a:r>
            <a:endParaRPr lang="en-US" sz="18000" dirty="0"/>
          </a:p>
        </p:txBody>
      </p:sp>
      <p:sp>
        <p:nvSpPr>
          <p:cNvPr id="4" name="Text 2"/>
          <p:cNvSpPr/>
          <p:nvPr/>
        </p:nvSpPr>
        <p:spPr>
          <a:xfrm>
            <a:off x="8572500" y="4130278"/>
            <a:ext cx="902589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540" dirty="0">
                <a:solidFill>
                  <a:srgbClr val="F582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SPEAKER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572500" y="4597003"/>
            <a:ext cx="902589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200" b="1" kern="0" spc="-144" dirty="0">
                <a:solidFill>
                  <a:srgbClr val="2A2D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Chris Kehayias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8584075" y="5696603"/>
            <a:ext cx="902589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kern="0" spc="96" dirty="0">
                <a:solidFill>
                  <a:srgbClr val="F5822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SVP, AI &amp; INNOVATION – ACS Technologies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69F158-38AC-4B9B-2CE4-F850DD0480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CFA9810-70B7-AABA-3C5F-A926F6EB568E}"/>
              </a:ext>
            </a:extLst>
          </p:cNvPr>
          <p:cNvSpPr/>
          <p:nvPr/>
        </p:nvSpPr>
        <p:spPr>
          <a:xfrm>
            <a:off x="952500" y="2667000"/>
            <a:ext cx="6858000" cy="6858000"/>
          </a:xfrm>
          <a:prstGeom prst="roundRect">
            <a:avLst>
              <a:gd name="adj" fmla="val 2778"/>
            </a:avLst>
          </a:prstGeom>
          <a:solidFill>
            <a:srgbClr val="1B1D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A603034-8DF1-0B0A-9D78-E8A16204B7B7}"/>
              </a:ext>
            </a:extLst>
          </p:cNvPr>
          <p:cNvSpPr/>
          <p:nvPr/>
        </p:nvSpPr>
        <p:spPr>
          <a:xfrm>
            <a:off x="2710309" y="4705350"/>
            <a:ext cx="3442500" cy="281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0" b="1" kern="0" spc="-360" dirty="0">
                <a:solidFill>
                  <a:srgbClr val="3FE0D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TL</a:t>
            </a:r>
            <a:endParaRPr lang="en-US" sz="18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024FB90-BFCF-239A-83C7-24CDC04A19B7}"/>
              </a:ext>
            </a:extLst>
          </p:cNvPr>
          <p:cNvSpPr/>
          <p:nvPr/>
        </p:nvSpPr>
        <p:spPr>
          <a:xfrm>
            <a:off x="8572500" y="4130278"/>
            <a:ext cx="902589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540" dirty="0">
                <a:solidFill>
                  <a:srgbClr val="F582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SPEAKER</a:t>
            </a:r>
            <a:endParaRPr lang="en-US" sz="18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DE11F2D-B52B-939E-5902-3BFB3B73CA1D}"/>
              </a:ext>
            </a:extLst>
          </p:cNvPr>
          <p:cNvSpPr/>
          <p:nvPr/>
        </p:nvSpPr>
        <p:spPr>
          <a:xfrm>
            <a:off x="8572500" y="4631728"/>
            <a:ext cx="902589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200" b="1" kern="0" spc="-144" dirty="0">
                <a:solidFill>
                  <a:srgbClr val="2A2D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Tripp Lisenby</a:t>
            </a:r>
            <a:endParaRPr lang="en-US" sz="72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4DEB428-0FDE-D8B1-4563-1DACC348D194}"/>
              </a:ext>
            </a:extLst>
          </p:cNvPr>
          <p:cNvSpPr/>
          <p:nvPr/>
        </p:nvSpPr>
        <p:spPr>
          <a:xfrm>
            <a:off x="8584075" y="5696603"/>
            <a:ext cx="902589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kern="0" spc="96" dirty="0">
                <a:solidFill>
                  <a:srgbClr val="F5822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Developer – ACS Technologies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9540663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B1D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343251" y="3170932"/>
            <a:ext cx="9889543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840" dirty="0">
                <a:solidFill>
                  <a:srgbClr val="3FE0D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PART 02 / 06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4343251" y="3904357"/>
            <a:ext cx="9889543" cy="24267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62500" lnSpcReduction="20000"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9900" b="1" kern="0" spc="-247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Vibe Coding vs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9900" b="1" kern="0" spc="-247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Context 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9900" b="1" kern="0" spc="-247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Engineering</a:t>
            </a:r>
            <a:endParaRPr lang="en-US" sz="9900" dirty="0"/>
          </a:p>
        </p:txBody>
      </p:sp>
      <p:sp>
        <p:nvSpPr>
          <p:cNvPr id="5" name="Text 3"/>
          <p:cNvSpPr/>
          <p:nvPr/>
        </p:nvSpPr>
        <p:spPr>
          <a:xfrm>
            <a:off x="4343251" y="6674048"/>
            <a:ext cx="9889543" cy="4799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400" dirty="0">
                <a:solidFill>
                  <a:srgbClr val="C9CB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They are not the same!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687449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429" dirty="0">
                <a:solidFill>
                  <a:srgbClr val="F5822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WELCOME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447800"/>
            <a:ext cx="16874490" cy="798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5700" b="1" kern="0" spc="-85" dirty="0">
                <a:solidFill>
                  <a:srgbClr val="2A2D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Glad you're here.</a:t>
            </a:r>
            <a:endParaRPr lang="en-US" sz="5700" dirty="0"/>
          </a:p>
        </p:txBody>
      </p:sp>
      <p:sp>
        <p:nvSpPr>
          <p:cNvPr id="4" name="Shape 2"/>
          <p:cNvSpPr/>
          <p:nvPr/>
        </p:nvSpPr>
        <p:spPr>
          <a:xfrm>
            <a:off x="952500" y="2703165"/>
            <a:ext cx="914400" cy="38100"/>
          </a:xfrm>
          <a:prstGeom prst="roundRect">
            <a:avLst>
              <a:gd name="adj" fmla="val 50000"/>
            </a:avLst>
          </a:prstGeom>
          <a:solidFill>
            <a:srgbClr val="F582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52500" y="3236565"/>
            <a:ext cx="8044815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dirty="0">
                <a:solidFill>
                  <a:srgbClr val="2A2D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working session on </a:t>
            </a:r>
            <a:r>
              <a:rPr lang="en-US" sz="2400" b="1" dirty="0">
                <a:solidFill>
                  <a:srgbClr val="2A2D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 engineering </a:t>
            </a:r>
            <a:r>
              <a:rPr lang="en-US" sz="2400" dirty="0">
                <a:solidFill>
                  <a:srgbClr val="2A2D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the most underrated skill for getting useful work out of AI.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52500" y="4417665"/>
            <a:ext cx="8044815" cy="12779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100" dirty="0">
                <a:solidFill>
                  <a:srgbClr val="6B6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slides about how AI </a:t>
            </a:r>
            <a:r>
              <a:rPr lang="en-US" sz="2100" i="1" dirty="0">
                <a:solidFill>
                  <a:srgbClr val="6B6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might </a:t>
            </a:r>
            <a:r>
              <a:rPr lang="en-US" sz="2100" dirty="0">
                <a:solidFill>
                  <a:srgbClr val="6B6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change ministry someday. We'll write prompts, break them, and rebuild them — together — for the next 90 minutes.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9525000" y="3236565"/>
            <a:ext cx="7810500" cy="194310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E5E5E7"/>
            </a:solidFill>
            <a:prstDash val="solid"/>
          </a:ln>
          <a:effectLst>
            <a:outerShdw blurRad="114300" dist="38100" dir="5400000" algn="bl" rotWithShape="0">
              <a:srgbClr val="2A2D38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915525" y="3588990"/>
            <a:ext cx="724033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24" dirty="0">
                <a:solidFill>
                  <a:srgbClr val="F5822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HOST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915525" y="3941415"/>
            <a:ext cx="7240334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300" b="1" kern="0" spc="-33" dirty="0">
                <a:solidFill>
                  <a:srgbClr val="2A2D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Northwoods Church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9915525" y="4531965"/>
            <a:ext cx="724033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6B6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Peoria, IL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9525000" y="5408265"/>
            <a:ext cx="7810500" cy="194310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E5E5E7"/>
            </a:solidFill>
            <a:prstDash val="solid"/>
          </a:ln>
          <a:effectLst>
            <a:outerShdw blurRad="114300" dist="38100" dir="5400000" algn="bl" rotWithShape="0">
              <a:srgbClr val="2A2D38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915525" y="5760690"/>
            <a:ext cx="724033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24" dirty="0">
                <a:solidFill>
                  <a:srgbClr val="F5822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FORMAT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915525" y="6113115"/>
            <a:ext cx="7240334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300" b="1" kern="0" spc="-33" dirty="0">
                <a:solidFill>
                  <a:srgbClr val="2A2D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 Exercises · 90 Min</a:t>
            </a:r>
            <a:endParaRPr lang="en-US" sz="3300" dirty="0"/>
          </a:p>
        </p:txBody>
      </p:sp>
      <p:sp>
        <p:nvSpPr>
          <p:cNvPr id="14" name="Text 12"/>
          <p:cNvSpPr/>
          <p:nvPr/>
        </p:nvSpPr>
        <p:spPr>
          <a:xfrm>
            <a:off x="9915525" y="6703665"/>
            <a:ext cx="724033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6B6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Bring a laptop and a real example from your church.</a:t>
            </a:r>
            <a:endParaRPr lang="en-US" sz="1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687449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429" dirty="0">
                <a:solidFill>
                  <a:srgbClr val="F5822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TODAY'S PLAN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447800"/>
            <a:ext cx="16874490" cy="798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5700" b="1" kern="0" spc="-85" dirty="0">
                <a:solidFill>
                  <a:srgbClr val="2A2D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Workshop Agenda</a:t>
            </a:r>
            <a:endParaRPr lang="en-US" sz="5700" dirty="0"/>
          </a:p>
        </p:txBody>
      </p:sp>
      <p:sp>
        <p:nvSpPr>
          <p:cNvPr id="4" name="Shape 2"/>
          <p:cNvSpPr/>
          <p:nvPr/>
        </p:nvSpPr>
        <p:spPr>
          <a:xfrm>
            <a:off x="952500" y="2703165"/>
            <a:ext cx="914400" cy="38100"/>
          </a:xfrm>
          <a:prstGeom prst="roundRect">
            <a:avLst>
              <a:gd name="adj" fmla="val 50000"/>
            </a:avLst>
          </a:prstGeom>
          <a:solidFill>
            <a:srgbClr val="F582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52500" y="4065240"/>
            <a:ext cx="7810500" cy="9525"/>
          </a:xfrm>
          <a:prstGeom prst="rect">
            <a:avLst/>
          </a:prstGeom>
          <a:solidFill>
            <a:srgbClr val="E5E5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52500" y="3531840"/>
            <a:ext cx="8382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80" dirty="0">
                <a:solidFill>
                  <a:srgbClr val="9A9CA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019300" y="3465165"/>
            <a:ext cx="5784357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kern="0" spc="-12" dirty="0">
                <a:solidFill>
                  <a:srgbClr val="2A2D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Why Context Matters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939980" y="3531840"/>
            <a:ext cx="89922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582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15 min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525000" y="4065240"/>
            <a:ext cx="7810500" cy="9525"/>
          </a:xfrm>
          <a:prstGeom prst="rect">
            <a:avLst/>
          </a:prstGeom>
          <a:solidFill>
            <a:srgbClr val="E5E5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525000" y="3531840"/>
            <a:ext cx="8382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80" dirty="0">
                <a:solidFill>
                  <a:srgbClr val="9A9CA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591800" y="3465165"/>
            <a:ext cx="5784357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kern="0" spc="-12" dirty="0">
                <a:solidFill>
                  <a:srgbClr val="2A2D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Four Pillars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6512480" y="3531840"/>
            <a:ext cx="89922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582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15 min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52500" y="5132040"/>
            <a:ext cx="7810500" cy="9525"/>
          </a:xfrm>
          <a:prstGeom prst="rect">
            <a:avLst/>
          </a:prstGeom>
          <a:solidFill>
            <a:srgbClr val="E5E5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52500" y="4598640"/>
            <a:ext cx="8382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80" dirty="0">
                <a:solidFill>
                  <a:srgbClr val="9A9CA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019300" y="4531965"/>
            <a:ext cx="5784357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kern="0" spc="-12" dirty="0">
                <a:solidFill>
                  <a:srgbClr val="2A2D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Anatomy of a Great Prompt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7939980" y="4598640"/>
            <a:ext cx="89922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582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15 min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525000" y="5132040"/>
            <a:ext cx="7810500" cy="9525"/>
          </a:xfrm>
          <a:prstGeom prst="rect">
            <a:avLst/>
          </a:prstGeom>
          <a:solidFill>
            <a:srgbClr val="E5E5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525000" y="4598640"/>
            <a:ext cx="8382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80" dirty="0">
                <a:solidFill>
                  <a:srgbClr val="9A9CA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591800" y="4531965"/>
            <a:ext cx="5784357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kern="0" spc="-12" dirty="0">
                <a:solidFill>
                  <a:srgbClr val="2A2D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Grounding in Your Reality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6512480" y="4598640"/>
            <a:ext cx="89922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582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15 min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952500" y="6198840"/>
            <a:ext cx="7810500" cy="9525"/>
          </a:xfrm>
          <a:prstGeom prst="rect">
            <a:avLst/>
          </a:prstGeom>
          <a:solidFill>
            <a:srgbClr val="E5E5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952500" y="5665440"/>
            <a:ext cx="8382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80" dirty="0">
                <a:solidFill>
                  <a:srgbClr val="9A9CA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2019300" y="5598765"/>
            <a:ext cx="5784357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kern="0" spc="-12" dirty="0">
                <a:solidFill>
                  <a:srgbClr val="2A2D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Common Pitfalls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7939980" y="5665440"/>
            <a:ext cx="89922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582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15 min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9525000" y="6198840"/>
            <a:ext cx="7810500" cy="9525"/>
          </a:xfrm>
          <a:prstGeom prst="rect">
            <a:avLst/>
          </a:prstGeom>
          <a:solidFill>
            <a:srgbClr val="E5E5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525000" y="5665440"/>
            <a:ext cx="8382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80" dirty="0">
                <a:solidFill>
                  <a:srgbClr val="9A9CA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0591800" y="5598765"/>
            <a:ext cx="5784357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kern="0" spc="-12" dirty="0">
                <a:solidFill>
                  <a:srgbClr val="2A2D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Take It Home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16512480" y="5665440"/>
            <a:ext cx="89922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582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15 min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687449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429" dirty="0">
                <a:solidFill>
                  <a:srgbClr val="F5822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QUICK RECAP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447800"/>
            <a:ext cx="16874490" cy="798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5700" b="1" kern="0" spc="-85" dirty="0">
                <a:solidFill>
                  <a:srgbClr val="2A2D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last two years rewired the rules.</a:t>
            </a:r>
            <a:endParaRPr lang="en-US" sz="5700" dirty="0"/>
          </a:p>
        </p:txBody>
      </p:sp>
      <p:sp>
        <p:nvSpPr>
          <p:cNvPr id="4" name="Shape 2"/>
          <p:cNvSpPr/>
          <p:nvPr/>
        </p:nvSpPr>
        <p:spPr>
          <a:xfrm>
            <a:off x="952500" y="2703165"/>
            <a:ext cx="914400" cy="38100"/>
          </a:xfrm>
          <a:prstGeom prst="roundRect">
            <a:avLst>
              <a:gd name="adj" fmla="val 50000"/>
            </a:avLst>
          </a:prstGeom>
          <a:solidFill>
            <a:srgbClr val="F582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52500" y="4455765"/>
            <a:ext cx="3186501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200" b="1" kern="0" spc="-42" dirty="0">
                <a:solidFill>
                  <a:srgbClr val="2A2D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2022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952500" y="5141565"/>
            <a:ext cx="3186501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50" b="1" kern="0" spc="39" dirty="0">
                <a:solidFill>
                  <a:srgbClr val="2A2D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ChatGPT lands.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952500" y="5591026"/>
            <a:ext cx="3186501" cy="10324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6B6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Everyone tries one prompt. Most decide AI is "smart autocomplete."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274790" y="4455765"/>
            <a:ext cx="3186501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200" b="1" kern="0" spc="-42" dirty="0">
                <a:solidFill>
                  <a:srgbClr val="2A2D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2023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4274790" y="5141565"/>
            <a:ext cx="3186501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50" b="1" kern="0" spc="39" dirty="0">
                <a:solidFill>
                  <a:srgbClr val="2A2D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"Prompt Engineering."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4274790" y="5591026"/>
            <a:ext cx="3186501" cy="10324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6B6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Magic phrases. "Act as a…" Tricks that worked sometimes.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597080" y="4455765"/>
            <a:ext cx="3186501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200" b="1" kern="0" spc="-42" dirty="0">
                <a:solidFill>
                  <a:srgbClr val="2A2D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2024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7597080" y="5141565"/>
            <a:ext cx="3186501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50" b="1" kern="0" spc="39" dirty="0">
                <a:solidFill>
                  <a:srgbClr val="2A2D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Tools &amp; Files.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7597080" y="5591026"/>
            <a:ext cx="3186501" cy="10324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6B6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 GPTs, retrieval, file uploads. Models stop guessing, start reading.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919371" y="4455765"/>
            <a:ext cx="3186501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200" b="1" kern="0" spc="-42" dirty="0">
                <a:solidFill>
                  <a:srgbClr val="2A2D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2025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10919371" y="5141565"/>
            <a:ext cx="3186501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50" b="1" kern="0" spc="39" dirty="0">
                <a:solidFill>
                  <a:srgbClr val="2A2D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Context Engineering.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0919371" y="5591026"/>
            <a:ext cx="3186501" cy="10324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6B6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whole game becomes </a:t>
            </a:r>
            <a:r>
              <a:rPr lang="en-US" sz="1800" dirty="0">
                <a:solidFill>
                  <a:srgbClr val="3FE0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you put in front of the model </a:t>
            </a:r>
            <a:r>
              <a:rPr lang="en-US" sz="1800" dirty="0">
                <a:solidFill>
                  <a:srgbClr val="6B6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241661" y="4455765"/>
            <a:ext cx="3186501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200" b="1" kern="0" spc="-42" dirty="0">
                <a:solidFill>
                  <a:srgbClr val="2A2D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2026</a:t>
            </a:r>
            <a:endParaRPr lang="en-US" sz="4200" dirty="0"/>
          </a:p>
        </p:txBody>
      </p:sp>
      <p:sp>
        <p:nvSpPr>
          <p:cNvPr id="18" name="Text 16"/>
          <p:cNvSpPr/>
          <p:nvPr/>
        </p:nvSpPr>
        <p:spPr>
          <a:xfrm>
            <a:off x="14241661" y="5141565"/>
            <a:ext cx="3186501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50" b="1" kern="0" spc="39" dirty="0">
                <a:solidFill>
                  <a:srgbClr val="2A2D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Agents in production.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14241661" y="5591026"/>
            <a:ext cx="3186501" cy="10324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6B6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Models that pull their own context. The skill compounds.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687449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429" dirty="0">
                <a:solidFill>
                  <a:srgbClr val="F5822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DIAGNOSIS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447800"/>
            <a:ext cx="16874490" cy="798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5700" b="1" kern="0" spc="-85" dirty="0">
                <a:solidFill>
                  <a:srgbClr val="2A2D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Where most prompts go wrong.</a:t>
            </a:r>
            <a:endParaRPr lang="en-US" sz="5700" dirty="0"/>
          </a:p>
        </p:txBody>
      </p:sp>
      <p:sp>
        <p:nvSpPr>
          <p:cNvPr id="4" name="Shape 2"/>
          <p:cNvSpPr/>
          <p:nvPr/>
        </p:nvSpPr>
        <p:spPr>
          <a:xfrm>
            <a:off x="952500" y="2703165"/>
            <a:ext cx="914400" cy="38100"/>
          </a:xfrm>
          <a:prstGeom prst="roundRect">
            <a:avLst>
              <a:gd name="adj" fmla="val 50000"/>
            </a:avLst>
          </a:prstGeom>
          <a:solidFill>
            <a:srgbClr val="F582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52500" y="3236565"/>
            <a:ext cx="5232349" cy="1478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2600" b="1" kern="0" spc="-504" dirty="0">
                <a:solidFill>
                  <a:srgbClr val="F5822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2600" dirty="0"/>
          </a:p>
        </p:txBody>
      </p:sp>
      <p:sp>
        <p:nvSpPr>
          <p:cNvPr id="6" name="Text 4"/>
          <p:cNvSpPr/>
          <p:nvPr/>
        </p:nvSpPr>
        <p:spPr>
          <a:xfrm>
            <a:off x="952500" y="4943326"/>
            <a:ext cx="523234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117" dirty="0">
                <a:solidFill>
                  <a:srgbClr val="6B6E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MISSING THE BRIEF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952500" y="5514826"/>
            <a:ext cx="5232349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6B6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"Write a thank-you email." — to whom? About what? In whose voice?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603950" y="3236565"/>
            <a:ext cx="5232349" cy="1478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2600" b="1" kern="0" spc="-504" dirty="0">
                <a:solidFill>
                  <a:srgbClr val="F5822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2600" dirty="0"/>
          </a:p>
        </p:txBody>
      </p:sp>
      <p:sp>
        <p:nvSpPr>
          <p:cNvPr id="9" name="Text 7"/>
          <p:cNvSpPr/>
          <p:nvPr/>
        </p:nvSpPr>
        <p:spPr>
          <a:xfrm>
            <a:off x="6603950" y="4943326"/>
            <a:ext cx="523234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117" dirty="0">
                <a:solidFill>
                  <a:srgbClr val="6B6E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MISSING THE SOURCE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6603950" y="5514826"/>
            <a:ext cx="5232349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6B6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model doesn't know your sermon series. It doesn't have your donor list.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255401" y="3236565"/>
            <a:ext cx="5232349" cy="1478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2600" b="1" kern="0" spc="-504" dirty="0">
                <a:solidFill>
                  <a:srgbClr val="F5822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2600" dirty="0"/>
          </a:p>
        </p:txBody>
      </p:sp>
      <p:sp>
        <p:nvSpPr>
          <p:cNvPr id="12" name="Text 10"/>
          <p:cNvSpPr/>
          <p:nvPr/>
        </p:nvSpPr>
        <p:spPr>
          <a:xfrm>
            <a:off x="12255401" y="4943326"/>
            <a:ext cx="523234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117" dirty="0">
                <a:solidFill>
                  <a:srgbClr val="6B6E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MISSING THE SHAPE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2255401" y="5514826"/>
            <a:ext cx="5232349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6B6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format spec, so you get a wall of prose when you needed a table.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687449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429" dirty="0">
                <a:solidFill>
                  <a:srgbClr val="F5822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SHIFT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447800"/>
            <a:ext cx="16874490" cy="1558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5700" b="1" kern="0" spc="-85" dirty="0">
                <a:solidFill>
                  <a:srgbClr val="2A2D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From prompt engineering to context engineering.</a:t>
            </a:r>
            <a:endParaRPr lang="en-US" sz="5700" dirty="0"/>
          </a:p>
        </p:txBody>
      </p:sp>
      <p:sp>
        <p:nvSpPr>
          <p:cNvPr id="4" name="Shape 2"/>
          <p:cNvSpPr/>
          <p:nvPr/>
        </p:nvSpPr>
        <p:spPr>
          <a:xfrm>
            <a:off x="952500" y="3463230"/>
            <a:ext cx="914400" cy="38100"/>
          </a:xfrm>
          <a:prstGeom prst="roundRect">
            <a:avLst>
              <a:gd name="adj" fmla="val 50000"/>
            </a:avLst>
          </a:prstGeom>
          <a:solidFill>
            <a:srgbClr val="F582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52500" y="4158555"/>
            <a:ext cx="7429500" cy="4362450"/>
          </a:xfrm>
          <a:prstGeom prst="roundRect">
            <a:avLst>
              <a:gd name="adj" fmla="val 2620"/>
            </a:avLst>
          </a:prstGeom>
          <a:solidFill>
            <a:srgbClr val="FFFFFF"/>
          </a:solidFill>
          <a:ln w="9525">
            <a:solidFill>
              <a:srgbClr val="E5E5E7"/>
            </a:solidFill>
            <a:prstDash val="solid"/>
          </a:ln>
          <a:effectLst>
            <a:outerShdw blurRad="114300" dist="38100" dir="5400000" algn="bl" rotWithShape="0">
              <a:srgbClr val="2A2D38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381125" y="4625280"/>
            <a:ext cx="676941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24" dirty="0">
                <a:solidFill>
                  <a:srgbClr val="9A9CA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81125" y="5072955"/>
            <a:ext cx="6769418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200" b="1" kern="0" spc="-63" dirty="0">
                <a:solidFill>
                  <a:srgbClr val="2A2D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Prompt Engineering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1381125" y="5949255"/>
            <a:ext cx="6769418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dirty="0">
                <a:solidFill>
                  <a:srgbClr val="6B6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Find the right </a:t>
            </a:r>
            <a:r>
              <a:rPr lang="en-US" sz="1950" i="1" dirty="0">
                <a:solidFill>
                  <a:srgbClr val="6B6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magic words </a:t>
            </a:r>
            <a:r>
              <a:rPr lang="en-US" sz="1950" dirty="0">
                <a:solidFill>
                  <a:srgbClr val="6B6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coax a single response out of a model.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8724900" y="5882580"/>
            <a:ext cx="83820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200" b="1" dirty="0">
                <a:solidFill>
                  <a:srgbClr val="3FE0D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7200" dirty="0"/>
          </a:p>
        </p:txBody>
      </p:sp>
      <p:sp>
        <p:nvSpPr>
          <p:cNvPr id="10" name="Shape 8"/>
          <p:cNvSpPr/>
          <p:nvPr/>
        </p:nvSpPr>
        <p:spPr>
          <a:xfrm>
            <a:off x="9906000" y="4149030"/>
            <a:ext cx="7429500" cy="438150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9050">
            <a:solidFill>
              <a:srgbClr val="3FE0D0"/>
            </a:solidFill>
            <a:prstDash val="solid"/>
          </a:ln>
          <a:effectLst>
            <a:outerShdw blurRad="114300" dist="38100" dir="5400000" algn="bl" rotWithShape="0">
              <a:srgbClr val="2A2D38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344150" y="4625280"/>
            <a:ext cx="674979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24" dirty="0">
                <a:solidFill>
                  <a:srgbClr val="3FE0D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NOW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344150" y="5072955"/>
            <a:ext cx="6749796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200" b="1" kern="0" spc="-63" dirty="0">
                <a:solidFill>
                  <a:srgbClr val="2A2D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Context Engineering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10344150" y="5949255"/>
            <a:ext cx="6749796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dirty="0">
                <a:solidFill>
                  <a:srgbClr val="2A2D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 </a:t>
            </a:r>
            <a:r>
              <a:rPr lang="en-US" sz="1950" i="1" dirty="0">
                <a:solidFill>
                  <a:srgbClr val="2A2D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everything the model sees </a:t>
            </a:r>
            <a:r>
              <a:rPr lang="en-US" sz="1950" dirty="0">
                <a:solidFill>
                  <a:srgbClr val="2A2D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instructions, knowledge, tools, memory — before it answers.</a:t>
            </a:r>
            <a:endParaRPr lang="en-US" sz="1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31888" y="952500"/>
            <a:ext cx="1660475" cy="163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60000"/>
              </a:lnSpc>
              <a:buNone/>
            </a:pPr>
            <a:r>
              <a:rPr lang="en-US" sz="21000" b="1" dirty="0">
                <a:solidFill>
                  <a:srgbClr val="3FE0D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“</a:t>
            </a:r>
            <a:endParaRPr lang="en-US" sz="21000" dirty="0"/>
          </a:p>
        </p:txBody>
      </p:sp>
      <p:sp>
        <p:nvSpPr>
          <p:cNvPr id="3" name="Text 1"/>
          <p:cNvSpPr/>
          <p:nvPr/>
        </p:nvSpPr>
        <p:spPr>
          <a:xfrm>
            <a:off x="3420963" y="2605088"/>
            <a:ext cx="13735050" cy="422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6000" b="1" kern="0" spc="-9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Context engineering is the discipline of giving a model </a:t>
            </a:r>
            <a:r>
              <a:rPr lang="en-US" sz="6000" b="1" kern="0" spc="-90" dirty="0">
                <a:solidFill>
                  <a:srgbClr val="3FE0D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everything it needs </a:t>
            </a:r>
            <a:r>
              <a:rPr lang="en-US" sz="6000" b="1" kern="0" spc="-9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— and nothing it doesn't — to do the job in front of it.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3420963" y="7177088"/>
            <a:ext cx="1373505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24" dirty="0">
                <a:solidFill>
                  <a:srgbClr val="9A9CA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— WORKING DEFINITION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687449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429" dirty="0">
                <a:solidFill>
                  <a:srgbClr val="F5822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MENTAL MODEL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447800"/>
            <a:ext cx="16874490" cy="798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5700" b="1" kern="0" spc="-85" dirty="0">
                <a:solidFill>
                  <a:srgbClr val="2A2D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Four pillars of context.</a:t>
            </a: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952500" y="2398365"/>
            <a:ext cx="13735050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550" dirty="0">
                <a:solidFill>
                  <a:srgbClr val="6B6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prompt that works has all four. Every prompt that fails is missing one.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952500" y="3499396"/>
            <a:ext cx="3895725" cy="6305550"/>
          </a:xfrm>
          <a:prstGeom prst="roundRect">
            <a:avLst>
              <a:gd name="adj" fmla="val 3912"/>
            </a:avLst>
          </a:prstGeom>
          <a:solidFill>
            <a:srgbClr val="F7F5F1"/>
          </a:solidFill>
          <a:ln w="9525">
            <a:solidFill>
              <a:srgbClr val="E5E5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266825" y="3851821"/>
            <a:ext cx="336508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24" dirty="0">
                <a:solidFill>
                  <a:srgbClr val="3FE0D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 / INSTRUCTIONS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66825" y="4337596"/>
            <a:ext cx="3365087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b="1" kern="0" spc="-33" dirty="0">
                <a:solidFill>
                  <a:srgbClr val="2A2D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Who &amp; what.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1266825" y="4947196"/>
            <a:ext cx="3365087" cy="140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3D40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role, the goal, the constraints. The standing orders the model follows for every turn.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266825" y="7271296"/>
            <a:ext cx="3267075" cy="9525"/>
          </a:xfrm>
          <a:prstGeom prst="rect">
            <a:avLst/>
          </a:prstGeom>
          <a:solidFill>
            <a:srgbClr val="C9CBD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266825" y="7509421"/>
            <a:ext cx="3365087" cy="175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6B6E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Example: </a:t>
            </a:r>
            <a:r>
              <a:rPr lang="en-US" sz="1800" dirty="0">
                <a:solidFill>
                  <a:srgbClr val="6B6E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"You are an editor for a small church newsletter. Keep it warm, short, and never preachy."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114925" y="3499396"/>
            <a:ext cx="3895725" cy="6305550"/>
          </a:xfrm>
          <a:prstGeom prst="roundRect">
            <a:avLst>
              <a:gd name="adj" fmla="val 3912"/>
            </a:avLst>
          </a:prstGeom>
          <a:solidFill>
            <a:srgbClr val="F7F5F1"/>
          </a:solidFill>
          <a:ln w="9525">
            <a:solidFill>
              <a:srgbClr val="E5E5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29250" y="3851821"/>
            <a:ext cx="336508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24" dirty="0">
                <a:solidFill>
                  <a:srgbClr val="3FE0D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/ KNOWLEDGE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429250" y="4337596"/>
            <a:ext cx="3365087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b="1" kern="0" spc="-33" dirty="0">
                <a:solidFill>
                  <a:srgbClr val="2A2D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Facts in front.</a:t>
            </a:r>
            <a:endParaRPr lang="en-US" sz="3300" dirty="0"/>
          </a:p>
        </p:txBody>
      </p:sp>
      <p:sp>
        <p:nvSpPr>
          <p:cNvPr id="14" name="Text 12"/>
          <p:cNvSpPr/>
          <p:nvPr/>
        </p:nvSpPr>
        <p:spPr>
          <a:xfrm>
            <a:off x="5429250" y="4947196"/>
            <a:ext cx="3365087" cy="140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3D40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documents, data, transcripts, and notes the model needs to reason from — not from memory.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429250" y="7614196"/>
            <a:ext cx="3267075" cy="9525"/>
          </a:xfrm>
          <a:prstGeom prst="rect">
            <a:avLst/>
          </a:prstGeom>
          <a:solidFill>
            <a:srgbClr val="C9CBD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429250" y="7852321"/>
            <a:ext cx="3365087" cy="140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6B6E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Example: </a:t>
            </a:r>
            <a:r>
              <a:rPr lang="en-US" sz="1800" dirty="0">
                <a:solidFill>
                  <a:srgbClr val="6B6E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Last 4 sermons, the church mission statement, the volunteer policy doc.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277350" y="3499396"/>
            <a:ext cx="3895725" cy="6305550"/>
          </a:xfrm>
          <a:prstGeom prst="roundRect">
            <a:avLst>
              <a:gd name="adj" fmla="val 3912"/>
            </a:avLst>
          </a:prstGeom>
          <a:solidFill>
            <a:srgbClr val="F7F5F1"/>
          </a:solidFill>
          <a:ln w="9525">
            <a:solidFill>
              <a:srgbClr val="E5E5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591675" y="3851821"/>
            <a:ext cx="336508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24" dirty="0">
                <a:solidFill>
                  <a:srgbClr val="3FE0D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/ TOOLS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591675" y="4337596"/>
            <a:ext cx="3365087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b="1" kern="0" spc="-33" dirty="0">
                <a:solidFill>
                  <a:srgbClr val="2A2D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it can do.</a:t>
            </a:r>
            <a:endParaRPr lang="en-US" sz="3300" dirty="0"/>
          </a:p>
        </p:txBody>
      </p:sp>
      <p:sp>
        <p:nvSpPr>
          <p:cNvPr id="20" name="Text 18"/>
          <p:cNvSpPr/>
          <p:nvPr/>
        </p:nvSpPr>
        <p:spPr>
          <a:xfrm>
            <a:off x="9591675" y="5366296"/>
            <a:ext cx="3365087" cy="140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3D40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Functions, search, file readers, calendars. The buttons the model can press to act on your behalf.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9591675" y="7614196"/>
            <a:ext cx="3267075" cy="9525"/>
          </a:xfrm>
          <a:prstGeom prst="rect">
            <a:avLst/>
          </a:prstGeom>
          <a:solidFill>
            <a:srgbClr val="C9CBD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9591675" y="7852321"/>
            <a:ext cx="3365087" cy="140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6B6E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Example: </a:t>
            </a:r>
            <a:r>
              <a:rPr lang="en-US" sz="1800" dirty="0">
                <a:solidFill>
                  <a:srgbClr val="6B6E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Read the staff calendar, send a draft to email, look up giving totals.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3439775" y="3499396"/>
            <a:ext cx="3895725" cy="6305550"/>
          </a:xfrm>
          <a:prstGeom prst="roundRect">
            <a:avLst>
              <a:gd name="adj" fmla="val 3912"/>
            </a:avLst>
          </a:prstGeom>
          <a:solidFill>
            <a:srgbClr val="F7F5F1"/>
          </a:solidFill>
          <a:ln w="9525">
            <a:solidFill>
              <a:srgbClr val="E5E5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3754100" y="3851821"/>
            <a:ext cx="336508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24" dirty="0">
                <a:solidFill>
                  <a:srgbClr val="3FE0D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 / MEMORY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3754100" y="4337596"/>
            <a:ext cx="3365087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b="1" kern="0" spc="-33" dirty="0">
                <a:solidFill>
                  <a:srgbClr val="2A2D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it remembers.</a:t>
            </a:r>
            <a:endParaRPr lang="en-US" sz="3300" dirty="0"/>
          </a:p>
        </p:txBody>
      </p:sp>
      <p:sp>
        <p:nvSpPr>
          <p:cNvPr id="26" name="Text 24"/>
          <p:cNvSpPr/>
          <p:nvPr/>
        </p:nvSpPr>
        <p:spPr>
          <a:xfrm>
            <a:off x="13754100" y="5366296"/>
            <a:ext cx="3365087" cy="175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3D40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Conversation history, prior decisions, user preferences. The thread that makes the next turn smarter than the last.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3754100" y="7271296"/>
            <a:ext cx="3267075" cy="9525"/>
          </a:xfrm>
          <a:prstGeom prst="rect">
            <a:avLst/>
          </a:prstGeom>
          <a:solidFill>
            <a:srgbClr val="C9CBD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3754100" y="7509421"/>
            <a:ext cx="3365087" cy="175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6B6E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Example: </a:t>
            </a:r>
            <a:r>
              <a:rPr lang="en-US" sz="1800" dirty="0">
                <a:solidFill>
                  <a:srgbClr val="6B6E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"Pastor prefers ESV. Don't use exclamation points. Always include a verse reference."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B1D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94324" y="3170932"/>
            <a:ext cx="9372179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840" dirty="0">
                <a:solidFill>
                  <a:srgbClr val="3FE0D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PART 02 / 06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4594324" y="3904357"/>
            <a:ext cx="9372179" cy="24267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9900" b="1" kern="0" spc="-247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four pillars.</a:t>
            </a:r>
            <a:endParaRPr lang="en-US" sz="9900" dirty="0"/>
          </a:p>
        </p:txBody>
      </p:sp>
      <p:sp>
        <p:nvSpPr>
          <p:cNvPr id="5" name="Text 3"/>
          <p:cNvSpPr/>
          <p:nvPr/>
        </p:nvSpPr>
        <p:spPr>
          <a:xfrm>
            <a:off x="4594324" y="6674048"/>
            <a:ext cx="9372179" cy="4799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400" dirty="0">
                <a:solidFill>
                  <a:srgbClr val="C9CB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Let's walk each one with a concrete example you can lift today.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5031492" y="3643313"/>
            <a:ext cx="95250" cy="95250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5279142" y="3552825"/>
            <a:ext cx="2222153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FFFFFF">
                    <a:alpha val="2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 · Why Context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5031492" y="4224338"/>
            <a:ext cx="95250" cy="95250"/>
          </a:xfrm>
          <a:prstGeom prst="ellipse">
            <a:avLst/>
          </a:prstGeom>
          <a:solidFill>
            <a:srgbClr val="3FE0D0"/>
          </a:solidFill>
          <a:ln/>
          <a:effectLst>
            <a:outerShdw blurRad="190500" dist="50800" dir="16200000" algn="bl" rotWithShape="0">
              <a:srgbClr val="3FE0D0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5279142" y="4133850"/>
            <a:ext cx="206930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3FE0D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 · Four Pillars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5031492" y="4805363"/>
            <a:ext cx="95250" cy="95250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5279142" y="4714875"/>
            <a:ext cx="176599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FFFFFF">
                    <a:alpha val="2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 · Anatomy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5031492" y="5386388"/>
            <a:ext cx="95250" cy="95250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5279142" y="5295900"/>
            <a:ext cx="200531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FFFFFF">
                    <a:alpha val="2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 · Grounding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5031492" y="5967413"/>
            <a:ext cx="95250" cy="95250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5279142" y="5876925"/>
            <a:ext cx="150301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FFFFFF">
                    <a:alpha val="2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 · Pitfalls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5031492" y="6548438"/>
            <a:ext cx="95250" cy="95250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5279142" y="6457950"/>
            <a:ext cx="2323058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FFFFFF">
                    <a:alpha val="2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06 · Take It Home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3525441"/>
            <a:ext cx="804481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630" dirty="0">
                <a:solidFill>
                  <a:srgbClr val="F582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PILLAR 01 / 04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52500" y="4144566"/>
            <a:ext cx="8044815" cy="1123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9000" b="1" kern="0" spc="-180" dirty="0">
                <a:solidFill>
                  <a:srgbClr val="2A2D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Instructions.</a:t>
            </a:r>
            <a:endParaRPr lang="en-US" sz="9000" dirty="0"/>
          </a:p>
        </p:txBody>
      </p:sp>
      <p:sp>
        <p:nvSpPr>
          <p:cNvPr id="4" name="Text 2"/>
          <p:cNvSpPr/>
          <p:nvPr/>
        </p:nvSpPr>
        <p:spPr>
          <a:xfrm>
            <a:off x="952500" y="5497116"/>
            <a:ext cx="6867525" cy="13637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400" dirty="0">
                <a:solidFill>
                  <a:srgbClr val="6B6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model's job description. Set once, applied to every reply. Where you describe </a:t>
            </a:r>
            <a:r>
              <a:rPr lang="en-US" sz="2400" dirty="0">
                <a:solidFill>
                  <a:srgbClr val="F58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</a:t>
            </a:r>
            <a:r>
              <a:rPr lang="en-US" sz="2400" dirty="0">
                <a:solidFill>
                  <a:srgbClr val="6B6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think, not just </a:t>
            </a:r>
            <a:r>
              <a:rPr lang="en-US" sz="2400" dirty="0">
                <a:solidFill>
                  <a:srgbClr val="F58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</a:t>
            </a:r>
            <a:r>
              <a:rPr lang="en-US" sz="2400" dirty="0">
                <a:solidFill>
                  <a:srgbClr val="6B6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do.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65810" y="7165628"/>
            <a:ext cx="8073390" cy="15388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100" dirty="0">
                <a:solidFill>
                  <a:srgbClr val="2A2D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Role + audience + tone (one sentence each).</a:t>
            </a:r>
            <a:endParaRPr lang="en-US" sz="21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2100" dirty="0">
                <a:solidFill>
                  <a:srgbClr val="2A2D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Hard rules (never do X, always include Y).</a:t>
            </a:r>
            <a:endParaRPr lang="en-US" sz="21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2100" dirty="0">
                <a:solidFill>
                  <a:srgbClr val="2A2D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Default format when none is specified.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9525000" y="3288209"/>
            <a:ext cx="7810500" cy="5615583"/>
          </a:xfrm>
          <a:prstGeom prst="roundRect">
            <a:avLst>
              <a:gd name="adj" fmla="val 2714"/>
            </a:avLst>
          </a:prstGeom>
          <a:solidFill>
            <a:srgbClr val="1B1D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944100" y="3669209"/>
            <a:ext cx="7181469" cy="4266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800" b="1" kern="0" spc="360" dirty="0">
                <a:solidFill>
                  <a:srgbClr val="3FE0D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// SYSTEM PROMPT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944100" y="4248299"/>
            <a:ext cx="7181469" cy="43125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You are </a:t>
            </a:r>
            <a:r>
              <a:rPr lang="en-US" sz="1800" dirty="0">
                <a:solidFill>
                  <a:srgbClr val="3FE0D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an assistant editor </a:t>
            </a:r>
            <a:r>
              <a:rPr lang="en-US" sz="18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for the communications team at a 1,200-attendee church.</a:t>
            </a:r>
            <a:endParaRPr lang="en-US" sz="1800" dirty="0"/>
          </a:p>
          <a:p>
            <a:pPr marL="0" indent="0" algn="l">
              <a:lnSpc>
                <a:spcPct val="170000"/>
              </a:lnSpc>
              <a:buNone/>
            </a:pPr>
            <a:endParaRPr lang="en-US" sz="1800" dirty="0"/>
          </a:p>
          <a:p>
            <a:pPr marL="0" indent="0" algn="l">
              <a:lnSpc>
                <a:spcPct val="17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Audience:  </a:t>
            </a:r>
            <a:endParaRPr lang="en-US" sz="1800" dirty="0"/>
          </a:p>
          <a:p>
            <a:pPr marL="0" indent="0" algn="l">
              <a:lnSpc>
                <a:spcPct val="170000"/>
              </a:lnSpc>
              <a:buNone/>
            </a:pPr>
            <a:r>
              <a:rPr lang="en-US" sz="1800" dirty="0">
                <a:solidFill>
                  <a:srgbClr val="3FE0D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busy church members ages 30–65 </a:t>
            </a:r>
            <a:r>
              <a:rPr lang="en-US" sz="18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</a:t>
            </a:r>
            <a:endParaRPr lang="en-US" sz="1800" dirty="0"/>
          </a:p>
          <a:p>
            <a:pPr marL="0" indent="0" algn="l">
              <a:lnSpc>
                <a:spcPct val="17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Tone:  </a:t>
            </a:r>
            <a:endParaRPr lang="en-US" sz="1800" dirty="0"/>
          </a:p>
          <a:p>
            <a:pPr marL="0" indent="0" algn="l">
              <a:lnSpc>
                <a:spcPct val="170000"/>
              </a:lnSpc>
              <a:buNone/>
            </a:pPr>
            <a:r>
              <a:rPr lang="en-US" sz="1800" b="1" dirty="0">
                <a:solidFill>
                  <a:srgbClr val="F582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warm, plainspoken, never preachy </a:t>
            </a:r>
            <a:r>
              <a:rPr lang="en-US" sz="18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</a:t>
            </a:r>
            <a:endParaRPr lang="en-US" sz="1800" dirty="0"/>
          </a:p>
          <a:p>
            <a:pPr marL="0" indent="0" algn="l">
              <a:lnSpc>
                <a:spcPct val="170000"/>
              </a:lnSpc>
              <a:buNone/>
            </a:pPr>
            <a:endParaRPr lang="en-US" sz="1800" dirty="0"/>
          </a:p>
          <a:p>
            <a:pPr marL="0" indent="0" algn="l">
              <a:lnSpc>
                <a:spcPct val="17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Rules:</a:t>
            </a:r>
            <a:endParaRPr lang="en-US" sz="1800" dirty="0"/>
          </a:p>
          <a:p>
            <a:pPr marL="0" indent="0" algn="l">
              <a:lnSpc>
                <a:spcPct val="17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•  </a:t>
            </a:r>
            <a:endParaRPr lang="en-US" sz="1800" dirty="0"/>
          </a:p>
          <a:p>
            <a:pPr marL="0" indent="0" algn="l">
              <a:lnSpc>
                <a:spcPct val="170000"/>
              </a:lnSpc>
              <a:buNone/>
            </a:pPr>
            <a:r>
              <a:rPr lang="en-US" sz="1800" b="1" dirty="0">
                <a:solidFill>
                  <a:srgbClr val="F582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Never </a:t>
            </a:r>
            <a:r>
              <a:rPr lang="en-US" sz="18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use exclamation points.</a:t>
            </a:r>
            <a:endParaRPr lang="en-US" sz="1800" dirty="0"/>
          </a:p>
          <a:p>
            <a:pPr marL="0" indent="0" algn="l">
              <a:lnSpc>
                <a:spcPct val="17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•  </a:t>
            </a:r>
            <a:endParaRPr lang="en-US" sz="1800" dirty="0"/>
          </a:p>
          <a:p>
            <a:pPr marL="0" indent="0" algn="l">
              <a:lnSpc>
                <a:spcPct val="170000"/>
              </a:lnSpc>
              <a:buNone/>
            </a:pPr>
            <a:r>
              <a:rPr lang="en-US" sz="1800" b="1" dirty="0">
                <a:solidFill>
                  <a:srgbClr val="F582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Never </a:t>
            </a:r>
            <a:r>
              <a:rPr lang="en-US" sz="18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invent verse references.</a:t>
            </a:r>
            <a:endParaRPr lang="en-US" sz="1800" dirty="0"/>
          </a:p>
          <a:p>
            <a:pPr marL="0" indent="0" algn="l">
              <a:lnSpc>
                <a:spcPct val="17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• Keep paragraphs to 3 sentences max.</a:t>
            </a:r>
            <a:endParaRPr lang="en-US" sz="1800" dirty="0"/>
          </a:p>
          <a:p>
            <a:pPr marL="0" indent="0" algn="l">
              <a:lnSpc>
                <a:spcPct val="17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• When unsure, ask one clarifying question.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3525441"/>
            <a:ext cx="804481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630" dirty="0">
                <a:solidFill>
                  <a:srgbClr val="F582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PILLAR 02 / 04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52500" y="4144566"/>
            <a:ext cx="8044815" cy="1123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9000" b="1" kern="0" spc="-180" dirty="0">
                <a:solidFill>
                  <a:srgbClr val="2A2D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Knowledge.</a:t>
            </a:r>
            <a:endParaRPr lang="en-US" sz="9000" dirty="0"/>
          </a:p>
        </p:txBody>
      </p:sp>
      <p:sp>
        <p:nvSpPr>
          <p:cNvPr id="4" name="Text 2"/>
          <p:cNvSpPr/>
          <p:nvPr/>
        </p:nvSpPr>
        <p:spPr>
          <a:xfrm>
            <a:off x="952500" y="5497116"/>
            <a:ext cx="6867525" cy="13637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400" dirty="0">
                <a:solidFill>
                  <a:srgbClr val="6B6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documents the model reasons from. If you don't paste it in or attach it, the model doesn't know it — full stop.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65810" y="7165628"/>
            <a:ext cx="8073390" cy="15388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100" dirty="0">
                <a:solidFill>
                  <a:srgbClr val="2A2D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church's actual writing — not a generic baseline.</a:t>
            </a:r>
            <a:endParaRPr lang="en-US" sz="21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2100" dirty="0">
                <a:solidFill>
                  <a:srgbClr val="2A2D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Recent &amp; relevant beats large &amp; old.</a:t>
            </a:r>
            <a:endParaRPr lang="en-US" sz="21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2100" dirty="0">
                <a:solidFill>
                  <a:srgbClr val="2A2D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Trim before you paste — signal over volume.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9525000" y="3871020"/>
            <a:ext cx="7810500" cy="4449812"/>
          </a:xfrm>
          <a:prstGeom prst="roundRect">
            <a:avLst>
              <a:gd name="adj" fmla="val 3425"/>
            </a:avLst>
          </a:prstGeom>
          <a:solidFill>
            <a:srgbClr val="1B1D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944100" y="4252020"/>
            <a:ext cx="7181469" cy="4266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800" b="1" kern="0" spc="360" dirty="0">
                <a:solidFill>
                  <a:srgbClr val="3FE0D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// ATTACHED FOR THIS TURN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944100" y="4831110"/>
            <a:ext cx="7181469" cy="31468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800" dirty="0">
                <a:solidFill>
                  <a:srgbClr val="3FE0D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last_4_sermon_transcripts.txt</a:t>
            </a:r>
            <a:r>
              <a:rPr lang="en-US" sz="18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   18,400 words </a:t>
            </a:r>
            <a:r>
              <a:rPr lang="en-US" sz="1800" dirty="0">
                <a:solidFill>
                  <a:srgbClr val="3FE0D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mission_and_values.md</a:t>
            </a:r>
            <a:r>
              <a:rPr lang="en-US" sz="18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         420 words </a:t>
            </a:r>
            <a:r>
              <a:rPr lang="en-US" sz="1800" dirty="0">
                <a:solidFill>
                  <a:srgbClr val="3FE0D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brand_voice_examples.md</a:t>
            </a:r>
            <a:r>
              <a:rPr lang="en-US" sz="18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       380 words </a:t>
            </a:r>
            <a:r>
              <a:rPr lang="en-US" sz="1800" dirty="0">
                <a:solidFill>
                  <a:srgbClr val="3FE0D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upcoming_events.csv </a:t>
            </a:r>
            <a:r>
              <a:rPr lang="en-US" sz="18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            12 rows</a:t>
            </a:r>
            <a:endParaRPr lang="en-US" sz="1800" dirty="0"/>
          </a:p>
          <a:p>
            <a:pPr marL="0" indent="0" algn="l">
              <a:lnSpc>
                <a:spcPct val="170000"/>
              </a:lnSpc>
              <a:buNone/>
            </a:pPr>
            <a:endParaRPr lang="en-US" sz="1800" dirty="0"/>
          </a:p>
          <a:p>
            <a:pPr marL="0" indent="0" algn="l">
              <a:lnSpc>
                <a:spcPct val="17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Reference these  </a:t>
            </a:r>
            <a:endParaRPr lang="en-US" sz="1800" dirty="0"/>
          </a:p>
          <a:p>
            <a:pPr marL="0" indent="0" algn="l">
              <a:lnSpc>
                <a:spcPct val="170000"/>
              </a:lnSpc>
              <a:buNone/>
            </a:pPr>
            <a:r>
              <a:rPr lang="en-US" sz="1800" b="1" dirty="0">
                <a:solidFill>
                  <a:srgbClr val="F582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only </a:t>
            </a:r>
            <a:r>
              <a:rPr lang="en-US" sz="18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when the user</a:t>
            </a:r>
            <a:endParaRPr lang="en-US" sz="1800" dirty="0"/>
          </a:p>
          <a:p>
            <a:pPr marL="0" indent="0" algn="l">
              <a:lnSpc>
                <a:spcPct val="17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asks about church-specific content.</a:t>
            </a:r>
            <a:endParaRPr lang="en-US" sz="1800" dirty="0"/>
          </a:p>
          <a:p>
            <a:pPr marL="0" indent="0" algn="l">
              <a:lnSpc>
                <a:spcPct val="17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Cite which file you used.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3338810"/>
            <a:ext cx="804481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630" dirty="0">
                <a:solidFill>
                  <a:srgbClr val="F582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PILLAR 03 / 04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52500" y="3957935"/>
            <a:ext cx="8044815" cy="1123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9000" b="1" kern="0" spc="-180" dirty="0">
                <a:solidFill>
                  <a:srgbClr val="2A2D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Tools.</a:t>
            </a:r>
            <a:endParaRPr lang="en-US" sz="9000" dirty="0"/>
          </a:p>
        </p:txBody>
      </p:sp>
      <p:sp>
        <p:nvSpPr>
          <p:cNvPr id="4" name="Text 2"/>
          <p:cNvSpPr/>
          <p:nvPr/>
        </p:nvSpPr>
        <p:spPr>
          <a:xfrm>
            <a:off x="952500" y="5310485"/>
            <a:ext cx="6867525" cy="13637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400" dirty="0">
                <a:solidFill>
                  <a:srgbClr val="6B6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verbs available to the model. Each tool turns "the model talks" into "the model can </a:t>
            </a:r>
            <a:r>
              <a:rPr lang="en-US" sz="2400" dirty="0">
                <a:solidFill>
                  <a:srgbClr val="F58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</a:t>
            </a:r>
            <a:r>
              <a:rPr lang="en-US" sz="2400" dirty="0">
                <a:solidFill>
                  <a:srgbClr val="6B6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."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65810" y="6978997"/>
            <a:ext cx="8073390" cy="19121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100" dirty="0">
                <a:solidFill>
                  <a:srgbClr val="2A2D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Start with read-only tools. Earn write access.</a:t>
            </a:r>
            <a:endParaRPr lang="en-US" sz="21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2100" dirty="0">
                <a:solidFill>
                  <a:srgbClr val="2A2D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Name tools the way humans would — the model picks better.</a:t>
            </a:r>
            <a:endParaRPr lang="en-US" sz="21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2100" dirty="0">
                <a:solidFill>
                  <a:srgbClr val="2A2D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Fewer good tools beat many vague ones.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9525000" y="3871020"/>
            <a:ext cx="7810500" cy="4449812"/>
          </a:xfrm>
          <a:prstGeom prst="roundRect">
            <a:avLst>
              <a:gd name="adj" fmla="val 3425"/>
            </a:avLst>
          </a:prstGeom>
          <a:solidFill>
            <a:srgbClr val="1B1D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944100" y="4252020"/>
            <a:ext cx="7181469" cy="4266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800" b="1" kern="0" spc="360" dirty="0">
                <a:solidFill>
                  <a:srgbClr val="3FE0D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// AVAILABLE TOOLS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944100" y="4831110"/>
            <a:ext cx="7181469" cy="31468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800" dirty="0">
                <a:solidFill>
                  <a:srgbClr val="3FE0D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search_sermons</a:t>
            </a:r>
            <a:r>
              <a:rPr lang="en-US" sz="18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(query, last_n=5) </a:t>
            </a:r>
            <a:r>
              <a:rPr lang="en-US" sz="1800" dirty="0">
                <a:solidFill>
                  <a:srgbClr val="3FE0D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look_up_event</a:t>
            </a:r>
            <a:r>
              <a:rPr lang="en-US" sz="18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(name | date) </a:t>
            </a:r>
            <a:r>
              <a:rPr lang="en-US" sz="1800" dirty="0">
                <a:solidFill>
                  <a:srgbClr val="3FE0D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list_volunteers</a:t>
            </a:r>
            <a:r>
              <a:rPr lang="en-US" sz="18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(team, status="active") </a:t>
            </a:r>
            <a:r>
              <a:rPr lang="en-US" sz="1800" dirty="0">
                <a:solidFill>
                  <a:srgbClr val="3FE0D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draft_email </a:t>
            </a:r>
            <a:r>
              <a:rPr lang="en-US" sz="18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(to, subject, body)</a:t>
            </a:r>
            <a:endParaRPr lang="en-US" sz="1800" dirty="0"/>
          </a:p>
          <a:p>
            <a:pPr marL="0" indent="0" algn="l">
              <a:lnSpc>
                <a:spcPct val="17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  </a:t>
            </a:r>
            <a:endParaRPr lang="en-US" sz="1800" dirty="0"/>
          </a:p>
          <a:p>
            <a:pPr marL="0" indent="0" algn="l">
              <a:lnSpc>
                <a:spcPct val="170000"/>
              </a:lnSpc>
              <a:buNone/>
            </a:pPr>
            <a:r>
              <a:rPr lang="en-US" sz="1800" b="1" dirty="0">
                <a:solidFill>
                  <a:srgbClr val="F582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requires human approval </a:t>
            </a:r>
            <a:r>
              <a:rPr lang="en-US" sz="1800" dirty="0">
                <a:solidFill>
                  <a:srgbClr val="3FE0D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get_giving_totals </a:t>
            </a:r>
            <a:r>
              <a:rPr lang="en-US" sz="18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(start, end)</a:t>
            </a:r>
            <a:endParaRPr lang="en-US" sz="1800" dirty="0"/>
          </a:p>
          <a:p>
            <a:pPr marL="0" indent="0" algn="l">
              <a:lnSpc>
                <a:spcPct val="17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  </a:t>
            </a:r>
            <a:endParaRPr lang="en-US" sz="1800" dirty="0"/>
          </a:p>
          <a:p>
            <a:pPr marL="0" indent="0" algn="l">
              <a:lnSpc>
                <a:spcPct val="170000"/>
              </a:lnSpc>
              <a:buNone/>
            </a:pPr>
            <a:r>
              <a:rPr lang="en-US" sz="1800" b="1" dirty="0">
                <a:solidFill>
                  <a:srgbClr val="F582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staff-only, audited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3746450"/>
            <a:ext cx="804481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630" dirty="0">
                <a:solidFill>
                  <a:srgbClr val="F582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PILLAR 04 / 04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52500" y="4365575"/>
            <a:ext cx="8044815" cy="1123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9000" b="1" kern="0" spc="-180" dirty="0">
                <a:solidFill>
                  <a:srgbClr val="2A2D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Memory.</a:t>
            </a:r>
            <a:endParaRPr lang="en-US" sz="9000" dirty="0"/>
          </a:p>
        </p:txBody>
      </p:sp>
      <p:sp>
        <p:nvSpPr>
          <p:cNvPr id="4" name="Text 2"/>
          <p:cNvSpPr/>
          <p:nvPr/>
        </p:nvSpPr>
        <p:spPr>
          <a:xfrm>
            <a:off x="952500" y="5718125"/>
            <a:ext cx="6867525" cy="9218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400" dirty="0">
                <a:solidFill>
                  <a:srgbClr val="6B6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thread — what's already happened, what was decided, what to never have to say again.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65810" y="6944767"/>
            <a:ext cx="8073390" cy="15388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100" dirty="0">
                <a:solidFill>
                  <a:srgbClr val="2A2D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Short-term: this conversation.</a:t>
            </a:r>
            <a:endParaRPr lang="en-US" sz="21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2100" dirty="0">
                <a:solidFill>
                  <a:srgbClr val="2A2D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Long-term: preferences, decisions, style notes.</a:t>
            </a:r>
            <a:endParaRPr lang="en-US" sz="21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2100" dirty="0">
                <a:solidFill>
                  <a:srgbClr val="2A2D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Audit it. Memory rot is real.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9525000" y="3093839"/>
            <a:ext cx="7810500" cy="6004173"/>
          </a:xfrm>
          <a:prstGeom prst="roundRect">
            <a:avLst>
              <a:gd name="adj" fmla="val 2538"/>
            </a:avLst>
          </a:prstGeom>
          <a:solidFill>
            <a:srgbClr val="1B1D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944100" y="3474839"/>
            <a:ext cx="7181469" cy="4266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800" b="1" kern="0" spc="360" dirty="0">
                <a:solidFill>
                  <a:srgbClr val="3FE0D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// PERSISTENT NOTES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944100" y="4053929"/>
            <a:ext cx="7181469" cy="4701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user.preferences:</a:t>
            </a:r>
            <a:endParaRPr lang="en-US" sz="1800" dirty="0"/>
          </a:p>
          <a:p>
            <a:pPr marL="0" indent="0" algn="l">
              <a:lnSpc>
                <a:spcPct val="17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• translation: </a:t>
            </a:r>
            <a:endParaRPr lang="en-US" sz="1800" dirty="0"/>
          </a:p>
          <a:p>
            <a:pPr marL="0" indent="0" algn="l">
              <a:lnSpc>
                <a:spcPct val="170000"/>
              </a:lnSpc>
              <a:buNone/>
            </a:pPr>
            <a:r>
              <a:rPr lang="en-US" sz="1800" dirty="0">
                <a:solidFill>
                  <a:srgbClr val="3FE0D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ESV </a:t>
            </a:r>
            <a:r>
              <a:rPr lang="en-US" sz="18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• avoid: </a:t>
            </a:r>
            <a:r>
              <a:rPr lang="en-US" sz="1800" b="1" dirty="0">
                <a:solidFill>
                  <a:srgbClr val="F582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exclamation points, emoji </a:t>
            </a:r>
            <a:r>
              <a:rPr lang="en-US" sz="18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• signature_block: "— Comms Team"</a:t>
            </a:r>
            <a:endParaRPr lang="en-US" sz="1800" dirty="0"/>
          </a:p>
          <a:p>
            <a:pPr marL="0" indent="0" algn="l">
              <a:lnSpc>
                <a:spcPct val="170000"/>
              </a:lnSpc>
              <a:buNone/>
            </a:pPr>
            <a:endParaRPr lang="en-US" sz="1800" dirty="0"/>
          </a:p>
          <a:p>
            <a:pPr marL="0" indent="0" algn="l">
              <a:lnSpc>
                <a:spcPct val="17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decisions:</a:t>
            </a:r>
            <a:endParaRPr lang="en-US" sz="1800" dirty="0"/>
          </a:p>
          <a:p>
            <a:pPr marL="0" indent="0" algn="l">
              <a:lnSpc>
                <a:spcPct val="17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• 2026-04-12:  </a:t>
            </a:r>
            <a:endParaRPr lang="en-US" sz="1800" dirty="0"/>
          </a:p>
          <a:p>
            <a:pPr marL="0" indent="0" algn="l">
              <a:lnSpc>
                <a:spcPct val="170000"/>
              </a:lnSpc>
              <a:buNone/>
            </a:pPr>
            <a:r>
              <a:rPr lang="en-US" sz="1800" dirty="0">
                <a:solidFill>
                  <a:srgbClr val="3FE0D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fall series titled "Re:Make" </a:t>
            </a:r>
            <a:r>
              <a:rPr lang="en-US" sz="18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• 2026-04-18: drop the Wed e-blast,</a:t>
            </a:r>
            <a:endParaRPr lang="en-US" sz="1800" dirty="0"/>
          </a:p>
          <a:p>
            <a:pPr marL="0" indent="0" algn="l">
              <a:lnSpc>
                <a:spcPct val="17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        merge into Sunday recap</a:t>
            </a:r>
            <a:endParaRPr lang="en-US" sz="1800" dirty="0"/>
          </a:p>
          <a:p>
            <a:pPr marL="0" indent="0" algn="l">
              <a:lnSpc>
                <a:spcPct val="170000"/>
              </a:lnSpc>
              <a:buNone/>
            </a:pPr>
            <a:endParaRPr lang="en-US" sz="1800" dirty="0"/>
          </a:p>
          <a:p>
            <a:pPr marL="0" indent="0" algn="l">
              <a:lnSpc>
                <a:spcPct val="17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never_say_again:</a:t>
            </a:r>
            <a:endParaRPr lang="en-US" sz="1800" dirty="0"/>
          </a:p>
          <a:p>
            <a:pPr marL="0" indent="0" algn="l">
              <a:lnSpc>
                <a:spcPct val="17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•  </a:t>
            </a:r>
            <a:endParaRPr lang="en-US" sz="1800" dirty="0"/>
          </a:p>
          <a:p>
            <a:pPr marL="0" indent="0" algn="l">
              <a:lnSpc>
                <a:spcPct val="170000"/>
              </a:lnSpc>
              <a:buNone/>
            </a:pPr>
            <a:r>
              <a:rPr lang="en-US" sz="1800" b="1" dirty="0">
                <a:solidFill>
                  <a:srgbClr val="F582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"In today's fast-paced world..."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687449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429" dirty="0">
                <a:solidFill>
                  <a:srgbClr val="F5822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PUTTING IT TOGETHER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447800"/>
            <a:ext cx="16874490" cy="1558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5700" b="1" kern="0" spc="-85" dirty="0">
                <a:solidFill>
                  <a:srgbClr val="2A2D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Every turn, the model reads all of this at once.</a:t>
            </a: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952500" y="3158430"/>
            <a:ext cx="13735050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550" dirty="0">
                <a:solidFill>
                  <a:srgbClr val="6B6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"context window" is a finite room. You're the one deciding who gets a seat.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952500" y="4335661"/>
            <a:ext cx="16383000" cy="3981450"/>
          </a:xfrm>
          <a:prstGeom prst="roundRect">
            <a:avLst>
              <a:gd name="adj" fmla="val 3828"/>
            </a:avLst>
          </a:prstGeom>
          <a:solidFill>
            <a:srgbClr val="1B1D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257300" y="4711898"/>
            <a:ext cx="19812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INSTRUCTIONS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352800" y="4640461"/>
            <a:ext cx="12534900" cy="419100"/>
          </a:xfrm>
          <a:prstGeom prst="roundRect">
            <a:avLst>
              <a:gd name="adj" fmla="val 13636"/>
            </a:avLst>
          </a:prstGeom>
          <a:solidFill>
            <a:srgbClr val="FFFFFF">
              <a:alpha val="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352800" y="4640461"/>
            <a:ext cx="1770757" cy="419100"/>
          </a:xfrm>
          <a:prstGeom prst="roundRect">
            <a:avLst>
              <a:gd name="adj" fmla="val 13636"/>
            </a:avLst>
          </a:prstGeom>
          <a:solidFill>
            <a:srgbClr val="3FE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409950" y="4640461"/>
            <a:ext cx="1580257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800" b="1" kern="0" spc="72" dirty="0">
                <a:solidFill>
                  <a:srgbClr val="1B1D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~12%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6002000" y="4702373"/>
            <a:ext cx="10287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C9CBD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2K tok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57300" y="5245298"/>
            <a:ext cx="19812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KNOWLEDGE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352800" y="5173861"/>
            <a:ext cx="12534900" cy="419100"/>
          </a:xfrm>
          <a:prstGeom prst="roundRect">
            <a:avLst>
              <a:gd name="adj" fmla="val 13636"/>
            </a:avLst>
          </a:prstGeom>
          <a:solidFill>
            <a:srgbClr val="FFFFFF">
              <a:alpha val="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352800" y="5173861"/>
            <a:ext cx="5907286" cy="419100"/>
          </a:xfrm>
          <a:prstGeom prst="roundRect">
            <a:avLst>
              <a:gd name="adj" fmla="val 13636"/>
            </a:avLst>
          </a:prstGeom>
          <a:solidFill>
            <a:srgbClr val="7DECD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308931" y="5173861"/>
            <a:ext cx="5817805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800" b="1" kern="0" spc="72" dirty="0">
                <a:solidFill>
                  <a:srgbClr val="1B1D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~45%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6002000" y="5235773"/>
            <a:ext cx="10287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C9CBD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7K tok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57300" y="5864423"/>
            <a:ext cx="19812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TOOLS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3352800" y="5792986"/>
            <a:ext cx="12534900" cy="419100"/>
          </a:xfrm>
          <a:prstGeom prst="roundRect">
            <a:avLst>
              <a:gd name="adj" fmla="val 13636"/>
            </a:avLst>
          </a:prstGeom>
          <a:solidFill>
            <a:srgbClr val="FFFFFF">
              <a:alpha val="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352800" y="5792986"/>
            <a:ext cx="1269355" cy="419100"/>
          </a:xfrm>
          <a:prstGeom prst="roundRect">
            <a:avLst>
              <a:gd name="adj" fmla="val 13636"/>
            </a:avLst>
          </a:prstGeom>
          <a:solidFill>
            <a:srgbClr val="F582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409950" y="5792986"/>
            <a:ext cx="1078855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800" b="1" kern="0" spc="72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~8%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6002000" y="5707261"/>
            <a:ext cx="102870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C9CBD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1.3K tok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57300" y="6483548"/>
            <a:ext cx="19812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MEMORY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3352800" y="6412111"/>
            <a:ext cx="12534900" cy="419100"/>
          </a:xfrm>
          <a:prstGeom prst="roundRect">
            <a:avLst>
              <a:gd name="adj" fmla="val 13636"/>
            </a:avLst>
          </a:prstGeom>
          <a:solidFill>
            <a:srgbClr val="FFFFFF">
              <a:alpha val="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352800" y="6412111"/>
            <a:ext cx="2522934" cy="419100"/>
          </a:xfrm>
          <a:prstGeom prst="roundRect">
            <a:avLst>
              <a:gd name="adj" fmla="val 13636"/>
            </a:avLst>
          </a:prstGeom>
          <a:solidFill>
            <a:srgbClr val="FFC5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409950" y="6412111"/>
            <a:ext cx="2332434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800" b="1" kern="0" spc="72" dirty="0">
                <a:solidFill>
                  <a:srgbClr val="1B1D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~18%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6002000" y="6474023"/>
            <a:ext cx="10287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C9CBD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3K tok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257300" y="7016948"/>
            <a:ext cx="19812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USER TURN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3352800" y="6945511"/>
            <a:ext cx="12534900" cy="419100"/>
          </a:xfrm>
          <a:prstGeom prst="roundRect">
            <a:avLst>
              <a:gd name="adj" fmla="val 13636"/>
            </a:avLst>
          </a:prstGeom>
          <a:solidFill>
            <a:srgbClr val="FFFFFF">
              <a:alpha val="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3352800" y="6945511"/>
            <a:ext cx="1018729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409950" y="6945511"/>
            <a:ext cx="828229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800" b="1" kern="0" spc="72" dirty="0">
                <a:solidFill>
                  <a:srgbClr val="1B1D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~6%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6002000" y="7007423"/>
            <a:ext cx="10287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C9CBD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1K tok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1257300" y="7555111"/>
            <a:ext cx="15773400" cy="952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1257300" y="7717036"/>
            <a:ext cx="466225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C9CBD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Total used: </a:t>
            </a:r>
            <a:r>
              <a:rPr lang="en-US" sz="1800" b="1" dirty="0">
                <a:solidFill>
                  <a:srgbClr val="3FE0D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~14.3K of 200K tokens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2915900" y="7717036"/>
            <a:ext cx="423824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C9CBD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Headroom for the answer: </a:t>
            </a:r>
            <a:r>
              <a:rPr lang="en-US" sz="1800" b="1" dirty="0">
                <a:solidFill>
                  <a:srgbClr val="C9CBD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~185K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B1D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952750" y="2570113"/>
            <a:ext cx="1275397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840" dirty="0">
                <a:solidFill>
                  <a:srgbClr val="3FE0D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PART 03 / 06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2952750" y="3303538"/>
            <a:ext cx="12753975" cy="31867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700" b="1" kern="0" spc="-217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Anatomy of a great prompt.</a:t>
            </a:r>
            <a:endParaRPr lang="en-US" sz="8700" dirty="0"/>
          </a:p>
        </p:txBody>
      </p:sp>
      <p:sp>
        <p:nvSpPr>
          <p:cNvPr id="5" name="Text 3"/>
          <p:cNvSpPr/>
          <p:nvPr/>
        </p:nvSpPr>
        <p:spPr>
          <a:xfrm>
            <a:off x="2952750" y="6833146"/>
            <a:ext cx="12753975" cy="9218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400" dirty="0">
                <a:solidFill>
                  <a:srgbClr val="C9CB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reusable shape that works whether you're writing in ChatGPT, Claude, or your own app.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5031492" y="3643313"/>
            <a:ext cx="95250" cy="95250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5279142" y="3552825"/>
            <a:ext cx="2222153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FFFFFF">
                    <a:alpha val="2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 · Why Context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5031492" y="4224338"/>
            <a:ext cx="95250" cy="95250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5279142" y="4133850"/>
            <a:ext cx="206930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FFFFFF">
                    <a:alpha val="2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 · Four Pillars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5031492" y="4805363"/>
            <a:ext cx="95250" cy="95250"/>
          </a:xfrm>
          <a:prstGeom prst="ellipse">
            <a:avLst/>
          </a:prstGeom>
          <a:solidFill>
            <a:srgbClr val="3FE0D0"/>
          </a:solidFill>
          <a:ln/>
          <a:effectLst>
            <a:outerShdw blurRad="190500" dist="50800" dir="16200000" algn="bl" rotWithShape="0">
              <a:srgbClr val="3FE0D0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5279142" y="4714875"/>
            <a:ext cx="176599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3FE0D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 · Anatomy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5031492" y="5386388"/>
            <a:ext cx="95250" cy="95250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5279142" y="5295900"/>
            <a:ext cx="200531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FFFFFF">
                    <a:alpha val="2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 · Grounding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5031492" y="5967413"/>
            <a:ext cx="95250" cy="95250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5279142" y="5876925"/>
            <a:ext cx="150301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FFFFFF">
                    <a:alpha val="2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 · Pitfalls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5031492" y="6548438"/>
            <a:ext cx="95250" cy="95250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5279142" y="6457950"/>
            <a:ext cx="2323058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FFFFFF">
                    <a:alpha val="2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06 · Take It Home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687449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429" dirty="0">
                <a:solidFill>
                  <a:srgbClr val="F5822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SHAPE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447800"/>
            <a:ext cx="16874490" cy="798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5700" b="1" kern="0" spc="-85" dirty="0">
                <a:solidFill>
                  <a:srgbClr val="2A2D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Role · Task · Context · Format.</a:t>
            </a: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952500" y="2398365"/>
            <a:ext cx="13735050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550" dirty="0">
                <a:solidFill>
                  <a:srgbClr val="6B6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Four lines. In that order. Add details inside each line as needed.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952500" y="3575596"/>
            <a:ext cx="3619500" cy="5413325"/>
          </a:xfrm>
          <a:prstGeom prst="roundRect">
            <a:avLst>
              <a:gd name="adj" fmla="val 4211"/>
            </a:avLst>
          </a:prstGeom>
          <a:solidFill>
            <a:srgbClr val="F7F5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52500" y="8979396"/>
            <a:ext cx="3619500" cy="9525"/>
          </a:xfrm>
          <a:prstGeom prst="rect">
            <a:avLst/>
          </a:prstGeom>
          <a:solidFill>
            <a:srgbClr val="E5E5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52500" y="3575596"/>
            <a:ext cx="3619500" cy="38100"/>
          </a:xfrm>
          <a:prstGeom prst="rect">
            <a:avLst/>
          </a:prstGeom>
          <a:solidFill>
            <a:srgbClr val="F582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52500" y="3575596"/>
            <a:ext cx="9525" cy="5413325"/>
          </a:xfrm>
          <a:prstGeom prst="rect">
            <a:avLst/>
          </a:prstGeom>
          <a:solidFill>
            <a:srgbClr val="E5E5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62475" y="3575596"/>
            <a:ext cx="9525" cy="5413325"/>
          </a:xfrm>
          <a:prstGeom prst="rect">
            <a:avLst/>
          </a:prstGeom>
          <a:solidFill>
            <a:srgbClr val="E5E5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266825" y="3918496"/>
            <a:ext cx="3080576" cy="8609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7200" b="1" kern="0" spc="-288" dirty="0">
                <a:solidFill>
                  <a:srgbClr val="F5822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</a:t>
            </a:r>
            <a:endParaRPr lang="en-US" sz="7200" dirty="0"/>
          </a:p>
        </p:txBody>
      </p:sp>
      <p:sp>
        <p:nvSpPr>
          <p:cNvPr id="11" name="Text 9"/>
          <p:cNvSpPr/>
          <p:nvPr/>
        </p:nvSpPr>
        <p:spPr>
          <a:xfrm>
            <a:off x="1266825" y="4893766"/>
            <a:ext cx="3080576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kern="0" spc="-11" dirty="0">
                <a:solidFill>
                  <a:srgbClr val="2A2D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Role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1266825" y="5398591"/>
            <a:ext cx="3080576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Who is the model right now? One sentence.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266825" y="6933902"/>
            <a:ext cx="2990850" cy="1740694"/>
          </a:xfrm>
          <a:prstGeom prst="roundRect">
            <a:avLst>
              <a:gd name="adj" fmla="val 4378"/>
            </a:avLst>
          </a:prstGeom>
          <a:solidFill>
            <a:srgbClr val="FFFFFF"/>
          </a:solidFill>
          <a:ln w="9525">
            <a:solidFill>
              <a:srgbClr val="E5E5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447800" y="7095827"/>
            <a:ext cx="2718626" cy="1454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800" dirty="0">
                <a:solidFill>
                  <a:srgbClr val="2A2D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"You are a comms-team editor at a 1,200-attendee church."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838700" y="3575596"/>
            <a:ext cx="3619500" cy="5413325"/>
          </a:xfrm>
          <a:prstGeom prst="roundRect">
            <a:avLst>
              <a:gd name="adj" fmla="val 4211"/>
            </a:avLst>
          </a:prstGeom>
          <a:solidFill>
            <a:srgbClr val="F7F5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838700" y="8979396"/>
            <a:ext cx="3619500" cy="9525"/>
          </a:xfrm>
          <a:prstGeom prst="rect">
            <a:avLst/>
          </a:prstGeom>
          <a:solidFill>
            <a:srgbClr val="E5E5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838700" y="3575596"/>
            <a:ext cx="3619500" cy="38100"/>
          </a:xfrm>
          <a:prstGeom prst="rect">
            <a:avLst/>
          </a:prstGeom>
          <a:solidFill>
            <a:srgbClr val="3FE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838700" y="3575596"/>
            <a:ext cx="9525" cy="5413325"/>
          </a:xfrm>
          <a:prstGeom prst="rect">
            <a:avLst/>
          </a:prstGeom>
          <a:solidFill>
            <a:srgbClr val="E5E5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448675" y="3575596"/>
            <a:ext cx="9525" cy="5413325"/>
          </a:xfrm>
          <a:prstGeom prst="rect">
            <a:avLst/>
          </a:prstGeom>
          <a:solidFill>
            <a:srgbClr val="E5E5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153025" y="3918496"/>
            <a:ext cx="3080576" cy="8609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7200" b="1" kern="0" spc="-288" dirty="0">
                <a:solidFill>
                  <a:srgbClr val="3FE0D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</a:t>
            </a:r>
            <a:endParaRPr lang="en-US" sz="7200" dirty="0"/>
          </a:p>
        </p:txBody>
      </p:sp>
      <p:sp>
        <p:nvSpPr>
          <p:cNvPr id="21" name="Text 19"/>
          <p:cNvSpPr/>
          <p:nvPr/>
        </p:nvSpPr>
        <p:spPr>
          <a:xfrm>
            <a:off x="5153025" y="4893766"/>
            <a:ext cx="3080576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kern="0" spc="-11" dirty="0">
                <a:solidFill>
                  <a:srgbClr val="2A2D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Task</a:t>
            </a:r>
            <a:endParaRPr lang="en-US" sz="2250" dirty="0"/>
          </a:p>
        </p:txBody>
      </p:sp>
      <p:sp>
        <p:nvSpPr>
          <p:cNvPr id="22" name="Text 20"/>
          <p:cNvSpPr/>
          <p:nvPr/>
        </p:nvSpPr>
        <p:spPr>
          <a:xfrm>
            <a:off x="5153025" y="5398591"/>
            <a:ext cx="3080576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single outcome do you want this turn?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5153025" y="6579691"/>
            <a:ext cx="2990850" cy="2094905"/>
          </a:xfrm>
          <a:prstGeom prst="roundRect">
            <a:avLst>
              <a:gd name="adj" fmla="val 3637"/>
            </a:avLst>
          </a:prstGeom>
          <a:solidFill>
            <a:srgbClr val="FFFFFF"/>
          </a:solidFill>
          <a:ln w="9525">
            <a:solidFill>
              <a:srgbClr val="E5E5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334000" y="6741616"/>
            <a:ext cx="2718626" cy="18091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800" dirty="0">
                <a:solidFill>
                  <a:srgbClr val="2A2D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"Draft a 120-word email reminding parents about Tuesday's parent meeting."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8724900" y="3575596"/>
            <a:ext cx="3619500" cy="5413325"/>
          </a:xfrm>
          <a:prstGeom prst="roundRect">
            <a:avLst>
              <a:gd name="adj" fmla="val 4211"/>
            </a:avLst>
          </a:prstGeom>
          <a:solidFill>
            <a:srgbClr val="F7F5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8724900" y="8979396"/>
            <a:ext cx="3619500" cy="9525"/>
          </a:xfrm>
          <a:prstGeom prst="rect">
            <a:avLst/>
          </a:prstGeom>
          <a:solidFill>
            <a:srgbClr val="E5E5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8724900" y="3575596"/>
            <a:ext cx="3619500" cy="38100"/>
          </a:xfrm>
          <a:prstGeom prst="rect">
            <a:avLst/>
          </a:prstGeom>
          <a:solidFill>
            <a:srgbClr val="F582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8724900" y="3575596"/>
            <a:ext cx="9525" cy="5413325"/>
          </a:xfrm>
          <a:prstGeom prst="rect">
            <a:avLst/>
          </a:prstGeom>
          <a:solidFill>
            <a:srgbClr val="E5E5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12334875" y="3575596"/>
            <a:ext cx="9525" cy="5413325"/>
          </a:xfrm>
          <a:prstGeom prst="rect">
            <a:avLst/>
          </a:prstGeom>
          <a:solidFill>
            <a:srgbClr val="E5E5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9039225" y="3918496"/>
            <a:ext cx="3080576" cy="8609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7200" b="1" kern="0" spc="-288" dirty="0">
                <a:solidFill>
                  <a:srgbClr val="F5822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</a:t>
            </a:r>
            <a:endParaRPr lang="en-US" sz="7200" dirty="0"/>
          </a:p>
        </p:txBody>
      </p:sp>
      <p:sp>
        <p:nvSpPr>
          <p:cNvPr id="31" name="Text 29"/>
          <p:cNvSpPr/>
          <p:nvPr/>
        </p:nvSpPr>
        <p:spPr>
          <a:xfrm>
            <a:off x="9039225" y="4893766"/>
            <a:ext cx="3080576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kern="0" spc="-11" dirty="0">
                <a:solidFill>
                  <a:srgbClr val="2A2D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Context</a:t>
            </a:r>
            <a:endParaRPr lang="en-US" sz="2250" dirty="0"/>
          </a:p>
        </p:txBody>
      </p:sp>
      <p:sp>
        <p:nvSpPr>
          <p:cNvPr id="32" name="Text 30"/>
          <p:cNvSpPr/>
          <p:nvPr/>
        </p:nvSpPr>
        <p:spPr>
          <a:xfrm>
            <a:off x="9039225" y="5398591"/>
            <a:ext cx="3080576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Facts the model couldn't possibly know on its own.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9039225" y="6933902"/>
            <a:ext cx="2990850" cy="1740694"/>
          </a:xfrm>
          <a:prstGeom prst="roundRect">
            <a:avLst>
              <a:gd name="adj" fmla="val 4378"/>
            </a:avLst>
          </a:prstGeom>
          <a:solidFill>
            <a:srgbClr val="FFFFFF"/>
          </a:solidFill>
          <a:ln w="9525">
            <a:solidFill>
              <a:srgbClr val="E5E5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9220200" y="7095827"/>
            <a:ext cx="2718626" cy="1454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800" dirty="0">
                <a:solidFill>
                  <a:srgbClr val="2A2D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"Meeting is 6:30pm in the Commons. RSVPs go to kids@nwchurch.org ."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12611100" y="3575596"/>
            <a:ext cx="3619500" cy="5413325"/>
          </a:xfrm>
          <a:prstGeom prst="roundRect">
            <a:avLst>
              <a:gd name="adj" fmla="val 4211"/>
            </a:avLst>
          </a:prstGeom>
          <a:solidFill>
            <a:srgbClr val="F7F5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12611100" y="8979396"/>
            <a:ext cx="3619500" cy="9525"/>
          </a:xfrm>
          <a:prstGeom prst="rect">
            <a:avLst/>
          </a:prstGeom>
          <a:solidFill>
            <a:srgbClr val="E5E5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12611100" y="3575596"/>
            <a:ext cx="3619500" cy="38100"/>
          </a:xfrm>
          <a:prstGeom prst="rect">
            <a:avLst/>
          </a:prstGeom>
          <a:solidFill>
            <a:srgbClr val="3FE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12611100" y="3575596"/>
            <a:ext cx="9525" cy="5413325"/>
          </a:xfrm>
          <a:prstGeom prst="rect">
            <a:avLst/>
          </a:prstGeom>
          <a:solidFill>
            <a:srgbClr val="E5E5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16221075" y="3575596"/>
            <a:ext cx="9525" cy="5413325"/>
          </a:xfrm>
          <a:prstGeom prst="rect">
            <a:avLst/>
          </a:prstGeom>
          <a:solidFill>
            <a:srgbClr val="E5E5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12925425" y="3918496"/>
            <a:ext cx="3080576" cy="8609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7200" b="1" kern="0" spc="-288" dirty="0">
                <a:solidFill>
                  <a:srgbClr val="3FE0D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</a:t>
            </a:r>
            <a:endParaRPr lang="en-US" sz="7200" dirty="0"/>
          </a:p>
        </p:txBody>
      </p:sp>
      <p:sp>
        <p:nvSpPr>
          <p:cNvPr id="41" name="Text 39"/>
          <p:cNvSpPr/>
          <p:nvPr/>
        </p:nvSpPr>
        <p:spPr>
          <a:xfrm>
            <a:off x="12925425" y="4893766"/>
            <a:ext cx="3080576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kern="0" spc="-11" dirty="0">
                <a:solidFill>
                  <a:srgbClr val="2A2D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Format</a:t>
            </a:r>
            <a:endParaRPr lang="en-US" sz="2250" dirty="0"/>
          </a:p>
        </p:txBody>
      </p:sp>
      <p:sp>
        <p:nvSpPr>
          <p:cNvPr id="42" name="Text 40"/>
          <p:cNvSpPr/>
          <p:nvPr/>
        </p:nvSpPr>
        <p:spPr>
          <a:xfrm>
            <a:off x="12925425" y="5398591"/>
            <a:ext cx="3080576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shape of the output. Length, structure, do's and don'ts.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12925425" y="6579691"/>
            <a:ext cx="2990850" cy="2094905"/>
          </a:xfrm>
          <a:prstGeom prst="roundRect">
            <a:avLst>
              <a:gd name="adj" fmla="val 3637"/>
            </a:avLst>
          </a:prstGeom>
          <a:solidFill>
            <a:srgbClr val="FFFFFF"/>
          </a:solidFill>
          <a:ln w="9525">
            <a:solidFill>
              <a:srgbClr val="E5E5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13106400" y="6741616"/>
            <a:ext cx="2718626" cy="18091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800" dirty="0">
                <a:solidFill>
                  <a:srgbClr val="2A2D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"Subject line + 2 short paragraphs. No exclamation points. Sign as 'Kids Team.'"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687449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429" dirty="0">
                <a:solidFill>
                  <a:srgbClr val="F5822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SAME GOAL · DIFFERENT OUTPUT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447800"/>
            <a:ext cx="16874490" cy="798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5700" b="1" kern="0" spc="-85" dirty="0">
                <a:solidFill>
                  <a:srgbClr val="2A2D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Bad prompt. Good prompt.</a:t>
            </a:r>
            <a:endParaRPr lang="en-US" sz="5700" dirty="0"/>
          </a:p>
        </p:txBody>
      </p:sp>
      <p:sp>
        <p:nvSpPr>
          <p:cNvPr id="4" name="Shape 2"/>
          <p:cNvSpPr/>
          <p:nvPr/>
        </p:nvSpPr>
        <p:spPr>
          <a:xfrm>
            <a:off x="952500" y="2703165"/>
            <a:ext cx="914400" cy="38100"/>
          </a:xfrm>
          <a:prstGeom prst="roundRect">
            <a:avLst>
              <a:gd name="adj" fmla="val 50000"/>
            </a:avLst>
          </a:prstGeom>
          <a:solidFill>
            <a:srgbClr val="F582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52500" y="3236565"/>
            <a:ext cx="8039100" cy="5338614"/>
          </a:xfrm>
          <a:prstGeom prst="roundRect">
            <a:avLst>
              <a:gd name="adj" fmla="val 2855"/>
            </a:avLst>
          </a:prstGeom>
          <a:solidFill>
            <a:srgbClr val="FBE5E1"/>
          </a:solidFill>
          <a:ln w="9525">
            <a:solidFill>
              <a:srgbClr val="F0BF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343025" y="3588990"/>
            <a:ext cx="30420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24" dirty="0">
                <a:solidFill>
                  <a:srgbClr val="B5341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✕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704380" y="3603278"/>
            <a:ext cx="1134963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24" dirty="0">
                <a:solidFill>
                  <a:srgbClr val="B5341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VAGUE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43025" y="4084290"/>
            <a:ext cx="7475792" cy="7465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800" dirty="0">
                <a:solidFill>
                  <a:srgbClr val="2A2D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Write a thank-you email to volunteers from last weekend.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343025" y="7131248"/>
            <a:ext cx="7258050" cy="9525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343025" y="7331273"/>
            <a:ext cx="7475792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3D40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has to guess </a:t>
            </a:r>
            <a:r>
              <a:rPr lang="en-US" sz="1800" b="1" dirty="0">
                <a:solidFill>
                  <a:srgbClr val="3D40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who</a:t>
            </a:r>
            <a:r>
              <a:rPr lang="en-US" sz="1800" dirty="0">
                <a:solidFill>
                  <a:srgbClr val="3D40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r>
              <a:rPr lang="en-US" sz="1800" b="1" dirty="0">
                <a:solidFill>
                  <a:srgbClr val="3D40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they did</a:t>
            </a:r>
            <a:r>
              <a:rPr lang="en-US" sz="1800" dirty="0">
                <a:solidFill>
                  <a:srgbClr val="3D40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your </a:t>
            </a:r>
            <a:r>
              <a:rPr lang="en-US" sz="1800" b="1" dirty="0">
                <a:solidFill>
                  <a:srgbClr val="3D40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voice</a:t>
            </a:r>
            <a:r>
              <a:rPr lang="en-US" sz="1800" dirty="0">
                <a:solidFill>
                  <a:srgbClr val="3D40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and the </a:t>
            </a:r>
            <a:r>
              <a:rPr lang="en-US" sz="1800" b="1" dirty="0">
                <a:solidFill>
                  <a:srgbClr val="3D40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length</a:t>
            </a:r>
            <a:r>
              <a:rPr lang="en-US" sz="1800" dirty="0">
                <a:solidFill>
                  <a:srgbClr val="3D40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You'll edit for 20 minutes.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296400" y="3236565"/>
            <a:ext cx="8039100" cy="5338614"/>
          </a:xfrm>
          <a:prstGeom prst="roundRect">
            <a:avLst>
              <a:gd name="adj" fmla="val 2855"/>
            </a:avLst>
          </a:prstGeom>
          <a:solidFill>
            <a:srgbClr val="E6F4EA"/>
          </a:solidFill>
          <a:ln w="9525">
            <a:solidFill>
              <a:srgbClr val="B7DC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686925" y="3588990"/>
            <a:ext cx="28857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24" dirty="0">
                <a:solidFill>
                  <a:srgbClr val="2F8F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✓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032653" y="3603278"/>
            <a:ext cx="2082254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24" dirty="0">
                <a:solidFill>
                  <a:srgbClr val="2F8F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ENGINEERED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686925" y="4084290"/>
            <a:ext cx="7475792" cy="32259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800" dirty="0">
                <a:solidFill>
                  <a:srgbClr val="2A2D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You're our comms editor (warm, plainspoken).</a:t>
            </a:r>
            <a:endParaRPr lang="en-US" sz="1800" dirty="0"/>
          </a:p>
          <a:p>
            <a:pPr marL="0" indent="0" algn="l">
              <a:lnSpc>
                <a:spcPct val="155000"/>
              </a:lnSpc>
              <a:buNone/>
            </a:pPr>
            <a:endParaRPr lang="en-US" sz="180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800" dirty="0">
                <a:solidFill>
                  <a:srgbClr val="2A2D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Draft a 90-word thank-you email to the 14 first-time hospitality volunteers from Easter weekend.</a:t>
            </a:r>
            <a:endParaRPr lang="en-US" sz="1800" dirty="0"/>
          </a:p>
          <a:p>
            <a:pPr marL="0" indent="0" algn="l">
              <a:lnSpc>
                <a:spcPct val="155000"/>
              </a:lnSpc>
              <a:buNone/>
            </a:pPr>
            <a:endParaRPr lang="en-US" sz="180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800" dirty="0">
                <a:solidFill>
                  <a:srgbClr val="2A2D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Reference the espresso bar mishap kindly. End with one sentence inviting them to the May 12 huddle.</a:t>
            </a:r>
            <a:endParaRPr lang="en-US" sz="1800" dirty="0"/>
          </a:p>
          <a:p>
            <a:pPr marL="0" indent="0" algn="l">
              <a:lnSpc>
                <a:spcPct val="155000"/>
              </a:lnSpc>
              <a:buNone/>
            </a:pPr>
            <a:endParaRPr lang="en-US" sz="180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800" dirty="0">
                <a:solidFill>
                  <a:srgbClr val="2A2D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No exclamation points.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686925" y="7462689"/>
            <a:ext cx="7258050" cy="9525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686925" y="7662714"/>
            <a:ext cx="7475792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3D40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Same model. Same minute. Vastly better first draft.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143500" cy="10287000"/>
          </a:xfrm>
          <a:prstGeom prst="rect">
            <a:avLst/>
          </a:prstGeom>
          <a:solidFill>
            <a:srgbClr val="1B1D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71500" y="952500"/>
            <a:ext cx="412051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540" dirty="0">
                <a:solidFill>
                  <a:srgbClr val="3FE0D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EXERCISE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71500" y="1552575"/>
            <a:ext cx="4120515" cy="1819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16500" b="1" kern="0" spc="-66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</a:t>
            </a:r>
            <a:r>
              <a:rPr lang="en-US" sz="16500" b="1" kern="0" spc="-660" dirty="0">
                <a:solidFill>
                  <a:srgbClr val="3FE0D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6500" dirty="0"/>
          </a:p>
        </p:txBody>
      </p:sp>
      <p:sp>
        <p:nvSpPr>
          <p:cNvPr id="5" name="Text 3"/>
          <p:cNvSpPr/>
          <p:nvPr/>
        </p:nvSpPr>
        <p:spPr>
          <a:xfrm>
            <a:off x="571500" y="3638550"/>
            <a:ext cx="4120515" cy="7084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400" b="1" kern="0" spc="96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REWRITE A REAL PROMPT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71500" y="9129713"/>
            <a:ext cx="114300" cy="114300"/>
          </a:xfrm>
          <a:prstGeom prst="ellipse">
            <a:avLst/>
          </a:prstGeom>
          <a:solidFill>
            <a:srgbClr val="3FE0D0"/>
          </a:solidFill>
          <a:ln/>
          <a:effectLst>
            <a:outerShdw blurRad="152400" dist="50800" dir="16200000" algn="bl" rotWithShape="0">
              <a:srgbClr val="3FE0D0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38200" y="9039225"/>
            <a:ext cx="254511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C9CBD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 minutes · pairs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143500" y="0"/>
            <a:ext cx="13144500" cy="10287000"/>
          </a:xfrm>
          <a:prstGeom prst="rect">
            <a:avLst/>
          </a:prstGeom>
          <a:solidFill>
            <a:srgbClr val="F7F5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096000" y="952500"/>
            <a:ext cx="11576685" cy="20780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5100" b="1" kern="0" spc="-76" dirty="0">
                <a:solidFill>
                  <a:srgbClr val="2A2D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Take a prompt you've actually used. Rewrite it as Role · Task · Context · Format.</a:t>
            </a:r>
            <a:endParaRPr lang="en-US" sz="5100" dirty="0"/>
          </a:p>
        </p:txBody>
      </p:sp>
      <p:sp>
        <p:nvSpPr>
          <p:cNvPr id="10" name="Text 8"/>
          <p:cNvSpPr/>
          <p:nvPr/>
        </p:nvSpPr>
        <p:spPr>
          <a:xfrm>
            <a:off x="6096000" y="3383012"/>
            <a:ext cx="6096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b="1" kern="0" spc="108" dirty="0">
                <a:solidFill>
                  <a:srgbClr val="F582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819900" y="3335387"/>
            <a:ext cx="10831068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00" dirty="0">
                <a:solidFill>
                  <a:srgbClr val="2A2D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ChatGPT or Claude. Pick a prompt from your last week of work.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6096000" y="3973562"/>
            <a:ext cx="6096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b="1" kern="0" spc="108" dirty="0">
                <a:solidFill>
                  <a:srgbClr val="F582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819900" y="3925937"/>
            <a:ext cx="10831068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00" dirty="0">
                <a:solidFill>
                  <a:srgbClr val="2A2D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Rewrite it using the four lines. Add the church-specific facts the model can't know.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6096000" y="4564112"/>
            <a:ext cx="6096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b="1" kern="0" spc="108" dirty="0">
                <a:solidFill>
                  <a:srgbClr val="F582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819900" y="4516487"/>
            <a:ext cx="10831068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00" dirty="0">
                <a:solidFill>
                  <a:srgbClr val="2A2D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 both. Compare. Note one observable difference.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6096000" y="5259437"/>
            <a:ext cx="11239500" cy="2304455"/>
          </a:xfrm>
          <a:prstGeom prst="roundRect">
            <a:avLst>
              <a:gd name="adj" fmla="val 5787"/>
            </a:avLst>
          </a:prstGeom>
          <a:solidFill>
            <a:srgbClr val="1B1D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0800" y="5526137"/>
            <a:ext cx="10967085" cy="18091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800" dirty="0">
                <a:solidFill>
                  <a:srgbClr val="FFFFFF"/>
                </a:solidFill>
                <a:highlight>
                  <a:srgbClr val="1B1D24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Try this template: </a:t>
            </a:r>
            <a:r>
              <a:rPr lang="en-US" sz="1800" dirty="0">
                <a:solidFill>
                  <a:srgbClr val="3FE0D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You are [role] for [audience]. Task:</a:t>
            </a:r>
            <a:r>
              <a:rPr lang="en-US" sz="1800" dirty="0">
                <a:solidFill>
                  <a:srgbClr val="FFFFFF"/>
                </a:solidFill>
                <a:highlight>
                  <a:srgbClr val="1B1D24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[single outcome, with length]. </a:t>
            </a:r>
            <a:r>
              <a:rPr lang="en-US" sz="1800" dirty="0">
                <a:solidFill>
                  <a:srgbClr val="3FE0D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Context:</a:t>
            </a:r>
            <a:r>
              <a:rPr lang="en-US" sz="1800" dirty="0">
                <a:solidFill>
                  <a:srgbClr val="FFFFFF"/>
                </a:solidFill>
                <a:highlight>
                  <a:srgbClr val="1B1D24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[3–5 facts only]. </a:t>
            </a:r>
            <a:r>
              <a:rPr lang="en-US" sz="1800" dirty="0">
                <a:solidFill>
                  <a:srgbClr val="3FE0D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Format:</a:t>
            </a:r>
            <a:r>
              <a:rPr lang="en-US" sz="1800" dirty="0">
                <a:solidFill>
                  <a:srgbClr val="FFFFFF"/>
                </a:solidFill>
                <a:highlight>
                  <a:srgbClr val="1B1D24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[shape + 1 hard rule].</a:t>
            </a:r>
            <a:endParaRPr lang="en-US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B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B1D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532436" y="2573834"/>
            <a:ext cx="11559669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840" dirty="0">
                <a:solidFill>
                  <a:srgbClr val="3FE0D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PART 04 / 06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532436" y="3307259"/>
            <a:ext cx="11559669" cy="36211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9900" b="1" kern="0" spc="-247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Grounding in your reality.</a:t>
            </a:r>
            <a:endParaRPr lang="en-US" sz="9900" dirty="0"/>
          </a:p>
        </p:txBody>
      </p:sp>
      <p:sp>
        <p:nvSpPr>
          <p:cNvPr id="5" name="Text 3"/>
          <p:cNvSpPr/>
          <p:nvPr/>
        </p:nvSpPr>
        <p:spPr>
          <a:xfrm>
            <a:off x="3532436" y="7271296"/>
            <a:ext cx="11559669" cy="4799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400" dirty="0">
                <a:solidFill>
                  <a:srgbClr val="C9CB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Generic AI gives generic answers. The fix is the data </a:t>
            </a:r>
            <a:r>
              <a:rPr lang="en-US" sz="2400" dirty="0">
                <a:solidFill>
                  <a:srgbClr val="3FE0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church </a:t>
            </a:r>
            <a:r>
              <a:rPr lang="en-US" sz="2400" dirty="0">
                <a:solidFill>
                  <a:srgbClr val="C9CB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already has.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5031492" y="3643313"/>
            <a:ext cx="95250" cy="95250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5279142" y="3552825"/>
            <a:ext cx="2222153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FFFFFF">
                    <a:alpha val="2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 · Why Context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5031492" y="4224338"/>
            <a:ext cx="95250" cy="95250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5279142" y="4133850"/>
            <a:ext cx="206930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FFFFFF">
                    <a:alpha val="2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 · Four Pillars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5031492" y="4805363"/>
            <a:ext cx="95250" cy="95250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5279142" y="4714875"/>
            <a:ext cx="176599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FFFFFF">
                    <a:alpha val="2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 · Anatomy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5031492" y="5386388"/>
            <a:ext cx="95250" cy="95250"/>
          </a:xfrm>
          <a:prstGeom prst="ellipse">
            <a:avLst/>
          </a:prstGeom>
          <a:solidFill>
            <a:srgbClr val="3FE0D0"/>
          </a:solidFill>
          <a:ln/>
          <a:effectLst>
            <a:outerShdw blurRad="190500" dist="50800" dir="16200000" algn="bl" rotWithShape="0">
              <a:srgbClr val="3FE0D0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5279142" y="5295900"/>
            <a:ext cx="200531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3FE0D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 · Grounding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5031492" y="5967413"/>
            <a:ext cx="95250" cy="95250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5279142" y="5876925"/>
            <a:ext cx="150301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FFFFFF">
                    <a:alpha val="2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 · Pitfalls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5031492" y="6548438"/>
            <a:ext cx="95250" cy="95250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5279142" y="6457950"/>
            <a:ext cx="2323058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FFFFFF">
                    <a:alpha val="2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06 · Take It Home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687449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429" dirty="0">
                <a:solidFill>
                  <a:srgbClr val="F5822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INVENTORY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447800"/>
            <a:ext cx="16874490" cy="798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5700" b="1" kern="0" spc="-85" dirty="0">
                <a:solidFill>
                  <a:srgbClr val="2A2D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counts as context for your church.</a:t>
            </a:r>
            <a:endParaRPr lang="en-US" sz="5700" dirty="0"/>
          </a:p>
        </p:txBody>
      </p:sp>
      <p:sp>
        <p:nvSpPr>
          <p:cNvPr id="4" name="Shape 2"/>
          <p:cNvSpPr/>
          <p:nvPr/>
        </p:nvSpPr>
        <p:spPr>
          <a:xfrm>
            <a:off x="952500" y="3541365"/>
            <a:ext cx="4914900" cy="19050"/>
          </a:xfrm>
          <a:prstGeom prst="rect">
            <a:avLst/>
          </a:prstGeom>
          <a:solidFill>
            <a:srgbClr val="2A2D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81100" y="3103215"/>
            <a:ext cx="460514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kern="0" spc="216" dirty="0">
                <a:solidFill>
                  <a:srgbClr val="F5822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SOURCE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867400" y="3541365"/>
            <a:ext cx="8717161" cy="19050"/>
          </a:xfrm>
          <a:prstGeom prst="rect">
            <a:avLst/>
          </a:prstGeom>
          <a:solidFill>
            <a:srgbClr val="2A2D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096000" y="3103215"/>
            <a:ext cx="852147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kern="0" spc="216" dirty="0">
                <a:solidFill>
                  <a:srgbClr val="F5822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IT GIVES THE MODEL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4584561" y="3541365"/>
            <a:ext cx="2750939" cy="19050"/>
          </a:xfrm>
          <a:prstGeom prst="rect">
            <a:avLst/>
          </a:prstGeom>
          <a:solidFill>
            <a:srgbClr val="2A2D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4813161" y="3103215"/>
            <a:ext cx="237626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kern="0" spc="216" dirty="0">
                <a:solidFill>
                  <a:srgbClr val="F5822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REFRESH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52500" y="4330898"/>
            <a:ext cx="4914900" cy="9525"/>
          </a:xfrm>
          <a:prstGeom prst="rect">
            <a:avLst/>
          </a:prstGeom>
          <a:solidFill>
            <a:srgbClr val="E5E5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181100" y="3769965"/>
            <a:ext cx="4605147" cy="3894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2A2D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Sermon transcripts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5867400" y="4330898"/>
            <a:ext cx="8717161" cy="9525"/>
          </a:xfrm>
          <a:prstGeom prst="rect">
            <a:avLst/>
          </a:prstGeom>
          <a:solidFill>
            <a:srgbClr val="E5E5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096000" y="3769965"/>
            <a:ext cx="8521476" cy="3894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2A2D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Voice, theology, recurring themes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14584561" y="4330898"/>
            <a:ext cx="2750939" cy="9525"/>
          </a:xfrm>
          <a:prstGeom prst="rect">
            <a:avLst/>
          </a:prstGeom>
          <a:solidFill>
            <a:srgbClr val="E5E5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4813161" y="3769965"/>
            <a:ext cx="2376267" cy="3894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6B6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Weekly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52500" y="5106144"/>
            <a:ext cx="4914900" cy="9525"/>
          </a:xfrm>
          <a:prstGeom prst="rect">
            <a:avLst/>
          </a:prstGeom>
          <a:solidFill>
            <a:srgbClr val="E5E5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181100" y="4549973"/>
            <a:ext cx="4605147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2A2D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Mission &amp; values doc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5867400" y="5106144"/>
            <a:ext cx="8717161" cy="9525"/>
          </a:xfrm>
          <a:prstGeom prst="rect">
            <a:avLst/>
          </a:prstGeom>
          <a:solidFill>
            <a:srgbClr val="E5E5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096000" y="4549973"/>
            <a:ext cx="8521476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2A2D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non-negotiables, the language you use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14584561" y="5106144"/>
            <a:ext cx="2750939" cy="9525"/>
          </a:xfrm>
          <a:prstGeom prst="rect">
            <a:avLst/>
          </a:prstGeom>
          <a:solidFill>
            <a:srgbClr val="E5E5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4813161" y="4549973"/>
            <a:ext cx="2376267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6B6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Yearly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952500" y="5881390"/>
            <a:ext cx="4914900" cy="9525"/>
          </a:xfrm>
          <a:prstGeom prst="rect">
            <a:avLst/>
          </a:prstGeom>
          <a:solidFill>
            <a:srgbClr val="E5E5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181100" y="5325219"/>
            <a:ext cx="4605147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2A2D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Past newsletters &amp; emails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5867400" y="5881390"/>
            <a:ext cx="8717161" cy="9525"/>
          </a:xfrm>
          <a:prstGeom prst="rect">
            <a:avLst/>
          </a:prstGeom>
          <a:solidFill>
            <a:srgbClr val="E5E5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096000" y="5325219"/>
            <a:ext cx="8521476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2A2D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Tone calibration — what "sounds like us"</a:t>
            </a:r>
            <a:endParaRPr lang="en-US" sz="1950" dirty="0"/>
          </a:p>
        </p:txBody>
      </p:sp>
      <p:sp>
        <p:nvSpPr>
          <p:cNvPr id="26" name="Shape 24"/>
          <p:cNvSpPr/>
          <p:nvPr/>
        </p:nvSpPr>
        <p:spPr>
          <a:xfrm>
            <a:off x="14584561" y="5881390"/>
            <a:ext cx="2750939" cy="9525"/>
          </a:xfrm>
          <a:prstGeom prst="rect">
            <a:avLst/>
          </a:prstGeom>
          <a:solidFill>
            <a:srgbClr val="E5E5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4813161" y="5325219"/>
            <a:ext cx="2376267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6B6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Monthly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952500" y="6656636"/>
            <a:ext cx="4914900" cy="9525"/>
          </a:xfrm>
          <a:prstGeom prst="rect">
            <a:avLst/>
          </a:prstGeom>
          <a:solidFill>
            <a:srgbClr val="E5E5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181100" y="6100465"/>
            <a:ext cx="4605147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2A2D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Event &amp; service calendar</a:t>
            </a:r>
            <a:endParaRPr lang="en-US" sz="1950" dirty="0"/>
          </a:p>
        </p:txBody>
      </p:sp>
      <p:sp>
        <p:nvSpPr>
          <p:cNvPr id="30" name="Shape 28"/>
          <p:cNvSpPr/>
          <p:nvPr/>
        </p:nvSpPr>
        <p:spPr>
          <a:xfrm>
            <a:off x="5867400" y="6656636"/>
            <a:ext cx="8717161" cy="9525"/>
          </a:xfrm>
          <a:prstGeom prst="rect">
            <a:avLst/>
          </a:prstGeom>
          <a:solidFill>
            <a:srgbClr val="E5E5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096000" y="6100465"/>
            <a:ext cx="8521476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2A2D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Dates, times, locations, registration links</a:t>
            </a:r>
            <a:endParaRPr lang="en-US" sz="1950" dirty="0"/>
          </a:p>
        </p:txBody>
      </p:sp>
      <p:sp>
        <p:nvSpPr>
          <p:cNvPr id="32" name="Shape 30"/>
          <p:cNvSpPr/>
          <p:nvPr/>
        </p:nvSpPr>
        <p:spPr>
          <a:xfrm>
            <a:off x="14584561" y="6656636"/>
            <a:ext cx="2750939" cy="9525"/>
          </a:xfrm>
          <a:prstGeom prst="rect">
            <a:avLst/>
          </a:prstGeom>
          <a:solidFill>
            <a:srgbClr val="E5E5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14813161" y="6100465"/>
            <a:ext cx="2376267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6B6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952500" y="7431881"/>
            <a:ext cx="4914900" cy="9525"/>
          </a:xfrm>
          <a:prstGeom prst="rect">
            <a:avLst/>
          </a:prstGeom>
          <a:solidFill>
            <a:srgbClr val="E5E5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1181100" y="6875711"/>
            <a:ext cx="4605147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2A2D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Volunteer &amp; team rosters</a:t>
            </a:r>
            <a:endParaRPr lang="en-US" sz="1950" dirty="0"/>
          </a:p>
        </p:txBody>
      </p:sp>
      <p:sp>
        <p:nvSpPr>
          <p:cNvPr id="36" name="Shape 34"/>
          <p:cNvSpPr/>
          <p:nvPr/>
        </p:nvSpPr>
        <p:spPr>
          <a:xfrm>
            <a:off x="5867400" y="7431881"/>
            <a:ext cx="8717161" cy="9525"/>
          </a:xfrm>
          <a:prstGeom prst="rect">
            <a:avLst/>
          </a:prstGeom>
          <a:solidFill>
            <a:srgbClr val="E5E5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096000" y="6875711"/>
            <a:ext cx="8521476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2A2D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Who does what, who to address, who's new</a:t>
            </a:r>
            <a:endParaRPr lang="en-US" sz="1950" dirty="0"/>
          </a:p>
        </p:txBody>
      </p:sp>
      <p:sp>
        <p:nvSpPr>
          <p:cNvPr id="38" name="Shape 36"/>
          <p:cNvSpPr/>
          <p:nvPr/>
        </p:nvSpPr>
        <p:spPr>
          <a:xfrm>
            <a:off x="14584561" y="7431881"/>
            <a:ext cx="2750939" cy="9525"/>
          </a:xfrm>
          <a:prstGeom prst="rect">
            <a:avLst/>
          </a:prstGeom>
          <a:solidFill>
            <a:srgbClr val="E5E5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14813161" y="6875711"/>
            <a:ext cx="2376267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6B6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Weekly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952500" y="8207127"/>
            <a:ext cx="4914900" cy="9525"/>
          </a:xfrm>
          <a:prstGeom prst="rect">
            <a:avLst/>
          </a:prstGeom>
          <a:solidFill>
            <a:srgbClr val="E5E5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1181100" y="7650956"/>
            <a:ext cx="4605147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2A2D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Brand &amp; style guide</a:t>
            </a:r>
            <a:endParaRPr lang="en-US" sz="1950" dirty="0"/>
          </a:p>
        </p:txBody>
      </p:sp>
      <p:sp>
        <p:nvSpPr>
          <p:cNvPr id="42" name="Shape 40"/>
          <p:cNvSpPr/>
          <p:nvPr/>
        </p:nvSpPr>
        <p:spPr>
          <a:xfrm>
            <a:off x="5867400" y="8207127"/>
            <a:ext cx="8717161" cy="9525"/>
          </a:xfrm>
          <a:prstGeom prst="rect">
            <a:avLst/>
          </a:prstGeom>
          <a:solidFill>
            <a:srgbClr val="E5E5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096000" y="7650956"/>
            <a:ext cx="8521476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2A2D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 rules, voice rules, never-say list</a:t>
            </a:r>
            <a:endParaRPr lang="en-US" sz="1950" dirty="0"/>
          </a:p>
        </p:txBody>
      </p:sp>
      <p:sp>
        <p:nvSpPr>
          <p:cNvPr id="44" name="Shape 42"/>
          <p:cNvSpPr/>
          <p:nvPr/>
        </p:nvSpPr>
        <p:spPr>
          <a:xfrm>
            <a:off x="14584561" y="8207127"/>
            <a:ext cx="2750939" cy="9525"/>
          </a:xfrm>
          <a:prstGeom prst="rect">
            <a:avLst/>
          </a:prstGeom>
          <a:solidFill>
            <a:srgbClr val="E5E5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14813161" y="7650956"/>
            <a:ext cx="2376267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6B6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Quarterly</a:t>
            </a:r>
            <a:endParaRPr lang="en-US" sz="1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687449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429" dirty="0">
                <a:solidFill>
                  <a:srgbClr val="F5822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ACRONYM, DEMYSTIFIED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447800"/>
            <a:ext cx="16874490" cy="798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5700" b="1" kern="0" spc="-85" dirty="0">
                <a:solidFill>
                  <a:srgbClr val="2A2D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RAG, in plain English.</a:t>
            </a: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952500" y="2398365"/>
            <a:ext cx="13735050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550" dirty="0">
                <a:solidFill>
                  <a:srgbClr val="6B6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Retrieval-Augmented Generation. Three steps. No PhD required.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952500" y="3575596"/>
            <a:ext cx="5257800" cy="4324350"/>
          </a:xfrm>
          <a:prstGeom prst="roundRect">
            <a:avLst>
              <a:gd name="adj" fmla="val 2643"/>
            </a:avLst>
          </a:prstGeom>
          <a:solidFill>
            <a:srgbClr val="FFFFFF"/>
          </a:solidFill>
          <a:ln w="9525">
            <a:solidFill>
              <a:srgbClr val="E5E5E7"/>
            </a:solidFill>
            <a:prstDash val="solid"/>
          </a:ln>
          <a:effectLst>
            <a:outerShdw blurRad="114300" dist="38100" dir="5400000" algn="bl" rotWithShape="0">
              <a:srgbClr val="2A2D38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343025" y="3928021"/>
            <a:ext cx="461105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3FE0D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STEP 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43025" y="4394746"/>
            <a:ext cx="4611052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600" b="1" kern="0" spc="-36" dirty="0">
                <a:solidFill>
                  <a:srgbClr val="2A2D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Retrieve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1343025" y="5023396"/>
            <a:ext cx="4611052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2A2D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 asks something. A search step finds the 3–5 most relevant chunks from your church's documents.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43025" y="6433096"/>
            <a:ext cx="4611052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B6E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"What did Pastor say about generosity in March?" → 3 sermon chunks pulled.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515100" y="3575596"/>
            <a:ext cx="5257800" cy="4324350"/>
          </a:xfrm>
          <a:prstGeom prst="roundRect">
            <a:avLst>
              <a:gd name="adj" fmla="val 2643"/>
            </a:avLst>
          </a:prstGeom>
          <a:solidFill>
            <a:srgbClr val="FFFFFF"/>
          </a:solidFill>
          <a:ln w="9525">
            <a:solidFill>
              <a:srgbClr val="E5E5E7"/>
            </a:solidFill>
            <a:prstDash val="solid"/>
          </a:ln>
          <a:effectLst>
            <a:outerShdw blurRad="114300" dist="38100" dir="5400000" algn="bl" rotWithShape="0">
              <a:srgbClr val="2A2D38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905625" y="3928021"/>
            <a:ext cx="461105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3FE0D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STEP 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905625" y="4394746"/>
            <a:ext cx="4611052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600" b="1" kern="0" spc="-36" dirty="0">
                <a:solidFill>
                  <a:srgbClr val="2A2D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Augment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6905625" y="5023396"/>
            <a:ext cx="4611052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2A2D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Those chunks get pasted into the prompt — in front of the user's question — before the model sees it.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905625" y="6433096"/>
            <a:ext cx="4611052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B6E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Prompt = [chunks] + [instructions] + [user question].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2077700" y="3575596"/>
            <a:ext cx="5257800" cy="4324350"/>
          </a:xfrm>
          <a:prstGeom prst="roundRect">
            <a:avLst>
              <a:gd name="adj" fmla="val 2643"/>
            </a:avLst>
          </a:prstGeom>
          <a:solidFill>
            <a:srgbClr val="FFFFFF"/>
          </a:solidFill>
          <a:ln w="9525">
            <a:solidFill>
              <a:srgbClr val="E5E5E7"/>
            </a:solidFill>
            <a:prstDash val="solid"/>
          </a:ln>
          <a:effectLst>
            <a:outerShdw blurRad="114300" dist="38100" dir="5400000" algn="bl" rotWithShape="0">
              <a:srgbClr val="2A2D38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2468225" y="3928021"/>
            <a:ext cx="461105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3FE0D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STEP 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468225" y="4394746"/>
            <a:ext cx="4611052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600" b="1" kern="0" spc="-36" dirty="0">
                <a:solidFill>
                  <a:srgbClr val="2A2D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Generate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12468225" y="5023396"/>
            <a:ext cx="4611052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2A2D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answers from </a:t>
            </a:r>
            <a:r>
              <a:rPr lang="en-US" sz="1800" i="1" dirty="0">
                <a:solidFill>
                  <a:srgbClr val="2A2D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sources </a:t>
            </a:r>
            <a:r>
              <a:rPr lang="en-US" sz="1800" dirty="0">
                <a:solidFill>
                  <a:srgbClr val="2A2D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not its training data. Cite the chunk it used so you can verify.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468225" y="6728371"/>
            <a:ext cx="4611052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B6E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"Per the March 9 sermon, Pastor framed generosity as..."</a:t>
            </a:r>
            <a:endParaRPr lang="en-US" sz="1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687449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429" dirty="0">
                <a:solidFill>
                  <a:srgbClr val="F5822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STEWARDSHIP BEFORE SPEED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447800"/>
            <a:ext cx="16874490" cy="798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5700" b="1" kern="0" spc="-85" dirty="0">
                <a:solidFill>
                  <a:srgbClr val="2A2D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Privacy is part of the job.</a:t>
            </a: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952500" y="2398365"/>
            <a:ext cx="13735050" cy="944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550" dirty="0">
                <a:solidFill>
                  <a:srgbClr val="6B6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 a member wouldn't want it on the church website, it doesn't go in a public model prompt.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952500" y="3800326"/>
            <a:ext cx="914400" cy="38100"/>
          </a:xfrm>
          <a:prstGeom prst="roundRect">
            <a:avLst>
              <a:gd name="adj" fmla="val 50000"/>
            </a:avLst>
          </a:prstGeom>
          <a:solidFill>
            <a:srgbClr val="F582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52500" y="4333726"/>
            <a:ext cx="8039100" cy="3752850"/>
          </a:xfrm>
          <a:prstGeom prst="roundRect">
            <a:avLst>
              <a:gd name="adj" fmla="val 3046"/>
            </a:avLst>
          </a:prstGeom>
          <a:solidFill>
            <a:srgbClr val="FFFFFF"/>
          </a:solidFill>
          <a:ln w="9525">
            <a:solidFill>
              <a:srgbClr val="E5E5E7"/>
            </a:solidFill>
            <a:prstDash val="solid"/>
          </a:ln>
          <a:effectLst>
            <a:outerShdw blurRad="114300" dist="38100" dir="5400000" algn="bl" rotWithShape="0">
              <a:srgbClr val="2A2D38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343025" y="4686151"/>
            <a:ext cx="747579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24" dirty="0">
                <a:solidFill>
                  <a:srgbClr val="2F8F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✓ GENERALLY OK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36370" y="5124301"/>
            <a:ext cx="7240905" cy="1573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173355" indent="-173355" algn="l">
              <a:lnSpc>
                <a:spcPct val="155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2A2D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Public sermons &amp; newsletters</a:t>
            </a:r>
            <a:endParaRPr lang="en-US" sz="1950" dirty="0"/>
          </a:p>
          <a:p>
            <a:pPr marL="173355" indent="-173355" algn="l">
              <a:lnSpc>
                <a:spcPct val="155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2A2D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Mission, values, and brand voice docs</a:t>
            </a:r>
            <a:endParaRPr lang="en-US" sz="1950" dirty="0"/>
          </a:p>
          <a:p>
            <a:pPr marL="173355" indent="-173355" algn="l">
              <a:lnSpc>
                <a:spcPct val="155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2A2D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Event copy, schedule data, FAQs</a:t>
            </a:r>
            <a:endParaRPr lang="en-US" sz="1950" dirty="0"/>
          </a:p>
          <a:p>
            <a:pPr marL="173355" indent="-173355" algn="l">
              <a:lnSpc>
                <a:spcPct val="155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2A2D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Aggregate, anonymized stats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9296400" y="4333726"/>
            <a:ext cx="8039100" cy="3752850"/>
          </a:xfrm>
          <a:prstGeom prst="roundRect">
            <a:avLst>
              <a:gd name="adj" fmla="val 3046"/>
            </a:avLst>
          </a:prstGeom>
          <a:solidFill>
            <a:srgbClr val="FFFFFF"/>
          </a:solidFill>
          <a:ln w="9525">
            <a:solidFill>
              <a:srgbClr val="E5E5E7"/>
            </a:solidFill>
            <a:prstDash val="solid"/>
          </a:ln>
          <a:effectLst>
            <a:outerShdw blurRad="114300" dist="38100" dir="5400000" algn="bl" rotWithShape="0">
              <a:srgbClr val="2A2D38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686925" y="4686151"/>
            <a:ext cx="747579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24" dirty="0">
                <a:solidFill>
                  <a:srgbClr val="B5341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✕ STOP &amp; THINK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780270" y="5124301"/>
            <a:ext cx="7240905" cy="1573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173355" indent="-173355" algn="l">
              <a:lnSpc>
                <a:spcPct val="155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2A2D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Names tied to giving, attendance, or counseling</a:t>
            </a:r>
            <a:endParaRPr lang="en-US" sz="1950" dirty="0"/>
          </a:p>
          <a:p>
            <a:pPr marL="173355" indent="-173355" algn="l">
              <a:lnSpc>
                <a:spcPct val="155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2A2D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Children's data of any kind</a:t>
            </a:r>
            <a:endParaRPr lang="en-US" sz="1950" dirty="0"/>
          </a:p>
          <a:p>
            <a:pPr marL="173355" indent="-173355" algn="l">
              <a:lnSpc>
                <a:spcPct val="155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2A2D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Staff HR records, conflict notes</a:t>
            </a:r>
            <a:endParaRPr lang="en-US" sz="1950" dirty="0"/>
          </a:p>
          <a:p>
            <a:pPr marL="173355" indent="-173355" algn="l">
              <a:lnSpc>
                <a:spcPct val="155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2A2D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Anything you'd hesitate to email externally</a:t>
            </a:r>
            <a:endParaRPr lang="en-US" sz="19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143500" cy="10287000"/>
          </a:xfrm>
          <a:prstGeom prst="rect">
            <a:avLst/>
          </a:prstGeom>
          <a:solidFill>
            <a:srgbClr val="1B1D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71500" y="952500"/>
            <a:ext cx="412051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540" dirty="0">
                <a:solidFill>
                  <a:srgbClr val="3FE0D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EXERCISE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71500" y="1552575"/>
            <a:ext cx="4120515" cy="1819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16500" b="1" kern="0" spc="-66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</a:t>
            </a:r>
            <a:r>
              <a:rPr lang="en-US" sz="16500" b="1" kern="0" spc="-660" dirty="0">
                <a:solidFill>
                  <a:srgbClr val="3FE0D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6500" dirty="0"/>
          </a:p>
        </p:txBody>
      </p:sp>
      <p:sp>
        <p:nvSpPr>
          <p:cNvPr id="5" name="Text 3"/>
          <p:cNvSpPr/>
          <p:nvPr/>
        </p:nvSpPr>
        <p:spPr>
          <a:xfrm>
            <a:off x="571500" y="3638550"/>
            <a:ext cx="4120515" cy="7084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400" b="1" kern="0" spc="96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BUILD A SERMON ASSISTANT BRIEF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71500" y="9129713"/>
            <a:ext cx="114300" cy="114300"/>
          </a:xfrm>
          <a:prstGeom prst="ellipse">
            <a:avLst/>
          </a:prstGeom>
          <a:solidFill>
            <a:srgbClr val="3FE0D0"/>
          </a:solidFill>
          <a:ln/>
          <a:effectLst>
            <a:outerShdw blurRad="152400" dist="50800" dir="16200000" algn="bl" rotWithShape="0">
              <a:srgbClr val="3FE0D0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38200" y="9039225"/>
            <a:ext cx="2408039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C9CBD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15 minutes · solo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143500" y="0"/>
            <a:ext cx="13144500" cy="10287000"/>
          </a:xfrm>
          <a:prstGeom prst="rect">
            <a:avLst/>
          </a:prstGeom>
          <a:solidFill>
            <a:srgbClr val="F7F5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096000" y="952500"/>
            <a:ext cx="11576685" cy="20780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5100" b="1" kern="0" spc="-76" dirty="0">
                <a:solidFill>
                  <a:srgbClr val="2A2D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Write the system prompt for an AI helper that drafts sermon-recap emails for your church.</a:t>
            </a:r>
            <a:endParaRPr lang="en-US" sz="5100" dirty="0"/>
          </a:p>
        </p:txBody>
      </p:sp>
      <p:sp>
        <p:nvSpPr>
          <p:cNvPr id="10" name="Text 8"/>
          <p:cNvSpPr/>
          <p:nvPr/>
        </p:nvSpPr>
        <p:spPr>
          <a:xfrm>
            <a:off x="6096000" y="3383012"/>
            <a:ext cx="6096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b="1" kern="0" spc="108" dirty="0">
                <a:solidFill>
                  <a:srgbClr val="F582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819900" y="3335387"/>
            <a:ext cx="10831068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00" dirty="0">
                <a:solidFill>
                  <a:srgbClr val="2A2D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Define the role, audience, and tone in 3 sentences.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6096000" y="3973562"/>
            <a:ext cx="6096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b="1" kern="0" spc="108" dirty="0">
                <a:solidFill>
                  <a:srgbClr val="F582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819900" y="3925937"/>
            <a:ext cx="10831068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00" dirty="0">
                <a:solidFill>
                  <a:srgbClr val="2A2D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List the 3 documents you'd attach. Trim each to its essential parts.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6096000" y="4564112"/>
            <a:ext cx="6096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b="1" kern="0" spc="108" dirty="0">
                <a:solidFill>
                  <a:srgbClr val="F582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819900" y="4516487"/>
            <a:ext cx="10831068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00" dirty="0">
                <a:solidFill>
                  <a:srgbClr val="2A2D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Write 5 hard rules (always / never).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6096000" y="5154662"/>
            <a:ext cx="6096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b="1" kern="0" spc="108" dirty="0">
                <a:solidFill>
                  <a:srgbClr val="F582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819900" y="5107037"/>
            <a:ext cx="10831068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00" dirty="0">
                <a:solidFill>
                  <a:srgbClr val="2A2D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 it on this Sunday's sermon. Note what's still off.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6096000" y="5849987"/>
            <a:ext cx="11239500" cy="1241822"/>
          </a:xfrm>
          <a:prstGeom prst="roundRect">
            <a:avLst>
              <a:gd name="adj" fmla="val 10738"/>
            </a:avLst>
          </a:prstGeom>
          <a:solidFill>
            <a:srgbClr val="1B1D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00800" y="6116687"/>
            <a:ext cx="10967085" cy="7465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800" dirty="0">
                <a:solidFill>
                  <a:srgbClr val="FFFFFF"/>
                </a:solidFill>
                <a:highlight>
                  <a:srgbClr val="1B1D24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Hint: copy </a:t>
            </a:r>
            <a:r>
              <a:rPr lang="en-US" sz="1800" dirty="0">
                <a:solidFill>
                  <a:srgbClr val="3FE0D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your </a:t>
            </a:r>
            <a:r>
              <a:rPr lang="en-US" sz="1800" dirty="0">
                <a:solidFill>
                  <a:srgbClr val="FFFFFF"/>
                </a:solidFill>
                <a:highlight>
                  <a:srgbClr val="1B1D24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last sermon-recap email into the brief and tell the model "match this voice." That single line beats most clever prompting.</a:t>
            </a:r>
            <a:endParaRPr lang="en-US" sz="1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B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B1D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66480" y="3170932"/>
            <a:ext cx="12107539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840" dirty="0">
                <a:solidFill>
                  <a:srgbClr val="3FE0D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PART 05 / 06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266480" y="3904357"/>
            <a:ext cx="12107539" cy="24267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9900" b="1" kern="0" spc="-247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Common pitfalls.</a:t>
            </a:r>
            <a:endParaRPr lang="en-US" sz="9900" dirty="0"/>
          </a:p>
        </p:txBody>
      </p:sp>
      <p:sp>
        <p:nvSpPr>
          <p:cNvPr id="5" name="Text 3"/>
          <p:cNvSpPr/>
          <p:nvPr/>
        </p:nvSpPr>
        <p:spPr>
          <a:xfrm>
            <a:off x="3266480" y="6674048"/>
            <a:ext cx="12107539" cy="4799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400" dirty="0">
                <a:solidFill>
                  <a:srgbClr val="C9CB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failure modes nobody warned you about. Spot them early; they all have fixes.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5031492" y="3643313"/>
            <a:ext cx="95250" cy="95250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5279142" y="3552825"/>
            <a:ext cx="2222153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FFFFFF">
                    <a:alpha val="2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 · Why Context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5031492" y="4224338"/>
            <a:ext cx="95250" cy="95250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5279142" y="4133850"/>
            <a:ext cx="206930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FFFFFF">
                    <a:alpha val="2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 · Four Pillars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5031492" y="4805363"/>
            <a:ext cx="95250" cy="95250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5279142" y="4714875"/>
            <a:ext cx="176599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FFFFFF">
                    <a:alpha val="2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 · Anatomy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5031492" y="5386388"/>
            <a:ext cx="95250" cy="95250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5279142" y="5295900"/>
            <a:ext cx="200531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FFFFFF">
                    <a:alpha val="2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 · Grounding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5031492" y="5967413"/>
            <a:ext cx="95250" cy="95250"/>
          </a:xfrm>
          <a:prstGeom prst="ellipse">
            <a:avLst/>
          </a:prstGeom>
          <a:solidFill>
            <a:srgbClr val="3FE0D0"/>
          </a:solidFill>
          <a:ln/>
          <a:effectLst>
            <a:outerShdw blurRad="190500" dist="50800" dir="16200000" algn="bl" rotWithShape="0">
              <a:srgbClr val="3FE0D0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5279142" y="5876925"/>
            <a:ext cx="150301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3FE0D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 · Pitfalls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5031492" y="6548438"/>
            <a:ext cx="95250" cy="95250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5279142" y="6457950"/>
            <a:ext cx="2323058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FFFFFF">
                    <a:alpha val="2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06 · Take It Home</a:t>
            </a:r>
            <a:endParaRPr lang="en-US" sz="1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687449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429" dirty="0">
                <a:solidFill>
                  <a:srgbClr val="F5822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THREE FAILURE MODES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447800"/>
            <a:ext cx="16874490" cy="798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5700" b="1" kern="0" spc="-85" dirty="0">
                <a:solidFill>
                  <a:srgbClr val="2A2D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Hallucinations, drift, and overconfidence.</a:t>
            </a:r>
            <a:endParaRPr lang="en-US" sz="5700" dirty="0"/>
          </a:p>
        </p:txBody>
      </p:sp>
      <p:sp>
        <p:nvSpPr>
          <p:cNvPr id="4" name="Shape 2"/>
          <p:cNvSpPr/>
          <p:nvPr/>
        </p:nvSpPr>
        <p:spPr>
          <a:xfrm>
            <a:off x="952500" y="2855565"/>
            <a:ext cx="5257800" cy="5276850"/>
          </a:xfrm>
          <a:prstGeom prst="roundRect">
            <a:avLst>
              <a:gd name="adj" fmla="val 2899"/>
            </a:avLst>
          </a:prstGeom>
          <a:solidFill>
            <a:srgbClr val="FFFFFF"/>
          </a:solidFill>
          <a:ln w="9525">
            <a:solidFill>
              <a:srgbClr val="E5E5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304925" y="3207990"/>
            <a:ext cx="4689539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kern="0" spc="-27" dirty="0">
                <a:solidFill>
                  <a:srgbClr val="2A2D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Hallucinations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1304925" y="3798540"/>
            <a:ext cx="4689539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model invents a verse, a name, a date, or a quote — and writes it with full confidence.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304925" y="5036790"/>
            <a:ext cx="4552950" cy="9525"/>
          </a:xfrm>
          <a:prstGeom prst="rect">
            <a:avLst/>
          </a:prstGeom>
          <a:solidFill>
            <a:srgbClr val="E5E5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304925" y="5255865"/>
            <a:ext cx="468953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24" dirty="0">
                <a:solidFill>
                  <a:srgbClr val="3FE0D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FIX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04925" y="5703540"/>
            <a:ext cx="4689539" cy="10324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2A2D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Ground every factual claim in attached source. Tell the model: "if it isn't in the docs, say </a:t>
            </a:r>
            <a:r>
              <a:rPr lang="en-US" sz="1800" i="1" dirty="0">
                <a:solidFill>
                  <a:srgbClr val="2A2D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'I don't have that.'</a:t>
            </a:r>
            <a:r>
              <a:rPr lang="en-US" sz="1800" dirty="0">
                <a:solidFill>
                  <a:srgbClr val="2A2D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515100" y="2855565"/>
            <a:ext cx="5257800" cy="5276850"/>
          </a:xfrm>
          <a:prstGeom prst="roundRect">
            <a:avLst>
              <a:gd name="adj" fmla="val 2899"/>
            </a:avLst>
          </a:prstGeom>
          <a:solidFill>
            <a:srgbClr val="FFFFFF"/>
          </a:solidFill>
          <a:ln w="9525">
            <a:solidFill>
              <a:srgbClr val="E5E5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867525" y="3207990"/>
            <a:ext cx="4689539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kern="0" spc="-27" dirty="0">
                <a:solidFill>
                  <a:srgbClr val="2A2D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Drift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6867525" y="3798540"/>
            <a:ext cx="4689539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Conversation goes 12 turns deep. Model slowly forgets your tone rules. Ends up sounding like a marketing brochure.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867525" y="5036790"/>
            <a:ext cx="4552950" cy="9525"/>
          </a:xfrm>
          <a:prstGeom prst="rect">
            <a:avLst/>
          </a:prstGeom>
          <a:solidFill>
            <a:srgbClr val="E5E5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867525" y="5255865"/>
            <a:ext cx="468953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24" dirty="0">
                <a:solidFill>
                  <a:srgbClr val="3FE0D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FIX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867525" y="5703540"/>
            <a:ext cx="4689539" cy="10324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2A2D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Restate the system prompt every 6–8 turns, or start a fresh thread for each new task.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2077700" y="2855565"/>
            <a:ext cx="5257800" cy="5276850"/>
          </a:xfrm>
          <a:prstGeom prst="roundRect">
            <a:avLst>
              <a:gd name="adj" fmla="val 2899"/>
            </a:avLst>
          </a:prstGeom>
          <a:solidFill>
            <a:srgbClr val="FFFFFF"/>
          </a:solidFill>
          <a:ln w="9525">
            <a:solidFill>
              <a:srgbClr val="E5E5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2430125" y="3207990"/>
            <a:ext cx="4689539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kern="0" spc="-27" dirty="0">
                <a:solidFill>
                  <a:srgbClr val="2A2D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Overconfidence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12430125" y="3798540"/>
            <a:ext cx="4689539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takes a guess at a giving total or a member name and never flags the uncertainty.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2430125" y="5036790"/>
            <a:ext cx="4552950" cy="9525"/>
          </a:xfrm>
          <a:prstGeom prst="rect">
            <a:avLst/>
          </a:prstGeom>
          <a:solidFill>
            <a:srgbClr val="E5E5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2430125" y="5255865"/>
            <a:ext cx="468953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24" dirty="0">
                <a:solidFill>
                  <a:srgbClr val="3FE0D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FIX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430125" y="5703540"/>
            <a:ext cx="4689539" cy="10324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2A2D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Add: "When uncertain, say so explicitly. Never paraphrase a number unless you have the source."</a:t>
            </a:r>
            <a:endParaRPr lang="en-US" sz="1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687449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429" dirty="0">
                <a:solidFill>
                  <a:srgbClr val="F5822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SHORT LIST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447800"/>
            <a:ext cx="16874490" cy="798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5700" b="1" kern="0" spc="-85" dirty="0">
                <a:solidFill>
                  <a:srgbClr val="2A2D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When not to use AI.</a:t>
            </a: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952500" y="2398365"/>
            <a:ext cx="13735050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550" dirty="0">
                <a:solidFill>
                  <a:srgbClr val="6B6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Discernment is part of the craft. These belong to a person.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952500" y="4678561"/>
            <a:ext cx="16383000" cy="9525"/>
          </a:xfrm>
          <a:prstGeom prst="rect">
            <a:avLst/>
          </a:prstGeom>
          <a:solidFill>
            <a:srgbClr val="E5E5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52500" y="3575596"/>
            <a:ext cx="838200" cy="518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200" b="1" dirty="0">
                <a:solidFill>
                  <a:srgbClr val="B5341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✕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1981200" y="3708946"/>
            <a:ext cx="15814929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A2D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Pastoral care messages.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981200" y="4137571"/>
            <a:ext cx="15814929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6B6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grieving member can tell. So can their family. Write it yourself, even briefly.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52500" y="6000601"/>
            <a:ext cx="16383000" cy="9525"/>
          </a:xfrm>
          <a:prstGeom prst="rect">
            <a:avLst/>
          </a:prstGeom>
          <a:solidFill>
            <a:srgbClr val="E5E5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52500" y="4897636"/>
            <a:ext cx="838200" cy="518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200" b="1" dirty="0">
                <a:solidFill>
                  <a:srgbClr val="B5341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✕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1981200" y="5030986"/>
            <a:ext cx="15814929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A2D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Anything legally binding or financial.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981200" y="5459611"/>
            <a:ext cx="15814929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6B6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Bylaws, MOUs, donor agreements, tax letters. AI can draft — a human signs.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52500" y="7322641"/>
            <a:ext cx="16383000" cy="9525"/>
          </a:xfrm>
          <a:prstGeom prst="rect">
            <a:avLst/>
          </a:prstGeom>
          <a:solidFill>
            <a:srgbClr val="E5E5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52500" y="6219676"/>
            <a:ext cx="838200" cy="518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200" b="1" dirty="0">
                <a:solidFill>
                  <a:srgbClr val="B5341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✕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1981200" y="6353026"/>
            <a:ext cx="15814929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A2D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Doctrinal positions on contested issues.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981200" y="6781651"/>
            <a:ext cx="15814929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6B6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training data isn't from your tradition. Don't outsource your statement of faith.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52500" y="7541716"/>
            <a:ext cx="838200" cy="518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200" b="1" dirty="0">
                <a:solidFill>
                  <a:srgbClr val="B5341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✕</a:t>
            </a:r>
            <a:endParaRPr lang="en-US" sz="4200" dirty="0"/>
          </a:p>
        </p:txBody>
      </p:sp>
      <p:sp>
        <p:nvSpPr>
          <p:cNvPr id="18" name="Text 16"/>
          <p:cNvSpPr/>
          <p:nvPr/>
        </p:nvSpPr>
        <p:spPr>
          <a:xfrm>
            <a:off x="1981200" y="7675066"/>
            <a:ext cx="15814929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A2D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Anything you can't review before it ships.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981200" y="8103691"/>
            <a:ext cx="15814929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6B6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 you don't have time to read it, you don't have time to send it.</a:t>
            </a:r>
            <a:endParaRPr lang="en-US" sz="1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143500" cy="10287000"/>
          </a:xfrm>
          <a:prstGeom prst="rect">
            <a:avLst/>
          </a:prstGeom>
          <a:solidFill>
            <a:srgbClr val="1B1D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71500" y="952500"/>
            <a:ext cx="412051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540" dirty="0">
                <a:solidFill>
                  <a:srgbClr val="3FE0D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EXERCISE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71500" y="1552575"/>
            <a:ext cx="4120515" cy="1819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16500" b="1" kern="0" spc="-66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</a:t>
            </a:r>
            <a:r>
              <a:rPr lang="en-US" sz="16500" b="1" kern="0" spc="-660" dirty="0">
                <a:solidFill>
                  <a:srgbClr val="3FE0D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6500" dirty="0"/>
          </a:p>
        </p:txBody>
      </p:sp>
      <p:sp>
        <p:nvSpPr>
          <p:cNvPr id="5" name="Text 3"/>
          <p:cNvSpPr/>
          <p:nvPr/>
        </p:nvSpPr>
        <p:spPr>
          <a:xfrm>
            <a:off x="571500" y="3638550"/>
            <a:ext cx="4120515" cy="7084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400" b="1" kern="0" spc="96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STRESS-TEST YOUR OUTPUT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71500" y="9129713"/>
            <a:ext cx="114300" cy="114300"/>
          </a:xfrm>
          <a:prstGeom prst="ellipse">
            <a:avLst/>
          </a:prstGeom>
          <a:solidFill>
            <a:srgbClr val="3FE0D0"/>
          </a:solidFill>
          <a:ln/>
          <a:effectLst>
            <a:outerShdw blurRad="152400" dist="50800" dir="16200000" algn="bl" rotWithShape="0">
              <a:srgbClr val="3FE0D0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38200" y="9039225"/>
            <a:ext cx="254511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C9CBD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 minutes · pairs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143500" y="0"/>
            <a:ext cx="13144500" cy="10287000"/>
          </a:xfrm>
          <a:prstGeom prst="rect">
            <a:avLst/>
          </a:prstGeom>
          <a:solidFill>
            <a:srgbClr val="F7F5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096000" y="952500"/>
            <a:ext cx="11576685" cy="13980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5100" b="1" kern="0" spc="-76" dirty="0">
                <a:solidFill>
                  <a:srgbClr val="2A2D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Take the draft you generated in Exercise 2. Now try to break it.</a:t>
            </a:r>
            <a:endParaRPr lang="en-US" sz="5100" dirty="0"/>
          </a:p>
        </p:txBody>
      </p:sp>
      <p:sp>
        <p:nvSpPr>
          <p:cNvPr id="10" name="Text 8"/>
          <p:cNvSpPr/>
          <p:nvPr/>
        </p:nvSpPr>
        <p:spPr>
          <a:xfrm>
            <a:off x="6096000" y="2703016"/>
            <a:ext cx="6096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b="1" kern="0" spc="108" dirty="0">
                <a:solidFill>
                  <a:srgbClr val="F582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819900" y="2655391"/>
            <a:ext cx="10831068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00" dirty="0">
                <a:solidFill>
                  <a:srgbClr val="2A2D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Ask: "Show me the verse references you used. Quote them exactly."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6096000" y="3293566"/>
            <a:ext cx="6096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b="1" kern="0" spc="108" dirty="0">
                <a:solidFill>
                  <a:srgbClr val="F582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819900" y="3245941"/>
            <a:ext cx="10831068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00" dirty="0">
                <a:solidFill>
                  <a:srgbClr val="2A2D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Ask: "Which parts of this came from my attached docs vs. your training data?"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6096000" y="3884116"/>
            <a:ext cx="6096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b="1" kern="0" spc="108" dirty="0">
                <a:solidFill>
                  <a:srgbClr val="F582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819900" y="3836491"/>
            <a:ext cx="10831068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00" dirty="0">
                <a:solidFill>
                  <a:srgbClr val="2A2D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Ask: "What's one thing you might have made up here?"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6096000" y="4474666"/>
            <a:ext cx="6096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b="1" kern="0" spc="108" dirty="0">
                <a:solidFill>
                  <a:srgbClr val="F582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819900" y="4427041"/>
            <a:ext cx="10831068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00" dirty="0">
                <a:solidFill>
                  <a:srgbClr val="2A2D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Note what the model admits to. </a:t>
            </a:r>
            <a:r>
              <a:rPr lang="en-US" sz="2100" i="1" dirty="0">
                <a:solidFill>
                  <a:srgbClr val="2A2D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That's </a:t>
            </a:r>
            <a:r>
              <a:rPr lang="en-US" sz="2100" dirty="0">
                <a:solidFill>
                  <a:srgbClr val="2A2D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your review checklist should catch.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6096000" y="5169991"/>
            <a:ext cx="11239500" cy="1241822"/>
          </a:xfrm>
          <a:prstGeom prst="roundRect">
            <a:avLst>
              <a:gd name="adj" fmla="val 10738"/>
            </a:avLst>
          </a:prstGeom>
          <a:solidFill>
            <a:srgbClr val="1B1D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00800" y="5436691"/>
            <a:ext cx="10967085" cy="7465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800" dirty="0">
                <a:solidFill>
                  <a:srgbClr val="FFFFFF"/>
                </a:solidFill>
                <a:highlight>
                  <a:srgbClr val="1B1D24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If the model can </a:t>
            </a:r>
            <a:r>
              <a:rPr lang="en-US" sz="1800" dirty="0">
                <a:solidFill>
                  <a:srgbClr val="3FE0D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self-flag </a:t>
            </a:r>
            <a:r>
              <a:rPr lang="en-US" sz="1800" dirty="0">
                <a:solidFill>
                  <a:srgbClr val="FFFFFF"/>
                </a:solidFill>
                <a:highlight>
                  <a:srgbClr val="1B1D24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its weak spots when asked, you're 80% of the way to a safe workflow.</a:t>
            </a:r>
            <a:endParaRPr lang="en-US" sz="1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B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B1D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911947" y="3170932"/>
            <a:ext cx="1077787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840" dirty="0">
                <a:solidFill>
                  <a:srgbClr val="3FE0D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PART 06 / 06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911947" y="3904357"/>
            <a:ext cx="10777875" cy="24267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9900" b="1" kern="0" spc="-247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Take it home.</a:t>
            </a:r>
            <a:endParaRPr lang="en-US" sz="9900" dirty="0"/>
          </a:p>
        </p:txBody>
      </p:sp>
      <p:sp>
        <p:nvSpPr>
          <p:cNvPr id="5" name="Text 3"/>
          <p:cNvSpPr/>
          <p:nvPr/>
        </p:nvSpPr>
        <p:spPr>
          <a:xfrm>
            <a:off x="3911947" y="6674048"/>
            <a:ext cx="10777875" cy="4799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400" dirty="0">
                <a:solidFill>
                  <a:srgbClr val="C9CB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Concrete things to do this week, before the energy from today wears off.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5031492" y="3643313"/>
            <a:ext cx="95250" cy="95250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5279142" y="3552825"/>
            <a:ext cx="2222153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FFFFFF">
                    <a:alpha val="2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 · Why Context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5031492" y="4224338"/>
            <a:ext cx="95250" cy="95250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5279142" y="4133850"/>
            <a:ext cx="206930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FFFFFF">
                    <a:alpha val="2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 · Four Pillars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5031492" y="4805363"/>
            <a:ext cx="95250" cy="95250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5279142" y="4714875"/>
            <a:ext cx="176599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FFFFFF">
                    <a:alpha val="2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 · Anatomy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5031492" y="5386388"/>
            <a:ext cx="95250" cy="95250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5279142" y="5295900"/>
            <a:ext cx="200531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FFFFFF">
                    <a:alpha val="2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 · Grounding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5031492" y="5967413"/>
            <a:ext cx="95250" cy="95250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5279142" y="5876925"/>
            <a:ext cx="150301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FFFFFF">
                    <a:alpha val="2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 · Pitfalls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5031492" y="6548438"/>
            <a:ext cx="95250" cy="95250"/>
          </a:xfrm>
          <a:prstGeom prst="ellipse">
            <a:avLst/>
          </a:prstGeom>
          <a:solidFill>
            <a:srgbClr val="3FE0D0"/>
          </a:solidFill>
          <a:ln/>
          <a:effectLst>
            <a:outerShdw blurRad="190500" dist="50800" dir="16200000" algn="bl" rotWithShape="0">
              <a:srgbClr val="3FE0D0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5279142" y="6457950"/>
            <a:ext cx="2323058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3FE0D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06 · Take It Home</a:t>
            </a:r>
            <a:endParaRPr lang="en-US" sz="1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687449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429" dirty="0">
                <a:solidFill>
                  <a:srgbClr val="F5822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7-DAY PLAN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447800"/>
            <a:ext cx="16874490" cy="798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5700" b="1" kern="0" spc="-85" dirty="0">
                <a:solidFill>
                  <a:srgbClr val="2A2D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Your next seven days.</a:t>
            </a: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952500" y="2398365"/>
            <a:ext cx="13735050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550" dirty="0">
                <a:solidFill>
                  <a:srgbClr val="6B6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Don't try to "implement AI." Pick one workflow. Engineer the context for it. Ship it.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952500" y="3537496"/>
            <a:ext cx="16383000" cy="1398240"/>
          </a:xfrm>
          <a:prstGeom prst="roundRect">
            <a:avLst>
              <a:gd name="adj" fmla="val 9537"/>
            </a:avLst>
          </a:prstGeom>
          <a:solidFill>
            <a:srgbClr val="F7F5F1"/>
          </a:solidFill>
          <a:ln w="9525">
            <a:solidFill>
              <a:srgbClr val="E5E5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266825" y="3775621"/>
            <a:ext cx="10287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200" b="1" kern="0" spc="-84" dirty="0">
                <a:solidFill>
                  <a:srgbClr val="F5822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2524125" y="3937546"/>
            <a:ext cx="14931961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kern="0" spc="-12" dirty="0">
                <a:solidFill>
                  <a:srgbClr val="2A2D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Pick one workflow your team does every week.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2524125" y="4366171"/>
            <a:ext cx="14931961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6B6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Sermon recap email, volunteer reminder, event blurb. Boring is good — reps matter.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52500" y="5107186"/>
            <a:ext cx="16383000" cy="1398240"/>
          </a:xfrm>
          <a:prstGeom prst="roundRect">
            <a:avLst>
              <a:gd name="adj" fmla="val 9537"/>
            </a:avLst>
          </a:prstGeom>
          <a:solidFill>
            <a:srgbClr val="F7F5F1"/>
          </a:solidFill>
          <a:ln w="9525">
            <a:solidFill>
              <a:srgbClr val="E5E5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266825" y="5345311"/>
            <a:ext cx="10287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200" b="1" kern="0" spc="-84" dirty="0">
                <a:solidFill>
                  <a:srgbClr val="F5822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2524125" y="5507236"/>
            <a:ext cx="14931961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kern="0" spc="-12" dirty="0">
                <a:solidFill>
                  <a:srgbClr val="2A2D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Write its system prompt as Role · Task · Context · Format.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524125" y="5935861"/>
            <a:ext cx="14931961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6B6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Save it somewhere your team can edit it — Notion, a shared doc, a custom GPT.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52500" y="6676876"/>
            <a:ext cx="16383000" cy="1398240"/>
          </a:xfrm>
          <a:prstGeom prst="roundRect">
            <a:avLst>
              <a:gd name="adj" fmla="val 9537"/>
            </a:avLst>
          </a:prstGeom>
          <a:solidFill>
            <a:srgbClr val="F7F5F1"/>
          </a:solidFill>
          <a:ln w="9525">
            <a:solidFill>
              <a:srgbClr val="E5E5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266825" y="6915001"/>
            <a:ext cx="10287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200" b="1" kern="0" spc="-84" dirty="0">
                <a:solidFill>
                  <a:srgbClr val="F5822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2524125" y="7076926"/>
            <a:ext cx="14931961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kern="0" spc="-12" dirty="0">
                <a:solidFill>
                  <a:srgbClr val="2A2D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Attach the 3 documents the model needs to sound like you.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2524125" y="7505551"/>
            <a:ext cx="14931961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6B6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Recent newsletter, mission doc, and one example of the output you wish you could get.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52500" y="8246566"/>
            <a:ext cx="16383000" cy="1398240"/>
          </a:xfrm>
          <a:prstGeom prst="roundRect">
            <a:avLst>
              <a:gd name="adj" fmla="val 9537"/>
            </a:avLst>
          </a:prstGeom>
          <a:solidFill>
            <a:srgbClr val="F7F5F1"/>
          </a:solidFill>
          <a:ln w="9525">
            <a:solidFill>
              <a:srgbClr val="E5E5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266825" y="8484691"/>
            <a:ext cx="10287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200" b="1" kern="0" spc="-84" dirty="0">
                <a:solidFill>
                  <a:srgbClr val="F5822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4200" dirty="0"/>
          </a:p>
        </p:txBody>
      </p:sp>
      <p:sp>
        <p:nvSpPr>
          <p:cNvPr id="19" name="Text 17"/>
          <p:cNvSpPr/>
          <p:nvPr/>
        </p:nvSpPr>
        <p:spPr>
          <a:xfrm>
            <a:off x="2524125" y="8646616"/>
            <a:ext cx="14931961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kern="0" spc="-12" dirty="0">
                <a:solidFill>
                  <a:srgbClr val="2A2D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 it twice. Refine after each use.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2524125" y="9075241"/>
            <a:ext cx="14931961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6B6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edit you make to the output becomes a new line in the brief. The brief gets better forever.</a:t>
            </a:r>
            <a:endParaRPr lang="en-US" sz="1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416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4161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0" y="768697"/>
            <a:ext cx="3429000" cy="34290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318504" y="4692997"/>
            <a:ext cx="565099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kern="0" spc="720" dirty="0">
                <a:solidFill>
                  <a:srgbClr val="3FE0D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QUESTIONS &amp; CONVERSATION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706755" y="5331172"/>
            <a:ext cx="16874490" cy="2644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800" b="1" kern="0" spc="-27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Thank you, </a:t>
            </a:r>
            <a:r>
              <a:rPr lang="en-US" sz="10800" b="1" kern="0" spc="-270" dirty="0">
                <a:solidFill>
                  <a:srgbClr val="3FE0D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Northwoods.</a:t>
            </a:r>
            <a:endParaRPr lang="en-US" sz="10800" dirty="0"/>
          </a:p>
        </p:txBody>
      </p:sp>
      <p:sp>
        <p:nvSpPr>
          <p:cNvPr id="7" name="Text 3"/>
          <p:cNvSpPr/>
          <p:nvPr/>
        </p:nvSpPr>
        <p:spPr>
          <a:xfrm>
            <a:off x="4559774" y="8280053"/>
            <a:ext cx="9168452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400" kern="0" spc="96" dirty="0">
                <a:solidFill>
                  <a:srgbClr val="C9CB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Chris Kehayias · SVP AI &amp; Innovation · Church IT Network</a:t>
            </a:r>
            <a:endParaRPr lang="en-US" sz="2400" dirty="0"/>
          </a:p>
        </p:txBody>
      </p:sp>
      <p:sp>
        <p:nvSpPr>
          <p:cNvPr id="8" name="Text 4"/>
          <p:cNvSpPr/>
          <p:nvPr/>
        </p:nvSpPr>
        <p:spPr>
          <a:xfrm>
            <a:off x="5858669" y="9223028"/>
            <a:ext cx="268431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3FE0D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#citn-ai on Discord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9037290" y="9223028"/>
            <a:ext cx="21342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3FE0D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9745018" y="9223028"/>
            <a:ext cx="268431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3FE0D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churchitnetwork.com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3767</Words>
  <Application>Microsoft Office PowerPoint</Application>
  <PresentationFormat>Custom</PresentationFormat>
  <Paragraphs>479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8" baseType="lpstr">
      <vt:lpstr>Arial</vt:lpstr>
      <vt:lpstr>Inter</vt:lpstr>
      <vt:lpstr>JetBrains Mono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Chris Kehayias</cp:lastModifiedBy>
  <cp:revision>3</cp:revision>
  <dcterms:created xsi:type="dcterms:W3CDTF">2026-05-03T13:32:23Z</dcterms:created>
  <dcterms:modified xsi:type="dcterms:W3CDTF">2026-05-04T19:39:03Z</dcterms:modified>
</cp:coreProperties>
</file>
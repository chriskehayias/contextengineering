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0" r:id="rId2"/>
  </p:sldMasterIdLst>
  <p:notesMasterIdLst>
    <p:notesMasterId r:id="rId30"/>
  </p:notesMasterIdLst>
  <p:sldIdLst>
    <p:sldId id="256" r:id="rId3"/>
    <p:sldId id="298" r:id="rId4"/>
    <p:sldId id="258" r:id="rId5"/>
    <p:sldId id="259" r:id="rId6"/>
    <p:sldId id="260" r:id="rId7"/>
    <p:sldId id="261" r:id="rId8"/>
    <p:sldId id="262" r:id="rId9"/>
    <p:sldId id="263" r:id="rId10"/>
    <p:sldId id="264" r:id="rId11"/>
    <p:sldId id="265" r:id="rId12"/>
    <p:sldId id="266" r:id="rId13"/>
    <p:sldId id="267" r:id="rId14"/>
    <p:sldId id="268" r:id="rId15"/>
    <p:sldId id="299" r:id="rId16"/>
    <p:sldId id="300" r:id="rId17"/>
    <p:sldId id="290" r:id="rId18"/>
    <p:sldId id="291" r:id="rId19"/>
    <p:sldId id="292" r:id="rId20"/>
    <p:sldId id="293" r:id="rId21"/>
    <p:sldId id="294" r:id="rId22"/>
    <p:sldId id="295" r:id="rId23"/>
    <p:sldId id="296" r:id="rId24"/>
    <p:sldId id="297" r:id="rId25"/>
    <p:sldId id="301" r:id="rId26"/>
    <p:sldId id="274" r:id="rId27"/>
    <p:sldId id="302" r:id="rId28"/>
    <p:sldId id="303" r:id="rId29"/>
  </p:sldIdLst>
  <p:sldSz cx="18288000" cy="10287000"/>
  <p:notesSz cx="10287000" cy="18288000"/>
  <p:embeddedFontLst>
    <p:embeddedFont>
      <p:font typeface="Inter" panose="020B0604020202020204" charset="0"/>
      <p:regular r:id="rId31"/>
      <p:bold r:id="rId32"/>
      <p:italic r:id="rId33"/>
      <p:boldItalic r:id="rId34"/>
    </p:embeddedFont>
    <p:embeddedFont>
      <p:font typeface="JetBrains Mono" panose="020B0604020202020204" charset="0"/>
      <p:regular r:id="rId35"/>
      <p:bold r:id="rId36"/>
      <p:italic r:id="rId37"/>
      <p:boldItalic r:id="rId38"/>
    </p:embeddedFont>
    <p:embeddedFont>
      <p:font typeface="Montserrat" panose="00000500000000000000" pitchFamily="2"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0" roundtripDataSignature="AMtx7mgvBL9m8TJysEvjfbWLYgqaddpdW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7" d="100"/>
          <a:sy n="127" d="100"/>
        </p:scale>
        <p:origin x="186" y="7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9.fntdata"/><Relationship Id="rId21" Type="http://schemas.openxmlformats.org/officeDocument/2006/relationships/slide" Target="slides/slide19.xml"/><Relationship Id="rId34" Type="http://schemas.openxmlformats.org/officeDocument/2006/relationships/font" Target="fonts/font4.fntdata"/><Relationship Id="rId42" Type="http://schemas.openxmlformats.org/officeDocument/2006/relationships/font" Target="fonts/font12.fntdata"/><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6.fntdata"/><Relationship Id="rId61"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1.fntdata"/><Relationship Id="rId60" Type="http://customschemas.google.com/relationships/presentationmetadata" Target="meta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font" Target="fonts/font5.fntdata"/><Relationship Id="rId64"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3.fntdata"/><Relationship Id="rId38" Type="http://schemas.openxmlformats.org/officeDocument/2006/relationships/font" Target="fonts/font8.fntdata"/><Relationship Id="rId20" Type="http://schemas.openxmlformats.org/officeDocument/2006/relationships/slide" Target="slides/slide18.xml"/><Relationship Id="rId41" Type="http://schemas.openxmlformats.org/officeDocument/2006/relationships/font" Target="fonts/font11.fntdata"/><Relationship Id="rId6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714825" y="1371600"/>
            <a:ext cx="6858325" cy="6858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1028700" y="8686800"/>
            <a:ext cx="8229600" cy="82296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
        <p:cNvGrpSpPr/>
        <p:nvPr/>
      </p:nvGrpSpPr>
      <p:grpSpPr>
        <a:xfrm>
          <a:off x="0" y="0"/>
          <a:ext cx="0" cy="0"/>
          <a:chOff x="0" y="0"/>
          <a:chExt cx="0" cy="0"/>
        </a:xfrm>
      </p:grpSpPr>
      <p:sp>
        <p:nvSpPr>
          <p:cNvPr id="10" name="Google Shape;10;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 name="Google Shape;11;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b="0" i="0" u="none" strike="noStrike" cap="none">
                <a:solidFill>
                  <a:schemeClr val="dk1"/>
                </a:solidFill>
                <a:latin typeface="Arial"/>
                <a:ea typeface="Arial"/>
                <a:cs typeface="Arial"/>
                <a:sym typeface="Arial"/>
              </a:rPr>
              <a:t>Welcome them in. Big energy. 'AI Context Engineering — that's a long title for what's actually a really practical workshop. Over the next 90 minutes we're going to get hands-on with what makes AI useful at your church versus useless at your church.'</a:t>
            </a:r>
            <a:endParaRPr/>
          </a:p>
        </p:txBody>
      </p:sp>
      <p:sp>
        <p:nvSpPr>
          <p:cNvPr id="12" name="Google Shape;12;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Section opener. Pause. Breathe. 'Most of what looks like bad AI output is actually a context problem on our end.'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
        <p:cNvGrpSpPr/>
        <p:nvPr/>
      </p:nvGrpSpPr>
      <p:grpSpPr>
        <a:xfrm>
          <a:off x="0" y="0"/>
          <a:ext cx="0" cy="0"/>
          <a:chOff x="0" y="0"/>
          <a:chExt cx="0" cy="0"/>
        </a:xfrm>
      </p:grpSpPr>
      <p:sp>
        <p:nvSpPr>
          <p:cNvPr id="34" name="Google Shape;34;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 name="Google Shape;3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36" name="Google Shape;3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p:cNvGrpSpPr/>
        <p:nvPr/>
      </p:nvGrpSpPr>
      <p:grpSpPr>
        <a:xfrm>
          <a:off x="0" y="0"/>
          <a:ext cx="0" cy="0"/>
          <a:chOff x="0" y="0"/>
          <a:chExt cx="0" cy="0"/>
        </a:xfrm>
      </p:grpSpPr>
      <p:sp>
        <p:nvSpPr>
          <p:cNvPr id="43" name="Google Shape;43;g3dc15369c17_0_1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 name="Google Shape;44;g3dc15369c17_0_1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Alright — quick 10 minutes from me before Chris takes you into the real workshop. I want to tell you a story, because I think a lot of you are somewhere on the same path I was on. The title says it all: I started as a vibe coder, and I had to become a context engineer. Six stages, one shift. Let's go.</a:t>
            </a:r>
            <a:endParaRPr/>
          </a:p>
        </p:txBody>
      </p:sp>
      <p:sp>
        <p:nvSpPr>
          <p:cNvPr id="45" name="Google Shape;45;g3dc15369c17_0_1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g3dc15369c17_0_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 name="Google Shape;55;g3dc15369c17_0_13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one — the spark. ChatGPT had just dropped, and like a lot of you I was in school at the time. I wasn't building products. I was just one-shotting prompts to get through assignments. No stakes, pure curiosity. That's where it started for me, and honestly that's where it starts for almost everyone — you type something, something useful comes back, and you go 'huh, that's interesting.'</a:t>
            </a:r>
            <a:endParaRPr/>
          </a:p>
        </p:txBody>
      </p:sp>
      <p:sp>
        <p:nvSpPr>
          <p:cNvPr id="56" name="Google Shape;56;g3dc15369c17_0_13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dc15369c17_0_1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 name="Google Shape;68;g3dc15369c17_0_14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two — the hook. Then I found Bolt. Then Replit. And this is where it stopped being a toy. I'd type a sentence — 'build me a habit tracker' — and out came a whole app. Frontend, backend, database. It felt like a superpower. And for a while, I genuinely thought I had figured something out that other people hadn't. That's the hook.</a:t>
            </a:r>
            <a:endParaRPr/>
          </a:p>
        </p:txBody>
      </p:sp>
      <p:sp>
        <p:nvSpPr>
          <p:cNvPr id="69" name="Google Shape;69;g3dc15369c17_0_14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dc15369c17_0_1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g3dc15369c17_0_1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three — the cracks. Here's where it got humbling. The demos looked great in the moment. They almost never held up. Inconsistent. Fragile. Nowhere near production. I'd show something off on Monday and by Wednesday it was broken in three different places. And the worst part — I couldn't see the debt I was building. The model was writing code I couldn't read, in patterns I couldn't evaluate. It looked like progress. It wasn't.</a:t>
            </a:r>
            <a:endParaRPr/>
          </a:p>
        </p:txBody>
      </p:sp>
      <p:sp>
        <p:nvSpPr>
          <p:cNvPr id="82" name="Google Shape;82;g3dc15369c17_0_15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dc15369c17_0_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 name="Google Shape;99;g3dc15369c17_0_17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four — and this is the one I want you to hear, because I bet some of you are right here. I learned the phrase 'context is king.' So I figured, okay, more context, better output. I started writing paragraphs instead of sentences. Huge prompts. And I was still one-shotting. I'd change one tiny thing and the whole thing would fall apart. I'd spend hours hot-fixing what the model had built. Bigger prompts did not equal better code. More words, same problem.</a:t>
            </a:r>
            <a:endParaRPr/>
          </a:p>
        </p:txBody>
      </p:sp>
      <p:sp>
        <p:nvSpPr>
          <p:cNvPr id="100" name="Google Shape;100;g3dc15369c17_0_17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dc15369c17_0_1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2" name="Google Shape;112;g3dc15369c17_0_18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five — this is the shift. I stopped trying to write the perfect prompt and started spending my time thinking before I asked. Planning over prompting. And the output got about ten times better — overnight. Here's the wild part: I still couldn't really read code. But I could find what works before I started building. I could pressure-test the idea on paper. The leverage moved from the prompt to the plan.</a:t>
            </a:r>
            <a:endParaRPr/>
          </a:p>
        </p:txBody>
      </p:sp>
      <p:sp>
        <p:nvSpPr>
          <p:cNvPr id="113" name="Google Shape;113;g3dc15369c17_0_18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c15369c17_0_1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g3dc15369c17_0_19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Stage six — the engineer era. This is where I am today. I don't start from a blank prompt anymore. I start from a base repository. A foundation I trust. Same kinds of apps I was building two years ago — but stronger, every single time. It's not a different prompt every time. It's a system. Repeatable, consistent, production-shaped from day one.</a:t>
            </a:r>
            <a:endParaRPr/>
          </a:p>
        </p:txBody>
      </p:sp>
      <p:sp>
        <p:nvSpPr>
          <p:cNvPr id="126" name="Google Shape;126;g3dc15369c17_0_19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dc15369c17_0_2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g3dc15369c17_0_2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So if I had to put it on a single slide — this is the contrast. On the left, the vibe coder I was. Prompt and pray. One-shot every time. Hours of hot-fixes. Looks great, breaks fast. Hidden technical debt I couldn't even see. On the right, the context engineer I had to become. Plan, then build. Base repo as a foundation. Hours of thinking up front instead of hot-fixes after. Production-shaped from day one. Repeatable. Consistent. The work moved — from after the prompt, to before it.</a:t>
            </a:r>
            <a:endParaRPr/>
          </a:p>
        </p:txBody>
      </p:sp>
      <p:sp>
        <p:nvSpPr>
          <p:cNvPr id="143" name="Google Shape;143;g3dc15369c17_0_2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dc15369c17_0_2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g3dc15369c17_0_2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Here's the takeaway, and then I'll hand it to Chris. The leverage is not in the prompt. It's in the thinking before it. That's the whole shift. And that's what the next 75 minutes are about — Chris is going to walk you through how to actually do that thinking. The four pillars, the anatomy, the practical exercises. Over to you, Chris.</a:t>
            </a:r>
            <a:endParaRPr/>
          </a:p>
        </p:txBody>
      </p:sp>
      <p:sp>
        <p:nvSpPr>
          <p:cNvPr id="160" name="Google Shape;160;g3dc15369c17_0_2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9" name="Google Shape;169;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Section opener. Pause. Breathe. 'Most of what looks like bad AI output is actually a context problem on our end.'</a:t>
            </a:r>
            <a:endParaRPr/>
          </a:p>
        </p:txBody>
      </p:sp>
      <p:sp>
        <p:nvSpPr>
          <p:cNvPr id="170" name="Google Shape;170;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Set up the central pivot of the workshop. 'Prompt engineering was about magic words. Context engineering is about the whole environment. That's the shift.'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definition slowly, twice. Let it land. This is the one sentence you want them to take home.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1371600"/>
            <a:ext cx="12192000" cy="6858000"/>
          </a:xfrm>
        </p:spPr>
      </p:sp>
      <p:sp>
        <p:nvSpPr>
          <p:cNvPr id="3" name="Notes Placeholder 2"/>
          <p:cNvSpPr>
            <a:spLocks noGrp="1"/>
          </p:cNvSpPr>
          <p:nvPr>
            <p:ph type="body" idx="1"/>
          </p:nvPr>
        </p:nvSpPr>
        <p:spPr/>
        <p:txBody>
          <a:bodyPr/>
          <a:lstStyle/>
          <a:p>
            <a:r>
              <a:rPr lang="en-US" dirty="0"/>
              <a:t>Read the bad prompt out loud. Then the good. Same minute. Same model. 'The good one took me 90 seconds longer. It saved me 20 minutes of editing. Every time.'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61C"/>
        </a:solidFill>
        <a:effectLst/>
      </p:bgPr>
    </p:bg>
    <p:spTree>
      <p:nvGrpSpPr>
        <p:cNvPr id="1" name="Shape 13"/>
        <p:cNvGrpSpPr/>
        <p:nvPr/>
      </p:nvGrpSpPr>
      <p:grpSpPr>
        <a:xfrm>
          <a:off x="0" y="0"/>
          <a:ext cx="0" cy="0"/>
          <a:chOff x="0" y="0"/>
          <a:chExt cx="0" cy="0"/>
        </a:xfrm>
      </p:grpSpPr>
      <p:sp>
        <p:nvSpPr>
          <p:cNvPr id="14" name="Google Shape;14;p1"/>
          <p:cNvSpPr/>
          <p:nvPr/>
        </p:nvSpPr>
        <p:spPr>
          <a:xfrm>
            <a:off x="0" y="0"/>
            <a:ext cx="18288000" cy="10287000"/>
          </a:xfrm>
          <a:prstGeom prst="rect">
            <a:avLst/>
          </a:prstGeom>
          <a:solidFill>
            <a:srgbClr val="14161C"/>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1"/>
          <p:cNvSpPr/>
          <p:nvPr/>
        </p:nvSpPr>
        <p:spPr>
          <a:xfrm>
            <a:off x="952500" y="762000"/>
            <a:ext cx="1258044" cy="342900"/>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FFFFFF"/>
              </a:buClr>
              <a:buSzPts val="1950"/>
              <a:buFont typeface="Montserrat"/>
              <a:buNone/>
            </a:pPr>
            <a:r>
              <a:rPr lang="en-US" sz="1950" b="1">
                <a:solidFill>
                  <a:srgbClr val="FFFFFF"/>
                </a:solidFill>
                <a:latin typeface="Montserrat"/>
                <a:ea typeface="Montserrat"/>
                <a:cs typeface="Montserrat"/>
                <a:sym typeface="Montserrat"/>
              </a:rPr>
              <a:t>CITN</a:t>
            </a:r>
            <a:r>
              <a:rPr lang="en-US" sz="1950" b="1">
                <a:solidFill>
                  <a:srgbClr val="3FE0D0"/>
                </a:solidFill>
                <a:latin typeface="Montserrat"/>
                <a:ea typeface="Montserrat"/>
                <a:cs typeface="Montserrat"/>
                <a:sym typeface="Montserrat"/>
              </a:rPr>
              <a:t>·</a:t>
            </a:r>
            <a:r>
              <a:rPr lang="en-US" sz="1950" b="1">
                <a:solidFill>
                  <a:srgbClr val="FFFFFF"/>
                </a:solidFill>
                <a:latin typeface="Montserrat"/>
                <a:ea typeface="Montserrat"/>
                <a:cs typeface="Montserrat"/>
                <a:sym typeface="Montserrat"/>
              </a:rPr>
              <a:t>AI</a:t>
            </a:r>
            <a:endParaRPr sz="1950">
              <a:solidFill>
                <a:schemeClr val="dk1"/>
              </a:solidFill>
              <a:latin typeface="Calibri"/>
              <a:ea typeface="Calibri"/>
              <a:cs typeface="Calibri"/>
              <a:sym typeface="Calibri"/>
            </a:endParaRPr>
          </a:p>
        </p:txBody>
      </p:sp>
      <p:pic>
        <p:nvPicPr>
          <p:cNvPr id="16" name="Google Shape;16;p1" descr="preencoded.png"/>
          <p:cNvPicPr preferRelativeResize="0"/>
          <p:nvPr/>
        </p:nvPicPr>
        <p:blipFill rotWithShape="1">
          <a:blip r:embed="rId3">
            <a:alphaModFix/>
          </a:blip>
          <a:srcRect/>
          <a:stretch/>
        </p:blipFill>
        <p:spPr>
          <a:xfrm>
            <a:off x="8953500" y="-95250"/>
            <a:ext cx="10477500" cy="10477500"/>
          </a:xfrm>
          <a:prstGeom prst="rect">
            <a:avLst/>
          </a:prstGeom>
          <a:noFill/>
          <a:ln>
            <a:noFill/>
          </a:ln>
        </p:spPr>
      </p:pic>
      <p:pic>
        <p:nvPicPr>
          <p:cNvPr id="17" name="Google Shape;17;p1" descr="preencoded.png"/>
          <p:cNvPicPr preferRelativeResize="0"/>
          <p:nvPr/>
        </p:nvPicPr>
        <p:blipFill rotWithShape="1">
          <a:blip r:embed="rId4">
            <a:alphaModFix amt="50000"/>
          </a:blip>
          <a:srcRect/>
          <a:stretch/>
        </p:blipFill>
        <p:spPr>
          <a:xfrm>
            <a:off x="0" y="0"/>
            <a:ext cx="18288000" cy="10287000"/>
          </a:xfrm>
          <a:prstGeom prst="rect">
            <a:avLst/>
          </a:prstGeom>
          <a:noFill/>
          <a:ln>
            <a:noFill/>
          </a:ln>
        </p:spPr>
      </p:pic>
      <p:sp>
        <p:nvSpPr>
          <p:cNvPr id="18" name="Google Shape;18;p1"/>
          <p:cNvSpPr/>
          <p:nvPr/>
        </p:nvSpPr>
        <p:spPr>
          <a:xfrm>
            <a:off x="952500" y="3388072"/>
            <a:ext cx="7749419" cy="342900"/>
          </a:xfrm>
          <a:prstGeom prst="rect">
            <a:avLst/>
          </a:prstGeom>
          <a:noFill/>
          <a:ln>
            <a:noFill/>
          </a:ln>
        </p:spPr>
        <p:txBody>
          <a:bodyPr spcFirstLastPara="1" wrap="square" lIns="25400" tIns="25400" rIns="25400" bIns="25400" anchor="ctr" anchorCtr="0">
            <a:normAutofit lnSpcReduction="10000"/>
          </a:bodyPr>
          <a:lstStyle/>
          <a:p>
            <a:pPr marL="0" marR="0" lvl="0" indent="0" algn="l" rtl="0">
              <a:spcBef>
                <a:spcPts val="0"/>
              </a:spcBef>
              <a:spcAft>
                <a:spcPts val="0"/>
              </a:spcAft>
              <a:buClr>
                <a:srgbClr val="3FE0D0"/>
              </a:buClr>
              <a:buSzPts val="1950"/>
              <a:buFont typeface="Montserrat"/>
              <a:buNone/>
            </a:pPr>
            <a:r>
              <a:rPr lang="en-US" sz="1950" b="1">
                <a:solidFill>
                  <a:srgbClr val="3FE0D0"/>
                </a:solidFill>
                <a:latin typeface="Montserrat"/>
                <a:ea typeface="Montserrat"/>
                <a:cs typeface="Montserrat"/>
                <a:sym typeface="Montserrat"/>
              </a:rPr>
              <a:t>CHURCH IT NETWORK · WORKSHOP</a:t>
            </a:r>
            <a:endParaRPr sz="1950">
              <a:solidFill>
                <a:schemeClr val="dk1"/>
              </a:solidFill>
              <a:latin typeface="Calibri"/>
              <a:ea typeface="Calibri"/>
              <a:cs typeface="Calibri"/>
              <a:sym typeface="Calibri"/>
            </a:endParaRPr>
          </a:p>
        </p:txBody>
      </p:sp>
      <p:sp>
        <p:nvSpPr>
          <p:cNvPr id="19" name="Google Shape;19;p1"/>
          <p:cNvSpPr/>
          <p:nvPr/>
        </p:nvSpPr>
        <p:spPr>
          <a:xfrm>
            <a:off x="952500" y="4035772"/>
            <a:ext cx="7749419" cy="2282130"/>
          </a:xfrm>
          <a:prstGeom prst="rect">
            <a:avLst/>
          </a:prstGeom>
          <a:noFill/>
          <a:ln>
            <a:noFill/>
          </a:ln>
        </p:spPr>
        <p:txBody>
          <a:bodyPr spcFirstLastPara="1" wrap="square" lIns="25400" tIns="25400" rIns="25400" bIns="25400" anchor="t" anchorCtr="0">
            <a:normAutofit fontScale="92500" lnSpcReduction="10000"/>
          </a:bodyPr>
          <a:lstStyle/>
          <a:p>
            <a:pPr marL="0" marR="0" lvl="0" indent="0" algn="l" rtl="0">
              <a:lnSpc>
                <a:spcPct val="95000"/>
              </a:lnSpc>
              <a:spcBef>
                <a:spcPts val="0"/>
              </a:spcBef>
              <a:spcAft>
                <a:spcPts val="0"/>
              </a:spcAft>
              <a:buClr>
                <a:srgbClr val="FFFFFF"/>
              </a:buClr>
              <a:buSzPts val="9300"/>
              <a:buFont typeface="Montserrat"/>
              <a:buNone/>
            </a:pPr>
            <a:r>
              <a:rPr lang="en-US" sz="9300" b="1">
                <a:solidFill>
                  <a:srgbClr val="FFFFFF"/>
                </a:solidFill>
                <a:latin typeface="Montserrat"/>
                <a:ea typeface="Montserrat"/>
                <a:cs typeface="Montserrat"/>
                <a:sym typeface="Montserrat"/>
              </a:rPr>
              <a:t>AI </a:t>
            </a:r>
            <a:r>
              <a:rPr lang="en-US" sz="9300" b="1">
                <a:solidFill>
                  <a:srgbClr val="3FE0D0"/>
                </a:solidFill>
                <a:latin typeface="Montserrat"/>
                <a:ea typeface="Montserrat"/>
                <a:cs typeface="Montserrat"/>
                <a:sym typeface="Montserrat"/>
              </a:rPr>
              <a:t>Context </a:t>
            </a:r>
            <a:r>
              <a:rPr lang="en-US" sz="9300" b="1">
                <a:solidFill>
                  <a:srgbClr val="FFFFFF"/>
                </a:solidFill>
                <a:latin typeface="Montserrat"/>
                <a:ea typeface="Montserrat"/>
                <a:cs typeface="Montserrat"/>
                <a:sym typeface="Montserrat"/>
              </a:rPr>
              <a:t>Engineering</a:t>
            </a:r>
            <a:endParaRPr sz="9300">
              <a:solidFill>
                <a:schemeClr val="dk1"/>
              </a:solidFill>
              <a:latin typeface="Calibri"/>
              <a:ea typeface="Calibri"/>
              <a:cs typeface="Calibri"/>
              <a:sym typeface="Calibri"/>
            </a:endParaRPr>
          </a:p>
        </p:txBody>
      </p:sp>
      <p:sp>
        <p:nvSpPr>
          <p:cNvPr id="20" name="Google Shape;20;p1"/>
          <p:cNvSpPr/>
          <p:nvPr/>
        </p:nvSpPr>
        <p:spPr>
          <a:xfrm>
            <a:off x="952500" y="6622703"/>
            <a:ext cx="3193552"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NORTHWOODS CHURCH</a:t>
            </a:r>
            <a:endParaRPr sz="1800">
              <a:solidFill>
                <a:schemeClr val="dk1"/>
              </a:solidFill>
              <a:latin typeface="Calibri"/>
              <a:ea typeface="Calibri"/>
              <a:cs typeface="Calibri"/>
              <a:sym typeface="Calibri"/>
            </a:endParaRPr>
          </a:p>
        </p:txBody>
      </p:sp>
      <p:sp>
        <p:nvSpPr>
          <p:cNvPr id="21" name="Google Shape;21;p1"/>
          <p:cNvSpPr/>
          <p:nvPr/>
        </p:nvSpPr>
        <p:spPr>
          <a:xfrm>
            <a:off x="4357836" y="6732240"/>
            <a:ext cx="57150" cy="57150"/>
          </a:xfrm>
          <a:prstGeom prst="ellipse">
            <a:avLst/>
          </a:prstGeom>
          <a:solidFill>
            <a:srgbClr val="3FE0D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 name="Google Shape;22;p1"/>
          <p:cNvSpPr/>
          <p:nvPr/>
        </p:nvSpPr>
        <p:spPr>
          <a:xfrm>
            <a:off x="4719786" y="6622703"/>
            <a:ext cx="1424434" cy="314325"/>
          </a:xfrm>
          <a:prstGeom prst="rect">
            <a:avLst/>
          </a:prstGeom>
          <a:noFill/>
          <a:ln>
            <a:noFill/>
          </a:ln>
        </p:spPr>
        <p:txBody>
          <a:bodyPr spcFirstLastPara="1" wrap="square" lIns="25400" tIns="25400" rIns="25400" bIns="25400" anchor="t" anchorCtr="0">
            <a:normAutofit lnSpcReduction="10000"/>
          </a:bodyPr>
          <a:lstStyle/>
          <a:p>
            <a:pPr marL="0" marR="0" lvl="0" indent="0" algn="l" rtl="0">
              <a:spcBef>
                <a:spcPts val="0"/>
              </a:spcBef>
              <a:spcAft>
                <a:spcPts val="0"/>
              </a:spcAft>
              <a:buClr>
                <a:srgbClr val="C9CBD1"/>
              </a:buClr>
              <a:buSzPts val="1800"/>
              <a:buFont typeface="Montserrat"/>
              <a:buNone/>
            </a:pPr>
            <a:r>
              <a:rPr lang="en-US" sz="1800" b="1">
                <a:solidFill>
                  <a:srgbClr val="C9CBD1"/>
                </a:solidFill>
                <a:latin typeface="Montserrat"/>
                <a:ea typeface="Montserrat"/>
                <a:cs typeface="Montserrat"/>
                <a:sym typeface="Montserrat"/>
              </a:rPr>
              <a:t>PEORIA, IL</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PART 02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Vibe Coding vs</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Context </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Engineering</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They are not the same!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
        <p:cNvGrpSpPr/>
        <p:nvPr/>
      </p:nvGrpSpPr>
      <p:grpSpPr>
        <a:xfrm>
          <a:off x="0" y="0"/>
          <a:ext cx="0" cy="0"/>
          <a:chOff x="0" y="0"/>
          <a:chExt cx="0" cy="0"/>
        </a:xfrm>
      </p:grpSpPr>
      <p:sp>
        <p:nvSpPr>
          <p:cNvPr id="38" name="Google Shape;38;p3"/>
          <p:cNvSpPr/>
          <p:nvPr/>
        </p:nvSpPr>
        <p:spPr>
          <a:xfrm>
            <a:off x="8572500" y="4130278"/>
            <a:ext cx="9025890" cy="33337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9" name="Google Shape;39;p3"/>
          <p:cNvSpPr/>
          <p:nvPr/>
        </p:nvSpPr>
        <p:spPr>
          <a:xfrm>
            <a:off x="8572500" y="4631728"/>
            <a:ext cx="9025890" cy="952500"/>
          </a:xfrm>
          <a:prstGeom prst="rect">
            <a:avLst/>
          </a:prstGeom>
          <a:noFill/>
          <a:ln>
            <a:noFill/>
          </a:ln>
        </p:spPr>
        <p:txBody>
          <a:bodyPr spcFirstLastPara="1" wrap="square" lIns="25400" tIns="25400" rIns="25400" bIns="25400" anchor="t" anchorCtr="0">
            <a:normAutofit/>
          </a:bodyPr>
          <a:lstStyle/>
          <a:p>
            <a:pPr marL="0" marR="0" lvl="0" indent="0" algn="l" rtl="0">
              <a:lnSpc>
                <a:spcPct val="80000"/>
              </a:lnSpc>
              <a:spcBef>
                <a:spcPts val="0"/>
              </a:spcBef>
              <a:spcAft>
                <a:spcPts val="0"/>
              </a:spcAft>
              <a:buClr>
                <a:srgbClr val="2A2D38"/>
              </a:buClr>
              <a:buSzPts val="6660"/>
              <a:buFont typeface="Montserrat"/>
              <a:buNone/>
            </a:pPr>
            <a:r>
              <a:rPr lang="en-US" sz="6660" b="1">
                <a:solidFill>
                  <a:srgbClr val="2A2D38"/>
                </a:solidFill>
                <a:latin typeface="Montserrat"/>
                <a:ea typeface="Montserrat"/>
                <a:cs typeface="Montserrat"/>
                <a:sym typeface="Montserrat"/>
              </a:rPr>
              <a:t>Tripp Lisenby</a:t>
            </a:r>
            <a:endParaRPr sz="6660">
              <a:solidFill>
                <a:schemeClr val="dk1"/>
              </a:solidFill>
              <a:latin typeface="Calibri"/>
              <a:ea typeface="Calibri"/>
              <a:cs typeface="Calibri"/>
              <a:sym typeface="Calibri"/>
            </a:endParaRPr>
          </a:p>
        </p:txBody>
      </p:sp>
      <p:sp>
        <p:nvSpPr>
          <p:cNvPr id="40" name="Google Shape;40;p3"/>
          <p:cNvSpPr/>
          <p:nvPr/>
        </p:nvSpPr>
        <p:spPr>
          <a:xfrm>
            <a:off x="8584075" y="5696603"/>
            <a:ext cx="9025890" cy="409575"/>
          </a:xfrm>
          <a:prstGeom prst="rect">
            <a:avLst/>
          </a:prstGeom>
          <a:noFill/>
          <a:ln>
            <a:noFill/>
          </a:ln>
        </p:spPr>
        <p:txBody>
          <a:bodyPr spcFirstLastPara="1" wrap="square" lIns="25400" tIns="25400" rIns="25400" bIns="25400" anchor="t" anchorCtr="0">
            <a:normAutofit/>
          </a:bodyPr>
          <a:lstStyle/>
          <a:p>
            <a:pPr marL="0" marR="0" lvl="0" indent="0" algn="l" rtl="0">
              <a:lnSpc>
                <a:spcPct val="90000"/>
              </a:lnSpc>
              <a:spcBef>
                <a:spcPts val="0"/>
              </a:spcBef>
              <a:spcAft>
                <a:spcPts val="0"/>
              </a:spcAft>
              <a:buClr>
                <a:srgbClr val="F58220"/>
              </a:buClr>
              <a:buSzPts val="2400"/>
              <a:buFont typeface="Montserrat"/>
              <a:buNone/>
            </a:pPr>
            <a:r>
              <a:rPr lang="en-US" sz="2400" b="1">
                <a:solidFill>
                  <a:srgbClr val="F58220"/>
                </a:solidFill>
                <a:latin typeface="Montserrat"/>
                <a:ea typeface="Montserrat"/>
                <a:cs typeface="Montserrat"/>
                <a:sym typeface="Montserrat"/>
              </a:rPr>
              <a:t>AI Developer – ACS Technologies</a:t>
            </a:r>
            <a:endParaRPr sz="2400">
              <a:solidFill>
                <a:schemeClr val="dk1"/>
              </a:solidFill>
              <a:latin typeface="Calibri"/>
              <a:ea typeface="Calibri"/>
              <a:cs typeface="Calibri"/>
              <a:sym typeface="Calibri"/>
            </a:endParaRPr>
          </a:p>
        </p:txBody>
      </p:sp>
      <p:pic>
        <p:nvPicPr>
          <p:cNvPr id="41" name="Google Shape;41;p3" title="DisneyTLMustacheGB.png"/>
          <p:cNvPicPr preferRelativeResize="0"/>
          <p:nvPr/>
        </p:nvPicPr>
        <p:blipFill>
          <a:blip r:embed="rId3">
            <a:alphaModFix/>
          </a:blip>
          <a:stretch>
            <a:fillRect/>
          </a:stretch>
        </p:blipFill>
        <p:spPr>
          <a:xfrm>
            <a:off x="977900" y="2692400"/>
            <a:ext cx="6832500" cy="6832500"/>
          </a:xfrm>
          <a:prstGeom prst="flowChartAlternateProcess">
            <a:avLst/>
          </a:prstGeom>
          <a:solidFill>
            <a:srgbClr val="1B1D24"/>
          </a:solidFill>
          <a:ln w="76200" cap="flat" cmpd="sng">
            <a:solidFill>
              <a:srgbClr val="00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6"/>
        <p:cNvGrpSpPr/>
        <p:nvPr/>
      </p:nvGrpSpPr>
      <p:grpSpPr>
        <a:xfrm>
          <a:off x="0" y="0"/>
          <a:ext cx="0" cy="0"/>
          <a:chOff x="0" y="0"/>
          <a:chExt cx="0" cy="0"/>
        </a:xfrm>
      </p:grpSpPr>
      <p:sp>
        <p:nvSpPr>
          <p:cNvPr id="47" name="Google Shape;47;g3dc15369c17_0_120"/>
          <p:cNvSpPr/>
          <p:nvPr/>
        </p:nvSpPr>
        <p:spPr>
          <a:xfrm>
            <a:off x="1143000" y="476250"/>
            <a:ext cx="3914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PRESENTED BY · TRIPP LISENBY</a:t>
            </a:r>
            <a:endParaRPr sz="1350" b="0" i="0" u="none" strike="noStrike" cap="none">
              <a:solidFill>
                <a:schemeClr val="dk1"/>
              </a:solidFill>
              <a:latin typeface="Calibri"/>
              <a:ea typeface="Calibri"/>
              <a:cs typeface="Calibri"/>
              <a:sym typeface="Calibri"/>
            </a:endParaRPr>
          </a:p>
        </p:txBody>
      </p:sp>
      <p:sp>
        <p:nvSpPr>
          <p:cNvPr id="48" name="Google Shape;48;g3dc15369c17_0_120"/>
          <p:cNvSpPr/>
          <p:nvPr/>
        </p:nvSpPr>
        <p:spPr>
          <a:xfrm>
            <a:off x="16365974" y="476250"/>
            <a:ext cx="8553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10 MIN</a:t>
            </a:r>
            <a:endParaRPr sz="1350" b="0" i="0" u="none" strike="noStrike" cap="none">
              <a:solidFill>
                <a:schemeClr val="dk1"/>
              </a:solidFill>
              <a:latin typeface="Calibri"/>
              <a:ea typeface="Calibri"/>
              <a:cs typeface="Calibri"/>
              <a:sym typeface="Calibri"/>
            </a:endParaRPr>
          </a:p>
        </p:txBody>
      </p:sp>
      <p:sp>
        <p:nvSpPr>
          <p:cNvPr id="49" name="Google Shape;49;g3dc15369c17_0_120"/>
          <p:cNvSpPr/>
          <p:nvPr/>
        </p:nvSpPr>
        <p:spPr>
          <a:xfrm>
            <a:off x="1143000" y="2093952"/>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A PERSONAL JOURNEY</a:t>
            </a:r>
            <a:endParaRPr sz="1650" b="0" i="0" u="none" strike="noStrike" cap="none">
              <a:solidFill>
                <a:schemeClr val="dk1"/>
              </a:solidFill>
              <a:latin typeface="Calibri"/>
              <a:ea typeface="Calibri"/>
              <a:cs typeface="Calibri"/>
              <a:sym typeface="Calibri"/>
            </a:endParaRPr>
          </a:p>
        </p:txBody>
      </p:sp>
      <p:sp>
        <p:nvSpPr>
          <p:cNvPr id="50" name="Google Shape;50;g3dc15369c17_0_120"/>
          <p:cNvSpPr/>
          <p:nvPr/>
        </p:nvSpPr>
        <p:spPr>
          <a:xfrm>
            <a:off x="1143000" y="2749272"/>
            <a:ext cx="16482000" cy="3215700"/>
          </a:xfrm>
          <a:prstGeom prst="rect">
            <a:avLst/>
          </a:prstGeom>
          <a:noFill/>
          <a:ln>
            <a:noFill/>
          </a:ln>
        </p:spPr>
        <p:txBody>
          <a:bodyPr spcFirstLastPara="1" wrap="square" lIns="25400" tIns="25400" rIns="25400" bIns="25400" anchor="t" anchorCtr="0">
            <a:noAutofit/>
          </a:bodyPr>
          <a:lstStyle/>
          <a:p>
            <a:pPr marL="0" marR="0" lvl="0" indent="0" algn="l" rtl="0">
              <a:lnSpc>
                <a:spcPct val="92000"/>
              </a:lnSpc>
              <a:spcBef>
                <a:spcPts val="0"/>
              </a:spcBef>
              <a:spcAft>
                <a:spcPts val="0"/>
              </a:spcAft>
              <a:buClr>
                <a:srgbClr val="14161C"/>
              </a:buClr>
              <a:buSzPts val="13500"/>
              <a:buFont typeface="Arial"/>
              <a:buNone/>
            </a:pPr>
            <a:r>
              <a:rPr lang="en-US" sz="13500" b="1" i="0" u="none" strike="noStrike" cap="none">
                <a:solidFill>
                  <a:srgbClr val="14161C"/>
                </a:solidFill>
                <a:latin typeface="Arial"/>
                <a:ea typeface="Arial"/>
                <a:cs typeface="Arial"/>
                <a:sym typeface="Arial"/>
              </a:rPr>
              <a:t>Vibe Coder </a:t>
            </a:r>
            <a:r>
              <a:rPr lang="en-US" sz="13500" b="1" i="0" u="none" strike="noStrike" cap="none">
                <a:solidFill>
                  <a:srgbClr val="F58220"/>
                </a:solidFill>
                <a:latin typeface="Arial"/>
                <a:ea typeface="Arial"/>
                <a:cs typeface="Arial"/>
                <a:sym typeface="Arial"/>
              </a:rPr>
              <a:t>→ </a:t>
            </a:r>
            <a:r>
              <a:rPr lang="en-US" sz="13500" b="0" i="0" u="none" strike="noStrike" cap="none">
                <a:solidFill>
                  <a:srgbClr val="14161C"/>
                </a:solidFill>
                <a:latin typeface="Arial"/>
                <a:ea typeface="Arial"/>
                <a:cs typeface="Arial"/>
                <a:sym typeface="Arial"/>
              </a:rPr>
              <a:t>Context Engineer</a:t>
            </a:r>
            <a:endParaRPr sz="13500" b="0" i="0" u="none" strike="noStrike" cap="none">
              <a:solidFill>
                <a:schemeClr val="dk1"/>
              </a:solidFill>
              <a:latin typeface="Calibri"/>
              <a:ea typeface="Calibri"/>
              <a:cs typeface="Calibri"/>
              <a:sym typeface="Calibri"/>
            </a:endParaRPr>
          </a:p>
        </p:txBody>
      </p:sp>
      <p:sp>
        <p:nvSpPr>
          <p:cNvPr id="51" name="Google Shape;51;g3dc15369c17_0_120"/>
          <p:cNvSpPr/>
          <p:nvPr/>
        </p:nvSpPr>
        <p:spPr>
          <a:xfrm>
            <a:off x="1143000" y="6460212"/>
            <a:ext cx="12753900" cy="526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How I stopped one-shotting and started thinking.</a:t>
            </a:r>
            <a:endParaRPr sz="2850" b="0" i="0" u="none" strike="noStrike" cap="none">
              <a:solidFill>
                <a:schemeClr val="dk1"/>
              </a:solidFill>
              <a:latin typeface="Calibri"/>
              <a:ea typeface="Calibri"/>
              <a:cs typeface="Calibri"/>
              <a:sym typeface="Calibri"/>
            </a:endParaRPr>
          </a:p>
        </p:txBody>
      </p:sp>
      <p:sp>
        <p:nvSpPr>
          <p:cNvPr id="52" name="Google Shape;52;g3dc15369c17_0_120"/>
          <p:cNvSpPr/>
          <p:nvPr/>
        </p:nvSpPr>
        <p:spPr>
          <a:xfrm>
            <a:off x="1143000" y="9231630"/>
            <a:ext cx="164820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 6 STAGES · 1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
        <p:cNvGrpSpPr/>
        <p:nvPr/>
      </p:nvGrpSpPr>
      <p:grpSpPr>
        <a:xfrm>
          <a:off x="0" y="0"/>
          <a:ext cx="0" cy="0"/>
          <a:chOff x="0" y="0"/>
          <a:chExt cx="0" cy="0"/>
        </a:xfrm>
      </p:grpSpPr>
      <p:sp>
        <p:nvSpPr>
          <p:cNvPr id="58" name="Google Shape;58;g3dc15369c17_0_130"/>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59" name="Google Shape;59;g3dc15369c17_0_130"/>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01 / 06</a:t>
            </a:r>
            <a:endParaRPr sz="1350" b="0" i="0" u="none" strike="noStrike" cap="none">
              <a:solidFill>
                <a:schemeClr val="dk1"/>
              </a:solidFill>
              <a:latin typeface="Calibri"/>
              <a:ea typeface="Calibri"/>
              <a:cs typeface="Calibri"/>
              <a:sym typeface="Calibri"/>
            </a:endParaRPr>
          </a:p>
        </p:txBody>
      </p:sp>
      <p:sp>
        <p:nvSpPr>
          <p:cNvPr id="60" name="Google Shape;60;g3dc15369c17_0_130"/>
          <p:cNvSpPr/>
          <p:nvPr/>
        </p:nvSpPr>
        <p:spPr>
          <a:xfrm>
            <a:off x="12477750" y="381000"/>
            <a:ext cx="5602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01</a:t>
            </a:r>
            <a:endParaRPr sz="39000" b="0" i="0" u="none" strike="noStrike" cap="none">
              <a:solidFill>
                <a:schemeClr val="dk1"/>
              </a:solidFill>
              <a:latin typeface="Calibri"/>
              <a:ea typeface="Calibri"/>
              <a:cs typeface="Calibri"/>
              <a:sym typeface="Calibri"/>
            </a:endParaRPr>
          </a:p>
        </p:txBody>
      </p:sp>
      <p:sp>
        <p:nvSpPr>
          <p:cNvPr id="61" name="Google Shape;61;g3dc15369c17_0_130"/>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01</a:t>
            </a:r>
            <a:endParaRPr sz="1650" b="0" i="0" u="none" strike="noStrike" cap="none">
              <a:solidFill>
                <a:schemeClr val="dk1"/>
              </a:solidFill>
              <a:latin typeface="Calibri"/>
              <a:ea typeface="Calibri"/>
              <a:cs typeface="Calibri"/>
              <a:sym typeface="Calibri"/>
            </a:endParaRPr>
          </a:p>
        </p:txBody>
      </p:sp>
      <p:sp>
        <p:nvSpPr>
          <p:cNvPr id="62" name="Google Shape;62;g3dc15369c17_0_130"/>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Spark.</a:t>
            </a:r>
            <a:endParaRPr sz="12600" b="0" i="0" u="none" strike="noStrike" cap="none">
              <a:solidFill>
                <a:schemeClr val="dk1"/>
              </a:solidFill>
              <a:latin typeface="Calibri"/>
              <a:ea typeface="Calibri"/>
              <a:cs typeface="Calibri"/>
              <a:sym typeface="Calibri"/>
            </a:endParaRPr>
          </a:p>
        </p:txBody>
      </p:sp>
      <p:sp>
        <p:nvSpPr>
          <p:cNvPr id="63" name="Google Shape;63;g3dc15369c17_0_130"/>
          <p:cNvSpPr/>
          <p:nvPr/>
        </p:nvSpPr>
        <p:spPr>
          <a:xfrm>
            <a:off x="1143000" y="5460682"/>
            <a:ext cx="11772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ChatGPT had just dropped. I started one-shotting prompts to get through my classes.</a:t>
            </a:r>
            <a:endParaRPr sz="3150" b="0" i="0" u="none" strike="noStrike" cap="none">
              <a:solidFill>
                <a:schemeClr val="dk1"/>
              </a:solidFill>
              <a:latin typeface="Calibri"/>
              <a:ea typeface="Calibri"/>
              <a:cs typeface="Calibri"/>
              <a:sym typeface="Calibri"/>
            </a:endParaRPr>
          </a:p>
        </p:txBody>
      </p:sp>
      <p:sp>
        <p:nvSpPr>
          <p:cNvPr id="64" name="Google Shape;64;g3dc15369c17_0_130"/>
          <p:cNvSpPr/>
          <p:nvPr/>
        </p:nvSpPr>
        <p:spPr>
          <a:xfrm>
            <a:off x="1143000" y="7074218"/>
            <a:ext cx="3917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g3dc15369c17_0_130"/>
          <p:cNvSpPr/>
          <p:nvPr/>
        </p:nvSpPr>
        <p:spPr>
          <a:xfrm>
            <a:off x="1322070" y="7177088"/>
            <a:ext cx="3676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 STAKES · PURE CURIOSITY</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0"/>
        <p:cNvGrpSpPr/>
        <p:nvPr/>
      </p:nvGrpSpPr>
      <p:grpSpPr>
        <a:xfrm>
          <a:off x="0" y="0"/>
          <a:ext cx="0" cy="0"/>
          <a:chOff x="0" y="0"/>
          <a:chExt cx="0" cy="0"/>
        </a:xfrm>
      </p:grpSpPr>
      <p:sp>
        <p:nvSpPr>
          <p:cNvPr id="71" name="Google Shape;71;g3dc15369c17_0_142"/>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72" name="Google Shape;72;g3dc15369c17_0_142"/>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02 / 06</a:t>
            </a:r>
            <a:endParaRPr sz="1350" b="0" i="0" u="none" strike="noStrike" cap="none">
              <a:solidFill>
                <a:schemeClr val="dk1"/>
              </a:solidFill>
              <a:latin typeface="Calibri"/>
              <a:ea typeface="Calibri"/>
              <a:cs typeface="Calibri"/>
              <a:sym typeface="Calibri"/>
            </a:endParaRPr>
          </a:p>
        </p:txBody>
      </p:sp>
      <p:sp>
        <p:nvSpPr>
          <p:cNvPr id="73" name="Google Shape;73;g3dc15369c17_0_142"/>
          <p:cNvSpPr/>
          <p:nvPr/>
        </p:nvSpPr>
        <p:spPr>
          <a:xfrm>
            <a:off x="11536681" y="381000"/>
            <a:ext cx="60708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02</a:t>
            </a:r>
            <a:endParaRPr sz="39000" b="0" i="0" u="none" strike="noStrike" cap="none">
              <a:solidFill>
                <a:schemeClr val="dk1"/>
              </a:solidFill>
              <a:latin typeface="Calibri"/>
              <a:ea typeface="Calibri"/>
              <a:cs typeface="Calibri"/>
              <a:sym typeface="Calibri"/>
            </a:endParaRPr>
          </a:p>
        </p:txBody>
      </p:sp>
      <p:sp>
        <p:nvSpPr>
          <p:cNvPr id="74" name="Google Shape;74;g3dc15369c17_0_142"/>
          <p:cNvSpPr/>
          <p:nvPr/>
        </p:nvSpPr>
        <p:spPr>
          <a:xfrm>
            <a:off x="1143000" y="2904172"/>
            <a:ext cx="127539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02</a:t>
            </a:r>
            <a:endParaRPr sz="1650" b="0" i="0" u="none" strike="noStrike" cap="none">
              <a:solidFill>
                <a:schemeClr val="dk1"/>
              </a:solidFill>
              <a:latin typeface="Calibri"/>
              <a:ea typeface="Calibri"/>
              <a:cs typeface="Calibri"/>
              <a:sym typeface="Calibri"/>
            </a:endParaRPr>
          </a:p>
        </p:txBody>
      </p:sp>
      <p:sp>
        <p:nvSpPr>
          <p:cNvPr id="75" name="Google Shape;75;g3dc15369c17_0_142"/>
          <p:cNvSpPr/>
          <p:nvPr/>
        </p:nvSpPr>
        <p:spPr>
          <a:xfrm>
            <a:off x="1143000" y="3483293"/>
            <a:ext cx="127539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Hook.</a:t>
            </a:r>
            <a:endParaRPr sz="12600" b="0" i="0" u="none" strike="noStrike" cap="none">
              <a:solidFill>
                <a:schemeClr val="dk1"/>
              </a:solidFill>
              <a:latin typeface="Calibri"/>
              <a:ea typeface="Calibri"/>
              <a:cs typeface="Calibri"/>
              <a:sym typeface="Calibri"/>
            </a:endParaRPr>
          </a:p>
        </p:txBody>
      </p:sp>
      <p:sp>
        <p:nvSpPr>
          <p:cNvPr id="76" name="Google Shape;76;g3dc15369c17_0_142"/>
          <p:cNvSpPr/>
          <p:nvPr/>
        </p:nvSpPr>
        <p:spPr>
          <a:xfrm>
            <a:off x="1143000" y="5460682"/>
            <a:ext cx="12753900" cy="111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Then I found </a:t>
            </a:r>
            <a:r>
              <a:rPr lang="en-US" sz="3150" b="0" i="0" u="none" strike="noStrike" cap="none">
                <a:solidFill>
                  <a:srgbClr val="14161C"/>
                </a:solidFill>
                <a:latin typeface="Arial"/>
                <a:ea typeface="Arial"/>
                <a:cs typeface="Arial"/>
                <a:sym typeface="Arial"/>
              </a:rPr>
              <a:t>Bolt</a:t>
            </a:r>
            <a:r>
              <a:rPr lang="en-US" sz="3150" b="0" i="0" u="none" strike="noStrike" cap="none">
                <a:solidFill>
                  <a:srgbClr val="6B6E78"/>
                </a:solidFill>
                <a:latin typeface="Arial"/>
                <a:ea typeface="Arial"/>
                <a:cs typeface="Arial"/>
                <a:sym typeface="Arial"/>
              </a:rPr>
              <a:t>. Then </a:t>
            </a:r>
            <a:r>
              <a:rPr lang="en-US" sz="3150" b="0" i="0" u="none" strike="noStrike" cap="none">
                <a:solidFill>
                  <a:srgbClr val="14161C"/>
                </a:solidFill>
                <a:latin typeface="Arial"/>
                <a:ea typeface="Arial"/>
                <a:cs typeface="Arial"/>
                <a:sym typeface="Arial"/>
              </a:rPr>
              <a:t>Replit </a:t>
            </a:r>
            <a:r>
              <a:rPr lang="en-US" sz="3150" b="0" i="0" u="none" strike="noStrike" cap="none">
                <a:solidFill>
                  <a:srgbClr val="6B6E78"/>
                </a:solidFill>
                <a:latin typeface="Arial"/>
                <a:ea typeface="Arial"/>
                <a:cs typeface="Arial"/>
                <a:sym typeface="Arial"/>
              </a:rPr>
              <a:t>. A short prompt, and out came a whole app.</a:t>
            </a:r>
            <a:endParaRPr sz="3150" b="0" i="0" u="none" strike="noStrike" cap="none">
              <a:solidFill>
                <a:schemeClr val="dk1"/>
              </a:solidFill>
              <a:latin typeface="Calibri"/>
              <a:ea typeface="Calibri"/>
              <a:cs typeface="Calibri"/>
              <a:sym typeface="Calibri"/>
            </a:endParaRPr>
          </a:p>
        </p:txBody>
      </p:sp>
      <p:sp>
        <p:nvSpPr>
          <p:cNvPr id="77" name="Google Shape;77;g3dc15369c17_0_142"/>
          <p:cNvSpPr/>
          <p:nvPr/>
        </p:nvSpPr>
        <p:spPr>
          <a:xfrm>
            <a:off x="1143000" y="7074218"/>
            <a:ext cx="34398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g3dc15369c17_0_142"/>
          <p:cNvSpPr/>
          <p:nvPr/>
        </p:nvSpPr>
        <p:spPr>
          <a:xfrm>
            <a:off x="1322070" y="7177088"/>
            <a:ext cx="31848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FELT LIKE A SUPERPOWER</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3"/>
        <p:cNvGrpSpPr/>
        <p:nvPr/>
      </p:nvGrpSpPr>
      <p:grpSpPr>
        <a:xfrm>
          <a:off x="0" y="0"/>
          <a:ext cx="0" cy="0"/>
          <a:chOff x="0" y="0"/>
          <a:chExt cx="0" cy="0"/>
        </a:xfrm>
      </p:grpSpPr>
      <p:sp>
        <p:nvSpPr>
          <p:cNvPr id="84" name="Google Shape;84;g3dc15369c17_0_154"/>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85" name="Google Shape;85;g3dc15369c17_0_154"/>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03 / 06</a:t>
            </a:r>
            <a:endParaRPr sz="1350" b="0" i="0" u="none" strike="noStrike" cap="none">
              <a:solidFill>
                <a:schemeClr val="dk1"/>
              </a:solidFill>
              <a:latin typeface="Calibri"/>
              <a:ea typeface="Calibri"/>
              <a:cs typeface="Calibri"/>
              <a:sym typeface="Calibri"/>
            </a:endParaRPr>
          </a:p>
        </p:txBody>
      </p:sp>
      <p:sp>
        <p:nvSpPr>
          <p:cNvPr id="86" name="Google Shape;86;g3dc15369c17_0_154"/>
          <p:cNvSpPr/>
          <p:nvPr/>
        </p:nvSpPr>
        <p:spPr>
          <a:xfrm>
            <a:off x="11506915" y="381000"/>
            <a:ext cx="61017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03</a:t>
            </a:r>
            <a:endParaRPr sz="39000" b="0" i="0" u="none" strike="noStrike" cap="none">
              <a:solidFill>
                <a:schemeClr val="dk1"/>
              </a:solidFill>
              <a:latin typeface="Calibri"/>
              <a:ea typeface="Calibri"/>
              <a:cs typeface="Calibri"/>
              <a:sym typeface="Calibri"/>
            </a:endParaRPr>
          </a:p>
        </p:txBody>
      </p:sp>
      <p:sp>
        <p:nvSpPr>
          <p:cNvPr id="87" name="Google Shape;87;g3dc15369c17_0_154"/>
          <p:cNvSpPr/>
          <p:nvPr/>
        </p:nvSpPr>
        <p:spPr>
          <a:xfrm>
            <a:off x="1143000" y="2737961"/>
            <a:ext cx="13735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03</a:t>
            </a:r>
            <a:endParaRPr sz="1650" b="0" i="0" u="none" strike="noStrike" cap="none">
              <a:solidFill>
                <a:schemeClr val="dk1"/>
              </a:solidFill>
              <a:latin typeface="Calibri"/>
              <a:ea typeface="Calibri"/>
              <a:cs typeface="Calibri"/>
              <a:sym typeface="Calibri"/>
            </a:endParaRPr>
          </a:p>
        </p:txBody>
      </p:sp>
      <p:sp>
        <p:nvSpPr>
          <p:cNvPr id="88" name="Google Shape;88;g3dc15369c17_0_154"/>
          <p:cNvSpPr/>
          <p:nvPr/>
        </p:nvSpPr>
        <p:spPr>
          <a:xfrm>
            <a:off x="1143000" y="3317081"/>
            <a:ext cx="13735200" cy="1558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2600"/>
              <a:buFont typeface="Arial"/>
              <a:buNone/>
            </a:pPr>
            <a:r>
              <a:rPr lang="en-US" sz="12600" b="1" i="0" u="none" strike="noStrike" cap="none">
                <a:solidFill>
                  <a:srgbClr val="14161C"/>
                </a:solidFill>
                <a:latin typeface="Arial"/>
                <a:ea typeface="Arial"/>
                <a:cs typeface="Arial"/>
                <a:sym typeface="Arial"/>
              </a:rPr>
              <a:t>The Cracks.</a:t>
            </a:r>
            <a:endParaRPr sz="12600" b="0" i="0" u="none" strike="noStrike" cap="none">
              <a:solidFill>
                <a:schemeClr val="dk1"/>
              </a:solidFill>
              <a:latin typeface="Calibri"/>
              <a:ea typeface="Calibri"/>
              <a:cs typeface="Calibri"/>
              <a:sym typeface="Calibri"/>
            </a:endParaRPr>
          </a:p>
        </p:txBody>
      </p:sp>
      <p:sp>
        <p:nvSpPr>
          <p:cNvPr id="89" name="Google Shape;89;g3dc15369c17_0_154"/>
          <p:cNvSpPr/>
          <p:nvPr/>
        </p:nvSpPr>
        <p:spPr>
          <a:xfrm>
            <a:off x="1143000" y="5294472"/>
            <a:ext cx="12753900" cy="5781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3150"/>
              <a:buFont typeface="Arial"/>
              <a:buNone/>
            </a:pPr>
            <a:r>
              <a:rPr lang="en-US" sz="3150" b="0" i="0" u="none" strike="noStrike" cap="none">
                <a:solidFill>
                  <a:srgbClr val="6B6E78"/>
                </a:solidFill>
                <a:latin typeface="Arial"/>
                <a:ea typeface="Arial"/>
                <a:cs typeface="Arial"/>
                <a:sym typeface="Arial"/>
              </a:rPr>
              <a:t>The demos looked great. They almost never held up.</a:t>
            </a:r>
            <a:endParaRPr sz="3150" b="0" i="0" u="none" strike="noStrike" cap="none">
              <a:solidFill>
                <a:schemeClr val="dk1"/>
              </a:solidFill>
              <a:latin typeface="Calibri"/>
              <a:ea typeface="Calibri"/>
              <a:cs typeface="Calibri"/>
              <a:sym typeface="Calibri"/>
            </a:endParaRPr>
          </a:p>
        </p:txBody>
      </p:sp>
      <p:sp>
        <p:nvSpPr>
          <p:cNvPr id="90" name="Google Shape;90;g3dc15369c17_0_154"/>
          <p:cNvSpPr/>
          <p:nvPr/>
        </p:nvSpPr>
        <p:spPr>
          <a:xfrm>
            <a:off x="1143000" y="6253639"/>
            <a:ext cx="20874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g3dc15369c17_0_154"/>
          <p:cNvSpPr/>
          <p:nvPr/>
        </p:nvSpPr>
        <p:spPr>
          <a:xfrm>
            <a:off x="1322070" y="6356509"/>
            <a:ext cx="1805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INCONSISTENT</a:t>
            </a:r>
            <a:endParaRPr sz="1350" b="0" i="0" u="none" strike="noStrike" cap="none">
              <a:solidFill>
                <a:schemeClr val="dk1"/>
              </a:solidFill>
              <a:latin typeface="Calibri"/>
              <a:ea typeface="Calibri"/>
              <a:cs typeface="Calibri"/>
              <a:sym typeface="Calibri"/>
            </a:endParaRPr>
          </a:p>
        </p:txBody>
      </p:sp>
      <p:sp>
        <p:nvSpPr>
          <p:cNvPr id="92" name="Google Shape;92;g3dc15369c17_0_154"/>
          <p:cNvSpPr/>
          <p:nvPr/>
        </p:nvSpPr>
        <p:spPr>
          <a:xfrm>
            <a:off x="3401735" y="6253639"/>
            <a:ext cx="13560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g3dc15369c17_0_154"/>
          <p:cNvSpPr/>
          <p:nvPr/>
        </p:nvSpPr>
        <p:spPr>
          <a:xfrm>
            <a:off x="3580805" y="6356509"/>
            <a:ext cx="10740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FRAGILE</a:t>
            </a:r>
            <a:endParaRPr sz="1350" b="0" i="0" u="none" strike="noStrike" cap="none">
              <a:solidFill>
                <a:schemeClr val="dk1"/>
              </a:solidFill>
              <a:latin typeface="Calibri"/>
              <a:ea typeface="Calibri"/>
              <a:cs typeface="Calibri"/>
              <a:sym typeface="Calibri"/>
            </a:endParaRPr>
          </a:p>
        </p:txBody>
      </p:sp>
      <p:sp>
        <p:nvSpPr>
          <p:cNvPr id="94" name="Google Shape;94;g3dc15369c17_0_154"/>
          <p:cNvSpPr/>
          <p:nvPr/>
        </p:nvSpPr>
        <p:spPr>
          <a:xfrm>
            <a:off x="4929068" y="6253639"/>
            <a:ext cx="3845100" cy="403800"/>
          </a:xfrm>
          <a:prstGeom prst="rect">
            <a:avLst/>
          </a:prstGeom>
          <a:noFill/>
          <a:ln w="9525" cap="flat" cmpd="sng">
            <a:solidFill>
              <a:srgbClr val="B5341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g3dc15369c17_0_154"/>
          <p:cNvSpPr/>
          <p:nvPr/>
        </p:nvSpPr>
        <p:spPr>
          <a:xfrm>
            <a:off x="5108138" y="6356509"/>
            <a:ext cx="3602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B5341B"/>
              </a:buClr>
              <a:buSzPts val="1350"/>
              <a:buFont typeface="Arial"/>
              <a:buNone/>
            </a:pPr>
            <a:r>
              <a:rPr lang="en-US" sz="1350" b="0" i="0" u="none" strike="noStrike" cap="none">
                <a:solidFill>
                  <a:srgbClr val="B5341B"/>
                </a:solidFill>
                <a:latin typeface="Arial"/>
                <a:ea typeface="Arial"/>
                <a:cs typeface="Arial"/>
                <a:sym typeface="Arial"/>
              </a:rPr>
              <a:t>NOWHERE NEAR PRODUCTION</a:t>
            </a:r>
            <a:endParaRPr sz="1350" b="0" i="0" u="none" strike="noStrike" cap="none">
              <a:solidFill>
                <a:schemeClr val="dk1"/>
              </a:solidFill>
              <a:latin typeface="Calibri"/>
              <a:ea typeface="Calibri"/>
              <a:cs typeface="Calibri"/>
              <a:sym typeface="Calibri"/>
            </a:endParaRPr>
          </a:p>
        </p:txBody>
      </p:sp>
      <p:sp>
        <p:nvSpPr>
          <p:cNvPr id="96" name="Google Shape;96;g3dc15369c17_0_154"/>
          <p:cNvSpPr/>
          <p:nvPr/>
        </p:nvSpPr>
        <p:spPr>
          <a:xfrm>
            <a:off x="1143000" y="7190899"/>
            <a:ext cx="13735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HIDDEN COST: DEBT I COULDN'T SEE</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
        <p:cNvGrpSpPr/>
        <p:nvPr/>
      </p:nvGrpSpPr>
      <p:grpSpPr>
        <a:xfrm>
          <a:off x="0" y="0"/>
          <a:ext cx="0" cy="0"/>
          <a:chOff x="0" y="0"/>
          <a:chExt cx="0" cy="0"/>
        </a:xfrm>
      </p:grpSpPr>
      <p:sp>
        <p:nvSpPr>
          <p:cNvPr id="102" name="Google Shape;102;g3dc15369c17_0_171"/>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03" name="Google Shape;103;g3dc15369c17_0_171"/>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04 / 06</a:t>
            </a:r>
            <a:endParaRPr sz="1350" b="0" i="0" u="none" strike="noStrike" cap="none">
              <a:solidFill>
                <a:schemeClr val="dk1"/>
              </a:solidFill>
              <a:latin typeface="Calibri"/>
              <a:ea typeface="Calibri"/>
              <a:cs typeface="Calibri"/>
              <a:sym typeface="Calibri"/>
            </a:endParaRPr>
          </a:p>
        </p:txBody>
      </p:sp>
      <p:sp>
        <p:nvSpPr>
          <p:cNvPr id="104" name="Google Shape;104;g3dc15369c17_0_171"/>
          <p:cNvSpPr/>
          <p:nvPr/>
        </p:nvSpPr>
        <p:spPr>
          <a:xfrm>
            <a:off x="10971966" y="381000"/>
            <a:ext cx="66525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04</a:t>
            </a:r>
            <a:endParaRPr sz="39000" b="0" i="0" u="none" strike="noStrike" cap="none">
              <a:solidFill>
                <a:schemeClr val="dk1"/>
              </a:solidFill>
              <a:latin typeface="Calibri"/>
              <a:ea typeface="Calibri"/>
              <a:cs typeface="Calibri"/>
              <a:sym typeface="Calibri"/>
            </a:endParaRPr>
          </a:p>
        </p:txBody>
      </p:sp>
      <p:sp>
        <p:nvSpPr>
          <p:cNvPr id="105" name="Google Shape;105;g3dc15369c17_0_171"/>
          <p:cNvSpPr/>
          <p:nvPr/>
        </p:nvSpPr>
        <p:spPr>
          <a:xfrm>
            <a:off x="1143000" y="2559368"/>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04</a:t>
            </a:r>
            <a:endParaRPr sz="1650" b="0" i="0" u="none" strike="noStrike" cap="none">
              <a:solidFill>
                <a:schemeClr val="dk1"/>
              </a:solidFill>
              <a:latin typeface="Calibri"/>
              <a:ea typeface="Calibri"/>
              <a:cs typeface="Calibri"/>
              <a:sym typeface="Calibri"/>
            </a:endParaRPr>
          </a:p>
        </p:txBody>
      </p:sp>
      <p:sp>
        <p:nvSpPr>
          <p:cNvPr id="106" name="Google Shape;106;g3dc15369c17_0_171"/>
          <p:cNvSpPr/>
          <p:nvPr/>
        </p:nvSpPr>
        <p:spPr>
          <a:xfrm>
            <a:off x="1143000" y="3138488"/>
            <a:ext cx="14225700" cy="2427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9900"/>
              <a:buFont typeface="Arial"/>
              <a:buNone/>
            </a:pPr>
            <a:r>
              <a:rPr lang="en-US" sz="9900" b="1" i="0" u="none" strike="noStrike" cap="none">
                <a:solidFill>
                  <a:srgbClr val="14161C"/>
                </a:solidFill>
                <a:latin typeface="Arial"/>
                <a:ea typeface="Arial"/>
                <a:cs typeface="Arial"/>
                <a:sym typeface="Arial"/>
              </a:rPr>
              <a:t>Bigger prompts </a:t>
            </a:r>
            <a:r>
              <a:rPr lang="en-US" sz="9900" b="1" i="0" u="none" strike="noStrike" cap="none">
                <a:solidFill>
                  <a:srgbClr val="F58220"/>
                </a:solidFill>
                <a:latin typeface="Arial"/>
                <a:ea typeface="Arial"/>
                <a:cs typeface="Arial"/>
                <a:sym typeface="Arial"/>
              </a:rPr>
              <a:t>≠ </a:t>
            </a:r>
            <a:r>
              <a:rPr lang="en-US" sz="9900" b="1" i="0" u="none" strike="noStrike" cap="none">
                <a:solidFill>
                  <a:srgbClr val="14161C"/>
                </a:solidFill>
                <a:latin typeface="Arial"/>
                <a:ea typeface="Arial"/>
                <a:cs typeface="Arial"/>
                <a:sym typeface="Arial"/>
              </a:rPr>
              <a:t>better code.</a:t>
            </a:r>
            <a:endParaRPr sz="9900" b="0" i="0" u="none" strike="noStrike" cap="none">
              <a:solidFill>
                <a:schemeClr val="dk1"/>
              </a:solidFill>
              <a:latin typeface="Calibri"/>
              <a:ea typeface="Calibri"/>
              <a:cs typeface="Calibri"/>
              <a:sym typeface="Calibri"/>
            </a:endParaRPr>
          </a:p>
        </p:txBody>
      </p:sp>
      <p:sp>
        <p:nvSpPr>
          <p:cNvPr id="107" name="Google Shape;107;g3dc15369c17_0_171"/>
          <p:cNvSpPr/>
          <p:nvPr/>
        </p:nvSpPr>
        <p:spPr>
          <a:xfrm>
            <a:off x="1143000" y="5984557"/>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learned </a:t>
            </a:r>
            <a:r>
              <a:rPr lang="en-US" sz="2850" b="0" i="0" u="none" strike="noStrike" cap="none">
                <a:solidFill>
                  <a:srgbClr val="14161C"/>
                </a:solidFill>
                <a:latin typeface="Arial"/>
                <a:ea typeface="Arial"/>
                <a:cs typeface="Arial"/>
                <a:sym typeface="Arial"/>
              </a:rPr>
              <a:t>"context is king," </a:t>
            </a:r>
            <a:r>
              <a:rPr lang="en-US" sz="2850" b="0" i="0" u="none" strike="noStrike" cap="none">
                <a:solidFill>
                  <a:srgbClr val="6B6E78"/>
                </a:solidFill>
                <a:latin typeface="Arial"/>
                <a:ea typeface="Arial"/>
                <a:cs typeface="Arial"/>
                <a:sym typeface="Arial"/>
              </a:rPr>
              <a:t>so I wrote paragraphs instead of sentences. Still one-shotting. Change one thing — the whole thing fell apart. Hours of hot-fixes.</a:t>
            </a:r>
            <a:endParaRPr sz="2850" b="0" i="0" u="none" strike="noStrike" cap="none">
              <a:solidFill>
                <a:schemeClr val="dk1"/>
              </a:solidFill>
              <a:latin typeface="Calibri"/>
              <a:ea typeface="Calibri"/>
              <a:cs typeface="Calibri"/>
              <a:sym typeface="Calibri"/>
            </a:endParaRPr>
          </a:p>
        </p:txBody>
      </p:sp>
      <p:sp>
        <p:nvSpPr>
          <p:cNvPr id="108" name="Google Shape;108;g3dc15369c17_0_171"/>
          <p:cNvSpPr/>
          <p:nvPr/>
        </p:nvSpPr>
        <p:spPr>
          <a:xfrm>
            <a:off x="1143000" y="7419023"/>
            <a:ext cx="40446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g3dc15369c17_0_171"/>
          <p:cNvSpPr/>
          <p:nvPr/>
        </p:nvSpPr>
        <p:spPr>
          <a:xfrm>
            <a:off x="1322070" y="7521893"/>
            <a:ext cx="38079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MORE WORDS · SAME PROBLEM</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g3dc15369c17_0_183"/>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16" name="Google Shape;116;g3dc15369c17_0_183"/>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05 / 06</a:t>
            </a:r>
            <a:endParaRPr sz="1350" b="0" i="0" u="none" strike="noStrike" cap="none">
              <a:solidFill>
                <a:schemeClr val="dk1"/>
              </a:solidFill>
              <a:latin typeface="Calibri"/>
              <a:ea typeface="Calibri"/>
              <a:cs typeface="Calibri"/>
              <a:sym typeface="Calibri"/>
            </a:endParaRPr>
          </a:p>
        </p:txBody>
      </p:sp>
      <p:sp>
        <p:nvSpPr>
          <p:cNvPr id="117" name="Google Shape;117;g3dc15369c17_0_183"/>
          <p:cNvSpPr/>
          <p:nvPr/>
        </p:nvSpPr>
        <p:spPr>
          <a:xfrm>
            <a:off x="11432620" y="381000"/>
            <a:ext cx="61782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05</a:t>
            </a:r>
            <a:endParaRPr sz="39000" b="0" i="0" u="none" strike="noStrike" cap="none">
              <a:solidFill>
                <a:schemeClr val="dk1"/>
              </a:solidFill>
              <a:latin typeface="Calibri"/>
              <a:ea typeface="Calibri"/>
              <a:cs typeface="Calibri"/>
              <a:sym typeface="Calibri"/>
            </a:endParaRPr>
          </a:p>
        </p:txBody>
      </p:sp>
      <p:sp>
        <p:nvSpPr>
          <p:cNvPr id="118" name="Google Shape;118;g3dc15369c17_0_183"/>
          <p:cNvSpPr/>
          <p:nvPr/>
        </p:nvSpPr>
        <p:spPr>
          <a:xfrm>
            <a:off x="1143000" y="2450783"/>
            <a:ext cx="142257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05 · THE SHIFT</a:t>
            </a:r>
            <a:endParaRPr sz="1650" b="0" i="0" u="none" strike="noStrike" cap="none">
              <a:solidFill>
                <a:schemeClr val="dk1"/>
              </a:solidFill>
              <a:latin typeface="Calibri"/>
              <a:ea typeface="Calibri"/>
              <a:cs typeface="Calibri"/>
              <a:sym typeface="Calibri"/>
            </a:endParaRPr>
          </a:p>
        </p:txBody>
      </p:sp>
      <p:sp>
        <p:nvSpPr>
          <p:cNvPr id="119" name="Google Shape;119;g3dc15369c17_0_183"/>
          <p:cNvSpPr/>
          <p:nvPr/>
        </p:nvSpPr>
        <p:spPr>
          <a:xfrm>
            <a:off x="1143000" y="3029903"/>
            <a:ext cx="14225700" cy="26442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Planning </a:t>
            </a:r>
            <a:r>
              <a:rPr lang="en-US" sz="10800" b="1" i="0" u="none" strike="noStrike" cap="none">
                <a:solidFill>
                  <a:srgbClr val="F58220"/>
                </a:solidFill>
                <a:latin typeface="Arial"/>
                <a:ea typeface="Arial"/>
                <a:cs typeface="Arial"/>
                <a:sym typeface="Arial"/>
              </a:rPr>
              <a:t>&gt; </a:t>
            </a:r>
            <a:r>
              <a:rPr lang="en-US" sz="10800" b="1" i="0" u="none" strike="noStrike" cap="none">
                <a:solidFill>
                  <a:srgbClr val="14161C"/>
                </a:solidFill>
                <a:latin typeface="Arial"/>
                <a:ea typeface="Arial"/>
                <a:cs typeface="Arial"/>
                <a:sym typeface="Arial"/>
              </a:rPr>
              <a:t>Prompting.</a:t>
            </a:r>
            <a:endParaRPr sz="10800" b="0" i="0" u="none" strike="noStrike" cap="none">
              <a:solidFill>
                <a:schemeClr val="dk1"/>
              </a:solidFill>
              <a:latin typeface="Calibri"/>
              <a:ea typeface="Calibri"/>
              <a:cs typeface="Calibri"/>
              <a:sym typeface="Calibri"/>
            </a:endParaRPr>
          </a:p>
        </p:txBody>
      </p:sp>
      <p:sp>
        <p:nvSpPr>
          <p:cNvPr id="120" name="Google Shape;120;g3dc15369c17_0_183"/>
          <p:cNvSpPr/>
          <p:nvPr/>
        </p:nvSpPr>
        <p:spPr>
          <a:xfrm>
            <a:off x="1143000" y="6093143"/>
            <a:ext cx="132444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I started spending more time </a:t>
            </a:r>
            <a:r>
              <a:rPr lang="en-US" sz="2850" b="0" i="0" u="none" strike="noStrike" cap="none">
                <a:solidFill>
                  <a:srgbClr val="14161C"/>
                </a:solidFill>
                <a:latin typeface="Arial"/>
                <a:ea typeface="Arial"/>
                <a:cs typeface="Arial"/>
                <a:sym typeface="Arial"/>
              </a:rPr>
              <a:t>thinking </a:t>
            </a:r>
            <a:r>
              <a:rPr lang="en-US" sz="2850" b="0" i="0" u="none" strike="noStrike" cap="none">
                <a:solidFill>
                  <a:srgbClr val="6B6E78"/>
                </a:solidFill>
                <a:latin typeface="Arial"/>
                <a:ea typeface="Arial"/>
                <a:cs typeface="Arial"/>
                <a:sym typeface="Arial"/>
              </a:rPr>
              <a:t>before asking. Output got </a:t>
            </a:r>
            <a:r>
              <a:rPr lang="en-US" sz="2850" b="0" i="0" u="none" strike="noStrike" cap="none">
                <a:solidFill>
                  <a:srgbClr val="F58220"/>
                </a:solidFill>
                <a:latin typeface="Arial"/>
                <a:ea typeface="Arial"/>
                <a:cs typeface="Arial"/>
                <a:sym typeface="Arial"/>
              </a:rPr>
              <a:t>10× </a:t>
            </a:r>
            <a:r>
              <a:rPr lang="en-US" sz="2850" b="0" i="0" u="none" strike="noStrike" cap="none">
                <a:solidFill>
                  <a:srgbClr val="6B6E78"/>
                </a:solidFill>
                <a:latin typeface="Arial"/>
                <a:ea typeface="Arial"/>
                <a:cs typeface="Arial"/>
                <a:sym typeface="Arial"/>
              </a:rPr>
              <a:t>better. I still couldn't read code — but I could find what works </a:t>
            </a:r>
            <a:r>
              <a:rPr lang="en-US" sz="2850" b="0" i="1" u="none" strike="noStrike" cap="none">
                <a:solidFill>
                  <a:srgbClr val="6B6E78"/>
                </a:solidFill>
                <a:latin typeface="Arial"/>
                <a:ea typeface="Arial"/>
                <a:cs typeface="Arial"/>
                <a:sym typeface="Arial"/>
              </a:rPr>
              <a:t>before </a:t>
            </a:r>
            <a:r>
              <a:rPr lang="en-US" sz="2850" b="0" i="0" u="none" strike="noStrike" cap="none">
                <a:solidFill>
                  <a:srgbClr val="6B6E78"/>
                </a:solidFill>
                <a:latin typeface="Arial"/>
                <a:ea typeface="Arial"/>
                <a:cs typeface="Arial"/>
                <a:sym typeface="Arial"/>
              </a:rPr>
              <a:t>building it.</a:t>
            </a:r>
            <a:endParaRPr sz="2850" b="0" i="0" u="none" strike="noStrike" cap="none">
              <a:solidFill>
                <a:schemeClr val="dk1"/>
              </a:solidFill>
              <a:latin typeface="Calibri"/>
              <a:ea typeface="Calibri"/>
              <a:cs typeface="Calibri"/>
              <a:sym typeface="Calibri"/>
            </a:endParaRPr>
          </a:p>
        </p:txBody>
      </p:sp>
      <p:sp>
        <p:nvSpPr>
          <p:cNvPr id="121" name="Google Shape;121;g3dc15369c17_0_183"/>
          <p:cNvSpPr/>
          <p:nvPr/>
        </p:nvSpPr>
        <p:spPr>
          <a:xfrm>
            <a:off x="1143000" y="7527607"/>
            <a:ext cx="15834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g3dc15369c17_0_183"/>
          <p:cNvSpPr/>
          <p:nvPr/>
        </p:nvSpPr>
        <p:spPr>
          <a:xfrm>
            <a:off x="1322070" y="7630477"/>
            <a:ext cx="13014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THE SHIFT</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7"/>
        <p:cNvGrpSpPr/>
        <p:nvPr/>
      </p:nvGrpSpPr>
      <p:grpSpPr>
        <a:xfrm>
          <a:off x="0" y="0"/>
          <a:ext cx="0" cy="0"/>
          <a:chOff x="0" y="0"/>
          <a:chExt cx="0" cy="0"/>
        </a:xfrm>
      </p:grpSpPr>
      <p:sp>
        <p:nvSpPr>
          <p:cNvPr id="128" name="Google Shape;128;g3dc15369c17_0_195"/>
          <p:cNvSpPr/>
          <p:nvPr/>
        </p:nvSpPr>
        <p:spPr>
          <a:xfrm>
            <a:off x="1143000"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29" name="Google Shape;129;g3dc15369c17_0_195"/>
          <p:cNvSpPr/>
          <p:nvPr/>
        </p:nvSpPr>
        <p:spPr>
          <a:xfrm>
            <a:off x="16356568" y="476250"/>
            <a:ext cx="8646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06 / 06</a:t>
            </a:r>
            <a:endParaRPr sz="1350" b="0" i="0" u="none" strike="noStrike" cap="none">
              <a:solidFill>
                <a:schemeClr val="dk1"/>
              </a:solidFill>
              <a:latin typeface="Calibri"/>
              <a:ea typeface="Calibri"/>
              <a:cs typeface="Calibri"/>
              <a:sym typeface="Calibri"/>
            </a:endParaRPr>
          </a:p>
        </p:txBody>
      </p:sp>
      <p:sp>
        <p:nvSpPr>
          <p:cNvPr id="130" name="Google Shape;130;g3dc15369c17_0_195"/>
          <p:cNvSpPr/>
          <p:nvPr/>
        </p:nvSpPr>
        <p:spPr>
          <a:xfrm>
            <a:off x="11224617" y="381000"/>
            <a:ext cx="6392400" cy="4248300"/>
          </a:xfrm>
          <a:prstGeom prst="rect">
            <a:avLst/>
          </a:prstGeom>
          <a:noFill/>
          <a:ln>
            <a:noFill/>
          </a:ln>
        </p:spPr>
        <p:txBody>
          <a:bodyPr spcFirstLastPara="1" wrap="square" lIns="25400" tIns="25400" rIns="25400" bIns="25400" anchor="t" anchorCtr="0">
            <a:noAutofit/>
          </a:bodyPr>
          <a:lstStyle/>
          <a:p>
            <a:pPr marL="0" marR="0" lvl="0" indent="0" algn="l" rtl="0">
              <a:lnSpc>
                <a:spcPct val="85000"/>
              </a:lnSpc>
              <a:spcBef>
                <a:spcPts val="0"/>
              </a:spcBef>
              <a:spcAft>
                <a:spcPts val="0"/>
              </a:spcAft>
              <a:buClr>
                <a:srgbClr val="F7F5F1"/>
              </a:buClr>
              <a:buSzPts val="39000"/>
              <a:buFont typeface="Arial"/>
              <a:buNone/>
            </a:pPr>
            <a:r>
              <a:rPr lang="en-US" sz="39000" b="1" i="0" u="none" strike="noStrike" cap="none">
                <a:solidFill>
                  <a:srgbClr val="F7F5F1"/>
                </a:solidFill>
                <a:latin typeface="Arial"/>
                <a:ea typeface="Arial"/>
                <a:cs typeface="Arial"/>
                <a:sym typeface="Arial"/>
              </a:rPr>
              <a:t>06</a:t>
            </a:r>
            <a:endParaRPr sz="39000" b="0" i="0" u="none" strike="noStrike" cap="none">
              <a:solidFill>
                <a:schemeClr val="dk1"/>
              </a:solidFill>
              <a:latin typeface="Calibri"/>
              <a:ea typeface="Calibri"/>
              <a:cs typeface="Calibri"/>
              <a:sym typeface="Calibri"/>
            </a:endParaRPr>
          </a:p>
        </p:txBody>
      </p:sp>
      <p:sp>
        <p:nvSpPr>
          <p:cNvPr id="131" name="Google Shape;131;g3dc15369c17_0_195"/>
          <p:cNvSpPr/>
          <p:nvPr/>
        </p:nvSpPr>
        <p:spPr>
          <a:xfrm>
            <a:off x="1143000" y="3102293"/>
            <a:ext cx="147162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STAGE 06</a:t>
            </a:r>
            <a:endParaRPr sz="1650" b="0" i="0" u="none" strike="noStrike" cap="none">
              <a:solidFill>
                <a:schemeClr val="dk1"/>
              </a:solidFill>
              <a:latin typeface="Calibri"/>
              <a:ea typeface="Calibri"/>
              <a:cs typeface="Calibri"/>
              <a:sym typeface="Calibri"/>
            </a:endParaRPr>
          </a:p>
        </p:txBody>
      </p:sp>
      <p:sp>
        <p:nvSpPr>
          <p:cNvPr id="132" name="Google Shape;132;g3dc15369c17_0_195"/>
          <p:cNvSpPr/>
          <p:nvPr/>
        </p:nvSpPr>
        <p:spPr>
          <a:xfrm>
            <a:off x="1143000" y="3681413"/>
            <a:ext cx="14716200" cy="13410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10800"/>
              <a:buFont typeface="Arial"/>
              <a:buNone/>
            </a:pPr>
            <a:r>
              <a:rPr lang="en-US" sz="10800" b="1" i="0" u="none" strike="noStrike" cap="none">
                <a:solidFill>
                  <a:srgbClr val="14161C"/>
                </a:solidFill>
                <a:latin typeface="Arial"/>
                <a:ea typeface="Arial"/>
                <a:cs typeface="Arial"/>
                <a:sym typeface="Arial"/>
              </a:rPr>
              <a:t>The Engineer Era.</a:t>
            </a:r>
            <a:endParaRPr sz="10800" b="0" i="0" u="none" strike="noStrike" cap="none">
              <a:solidFill>
                <a:schemeClr val="dk1"/>
              </a:solidFill>
              <a:latin typeface="Calibri"/>
              <a:ea typeface="Calibri"/>
              <a:cs typeface="Calibri"/>
              <a:sym typeface="Calibri"/>
            </a:endParaRPr>
          </a:p>
        </p:txBody>
      </p:sp>
      <p:sp>
        <p:nvSpPr>
          <p:cNvPr id="133" name="Google Shape;133;g3dc15369c17_0_195"/>
          <p:cNvSpPr/>
          <p:nvPr/>
        </p:nvSpPr>
        <p:spPr>
          <a:xfrm>
            <a:off x="1143000" y="5441632"/>
            <a:ext cx="13735200" cy="10155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2850"/>
              <a:buFont typeface="Arial"/>
              <a:buNone/>
            </a:pPr>
            <a:r>
              <a:rPr lang="en-US" sz="2850" b="0" i="0" u="none" strike="noStrike" cap="none">
                <a:solidFill>
                  <a:srgbClr val="6B6E78"/>
                </a:solidFill>
                <a:latin typeface="Arial"/>
                <a:ea typeface="Arial"/>
                <a:cs typeface="Arial"/>
                <a:sym typeface="Arial"/>
              </a:rPr>
              <a:t>Now I build from a </a:t>
            </a:r>
            <a:r>
              <a:rPr lang="en-US" sz="2850" b="0" i="0" u="none" strike="noStrike" cap="none">
                <a:solidFill>
                  <a:srgbClr val="14161C"/>
                </a:solidFill>
                <a:latin typeface="Arial"/>
                <a:ea typeface="Arial"/>
                <a:cs typeface="Arial"/>
                <a:sym typeface="Arial"/>
              </a:rPr>
              <a:t>base repository </a:t>
            </a:r>
            <a:r>
              <a:rPr lang="en-US" sz="2850" b="0" i="0" u="none" strike="noStrike" cap="none">
                <a:solidFill>
                  <a:srgbClr val="6B6E78"/>
                </a:solidFill>
                <a:latin typeface="Arial"/>
                <a:ea typeface="Arial"/>
                <a:cs typeface="Arial"/>
                <a:sym typeface="Arial"/>
              </a:rPr>
              <a:t>. Same apps — but stronger every time. Not a different prompt every time. </a:t>
            </a:r>
            <a:r>
              <a:rPr lang="en-US" sz="2850" b="0" i="0" u="none" strike="noStrike" cap="none">
                <a:solidFill>
                  <a:srgbClr val="F58220"/>
                </a:solidFill>
                <a:latin typeface="Arial"/>
                <a:ea typeface="Arial"/>
                <a:cs typeface="Arial"/>
                <a:sym typeface="Arial"/>
              </a:rPr>
              <a:t>A system.</a:t>
            </a:r>
            <a:endParaRPr sz="2850" b="0" i="0" u="none" strike="noStrike" cap="none">
              <a:solidFill>
                <a:schemeClr val="dk1"/>
              </a:solidFill>
              <a:latin typeface="Calibri"/>
              <a:ea typeface="Calibri"/>
              <a:cs typeface="Calibri"/>
              <a:sym typeface="Calibri"/>
            </a:endParaRPr>
          </a:p>
        </p:txBody>
      </p:sp>
      <p:sp>
        <p:nvSpPr>
          <p:cNvPr id="134" name="Google Shape;134;g3dc15369c17_0_195"/>
          <p:cNvSpPr/>
          <p:nvPr/>
        </p:nvSpPr>
        <p:spPr>
          <a:xfrm>
            <a:off x="1143000" y="6876098"/>
            <a:ext cx="183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g3dc15369c17_0_195"/>
          <p:cNvSpPr/>
          <p:nvPr/>
        </p:nvSpPr>
        <p:spPr>
          <a:xfrm>
            <a:off x="1322070" y="6978968"/>
            <a:ext cx="15522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REPEATABLE</a:t>
            </a:r>
            <a:endParaRPr sz="1350" b="0" i="0" u="none" strike="noStrike" cap="none">
              <a:solidFill>
                <a:schemeClr val="dk1"/>
              </a:solidFill>
              <a:latin typeface="Calibri"/>
              <a:ea typeface="Calibri"/>
              <a:cs typeface="Calibri"/>
              <a:sym typeface="Calibri"/>
            </a:endParaRPr>
          </a:p>
        </p:txBody>
      </p:sp>
      <p:sp>
        <p:nvSpPr>
          <p:cNvPr id="136" name="Google Shape;136;g3dc15369c17_0_195"/>
          <p:cNvSpPr/>
          <p:nvPr/>
        </p:nvSpPr>
        <p:spPr>
          <a:xfrm>
            <a:off x="3148727" y="6876098"/>
            <a:ext cx="1840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g3dc15369c17_0_195"/>
          <p:cNvSpPr/>
          <p:nvPr/>
        </p:nvSpPr>
        <p:spPr>
          <a:xfrm>
            <a:off x="3327797" y="6978968"/>
            <a:ext cx="15585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CONSISTENT</a:t>
            </a:r>
            <a:endParaRPr sz="1350" b="0" i="0" u="none" strike="noStrike" cap="none">
              <a:solidFill>
                <a:schemeClr val="dk1"/>
              </a:solidFill>
              <a:latin typeface="Calibri"/>
              <a:ea typeface="Calibri"/>
              <a:cs typeface="Calibri"/>
              <a:sym typeface="Calibri"/>
            </a:endParaRPr>
          </a:p>
        </p:txBody>
      </p:sp>
      <p:sp>
        <p:nvSpPr>
          <p:cNvPr id="138" name="Google Shape;138;g3dc15369c17_0_195"/>
          <p:cNvSpPr/>
          <p:nvPr/>
        </p:nvSpPr>
        <p:spPr>
          <a:xfrm>
            <a:off x="5160526" y="6876098"/>
            <a:ext cx="2914200" cy="403800"/>
          </a:xfrm>
          <a:prstGeom prst="rect">
            <a:avLst/>
          </a:prstGeom>
          <a:no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g3dc15369c17_0_195"/>
          <p:cNvSpPr/>
          <p:nvPr/>
        </p:nvSpPr>
        <p:spPr>
          <a:xfrm>
            <a:off x="5339596" y="6978968"/>
            <a:ext cx="2643300" cy="236100"/>
          </a:xfrm>
          <a:prstGeom prst="rect">
            <a:avLst/>
          </a:prstGeom>
          <a:noFill/>
          <a:ln>
            <a:noFill/>
          </a:ln>
        </p:spPr>
        <p:txBody>
          <a:bodyPr spcFirstLastPara="1" wrap="square" lIns="25400" tIns="25400" rIns="25400" bIns="25400" anchor="ctr"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PRODUCTION-SHAPED</a:t>
            </a:r>
            <a:endParaRPr sz="13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4"/>
        <p:cNvGrpSpPr/>
        <p:nvPr/>
      </p:nvGrpSpPr>
      <p:grpSpPr>
        <a:xfrm>
          <a:off x="0" y="0"/>
          <a:ext cx="0" cy="0"/>
          <a:chOff x="0" y="0"/>
          <a:chExt cx="0" cy="0"/>
        </a:xfrm>
      </p:grpSpPr>
      <p:sp>
        <p:nvSpPr>
          <p:cNvPr id="145" name="Google Shape;145;g3dc15369c17_0_211"/>
          <p:cNvSpPr/>
          <p:nvPr/>
        </p:nvSpPr>
        <p:spPr>
          <a:xfrm>
            <a:off x="1143000" y="476250"/>
            <a:ext cx="18624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CONTRAST</a:t>
            </a:r>
            <a:endParaRPr sz="1350" b="0" i="0" u="none" strike="noStrike" cap="none">
              <a:solidFill>
                <a:schemeClr val="dk1"/>
              </a:solidFill>
              <a:latin typeface="Calibri"/>
              <a:ea typeface="Calibri"/>
              <a:cs typeface="Calibri"/>
              <a:sym typeface="Calibri"/>
            </a:endParaRPr>
          </a:p>
        </p:txBody>
      </p:sp>
      <p:sp>
        <p:nvSpPr>
          <p:cNvPr id="146" name="Google Shape;146;g3dc15369c17_0_211"/>
          <p:cNvSpPr/>
          <p:nvPr/>
        </p:nvSpPr>
        <p:spPr>
          <a:xfrm>
            <a:off x="15140344" y="476250"/>
            <a:ext cx="20808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VIBE → CONTEXT</a:t>
            </a:r>
            <a:endParaRPr sz="1350" b="0" i="0" u="none" strike="noStrike" cap="none">
              <a:solidFill>
                <a:schemeClr val="dk1"/>
              </a:solidFill>
              <a:latin typeface="Calibri"/>
              <a:ea typeface="Calibri"/>
              <a:cs typeface="Calibri"/>
              <a:sym typeface="Calibri"/>
            </a:endParaRPr>
          </a:p>
        </p:txBody>
      </p:sp>
      <p:sp>
        <p:nvSpPr>
          <p:cNvPr id="147" name="Google Shape;147;g3dc15369c17_0_211"/>
          <p:cNvSpPr/>
          <p:nvPr/>
        </p:nvSpPr>
        <p:spPr>
          <a:xfrm>
            <a:off x="1143000" y="952500"/>
            <a:ext cx="16482000" cy="312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650"/>
              <a:buFont typeface="Arial"/>
              <a:buNone/>
            </a:pPr>
            <a:r>
              <a:rPr lang="en-US" sz="1650" b="0" i="0" u="none" strike="noStrike" cap="none">
                <a:solidFill>
                  <a:srgbClr val="F58220"/>
                </a:solidFill>
                <a:latin typeface="Arial"/>
                <a:ea typeface="Arial"/>
                <a:cs typeface="Arial"/>
                <a:sym typeface="Arial"/>
              </a:rPr>
              <a:t>SIDE BY SIDE</a:t>
            </a:r>
            <a:endParaRPr sz="1650" b="0" i="0" u="none" strike="noStrike" cap="none">
              <a:solidFill>
                <a:schemeClr val="dk1"/>
              </a:solidFill>
              <a:latin typeface="Calibri"/>
              <a:ea typeface="Calibri"/>
              <a:cs typeface="Calibri"/>
              <a:sym typeface="Calibri"/>
            </a:endParaRPr>
          </a:p>
        </p:txBody>
      </p:sp>
      <p:sp>
        <p:nvSpPr>
          <p:cNvPr id="148" name="Google Shape;148;g3dc15369c17_0_211"/>
          <p:cNvSpPr/>
          <p:nvPr/>
        </p:nvSpPr>
        <p:spPr>
          <a:xfrm>
            <a:off x="1143000" y="1455420"/>
            <a:ext cx="16482000" cy="914400"/>
          </a:xfrm>
          <a:prstGeom prst="rect">
            <a:avLst/>
          </a:prstGeom>
          <a:noFill/>
          <a:ln>
            <a:noFill/>
          </a:ln>
        </p:spPr>
        <p:txBody>
          <a:bodyPr spcFirstLastPara="1" wrap="square" lIns="25400" tIns="25400" rIns="25400" bIns="25400" anchor="t" anchorCtr="0">
            <a:noAutofit/>
          </a:bodyPr>
          <a:lstStyle/>
          <a:p>
            <a:pPr marL="0" marR="0" lvl="0" indent="0" algn="l" rtl="0">
              <a:lnSpc>
                <a:spcPct val="95000"/>
              </a:lnSpc>
              <a:spcBef>
                <a:spcPts val="0"/>
              </a:spcBef>
              <a:spcAft>
                <a:spcPts val="0"/>
              </a:spcAft>
              <a:buClr>
                <a:srgbClr val="14161C"/>
              </a:buClr>
              <a:buSzPts val="7200"/>
              <a:buFont typeface="Arial"/>
              <a:buNone/>
            </a:pPr>
            <a:r>
              <a:rPr lang="en-US" sz="7200" b="1" i="0" u="none" strike="noStrike" cap="none">
                <a:solidFill>
                  <a:srgbClr val="14161C"/>
                </a:solidFill>
                <a:latin typeface="Arial"/>
                <a:ea typeface="Arial"/>
                <a:cs typeface="Arial"/>
                <a:sym typeface="Arial"/>
              </a:rPr>
              <a:t>Vibe Coder </a:t>
            </a:r>
            <a:r>
              <a:rPr lang="en-US" sz="7200" b="0" i="0" u="none" strike="noStrike" cap="none">
                <a:solidFill>
                  <a:srgbClr val="6B6E78"/>
                </a:solidFill>
                <a:latin typeface="Arial"/>
                <a:ea typeface="Arial"/>
                <a:cs typeface="Arial"/>
                <a:sym typeface="Arial"/>
              </a:rPr>
              <a:t>vs. </a:t>
            </a:r>
            <a:r>
              <a:rPr lang="en-US" sz="7200" b="1" i="0" u="none" strike="noStrike" cap="none">
                <a:solidFill>
                  <a:srgbClr val="14161C"/>
                </a:solidFill>
                <a:latin typeface="Arial"/>
                <a:ea typeface="Arial"/>
                <a:cs typeface="Arial"/>
                <a:sym typeface="Arial"/>
              </a:rPr>
              <a:t>Context Engineer.</a:t>
            </a:r>
            <a:endParaRPr sz="7200" b="0" i="0" u="none" strike="noStrike" cap="none">
              <a:solidFill>
                <a:schemeClr val="dk1"/>
              </a:solidFill>
              <a:latin typeface="Calibri"/>
              <a:ea typeface="Calibri"/>
              <a:cs typeface="Calibri"/>
              <a:sym typeface="Calibri"/>
            </a:endParaRPr>
          </a:p>
        </p:txBody>
      </p:sp>
      <p:sp>
        <p:nvSpPr>
          <p:cNvPr id="149" name="Google Shape;149;g3dc15369c17_0_211"/>
          <p:cNvSpPr/>
          <p:nvPr/>
        </p:nvSpPr>
        <p:spPr>
          <a:xfrm>
            <a:off x="1143000" y="2941320"/>
            <a:ext cx="7810500" cy="6488400"/>
          </a:xfrm>
          <a:prstGeom prst="rect">
            <a:avLst/>
          </a:prstGeom>
          <a:solidFill>
            <a:srgbClr val="F7F5F1"/>
          </a:solidFill>
          <a:ln w="9525" cap="flat" cmpd="sng">
            <a:solidFill>
              <a:srgbClr val="E5E5E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g3dc15369c17_0_211"/>
          <p:cNvSpPr/>
          <p:nvPr/>
        </p:nvSpPr>
        <p:spPr>
          <a:xfrm>
            <a:off x="16078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BEFORE</a:t>
            </a:r>
            <a:endParaRPr sz="1350" b="0" i="0" u="none" strike="noStrike" cap="none">
              <a:solidFill>
                <a:schemeClr val="dk1"/>
              </a:solidFill>
              <a:latin typeface="Calibri"/>
              <a:ea typeface="Calibri"/>
              <a:cs typeface="Calibri"/>
              <a:sym typeface="Calibri"/>
            </a:endParaRPr>
          </a:p>
        </p:txBody>
      </p:sp>
      <p:sp>
        <p:nvSpPr>
          <p:cNvPr id="151" name="Google Shape;151;g3dc15369c17_0_211"/>
          <p:cNvSpPr/>
          <p:nvPr/>
        </p:nvSpPr>
        <p:spPr>
          <a:xfrm>
            <a:off x="16078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Vibe Coder</a:t>
            </a:r>
            <a:endParaRPr sz="4200" b="0" i="0" u="none" strike="noStrike" cap="none">
              <a:solidFill>
                <a:schemeClr val="dk1"/>
              </a:solidFill>
              <a:latin typeface="Calibri"/>
              <a:ea typeface="Calibri"/>
              <a:cs typeface="Calibri"/>
              <a:sym typeface="Calibri"/>
            </a:endParaRPr>
          </a:p>
        </p:txBody>
      </p:sp>
      <p:sp>
        <p:nvSpPr>
          <p:cNvPr id="152" name="Google Shape;152;g3dc15369c17_0_211"/>
          <p:cNvSpPr/>
          <p:nvPr/>
        </p:nvSpPr>
        <p:spPr>
          <a:xfrm>
            <a:off x="14344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Prompt and pray</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One-shot every time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hot-fixes</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Looks great, breaks fast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Different bug every run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Hidden technical debt</a:t>
            </a:r>
            <a:endParaRPr sz="1950" b="0" i="0" u="none" strike="noStrike" cap="none">
              <a:solidFill>
                <a:schemeClr val="dk1"/>
              </a:solidFill>
              <a:latin typeface="Calibri"/>
              <a:ea typeface="Calibri"/>
              <a:cs typeface="Calibri"/>
              <a:sym typeface="Calibri"/>
            </a:endParaRPr>
          </a:p>
        </p:txBody>
      </p:sp>
      <p:sp>
        <p:nvSpPr>
          <p:cNvPr id="153" name="Google Shape;153;g3dc15369c17_0_211"/>
          <p:cNvSpPr/>
          <p:nvPr/>
        </p:nvSpPr>
        <p:spPr>
          <a:xfrm>
            <a:off x="9334500" y="2941320"/>
            <a:ext cx="7810500" cy="6488400"/>
          </a:xfrm>
          <a:prstGeom prst="rect">
            <a:avLst/>
          </a:prstGeom>
          <a:solidFill>
            <a:srgbClr val="F7F5F1"/>
          </a:solidFill>
          <a:ln w="9525" cap="flat" cmpd="sng">
            <a:solidFill>
              <a:srgbClr val="F58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g3dc15369c17_0_211"/>
          <p:cNvSpPr/>
          <p:nvPr/>
        </p:nvSpPr>
        <p:spPr>
          <a:xfrm>
            <a:off x="9799320" y="3482340"/>
            <a:ext cx="70872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F58220"/>
              </a:buClr>
              <a:buSzPts val="1350"/>
              <a:buFont typeface="Arial"/>
              <a:buNone/>
            </a:pPr>
            <a:r>
              <a:rPr lang="en-US" sz="1350" b="0" i="0" u="none" strike="noStrike" cap="none">
                <a:solidFill>
                  <a:srgbClr val="F58220"/>
                </a:solidFill>
                <a:latin typeface="Arial"/>
                <a:ea typeface="Arial"/>
                <a:cs typeface="Arial"/>
                <a:sym typeface="Arial"/>
              </a:rPr>
              <a:t>NOW</a:t>
            </a:r>
            <a:endParaRPr sz="1350" b="0" i="0" u="none" strike="noStrike" cap="none">
              <a:solidFill>
                <a:schemeClr val="dk1"/>
              </a:solidFill>
              <a:latin typeface="Calibri"/>
              <a:ea typeface="Calibri"/>
              <a:cs typeface="Calibri"/>
              <a:sym typeface="Calibri"/>
            </a:endParaRPr>
          </a:p>
        </p:txBody>
      </p:sp>
      <p:sp>
        <p:nvSpPr>
          <p:cNvPr id="155" name="Google Shape;155;g3dc15369c17_0_211"/>
          <p:cNvSpPr/>
          <p:nvPr/>
        </p:nvSpPr>
        <p:spPr>
          <a:xfrm>
            <a:off x="9799320" y="3890010"/>
            <a:ext cx="7087200" cy="6933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14161C"/>
              </a:buClr>
              <a:buSzPts val="4200"/>
              <a:buFont typeface="Arial"/>
              <a:buNone/>
            </a:pPr>
            <a:r>
              <a:rPr lang="en-US" sz="4200" b="1" i="0" u="none" strike="noStrike" cap="none">
                <a:solidFill>
                  <a:srgbClr val="14161C"/>
                </a:solidFill>
                <a:latin typeface="Arial"/>
                <a:ea typeface="Arial"/>
                <a:cs typeface="Arial"/>
                <a:sym typeface="Arial"/>
              </a:rPr>
              <a:t>Context Engineer</a:t>
            </a:r>
            <a:endParaRPr sz="4200" b="0" i="0" u="none" strike="noStrike" cap="none">
              <a:solidFill>
                <a:schemeClr val="dk1"/>
              </a:solidFill>
              <a:latin typeface="Calibri"/>
              <a:ea typeface="Calibri"/>
              <a:cs typeface="Calibri"/>
              <a:sym typeface="Calibri"/>
            </a:endParaRPr>
          </a:p>
        </p:txBody>
      </p:sp>
      <p:sp>
        <p:nvSpPr>
          <p:cNvPr id="156" name="Google Shape;156;g3dc15369c17_0_211"/>
          <p:cNvSpPr/>
          <p:nvPr/>
        </p:nvSpPr>
        <p:spPr>
          <a:xfrm>
            <a:off x="9625965" y="4754880"/>
            <a:ext cx="7130400" cy="2710800"/>
          </a:xfrm>
          <a:prstGeom prst="rect">
            <a:avLst/>
          </a:prstGeom>
          <a:noFill/>
          <a:ln>
            <a:noFill/>
          </a:ln>
        </p:spPr>
        <p:txBody>
          <a:bodyPr spcFirstLastPara="1" wrap="square" lIns="25400" tIns="25400" rIns="25400" bIns="25400" anchor="t" anchorCtr="0">
            <a:noAutofit/>
          </a:bodyPr>
          <a:lstStyle/>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Plan, then build</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Base repo as a foundation</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Hours of thinking up front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Production-shaped from day one</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Repeatable, consistent</a:t>
            </a:r>
            <a:endParaRPr sz="1950" b="0" i="0" u="none" strike="noStrike" cap="none">
              <a:solidFill>
                <a:schemeClr val="dk1"/>
              </a:solidFill>
              <a:latin typeface="Calibri"/>
              <a:ea typeface="Calibri"/>
              <a:cs typeface="Calibri"/>
              <a:sym typeface="Calibri"/>
            </a:endParaRPr>
          </a:p>
          <a:p>
            <a:pPr marL="0" marR="0" lvl="0" indent="0" algn="l" rtl="0">
              <a:lnSpc>
                <a:spcPct val="135000"/>
              </a:lnSpc>
              <a:spcBef>
                <a:spcPts val="0"/>
              </a:spcBef>
              <a:spcAft>
                <a:spcPts val="0"/>
              </a:spcAft>
              <a:buClr>
                <a:srgbClr val="6B6E78"/>
              </a:buClr>
              <a:buSzPts val="1950"/>
              <a:buFont typeface="Arial"/>
              <a:buNone/>
            </a:pPr>
            <a:r>
              <a:rPr lang="en-US" sz="1950" b="0" i="0" u="none" strike="noStrike" cap="none">
                <a:solidFill>
                  <a:srgbClr val="6B6E78"/>
                </a:solidFill>
                <a:latin typeface="Arial"/>
                <a:ea typeface="Arial"/>
                <a:cs typeface="Arial"/>
                <a:sym typeface="Arial"/>
              </a:rPr>
              <a:t>Debt visible and managed</a:t>
            </a:r>
            <a:endParaRPr sz="195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g3dc15369c17_0_227"/>
          <p:cNvSpPr/>
          <p:nvPr/>
        </p:nvSpPr>
        <p:spPr>
          <a:xfrm>
            <a:off x="1143000" y="476250"/>
            <a:ext cx="18309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THE TAKEAWAY</a:t>
            </a:r>
            <a:endParaRPr sz="1350" b="0" i="0" u="none" strike="noStrike" cap="none">
              <a:solidFill>
                <a:schemeClr val="dk1"/>
              </a:solidFill>
              <a:latin typeface="Calibri"/>
              <a:ea typeface="Calibri"/>
              <a:cs typeface="Calibri"/>
              <a:sym typeface="Calibri"/>
            </a:endParaRPr>
          </a:p>
        </p:txBody>
      </p:sp>
      <p:sp>
        <p:nvSpPr>
          <p:cNvPr id="163" name="Google Shape;163;g3dc15369c17_0_227"/>
          <p:cNvSpPr/>
          <p:nvPr/>
        </p:nvSpPr>
        <p:spPr>
          <a:xfrm>
            <a:off x="15349537" y="476250"/>
            <a:ext cx="1871700" cy="2361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350"/>
              <a:buFont typeface="Arial"/>
              <a:buNone/>
            </a:pPr>
            <a:r>
              <a:rPr lang="en-US" sz="1350" b="0" i="0" u="none" strike="noStrike" cap="none">
                <a:solidFill>
                  <a:srgbClr val="6B6E78"/>
                </a:solidFill>
                <a:latin typeface="Arial"/>
                <a:ea typeface="Arial"/>
                <a:cs typeface="Arial"/>
                <a:sym typeface="Arial"/>
              </a:rPr>
              <a:t>END · OPENING</a:t>
            </a:r>
            <a:endParaRPr sz="1350" b="0" i="0" u="none" strike="noStrike" cap="none">
              <a:solidFill>
                <a:schemeClr val="dk1"/>
              </a:solidFill>
              <a:latin typeface="Calibri"/>
              <a:ea typeface="Calibri"/>
              <a:cs typeface="Calibri"/>
              <a:sym typeface="Calibri"/>
            </a:endParaRPr>
          </a:p>
        </p:txBody>
      </p:sp>
      <p:sp>
        <p:nvSpPr>
          <p:cNvPr id="164" name="Google Shape;164;g3dc15369c17_0_227"/>
          <p:cNvSpPr/>
          <p:nvPr/>
        </p:nvSpPr>
        <p:spPr>
          <a:xfrm>
            <a:off x="1143000" y="2255996"/>
            <a:ext cx="14716200" cy="2438400"/>
          </a:xfrm>
          <a:prstGeom prst="rect">
            <a:avLst/>
          </a:prstGeom>
          <a:noFill/>
          <a:ln>
            <a:noFill/>
          </a:ln>
        </p:spPr>
        <p:txBody>
          <a:bodyPr spcFirstLastPara="1" wrap="square" lIns="25400" tIns="25400" rIns="25400" bIns="25400" anchor="t" anchorCtr="0">
            <a:noAutofit/>
          </a:bodyPr>
          <a:lstStyle/>
          <a:p>
            <a:pPr marL="0" marR="0" lvl="0" indent="0" algn="l" rtl="0">
              <a:lnSpc>
                <a:spcPct val="70000"/>
              </a:lnSpc>
              <a:spcBef>
                <a:spcPts val="0"/>
              </a:spcBef>
              <a:spcAft>
                <a:spcPts val="0"/>
              </a:spcAft>
              <a:buClr>
                <a:srgbClr val="F58220"/>
              </a:buClr>
              <a:buSzPts val="27000"/>
              <a:buFont typeface="Arial"/>
              <a:buNone/>
            </a:pPr>
            <a:r>
              <a:rPr lang="en-US" sz="27000" b="1" i="0" u="none" strike="noStrike" cap="none">
                <a:solidFill>
                  <a:srgbClr val="F58220"/>
                </a:solidFill>
                <a:latin typeface="Arial"/>
                <a:ea typeface="Arial"/>
                <a:cs typeface="Arial"/>
                <a:sym typeface="Arial"/>
              </a:rPr>
              <a:t>"</a:t>
            </a:r>
            <a:endParaRPr sz="27000" b="0" i="0" u="none" strike="noStrike" cap="none">
              <a:solidFill>
                <a:schemeClr val="dk1"/>
              </a:solidFill>
              <a:latin typeface="Calibri"/>
              <a:ea typeface="Calibri"/>
              <a:cs typeface="Calibri"/>
              <a:sym typeface="Calibri"/>
            </a:endParaRPr>
          </a:p>
        </p:txBody>
      </p:sp>
      <p:sp>
        <p:nvSpPr>
          <p:cNvPr id="165" name="Google Shape;165;g3dc15369c17_0_227"/>
          <p:cNvSpPr/>
          <p:nvPr/>
        </p:nvSpPr>
        <p:spPr>
          <a:xfrm>
            <a:off x="1143000" y="4884897"/>
            <a:ext cx="14716200" cy="2121300"/>
          </a:xfrm>
          <a:prstGeom prst="rect">
            <a:avLst/>
          </a:prstGeom>
          <a:noFill/>
          <a:ln>
            <a:noFill/>
          </a:ln>
        </p:spPr>
        <p:txBody>
          <a:bodyPr spcFirstLastPara="1" wrap="square" lIns="25400" tIns="25400" rIns="25400" bIns="25400" anchor="t" anchorCtr="0">
            <a:noAutofit/>
          </a:bodyPr>
          <a:lstStyle/>
          <a:p>
            <a:pPr marL="0" marR="0" lvl="0" indent="0" algn="l" rtl="0">
              <a:lnSpc>
                <a:spcPct val="118000"/>
              </a:lnSpc>
              <a:spcBef>
                <a:spcPts val="0"/>
              </a:spcBef>
              <a:spcAft>
                <a:spcPts val="0"/>
              </a:spcAft>
              <a:buClr>
                <a:srgbClr val="14161C"/>
              </a:buClr>
              <a:buSzPts val="6900"/>
              <a:buFont typeface="Arial"/>
              <a:buNone/>
            </a:pPr>
            <a:r>
              <a:rPr lang="en-US" sz="6900" b="0" i="0" u="none" strike="noStrike" cap="none">
                <a:solidFill>
                  <a:srgbClr val="14161C"/>
                </a:solidFill>
                <a:latin typeface="Arial"/>
                <a:ea typeface="Arial"/>
                <a:cs typeface="Arial"/>
                <a:sym typeface="Arial"/>
              </a:rPr>
              <a:t>The leverage isn't in the </a:t>
            </a:r>
            <a:r>
              <a:rPr lang="en-US" sz="6900" b="1" i="0" u="none" strike="noStrike" cap="none">
                <a:solidFill>
                  <a:srgbClr val="14161C"/>
                </a:solidFill>
                <a:latin typeface="Arial"/>
                <a:ea typeface="Arial"/>
                <a:cs typeface="Arial"/>
                <a:sym typeface="Arial"/>
              </a:rPr>
              <a:t>prompt </a:t>
            </a:r>
            <a:r>
              <a:rPr lang="en-US" sz="6900" b="0" i="0" u="none" strike="noStrike" cap="none">
                <a:solidFill>
                  <a:srgbClr val="14161C"/>
                </a:solidFill>
                <a:latin typeface="Arial"/>
                <a:ea typeface="Arial"/>
                <a:cs typeface="Arial"/>
                <a:sym typeface="Arial"/>
              </a:rPr>
              <a:t>. It's in the </a:t>
            </a:r>
            <a:r>
              <a:rPr lang="en-US" sz="6900" b="1" i="0" u="none" strike="noStrike" cap="none">
                <a:solidFill>
                  <a:srgbClr val="F58220"/>
                </a:solidFill>
                <a:latin typeface="Arial"/>
                <a:ea typeface="Arial"/>
                <a:cs typeface="Arial"/>
                <a:sym typeface="Arial"/>
              </a:rPr>
              <a:t>thinking </a:t>
            </a:r>
            <a:r>
              <a:rPr lang="en-US" sz="6900" b="0" i="0" u="none" strike="noStrike" cap="none">
                <a:solidFill>
                  <a:srgbClr val="14161C"/>
                </a:solidFill>
                <a:latin typeface="Arial"/>
                <a:ea typeface="Arial"/>
                <a:cs typeface="Arial"/>
                <a:sym typeface="Arial"/>
              </a:rPr>
              <a:t>before it.</a:t>
            </a:r>
            <a:endParaRPr sz="6900" b="0" i="0" u="none" strike="noStrike" cap="none">
              <a:solidFill>
                <a:schemeClr val="dk1"/>
              </a:solidFill>
              <a:latin typeface="Calibri"/>
              <a:ea typeface="Calibri"/>
              <a:cs typeface="Calibri"/>
              <a:sym typeface="Calibri"/>
            </a:endParaRPr>
          </a:p>
        </p:txBody>
      </p:sp>
      <p:sp>
        <p:nvSpPr>
          <p:cNvPr id="166" name="Google Shape;166;g3dc15369c17_0_227"/>
          <p:cNvSpPr/>
          <p:nvPr/>
        </p:nvSpPr>
        <p:spPr>
          <a:xfrm>
            <a:off x="1143000" y="7577614"/>
            <a:ext cx="14716200" cy="282000"/>
          </a:xfrm>
          <a:prstGeom prst="rect">
            <a:avLst/>
          </a:prstGeom>
          <a:noFill/>
          <a:ln>
            <a:noFill/>
          </a:ln>
        </p:spPr>
        <p:txBody>
          <a:bodyPr spcFirstLastPara="1" wrap="square" lIns="25400" tIns="25400" rIns="25400" bIns="25400" anchor="t" anchorCtr="0">
            <a:noAutofit/>
          </a:bodyPr>
          <a:lstStyle/>
          <a:p>
            <a:pPr marL="0" marR="0" lvl="0" indent="0" algn="l" rtl="0">
              <a:spcBef>
                <a:spcPts val="0"/>
              </a:spcBef>
              <a:spcAft>
                <a:spcPts val="0"/>
              </a:spcAft>
              <a:buClr>
                <a:srgbClr val="6B6E78"/>
              </a:buClr>
              <a:buSzPts val="1650"/>
              <a:buFont typeface="Arial"/>
              <a:buNone/>
            </a:pPr>
            <a:r>
              <a:rPr lang="en-US" sz="1650" b="0" i="0" u="none" strike="noStrike" cap="none">
                <a:solidFill>
                  <a:srgbClr val="6B6E78"/>
                </a:solidFill>
                <a:latin typeface="Arial"/>
                <a:ea typeface="Arial"/>
                <a:cs typeface="Arial"/>
                <a:sym typeface="Arial"/>
              </a:rPr>
              <a:t>— TRIPP LISENBY · ACS TECHNOLOGIES</a:t>
            </a:r>
            <a:endParaRPr sz="165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1D24"/>
        </a:solidFill>
        <a:effectLst/>
      </p:bgPr>
    </p:bg>
    <p:spTree>
      <p:nvGrpSpPr>
        <p:cNvPr id="1" name="Shape 171"/>
        <p:cNvGrpSpPr/>
        <p:nvPr/>
      </p:nvGrpSpPr>
      <p:grpSpPr>
        <a:xfrm>
          <a:off x="0" y="0"/>
          <a:ext cx="0" cy="0"/>
          <a:chOff x="0" y="0"/>
          <a:chExt cx="0" cy="0"/>
        </a:xfrm>
      </p:grpSpPr>
      <p:sp>
        <p:nvSpPr>
          <p:cNvPr id="172" name="Google Shape;172;p4"/>
          <p:cNvSpPr/>
          <p:nvPr/>
        </p:nvSpPr>
        <p:spPr>
          <a:xfrm>
            <a:off x="0" y="0"/>
            <a:ext cx="18288000" cy="10287000"/>
          </a:xfrm>
          <a:prstGeom prst="rect">
            <a:avLst/>
          </a:prstGeom>
          <a:solidFill>
            <a:srgbClr val="1B1D2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73" name="Google Shape;173;p4"/>
          <p:cNvSpPr/>
          <p:nvPr/>
        </p:nvSpPr>
        <p:spPr>
          <a:xfrm>
            <a:off x="4343251" y="3170932"/>
            <a:ext cx="9889543" cy="39052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3FE0D0"/>
              </a:buClr>
              <a:buSzPts val="2100"/>
              <a:buFont typeface="JetBrains Mono"/>
              <a:buNone/>
            </a:pPr>
            <a:r>
              <a:rPr lang="en-US" sz="2100">
                <a:solidFill>
                  <a:srgbClr val="3FE0D0"/>
                </a:solidFill>
                <a:latin typeface="JetBrains Mono"/>
                <a:ea typeface="JetBrains Mono"/>
                <a:cs typeface="JetBrains Mono"/>
                <a:sym typeface="JetBrains Mono"/>
              </a:rPr>
              <a:t>PART 02 / 06</a:t>
            </a:r>
            <a:endParaRPr sz="2100">
              <a:solidFill>
                <a:schemeClr val="dk1"/>
              </a:solidFill>
              <a:latin typeface="Calibri"/>
              <a:ea typeface="Calibri"/>
              <a:cs typeface="Calibri"/>
              <a:sym typeface="Calibri"/>
            </a:endParaRPr>
          </a:p>
        </p:txBody>
      </p:sp>
      <p:sp>
        <p:nvSpPr>
          <p:cNvPr id="174" name="Google Shape;174;p4"/>
          <p:cNvSpPr/>
          <p:nvPr/>
        </p:nvSpPr>
        <p:spPr>
          <a:xfrm>
            <a:off x="4343251" y="3904357"/>
            <a:ext cx="9889543" cy="2426791"/>
          </a:xfrm>
          <a:prstGeom prst="rect">
            <a:avLst/>
          </a:prstGeom>
          <a:noFill/>
          <a:ln>
            <a:noFill/>
          </a:ln>
        </p:spPr>
        <p:txBody>
          <a:bodyPr spcFirstLastPara="1" wrap="square" lIns="25400" tIns="25400" rIns="25400" bIns="25400" anchor="t" anchorCtr="0">
            <a:normAutofit/>
          </a:bodyPr>
          <a:lstStyle/>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Vibe Coding vs</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Context </a:t>
            </a:r>
            <a:endParaRPr/>
          </a:p>
          <a:p>
            <a:pPr marL="0" marR="0" lvl="0" indent="0" algn="l" rtl="0">
              <a:lnSpc>
                <a:spcPct val="75000"/>
              </a:lnSpc>
              <a:spcBef>
                <a:spcPts val="0"/>
              </a:spcBef>
              <a:spcAft>
                <a:spcPts val="0"/>
              </a:spcAft>
              <a:buClr>
                <a:srgbClr val="FFFFFF"/>
              </a:buClr>
              <a:buSzPts val="6187"/>
              <a:buFont typeface="Montserrat"/>
              <a:buNone/>
            </a:pPr>
            <a:r>
              <a:rPr lang="en-US" sz="6188" b="1">
                <a:solidFill>
                  <a:srgbClr val="FFFFFF"/>
                </a:solidFill>
                <a:latin typeface="Montserrat"/>
                <a:ea typeface="Montserrat"/>
                <a:cs typeface="Montserrat"/>
                <a:sym typeface="Montserrat"/>
              </a:rPr>
              <a:t>Engineering</a:t>
            </a:r>
            <a:endParaRPr sz="6188">
              <a:solidFill>
                <a:schemeClr val="dk1"/>
              </a:solidFill>
              <a:latin typeface="Calibri"/>
              <a:ea typeface="Calibri"/>
              <a:cs typeface="Calibri"/>
              <a:sym typeface="Calibri"/>
            </a:endParaRPr>
          </a:p>
        </p:txBody>
      </p:sp>
      <p:sp>
        <p:nvSpPr>
          <p:cNvPr id="175" name="Google Shape;175;p4"/>
          <p:cNvSpPr/>
          <p:nvPr/>
        </p:nvSpPr>
        <p:spPr>
          <a:xfrm>
            <a:off x="4343251" y="6674048"/>
            <a:ext cx="9889543" cy="479971"/>
          </a:xfrm>
          <a:prstGeom prst="rect">
            <a:avLst/>
          </a:prstGeom>
          <a:noFill/>
          <a:ln>
            <a:noFill/>
          </a:ln>
        </p:spPr>
        <p:txBody>
          <a:bodyPr spcFirstLastPara="1" wrap="square" lIns="25400" tIns="25400" rIns="25400" bIns="25400" anchor="t" anchorCtr="0">
            <a:normAutofit lnSpcReduction="10000"/>
          </a:bodyPr>
          <a:lstStyle/>
          <a:p>
            <a:pPr marL="0" marR="0" lvl="0" indent="0" algn="l" rtl="0">
              <a:lnSpc>
                <a:spcPct val="135000"/>
              </a:lnSpc>
              <a:spcBef>
                <a:spcPts val="0"/>
              </a:spcBef>
              <a:spcAft>
                <a:spcPts val="0"/>
              </a:spcAft>
              <a:buClr>
                <a:srgbClr val="C9CBD1"/>
              </a:buClr>
              <a:buSzPts val="2220"/>
              <a:buFont typeface="Inter"/>
              <a:buNone/>
            </a:pPr>
            <a:r>
              <a:rPr lang="en-US" sz="2220">
                <a:solidFill>
                  <a:srgbClr val="C9CBD1"/>
                </a:solidFill>
                <a:latin typeface="Inter"/>
                <a:ea typeface="Inter"/>
                <a:cs typeface="Inter"/>
                <a:sym typeface="Inter"/>
              </a:rPr>
              <a:t>They are not the same!</a:t>
            </a:r>
            <a:endParaRPr sz="222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THE SHIFT</a:t>
            </a:r>
            <a:endParaRPr lang="en-US" sz="1950" dirty="0"/>
          </a:p>
        </p:txBody>
      </p:sp>
      <p:sp>
        <p:nvSpPr>
          <p:cNvPr id="3" name="Text 1"/>
          <p:cNvSpPr/>
          <p:nvPr/>
        </p:nvSpPr>
        <p:spPr>
          <a:xfrm>
            <a:off x="952500" y="1447800"/>
            <a:ext cx="16874490" cy="155823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From prompt engineering to context engineering.</a:t>
            </a:r>
            <a:endParaRPr lang="en-US" sz="5700" dirty="0"/>
          </a:p>
        </p:txBody>
      </p:sp>
      <p:sp>
        <p:nvSpPr>
          <p:cNvPr id="4" name="Shape 2"/>
          <p:cNvSpPr/>
          <p:nvPr/>
        </p:nvSpPr>
        <p:spPr>
          <a:xfrm>
            <a:off x="952500" y="3463230"/>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4158555"/>
            <a:ext cx="7429500" cy="4362450"/>
          </a:xfrm>
          <a:prstGeom prst="roundRect">
            <a:avLst>
              <a:gd name="adj" fmla="val 2620"/>
            </a:avLst>
          </a:prstGeom>
          <a:solidFill>
            <a:srgbClr val="FFFFFF"/>
          </a:solidFill>
          <a:ln w="9525">
            <a:solidFill>
              <a:srgbClr val="E5E5E7"/>
            </a:solidFill>
            <a:prstDash val="solid"/>
          </a:ln>
          <a:effectLst>
            <a:outerShdw blurRad="114300" dist="38100" dir="5400000" algn="bl" rotWithShape="0">
              <a:srgbClr val="2A2D38">
                <a:alpha val="5000"/>
              </a:srgbClr>
            </a:outerShdw>
          </a:effectLst>
        </p:spPr>
        <p:txBody>
          <a:bodyPr/>
          <a:lstStyle/>
          <a:p>
            <a:endParaRPr lang="en-US"/>
          </a:p>
        </p:txBody>
      </p:sp>
      <p:sp>
        <p:nvSpPr>
          <p:cNvPr id="6" name="Text 4"/>
          <p:cNvSpPr/>
          <p:nvPr/>
        </p:nvSpPr>
        <p:spPr>
          <a:xfrm>
            <a:off x="1381125" y="4625280"/>
            <a:ext cx="6769418"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THEN</a:t>
            </a:r>
            <a:endParaRPr lang="en-US" sz="1800" dirty="0"/>
          </a:p>
        </p:txBody>
      </p:sp>
      <p:sp>
        <p:nvSpPr>
          <p:cNvPr id="7" name="Text 5"/>
          <p:cNvSpPr/>
          <p:nvPr/>
        </p:nvSpPr>
        <p:spPr>
          <a:xfrm>
            <a:off x="1381125" y="5072955"/>
            <a:ext cx="6769418"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Prompt Engineering</a:t>
            </a:r>
            <a:endParaRPr lang="en-US" sz="4200" dirty="0"/>
          </a:p>
        </p:txBody>
      </p:sp>
      <p:sp>
        <p:nvSpPr>
          <p:cNvPr id="8" name="Text 6"/>
          <p:cNvSpPr/>
          <p:nvPr/>
        </p:nvSpPr>
        <p:spPr>
          <a:xfrm>
            <a:off x="1381125" y="5949255"/>
            <a:ext cx="6769418"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6B6E78"/>
                </a:solidFill>
                <a:latin typeface="Inter" pitchFamily="34" charset="0"/>
                <a:ea typeface="Inter" pitchFamily="34" charset="-122"/>
                <a:cs typeface="Inter" pitchFamily="34" charset="-120"/>
              </a:rPr>
              <a:t>Find the right </a:t>
            </a:r>
            <a:r>
              <a:rPr lang="en-US" sz="1950" i="1" dirty="0">
                <a:solidFill>
                  <a:srgbClr val="6B6E78"/>
                </a:solidFill>
                <a:latin typeface="Inter" pitchFamily="34" charset="0"/>
                <a:ea typeface="Inter" pitchFamily="34" charset="-122"/>
                <a:cs typeface="Inter" pitchFamily="34" charset="-120"/>
              </a:rPr>
              <a:t>magic words </a:t>
            </a:r>
            <a:r>
              <a:rPr lang="en-US" sz="1950" dirty="0">
                <a:solidFill>
                  <a:srgbClr val="6B6E78"/>
                </a:solidFill>
                <a:latin typeface="Inter" pitchFamily="34" charset="0"/>
                <a:ea typeface="Inter" pitchFamily="34" charset="-122"/>
                <a:cs typeface="Inter" pitchFamily="34" charset="-120"/>
              </a:rPr>
              <a:t>to coax a single response out of a model.</a:t>
            </a:r>
            <a:endParaRPr lang="en-US" sz="1950" dirty="0"/>
          </a:p>
        </p:txBody>
      </p:sp>
      <p:sp>
        <p:nvSpPr>
          <p:cNvPr id="9" name="Text 7"/>
          <p:cNvSpPr/>
          <p:nvPr/>
        </p:nvSpPr>
        <p:spPr>
          <a:xfrm>
            <a:off x="8724900" y="5882580"/>
            <a:ext cx="838200" cy="952500"/>
          </a:xfrm>
          <a:prstGeom prst="rect">
            <a:avLst/>
          </a:prstGeom>
          <a:noFill/>
          <a:ln/>
        </p:spPr>
        <p:txBody>
          <a:bodyPr wrap="square" lIns="25400" tIns="25400" rIns="25400" bIns="25400" rtlCol="0" anchor="t">
            <a:normAutofit fontScale="92500" lnSpcReduction="20000"/>
          </a:bodyPr>
          <a:lstStyle/>
          <a:p>
            <a:pPr marL="0" indent="0" algn="ctr">
              <a:lnSpc>
                <a:spcPct val="100000"/>
              </a:lnSpc>
              <a:buNone/>
            </a:pPr>
            <a:r>
              <a:rPr lang="en-US" sz="7200" b="1" dirty="0">
                <a:solidFill>
                  <a:srgbClr val="3FE0D0"/>
                </a:solidFill>
                <a:latin typeface="Montserrat" pitchFamily="34" charset="0"/>
                <a:ea typeface="Montserrat" pitchFamily="34" charset="-122"/>
                <a:cs typeface="Montserrat" pitchFamily="34" charset="-120"/>
              </a:rPr>
              <a:t>→</a:t>
            </a:r>
            <a:endParaRPr lang="en-US" sz="7200" dirty="0"/>
          </a:p>
        </p:txBody>
      </p:sp>
      <p:sp>
        <p:nvSpPr>
          <p:cNvPr id="10" name="Shape 8"/>
          <p:cNvSpPr/>
          <p:nvPr/>
        </p:nvSpPr>
        <p:spPr>
          <a:xfrm>
            <a:off x="9906000" y="4149030"/>
            <a:ext cx="7429500" cy="4381500"/>
          </a:xfrm>
          <a:prstGeom prst="roundRect">
            <a:avLst>
              <a:gd name="adj" fmla="val 2609"/>
            </a:avLst>
          </a:prstGeom>
          <a:solidFill>
            <a:srgbClr val="FFFFFF"/>
          </a:solidFill>
          <a:ln w="19050">
            <a:solidFill>
              <a:srgbClr val="3FE0D0"/>
            </a:solidFill>
            <a:prstDash val="solid"/>
          </a:ln>
          <a:effectLst>
            <a:outerShdw blurRad="114300" dist="38100" dir="5400000" algn="bl" rotWithShape="0">
              <a:srgbClr val="2A2D38">
                <a:alpha val="5000"/>
              </a:srgbClr>
            </a:outerShdw>
          </a:effectLst>
        </p:spPr>
        <p:txBody>
          <a:bodyPr/>
          <a:lstStyle/>
          <a:p>
            <a:endParaRPr lang="en-US"/>
          </a:p>
        </p:txBody>
      </p:sp>
      <p:sp>
        <p:nvSpPr>
          <p:cNvPr id="11" name="Text 9"/>
          <p:cNvSpPr/>
          <p:nvPr/>
        </p:nvSpPr>
        <p:spPr>
          <a:xfrm>
            <a:off x="10344150" y="4625280"/>
            <a:ext cx="6749796"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3FE0D0"/>
                </a:solidFill>
                <a:latin typeface="Montserrat" pitchFamily="34" charset="0"/>
                <a:ea typeface="Montserrat" pitchFamily="34" charset="-122"/>
                <a:cs typeface="Montserrat" pitchFamily="34" charset="-120"/>
              </a:rPr>
              <a:t>NOW</a:t>
            </a:r>
            <a:endParaRPr lang="en-US" sz="1800" dirty="0"/>
          </a:p>
        </p:txBody>
      </p:sp>
      <p:sp>
        <p:nvSpPr>
          <p:cNvPr id="12" name="Text 10"/>
          <p:cNvSpPr/>
          <p:nvPr/>
        </p:nvSpPr>
        <p:spPr>
          <a:xfrm>
            <a:off x="10344150" y="5072955"/>
            <a:ext cx="6749796" cy="685800"/>
          </a:xfrm>
          <a:prstGeom prst="rect">
            <a:avLst/>
          </a:prstGeom>
          <a:noFill/>
          <a:ln/>
        </p:spPr>
        <p:txBody>
          <a:bodyPr wrap="square" lIns="25400" tIns="25400" rIns="25400" bIns="25400" rtlCol="0" anchor="t">
            <a:normAutofit lnSpcReduction="10000"/>
          </a:bodyPr>
          <a:lstStyle/>
          <a:p>
            <a:pPr marL="0" indent="0" algn="l">
              <a:buNone/>
            </a:pPr>
            <a:r>
              <a:rPr lang="en-US" sz="4200" b="1" kern="0" spc="-63" dirty="0">
                <a:solidFill>
                  <a:srgbClr val="2A2D38"/>
                </a:solidFill>
                <a:latin typeface="Montserrat" pitchFamily="34" charset="0"/>
                <a:ea typeface="Montserrat" pitchFamily="34" charset="-122"/>
                <a:cs typeface="Montserrat" pitchFamily="34" charset="-120"/>
              </a:rPr>
              <a:t>Context Engineering</a:t>
            </a:r>
            <a:endParaRPr lang="en-US" sz="4200" dirty="0"/>
          </a:p>
        </p:txBody>
      </p:sp>
      <p:sp>
        <p:nvSpPr>
          <p:cNvPr id="13" name="Text 11"/>
          <p:cNvSpPr/>
          <p:nvPr/>
        </p:nvSpPr>
        <p:spPr>
          <a:xfrm>
            <a:off x="10344150" y="5949255"/>
            <a:ext cx="6749796" cy="78105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1950" dirty="0">
                <a:solidFill>
                  <a:srgbClr val="2A2D38"/>
                </a:solidFill>
                <a:latin typeface="Inter" pitchFamily="34" charset="0"/>
                <a:ea typeface="Inter" pitchFamily="34" charset="-122"/>
                <a:cs typeface="Inter" pitchFamily="34" charset="-120"/>
              </a:rPr>
              <a:t>Design </a:t>
            </a:r>
            <a:r>
              <a:rPr lang="en-US" sz="1950" i="1" dirty="0">
                <a:solidFill>
                  <a:srgbClr val="2A2D38"/>
                </a:solidFill>
                <a:latin typeface="Inter" pitchFamily="34" charset="0"/>
                <a:ea typeface="Inter" pitchFamily="34" charset="-122"/>
                <a:cs typeface="Inter" pitchFamily="34" charset="-120"/>
              </a:rPr>
              <a:t>everything the model sees </a:t>
            </a:r>
            <a:r>
              <a:rPr lang="en-US" sz="1950" dirty="0">
                <a:solidFill>
                  <a:srgbClr val="2A2D38"/>
                </a:solidFill>
                <a:latin typeface="Inter" pitchFamily="34" charset="0"/>
                <a:ea typeface="Inter" pitchFamily="34" charset="-122"/>
                <a:cs typeface="Inter" pitchFamily="34" charset="-120"/>
              </a:rPr>
              <a:t>— instructions, knowledge, tools, memory — before it answers.</a:t>
            </a:r>
            <a:endParaRPr lang="en-US" sz="1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531888" y="952500"/>
            <a:ext cx="1660475" cy="1638300"/>
          </a:xfrm>
          <a:prstGeom prst="rect">
            <a:avLst/>
          </a:prstGeom>
          <a:noFill/>
          <a:ln/>
        </p:spPr>
        <p:txBody>
          <a:bodyPr wrap="square" lIns="25400" tIns="25400" rIns="25400" bIns="25400" rtlCol="0" anchor="t">
            <a:normAutofit fontScale="92500" lnSpcReduction="20000"/>
          </a:bodyPr>
          <a:lstStyle/>
          <a:p>
            <a:pPr marL="0" indent="0" algn="l">
              <a:lnSpc>
                <a:spcPct val="60000"/>
              </a:lnSpc>
              <a:buNone/>
            </a:pPr>
            <a:r>
              <a:rPr lang="en-US" sz="21000" b="1" dirty="0">
                <a:solidFill>
                  <a:srgbClr val="3FE0D0"/>
                </a:solidFill>
                <a:latin typeface="Montserrat" pitchFamily="34" charset="0"/>
                <a:ea typeface="Montserrat" pitchFamily="34" charset="-122"/>
                <a:cs typeface="Montserrat" pitchFamily="34" charset="-120"/>
              </a:rPr>
              <a:t>“</a:t>
            </a:r>
            <a:endParaRPr lang="en-US" sz="21000" dirty="0"/>
          </a:p>
        </p:txBody>
      </p:sp>
      <p:sp>
        <p:nvSpPr>
          <p:cNvPr id="3" name="Text 1"/>
          <p:cNvSpPr/>
          <p:nvPr/>
        </p:nvSpPr>
        <p:spPr>
          <a:xfrm>
            <a:off x="3420963" y="2605088"/>
            <a:ext cx="13735050" cy="4229100"/>
          </a:xfrm>
          <a:prstGeom prst="rect">
            <a:avLst/>
          </a:prstGeom>
          <a:noFill/>
          <a:ln/>
        </p:spPr>
        <p:txBody>
          <a:bodyPr wrap="square" lIns="25400" tIns="25400" rIns="25400" bIns="25400" rtlCol="0" anchor="t">
            <a:normAutofit fontScale="92500"/>
          </a:bodyPr>
          <a:lstStyle/>
          <a:p>
            <a:pPr marL="0" indent="0" algn="l">
              <a:lnSpc>
                <a:spcPct val="110000"/>
              </a:lnSpc>
              <a:buNone/>
            </a:pPr>
            <a:r>
              <a:rPr lang="en-US" sz="6000" b="1" kern="0" spc="-90" dirty="0">
                <a:solidFill>
                  <a:srgbClr val="FFFFFF"/>
                </a:solidFill>
                <a:latin typeface="Montserrat" pitchFamily="34" charset="0"/>
                <a:ea typeface="Montserrat" pitchFamily="34" charset="-122"/>
                <a:cs typeface="Montserrat" pitchFamily="34" charset="-120"/>
              </a:rPr>
              <a:t>Context engineering is the discipline of giving a model </a:t>
            </a:r>
            <a:r>
              <a:rPr lang="en-US" sz="6000" b="1" kern="0" spc="-90" dirty="0">
                <a:solidFill>
                  <a:srgbClr val="3FE0D0"/>
                </a:solidFill>
                <a:latin typeface="Montserrat" pitchFamily="34" charset="0"/>
                <a:ea typeface="Montserrat" pitchFamily="34" charset="-122"/>
                <a:cs typeface="Montserrat" pitchFamily="34" charset="-120"/>
              </a:rPr>
              <a:t>everything it needs </a:t>
            </a:r>
            <a:r>
              <a:rPr lang="en-US" sz="6000" b="1" kern="0" spc="-90" dirty="0">
                <a:solidFill>
                  <a:srgbClr val="FFFFFF"/>
                </a:solidFill>
                <a:latin typeface="Montserrat" pitchFamily="34" charset="0"/>
                <a:ea typeface="Montserrat" pitchFamily="34" charset="-122"/>
                <a:cs typeface="Montserrat" pitchFamily="34" charset="-120"/>
              </a:rPr>
              <a:t>— and nothing it doesn't — to do the job in front of it.</a:t>
            </a:r>
            <a:endParaRPr lang="en-US" sz="6000" dirty="0"/>
          </a:p>
        </p:txBody>
      </p:sp>
      <p:sp>
        <p:nvSpPr>
          <p:cNvPr id="4" name="Text 2"/>
          <p:cNvSpPr/>
          <p:nvPr/>
        </p:nvSpPr>
        <p:spPr>
          <a:xfrm>
            <a:off x="3420963" y="7177088"/>
            <a:ext cx="13735050" cy="314325"/>
          </a:xfrm>
          <a:prstGeom prst="rect">
            <a:avLst/>
          </a:prstGeom>
          <a:noFill/>
          <a:ln/>
        </p:spPr>
        <p:txBody>
          <a:bodyPr wrap="square" lIns="25400" tIns="25400" rIns="25400" bIns="25400" rtlCol="0" anchor="t">
            <a:normAutofit lnSpcReduction="10000"/>
          </a:bodyPr>
          <a:lstStyle/>
          <a:p>
            <a:pPr marL="0" indent="0" algn="l">
              <a:buNone/>
            </a:pPr>
            <a:r>
              <a:rPr lang="en-US" sz="1800" b="1" kern="0" spc="324" dirty="0">
                <a:solidFill>
                  <a:srgbClr val="9A9CA4"/>
                </a:solidFill>
                <a:latin typeface="Montserrat" pitchFamily="34" charset="0"/>
                <a:ea typeface="Montserrat" pitchFamily="34" charset="-122"/>
                <a:cs typeface="Montserrat" pitchFamily="34" charset="-120"/>
              </a:rPr>
              <a:t>— WORKING DEFINITION</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LIVE DEMO</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Same task.</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Twice.</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First without context. Then with. Watch what changes.</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Vibe coding.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Type what comes to mind. Hit send. See what the model guesses.</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No CLAUDE.md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No requirements doc.</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No conventions documented.</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Add a login page to the app.</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DEMO · TAKE 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Context engineering.</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Same feature. Now the model can see what we actually want before it writes a line.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CLAUDE.md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Requirements doc attached.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Auth conventions documented.</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THE PROMPT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Implement the login page per docs/requirements/login.md, following the auth conventions in CLAUDE.md. Stop and ask if anything is ambiguous before writing code.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01</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CLAUDE.md</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Project conventions written down once. Read by the model on every session.</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Stack &amp; framework choices.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Auth &amp; data conventions.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Naming, testing, error handling.</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CLAUDE.md (excerpt)</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850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Project: ACS Member Portal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Stack: Next.js 14, TypeScript, Prisma, NextAuth.</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 conventions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NextAuth credentials provider.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Authed pages live under app/(authed)/.</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Server components only — no client-side session fetching.</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Style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Tailwind. No inline styles.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One feature per folder under app/.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3525441"/>
            <a:ext cx="8044815" cy="390525"/>
          </a:xfrm>
          <a:prstGeom prst="rect">
            <a:avLst/>
          </a:prstGeom>
          <a:noFill/>
          <a:ln/>
        </p:spPr>
        <p:txBody>
          <a:bodyPr wrap="square" lIns="25400" tIns="25400" rIns="25400" bIns="25400" rtlCol="0" anchor="t">
            <a:normAutofit/>
          </a:bodyPr>
          <a:lstStyle/>
          <a:p>
            <a:pPr marL="0" indent="0" algn="l">
              <a:buNone/>
            </a:pPr>
            <a:r>
              <a:rPr lang="en-US" sz="2100" kern="0" spc="630" dirty="0">
                <a:solidFill>
                  <a:srgbClr val="F58220"/>
                </a:solidFill>
                <a:latin typeface="JetBrains Mono" pitchFamily="34" charset="0"/>
                <a:ea typeface="JetBrains Mono" pitchFamily="34" charset="-122"/>
                <a:cs typeface="JetBrains Mono" pitchFamily="34" charset="-120"/>
              </a:rPr>
              <a:t>CONTEXT · ARTIFACT 02</a:t>
            </a:r>
            <a:endParaRPr lang="en-US" sz="2100" dirty="0"/>
          </a:p>
        </p:txBody>
      </p:sp>
      <p:sp>
        <p:nvSpPr>
          <p:cNvPr id="3" name="Text 1"/>
          <p:cNvSpPr/>
          <p:nvPr/>
        </p:nvSpPr>
        <p:spPr>
          <a:xfrm>
            <a:off x="952500" y="4144566"/>
            <a:ext cx="8044815" cy="1123950"/>
          </a:xfrm>
          <a:prstGeom prst="rect">
            <a:avLst/>
          </a:prstGeom>
          <a:noFill/>
          <a:ln/>
        </p:spPr>
        <p:txBody>
          <a:bodyPr wrap="square" lIns="25400" tIns="25400" rIns="25400" bIns="25400" rtlCol="0" anchor="t">
            <a:normAutofit fontScale="70000" lnSpcReduction="20000"/>
          </a:bodyPr>
          <a:lstStyle/>
          <a:p>
            <a:pPr marL="0" indent="0" algn="l">
              <a:lnSpc>
                <a:spcPct val="95000"/>
              </a:lnSpc>
              <a:buNone/>
            </a:pPr>
            <a:r>
              <a:rPr lang="en-US" sz="9000" b="1" kern="0" spc="-180" dirty="0">
                <a:solidFill>
                  <a:srgbClr val="2A2D38"/>
                </a:solidFill>
                <a:latin typeface="Montserrat" pitchFamily="34" charset="0"/>
                <a:ea typeface="Montserrat" pitchFamily="34" charset="-122"/>
                <a:cs typeface="Montserrat" pitchFamily="34" charset="-120"/>
              </a:rPr>
              <a:t>Requirements doc.</a:t>
            </a:r>
            <a:endParaRPr lang="en-US" sz="9000" dirty="0"/>
          </a:p>
        </p:txBody>
      </p:sp>
      <p:sp>
        <p:nvSpPr>
          <p:cNvPr id="4" name="Text 2"/>
          <p:cNvSpPr/>
          <p:nvPr/>
        </p:nvSpPr>
        <p:spPr>
          <a:xfrm>
            <a:off x="952500" y="5497116"/>
            <a:ext cx="6867525" cy="1363712"/>
          </a:xfrm>
          <a:prstGeom prst="rect">
            <a:avLst/>
          </a:prstGeom>
          <a:noFill/>
          <a:ln/>
        </p:spPr>
        <p:txBody>
          <a:bodyPr wrap="square" lIns="25400" tIns="25400" rIns="25400" bIns="25400" rtlCol="0" anchor="t">
            <a:normAutofit/>
          </a:bodyPr>
          <a:lstStyle/>
          <a:p>
            <a:pPr marL="0" indent="0" algn="l">
              <a:lnSpc>
                <a:spcPct val="145000"/>
              </a:lnSpc>
              <a:buNone/>
            </a:pPr>
            <a:r>
              <a:rPr lang="en-US" sz="2400" dirty="0">
                <a:solidFill>
                  <a:srgbClr val="6B6E78"/>
                </a:solidFill>
                <a:latin typeface="Inter" pitchFamily="34" charset="0"/>
                <a:ea typeface="Inter" pitchFamily="34" charset="-122"/>
                <a:cs typeface="Inter" pitchFamily="34" charset="-120"/>
              </a:rPr>
              <a:t>What we want, before we ask for code. Living doc, lives next to the feature.</a:t>
            </a:r>
            <a:endParaRPr lang="en-US" sz="2400" dirty="0"/>
          </a:p>
        </p:txBody>
      </p:sp>
      <p:sp>
        <p:nvSpPr>
          <p:cNvPr id="5" name="Text 3"/>
          <p:cNvSpPr/>
          <p:nvPr/>
        </p:nvSpPr>
        <p:spPr>
          <a:xfrm>
            <a:off x="765810" y="7165628"/>
            <a:ext cx="8073390" cy="1538883"/>
          </a:xfrm>
          <a:prstGeom prst="rect">
            <a:avLst/>
          </a:prstGeom>
          <a:noFill/>
          <a:ln/>
        </p:spPr>
        <p:txBody>
          <a:bodyPr wrap="square" lIns="25400" tIns="25400" rIns="25400" bIns="25400" rtlCol="0" anchor="t">
            <a:normAutofit/>
          </a:bodyPr>
          <a:lstStyle/>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User outcome, plainly stated.</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Fields, validation, errors.</a:t>
            </a:r>
          </a:p>
          <a:p>
            <a:pPr marL="0" indent="0" algn="l">
              <a:lnSpc>
                <a:spcPct val="140000"/>
              </a:lnSpc>
              <a:buNone/>
            </a:pPr>
            <a:r>
              <a:rPr lang="en-US" sz="2100" dirty="0">
                <a:solidFill>
                  <a:srgbClr val="2A2D38"/>
                </a:solidFill>
                <a:latin typeface="Inter" pitchFamily="34" charset="0"/>
                <a:ea typeface="Inter" pitchFamily="34" charset="-122"/>
                <a:cs typeface="Inter" pitchFamily="34" charset="-120"/>
              </a:rPr>
              <a:t>What success looks like.</a:t>
            </a:r>
            <a:endParaRPr lang="en-US" sz="2100" dirty="0"/>
          </a:p>
        </p:txBody>
      </p:sp>
      <p:sp>
        <p:nvSpPr>
          <p:cNvPr id="6" name="Shape 4"/>
          <p:cNvSpPr/>
          <p:nvPr/>
        </p:nvSpPr>
        <p:spPr>
          <a:xfrm>
            <a:off x="9525000" y="3288209"/>
            <a:ext cx="7810500" cy="5615583"/>
          </a:xfrm>
          <a:prstGeom prst="roundRect">
            <a:avLst>
              <a:gd name="adj" fmla="val 2714"/>
            </a:avLst>
          </a:prstGeom>
          <a:solidFill>
            <a:srgbClr val="1B1D24"/>
          </a:solidFill>
          <a:ln/>
        </p:spPr>
        <p:txBody>
          <a:bodyPr/>
          <a:lstStyle/>
          <a:p>
            <a:endParaRPr lang="en-US"/>
          </a:p>
        </p:txBody>
      </p:sp>
      <p:sp>
        <p:nvSpPr>
          <p:cNvPr id="7" name="Text 5"/>
          <p:cNvSpPr/>
          <p:nvPr/>
        </p:nvSpPr>
        <p:spPr>
          <a:xfrm>
            <a:off x="9944100" y="3669209"/>
            <a:ext cx="7181469" cy="426690"/>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800" b="1" kern="0" spc="360" dirty="0">
                <a:solidFill>
                  <a:srgbClr val="3FE0D0"/>
                </a:solidFill>
                <a:latin typeface="Montserrat" pitchFamily="34" charset="0"/>
                <a:ea typeface="Montserrat" pitchFamily="34" charset="-122"/>
                <a:cs typeface="Montserrat" pitchFamily="34" charset="-120"/>
              </a:rPr>
              <a:t>// docs/requirements/login.md</a:t>
            </a:r>
            <a:endParaRPr lang="en-US" sz="1800" dirty="0"/>
          </a:p>
        </p:txBody>
      </p:sp>
      <p:sp>
        <p:nvSpPr>
          <p:cNvPr id="8" name="Text 6"/>
          <p:cNvSpPr/>
          <p:nvPr/>
        </p:nvSpPr>
        <p:spPr>
          <a:xfrm>
            <a:off x="9944100" y="4248299"/>
            <a:ext cx="7181469" cy="4312593"/>
          </a:xfrm>
          <a:prstGeom prst="rect">
            <a:avLst/>
          </a:prstGeom>
          <a:noFill/>
          <a:ln/>
        </p:spPr>
        <p:txBody>
          <a:bodyPr wrap="square" lIns="25400" tIns="25400" rIns="25400" bIns="25400" rtlCol="0" anchor="t">
            <a:normAutofit fontScale="62500" lnSpcReduction="20000"/>
          </a:bodyPr>
          <a:lstStyle/>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Login page</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Goal</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Returning members sign in with email + password.</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Fields</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email (required, valid format)</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(required, ≥ 8 chars)</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Behavior</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submit: POST to /api/auth/signin</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success: redirect to /dashboard</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On failure: inline error, do not clear email</a:t>
            </a:r>
          </a:p>
          <a:p>
            <a:pPr marL="0" indent="0" algn="l">
              <a:lnSpc>
                <a:spcPct val="170000"/>
              </a:lnSpc>
              <a:buNone/>
            </a:pPr>
            <a:endParaRPr lang="en-US" sz="1800" dirty="0">
              <a:solidFill>
                <a:srgbClr val="FFFFFF"/>
              </a:solidFill>
              <a:latin typeface="JetBrains Mono" pitchFamily="34" charset="0"/>
              <a:ea typeface="JetBrains Mono" pitchFamily="34" charset="-122"/>
              <a:cs typeface="JetBrains Mono" pitchFamily="34" charset="-120"/>
            </a:endParaRP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Out of scope</a:t>
            </a:r>
          </a:p>
          <a:p>
            <a:pPr marL="0" indent="0" algn="l">
              <a:lnSpc>
                <a:spcPct val="170000"/>
              </a:lnSpc>
              <a:buNone/>
            </a:pPr>
            <a:r>
              <a:rPr lang="en-US" sz="1800" dirty="0">
                <a:solidFill>
                  <a:srgbClr val="FFFFFF"/>
                </a:solidFill>
                <a:latin typeface="JetBrains Mono" pitchFamily="34" charset="0"/>
                <a:ea typeface="JetBrains Mono" pitchFamily="34" charset="-122"/>
                <a:cs typeface="JetBrains Mono" pitchFamily="34" charset="-120"/>
              </a:rPr>
              <a:t>- Password reset, OAuth, MFA</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BACKUP · TAKE 1 RESULT</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77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(Screenshot of</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vibe-coded output)</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55000" lnSpcReduction="2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Replace this slide with a screenshot of what the vibe-coded prompt actually produced. Insurance for the live demo.</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BACKUP · TAKE 2 RESULT</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6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(Screenshot of</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context-engineered output)</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47500" lnSpcReduction="2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Replace this slide with a screenshot of the context-engineered output. Side-by-side with the previous slide makes the difference unmissable.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1–4</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Anatomy of a well-engineered prompt.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77500" lnSpcReduction="2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Every prompt that lands has all seven. Every prompt that flops is missing at least one. (5–7 on the next slide.)</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SPECIFICITY</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Exactly what.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700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Replace vague verbs with concrete ones. "Add a page" → "Add a /login route that posts to /api/auth/signin and redirects to /dashboard on success."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two engineers build different things from this and both be "right"? If yes, you're not specific yet.</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fontScale="925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GOAL · PURPOSE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Why we need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State the user outcome and the problem it solves. Lets the model make trade-offs in your favor when it has to choose.</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If the model had to drop one feature, would it know which one matters least? Only if you said why.</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CONSTRAINTS</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Limits stated.</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Length, format, tone, do's and don'ts. Boundaries beat preferences — the model respects rules more than vibes.</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85000" lnSpcReduction="1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Did you say what NOT to do? "Don't introduce new dependencies" prevents three categories of regret.</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SUCCESS CRITERIA</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Done = ?</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Describe the output that makes you say "that's exactly it." Without this, the model and you mean different things by "done."</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Test: Could you write a one-line acceptance check? If not, the model can't either.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7 CRITERIA · 5–7</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...continued.</a:t>
            </a:r>
            <a:endParaRPr lang="en-US" sz="5700" dirty="0"/>
          </a:p>
        </p:txBody>
      </p:sp>
      <p:sp>
        <p:nvSpPr>
          <p:cNvPr id="4" name="Shape 2"/>
          <p:cNvSpPr/>
          <p:nvPr/>
        </p:nvSpPr>
        <p:spPr>
          <a:xfrm>
            <a:off x="952500" y="2703165"/>
            <a:ext cx="914400" cy="38100"/>
          </a:xfrm>
          <a:prstGeom prst="roundRect">
            <a:avLst>
              <a:gd name="adj" fmla="val 50000"/>
            </a:avLst>
          </a:prstGeom>
          <a:solidFill>
            <a:srgbClr val="F58220"/>
          </a:solidFill>
          <a:ln/>
        </p:spPr>
        <p:txBody>
          <a:bodyPr/>
          <a:lstStyle/>
          <a:p>
            <a:endParaRPr lang="en-US"/>
          </a:p>
        </p:txBody>
      </p:sp>
      <p:sp>
        <p:nvSpPr>
          <p:cNvPr id="5" name="Text 3"/>
          <p:cNvSpPr/>
          <p:nvPr/>
        </p:nvSpPr>
        <p:spPr>
          <a:xfrm>
            <a:off x="952500" y="3236565"/>
            <a:ext cx="5232349" cy="1478161"/>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2600" b="1" kern="0" spc="-504" dirty="0">
                <a:solidFill>
                  <a:srgbClr val="F58220"/>
                </a:solidFill>
                <a:latin typeface="Montserrat" pitchFamily="34" charset="0"/>
                <a:ea typeface="Montserrat" pitchFamily="34" charset="-122"/>
                <a:cs typeface="Montserrat" pitchFamily="34" charset="-120"/>
              </a:rPr>
              <a:t>5</a:t>
            </a:r>
            <a:endParaRPr lang="en-US" sz="12600" dirty="0"/>
          </a:p>
        </p:txBody>
      </p:sp>
      <p:sp>
        <p:nvSpPr>
          <p:cNvPr id="6" name="Text 4"/>
          <p:cNvSpPr/>
          <p:nvPr/>
        </p:nvSpPr>
        <p:spPr>
          <a:xfrm>
            <a:off x="952500" y="4943326"/>
            <a:ext cx="5232349"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117" dirty="0">
                <a:solidFill>
                  <a:srgbClr val="6B6E78"/>
                </a:solidFill>
                <a:latin typeface="Montserrat" pitchFamily="34" charset="0"/>
                <a:ea typeface="Montserrat" pitchFamily="34" charset="-122"/>
                <a:cs typeface="Montserrat" pitchFamily="34" charset="-120"/>
              </a:rPr>
              <a:t>EXAMPLES &amp; FORMAT</a:t>
            </a:r>
            <a:endParaRPr lang="en-US" sz="1950" dirty="0"/>
          </a:p>
        </p:txBody>
      </p:sp>
      <p:sp>
        <p:nvSpPr>
          <p:cNvPr id="7" name="Text 5"/>
          <p:cNvSpPr/>
          <p:nvPr/>
        </p:nvSpPr>
        <p:spPr>
          <a:xfrm>
            <a:off x="952500" y="5514826"/>
            <a:ext cx="5232349" cy="700980"/>
          </a:xfrm>
          <a:prstGeom prst="rect">
            <a:avLst/>
          </a:prstGeom>
          <a:noFill/>
          <a:ln/>
        </p:spPr>
        <p:txBody>
          <a:bodyPr wrap="square" lIns="25400" tIns="25400" rIns="25400" bIns="25400" rtlCol="0" anchor="t">
            <a:normAutofit fontScale="6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Show what good looks like. A short before/after, a sample shape, an existing file to mirror. Examples beat adjectives every time.</a:t>
            </a:r>
            <a:endParaRPr lang="en-US" sz="1800" dirty="0"/>
          </a:p>
        </p:txBody>
      </p:sp>
      <p:sp>
        <p:nvSpPr>
          <p:cNvPr id="8" name="Text 6"/>
          <p:cNvSpPr/>
          <p:nvPr/>
        </p:nvSpPr>
        <p:spPr>
          <a:xfrm>
            <a:off x="6603950" y="3236565"/>
            <a:ext cx="5232349" cy="1478161"/>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2600" b="1" kern="0" spc="-504" dirty="0">
                <a:solidFill>
                  <a:srgbClr val="F58220"/>
                </a:solidFill>
                <a:latin typeface="Montserrat" pitchFamily="34" charset="0"/>
                <a:ea typeface="Montserrat" pitchFamily="34" charset="-122"/>
                <a:cs typeface="Montserrat" pitchFamily="34" charset="-120"/>
              </a:rPr>
              <a:t>6</a:t>
            </a:r>
            <a:endParaRPr lang="en-US" sz="12600" dirty="0"/>
          </a:p>
        </p:txBody>
      </p:sp>
      <p:sp>
        <p:nvSpPr>
          <p:cNvPr id="9" name="Text 7"/>
          <p:cNvSpPr/>
          <p:nvPr/>
        </p:nvSpPr>
        <p:spPr>
          <a:xfrm>
            <a:off x="6603950" y="4943326"/>
            <a:ext cx="5232349"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117" dirty="0">
                <a:solidFill>
                  <a:srgbClr val="6B6E78"/>
                </a:solidFill>
                <a:latin typeface="Montserrat" pitchFamily="34" charset="0"/>
                <a:ea typeface="Montserrat" pitchFamily="34" charset="-122"/>
                <a:cs typeface="Montserrat" pitchFamily="34" charset="-120"/>
              </a:rPr>
              <a:t>AUDIENCE &amp; PERSONA</a:t>
            </a:r>
            <a:endParaRPr lang="en-US" sz="1950" dirty="0"/>
          </a:p>
        </p:txBody>
      </p:sp>
      <p:sp>
        <p:nvSpPr>
          <p:cNvPr id="10" name="Text 8"/>
          <p:cNvSpPr/>
          <p:nvPr/>
        </p:nvSpPr>
        <p:spPr>
          <a:xfrm>
            <a:off x="6603950" y="5514826"/>
            <a:ext cx="5232349" cy="700980"/>
          </a:xfrm>
          <a:prstGeom prst="rect">
            <a:avLst/>
          </a:prstGeom>
          <a:noFill/>
          <a:ln/>
        </p:spPr>
        <p:txBody>
          <a:bodyPr wrap="square" lIns="25400" tIns="25400" rIns="25400" bIns="25400" rtlCol="0" anchor="t">
            <a:normAutofit fontScale="6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Who reads it, who writes it. "Write like our internal devs talking to each other" yields wildly different output than the same prompt without that line.</a:t>
            </a:r>
            <a:endParaRPr lang="en-US" sz="1800" dirty="0"/>
          </a:p>
        </p:txBody>
      </p:sp>
      <p:sp>
        <p:nvSpPr>
          <p:cNvPr id="11" name="Text 9"/>
          <p:cNvSpPr/>
          <p:nvPr/>
        </p:nvSpPr>
        <p:spPr>
          <a:xfrm>
            <a:off x="12255401" y="3236565"/>
            <a:ext cx="5232349" cy="1478161"/>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2600" b="1" kern="0" spc="-504" dirty="0">
                <a:solidFill>
                  <a:srgbClr val="F58220"/>
                </a:solidFill>
                <a:latin typeface="Montserrat" pitchFamily="34" charset="0"/>
                <a:ea typeface="Montserrat" pitchFamily="34" charset="-122"/>
                <a:cs typeface="Montserrat" pitchFamily="34" charset="-120"/>
              </a:rPr>
              <a:t>7</a:t>
            </a:r>
            <a:endParaRPr lang="en-US" sz="12600" dirty="0"/>
          </a:p>
        </p:txBody>
      </p:sp>
      <p:sp>
        <p:nvSpPr>
          <p:cNvPr id="12" name="Text 10"/>
          <p:cNvSpPr/>
          <p:nvPr/>
        </p:nvSpPr>
        <p:spPr>
          <a:xfrm>
            <a:off x="12255401" y="4943326"/>
            <a:ext cx="5232349"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117" dirty="0">
                <a:solidFill>
                  <a:srgbClr val="6B6E78"/>
                </a:solidFill>
                <a:latin typeface="Montserrat" pitchFamily="34" charset="0"/>
                <a:ea typeface="Montserrat" pitchFamily="34" charset="-122"/>
                <a:cs typeface="Montserrat" pitchFamily="34" charset="-120"/>
              </a:rPr>
              <a:t>SCOPE</a:t>
            </a:r>
            <a:endParaRPr lang="en-US" sz="1950" dirty="0"/>
          </a:p>
        </p:txBody>
      </p:sp>
      <p:sp>
        <p:nvSpPr>
          <p:cNvPr id="13" name="Text 11"/>
          <p:cNvSpPr/>
          <p:nvPr/>
        </p:nvSpPr>
        <p:spPr>
          <a:xfrm>
            <a:off x="12255401" y="5514826"/>
            <a:ext cx="5232349" cy="700980"/>
          </a:xfrm>
          <a:prstGeom prst="rect">
            <a:avLst/>
          </a:prstGeom>
          <a:noFill/>
          <a:ln/>
        </p:spPr>
        <p:txBody>
          <a:bodyPr wrap="square" lIns="25400" tIns="25400" rIns="25400" bIns="25400" rtlCol="0" anchor="t">
            <a:normAutofit fontScale="6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Where the task starts and stops. Without a scope, the model expands. "Just the login route" prevents drift into signup, password-reset, and a refactor you didn't ask for.</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SAME GOAL · DIFFERENT OUTPUT</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Bad prompt. Good prompt.</a:t>
            </a:r>
            <a:endParaRPr lang="en-US" sz="5700" dirty="0"/>
          </a:p>
        </p:txBody>
      </p:sp>
      <p:sp>
        <p:nvSpPr>
          <p:cNvPr id="4" name="Shape 2"/>
          <p:cNvSpPr/>
          <p:nvPr/>
        </p:nvSpPr>
        <p:spPr>
          <a:xfrm>
            <a:off x="952500" y="2703165"/>
            <a:ext cx="914400" cy="38100"/>
          </a:xfrm>
          <a:prstGeom prst="roundRect">
            <a:avLst>
              <a:gd name="adj" fmla="val 50000"/>
            </a:avLst>
          </a:prstGeom>
          <a:solidFill>
            <a:srgbClr val="F58220"/>
          </a:solidFill>
          <a:ln/>
        </p:spPr>
        <p:txBody>
          <a:bodyPr/>
          <a:lstStyle/>
          <a:p>
            <a:endParaRPr lang="en-US"/>
          </a:p>
        </p:txBody>
      </p:sp>
      <p:sp>
        <p:nvSpPr>
          <p:cNvPr id="5" name="Shape 3"/>
          <p:cNvSpPr/>
          <p:nvPr/>
        </p:nvSpPr>
        <p:spPr>
          <a:xfrm>
            <a:off x="952500" y="3236565"/>
            <a:ext cx="8039100" cy="5338614"/>
          </a:xfrm>
          <a:prstGeom prst="roundRect">
            <a:avLst>
              <a:gd name="adj" fmla="val 2855"/>
            </a:avLst>
          </a:prstGeom>
          <a:solidFill>
            <a:srgbClr val="FBE5E1"/>
          </a:solidFill>
          <a:ln w="9525">
            <a:solidFill>
              <a:srgbClr val="F0BFB6"/>
            </a:solidFill>
            <a:prstDash val="solid"/>
          </a:ln>
        </p:spPr>
        <p:txBody>
          <a:bodyPr/>
          <a:lstStyle/>
          <a:p>
            <a:endParaRPr lang="en-US"/>
          </a:p>
        </p:txBody>
      </p:sp>
      <p:sp>
        <p:nvSpPr>
          <p:cNvPr id="6" name="Text 4"/>
          <p:cNvSpPr/>
          <p:nvPr/>
        </p:nvSpPr>
        <p:spPr>
          <a:xfrm>
            <a:off x="1343025" y="3588990"/>
            <a:ext cx="304205"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a:t>
            </a:r>
            <a:endParaRPr lang="en-US" sz="1800" dirty="0"/>
          </a:p>
        </p:txBody>
      </p:sp>
      <p:sp>
        <p:nvSpPr>
          <p:cNvPr id="7" name="Text 5"/>
          <p:cNvSpPr/>
          <p:nvPr/>
        </p:nvSpPr>
        <p:spPr>
          <a:xfrm>
            <a:off x="1704380" y="3603278"/>
            <a:ext cx="1134963" cy="314325"/>
          </a:xfrm>
          <a:prstGeom prst="rect">
            <a:avLst/>
          </a:prstGeom>
          <a:noFill/>
          <a:ln/>
        </p:spPr>
        <p:txBody>
          <a:bodyPr wrap="square" lIns="0" tIns="0" rIns="0" bIns="0" rtlCol="0" anchor="t">
            <a:normAutofit/>
          </a:bodyPr>
          <a:lstStyle/>
          <a:p>
            <a:pPr marL="0" indent="0" algn="l">
              <a:buNone/>
            </a:pPr>
            <a:r>
              <a:rPr lang="en-US" sz="1800" b="1" kern="0" spc="324" dirty="0">
                <a:solidFill>
                  <a:srgbClr val="B5341B"/>
                </a:solidFill>
                <a:latin typeface="Montserrat" pitchFamily="34" charset="0"/>
                <a:ea typeface="Montserrat" pitchFamily="34" charset="-122"/>
                <a:cs typeface="Montserrat" pitchFamily="34" charset="-120"/>
              </a:rPr>
              <a:t>VAGUE</a:t>
            </a:r>
            <a:endParaRPr lang="en-US" sz="1800" dirty="0"/>
          </a:p>
        </p:txBody>
      </p:sp>
      <p:sp>
        <p:nvSpPr>
          <p:cNvPr id="8" name="Text 6"/>
          <p:cNvSpPr/>
          <p:nvPr/>
        </p:nvSpPr>
        <p:spPr>
          <a:xfrm>
            <a:off x="1343025" y="4084290"/>
            <a:ext cx="7475792" cy="746522"/>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Write a thank-you email to volunteers from last weekend.</a:t>
            </a:r>
            <a:endParaRPr lang="en-US" sz="1800" dirty="0"/>
          </a:p>
        </p:txBody>
      </p:sp>
      <p:sp>
        <p:nvSpPr>
          <p:cNvPr id="9" name="Shape 7"/>
          <p:cNvSpPr/>
          <p:nvPr/>
        </p:nvSpPr>
        <p:spPr>
          <a:xfrm>
            <a:off x="1343025" y="7131248"/>
            <a:ext cx="7258050" cy="9525"/>
          </a:xfrm>
          <a:prstGeom prst="rect">
            <a:avLst/>
          </a:prstGeom>
          <a:solidFill>
            <a:srgbClr val="000000">
              <a:alpha val="8000"/>
            </a:srgbClr>
          </a:solidFill>
          <a:ln/>
        </p:spPr>
        <p:txBody>
          <a:bodyPr/>
          <a:lstStyle/>
          <a:p>
            <a:endParaRPr lang="en-US"/>
          </a:p>
        </p:txBody>
      </p:sp>
      <p:sp>
        <p:nvSpPr>
          <p:cNvPr id="10" name="Text 8"/>
          <p:cNvSpPr/>
          <p:nvPr/>
        </p:nvSpPr>
        <p:spPr>
          <a:xfrm>
            <a:off x="1343025" y="7331273"/>
            <a:ext cx="7475792" cy="70098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Model has to guess </a:t>
            </a:r>
            <a:r>
              <a:rPr lang="en-US" sz="1800" b="1" dirty="0">
                <a:solidFill>
                  <a:srgbClr val="3D404A"/>
                </a:solidFill>
                <a:latin typeface="Inter" pitchFamily="34" charset="0"/>
                <a:ea typeface="Inter" pitchFamily="34" charset="-122"/>
                <a:cs typeface="Inter" pitchFamily="34" charset="-120"/>
              </a:rPr>
              <a:t>who</a:t>
            </a:r>
            <a:r>
              <a:rPr lang="en-US" sz="1800" dirty="0">
                <a:solidFill>
                  <a:srgbClr val="3D404A"/>
                </a:solidFill>
                <a:latin typeface="Inter" pitchFamily="34" charset="0"/>
                <a:ea typeface="Inter" pitchFamily="34" charset="-122"/>
                <a:cs typeface="Inter" pitchFamily="34" charset="-120"/>
              </a:rPr>
              <a:t>, </a:t>
            </a:r>
            <a:r>
              <a:rPr lang="en-US" sz="1800" b="1" dirty="0">
                <a:solidFill>
                  <a:srgbClr val="3D404A"/>
                </a:solidFill>
                <a:latin typeface="Inter" pitchFamily="34" charset="0"/>
                <a:ea typeface="Inter" pitchFamily="34" charset="-122"/>
                <a:cs typeface="Inter" pitchFamily="34" charset="-120"/>
              </a:rPr>
              <a:t>what they did</a:t>
            </a:r>
            <a:r>
              <a:rPr lang="en-US" sz="1800" dirty="0">
                <a:solidFill>
                  <a:srgbClr val="3D404A"/>
                </a:solidFill>
                <a:latin typeface="Inter" pitchFamily="34" charset="0"/>
                <a:ea typeface="Inter" pitchFamily="34" charset="-122"/>
                <a:cs typeface="Inter" pitchFamily="34" charset="-120"/>
              </a:rPr>
              <a:t>, your </a:t>
            </a:r>
            <a:r>
              <a:rPr lang="en-US" sz="1800" b="1" dirty="0">
                <a:solidFill>
                  <a:srgbClr val="3D404A"/>
                </a:solidFill>
                <a:latin typeface="Inter" pitchFamily="34" charset="0"/>
                <a:ea typeface="Inter" pitchFamily="34" charset="-122"/>
                <a:cs typeface="Inter" pitchFamily="34" charset="-120"/>
              </a:rPr>
              <a:t>voice</a:t>
            </a:r>
            <a:r>
              <a:rPr lang="en-US" sz="1800" dirty="0">
                <a:solidFill>
                  <a:srgbClr val="3D404A"/>
                </a:solidFill>
                <a:latin typeface="Inter" pitchFamily="34" charset="0"/>
                <a:ea typeface="Inter" pitchFamily="34" charset="-122"/>
                <a:cs typeface="Inter" pitchFamily="34" charset="-120"/>
              </a:rPr>
              <a:t>, and the </a:t>
            </a:r>
            <a:r>
              <a:rPr lang="en-US" sz="1800" b="1" dirty="0">
                <a:solidFill>
                  <a:srgbClr val="3D404A"/>
                </a:solidFill>
                <a:latin typeface="Inter" pitchFamily="34" charset="0"/>
                <a:ea typeface="Inter" pitchFamily="34" charset="-122"/>
                <a:cs typeface="Inter" pitchFamily="34" charset="-120"/>
              </a:rPr>
              <a:t>length</a:t>
            </a:r>
            <a:r>
              <a:rPr lang="en-US" sz="1800" dirty="0">
                <a:solidFill>
                  <a:srgbClr val="3D404A"/>
                </a:solidFill>
                <a:latin typeface="Inter" pitchFamily="34" charset="0"/>
                <a:ea typeface="Inter" pitchFamily="34" charset="-122"/>
                <a:cs typeface="Inter" pitchFamily="34" charset="-120"/>
              </a:rPr>
              <a:t>. You'll edit for 20 minutes.</a:t>
            </a:r>
            <a:endParaRPr lang="en-US" sz="1800" dirty="0"/>
          </a:p>
        </p:txBody>
      </p:sp>
      <p:sp>
        <p:nvSpPr>
          <p:cNvPr id="11" name="Shape 9"/>
          <p:cNvSpPr/>
          <p:nvPr/>
        </p:nvSpPr>
        <p:spPr>
          <a:xfrm>
            <a:off x="9296400" y="3236565"/>
            <a:ext cx="8039100" cy="5338614"/>
          </a:xfrm>
          <a:prstGeom prst="roundRect">
            <a:avLst>
              <a:gd name="adj" fmla="val 2855"/>
            </a:avLst>
          </a:prstGeom>
          <a:solidFill>
            <a:srgbClr val="E6F4EA"/>
          </a:solidFill>
          <a:ln w="9525">
            <a:solidFill>
              <a:srgbClr val="B7DCC2"/>
            </a:solidFill>
            <a:prstDash val="solid"/>
          </a:ln>
        </p:spPr>
        <p:txBody>
          <a:bodyPr/>
          <a:lstStyle/>
          <a:p>
            <a:endParaRPr lang="en-US"/>
          </a:p>
        </p:txBody>
      </p:sp>
      <p:sp>
        <p:nvSpPr>
          <p:cNvPr id="12" name="Text 10"/>
          <p:cNvSpPr/>
          <p:nvPr/>
        </p:nvSpPr>
        <p:spPr>
          <a:xfrm>
            <a:off x="9686925" y="3588990"/>
            <a:ext cx="288578" cy="342900"/>
          </a:xfrm>
          <a:prstGeom prst="rect">
            <a:avLst/>
          </a:prstGeom>
          <a:noFill/>
          <a:ln/>
        </p:spPr>
        <p:txBody>
          <a:bodyPr wrap="square" lIns="25400" tIns="25400" rIns="25400" bIns="2540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a:t>
            </a:r>
            <a:endParaRPr lang="en-US" sz="1800" dirty="0"/>
          </a:p>
        </p:txBody>
      </p:sp>
      <p:sp>
        <p:nvSpPr>
          <p:cNvPr id="13" name="Text 11"/>
          <p:cNvSpPr/>
          <p:nvPr/>
        </p:nvSpPr>
        <p:spPr>
          <a:xfrm>
            <a:off x="10032653" y="3603278"/>
            <a:ext cx="2082254" cy="314325"/>
          </a:xfrm>
          <a:prstGeom prst="rect">
            <a:avLst/>
          </a:prstGeom>
          <a:noFill/>
          <a:ln/>
        </p:spPr>
        <p:txBody>
          <a:bodyPr wrap="square" lIns="0" tIns="0" rIns="0" bIns="0" rtlCol="0" anchor="t">
            <a:normAutofit/>
          </a:bodyPr>
          <a:lstStyle/>
          <a:p>
            <a:pPr marL="0" indent="0" algn="l">
              <a:buNone/>
            </a:pPr>
            <a:r>
              <a:rPr lang="en-US" sz="1800" b="1" kern="0" spc="324" dirty="0">
                <a:solidFill>
                  <a:srgbClr val="2F8F4E"/>
                </a:solidFill>
                <a:latin typeface="Montserrat" pitchFamily="34" charset="0"/>
                <a:ea typeface="Montserrat" pitchFamily="34" charset="-122"/>
                <a:cs typeface="Montserrat" pitchFamily="34" charset="-120"/>
              </a:rPr>
              <a:t>ENGINEERED</a:t>
            </a:r>
            <a:endParaRPr lang="en-US" sz="1800" dirty="0"/>
          </a:p>
        </p:txBody>
      </p:sp>
      <p:sp>
        <p:nvSpPr>
          <p:cNvPr id="14" name="Text 12"/>
          <p:cNvSpPr/>
          <p:nvPr/>
        </p:nvSpPr>
        <p:spPr>
          <a:xfrm>
            <a:off x="9686925" y="4084290"/>
            <a:ext cx="7475792" cy="3225998"/>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You're our comms editor (warm, plainspoken).</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Draft a 90-word thank-you email to the 14 first-time hospitality volunteers from Easter weekend.</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Reference the espresso bar mishap kindly. End with one sentence inviting them to the May 12 huddle.</a:t>
            </a:r>
            <a:endParaRPr lang="en-US" sz="1800" dirty="0"/>
          </a:p>
          <a:p>
            <a:pPr marL="0" indent="0" algn="l">
              <a:lnSpc>
                <a:spcPct val="155000"/>
              </a:lnSpc>
              <a:buNone/>
            </a:pPr>
            <a:endParaRPr lang="en-US" sz="1800" dirty="0"/>
          </a:p>
          <a:p>
            <a:pPr marL="0" indent="0" algn="l">
              <a:lnSpc>
                <a:spcPct val="155000"/>
              </a:lnSpc>
              <a:buNone/>
            </a:pPr>
            <a:r>
              <a:rPr lang="en-US" sz="1800" dirty="0">
                <a:solidFill>
                  <a:srgbClr val="2A2D38"/>
                </a:solidFill>
                <a:latin typeface="JetBrains Mono" pitchFamily="34" charset="0"/>
                <a:ea typeface="JetBrains Mono" pitchFamily="34" charset="-122"/>
                <a:cs typeface="JetBrains Mono" pitchFamily="34" charset="-120"/>
              </a:rPr>
              <a:t>No exclamation points.</a:t>
            </a:r>
            <a:endParaRPr lang="en-US" sz="1800" dirty="0"/>
          </a:p>
        </p:txBody>
      </p:sp>
      <p:sp>
        <p:nvSpPr>
          <p:cNvPr id="15" name="Shape 13"/>
          <p:cNvSpPr/>
          <p:nvPr/>
        </p:nvSpPr>
        <p:spPr>
          <a:xfrm>
            <a:off x="9686925" y="7462689"/>
            <a:ext cx="7258050" cy="9525"/>
          </a:xfrm>
          <a:prstGeom prst="rect">
            <a:avLst/>
          </a:prstGeom>
          <a:solidFill>
            <a:srgbClr val="000000">
              <a:alpha val="8000"/>
            </a:srgbClr>
          </a:solidFill>
          <a:ln/>
        </p:spPr>
        <p:txBody>
          <a:bodyPr/>
          <a:lstStyle/>
          <a:p>
            <a:endParaRPr lang="en-US"/>
          </a:p>
        </p:txBody>
      </p:sp>
      <p:sp>
        <p:nvSpPr>
          <p:cNvPr id="16" name="Text 14"/>
          <p:cNvSpPr/>
          <p:nvPr/>
        </p:nvSpPr>
        <p:spPr>
          <a:xfrm>
            <a:off x="9686925" y="7662714"/>
            <a:ext cx="7475792" cy="36954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dirty="0">
                <a:solidFill>
                  <a:srgbClr val="3D404A"/>
                </a:solidFill>
                <a:latin typeface="Inter" pitchFamily="34" charset="0"/>
                <a:ea typeface="Inter" pitchFamily="34" charset="-122"/>
                <a:cs typeface="Inter" pitchFamily="34" charset="-120"/>
              </a:rPr>
              <a:t>Same model. Same minute. Vastly better first draft.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52500" y="952500"/>
            <a:ext cx="16874490" cy="342900"/>
          </a:xfrm>
          <a:prstGeom prst="rect">
            <a:avLst/>
          </a:prstGeom>
          <a:noFill/>
          <a:ln/>
        </p:spPr>
        <p:txBody>
          <a:bodyPr wrap="square" lIns="25400" tIns="25400" rIns="25400" bIns="25400" rtlCol="0" anchor="t">
            <a:normAutofit lnSpcReduction="10000"/>
          </a:bodyPr>
          <a:lstStyle/>
          <a:p>
            <a:pPr marL="0" indent="0" algn="l">
              <a:buNone/>
            </a:pPr>
            <a:r>
              <a:rPr lang="en-US" sz="1950" b="1" kern="0" spc="429" dirty="0">
                <a:solidFill>
                  <a:srgbClr val="F58220"/>
                </a:solidFill>
                <a:latin typeface="Montserrat" pitchFamily="34" charset="0"/>
                <a:ea typeface="Montserrat" pitchFamily="34" charset="-122"/>
                <a:cs typeface="Montserrat" pitchFamily="34" charset="-120"/>
              </a:rPr>
              <a:t>WHAT GOOD LOOKS LIKE</a:t>
            </a:r>
            <a:endParaRPr lang="en-US" sz="1950" dirty="0"/>
          </a:p>
        </p:txBody>
      </p:sp>
      <p:sp>
        <p:nvSpPr>
          <p:cNvPr id="3" name="Text 1"/>
          <p:cNvSpPr/>
          <p:nvPr/>
        </p:nvSpPr>
        <p:spPr>
          <a:xfrm>
            <a:off x="952500" y="1447800"/>
            <a:ext cx="16874490" cy="79816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700" b="1" kern="0" spc="-85" dirty="0">
                <a:solidFill>
                  <a:srgbClr val="2A2D38"/>
                </a:solidFill>
                <a:latin typeface="Montserrat" pitchFamily="34" charset="0"/>
                <a:ea typeface="Montserrat" pitchFamily="34" charset="-122"/>
                <a:cs typeface="Montserrat" pitchFamily="34" charset="-120"/>
              </a:rPr>
              <a:t>Four characteristics of well-engineered context.</a:t>
            </a:r>
            <a:endParaRPr lang="en-US" sz="5700" dirty="0"/>
          </a:p>
        </p:txBody>
      </p:sp>
      <p:sp>
        <p:nvSpPr>
          <p:cNvPr id="4" name="Text 2"/>
          <p:cNvSpPr/>
          <p:nvPr/>
        </p:nvSpPr>
        <p:spPr>
          <a:xfrm>
            <a:off x="952500" y="2398365"/>
            <a:ext cx="13735050" cy="4914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6B6E78"/>
                </a:solidFill>
                <a:latin typeface="Inter" pitchFamily="34" charset="0"/>
                <a:ea typeface="Inter" pitchFamily="34" charset="-122"/>
                <a:cs typeface="Inter" pitchFamily="34" charset="-120"/>
              </a:rPr>
              <a:t>If your context has all four, you're not vibe coding anymore — you're engineering.</a:t>
            </a:r>
            <a:endParaRPr lang="en-US" sz="2550" dirty="0"/>
          </a:p>
        </p:txBody>
      </p:sp>
      <p:sp>
        <p:nvSpPr>
          <p:cNvPr id="5" name="Shape 3"/>
          <p:cNvSpPr/>
          <p:nvPr/>
        </p:nvSpPr>
        <p:spPr>
          <a:xfrm>
            <a:off x="95250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6" name="Text 4"/>
          <p:cNvSpPr/>
          <p:nvPr/>
        </p:nvSpPr>
        <p:spPr>
          <a:xfrm>
            <a:off x="126682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01 / REPRODUCIBLE</a:t>
            </a:r>
            <a:endParaRPr lang="en-US" sz="1800" dirty="0"/>
          </a:p>
        </p:txBody>
      </p:sp>
      <p:sp>
        <p:nvSpPr>
          <p:cNvPr id="7" name="Text 5"/>
          <p:cNvSpPr/>
          <p:nvPr/>
        </p:nvSpPr>
        <p:spPr>
          <a:xfrm>
            <a:off x="1266825" y="4337596"/>
            <a:ext cx="3365087" cy="457200"/>
          </a:xfrm>
          <a:prstGeom prst="rect">
            <a:avLst/>
          </a:prstGeom>
          <a:noFill/>
          <a:ln/>
        </p:spPr>
        <p:txBody>
          <a:bodyPr wrap="square" lIns="25400" tIns="25400" rIns="25400" bIns="25400" rtlCol="0" anchor="t">
            <a:normAutofit fontScale="77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Same in, same out.</a:t>
            </a:r>
            <a:endParaRPr lang="en-US" sz="3300" dirty="0"/>
          </a:p>
        </p:txBody>
      </p:sp>
      <p:sp>
        <p:nvSpPr>
          <p:cNvPr id="8" name="Text 6"/>
          <p:cNvSpPr/>
          <p:nvPr/>
        </p:nvSpPr>
        <p:spPr>
          <a:xfrm>
            <a:off x="1266825"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Two teammates running the same prompt against the same context get comparable results. No private incantations.</a:t>
            </a:r>
            <a:endParaRPr lang="en-US" sz="1800" dirty="0"/>
          </a:p>
        </p:txBody>
      </p:sp>
      <p:sp>
        <p:nvSpPr>
          <p:cNvPr id="9" name="Shape 7"/>
          <p:cNvSpPr/>
          <p:nvPr/>
        </p:nvSpPr>
        <p:spPr>
          <a:xfrm>
            <a:off x="1266825" y="7271296"/>
            <a:ext cx="3267075" cy="9525"/>
          </a:xfrm>
          <a:prstGeom prst="rect">
            <a:avLst/>
          </a:prstGeom>
          <a:solidFill>
            <a:srgbClr val="C9CBD1"/>
          </a:solidFill>
          <a:ln/>
        </p:spPr>
        <p:txBody>
          <a:bodyPr/>
          <a:lstStyle/>
          <a:p>
            <a:endParaRPr lang="en-US"/>
          </a:p>
        </p:txBody>
      </p:sp>
      <p:sp>
        <p:nvSpPr>
          <p:cNvPr id="10" name="Text 8"/>
          <p:cNvSpPr/>
          <p:nvPr/>
        </p:nvSpPr>
        <p:spPr>
          <a:xfrm>
            <a:off x="1266825" y="7509421"/>
            <a:ext cx="3365087" cy="17526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the moment a workflow depends on "the way Tripp asks," it's not a workflow.</a:t>
            </a:r>
            <a:endParaRPr lang="en-US" sz="1800" dirty="0"/>
          </a:p>
        </p:txBody>
      </p:sp>
      <p:sp>
        <p:nvSpPr>
          <p:cNvPr id="11" name="Shape 9"/>
          <p:cNvSpPr/>
          <p:nvPr/>
        </p:nvSpPr>
        <p:spPr>
          <a:xfrm>
            <a:off x="511492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2" name="Text 10"/>
          <p:cNvSpPr/>
          <p:nvPr/>
        </p:nvSpPr>
        <p:spPr>
          <a:xfrm>
            <a:off x="542925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02 / AUDITABLE</a:t>
            </a:r>
            <a:endParaRPr lang="en-US" sz="1800" dirty="0"/>
          </a:p>
        </p:txBody>
      </p:sp>
      <p:sp>
        <p:nvSpPr>
          <p:cNvPr id="13" name="Text 11"/>
          <p:cNvSpPr/>
          <p:nvPr/>
        </p:nvSpPr>
        <p:spPr>
          <a:xfrm>
            <a:off x="5429250" y="4337596"/>
            <a:ext cx="3365087"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You can trace it.</a:t>
            </a:r>
            <a:endParaRPr lang="en-US" sz="3300" dirty="0"/>
          </a:p>
        </p:txBody>
      </p:sp>
      <p:sp>
        <p:nvSpPr>
          <p:cNvPr id="14" name="Text 12"/>
          <p:cNvSpPr/>
          <p:nvPr/>
        </p:nvSpPr>
        <p:spPr>
          <a:xfrm>
            <a:off x="5429250" y="4947196"/>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Every claim in the output maps to a specific source in the context. You know what the model knew when it answered.</a:t>
            </a:r>
            <a:endParaRPr lang="en-US" sz="1800" dirty="0"/>
          </a:p>
        </p:txBody>
      </p:sp>
      <p:sp>
        <p:nvSpPr>
          <p:cNvPr id="15" name="Shape 13"/>
          <p:cNvSpPr/>
          <p:nvPr/>
        </p:nvSpPr>
        <p:spPr>
          <a:xfrm>
            <a:off x="5429250" y="7614196"/>
            <a:ext cx="3267075" cy="9525"/>
          </a:xfrm>
          <a:prstGeom prst="rect">
            <a:avLst/>
          </a:prstGeom>
          <a:solidFill>
            <a:srgbClr val="C9CBD1"/>
          </a:solidFill>
          <a:ln/>
        </p:spPr>
        <p:txBody>
          <a:bodyPr/>
          <a:lstStyle/>
          <a:p>
            <a:endParaRPr lang="en-US"/>
          </a:p>
        </p:txBody>
      </p:sp>
      <p:sp>
        <p:nvSpPr>
          <p:cNvPr id="16" name="Text 14"/>
          <p:cNvSpPr/>
          <p:nvPr/>
        </p:nvSpPr>
        <p:spPr>
          <a:xfrm>
            <a:off x="5429250"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when something goes wrong, you debug the context — not the model.</a:t>
            </a:r>
            <a:endParaRPr lang="en-US" sz="1800" dirty="0"/>
          </a:p>
        </p:txBody>
      </p:sp>
      <p:sp>
        <p:nvSpPr>
          <p:cNvPr id="17" name="Shape 15"/>
          <p:cNvSpPr/>
          <p:nvPr/>
        </p:nvSpPr>
        <p:spPr>
          <a:xfrm>
            <a:off x="9277350"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18" name="Text 16"/>
          <p:cNvSpPr/>
          <p:nvPr/>
        </p:nvSpPr>
        <p:spPr>
          <a:xfrm>
            <a:off x="9591675"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03 / TEACHABLE</a:t>
            </a:r>
            <a:endParaRPr lang="en-US" sz="1800" dirty="0"/>
          </a:p>
        </p:txBody>
      </p:sp>
      <p:sp>
        <p:nvSpPr>
          <p:cNvPr id="19" name="Text 17"/>
          <p:cNvSpPr/>
          <p:nvPr/>
        </p:nvSpPr>
        <p:spPr>
          <a:xfrm>
            <a:off x="9591675" y="4337596"/>
            <a:ext cx="3365087"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Show, don't channel.</a:t>
            </a:r>
            <a:endParaRPr lang="en-US" sz="3300" dirty="0"/>
          </a:p>
        </p:txBody>
      </p:sp>
      <p:sp>
        <p:nvSpPr>
          <p:cNvPr id="20" name="Text 18"/>
          <p:cNvSpPr/>
          <p:nvPr/>
        </p:nvSpPr>
        <p:spPr>
          <a:xfrm>
            <a:off x="9591675" y="5366296"/>
            <a:ext cx="3365087" cy="1409700"/>
          </a:xfrm>
          <a:prstGeom prst="rect">
            <a:avLst/>
          </a:prstGeom>
          <a:noFill/>
          <a:ln/>
        </p:spPr>
        <p:txBody>
          <a:bodyPr wrap="square" lIns="25400" tIns="25400" rIns="25400" bIns="25400" rtlCol="0" anchor="t">
            <a:normAutofit fontScale="77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A new teammate reads the CLAUDE.md, the requirements doc, and the prompt — and runs the same workflow on Tuesday morning.</a:t>
            </a:r>
            <a:endParaRPr lang="en-US" sz="1800" dirty="0"/>
          </a:p>
        </p:txBody>
      </p:sp>
      <p:sp>
        <p:nvSpPr>
          <p:cNvPr id="21" name="Shape 19"/>
          <p:cNvSpPr/>
          <p:nvPr/>
        </p:nvSpPr>
        <p:spPr>
          <a:xfrm>
            <a:off x="9591675" y="7614196"/>
            <a:ext cx="3267075" cy="9525"/>
          </a:xfrm>
          <a:prstGeom prst="rect">
            <a:avLst/>
          </a:prstGeom>
          <a:solidFill>
            <a:srgbClr val="C9CBD1"/>
          </a:solidFill>
          <a:ln/>
        </p:spPr>
        <p:txBody>
          <a:bodyPr/>
          <a:lstStyle/>
          <a:p>
            <a:endParaRPr lang="en-US"/>
          </a:p>
        </p:txBody>
      </p:sp>
      <p:sp>
        <p:nvSpPr>
          <p:cNvPr id="22" name="Text 20"/>
          <p:cNvSpPr/>
          <p:nvPr/>
        </p:nvSpPr>
        <p:spPr>
          <a:xfrm>
            <a:off x="9591675" y="7852321"/>
            <a:ext cx="3365087" cy="1409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context that lives only in your head doesn't survive a vacation.</a:t>
            </a:r>
            <a:endParaRPr lang="en-US" sz="1800" dirty="0"/>
          </a:p>
        </p:txBody>
      </p:sp>
      <p:sp>
        <p:nvSpPr>
          <p:cNvPr id="23" name="Shape 21"/>
          <p:cNvSpPr/>
          <p:nvPr/>
        </p:nvSpPr>
        <p:spPr>
          <a:xfrm>
            <a:off x="13439775" y="3499396"/>
            <a:ext cx="3895725" cy="6305550"/>
          </a:xfrm>
          <a:prstGeom prst="roundRect">
            <a:avLst>
              <a:gd name="adj" fmla="val 3912"/>
            </a:avLst>
          </a:prstGeom>
          <a:solidFill>
            <a:srgbClr val="F7F5F1"/>
          </a:solidFill>
          <a:ln w="9525">
            <a:solidFill>
              <a:srgbClr val="E5E5E7"/>
            </a:solidFill>
            <a:prstDash val="solid"/>
          </a:ln>
        </p:spPr>
        <p:txBody>
          <a:bodyPr/>
          <a:lstStyle/>
          <a:p>
            <a:endParaRPr lang="en-US"/>
          </a:p>
        </p:txBody>
      </p:sp>
      <p:sp>
        <p:nvSpPr>
          <p:cNvPr id="24" name="Text 22"/>
          <p:cNvSpPr/>
          <p:nvPr/>
        </p:nvSpPr>
        <p:spPr>
          <a:xfrm>
            <a:off x="13754100" y="3851821"/>
            <a:ext cx="3365087" cy="333375"/>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3FE0D0"/>
                </a:solidFill>
                <a:latin typeface="JetBrains Mono" pitchFamily="34" charset="0"/>
                <a:ea typeface="JetBrains Mono" pitchFamily="34" charset="-122"/>
                <a:cs typeface="JetBrains Mono" pitchFamily="34" charset="-120"/>
              </a:rPr>
              <a:t>04 / IMPROVABLE</a:t>
            </a:r>
            <a:endParaRPr lang="en-US" sz="1800" dirty="0"/>
          </a:p>
        </p:txBody>
      </p:sp>
      <p:sp>
        <p:nvSpPr>
          <p:cNvPr id="25" name="Text 23"/>
          <p:cNvSpPr/>
          <p:nvPr/>
        </p:nvSpPr>
        <p:spPr>
          <a:xfrm>
            <a:off x="13754100" y="4337596"/>
            <a:ext cx="3365087" cy="876300"/>
          </a:xfrm>
          <a:prstGeom prst="rect">
            <a:avLst/>
          </a:prstGeom>
          <a:noFill/>
          <a:ln/>
        </p:spPr>
        <p:txBody>
          <a:bodyPr wrap="square" lIns="25400" tIns="25400" rIns="25400" bIns="25400" rtlCol="0" anchor="t">
            <a:normAutofit fontScale="92500"/>
          </a:bodyPr>
          <a:lstStyle/>
          <a:p>
            <a:pPr marL="0" indent="0" algn="l">
              <a:lnSpc>
                <a:spcPct val="100000"/>
              </a:lnSpc>
              <a:buNone/>
            </a:pPr>
            <a:r>
              <a:rPr lang="en-US" sz="3300" b="1" kern="0" spc="-33" dirty="0">
                <a:solidFill>
                  <a:srgbClr val="2A2D38"/>
                </a:solidFill>
                <a:latin typeface="Montserrat" pitchFamily="34" charset="0"/>
                <a:ea typeface="Montserrat" pitchFamily="34" charset="-122"/>
                <a:cs typeface="Montserrat" pitchFamily="34" charset="-120"/>
              </a:rPr>
              <a:t>Diff it like code.</a:t>
            </a:r>
            <a:endParaRPr lang="en-US" sz="3300" dirty="0"/>
          </a:p>
        </p:txBody>
      </p:sp>
      <p:sp>
        <p:nvSpPr>
          <p:cNvPr id="26" name="Text 24"/>
          <p:cNvSpPr/>
          <p:nvPr/>
        </p:nvSpPr>
        <p:spPr>
          <a:xfrm>
            <a:off x="13754100" y="5366296"/>
            <a:ext cx="3365087" cy="1752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00" dirty="0">
                <a:solidFill>
                  <a:srgbClr val="3D404A"/>
                </a:solidFill>
                <a:latin typeface="Inter" pitchFamily="34" charset="0"/>
                <a:ea typeface="Inter" pitchFamily="34" charset="-122"/>
                <a:cs typeface="Inter" pitchFamily="34" charset="-120"/>
              </a:rPr>
              <a:t>When the output misses, you fix the context — and the next run is permanently better. Errors compound into improvements.</a:t>
            </a:r>
            <a:endParaRPr lang="en-US" sz="1800" dirty="0"/>
          </a:p>
        </p:txBody>
      </p:sp>
      <p:sp>
        <p:nvSpPr>
          <p:cNvPr id="27" name="Shape 25"/>
          <p:cNvSpPr/>
          <p:nvPr/>
        </p:nvSpPr>
        <p:spPr>
          <a:xfrm>
            <a:off x="13754100" y="7271296"/>
            <a:ext cx="3267075" cy="9525"/>
          </a:xfrm>
          <a:prstGeom prst="rect">
            <a:avLst/>
          </a:prstGeom>
          <a:solidFill>
            <a:srgbClr val="C9CBD1"/>
          </a:solidFill>
          <a:ln/>
        </p:spPr>
        <p:txBody>
          <a:bodyPr/>
          <a:lstStyle/>
          <a:p>
            <a:endParaRPr lang="en-US"/>
          </a:p>
        </p:txBody>
      </p:sp>
      <p:sp>
        <p:nvSpPr>
          <p:cNvPr id="28" name="Text 26"/>
          <p:cNvSpPr/>
          <p:nvPr/>
        </p:nvSpPr>
        <p:spPr>
          <a:xfrm>
            <a:off x="13754100" y="7509421"/>
            <a:ext cx="3365087" cy="1752600"/>
          </a:xfrm>
          <a:prstGeom prst="rect">
            <a:avLst/>
          </a:prstGeom>
          <a:noFill/>
          <a:ln/>
        </p:spPr>
        <p:txBody>
          <a:bodyPr wrap="square" lIns="25400" tIns="25400" rIns="25400" bIns="25400" rtlCol="0" anchor="t">
            <a:normAutofit/>
          </a:bodyPr>
          <a:lstStyle/>
          <a:p>
            <a:pPr marL="0" indent="0" algn="l">
              <a:lnSpc>
                <a:spcPct val="150000"/>
              </a:lnSpc>
              <a:buNone/>
            </a:pPr>
            <a:r>
              <a:rPr lang="en-US" sz="1800" b="1" dirty="0">
                <a:solidFill>
                  <a:srgbClr val="6B6E78"/>
                </a:solidFill>
                <a:latin typeface="JetBrains Mono" pitchFamily="34" charset="0"/>
                <a:ea typeface="JetBrains Mono" pitchFamily="34" charset="-122"/>
                <a:cs typeface="JetBrains Mono" pitchFamily="34" charset="-120"/>
              </a:rPr>
              <a:t>Why it matters: this is what makes the skill compound, not the model.</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4343251" y="3170932"/>
            <a:ext cx="9889543" cy="390525"/>
          </a:xfrm>
          <a:prstGeom prst="rect">
            <a:avLst/>
          </a:prstGeom>
          <a:noFill/>
          <a:ln/>
        </p:spPr>
        <p:txBody>
          <a:bodyPr wrap="square" lIns="25400" tIns="25400" rIns="25400" bIns="25400" rtlCol="0" anchor="t">
            <a:normAutofit/>
          </a:bodyPr>
          <a:lstStyle/>
          <a:p>
            <a:pPr marL="0" indent="0" algn="l">
              <a:buNone/>
            </a:pPr>
            <a:r>
              <a:rPr lang="en-US" sz="2100" kern="0" spc="840" dirty="0">
                <a:solidFill>
                  <a:srgbClr val="3FE0D0"/>
                </a:solidFill>
                <a:latin typeface="JetBrains Mono" pitchFamily="34" charset="0"/>
                <a:ea typeface="JetBrains Mono" pitchFamily="34" charset="-122"/>
                <a:cs typeface="JetBrains Mono" pitchFamily="34" charset="-120"/>
              </a:rPr>
              <a:t>UP NEXT · PART 03 / 06</a:t>
            </a:r>
            <a:endParaRPr lang="en-US" sz="2100" dirty="0"/>
          </a:p>
        </p:txBody>
      </p:sp>
      <p:sp>
        <p:nvSpPr>
          <p:cNvPr id="4" name="Text 2"/>
          <p:cNvSpPr/>
          <p:nvPr/>
        </p:nvSpPr>
        <p:spPr>
          <a:xfrm>
            <a:off x="4343251" y="3904357"/>
            <a:ext cx="9889543" cy="2426791"/>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SDLC</a:t>
            </a:r>
          </a:p>
          <a:p>
            <a:pPr marL="0" indent="0" algn="l">
              <a:lnSpc>
                <a:spcPct val="95000"/>
              </a:lnSpc>
              <a:buNone/>
            </a:pPr>
            <a:r>
              <a:rPr lang="en-US" sz="9900" b="1" kern="0" spc="-247" dirty="0">
                <a:solidFill>
                  <a:srgbClr val="FFFFFF"/>
                </a:solidFill>
                <a:latin typeface="Montserrat" pitchFamily="34" charset="0"/>
                <a:ea typeface="Montserrat" pitchFamily="34" charset="-122"/>
                <a:cs typeface="Montserrat" pitchFamily="34" charset="-120"/>
              </a:rPr>
              <a:t>Crash Course.</a:t>
            </a:r>
            <a:endParaRPr lang="en-US" sz="9900" dirty="0"/>
          </a:p>
        </p:txBody>
      </p:sp>
      <p:sp>
        <p:nvSpPr>
          <p:cNvPr id="5" name="Text 3"/>
          <p:cNvSpPr/>
          <p:nvPr/>
        </p:nvSpPr>
        <p:spPr>
          <a:xfrm>
            <a:off x="4343251" y="6674048"/>
            <a:ext cx="9889543" cy="47997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400" dirty="0">
                <a:solidFill>
                  <a:srgbClr val="C9CBD1"/>
                </a:solidFill>
                <a:latin typeface="Inter" pitchFamily="34" charset="0"/>
                <a:ea typeface="Inter" pitchFamily="34" charset="-122"/>
                <a:cs typeface="Inter" pitchFamily="34" charset="-120"/>
              </a:rPr>
              <a:t>We named the difference. Now we put it in a process you can ship from.</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2664</Words>
  <Application>Microsoft Office PowerPoint</Application>
  <PresentationFormat>Custom</PresentationFormat>
  <Paragraphs>279</Paragraphs>
  <Slides>27</Slides>
  <Notes>16</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27</vt:i4>
      </vt:variant>
    </vt:vector>
  </HeadingPairs>
  <TitlesOfParts>
    <vt:vector size="34" baseType="lpstr">
      <vt:lpstr>Montserrat</vt:lpstr>
      <vt:lpstr>Arial</vt:lpstr>
      <vt:lpstr>Inter</vt:lpstr>
      <vt:lpstr>JetBrains Mono</vt:lpstr>
      <vt:lpstr>Calibri</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Chris Kehayias</cp:lastModifiedBy>
  <cp:revision>1</cp:revision>
  <dcterms:created xsi:type="dcterms:W3CDTF">2026-05-03T13:32:23Z</dcterms:created>
  <dcterms:modified xsi:type="dcterms:W3CDTF">2026-05-05T08:35:34Z</dcterms:modified>
</cp:coreProperties>
</file>
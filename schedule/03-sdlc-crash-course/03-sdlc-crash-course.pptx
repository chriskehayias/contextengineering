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0" r:id="rId2"/>
  </p:sldMasterIdLst>
  <p:notesMasterIdLst>
    <p:notesMasterId r:id="rId23"/>
  </p:notesMasterIdLst>
  <p:sldIdLst>
    <p:sldId id="256" r:id="rId3"/>
    <p:sldId id="258" r:id="rId4"/>
    <p:sldId id="259" r:id="rId5"/>
    <p:sldId id="260" r:id="rId6"/>
    <p:sldId id="261" r:id="rId7"/>
    <p:sldId id="272" r:id="rId8"/>
    <p:sldId id="262" r:id="rId9"/>
    <p:sldId id="273" r:id="rId10"/>
    <p:sldId id="263" r:id="rId11"/>
    <p:sldId id="267" r:id="rId12"/>
    <p:sldId id="264" r:id="rId13"/>
    <p:sldId id="277" r:id="rId14"/>
    <p:sldId id="278" r:id="rId15"/>
    <p:sldId id="275" r:id="rId16"/>
    <p:sldId id="276" r:id="rId17"/>
    <p:sldId id="266" r:id="rId18"/>
    <p:sldId id="274" r:id="rId19"/>
    <p:sldId id="268" r:id="rId20"/>
    <p:sldId id="270" r:id="rId21"/>
    <p:sldId id="271" r:id="rId22"/>
  </p:sldIdLst>
  <p:sldSz cx="18288000" cy="10287000"/>
  <p:notesSz cx="10287000" cy="18288000"/>
  <p:embeddedFontLst>
    <p:embeddedFont>
      <p:font typeface="Inter" panose="02000503000000020004" pitchFamily="2" charset="0"/>
      <p:regular r:id="rId24"/>
      <p:bold r:id="rId25"/>
      <p:italic r:id="rId26"/>
      <p:boldItalic r:id="rId27"/>
    </p:embeddedFont>
    <p:embeddedFont>
      <p:font typeface="JetBrains Mono" panose="02000009000000000000" pitchFamily="49" charset="0"/>
      <p:regular r:id="rId28"/>
      <p:bold r:id="rId29"/>
      <p:italic r:id="rId30"/>
      <p:boldItalic r:id="rId31"/>
    </p:embeddedFont>
    <p:embeddedFont>
      <p:font typeface="Montserrat" pitchFamily="2" charset="77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0" roundtripDataSignature="AMtx7mgvBL9m8TJysEvjfbWLYgqaddpdW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3539"/>
  </p:normalViewPr>
  <p:slideViewPr>
    <p:cSldViewPr snapToGrid="0">
      <p:cViewPr varScale="1">
        <p:scale>
          <a:sx n="86" d="100"/>
          <a:sy n="86" d="100"/>
        </p:scale>
        <p:origin x="50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3.fntdata"/><Relationship Id="rId21" Type="http://schemas.openxmlformats.org/officeDocument/2006/relationships/slide" Target="slides/slide19.xml"/><Relationship Id="rId34" Type="http://schemas.openxmlformats.org/officeDocument/2006/relationships/font" Target="fonts/font11.fntdata"/><Relationship Id="rId63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6.fntdata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61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8.fntdata"/><Relationship Id="rId60" Type="http://customschemas.google.com/relationships/presentationmetadata" Target="meta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64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714825" y="1371600"/>
            <a:ext cx="6858325" cy="6858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" name="Google Shape;11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Welcome to Session 03 — SDLC Crash Course. We have 60 minutes. Two halves: first 30 minutes are concept fly-through (the loop, the AI overlay). Second 30 minutes are slow, live mechanics — terminal, git, VS Code, GitHub. By the end you'll have made a real commit and pushed it to GitHub. If you're nervous about the mechanics, that's the right feeling. We'll go slow there.</a:t>
            </a:r>
          </a:p>
        </p:txBody>
      </p:sp>
      <p:sp>
        <p:nvSpPr>
          <p:cNvPr id="12" name="Google Shape;12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-952500" y="1371600"/>
            <a:ext cx="12192000" cy="6858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the loop. Name each phase in one sentence. Resist the urge to elaborate. The point is the SHAPE, not the definitions — those come on the next slide. If anyone asks 'what about discovery / requirements / etc.', say it folds into Plan.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-952500" y="1371600"/>
            <a:ext cx="12192000" cy="6858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down the list at 5–7 seconds per phase. Don't define them academically — use the verbs from the slide. The goal is for everyone to have a one-line mental label for each phase by the time we leave this slide.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-952500" y="1371600"/>
            <a:ext cx="12192000" cy="6858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moment that lands the whole first half. Most people imagine SDLC as a waterfall going left-to-right. It isn't. Maintain is where you LEARN what to plan next. If you skip the loop-back, you're not doing SDLC — you're doing one-off projects.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-952500" y="1371600"/>
            <a:ext cx="12192000" cy="6858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Don't walk every phase deep. Show the shape of the change. Most AI failures aren't 'the model was wrong' — they're 'the model didn't have what it needed.' That's why this conference is called Context Engineering. Sessions 04, 05, 07 are how you do this.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3A1A6-C7F2-2C8D-6E1C-D1FD1A256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12C016-B60A-95ED-E135-FDC1F31969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952500" y="1371600"/>
            <a:ext cx="12192000" cy="6858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3786BF-7352-847B-2D57-18C617F5DE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moment that lands the whole first half. Most people imagine SDLC as a waterfall going left-to-right. It isn't. Maintain is where you LEARN what to plan next. If you skip the loop-back, you're not doing SDLC — you're doing one-off projects.</a:t>
            </a:r>
          </a:p>
        </p:txBody>
      </p:sp>
    </p:spTree>
    <p:extLst>
      <p:ext uri="{BB962C8B-B14F-4D97-AF65-F5344CB8AC3E}">
        <p14:creationId xmlns:p14="http://schemas.microsoft.com/office/powerpoint/2010/main" val="20348882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-952500" y="1371600"/>
            <a:ext cx="12192000" cy="6858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These five show up everywhere in the workshop. Read them aloud once. They're memorable as a set; the depth is in AI-SDLC.md and in Sessions 04-07. If someone takes a photo of one slide today, this is the slide.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-952500" y="1371600"/>
            <a:ext cx="12192000" cy="6858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Pacing change. The first half was a fly-through; from here on we go slow and live. Get the room to breathe. Tell people to close their laptops for the next two minutes and just watch — they'll do it themselves at slide 14.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-952500" y="1371600"/>
            <a:ext cx="12192000" cy="6858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Don't read the screenshot — point at it. Open VS Code live and show the four panels. The Claude Code extension is the centerpiece — Sessions 04+ assume you have it installed and signed in. GitLens shows you who wrote each line; Peacock colors VS Code windows so you don't lose track when you have three repos open later today.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-952500" y="1371600"/>
            <a:ext cx="12192000" cy="6858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Anchor with Commandment V: thou shalt not fear thy terminal. The GUI is a comfort; the terminal is a covenant — that's where Claude Code lives. Live demo: open a terminal, run </a:t>
            </a:r>
            <a:r>
              <a:rPr dirty="0" err="1"/>
              <a:t>pwd</a:t>
            </a:r>
            <a:r>
              <a:rPr dirty="0"/>
              <a:t> / cd / ls. 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6E4E5-D2BD-BE1D-8E16-FF19E0947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D43D41-12BB-94C6-EC3E-2CED65C5B7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952500" y="1371600"/>
            <a:ext cx="12192000" cy="6858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50CC03-BA9C-B118-DC71-962AAF758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Anchor with Commandment V: thou shalt not fear thy terminal. The GUI is a comfort; the terminal is a covenant — that's where Claude Code lives. Live demo: open a terminal, run </a:t>
            </a:r>
            <a:r>
              <a:rPr dirty="0" err="1"/>
              <a:t>pwd</a:t>
            </a:r>
            <a:r>
              <a:rPr dirty="0"/>
              <a:t> / cd / ls. </a:t>
            </a:r>
          </a:p>
        </p:txBody>
      </p:sp>
    </p:spTree>
    <p:extLst>
      <p:ext uri="{BB962C8B-B14F-4D97-AF65-F5344CB8AC3E}">
        <p14:creationId xmlns:p14="http://schemas.microsoft.com/office/powerpoint/2010/main" val="4305798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3A445-5B2C-4C71-04AC-294B8688B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2CD1C6-340B-944D-F505-B8184EB9C6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952500" y="1371600"/>
            <a:ext cx="12192000" cy="6858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A70938-A086-D92B-7ED3-91DCB9CFCE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618359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-952500" y="1371600"/>
            <a:ext cx="12192000" cy="6858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-952500" y="1371600"/>
            <a:ext cx="12192000" cy="6858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Keep this slide tight — most people already have a GitHub account. The new thing here is the gh CLI, which is how Claude Code interacts with GitHub. If `gh auth status` isn't passing for someone, get a TA to them now — they'll be stuck on slide 14 otherwise.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-952500" y="1371600"/>
            <a:ext cx="12192000" cy="6858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Take 60 seconds to celebrate. Some people in this room have never pushed a commit before today. Name that. The mechanics are real, and they own them now. From here on, every session assumes you can do these five steps without thinking.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-952500" y="1371600"/>
            <a:ext cx="12192000" cy="6858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61C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4161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1"/>
          <p:cNvSpPr/>
          <p:nvPr/>
        </p:nvSpPr>
        <p:spPr>
          <a:xfrm>
            <a:off x="952500" y="762000"/>
            <a:ext cx="1258044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lnSpcReduction="10000"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Montserrat"/>
              <a:buNone/>
            </a:pPr>
            <a:r>
              <a:rPr lang="en-US" sz="1950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CITN</a:t>
            </a:r>
            <a:r>
              <a:rPr lang="en-US" sz="1950" b="1">
                <a:solidFill>
                  <a:srgbClr val="3FE0D0"/>
                </a:solidFill>
                <a:latin typeface="Montserrat"/>
                <a:ea typeface="Montserrat"/>
                <a:cs typeface="Montserrat"/>
                <a:sym typeface="Montserrat"/>
              </a:rPr>
              <a:t>·</a:t>
            </a:r>
            <a:r>
              <a:rPr lang="en-US" sz="1950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AI</a:t>
            </a:r>
            <a:endParaRPr sz="1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" name="Google Shape;16;p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53500" y="-95250"/>
            <a:ext cx="10477500" cy="1047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1"/>
          <p:cNvSpPr/>
          <p:nvPr/>
        </p:nvSpPr>
        <p:spPr>
          <a:xfrm>
            <a:off x="952500" y="3388072"/>
            <a:ext cx="774941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 anchorCtr="0">
            <a:normAutofit lnSpcReduction="10000"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FE0D0"/>
              </a:buClr>
              <a:buSzPts val="1950"/>
              <a:buFont typeface="Montserrat"/>
              <a:buNone/>
            </a:pPr>
            <a:r>
              <a:rPr lang="en-US" sz="1950" b="1">
                <a:solidFill>
                  <a:srgbClr val="3FE0D0"/>
                </a:solidFill>
                <a:latin typeface="Montserrat"/>
                <a:ea typeface="Montserrat"/>
                <a:cs typeface="Montserrat"/>
                <a:sym typeface="Montserrat"/>
              </a:rPr>
              <a:t>SESSION 03  ·  60 MIN  ·  DAY 1</a:t>
            </a:r>
            <a:endParaRPr sz="1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952500" y="4035772"/>
            <a:ext cx="7749419" cy="22821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t" anchorCtr="0">
            <a:normAutofit fontScale="92500" lnSpcReduction="10000"/>
          </a:bodyPr>
          <a:lstStyle/>
          <a:p>
            <a:pPr marL="0" marR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300"/>
              <a:buFont typeface="Montserrat"/>
              <a:buNone/>
            </a:pPr>
            <a:r>
              <a:rPr lang="en-US" sz="9300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SDLC </a:t>
            </a:r>
            <a:r>
              <a:rPr lang="en-US" sz="9300" b="1">
                <a:solidFill>
                  <a:srgbClr val="3FE0D0"/>
                </a:solidFill>
                <a:latin typeface="Montserrat"/>
                <a:ea typeface="Montserrat"/>
                <a:cs typeface="Montserrat"/>
                <a:sym typeface="Montserrat"/>
              </a:rPr>
              <a:t>Crash </a:t>
            </a:r>
            <a:r>
              <a:rPr lang="en-US" sz="9300" b="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Course</a:t>
            </a:r>
            <a:endParaRPr sz="9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6E78"/>
                </a:solidFill>
                <a:latin typeface="JetBrains Mono"/>
              </a:rPr>
              <a:t>SDLC CRASH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0" y="47548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6B6E78"/>
                </a:solidFill>
                <a:latin typeface="JetBrains Mono"/>
              </a:rPr>
              <a:t>03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17320"/>
            <a:ext cx="1463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58220"/>
                </a:solidFill>
                <a:latin typeface="JetBrains Mono"/>
              </a:rPr>
              <a:t>THE SDLC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901952"/>
            <a:ext cx="1828800" cy="54864"/>
          </a:xfrm>
          <a:prstGeom prst="rect">
            <a:avLst/>
          </a:prstGeom>
          <a:solidFill>
            <a:srgbClr val="3FE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103120"/>
            <a:ext cx="16002000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dirty="0">
                <a:solidFill>
                  <a:srgbClr val="14161C"/>
                </a:solidFill>
                <a:latin typeface="Montserrat"/>
              </a:rPr>
              <a:t>The shape of </a:t>
            </a:r>
            <a:endParaRPr lang="en-US" sz="5400" b="1" dirty="0">
              <a:solidFill>
                <a:srgbClr val="14161C"/>
              </a:solidFill>
              <a:latin typeface="Montserrat"/>
            </a:endParaRPr>
          </a:p>
          <a:p>
            <a:pPr algn="l"/>
            <a:r>
              <a:rPr sz="5400" b="1" dirty="0">
                <a:solidFill>
                  <a:srgbClr val="14161C"/>
                </a:solidFill>
                <a:latin typeface="Montserrat"/>
              </a:rPr>
              <a:t>software work.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CAE923A-F3EB-3524-F2C0-10084DEFD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0" y="1645920"/>
            <a:ext cx="7772400" cy="7772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6E78"/>
                </a:solidFill>
                <a:latin typeface="JetBrains Mono"/>
              </a:rPr>
              <a:t>SDLC CRASH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0" y="47548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6B6E78"/>
                </a:solidFill>
                <a:latin typeface="JetBrains Mono"/>
              </a:rPr>
              <a:t>04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17320"/>
            <a:ext cx="1463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58220"/>
                </a:solidFill>
                <a:latin typeface="JetBrains Mono"/>
              </a:rPr>
              <a:t>THE SIX PHASES, ONE LINE EACH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901952"/>
            <a:ext cx="1828800" cy="54864"/>
          </a:xfrm>
          <a:prstGeom prst="rect">
            <a:avLst/>
          </a:prstGeom>
          <a:solidFill>
            <a:srgbClr val="3FE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103120"/>
            <a:ext cx="160020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>
                <a:solidFill>
                  <a:srgbClr val="14161C"/>
                </a:solidFill>
                <a:latin typeface="Montserrat"/>
              </a:rPr>
              <a:t>Plan · Design · Build · Test · Ship · Maintain.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474720"/>
            <a:ext cx="16002000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3FE0D0"/>
                </a:solidFill>
                <a:latin typeface="Inter"/>
              </a:rPr>
              <a:t>▸  </a:t>
            </a:r>
            <a:r>
              <a:rPr sz="2400">
                <a:solidFill>
                  <a:srgbClr val="14161C"/>
                </a:solidFill>
                <a:latin typeface="Inter"/>
              </a:rPr>
              <a:t>PLAN — decide what's worth building, and why.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3FE0D0"/>
                </a:solidFill>
                <a:latin typeface="Inter"/>
              </a:rPr>
              <a:t>▸  </a:t>
            </a:r>
            <a:r>
              <a:rPr sz="2400">
                <a:solidFill>
                  <a:srgbClr val="14161C"/>
                </a:solidFill>
                <a:latin typeface="Inter"/>
              </a:rPr>
              <a:t>DESIGN — sketch how it will work before writing it.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3FE0D0"/>
                </a:solidFill>
                <a:latin typeface="Inter"/>
              </a:rPr>
              <a:t>▸  </a:t>
            </a:r>
            <a:r>
              <a:rPr sz="2400">
                <a:solidFill>
                  <a:srgbClr val="14161C"/>
                </a:solidFill>
                <a:latin typeface="Inter"/>
              </a:rPr>
              <a:t>BUILD — write the code that makes it real.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3FE0D0"/>
                </a:solidFill>
                <a:latin typeface="Inter"/>
              </a:rPr>
              <a:t>▸  </a:t>
            </a:r>
            <a:r>
              <a:rPr sz="2400">
                <a:solidFill>
                  <a:srgbClr val="14161C"/>
                </a:solidFill>
                <a:latin typeface="Inter"/>
              </a:rPr>
              <a:t>TEST — prove it does what you said it would.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3FE0D0"/>
                </a:solidFill>
                <a:latin typeface="Inter"/>
              </a:rPr>
              <a:t>▸  </a:t>
            </a:r>
            <a:r>
              <a:rPr sz="2400">
                <a:solidFill>
                  <a:srgbClr val="14161C"/>
                </a:solidFill>
                <a:latin typeface="Inter"/>
              </a:rPr>
              <a:t>SHIP — get it in front of the people who use it.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3FE0D0"/>
                </a:solidFill>
                <a:latin typeface="Inter"/>
              </a:rPr>
              <a:t>▸  </a:t>
            </a:r>
            <a:r>
              <a:rPr sz="2400">
                <a:solidFill>
                  <a:srgbClr val="14161C"/>
                </a:solidFill>
                <a:latin typeface="Inter"/>
              </a:rPr>
              <a:t>MAINTAIN — keep it alive, keep it learning.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6E78"/>
                </a:solidFill>
                <a:latin typeface="JetBrains Mono"/>
              </a:rPr>
              <a:t>SDLC CRASH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0" y="47548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6B6E78"/>
                </a:solidFill>
                <a:latin typeface="JetBrains Mono"/>
              </a:rPr>
              <a:t>05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17320"/>
            <a:ext cx="1463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58220"/>
                </a:solidFill>
                <a:latin typeface="JetBrains Mono"/>
              </a:rPr>
              <a:t>THE PUNCHLINE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901952"/>
            <a:ext cx="1828800" cy="54864"/>
          </a:xfrm>
          <a:prstGeom prst="rect">
            <a:avLst/>
          </a:prstGeom>
          <a:solidFill>
            <a:srgbClr val="3FE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103120"/>
            <a:ext cx="160020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>
                <a:solidFill>
                  <a:srgbClr val="14161C"/>
                </a:solidFill>
                <a:latin typeface="Montserrat"/>
              </a:rPr>
              <a:t>It's a loop, not a 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246120"/>
            <a:ext cx="1600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6B6E78"/>
                </a:solidFill>
                <a:latin typeface="Inter"/>
              </a:rPr>
              <a:t>Maintain feeds back into Plan — that's the whole job.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167D1D7-CD3C-A6E3-D0D8-763C6ABE96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0" y="1645920"/>
            <a:ext cx="7772400" cy="7772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6E78"/>
                </a:solidFill>
                <a:latin typeface="JetBrains Mono"/>
              </a:rPr>
              <a:t>SDLC CRASH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0" y="47548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6B6E78"/>
                </a:solidFill>
                <a:latin typeface="JetBrains Mono"/>
              </a:rPr>
              <a:t>06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17320"/>
            <a:ext cx="1463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58220"/>
                </a:solidFill>
                <a:latin typeface="JetBrains Mono"/>
              </a:rPr>
              <a:t>WITH AI IN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901952"/>
            <a:ext cx="1828800" cy="54864"/>
          </a:xfrm>
          <a:prstGeom prst="rect">
            <a:avLst/>
          </a:prstGeom>
          <a:solidFill>
            <a:srgbClr val="3FE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103120"/>
            <a:ext cx="160020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>
                <a:solidFill>
                  <a:srgbClr val="14161C"/>
                </a:solidFill>
                <a:latin typeface="Montserrat"/>
              </a:rPr>
              <a:t>The phases don't change. The density does.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246120"/>
            <a:ext cx="1600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6B6E78"/>
                </a:solidFill>
                <a:latin typeface="Inter"/>
              </a:rPr>
              <a:t>Same six phases — what shifts is how much fits inside one cycle.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023360"/>
            <a:ext cx="16002000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3FE0D0"/>
                </a:solidFill>
                <a:latin typeface="Inter"/>
              </a:rPr>
              <a:t>▸  </a:t>
            </a:r>
            <a:r>
              <a:rPr sz="2400">
                <a:solidFill>
                  <a:srgbClr val="14161C"/>
                </a:solidFill>
                <a:latin typeface="Inter"/>
              </a:rPr>
              <a:t>PLAN — context, not just features. You design what Claude needs to know.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3FE0D0"/>
                </a:solidFill>
                <a:latin typeface="Inter"/>
              </a:rPr>
              <a:t>▸  </a:t>
            </a:r>
            <a:r>
              <a:rPr sz="2400">
                <a:solidFill>
                  <a:srgbClr val="14161C"/>
                </a:solidFill>
                <a:latin typeface="Inter"/>
              </a:rPr>
              <a:t>DESIGN — diagrams and PRDs become inputs the AI consumes, not artifacts on a shelf.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3FE0D0"/>
                </a:solidFill>
                <a:latin typeface="Inter"/>
              </a:rPr>
              <a:t>▸  </a:t>
            </a:r>
            <a:r>
              <a:rPr sz="2400">
                <a:solidFill>
                  <a:srgbClr val="14161C"/>
                </a:solidFill>
                <a:latin typeface="Inter"/>
              </a:rPr>
              <a:t>BUILD — atomic prompts beget atomic commits. Cycle time drops 5–10×.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3FE0D0"/>
                </a:solidFill>
                <a:latin typeface="Inter"/>
              </a:rPr>
              <a:t>▸  </a:t>
            </a:r>
            <a:r>
              <a:rPr sz="2400">
                <a:solidFill>
                  <a:srgbClr val="14161C"/>
                </a:solidFill>
                <a:latin typeface="Inter"/>
              </a:rPr>
              <a:t>TEST — verify, don't trust. The model is fast; that's why the gate matters more.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3FE0D0"/>
                </a:solidFill>
                <a:latin typeface="Inter"/>
              </a:rPr>
              <a:t>▸  </a:t>
            </a:r>
            <a:r>
              <a:rPr sz="2400">
                <a:solidFill>
                  <a:srgbClr val="14161C"/>
                </a:solidFill>
                <a:latin typeface="Inter"/>
              </a:rPr>
              <a:t>SHIP / MAINTAIN — the loop tightens; the carry-over of context is the asset.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6450B-7C97-83FC-CB17-D68F35716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1A58FD-231D-2C31-F2F3-C50D226C0E5A}"/>
              </a:ext>
            </a:extLst>
          </p:cNvPr>
          <p:cNvSpPr/>
          <p:nvPr/>
        </p:nvSpPr>
        <p:spPr>
          <a:xfrm>
            <a:off x="-2218544" y="475488"/>
            <a:ext cx="18288000" cy="10287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425496-AB00-3448-7FA8-38A23E482D38}"/>
              </a:ext>
            </a:extLst>
          </p:cNvPr>
          <p:cNvSpPr txBox="1"/>
          <p:nvPr/>
        </p:nvSpPr>
        <p:spPr>
          <a:xfrm>
            <a:off x="1143000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6E78"/>
                </a:solidFill>
                <a:latin typeface="JetBrains Mono"/>
              </a:rPr>
              <a:t>SDLC CRASH COURSE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E733A3-E327-F7A3-6526-51579C67BE29}"/>
              </a:ext>
            </a:extLst>
          </p:cNvPr>
          <p:cNvSpPr txBox="1"/>
          <p:nvPr/>
        </p:nvSpPr>
        <p:spPr>
          <a:xfrm>
            <a:off x="15544800" y="47548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6B6E78"/>
                </a:solidFill>
                <a:latin typeface="JetBrains Mono"/>
              </a:rPr>
              <a:t>05 / 16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4F83B7-C41B-B146-54E3-1546000AB8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0"/>
            <a:ext cx="10287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56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6E78"/>
                </a:solidFill>
                <a:latin typeface="JetBrains Mono"/>
              </a:rPr>
              <a:t>SDLC CRASH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0" y="47548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6B6E78"/>
                </a:solidFill>
                <a:latin typeface="JetBrains Mono"/>
              </a:rPr>
              <a:t>07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17320"/>
            <a:ext cx="1463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58220"/>
                </a:solidFill>
                <a:latin typeface="JetBrains Mono"/>
              </a:rPr>
              <a:t>THE 5 CROSS-CUTTING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901952"/>
            <a:ext cx="1828800" cy="54864"/>
          </a:xfrm>
          <a:prstGeom prst="rect">
            <a:avLst/>
          </a:prstGeom>
          <a:solidFill>
            <a:srgbClr val="3FE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103120"/>
            <a:ext cx="160020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>
                <a:solidFill>
                  <a:srgbClr val="14161C"/>
                </a:solidFill>
                <a:latin typeface="Montserrat"/>
              </a:rPr>
              <a:t>Five habits that hold the AI-SDLC 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474720"/>
            <a:ext cx="16002000" cy="23596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 dirty="0">
                <a:solidFill>
                  <a:srgbClr val="3FE0D0"/>
                </a:solidFill>
                <a:latin typeface="Inter"/>
              </a:rPr>
              <a:t>▸  </a:t>
            </a:r>
            <a:r>
              <a:rPr sz="2400" dirty="0">
                <a:solidFill>
                  <a:srgbClr val="14161C"/>
                </a:solidFill>
                <a:latin typeface="Inter"/>
              </a:rPr>
              <a:t>CONTEXT ENGINEERING — give the model what it needs before you ask.</a:t>
            </a:r>
          </a:p>
          <a:p>
            <a:pPr algn="l">
              <a:spcAft>
                <a:spcPts val="1000"/>
              </a:spcAft>
            </a:pPr>
            <a:r>
              <a:rPr sz="2400" b="1" dirty="0">
                <a:solidFill>
                  <a:srgbClr val="3FE0D0"/>
                </a:solidFill>
                <a:latin typeface="Inter"/>
              </a:rPr>
              <a:t>▸  </a:t>
            </a:r>
            <a:r>
              <a:rPr sz="2400" dirty="0">
                <a:solidFill>
                  <a:srgbClr val="14161C"/>
                </a:solidFill>
                <a:latin typeface="Inter"/>
              </a:rPr>
              <a:t>PLAN BEFORE GENERATE — outline the work; let the model fill it in.</a:t>
            </a:r>
          </a:p>
          <a:p>
            <a:pPr algn="l">
              <a:spcAft>
                <a:spcPts val="1000"/>
              </a:spcAft>
            </a:pPr>
            <a:r>
              <a:rPr sz="2400" b="1" dirty="0">
                <a:solidFill>
                  <a:srgbClr val="3FE0D0"/>
                </a:solidFill>
                <a:latin typeface="Inter"/>
              </a:rPr>
              <a:t>▸  </a:t>
            </a:r>
            <a:r>
              <a:rPr sz="2400" dirty="0">
                <a:solidFill>
                  <a:srgbClr val="14161C"/>
                </a:solidFill>
                <a:latin typeface="Inter"/>
              </a:rPr>
              <a:t>VERIFY, DON'T TRUST — every output is a draft until you read it.</a:t>
            </a:r>
          </a:p>
          <a:p>
            <a:pPr algn="l">
              <a:spcAft>
                <a:spcPts val="1000"/>
              </a:spcAft>
            </a:pPr>
            <a:r>
              <a:rPr sz="2400" b="1" dirty="0">
                <a:solidFill>
                  <a:srgbClr val="3FE0D0"/>
                </a:solidFill>
                <a:latin typeface="Inter"/>
              </a:rPr>
              <a:t>▸  </a:t>
            </a:r>
            <a:r>
              <a:rPr sz="2400" dirty="0">
                <a:solidFill>
                  <a:srgbClr val="14161C"/>
                </a:solidFill>
                <a:latin typeface="Inter"/>
              </a:rPr>
              <a:t>ATOMIC PROMPTS → ATOMIC COMMITS — one idea per prompt, one idea per commit.</a:t>
            </a:r>
          </a:p>
          <a:p>
            <a:pPr algn="l">
              <a:spcAft>
                <a:spcPts val="1000"/>
              </a:spcAft>
            </a:pPr>
            <a:r>
              <a:rPr sz="2400" b="1" dirty="0">
                <a:solidFill>
                  <a:srgbClr val="3FE0D0"/>
                </a:solidFill>
                <a:latin typeface="Inter"/>
              </a:rPr>
              <a:t>▸  </a:t>
            </a:r>
            <a:r>
              <a:rPr sz="2400" dirty="0">
                <a:solidFill>
                  <a:srgbClr val="14161C"/>
                </a:solidFill>
                <a:latin typeface="Inter"/>
              </a:rPr>
              <a:t>RIGHT TOOL FOR RIGHT SCOPE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AE837B-71F6-AD90-E1B4-949A153C89AC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50640D-4804-BBB4-8C22-328819626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8922" y="-26437"/>
            <a:ext cx="15470155" cy="10313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6964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41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544800" y="502920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C9CBD1"/>
                </a:solidFill>
                <a:latin typeface="JetBrains Mono"/>
              </a:rPr>
              <a:t>08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43400" y="32004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3FE0D0"/>
                </a:solidFill>
                <a:latin typeface="JetBrains Mono"/>
              </a:rPr>
              <a:t>PART TWO  ·  THE MECHANICS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3840480"/>
            <a:ext cx="1005840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200" b="1">
                <a:solidFill>
                  <a:srgbClr val="FFFFFF"/>
                </a:solidFill>
                <a:latin typeface="Montserrat"/>
              </a:rPr>
              <a:t>Now: just enough</a:t>
            </a:r>
          </a:p>
          <a:p>
            <a:pPr algn="l"/>
            <a:r>
              <a:rPr sz="8200" b="1">
                <a:solidFill>
                  <a:srgbClr val="FFFFFF"/>
                </a:solidFill>
                <a:latin typeface="Montserrat"/>
              </a:rPr>
              <a:t>git, terminal, and</a:t>
            </a:r>
          </a:p>
          <a:p>
            <a:pPr algn="l"/>
            <a:r>
              <a:rPr sz="8200" b="1">
                <a:solidFill>
                  <a:srgbClr val="FFFFFF"/>
                </a:solidFill>
                <a:latin typeface="Montserrat"/>
              </a:rPr>
              <a:t>VS Code.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6E78"/>
                </a:solidFill>
                <a:latin typeface="JetBrains Mono"/>
              </a:rPr>
              <a:t>SDLC CRASH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0" y="47548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6B6E78"/>
                </a:solidFill>
                <a:latin typeface="JetBrains Mono"/>
              </a:rPr>
              <a:t>12 / 16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12D752D-E8E7-AA39-F5BD-9B76B34283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502" y="0"/>
            <a:ext cx="16374995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6E78"/>
                </a:solidFill>
                <a:latin typeface="JetBrains Mono"/>
              </a:rPr>
              <a:t>SDLC CRASH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0" y="47548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6B6E78"/>
                </a:solidFill>
                <a:latin typeface="JetBrains Mono"/>
              </a:rPr>
              <a:t>09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17320"/>
            <a:ext cx="1463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58220"/>
                </a:solidFill>
                <a:latin typeface="JetBrains Mono"/>
              </a:rPr>
              <a:t>THE TERMINAL, WITHOUT THE PANIC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901952"/>
            <a:ext cx="1828800" cy="54864"/>
          </a:xfrm>
          <a:prstGeom prst="rect">
            <a:avLst/>
          </a:prstGeom>
          <a:solidFill>
            <a:srgbClr val="3FE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103120"/>
            <a:ext cx="1600200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5400" b="1" dirty="0">
                <a:solidFill>
                  <a:srgbClr val="14161C"/>
                </a:solidFill>
                <a:latin typeface="Montserrat"/>
              </a:rPr>
              <a:t>The terminal is back!</a:t>
            </a:r>
            <a:endParaRPr sz="5400" b="1" dirty="0">
              <a:solidFill>
                <a:srgbClr val="14161C"/>
              </a:solidFill>
              <a:latin typeface="Montserra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43000" y="9006840"/>
            <a:ext cx="1600200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800" b="1" i="1">
                <a:solidFill>
                  <a:srgbClr val="F58220"/>
                </a:solidFill>
                <a:latin typeface="Inter"/>
              </a:rPr>
              <a:t>Commandment V  —  Thou shalt not fear thy terminal.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112F9C4-5669-47F0-BBD8-E2C65476E1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195" y="2934117"/>
            <a:ext cx="10292010" cy="589462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7A773-B230-8D8E-DF46-2B370F693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315AA2-574A-459B-A314-3B20F54CEA38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543D13-3EE4-4EF9-9E62-8A0739D82ACE}"/>
              </a:ext>
            </a:extLst>
          </p:cNvPr>
          <p:cNvSpPr txBox="1"/>
          <p:nvPr/>
        </p:nvSpPr>
        <p:spPr>
          <a:xfrm>
            <a:off x="1143000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6E78"/>
                </a:solidFill>
                <a:latin typeface="JetBrains Mono"/>
              </a:rPr>
              <a:t>SDLC CRASH COURSE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3C562B-AA43-BBA8-B0A4-CE830B06E3A0}"/>
              </a:ext>
            </a:extLst>
          </p:cNvPr>
          <p:cNvSpPr txBox="1"/>
          <p:nvPr/>
        </p:nvSpPr>
        <p:spPr>
          <a:xfrm>
            <a:off x="15544800" y="47548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6B6E78"/>
                </a:solidFill>
                <a:latin typeface="JetBrains Mono"/>
              </a:rPr>
              <a:t>09 / 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9437B-9BCD-97C6-BC21-DAC58A6A9455}"/>
              </a:ext>
            </a:extLst>
          </p:cNvPr>
          <p:cNvSpPr txBox="1"/>
          <p:nvPr/>
        </p:nvSpPr>
        <p:spPr>
          <a:xfrm>
            <a:off x="1143000" y="1417320"/>
            <a:ext cx="1463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58220"/>
                </a:solidFill>
                <a:latin typeface="JetBrains Mono"/>
              </a:rPr>
              <a:t>THE TERMINAL, WITHOUT THE PANIC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39F6CC-2642-A385-54A2-B7B284415016}"/>
              </a:ext>
            </a:extLst>
          </p:cNvPr>
          <p:cNvSpPr/>
          <p:nvPr/>
        </p:nvSpPr>
        <p:spPr>
          <a:xfrm>
            <a:off x="1143000" y="1901952"/>
            <a:ext cx="1828800" cy="54864"/>
          </a:xfrm>
          <a:prstGeom prst="rect">
            <a:avLst/>
          </a:prstGeom>
          <a:solidFill>
            <a:srgbClr val="3FE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CF0813-EE2A-FFFC-5692-BAB4764E3802}"/>
              </a:ext>
            </a:extLst>
          </p:cNvPr>
          <p:cNvSpPr txBox="1"/>
          <p:nvPr/>
        </p:nvSpPr>
        <p:spPr>
          <a:xfrm>
            <a:off x="1143000" y="2103120"/>
            <a:ext cx="1600200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5400" b="1" dirty="0">
                <a:solidFill>
                  <a:srgbClr val="14161C"/>
                </a:solidFill>
                <a:latin typeface="Montserrat"/>
              </a:rPr>
              <a:t>Let’s go to the Terminal</a:t>
            </a:r>
            <a:endParaRPr sz="5400" b="1" dirty="0">
              <a:solidFill>
                <a:srgbClr val="14161C"/>
              </a:solidFill>
              <a:latin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DF9BEA-876B-D7F4-F0EE-FAA3BBE44F59}"/>
              </a:ext>
            </a:extLst>
          </p:cNvPr>
          <p:cNvSpPr txBox="1"/>
          <p:nvPr/>
        </p:nvSpPr>
        <p:spPr>
          <a:xfrm>
            <a:off x="1143000" y="4023360"/>
            <a:ext cx="16002000" cy="5006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 dirty="0">
                <a:solidFill>
                  <a:srgbClr val="3FE0D0"/>
                </a:solidFill>
                <a:latin typeface="JetBrains Mono"/>
              </a:rPr>
              <a:t>▸  </a:t>
            </a:r>
            <a:r>
              <a:rPr sz="2200" dirty="0" err="1">
                <a:solidFill>
                  <a:srgbClr val="14161C"/>
                </a:solidFill>
                <a:latin typeface="JetBrains Mono"/>
              </a:rPr>
              <a:t>pwd</a:t>
            </a:r>
            <a:r>
              <a:rPr sz="2200" dirty="0">
                <a:solidFill>
                  <a:srgbClr val="14161C"/>
                </a:solidFill>
                <a:latin typeface="JetBrains Mono"/>
              </a:rPr>
              <a:t>  —  print working directory.  Where am I?</a:t>
            </a:r>
          </a:p>
          <a:p>
            <a:pPr algn="l">
              <a:spcAft>
                <a:spcPts val="1000"/>
              </a:spcAft>
            </a:pPr>
            <a:r>
              <a:rPr sz="2200" b="1" dirty="0">
                <a:solidFill>
                  <a:srgbClr val="3FE0D0"/>
                </a:solidFill>
                <a:latin typeface="JetBrains Mono"/>
              </a:rPr>
              <a:t>▸  </a:t>
            </a:r>
            <a:r>
              <a:rPr sz="2200" dirty="0">
                <a:solidFill>
                  <a:srgbClr val="14161C"/>
                </a:solidFill>
                <a:latin typeface="JetBrains Mono"/>
              </a:rPr>
              <a:t>cd   —  change directory.  Move me there.</a:t>
            </a:r>
          </a:p>
          <a:p>
            <a:pPr algn="l">
              <a:spcAft>
                <a:spcPts val="1000"/>
              </a:spcAft>
            </a:pPr>
            <a:r>
              <a:rPr sz="2200" b="1" dirty="0">
                <a:solidFill>
                  <a:srgbClr val="3FE0D0"/>
                </a:solidFill>
                <a:latin typeface="JetBrains Mono"/>
              </a:rPr>
              <a:t>▸  </a:t>
            </a:r>
            <a:r>
              <a:rPr sz="2200" dirty="0">
                <a:solidFill>
                  <a:srgbClr val="14161C"/>
                </a:solidFill>
                <a:latin typeface="JetBrains Mono"/>
              </a:rPr>
              <a:t>ls   —  list.  What's in this folder?</a:t>
            </a:r>
            <a:endParaRPr lang="en-US" sz="2200" dirty="0">
              <a:solidFill>
                <a:srgbClr val="14161C"/>
              </a:solidFill>
              <a:latin typeface="JetBrains Mono"/>
            </a:endParaRPr>
          </a:p>
          <a:p>
            <a:pPr>
              <a:spcAft>
                <a:spcPts val="1000"/>
              </a:spcAft>
            </a:pPr>
            <a:r>
              <a:rPr lang="en-US" sz="2200" b="1" dirty="0">
                <a:solidFill>
                  <a:srgbClr val="3FE0D0"/>
                </a:solidFill>
                <a:latin typeface="JetBrains Mono"/>
              </a:rPr>
              <a:t>▸  </a:t>
            </a:r>
            <a:r>
              <a:rPr lang="en-US" sz="2200" dirty="0" err="1">
                <a:solidFill>
                  <a:srgbClr val="14161C"/>
                </a:solidFill>
                <a:latin typeface="JetBrains Mono"/>
              </a:rPr>
              <a:t>mkdir</a:t>
            </a:r>
            <a:r>
              <a:rPr lang="en-US" sz="2200" dirty="0">
                <a:solidFill>
                  <a:srgbClr val="14161C"/>
                </a:solidFill>
                <a:latin typeface="JetBrains Mono"/>
              </a:rPr>
              <a:t>   —  Make a directory</a:t>
            </a:r>
          </a:p>
          <a:p>
            <a:pPr>
              <a:spcAft>
                <a:spcPts val="1000"/>
              </a:spcAft>
            </a:pPr>
            <a:r>
              <a:rPr lang="en-US" sz="2200" b="1" dirty="0">
                <a:solidFill>
                  <a:srgbClr val="3FE0D0"/>
                </a:solidFill>
                <a:latin typeface="JetBrains Mono"/>
              </a:rPr>
              <a:t>▸  </a:t>
            </a:r>
            <a:r>
              <a:rPr lang="en-US" sz="2200" dirty="0">
                <a:solidFill>
                  <a:srgbClr val="14161C"/>
                </a:solidFill>
                <a:latin typeface="JetBrains Mono"/>
              </a:rPr>
              <a:t>ren   —  rename</a:t>
            </a:r>
          </a:p>
          <a:p>
            <a:pPr>
              <a:spcAft>
                <a:spcPts val="1000"/>
              </a:spcAft>
            </a:pPr>
            <a:r>
              <a:rPr lang="en-US" sz="2200" b="1" dirty="0">
                <a:solidFill>
                  <a:srgbClr val="3FE0D0"/>
                </a:solidFill>
                <a:latin typeface="JetBrains Mono"/>
              </a:rPr>
              <a:t>▸  </a:t>
            </a:r>
            <a:r>
              <a:rPr lang="en-US" sz="2200" dirty="0">
                <a:solidFill>
                  <a:srgbClr val="14161C"/>
                </a:solidFill>
                <a:latin typeface="JetBrains Mono"/>
              </a:rPr>
              <a:t>del/rm   —  delete</a:t>
            </a:r>
          </a:p>
          <a:p>
            <a:pPr>
              <a:spcAft>
                <a:spcPts val="1000"/>
              </a:spcAft>
            </a:pPr>
            <a:endParaRPr lang="en-US" sz="2200" dirty="0">
              <a:solidFill>
                <a:srgbClr val="14161C"/>
              </a:solidFill>
              <a:latin typeface="JetBrains Mono"/>
            </a:endParaRPr>
          </a:p>
          <a:p>
            <a:pPr>
              <a:spcAft>
                <a:spcPts val="1000"/>
              </a:spcAft>
            </a:pPr>
            <a:endParaRPr lang="en-US" sz="2200" dirty="0">
              <a:solidFill>
                <a:srgbClr val="14161C"/>
              </a:solidFill>
              <a:latin typeface="JetBrains Mono"/>
            </a:endParaRPr>
          </a:p>
          <a:p>
            <a:pPr>
              <a:spcAft>
                <a:spcPts val="1000"/>
              </a:spcAft>
            </a:pPr>
            <a:endParaRPr lang="en-US" sz="2200" dirty="0">
              <a:solidFill>
                <a:srgbClr val="14161C"/>
              </a:solidFill>
              <a:latin typeface="JetBrains Mono"/>
            </a:endParaRPr>
          </a:p>
          <a:p>
            <a:pPr algn="l">
              <a:spcAft>
                <a:spcPts val="1000"/>
              </a:spcAft>
            </a:pPr>
            <a:endParaRPr lang="en-US" sz="2200" dirty="0">
              <a:solidFill>
                <a:srgbClr val="14161C"/>
              </a:solidFill>
              <a:latin typeface="JetBrains Mono"/>
            </a:endParaRPr>
          </a:p>
          <a:p>
            <a:pPr algn="l">
              <a:spcAft>
                <a:spcPts val="1000"/>
              </a:spcAft>
            </a:pPr>
            <a:endParaRPr sz="2200" dirty="0">
              <a:solidFill>
                <a:srgbClr val="14161C"/>
              </a:solidFill>
              <a:latin typeface="JetBrains Mono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1B0BA1-A0D0-097C-3880-409B8FC57E01}"/>
              </a:ext>
            </a:extLst>
          </p:cNvPr>
          <p:cNvSpPr txBox="1"/>
          <p:nvPr/>
        </p:nvSpPr>
        <p:spPr>
          <a:xfrm>
            <a:off x="1143000" y="9006840"/>
            <a:ext cx="1600200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800" b="1" i="1">
                <a:solidFill>
                  <a:srgbClr val="F58220"/>
                </a:solidFill>
                <a:latin typeface="Inter"/>
              </a:rPr>
              <a:t>Commandment V  —  Thou shalt not fear thy terminal.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FFF8964-24CB-010F-92C8-B6A0E7519C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9456" y="266700"/>
            <a:ext cx="6502400" cy="975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247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879EC-F183-BB7A-14FC-8E445BE2F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E4CC886-6D37-C39E-8C47-83B1FA8E2261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46F84C-B4F1-5A9C-EC38-A551DF75FADB}"/>
              </a:ext>
            </a:extLst>
          </p:cNvPr>
          <p:cNvSpPr txBox="1"/>
          <p:nvPr/>
        </p:nvSpPr>
        <p:spPr>
          <a:xfrm>
            <a:off x="1143000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6E78"/>
                </a:solidFill>
                <a:latin typeface="JetBrains Mono"/>
              </a:rPr>
              <a:t>SDLC CRASH COURSE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DEBDFF-306F-DBAA-1BFA-DD3B53ACB70D}"/>
              </a:ext>
            </a:extLst>
          </p:cNvPr>
          <p:cNvSpPr txBox="1"/>
          <p:nvPr/>
        </p:nvSpPr>
        <p:spPr>
          <a:xfrm>
            <a:off x="15544800" y="47548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6B6E78"/>
                </a:solidFill>
                <a:latin typeface="JetBrains Mono"/>
              </a:rPr>
              <a:t>04 / 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F1C814-4BD5-D234-1255-A8306C91E9D3}"/>
              </a:ext>
            </a:extLst>
          </p:cNvPr>
          <p:cNvSpPr txBox="1"/>
          <p:nvPr/>
        </p:nvSpPr>
        <p:spPr>
          <a:xfrm>
            <a:off x="1143000" y="1417320"/>
            <a:ext cx="1463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58220"/>
                </a:solidFill>
                <a:latin typeface="JetBrains Mono"/>
              </a:rPr>
              <a:t>THE SIX PHASES, ONE LINE EACH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18FE03D-FA81-3407-477B-26248428DABD}"/>
              </a:ext>
            </a:extLst>
          </p:cNvPr>
          <p:cNvSpPr/>
          <p:nvPr/>
        </p:nvSpPr>
        <p:spPr>
          <a:xfrm>
            <a:off x="1143000" y="1901952"/>
            <a:ext cx="1828800" cy="54864"/>
          </a:xfrm>
          <a:prstGeom prst="rect">
            <a:avLst/>
          </a:prstGeom>
          <a:solidFill>
            <a:srgbClr val="3FE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43D17A-A165-0A82-720D-23299E9E6D18}"/>
              </a:ext>
            </a:extLst>
          </p:cNvPr>
          <p:cNvSpPr txBox="1"/>
          <p:nvPr/>
        </p:nvSpPr>
        <p:spPr>
          <a:xfrm>
            <a:off x="1143000" y="2103120"/>
            <a:ext cx="1600200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5400" b="1" dirty="0">
                <a:solidFill>
                  <a:srgbClr val="14161C"/>
                </a:solidFill>
                <a:latin typeface="Montserrat"/>
              </a:rPr>
              <a:t>Terminal First Steps</a:t>
            </a:r>
            <a:endParaRPr sz="5400" b="1" dirty="0">
              <a:solidFill>
                <a:srgbClr val="14161C"/>
              </a:solidFill>
              <a:latin typeface="Montserra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699D42-02F5-497B-4B95-958B2517A4CE}"/>
              </a:ext>
            </a:extLst>
          </p:cNvPr>
          <p:cNvSpPr txBox="1"/>
          <p:nvPr/>
        </p:nvSpPr>
        <p:spPr>
          <a:xfrm>
            <a:off x="1143000" y="3638520"/>
            <a:ext cx="160934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/>
              <a:t>git clone https://</a:t>
            </a:r>
            <a:r>
              <a:rPr lang="en-US" sz="4800" dirty="0" err="1"/>
              <a:t>github.com</a:t>
            </a:r>
            <a:r>
              <a:rPr lang="en-US" sz="4800" dirty="0"/>
              <a:t>/</a:t>
            </a:r>
            <a:r>
              <a:rPr lang="en-US" sz="4800" dirty="0" err="1"/>
              <a:t>chriskehayias</a:t>
            </a:r>
            <a:r>
              <a:rPr lang="en-US" sz="4800" dirty="0"/>
              <a:t>/SDLC</a:t>
            </a:r>
          </a:p>
        </p:txBody>
      </p:sp>
    </p:spTree>
    <p:extLst>
      <p:ext uri="{BB962C8B-B14F-4D97-AF65-F5344CB8AC3E}">
        <p14:creationId xmlns:p14="http://schemas.microsoft.com/office/powerpoint/2010/main" val="684769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9B764C3-3980-034C-7693-37EDDC1AB8E3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507F402-B86E-FC6C-6CDF-B91E5808A1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34" y="0"/>
            <a:ext cx="16011331" cy="10349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6411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72393-8E37-D0C3-44AB-1B536E57B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B671C7C-D995-7247-8396-B28CE83102D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423579-0BB9-75AD-F609-5B6A3772C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638" y="0"/>
            <a:ext cx="16534723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945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6E78"/>
                </a:solidFill>
                <a:latin typeface="JetBrains Mono"/>
              </a:rPr>
              <a:t>SDLC CRASH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0" y="47548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6B6E78"/>
                </a:solidFill>
                <a:latin typeface="JetBrains Mono"/>
              </a:rPr>
              <a:t>11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17320"/>
            <a:ext cx="1463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58220"/>
                </a:solidFill>
                <a:latin typeface="JetBrains Mono"/>
              </a:rPr>
              <a:t>THE ONLY 6 COMMANDS YOU NEED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901952"/>
            <a:ext cx="1828800" cy="54864"/>
          </a:xfrm>
          <a:prstGeom prst="rect">
            <a:avLst/>
          </a:prstGeom>
          <a:solidFill>
            <a:srgbClr val="3FE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103120"/>
            <a:ext cx="1600200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5400" b="1" dirty="0">
                <a:solidFill>
                  <a:srgbClr val="14161C"/>
                </a:solidFill>
                <a:latin typeface="Montserrat"/>
              </a:rPr>
              <a:t>Git essentials</a:t>
            </a:r>
            <a:endParaRPr sz="5400" b="1" dirty="0">
              <a:solidFill>
                <a:srgbClr val="14161C"/>
              </a:solidFill>
              <a:latin typeface="Montserra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43000" y="9646920"/>
            <a:ext cx="1600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78"/>
                </a:solidFill>
                <a:latin typeface="JetBrains Mono"/>
              </a:rPr>
              <a:t>// SESSION 03  ·  CHRIS KEHAYIAS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FF6A95-29E3-AF2A-185D-28F4759E68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1" y="129290"/>
            <a:ext cx="18284579" cy="100284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7B4EBAA-30CB-949F-DCF7-A8D6A2EF9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18265851" cy="10039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1847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6E78"/>
                </a:solidFill>
                <a:latin typeface="JetBrains Mono"/>
              </a:rPr>
              <a:t>SDLC CRASH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0" y="47548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6B6E78"/>
                </a:solidFill>
                <a:latin typeface="JetBrains Mono"/>
              </a:rPr>
              <a:t>13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17320"/>
            <a:ext cx="1463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58220"/>
                </a:solidFill>
                <a:latin typeface="JetBrains Mono"/>
              </a:rPr>
              <a:t>GITHUB BASICS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901952"/>
            <a:ext cx="1828800" cy="54864"/>
          </a:xfrm>
          <a:prstGeom prst="rect">
            <a:avLst/>
          </a:prstGeom>
          <a:solidFill>
            <a:srgbClr val="3FE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103120"/>
            <a:ext cx="160020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>
                <a:solidFill>
                  <a:srgbClr val="14161C"/>
                </a:solidFill>
                <a:latin typeface="Montserrat"/>
              </a:rPr>
              <a:t>GitHub is where your commits go to be seen.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776772"/>
            <a:ext cx="1600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dirty="0">
                <a:solidFill>
                  <a:srgbClr val="6B6E78"/>
                </a:solidFill>
                <a:latin typeface="Inter"/>
              </a:rPr>
              <a:t>Personal account vs. org, the </a:t>
            </a:r>
            <a:r>
              <a:rPr sz="2200" b="0" dirty="0" err="1">
                <a:solidFill>
                  <a:srgbClr val="6B6E78"/>
                </a:solidFill>
                <a:latin typeface="Inter"/>
              </a:rPr>
              <a:t>gh</a:t>
            </a:r>
            <a:r>
              <a:rPr sz="2200" b="0" dirty="0">
                <a:solidFill>
                  <a:srgbClr val="6B6E78"/>
                </a:solidFill>
                <a:latin typeface="Inter"/>
              </a:rPr>
              <a:t> CLI, the PR 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288686"/>
            <a:ext cx="16002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 dirty="0">
                <a:solidFill>
                  <a:srgbClr val="3FE0D0"/>
                </a:solidFill>
                <a:latin typeface="Inter"/>
              </a:rPr>
              <a:t>▸  </a:t>
            </a:r>
            <a:r>
              <a:rPr sz="2400" dirty="0">
                <a:solidFill>
                  <a:srgbClr val="14161C"/>
                </a:solidFill>
                <a:latin typeface="Inter"/>
              </a:rPr>
              <a:t>PERSONAL vs. ORG — your account holds your repos; an org holds the team's.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3000" y="4754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6E78"/>
                </a:solidFill>
                <a:latin typeface="JetBrains Mono"/>
              </a:rPr>
              <a:t>SDLC CRASH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0" y="47548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6B6E78"/>
                </a:solidFill>
                <a:latin typeface="JetBrains Mono"/>
              </a:rPr>
              <a:t>15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17320"/>
            <a:ext cx="1463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58220"/>
                </a:solidFill>
                <a:latin typeface="JetBrains Mono"/>
              </a:rPr>
              <a:t>WHAT YOU JUST DID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901952"/>
            <a:ext cx="1828800" cy="54864"/>
          </a:xfrm>
          <a:prstGeom prst="rect">
            <a:avLst/>
          </a:prstGeom>
          <a:solidFill>
            <a:srgbClr val="3FE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103120"/>
            <a:ext cx="160020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>
                <a:solidFill>
                  <a:srgbClr val="14161C"/>
                </a:solidFill>
                <a:latin typeface="Montserrat"/>
              </a:rPr>
              <a:t>You are now operating the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246120"/>
            <a:ext cx="1600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6B6E78"/>
                </a:solidFill>
                <a:latin typeface="Inter"/>
              </a:rPr>
              <a:t>Cloned · edited · committed · pushed · verified.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023360"/>
            <a:ext cx="16002000" cy="1862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 dirty="0">
                <a:solidFill>
                  <a:srgbClr val="3FE0D0"/>
                </a:solidFill>
                <a:latin typeface="Inter"/>
              </a:rPr>
              <a:t>▸  </a:t>
            </a:r>
            <a:r>
              <a:rPr sz="2400" dirty="0">
                <a:solidFill>
                  <a:srgbClr val="14161C"/>
                </a:solidFill>
                <a:latin typeface="Inter"/>
              </a:rPr>
              <a:t>You moved a change from your machine to a remote — the full </a:t>
            </a:r>
            <a:r>
              <a:rPr lang="en-US" sz="2400" dirty="0">
                <a:solidFill>
                  <a:srgbClr val="14161C"/>
                </a:solidFill>
                <a:latin typeface="Inter"/>
              </a:rPr>
              <a:t>loop</a:t>
            </a:r>
            <a:endParaRPr sz="2400" dirty="0">
              <a:solidFill>
                <a:srgbClr val="14161C"/>
              </a:solidFill>
              <a:latin typeface="Inter"/>
            </a:endParaRPr>
          </a:p>
          <a:p>
            <a:pPr algn="l">
              <a:spcAft>
                <a:spcPts val="1000"/>
              </a:spcAft>
            </a:pPr>
            <a:r>
              <a:rPr sz="2400" b="1" dirty="0">
                <a:solidFill>
                  <a:srgbClr val="3FE0D0"/>
                </a:solidFill>
                <a:latin typeface="Inter"/>
              </a:rPr>
              <a:t>▸  </a:t>
            </a:r>
            <a:r>
              <a:rPr sz="2400" dirty="0">
                <a:solidFill>
                  <a:srgbClr val="14161C"/>
                </a:solidFill>
                <a:latin typeface="Inter"/>
              </a:rPr>
              <a:t>You used both the GUI and the terminal — covenant kept.</a:t>
            </a:r>
          </a:p>
          <a:p>
            <a:pPr algn="l">
              <a:spcAft>
                <a:spcPts val="1000"/>
              </a:spcAft>
            </a:pPr>
            <a:r>
              <a:rPr sz="2400" b="1" dirty="0">
                <a:solidFill>
                  <a:srgbClr val="3FE0D0"/>
                </a:solidFill>
                <a:latin typeface="Inter"/>
              </a:rPr>
              <a:t>▸  </a:t>
            </a:r>
            <a:r>
              <a:rPr sz="2400" dirty="0">
                <a:solidFill>
                  <a:srgbClr val="14161C"/>
                </a:solidFill>
                <a:latin typeface="Inter"/>
              </a:rPr>
              <a:t>You wrote a commit message — a context document for future you.</a:t>
            </a:r>
          </a:p>
          <a:p>
            <a:pPr algn="l">
              <a:spcAft>
                <a:spcPts val="1000"/>
              </a:spcAft>
            </a:pPr>
            <a:r>
              <a:rPr sz="2400" b="1" dirty="0">
                <a:solidFill>
                  <a:srgbClr val="3FE0D0"/>
                </a:solidFill>
                <a:latin typeface="Inter"/>
              </a:rPr>
              <a:t>▸  </a:t>
            </a:r>
            <a:r>
              <a:rPr sz="2400" dirty="0">
                <a:solidFill>
                  <a:srgbClr val="14161C"/>
                </a:solidFill>
                <a:latin typeface="Inter"/>
              </a:rPr>
              <a:t>You verified on </a:t>
            </a:r>
            <a:r>
              <a:rPr sz="2400" dirty="0" err="1">
                <a:solidFill>
                  <a:srgbClr val="14161C"/>
                </a:solidFill>
                <a:latin typeface="Inter"/>
              </a:rPr>
              <a:t>github.com</a:t>
            </a:r>
            <a:r>
              <a:rPr sz="2400" dirty="0">
                <a:solidFill>
                  <a:srgbClr val="14161C"/>
                </a:solidFill>
                <a:latin typeface="Inter"/>
              </a:rPr>
              <a:t> — closing the loop.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41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544800" y="502920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>
                <a:solidFill>
                  <a:srgbClr val="C9CBD1"/>
                </a:solidFill>
                <a:latin typeface="JetBrains Mono"/>
              </a:rPr>
              <a:t>16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43400" y="32004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3FE0D0"/>
                </a:solidFill>
                <a:latin typeface="JetBrains Mono"/>
              </a:rPr>
              <a:t>UP NEXT  ·  SESSION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3840480"/>
            <a:ext cx="10058400" cy="12618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8200" b="1" dirty="0">
                <a:solidFill>
                  <a:srgbClr val="FFFFFF"/>
                </a:solidFill>
                <a:latin typeface="Montserrat"/>
              </a:rPr>
              <a:t>Inspiration</a:t>
            </a:r>
            <a:endParaRPr sz="8200" b="1" dirty="0">
              <a:solidFill>
                <a:srgbClr val="FFFFFF"/>
              </a:solidFill>
              <a:latin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</TotalTime>
  <Words>1365</Words>
  <Application>Microsoft Macintosh PowerPoint</Application>
  <PresentationFormat>Custom</PresentationFormat>
  <Paragraphs>112</Paragraphs>
  <Slides>20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Calibri</vt:lpstr>
      <vt:lpstr>Inter</vt:lpstr>
      <vt:lpstr>Montserrat</vt:lpstr>
      <vt:lpstr>JetBrains Mono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PptxGenJS</dc:creator>
  <cp:lastModifiedBy>Chris Kehayias</cp:lastModifiedBy>
  <cp:revision>7</cp:revision>
  <dcterms:created xsi:type="dcterms:W3CDTF">2026-05-03T13:32:23Z</dcterms:created>
  <dcterms:modified xsi:type="dcterms:W3CDTF">2026-05-07T12:50:34Z</dcterms:modified>
</cp:coreProperties>
</file>
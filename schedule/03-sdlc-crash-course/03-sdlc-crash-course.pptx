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20"/>
  </p:notesMasterIdLst>
  <p:sldIdLst>
    <p:sldId id="256" r:id="rId3"/>
    <p:sldId id="258" r:id="rId4"/>
    <p:sldId id="259" r:id="rId5"/>
    <p:sldId id="260" r:id="rId6"/>
    <p:sldId id="261" r:id="rId7"/>
    <p:sldId id="272" r:id="rId8"/>
    <p:sldId id="262" r:id="rId9"/>
    <p:sldId id="273" r:id="rId10"/>
    <p:sldId id="263" r:id="rId11"/>
    <p:sldId id="264" r:id="rId12"/>
    <p:sldId id="265" r:id="rId13"/>
    <p:sldId id="266" r:id="rId14"/>
    <p:sldId id="267" r:id="rId15"/>
    <p:sldId id="268" r:id="rId16"/>
    <p:sldId id="269" r:id="rId17"/>
    <p:sldId id="270" r:id="rId18"/>
    <p:sldId id="271" r:id="rId19"/>
  </p:sldIdLst>
  <p:sldSz cx="18288000" cy="10287000"/>
  <p:notesSz cx="10287000" cy="18288000"/>
  <p:embeddedFontLst>
    <p:embeddedFont>
      <p:font typeface="Inter" panose="02000503000000020004"/>
      <p:regular r:id="rId21"/>
      <p:bold r:id="rId22"/>
      <p:italic r:id="rId23"/>
      <p:boldItalic r:id="rId24"/>
    </p:embeddedFont>
    <p:embeddedFont>
      <p:font typeface="JetBrains Mono" panose="02000009000000000000"/>
      <p:regular r:id="rId25"/>
      <p:bold r:id="rId26"/>
      <p:italic r:id="rId27"/>
      <p:boldItalic r:id="rId28"/>
    </p:embeddedFont>
    <p:embeddedFont>
      <p:font typeface="Montserrat" pitchFamily="2" charset="77"/>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gvBL9m8TJysEvjfbWLYgqaddpdW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483"/>
  </p:normalViewPr>
  <p:slideViewPr>
    <p:cSldViewPr snapToGrid="0">
      <p:cViewPr varScale="1">
        <p:scale>
          <a:sx n="86" d="100"/>
          <a:sy n="86" d="100"/>
        </p:scale>
        <p:origin x="50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21" Type="http://schemas.openxmlformats.org/officeDocument/2006/relationships/font" Target="fonts/font1.fntdata"/><Relationship Id="rId63"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font" Target="fonts/font9.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61"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60"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64"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714825" y="1371600"/>
            <a:ext cx="6858325" cy="6858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28700" y="8686800"/>
            <a:ext cx="8229600" cy="82296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
        <p:cNvGrpSpPr/>
        <p:nvPr/>
      </p:nvGrpSpPr>
      <p:grpSpPr>
        <a:xfrm>
          <a:off x="0" y="0"/>
          <a:ext cx="0" cy="0"/>
          <a:chOff x="0" y="0"/>
          <a:chExt cx="0" cy="0"/>
        </a:xfrm>
      </p:grpSpPr>
      <p:sp>
        <p:nvSpPr>
          <p:cNvPr id="10" name="Google Shape;10;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 name="Google Shape;1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Welcome to Session 03 — SDLC Crash Course. We have 60 minutes. Two halves: first 30 minutes are concept fly-through (the loop, the AI overlay). Second 30 minutes are slow, live mechanics — terminal, git, VS Code, GitHub. By the end you'll have made a real commit and pushed it to GitHub. If you're nervous about the mechanics, that's the right feeling. We'll go slow there.</a:t>
            </a:r>
          </a:p>
        </p:txBody>
      </p:sp>
      <p:sp>
        <p:nvSpPr>
          <p:cNvPr id="12" name="Google Shape;1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Show the loop. Name each phase in one sentence. Resist the urge to elaborate. The point is the SHAPE, not the definitions — those come on the next slide. If anyone asks 'what about discovery / requirements / etc.', say it folds into Plan.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Walk down the list at 5–7 seconds per phase. Don't define them academically — use the verbs from the slide. The goal is for everyone to have a one-line mental label for each phase by the time we leave this slide.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This is the moment that lands the whole first half. Most people imagine SDLC as a waterfall going left-to-right. It isn't. Maintain is where you LEARN what to plan next. If you skip the loop-back, you're not doing SDLC — you're doing one-off projects.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Don't walk every phase deep. Show the shape of the change. Most AI failures aren't 'the model was wrong' — they're 'the model didn't have what it needed.' That's why this conference is called Context Engineering. Sessions 04, 05, 07 are how you do this.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3A1A6-C7F2-2C8D-6E1C-D1FD1A256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2C016-B60A-95ED-E135-FDC1F31969B7}"/>
              </a:ext>
            </a:extLst>
          </p:cNvPr>
          <p:cNvSpPr>
            <a:spLocks noGrp="1" noRot="1" noChangeAspect="1"/>
          </p:cNvSpPr>
          <p:nvPr>
            <p:ph type="sldImg" idx="2"/>
          </p:nvPr>
        </p:nvSpPr>
        <p:spPr>
          <a:xfrm>
            <a:off x="-952500" y="1371600"/>
            <a:ext cx="12192000" cy="6858000"/>
          </a:xfrm>
        </p:spPr>
      </p:sp>
      <p:sp>
        <p:nvSpPr>
          <p:cNvPr id="3" name="Notes Placeholder 2">
            <a:extLst>
              <a:ext uri="{FF2B5EF4-FFF2-40B4-BE49-F238E27FC236}">
                <a16:creationId xmlns:a16="http://schemas.microsoft.com/office/drawing/2014/main" id="{7D3786BF-7352-847B-2D57-18C617F5DE71}"/>
              </a:ext>
            </a:extLst>
          </p:cNvPr>
          <p:cNvSpPr>
            <a:spLocks noGrp="1"/>
          </p:cNvSpPr>
          <p:nvPr>
            <p:ph type="body" idx="1"/>
          </p:nvPr>
        </p:nvSpPr>
        <p:spPr/>
        <p:txBody>
          <a:bodyPr/>
          <a:lstStyle/>
          <a:p>
            <a:r>
              <a:t>This is the moment that lands the whole first half. Most people imagine SDLC as a waterfall going left-to-right. It isn't. Maintain is where you LEARN what to plan next. If you skip the loop-back, you're not doing SDLC — you're doing one-off projects.</a:t>
            </a:r>
          </a:p>
        </p:txBody>
      </p:sp>
    </p:spTree>
    <p:extLst>
      <p:ext uri="{BB962C8B-B14F-4D97-AF65-F5344CB8AC3E}">
        <p14:creationId xmlns:p14="http://schemas.microsoft.com/office/powerpoint/2010/main" val="2034888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five show up everywhere in the workshop. Read them aloud once. They're memorable as a set; the depth is in AI-SDLC.md and in Sessions 04-07. If someone takes a photo of one slide today, this is the slide.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Pacing change. The first half was a fly-through; from here on we go slow and live. Get the room to breathe. Tell people to close their laptops for the next two minutes and just watch — they'll do it themselves at slide 14.</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Anchor with Commandment V: thou shalt not fear thy terminal. The GUI is a comfort; the terminal is a covenant — that's where Claude Code lives. Live demo: open a terminal, run pwd / cd / ls. Show one error message and read it aloud from top to bottom. Most error messages tell you exactly what to do; people just stop reading at the word 'Error'.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single most useful diagram in software. If someone leaves today only able to draw this from memory, they'll be fine for the rest of the workshop. Emphasize SNAPSHOTS — every commit is a checkpoint. You're not 'saving the file,' you're capturing a moment in the project's history.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Six commands. That's it for today. There are dozens more, but these six get you through. Demo each one live in your terminal. Spend extra time on commit messages — they're a context document you're writing for future you. 10 extra seconds, every time.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Don't read the screenshot — point at it. Open VS Code live and show the four panels. The Claude Code extension is the centerpiece — Sessions 04+ assume you have it installed and signed in. GitLens shows you who wrote each line; Peacock colors VS Code windows so you don't lose track when you have three repos open later today.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Keep this slide tight — most people already have a GitHub account. The new thing here is the gh CLI, which is how Claude Code interacts with GitHub. If `gh auth status` isn't passing for someone, get a TA to them now — they'll be stuck on slide 14 otherwise.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This is the moment everyone has to do it themselves. TAs roam the room. If half the room hasn't committed by minute 50, steal time and finish the demo yourself in front of everyone — better to ship the demo than leave people stuck. Make sure everyone has the repo URL on screen before you start the timer.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Take 60 seconds to celebrate. Some people in this room have never pushed a commit before today. Name that. The mechanics are real, and they own them now. From here on, every session assumes you can do these five steps without thinking.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52500" y="1371600"/>
            <a:ext cx="12192000" cy="6858000"/>
          </a:xfrm>
        </p:spPr>
      </p:sp>
      <p:sp>
        <p:nvSpPr>
          <p:cNvPr id="3" name="Notes Placeholder 2"/>
          <p:cNvSpPr>
            <a:spLocks noGrp="1"/>
          </p:cNvSpPr>
          <p:nvPr>
            <p:ph type="body" idx="1"/>
          </p:nvPr>
        </p:nvSpPr>
        <p:spPr/>
        <p:txBody>
          <a:bodyPr/>
          <a:lstStyle/>
          <a:p>
            <a:r>
              <a:t>Hand off cleanly. Session 04 is the artifacts — CLAUDE.md, PRDs, slash commands, skills — the things that turn the loop you just learned into a system you can run every day. Five-minute break, then back here.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61C"/>
        </a:solidFill>
        <a:effectLst/>
      </p:bgPr>
    </p:bg>
    <p:spTree>
      <p:nvGrpSpPr>
        <p:cNvPr id="1" name="Shape 13"/>
        <p:cNvGrpSpPr/>
        <p:nvPr/>
      </p:nvGrpSpPr>
      <p:grpSpPr>
        <a:xfrm>
          <a:off x="0" y="0"/>
          <a:ext cx="0" cy="0"/>
          <a:chOff x="0" y="0"/>
          <a:chExt cx="0" cy="0"/>
        </a:xfrm>
      </p:grpSpPr>
      <p:sp>
        <p:nvSpPr>
          <p:cNvPr id="14" name="Google Shape;14;p1"/>
          <p:cNvSpPr/>
          <p:nvPr/>
        </p:nvSpPr>
        <p:spPr>
          <a:xfrm>
            <a:off x="0" y="0"/>
            <a:ext cx="18288000" cy="10287000"/>
          </a:xfrm>
          <a:prstGeom prst="rect">
            <a:avLst/>
          </a:prstGeom>
          <a:solidFill>
            <a:srgbClr val="14161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p1"/>
          <p:cNvSpPr/>
          <p:nvPr/>
        </p:nvSpPr>
        <p:spPr>
          <a:xfrm>
            <a:off x="952500" y="762000"/>
            <a:ext cx="1258044" cy="342900"/>
          </a:xfrm>
          <a:prstGeom prst="rect">
            <a:avLst/>
          </a:prstGeom>
          <a:noFill/>
          <a:ln>
            <a:noFill/>
          </a:ln>
        </p:spPr>
        <p:txBody>
          <a:bodyPr spcFirstLastPara="1" wrap="square" lIns="25400" tIns="25400" rIns="25400" bIns="25400" anchor="t" anchorCtr="0">
            <a:normAutofit lnSpcReduction="10000"/>
          </a:bodyPr>
          <a:lstStyle/>
          <a:p>
            <a:pPr marL="0" marR="0" lvl="0" indent="0" algn="l" rtl="0">
              <a:spcBef>
                <a:spcPts val="0"/>
              </a:spcBef>
              <a:spcAft>
                <a:spcPts val="0"/>
              </a:spcAft>
              <a:buClr>
                <a:srgbClr val="FFFFFF"/>
              </a:buClr>
              <a:buSzPts val="1950"/>
              <a:buFont typeface="Montserrat"/>
              <a:buNone/>
            </a:pPr>
            <a:r>
              <a:rPr lang="en-US" sz="1950" b="1">
                <a:solidFill>
                  <a:srgbClr val="FFFFFF"/>
                </a:solidFill>
                <a:latin typeface="Montserrat"/>
                <a:ea typeface="Montserrat"/>
                <a:cs typeface="Montserrat"/>
                <a:sym typeface="Montserrat"/>
              </a:rPr>
              <a:t>CITN</a:t>
            </a:r>
            <a:r>
              <a:rPr lang="en-US" sz="1950" b="1">
                <a:solidFill>
                  <a:srgbClr val="3FE0D0"/>
                </a:solidFill>
                <a:latin typeface="Montserrat"/>
                <a:ea typeface="Montserrat"/>
                <a:cs typeface="Montserrat"/>
                <a:sym typeface="Montserrat"/>
              </a:rPr>
              <a:t>·</a:t>
            </a:r>
            <a:r>
              <a:rPr lang="en-US" sz="1950" b="1">
                <a:solidFill>
                  <a:srgbClr val="FFFFFF"/>
                </a:solidFill>
                <a:latin typeface="Montserrat"/>
                <a:ea typeface="Montserrat"/>
                <a:cs typeface="Montserrat"/>
                <a:sym typeface="Montserrat"/>
              </a:rPr>
              <a:t>AI</a:t>
            </a:r>
            <a:endParaRPr sz="1950">
              <a:solidFill>
                <a:schemeClr val="dk1"/>
              </a:solidFill>
              <a:latin typeface="Calibri"/>
              <a:ea typeface="Calibri"/>
              <a:cs typeface="Calibri"/>
              <a:sym typeface="Calibri"/>
            </a:endParaRPr>
          </a:p>
        </p:txBody>
      </p:sp>
      <p:pic>
        <p:nvPicPr>
          <p:cNvPr id="16" name="Google Shape;16;p1" descr="preencoded.png"/>
          <p:cNvPicPr preferRelativeResize="0"/>
          <p:nvPr/>
        </p:nvPicPr>
        <p:blipFill rotWithShape="1">
          <a:blip r:embed="rId3">
            <a:alphaModFix/>
          </a:blip>
          <a:srcRect/>
          <a:stretch/>
        </p:blipFill>
        <p:spPr>
          <a:xfrm>
            <a:off x="8953500" y="-95250"/>
            <a:ext cx="10477500" cy="10477500"/>
          </a:xfrm>
          <a:prstGeom prst="rect">
            <a:avLst/>
          </a:prstGeom>
          <a:noFill/>
          <a:ln>
            <a:noFill/>
          </a:ln>
        </p:spPr>
      </p:pic>
      <p:sp>
        <p:nvSpPr>
          <p:cNvPr id="18" name="Google Shape;18;p1"/>
          <p:cNvSpPr/>
          <p:nvPr/>
        </p:nvSpPr>
        <p:spPr>
          <a:xfrm>
            <a:off x="952500" y="3388072"/>
            <a:ext cx="7749419" cy="342900"/>
          </a:xfrm>
          <a:prstGeom prst="rect">
            <a:avLst/>
          </a:prstGeom>
          <a:noFill/>
          <a:ln>
            <a:noFill/>
          </a:ln>
        </p:spPr>
        <p:txBody>
          <a:bodyPr spcFirstLastPara="1" wrap="square" lIns="25400" tIns="25400" rIns="25400" bIns="25400" anchor="ctr" anchorCtr="0">
            <a:normAutofit lnSpcReduction="10000"/>
          </a:bodyPr>
          <a:lstStyle/>
          <a:p>
            <a:pPr marL="0" marR="0" lvl="0" indent="0" algn="l" rtl="0">
              <a:spcBef>
                <a:spcPts val="0"/>
              </a:spcBef>
              <a:spcAft>
                <a:spcPts val="0"/>
              </a:spcAft>
              <a:buClr>
                <a:srgbClr val="3FE0D0"/>
              </a:buClr>
              <a:buSzPts val="1950"/>
              <a:buFont typeface="Montserrat"/>
              <a:buNone/>
            </a:pPr>
            <a:r>
              <a:rPr lang="en-US" sz="1950" b="1">
                <a:solidFill>
                  <a:srgbClr val="3FE0D0"/>
                </a:solidFill>
                <a:latin typeface="Montserrat"/>
                <a:ea typeface="Montserrat"/>
                <a:cs typeface="Montserrat"/>
                <a:sym typeface="Montserrat"/>
              </a:rPr>
              <a:t>SESSION 03  ·  60 MIN  ·  DAY 1</a:t>
            </a:r>
            <a:endParaRPr sz="1950">
              <a:solidFill>
                <a:schemeClr val="dk1"/>
              </a:solidFill>
              <a:latin typeface="Calibri"/>
              <a:ea typeface="Calibri"/>
              <a:cs typeface="Calibri"/>
              <a:sym typeface="Calibri"/>
            </a:endParaRPr>
          </a:p>
        </p:txBody>
      </p:sp>
      <p:sp>
        <p:nvSpPr>
          <p:cNvPr id="19" name="Google Shape;19;p1"/>
          <p:cNvSpPr/>
          <p:nvPr/>
        </p:nvSpPr>
        <p:spPr>
          <a:xfrm>
            <a:off x="952500" y="4035772"/>
            <a:ext cx="7749419" cy="2282130"/>
          </a:xfrm>
          <a:prstGeom prst="rect">
            <a:avLst/>
          </a:prstGeom>
          <a:noFill/>
          <a:ln>
            <a:noFill/>
          </a:ln>
        </p:spPr>
        <p:txBody>
          <a:bodyPr spcFirstLastPara="1" wrap="square" lIns="25400" tIns="25400" rIns="25400" bIns="25400" anchor="t" anchorCtr="0">
            <a:normAutofit fontScale="92500" lnSpcReduction="10000"/>
          </a:bodyPr>
          <a:lstStyle/>
          <a:p>
            <a:pPr marL="0" marR="0" lvl="0" indent="0" algn="l" rtl="0">
              <a:lnSpc>
                <a:spcPct val="95000"/>
              </a:lnSpc>
              <a:spcBef>
                <a:spcPts val="0"/>
              </a:spcBef>
              <a:spcAft>
                <a:spcPts val="0"/>
              </a:spcAft>
              <a:buClr>
                <a:srgbClr val="FFFFFF"/>
              </a:buClr>
              <a:buSzPts val="9300"/>
              <a:buFont typeface="Montserrat"/>
              <a:buNone/>
            </a:pPr>
            <a:r>
              <a:rPr lang="en-US" sz="9300" b="1">
                <a:solidFill>
                  <a:srgbClr val="FFFFFF"/>
                </a:solidFill>
                <a:latin typeface="Montserrat"/>
                <a:ea typeface="Montserrat"/>
                <a:cs typeface="Montserrat"/>
                <a:sym typeface="Montserrat"/>
              </a:rPr>
              <a:t>SDLC </a:t>
            </a:r>
            <a:r>
              <a:rPr lang="en-US" sz="9300" b="1">
                <a:solidFill>
                  <a:srgbClr val="3FE0D0"/>
                </a:solidFill>
                <a:latin typeface="Montserrat"/>
                <a:ea typeface="Montserrat"/>
                <a:cs typeface="Montserrat"/>
                <a:sym typeface="Montserrat"/>
              </a:rPr>
              <a:t>Crash </a:t>
            </a:r>
            <a:r>
              <a:rPr lang="en-US" sz="9300" b="1">
                <a:solidFill>
                  <a:srgbClr val="FFFFFF"/>
                </a:solidFill>
                <a:latin typeface="Montserrat"/>
                <a:ea typeface="Montserrat"/>
                <a:cs typeface="Montserrat"/>
                <a:sym typeface="Montserrat"/>
              </a:rPr>
              <a:t>Course</a:t>
            </a:r>
            <a:endParaRPr sz="9300">
              <a:solidFill>
                <a:schemeClr val="dk1"/>
              </a:solidFill>
              <a:latin typeface="Calibri"/>
              <a:ea typeface="Calibri"/>
              <a:cs typeface="Calibri"/>
              <a:sym typeface="Calibri"/>
            </a:endParaRPr>
          </a:p>
        </p:txBody>
      </p:sp>
      <p:sp>
        <p:nvSpPr>
          <p:cNvPr id="20" name="Google Shape;20;p1"/>
          <p:cNvSpPr/>
          <p:nvPr/>
        </p:nvSpPr>
        <p:spPr>
          <a:xfrm>
            <a:off x="952500" y="6622703"/>
            <a:ext cx="3193552" cy="314325"/>
          </a:xfrm>
          <a:prstGeom prst="rect">
            <a:avLst/>
          </a:prstGeom>
          <a:noFill/>
          <a:ln>
            <a:noFill/>
          </a:ln>
        </p:spPr>
        <p:txBody>
          <a:bodyPr spcFirstLastPara="1" wrap="square" lIns="25400" tIns="25400" rIns="25400" bIns="25400" anchor="t" anchorCtr="0">
            <a:normAutofit lnSpcReduction="10000"/>
          </a:bodyPr>
          <a:lstStyle/>
          <a:p>
            <a:pPr marL="0" marR="0" lvl="0" indent="0" algn="l" rtl="0">
              <a:spcBef>
                <a:spcPts val="0"/>
              </a:spcBef>
              <a:spcAft>
                <a:spcPts val="0"/>
              </a:spcAft>
              <a:buClr>
                <a:srgbClr val="C9CBD1"/>
              </a:buClr>
              <a:buSzPts val="1800"/>
              <a:buFont typeface="Montserrat"/>
              <a:buNone/>
            </a:pPr>
            <a:r>
              <a:rPr lang="en-US" sz="1800" b="1">
                <a:solidFill>
                  <a:srgbClr val="C9CBD1"/>
                </a:solidFill>
                <a:latin typeface="Montserrat"/>
                <a:ea typeface="Montserrat"/>
                <a:cs typeface="Montserrat"/>
                <a:sym typeface="Montserrat"/>
              </a:rPr>
              <a:t>CHRIS KEHAYIAS</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03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THE SDLC LOOP</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661993"/>
          </a:xfrm>
          <a:prstGeom prst="rect">
            <a:avLst/>
          </a:prstGeom>
          <a:noFill/>
        </p:spPr>
        <p:txBody>
          <a:bodyPr wrap="square" lIns="0" tIns="0" rIns="0" bIns="0" anchor="t">
            <a:spAutoFit/>
          </a:bodyPr>
          <a:lstStyle/>
          <a:p>
            <a:pPr algn="l"/>
            <a:r>
              <a:rPr sz="5400" b="1" dirty="0">
                <a:solidFill>
                  <a:srgbClr val="14161C"/>
                </a:solidFill>
                <a:latin typeface="Montserrat"/>
              </a:rPr>
              <a:t>The shape of every </a:t>
            </a:r>
            <a:endParaRPr lang="en-US" sz="5400" b="1" dirty="0">
              <a:solidFill>
                <a:srgbClr val="14161C"/>
              </a:solidFill>
              <a:latin typeface="Montserrat"/>
            </a:endParaRPr>
          </a:p>
          <a:p>
            <a:pPr algn="l"/>
            <a:r>
              <a:rPr sz="5400" b="1" dirty="0">
                <a:solidFill>
                  <a:srgbClr val="14161C"/>
                </a:solidFill>
                <a:latin typeface="Montserrat"/>
              </a:rPr>
              <a:t>piece of software work.</a:t>
            </a:r>
          </a:p>
        </p:txBody>
      </p:sp>
      <p:sp>
        <p:nvSpPr>
          <p:cNvPr id="13" name="TextBox 12"/>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pic>
        <p:nvPicPr>
          <p:cNvPr id="14" name="Picture 13">
            <a:extLst>
              <a:ext uri="{FF2B5EF4-FFF2-40B4-BE49-F238E27FC236}">
                <a16:creationId xmlns:a16="http://schemas.microsoft.com/office/drawing/2014/main" id="{CCAE923A-F3EB-3524-F2C0-10084DEFD725}"/>
              </a:ext>
            </a:extLst>
          </p:cNvPr>
          <p:cNvPicPr>
            <a:picLocks noChangeAspect="1"/>
          </p:cNvPicPr>
          <p:nvPr/>
        </p:nvPicPr>
        <p:blipFill>
          <a:blip r:embed="rId3"/>
          <a:stretch>
            <a:fillRect/>
          </a:stretch>
        </p:blipFill>
        <p:spPr>
          <a:xfrm>
            <a:off x="9738360" y="1645920"/>
            <a:ext cx="7772400" cy="777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04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THE SIX PHASES, ONE LINE EACH</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Plan · Design · Build · Test · Ship · Maintain.</a:t>
            </a:r>
          </a:p>
        </p:txBody>
      </p:sp>
      <p:sp>
        <p:nvSpPr>
          <p:cNvPr id="8" name="TextBox 7"/>
          <p:cNvSpPr txBox="1"/>
          <p:nvPr/>
        </p:nvSpPr>
        <p:spPr>
          <a:xfrm>
            <a:off x="1143000" y="3474720"/>
            <a:ext cx="16002000" cy="5120640"/>
          </a:xfrm>
          <a:prstGeom prst="rect">
            <a:avLst/>
          </a:prstGeom>
          <a:noFill/>
        </p:spPr>
        <p:txBody>
          <a:bodyPr wrap="square" lIns="0" tIns="0" rIns="0" bIns="0">
            <a:spAutoFit/>
          </a:bodyPr>
          <a:lstStyle/>
          <a:p>
            <a:pPr algn="l">
              <a:spcAft>
                <a:spcPts val="1000"/>
              </a:spcAft>
            </a:pPr>
            <a:r>
              <a:rPr sz="2400" b="1">
                <a:solidFill>
                  <a:srgbClr val="3FE0D0"/>
                </a:solidFill>
                <a:latin typeface="Inter"/>
              </a:rPr>
              <a:t>▸  </a:t>
            </a:r>
            <a:r>
              <a:rPr sz="2400">
                <a:solidFill>
                  <a:srgbClr val="14161C"/>
                </a:solidFill>
                <a:latin typeface="Inter"/>
              </a:rPr>
              <a:t>PLAN — decide what's worth building, and why.</a:t>
            </a:r>
          </a:p>
          <a:p>
            <a:pPr algn="l">
              <a:spcAft>
                <a:spcPts val="1000"/>
              </a:spcAft>
            </a:pPr>
            <a:r>
              <a:rPr sz="2400" b="1">
                <a:solidFill>
                  <a:srgbClr val="3FE0D0"/>
                </a:solidFill>
                <a:latin typeface="Inter"/>
              </a:rPr>
              <a:t>▸  </a:t>
            </a:r>
            <a:r>
              <a:rPr sz="2400">
                <a:solidFill>
                  <a:srgbClr val="14161C"/>
                </a:solidFill>
                <a:latin typeface="Inter"/>
              </a:rPr>
              <a:t>DESIGN — sketch how it will work before writing it.</a:t>
            </a:r>
          </a:p>
          <a:p>
            <a:pPr algn="l">
              <a:spcAft>
                <a:spcPts val="1000"/>
              </a:spcAft>
            </a:pPr>
            <a:r>
              <a:rPr sz="2400" b="1">
                <a:solidFill>
                  <a:srgbClr val="3FE0D0"/>
                </a:solidFill>
                <a:latin typeface="Inter"/>
              </a:rPr>
              <a:t>▸  </a:t>
            </a:r>
            <a:r>
              <a:rPr sz="2400">
                <a:solidFill>
                  <a:srgbClr val="14161C"/>
                </a:solidFill>
                <a:latin typeface="Inter"/>
              </a:rPr>
              <a:t>BUILD — write the code that makes it real.</a:t>
            </a:r>
          </a:p>
          <a:p>
            <a:pPr algn="l">
              <a:spcAft>
                <a:spcPts val="1000"/>
              </a:spcAft>
            </a:pPr>
            <a:r>
              <a:rPr sz="2400" b="1">
                <a:solidFill>
                  <a:srgbClr val="3FE0D0"/>
                </a:solidFill>
                <a:latin typeface="Inter"/>
              </a:rPr>
              <a:t>▸  </a:t>
            </a:r>
            <a:r>
              <a:rPr sz="2400">
                <a:solidFill>
                  <a:srgbClr val="14161C"/>
                </a:solidFill>
                <a:latin typeface="Inter"/>
              </a:rPr>
              <a:t>TEST — prove it does what you said it would.</a:t>
            </a:r>
          </a:p>
          <a:p>
            <a:pPr algn="l">
              <a:spcAft>
                <a:spcPts val="1000"/>
              </a:spcAft>
            </a:pPr>
            <a:r>
              <a:rPr sz="2400" b="1">
                <a:solidFill>
                  <a:srgbClr val="3FE0D0"/>
                </a:solidFill>
                <a:latin typeface="Inter"/>
              </a:rPr>
              <a:t>▸  </a:t>
            </a:r>
            <a:r>
              <a:rPr sz="2400">
                <a:solidFill>
                  <a:srgbClr val="14161C"/>
                </a:solidFill>
                <a:latin typeface="Inter"/>
              </a:rPr>
              <a:t>SHIP — get it in front of the people who use it.</a:t>
            </a:r>
          </a:p>
          <a:p>
            <a:pPr algn="l">
              <a:spcAft>
                <a:spcPts val="1000"/>
              </a:spcAft>
            </a:pPr>
            <a:r>
              <a:rPr sz="2400" b="1">
                <a:solidFill>
                  <a:srgbClr val="3FE0D0"/>
                </a:solidFill>
                <a:latin typeface="Inter"/>
              </a:rPr>
              <a:t>▸  </a:t>
            </a:r>
            <a:r>
              <a:rPr sz="2400">
                <a:solidFill>
                  <a:srgbClr val="14161C"/>
                </a:solidFill>
                <a:latin typeface="Inter"/>
              </a:rPr>
              <a:t>MAINTAIN — keep it alive, keep it learning.</a:t>
            </a:r>
          </a:p>
        </p:txBody>
      </p:sp>
      <p:sp>
        <p:nvSpPr>
          <p:cNvPr id="9" name="TextBox 8"/>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05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THE PUNCHLINE</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It's a loop, not a line.</a:t>
            </a:r>
          </a:p>
        </p:txBody>
      </p:sp>
      <p:sp>
        <p:nvSpPr>
          <p:cNvPr id="8" name="TextBox 7"/>
          <p:cNvSpPr txBox="1"/>
          <p:nvPr/>
        </p:nvSpPr>
        <p:spPr>
          <a:xfrm>
            <a:off x="1143000" y="3246120"/>
            <a:ext cx="16002000" cy="548640"/>
          </a:xfrm>
          <a:prstGeom prst="rect">
            <a:avLst/>
          </a:prstGeom>
          <a:noFill/>
        </p:spPr>
        <p:txBody>
          <a:bodyPr wrap="square" lIns="0" tIns="0" rIns="0" bIns="0" anchor="t">
            <a:spAutoFit/>
          </a:bodyPr>
          <a:lstStyle/>
          <a:p>
            <a:pPr algn="l"/>
            <a:r>
              <a:rPr sz="2200" b="0">
                <a:solidFill>
                  <a:srgbClr val="6B6E78"/>
                </a:solidFill>
                <a:latin typeface="Inter"/>
              </a:rPr>
              <a:t>Maintain feeds back into Plan — that's the whole job.</a:t>
            </a:r>
          </a:p>
        </p:txBody>
      </p:sp>
      <p:sp>
        <p:nvSpPr>
          <p:cNvPr id="13" name="TextBox 12"/>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pic>
        <p:nvPicPr>
          <p:cNvPr id="14" name="Picture 13">
            <a:extLst>
              <a:ext uri="{FF2B5EF4-FFF2-40B4-BE49-F238E27FC236}">
                <a16:creationId xmlns:a16="http://schemas.microsoft.com/office/drawing/2014/main" id="{3167D1D7-CD3C-A6E3-D0D8-763C6ABE9638}"/>
              </a:ext>
            </a:extLst>
          </p:cNvPr>
          <p:cNvPicPr>
            <a:picLocks noChangeAspect="1"/>
          </p:cNvPicPr>
          <p:nvPr/>
        </p:nvPicPr>
        <p:blipFill>
          <a:blip r:embed="rId3"/>
          <a:stretch>
            <a:fillRect/>
          </a:stretch>
        </p:blipFill>
        <p:spPr>
          <a:xfrm>
            <a:off x="9738360" y="1645920"/>
            <a:ext cx="7772400" cy="7772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06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WITH AI IN THE LOOP</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The phases don't change. The density does.</a:t>
            </a:r>
          </a:p>
        </p:txBody>
      </p:sp>
      <p:sp>
        <p:nvSpPr>
          <p:cNvPr id="8" name="TextBox 7"/>
          <p:cNvSpPr txBox="1"/>
          <p:nvPr/>
        </p:nvSpPr>
        <p:spPr>
          <a:xfrm>
            <a:off x="1143000" y="3246120"/>
            <a:ext cx="16002000" cy="548640"/>
          </a:xfrm>
          <a:prstGeom prst="rect">
            <a:avLst/>
          </a:prstGeom>
          <a:noFill/>
        </p:spPr>
        <p:txBody>
          <a:bodyPr wrap="square" lIns="0" tIns="0" rIns="0" bIns="0" anchor="t">
            <a:spAutoFit/>
          </a:bodyPr>
          <a:lstStyle/>
          <a:p>
            <a:pPr algn="l"/>
            <a:r>
              <a:rPr sz="2200" b="0">
                <a:solidFill>
                  <a:srgbClr val="6B6E78"/>
                </a:solidFill>
                <a:latin typeface="Inter"/>
              </a:rPr>
              <a:t>Same six phases — what shifts is how much fits inside one cycle.</a:t>
            </a:r>
          </a:p>
        </p:txBody>
      </p:sp>
      <p:sp>
        <p:nvSpPr>
          <p:cNvPr id="9" name="TextBox 8"/>
          <p:cNvSpPr txBox="1"/>
          <p:nvPr/>
        </p:nvSpPr>
        <p:spPr>
          <a:xfrm>
            <a:off x="1143000" y="4023360"/>
            <a:ext cx="16002000" cy="5120640"/>
          </a:xfrm>
          <a:prstGeom prst="rect">
            <a:avLst/>
          </a:prstGeom>
          <a:noFill/>
        </p:spPr>
        <p:txBody>
          <a:bodyPr wrap="square" lIns="0" tIns="0" rIns="0" bIns="0">
            <a:spAutoFit/>
          </a:bodyPr>
          <a:lstStyle/>
          <a:p>
            <a:pPr algn="l">
              <a:spcAft>
                <a:spcPts val="1000"/>
              </a:spcAft>
            </a:pPr>
            <a:r>
              <a:rPr sz="2400" b="1">
                <a:solidFill>
                  <a:srgbClr val="3FE0D0"/>
                </a:solidFill>
                <a:latin typeface="Inter"/>
              </a:rPr>
              <a:t>▸  </a:t>
            </a:r>
            <a:r>
              <a:rPr sz="2400">
                <a:solidFill>
                  <a:srgbClr val="14161C"/>
                </a:solidFill>
                <a:latin typeface="Inter"/>
              </a:rPr>
              <a:t>PLAN — context, not just features. You design what Claude needs to know.</a:t>
            </a:r>
          </a:p>
          <a:p>
            <a:pPr algn="l">
              <a:spcAft>
                <a:spcPts val="1000"/>
              </a:spcAft>
            </a:pPr>
            <a:r>
              <a:rPr sz="2400" b="1">
                <a:solidFill>
                  <a:srgbClr val="3FE0D0"/>
                </a:solidFill>
                <a:latin typeface="Inter"/>
              </a:rPr>
              <a:t>▸  </a:t>
            </a:r>
            <a:r>
              <a:rPr sz="2400">
                <a:solidFill>
                  <a:srgbClr val="14161C"/>
                </a:solidFill>
                <a:latin typeface="Inter"/>
              </a:rPr>
              <a:t>DESIGN — diagrams and PRDs become inputs the AI consumes, not artifacts on a shelf.</a:t>
            </a:r>
          </a:p>
          <a:p>
            <a:pPr algn="l">
              <a:spcAft>
                <a:spcPts val="1000"/>
              </a:spcAft>
            </a:pPr>
            <a:r>
              <a:rPr sz="2400" b="1">
                <a:solidFill>
                  <a:srgbClr val="3FE0D0"/>
                </a:solidFill>
                <a:latin typeface="Inter"/>
              </a:rPr>
              <a:t>▸  </a:t>
            </a:r>
            <a:r>
              <a:rPr sz="2400">
                <a:solidFill>
                  <a:srgbClr val="14161C"/>
                </a:solidFill>
                <a:latin typeface="Inter"/>
              </a:rPr>
              <a:t>BUILD — atomic prompts beget atomic commits. Cycle time drops 5–10×.</a:t>
            </a:r>
          </a:p>
          <a:p>
            <a:pPr algn="l">
              <a:spcAft>
                <a:spcPts val="1000"/>
              </a:spcAft>
            </a:pPr>
            <a:r>
              <a:rPr sz="2400" b="1">
                <a:solidFill>
                  <a:srgbClr val="3FE0D0"/>
                </a:solidFill>
                <a:latin typeface="Inter"/>
              </a:rPr>
              <a:t>▸  </a:t>
            </a:r>
            <a:r>
              <a:rPr sz="2400">
                <a:solidFill>
                  <a:srgbClr val="14161C"/>
                </a:solidFill>
                <a:latin typeface="Inter"/>
              </a:rPr>
              <a:t>TEST — verify, don't trust. The model is fast; that's why the gate matters more.</a:t>
            </a:r>
          </a:p>
          <a:p>
            <a:pPr algn="l">
              <a:spcAft>
                <a:spcPts val="1000"/>
              </a:spcAft>
            </a:pPr>
            <a:r>
              <a:rPr sz="2400" b="1">
                <a:solidFill>
                  <a:srgbClr val="3FE0D0"/>
                </a:solidFill>
                <a:latin typeface="Inter"/>
              </a:rPr>
              <a:t>▸  </a:t>
            </a:r>
            <a:r>
              <a:rPr sz="2400">
                <a:solidFill>
                  <a:srgbClr val="14161C"/>
                </a:solidFill>
                <a:latin typeface="Inter"/>
              </a:rPr>
              <a:t>SHIP / MAINTAIN — the loop tightens; the carry-over of context is the asset.</a:t>
            </a:r>
          </a:p>
        </p:txBody>
      </p:sp>
      <p:sp>
        <p:nvSpPr>
          <p:cNvPr id="10" name="TextBox 9"/>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6450B-7C97-83FC-CB17-D68F357168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1A58FD-231D-2C31-F2F3-C50D226C0E5A}"/>
              </a:ext>
            </a:extLst>
          </p:cNvPr>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a:extLst>
              <a:ext uri="{FF2B5EF4-FFF2-40B4-BE49-F238E27FC236}">
                <a16:creationId xmlns:a16="http://schemas.microsoft.com/office/drawing/2014/main" id="{C8425496-AB00-3448-7FA8-38A23E482D38}"/>
              </a:ext>
            </a:extLst>
          </p:cNvPr>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a:extLst>
              <a:ext uri="{FF2B5EF4-FFF2-40B4-BE49-F238E27FC236}">
                <a16:creationId xmlns:a16="http://schemas.microsoft.com/office/drawing/2014/main" id="{7FE733A3-E327-F7A3-6526-51579C67BE29}"/>
              </a:ext>
            </a:extLst>
          </p:cNvPr>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05 / 16</a:t>
            </a:r>
          </a:p>
        </p:txBody>
      </p:sp>
      <p:sp>
        <p:nvSpPr>
          <p:cNvPr id="13" name="TextBox 12">
            <a:extLst>
              <a:ext uri="{FF2B5EF4-FFF2-40B4-BE49-F238E27FC236}">
                <a16:creationId xmlns:a16="http://schemas.microsoft.com/office/drawing/2014/main" id="{24FDBF51-B6F7-5CE4-0255-6218D469ED69}"/>
              </a:ext>
            </a:extLst>
          </p:cNvPr>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pic>
        <p:nvPicPr>
          <p:cNvPr id="9" name="Picture 8">
            <a:extLst>
              <a:ext uri="{FF2B5EF4-FFF2-40B4-BE49-F238E27FC236}">
                <a16:creationId xmlns:a16="http://schemas.microsoft.com/office/drawing/2014/main" id="{824F83B7-C41B-B146-54E3-1546000AB8D8}"/>
              </a:ext>
            </a:extLst>
          </p:cNvPr>
          <p:cNvPicPr>
            <a:picLocks noChangeAspect="1"/>
          </p:cNvPicPr>
          <p:nvPr/>
        </p:nvPicPr>
        <p:blipFill>
          <a:blip r:embed="rId3"/>
          <a:stretch>
            <a:fillRect/>
          </a:stretch>
        </p:blipFill>
        <p:spPr>
          <a:xfrm>
            <a:off x="4206240" y="0"/>
            <a:ext cx="10287000" cy="10287000"/>
          </a:xfrm>
          <a:prstGeom prst="rect">
            <a:avLst/>
          </a:prstGeom>
        </p:spPr>
      </p:pic>
    </p:spTree>
    <p:extLst>
      <p:ext uri="{BB962C8B-B14F-4D97-AF65-F5344CB8AC3E}">
        <p14:creationId xmlns:p14="http://schemas.microsoft.com/office/powerpoint/2010/main" val="289256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07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THE 5 CROSS-CUTTING PRINCIPLES</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Five habits that hold the AI-SDLC together.</a:t>
            </a:r>
          </a:p>
        </p:txBody>
      </p:sp>
      <p:sp>
        <p:nvSpPr>
          <p:cNvPr id="8" name="TextBox 7"/>
          <p:cNvSpPr txBox="1"/>
          <p:nvPr/>
        </p:nvSpPr>
        <p:spPr>
          <a:xfrm>
            <a:off x="1143000" y="3474720"/>
            <a:ext cx="16002000" cy="5120640"/>
          </a:xfrm>
          <a:prstGeom prst="rect">
            <a:avLst/>
          </a:prstGeom>
          <a:noFill/>
        </p:spPr>
        <p:txBody>
          <a:bodyPr wrap="square" lIns="0" tIns="0" rIns="0" bIns="0">
            <a:spAutoFit/>
          </a:bodyPr>
          <a:lstStyle/>
          <a:p>
            <a:pPr algn="l">
              <a:spcAft>
                <a:spcPts val="1000"/>
              </a:spcAft>
            </a:pPr>
            <a:r>
              <a:rPr sz="2400" b="1">
                <a:solidFill>
                  <a:srgbClr val="3FE0D0"/>
                </a:solidFill>
                <a:latin typeface="Inter"/>
              </a:rPr>
              <a:t>▸  </a:t>
            </a:r>
            <a:r>
              <a:rPr sz="2400">
                <a:solidFill>
                  <a:srgbClr val="14161C"/>
                </a:solidFill>
                <a:latin typeface="Inter"/>
              </a:rPr>
              <a:t>CONTEXT ENGINEERING — give the model what it needs before you ask.</a:t>
            </a:r>
          </a:p>
          <a:p>
            <a:pPr algn="l">
              <a:spcAft>
                <a:spcPts val="1000"/>
              </a:spcAft>
            </a:pPr>
            <a:r>
              <a:rPr sz="2400" b="1">
                <a:solidFill>
                  <a:srgbClr val="3FE0D0"/>
                </a:solidFill>
                <a:latin typeface="Inter"/>
              </a:rPr>
              <a:t>▸  </a:t>
            </a:r>
            <a:r>
              <a:rPr sz="2400">
                <a:solidFill>
                  <a:srgbClr val="14161C"/>
                </a:solidFill>
                <a:latin typeface="Inter"/>
              </a:rPr>
              <a:t>PLAN BEFORE GENERATE — outline the work; let the model fill it in.</a:t>
            </a:r>
          </a:p>
          <a:p>
            <a:pPr algn="l">
              <a:spcAft>
                <a:spcPts val="1000"/>
              </a:spcAft>
            </a:pPr>
            <a:r>
              <a:rPr sz="2400" b="1">
                <a:solidFill>
                  <a:srgbClr val="3FE0D0"/>
                </a:solidFill>
                <a:latin typeface="Inter"/>
              </a:rPr>
              <a:t>▸  </a:t>
            </a:r>
            <a:r>
              <a:rPr sz="2400">
                <a:solidFill>
                  <a:srgbClr val="14161C"/>
                </a:solidFill>
                <a:latin typeface="Inter"/>
              </a:rPr>
              <a:t>VERIFY, DON'T TRUST — every output is a draft until you read it.</a:t>
            </a:r>
          </a:p>
          <a:p>
            <a:pPr algn="l">
              <a:spcAft>
                <a:spcPts val="1000"/>
              </a:spcAft>
            </a:pPr>
            <a:r>
              <a:rPr sz="2400" b="1">
                <a:solidFill>
                  <a:srgbClr val="3FE0D0"/>
                </a:solidFill>
                <a:latin typeface="Inter"/>
              </a:rPr>
              <a:t>▸  </a:t>
            </a:r>
            <a:r>
              <a:rPr sz="2400">
                <a:solidFill>
                  <a:srgbClr val="14161C"/>
                </a:solidFill>
                <a:latin typeface="Inter"/>
              </a:rPr>
              <a:t>ATOMIC PROMPTS → ATOMIC COMMITS — one idea per prompt, one idea per commit.</a:t>
            </a:r>
          </a:p>
          <a:p>
            <a:pPr algn="l">
              <a:spcAft>
                <a:spcPts val="1000"/>
              </a:spcAft>
            </a:pPr>
            <a:r>
              <a:rPr sz="2400" b="1">
                <a:solidFill>
                  <a:srgbClr val="3FE0D0"/>
                </a:solidFill>
                <a:latin typeface="Inter"/>
              </a:rPr>
              <a:t>▸  </a:t>
            </a:r>
            <a:r>
              <a:rPr sz="2400">
                <a:solidFill>
                  <a:srgbClr val="14161C"/>
                </a:solidFill>
                <a:latin typeface="Inter"/>
              </a:rPr>
              <a:t>RIGHT TOOL FOR RIGHT SCOPE — Claude Code, Cursor, ChatGPT each have a lane.</a:t>
            </a:r>
          </a:p>
        </p:txBody>
      </p:sp>
      <p:sp>
        <p:nvSpPr>
          <p:cNvPr id="9" name="TextBox 8"/>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AE837B-71F6-AD90-E1B4-949A153C89AC}"/>
              </a:ext>
            </a:extLst>
          </p:cNvPr>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A550640D-4804-BBB4-8C22-328819626EFE}"/>
              </a:ext>
            </a:extLst>
          </p:cNvPr>
          <p:cNvPicPr>
            <a:picLocks noChangeAspect="1"/>
          </p:cNvPicPr>
          <p:nvPr/>
        </p:nvPicPr>
        <p:blipFill>
          <a:blip r:embed="rId2"/>
          <a:stretch>
            <a:fillRect/>
          </a:stretch>
        </p:blipFill>
        <p:spPr>
          <a:xfrm>
            <a:off x="1408922" y="-26437"/>
            <a:ext cx="15470155" cy="10313437"/>
          </a:xfrm>
          <a:prstGeom prst="rect">
            <a:avLst/>
          </a:prstGeom>
        </p:spPr>
      </p:pic>
    </p:spTree>
    <p:extLst>
      <p:ext uri="{BB962C8B-B14F-4D97-AF65-F5344CB8AC3E}">
        <p14:creationId xmlns:p14="http://schemas.microsoft.com/office/powerpoint/2010/main" val="1722696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544800" y="502920"/>
            <a:ext cx="1691640" cy="274320"/>
          </a:xfrm>
          <a:prstGeom prst="rect">
            <a:avLst/>
          </a:prstGeom>
          <a:noFill/>
        </p:spPr>
        <p:txBody>
          <a:bodyPr wrap="square" lIns="0" tIns="0" rIns="0" bIns="0" anchor="t">
            <a:spAutoFit/>
          </a:bodyPr>
          <a:lstStyle/>
          <a:p>
            <a:pPr algn="r"/>
            <a:r>
              <a:rPr sz="1200" b="0">
                <a:solidFill>
                  <a:srgbClr val="C9CBD1"/>
                </a:solidFill>
                <a:latin typeface="JetBrains Mono"/>
              </a:rPr>
              <a:t>08 / 16</a:t>
            </a:r>
          </a:p>
        </p:txBody>
      </p:sp>
      <p:sp>
        <p:nvSpPr>
          <p:cNvPr id="4" name="TextBox 3"/>
          <p:cNvSpPr txBox="1"/>
          <p:nvPr/>
        </p:nvSpPr>
        <p:spPr>
          <a:xfrm>
            <a:off x="4343400" y="3200400"/>
            <a:ext cx="10972800" cy="365760"/>
          </a:xfrm>
          <a:prstGeom prst="rect">
            <a:avLst/>
          </a:prstGeom>
          <a:noFill/>
        </p:spPr>
        <p:txBody>
          <a:bodyPr wrap="square" lIns="0" tIns="0" rIns="0" bIns="0" anchor="t">
            <a:spAutoFit/>
          </a:bodyPr>
          <a:lstStyle/>
          <a:p>
            <a:pPr algn="l"/>
            <a:r>
              <a:rPr sz="1800" b="1">
                <a:solidFill>
                  <a:srgbClr val="3FE0D0"/>
                </a:solidFill>
                <a:latin typeface="JetBrains Mono"/>
              </a:rPr>
              <a:t>PART TWO  ·  THE MECHANICS</a:t>
            </a:r>
          </a:p>
        </p:txBody>
      </p:sp>
      <p:sp>
        <p:nvSpPr>
          <p:cNvPr id="5" name="TextBox 4"/>
          <p:cNvSpPr txBox="1"/>
          <p:nvPr/>
        </p:nvSpPr>
        <p:spPr>
          <a:xfrm>
            <a:off x="4343400" y="3840480"/>
            <a:ext cx="10058400" cy="2468880"/>
          </a:xfrm>
          <a:prstGeom prst="rect">
            <a:avLst/>
          </a:prstGeom>
          <a:noFill/>
        </p:spPr>
        <p:txBody>
          <a:bodyPr wrap="square" lIns="0" tIns="0" rIns="0" bIns="0">
            <a:spAutoFit/>
          </a:bodyPr>
          <a:lstStyle/>
          <a:p>
            <a:pPr algn="l"/>
            <a:r>
              <a:rPr sz="8200" b="1">
                <a:solidFill>
                  <a:srgbClr val="FFFFFF"/>
                </a:solidFill>
                <a:latin typeface="Montserrat"/>
              </a:rPr>
              <a:t>Now: just enough</a:t>
            </a:r>
          </a:p>
          <a:p>
            <a:pPr algn="l"/>
            <a:r>
              <a:rPr sz="8200" b="1">
                <a:solidFill>
                  <a:srgbClr val="FFFFFF"/>
                </a:solidFill>
                <a:latin typeface="Montserrat"/>
              </a:rPr>
              <a:t>git, terminal, and</a:t>
            </a:r>
          </a:p>
          <a:p>
            <a:pPr algn="l"/>
            <a:r>
              <a:rPr sz="8200" b="1">
                <a:solidFill>
                  <a:srgbClr val="FFFFFF"/>
                </a:solidFill>
                <a:latin typeface="Montserrat"/>
              </a:rPr>
              <a:t>VS Code.</a:t>
            </a:r>
          </a:p>
        </p:txBody>
      </p:sp>
      <p:sp>
        <p:nvSpPr>
          <p:cNvPr id="7" name="TextBox 6"/>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09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THE TERMINAL, WITHOUT THE PANIC</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The terminal is a conversation.</a:t>
            </a:r>
          </a:p>
        </p:txBody>
      </p:sp>
      <p:sp>
        <p:nvSpPr>
          <p:cNvPr id="8" name="TextBox 7"/>
          <p:cNvSpPr txBox="1"/>
          <p:nvPr/>
        </p:nvSpPr>
        <p:spPr>
          <a:xfrm>
            <a:off x="1143000" y="3246120"/>
            <a:ext cx="16002000" cy="548640"/>
          </a:xfrm>
          <a:prstGeom prst="rect">
            <a:avLst/>
          </a:prstGeom>
          <a:noFill/>
        </p:spPr>
        <p:txBody>
          <a:bodyPr wrap="square" lIns="0" tIns="0" rIns="0" bIns="0" anchor="t">
            <a:spAutoFit/>
          </a:bodyPr>
          <a:lstStyle/>
          <a:p>
            <a:pPr algn="l"/>
            <a:r>
              <a:rPr sz="2200" b="0">
                <a:solidFill>
                  <a:srgbClr val="6B6E78"/>
                </a:solidFill>
                <a:latin typeface="Inter"/>
              </a:rPr>
              <a:t>It tells you exactly what's wrong if you read the whole message.</a:t>
            </a:r>
          </a:p>
        </p:txBody>
      </p:sp>
      <p:sp>
        <p:nvSpPr>
          <p:cNvPr id="9" name="TextBox 8"/>
          <p:cNvSpPr txBox="1"/>
          <p:nvPr/>
        </p:nvSpPr>
        <p:spPr>
          <a:xfrm>
            <a:off x="1143000" y="4023360"/>
            <a:ext cx="16002000" cy="4572000"/>
          </a:xfrm>
          <a:prstGeom prst="rect">
            <a:avLst/>
          </a:prstGeom>
          <a:noFill/>
        </p:spPr>
        <p:txBody>
          <a:bodyPr wrap="square" lIns="0" tIns="0" rIns="0" bIns="0">
            <a:spAutoFit/>
          </a:bodyPr>
          <a:lstStyle/>
          <a:p>
            <a:pPr algn="l">
              <a:spcAft>
                <a:spcPts val="1000"/>
              </a:spcAft>
            </a:pPr>
            <a:r>
              <a:rPr sz="2200" b="1">
                <a:solidFill>
                  <a:srgbClr val="3FE0D0"/>
                </a:solidFill>
                <a:latin typeface="JetBrains Mono"/>
              </a:rPr>
              <a:t>▸  </a:t>
            </a:r>
            <a:r>
              <a:rPr sz="2200">
                <a:solidFill>
                  <a:srgbClr val="14161C"/>
                </a:solidFill>
                <a:latin typeface="JetBrains Mono"/>
              </a:rPr>
              <a:t>pwd  —  print working directory.  Where am I?</a:t>
            </a:r>
          </a:p>
          <a:p>
            <a:pPr algn="l">
              <a:spcAft>
                <a:spcPts val="1000"/>
              </a:spcAft>
            </a:pPr>
            <a:r>
              <a:rPr sz="2200" b="1">
                <a:solidFill>
                  <a:srgbClr val="3FE0D0"/>
                </a:solidFill>
                <a:latin typeface="JetBrains Mono"/>
              </a:rPr>
              <a:t>▸  </a:t>
            </a:r>
            <a:r>
              <a:rPr sz="2200">
                <a:solidFill>
                  <a:srgbClr val="14161C"/>
                </a:solidFill>
                <a:latin typeface="JetBrains Mono"/>
              </a:rPr>
              <a:t>cd   —  change directory.  Move me there.</a:t>
            </a:r>
          </a:p>
          <a:p>
            <a:pPr algn="l">
              <a:spcAft>
                <a:spcPts val="1000"/>
              </a:spcAft>
            </a:pPr>
            <a:r>
              <a:rPr sz="2200" b="1">
                <a:solidFill>
                  <a:srgbClr val="3FE0D0"/>
                </a:solidFill>
                <a:latin typeface="JetBrains Mono"/>
              </a:rPr>
              <a:t>▸  </a:t>
            </a:r>
            <a:r>
              <a:rPr sz="2200">
                <a:solidFill>
                  <a:srgbClr val="14161C"/>
                </a:solidFill>
                <a:latin typeface="JetBrains Mono"/>
              </a:rPr>
              <a:t>ls   —  list.  What's in this folder?</a:t>
            </a:r>
          </a:p>
          <a:p>
            <a:pPr algn="l">
              <a:spcAft>
                <a:spcPts val="1000"/>
              </a:spcAft>
            </a:pPr>
            <a:r>
              <a:rPr sz="2200" b="1">
                <a:solidFill>
                  <a:srgbClr val="3FE0D0"/>
                </a:solidFill>
                <a:latin typeface="JetBrains Mono"/>
              </a:rPr>
              <a:t>▸  </a:t>
            </a:r>
            <a:r>
              <a:rPr sz="2200">
                <a:solidFill>
                  <a:srgbClr val="14161C"/>
                </a:solidFill>
                <a:latin typeface="JetBrains Mono"/>
              </a:rPr>
              <a:t>Read the WHOLE error.  The first line names it; the last line tells you what to do.</a:t>
            </a:r>
          </a:p>
          <a:p>
            <a:pPr algn="l">
              <a:spcAft>
                <a:spcPts val="1000"/>
              </a:spcAft>
            </a:pPr>
            <a:r>
              <a:rPr sz="2200" b="1">
                <a:solidFill>
                  <a:srgbClr val="3FE0D0"/>
                </a:solidFill>
                <a:latin typeface="JetBrains Mono"/>
              </a:rPr>
              <a:t>▸  </a:t>
            </a:r>
            <a:r>
              <a:rPr sz="2200">
                <a:solidFill>
                  <a:srgbClr val="14161C"/>
                </a:solidFill>
                <a:latin typeface="JetBrains Mono"/>
              </a:rPr>
              <a:t>When stuck, run /project:explain-error — built for exactly this moment.</a:t>
            </a:r>
          </a:p>
        </p:txBody>
      </p:sp>
      <p:sp>
        <p:nvSpPr>
          <p:cNvPr id="10" name="TextBox 9"/>
          <p:cNvSpPr txBox="1"/>
          <p:nvPr/>
        </p:nvSpPr>
        <p:spPr>
          <a:xfrm>
            <a:off x="1143000" y="9006840"/>
            <a:ext cx="16002000" cy="411480"/>
          </a:xfrm>
          <a:prstGeom prst="rect">
            <a:avLst/>
          </a:prstGeom>
          <a:noFill/>
        </p:spPr>
        <p:txBody>
          <a:bodyPr wrap="square" lIns="0" tIns="0">
            <a:spAutoFit/>
          </a:bodyPr>
          <a:lstStyle/>
          <a:p>
            <a:r>
              <a:rPr sz="1800" b="1" i="1">
                <a:solidFill>
                  <a:srgbClr val="F58220"/>
                </a:solidFill>
                <a:latin typeface="Inter"/>
              </a:rPr>
              <a:t>Commandment V  —  Thou shalt not fear thy terminal.</a:t>
            </a:r>
          </a:p>
        </p:txBody>
      </p:sp>
      <p:sp>
        <p:nvSpPr>
          <p:cNvPr id="11" name="TextBox 10"/>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10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GIT MENTAL MODEL</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Five boxes. Four arrows.</a:t>
            </a:r>
          </a:p>
        </p:txBody>
      </p:sp>
      <p:sp>
        <p:nvSpPr>
          <p:cNvPr id="8" name="TextBox 7"/>
          <p:cNvSpPr txBox="1"/>
          <p:nvPr/>
        </p:nvSpPr>
        <p:spPr>
          <a:xfrm>
            <a:off x="1143000" y="3246120"/>
            <a:ext cx="16002000" cy="548640"/>
          </a:xfrm>
          <a:prstGeom prst="rect">
            <a:avLst/>
          </a:prstGeom>
          <a:noFill/>
        </p:spPr>
        <p:txBody>
          <a:bodyPr wrap="square" lIns="0" tIns="0" rIns="0" bIns="0" anchor="t">
            <a:spAutoFit/>
          </a:bodyPr>
          <a:lstStyle/>
          <a:p>
            <a:pPr algn="l"/>
            <a:r>
              <a:rPr sz="2200" b="0">
                <a:solidFill>
                  <a:srgbClr val="6B6E78"/>
                </a:solidFill>
                <a:latin typeface="Inter"/>
              </a:rPr>
              <a:t>That's the whole picture. We'll come back to it every time you get lost.</a:t>
            </a:r>
          </a:p>
        </p:txBody>
      </p:sp>
      <p:sp>
        <p:nvSpPr>
          <p:cNvPr id="9" name="Rectangle 8"/>
          <p:cNvSpPr/>
          <p:nvPr/>
        </p:nvSpPr>
        <p:spPr>
          <a:xfrm>
            <a:off x="1143000" y="4572000"/>
            <a:ext cx="16002000" cy="4846320"/>
          </a:xfrm>
          <a:prstGeom prst="rect">
            <a:avLst/>
          </a:prstGeom>
          <a:solidFill>
            <a:srgbClr val="ECEAE3"/>
          </a:solidFill>
          <a:ln w="254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4937760"/>
            <a:ext cx="15270480" cy="457200"/>
          </a:xfrm>
          <a:prstGeom prst="rect">
            <a:avLst/>
          </a:prstGeom>
          <a:noFill/>
        </p:spPr>
        <p:txBody>
          <a:bodyPr wrap="square" lIns="0" tIns="0" rIns="0" bIns="0" anchor="t">
            <a:spAutoFit/>
          </a:bodyPr>
          <a:lstStyle/>
          <a:p>
            <a:pPr algn="l"/>
            <a:r>
              <a:rPr sz="1600" b="1">
                <a:solidFill>
                  <a:srgbClr val="F58220"/>
                </a:solidFill>
                <a:latin typeface="JetBrains Mono"/>
              </a:rPr>
              <a:t>[ DIAGRAM TO INSERT ]</a:t>
            </a:r>
          </a:p>
        </p:txBody>
      </p:sp>
      <p:sp>
        <p:nvSpPr>
          <p:cNvPr id="11" name="TextBox 10"/>
          <p:cNvSpPr txBox="1"/>
          <p:nvPr/>
        </p:nvSpPr>
        <p:spPr>
          <a:xfrm>
            <a:off x="1508760" y="5440680"/>
            <a:ext cx="15270480" cy="640080"/>
          </a:xfrm>
          <a:prstGeom prst="rect">
            <a:avLst/>
          </a:prstGeom>
          <a:noFill/>
        </p:spPr>
        <p:txBody>
          <a:bodyPr wrap="square" lIns="0" tIns="0" rIns="0" bIns="0" anchor="t">
            <a:spAutoFit/>
          </a:bodyPr>
          <a:lstStyle/>
          <a:p>
            <a:pPr algn="l"/>
            <a:r>
              <a:rPr sz="2000" b="1">
                <a:solidFill>
                  <a:srgbClr val="14161C"/>
                </a:solidFill>
                <a:latin typeface="Inter"/>
              </a:rPr>
              <a:t>Five boxes left-to-right: Working Tree → Staging → Commit → Branch → Remote</a:t>
            </a:r>
          </a:p>
        </p:txBody>
      </p:sp>
      <p:sp>
        <p:nvSpPr>
          <p:cNvPr id="12" name="TextBox 11"/>
          <p:cNvSpPr txBox="1"/>
          <p:nvPr/>
        </p:nvSpPr>
        <p:spPr>
          <a:xfrm>
            <a:off x="1508760" y="6217920"/>
            <a:ext cx="15270480" cy="2834640"/>
          </a:xfrm>
          <a:prstGeom prst="rect">
            <a:avLst/>
          </a:prstGeom>
          <a:noFill/>
        </p:spPr>
        <p:txBody>
          <a:bodyPr wrap="square" lIns="0" tIns="0" rIns="0" bIns="0">
            <a:spAutoFit/>
          </a:bodyPr>
          <a:lstStyle/>
          <a:p>
            <a:pPr algn="l">
              <a:spcAft>
                <a:spcPts val="1000"/>
              </a:spcAft>
            </a:pPr>
            <a:r>
              <a:rPr sz="1800" b="1">
                <a:solidFill>
                  <a:srgbClr val="F58220"/>
                </a:solidFill>
                <a:latin typeface="Inter"/>
              </a:rPr>
              <a:t>▸  </a:t>
            </a:r>
            <a:r>
              <a:rPr sz="1800">
                <a:solidFill>
                  <a:srgbClr val="6B6E78"/>
                </a:solidFill>
                <a:latin typeface="Inter"/>
              </a:rPr>
              <a:t>Boxes labeled (in order): Working Tree, Staging Area, Local Commits, Branch (HEAD), Remote (GitHub).</a:t>
            </a:r>
          </a:p>
          <a:p>
            <a:pPr algn="l">
              <a:spcAft>
                <a:spcPts val="1000"/>
              </a:spcAft>
            </a:pPr>
            <a:r>
              <a:rPr sz="1800" b="1">
                <a:solidFill>
                  <a:srgbClr val="F58220"/>
                </a:solidFill>
                <a:latin typeface="Inter"/>
              </a:rPr>
              <a:t>▸  </a:t>
            </a:r>
            <a:r>
              <a:rPr sz="1800">
                <a:solidFill>
                  <a:srgbClr val="6B6E78"/>
                </a:solidFill>
                <a:latin typeface="Inter"/>
              </a:rPr>
              <a:t>Arrows labeled: 'git add', 'git commit', 'git push' between the corresponding boxes.</a:t>
            </a:r>
          </a:p>
          <a:p>
            <a:pPr algn="l">
              <a:spcAft>
                <a:spcPts val="1000"/>
              </a:spcAft>
            </a:pPr>
            <a:r>
              <a:rPr sz="1800" b="1">
                <a:solidFill>
                  <a:srgbClr val="F58220"/>
                </a:solidFill>
                <a:latin typeface="Inter"/>
              </a:rPr>
              <a:t>▸  </a:t>
            </a:r>
            <a:r>
              <a:rPr sz="1800">
                <a:solidFill>
                  <a:srgbClr val="6B6E78"/>
                </a:solidFill>
                <a:latin typeface="Inter"/>
              </a:rPr>
              <a:t>Aside text below: 'Snapshots, not saving. Every commit is a checkpoint you can return to.'</a:t>
            </a:r>
          </a:p>
        </p:txBody>
      </p:sp>
      <p:sp>
        <p:nvSpPr>
          <p:cNvPr id="13" name="TextBox 12"/>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11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THE ONLY 6 COMMANDS YOU NEED TODAY</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status · add · commit · push · pull · checkout.</a:t>
            </a:r>
          </a:p>
        </p:txBody>
      </p:sp>
      <p:sp>
        <p:nvSpPr>
          <p:cNvPr id="8" name="TextBox 7"/>
          <p:cNvSpPr txBox="1"/>
          <p:nvPr/>
        </p:nvSpPr>
        <p:spPr>
          <a:xfrm>
            <a:off x="1143000" y="3909060"/>
            <a:ext cx="16002000" cy="5120640"/>
          </a:xfrm>
          <a:prstGeom prst="rect">
            <a:avLst/>
          </a:prstGeom>
          <a:noFill/>
        </p:spPr>
        <p:txBody>
          <a:bodyPr wrap="square" lIns="0" tIns="0" rIns="0" bIns="0">
            <a:spAutoFit/>
          </a:bodyPr>
          <a:lstStyle/>
          <a:p>
            <a:pPr algn="l">
              <a:spcAft>
                <a:spcPts val="1000"/>
              </a:spcAft>
            </a:pPr>
            <a:r>
              <a:rPr sz="2400" b="1" dirty="0">
                <a:solidFill>
                  <a:srgbClr val="3FE0D0"/>
                </a:solidFill>
                <a:latin typeface="Inter"/>
              </a:rPr>
              <a:t>▸  </a:t>
            </a:r>
            <a:r>
              <a:rPr sz="2400" dirty="0">
                <a:solidFill>
                  <a:srgbClr val="14161C"/>
                </a:solidFill>
                <a:latin typeface="Inter"/>
              </a:rPr>
              <a:t>git status     —  what's changed, what's staged, what branch I'm on.</a:t>
            </a:r>
          </a:p>
          <a:p>
            <a:pPr algn="l">
              <a:spcAft>
                <a:spcPts val="1000"/>
              </a:spcAft>
            </a:pPr>
            <a:r>
              <a:rPr sz="2400" b="1" dirty="0">
                <a:solidFill>
                  <a:srgbClr val="3FE0D0"/>
                </a:solidFill>
                <a:latin typeface="Inter"/>
              </a:rPr>
              <a:t>▸  </a:t>
            </a:r>
            <a:r>
              <a:rPr sz="2400" dirty="0">
                <a:solidFill>
                  <a:srgbClr val="14161C"/>
                </a:solidFill>
                <a:latin typeface="Inter"/>
              </a:rPr>
              <a:t>git add        —  put changes into the staging area.</a:t>
            </a:r>
          </a:p>
          <a:p>
            <a:pPr algn="l">
              <a:spcAft>
                <a:spcPts val="1000"/>
              </a:spcAft>
            </a:pPr>
            <a:r>
              <a:rPr sz="2400" b="1" dirty="0">
                <a:solidFill>
                  <a:srgbClr val="3FE0D0"/>
                </a:solidFill>
                <a:latin typeface="Inter"/>
              </a:rPr>
              <a:t>▸  </a:t>
            </a:r>
            <a:r>
              <a:rPr sz="2400" dirty="0">
                <a:solidFill>
                  <a:srgbClr val="14161C"/>
                </a:solidFill>
                <a:latin typeface="Inter"/>
              </a:rPr>
              <a:t>git commit     —  snapshot the staged changes, with a message.</a:t>
            </a:r>
          </a:p>
          <a:p>
            <a:pPr algn="l">
              <a:spcAft>
                <a:spcPts val="1000"/>
              </a:spcAft>
            </a:pPr>
            <a:r>
              <a:rPr sz="2400" b="1" dirty="0">
                <a:solidFill>
                  <a:srgbClr val="3FE0D0"/>
                </a:solidFill>
                <a:latin typeface="Inter"/>
              </a:rPr>
              <a:t>▸  </a:t>
            </a:r>
            <a:r>
              <a:rPr sz="2400" dirty="0">
                <a:solidFill>
                  <a:srgbClr val="14161C"/>
                </a:solidFill>
                <a:latin typeface="Inter"/>
              </a:rPr>
              <a:t>git push       —  send my commits to GitHub.</a:t>
            </a:r>
          </a:p>
          <a:p>
            <a:pPr algn="l">
              <a:spcAft>
                <a:spcPts val="1000"/>
              </a:spcAft>
            </a:pPr>
            <a:r>
              <a:rPr sz="2400" b="1" dirty="0">
                <a:solidFill>
                  <a:srgbClr val="3FE0D0"/>
                </a:solidFill>
                <a:latin typeface="Inter"/>
              </a:rPr>
              <a:t>▸  </a:t>
            </a:r>
            <a:r>
              <a:rPr sz="2400" dirty="0">
                <a:solidFill>
                  <a:srgbClr val="14161C"/>
                </a:solidFill>
                <a:latin typeface="Inter"/>
              </a:rPr>
              <a:t>git pull       —  bring teammates' commits down to me.</a:t>
            </a:r>
          </a:p>
          <a:p>
            <a:pPr algn="l">
              <a:spcAft>
                <a:spcPts val="1000"/>
              </a:spcAft>
            </a:pPr>
            <a:r>
              <a:rPr sz="2400" b="1" dirty="0">
                <a:solidFill>
                  <a:srgbClr val="3FE0D0"/>
                </a:solidFill>
                <a:latin typeface="Inter"/>
              </a:rPr>
              <a:t>▸  </a:t>
            </a:r>
            <a:r>
              <a:rPr sz="2400" dirty="0">
                <a:solidFill>
                  <a:srgbClr val="14161C"/>
                </a:solidFill>
                <a:latin typeface="Inter"/>
              </a:rPr>
              <a:t>git checkout   —  switch branches, or jump to a past commit.</a:t>
            </a:r>
          </a:p>
        </p:txBody>
      </p:sp>
      <p:sp>
        <p:nvSpPr>
          <p:cNvPr id="9" name="TextBox 8"/>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12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VS CODE TOUR</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Your home base for the rest of the workshop.</a:t>
            </a:r>
          </a:p>
        </p:txBody>
      </p:sp>
      <p:sp>
        <p:nvSpPr>
          <p:cNvPr id="8" name="TextBox 7"/>
          <p:cNvSpPr txBox="1"/>
          <p:nvPr/>
        </p:nvSpPr>
        <p:spPr>
          <a:xfrm>
            <a:off x="1143000" y="3840480"/>
            <a:ext cx="16002000" cy="548640"/>
          </a:xfrm>
          <a:prstGeom prst="rect">
            <a:avLst/>
          </a:prstGeom>
          <a:noFill/>
        </p:spPr>
        <p:txBody>
          <a:bodyPr wrap="square" lIns="0" tIns="0" rIns="0" bIns="0" anchor="t">
            <a:spAutoFit/>
          </a:bodyPr>
          <a:lstStyle/>
          <a:p>
            <a:pPr algn="l"/>
            <a:r>
              <a:rPr sz="2200" b="0" dirty="0">
                <a:solidFill>
                  <a:srgbClr val="6B6E78"/>
                </a:solidFill>
                <a:latin typeface="Inter"/>
              </a:rPr>
              <a:t>Annotated screenshot — we'll click through it live too.</a:t>
            </a:r>
          </a:p>
        </p:txBody>
      </p:sp>
      <p:sp>
        <p:nvSpPr>
          <p:cNvPr id="9" name="Rectangle 8"/>
          <p:cNvSpPr/>
          <p:nvPr/>
        </p:nvSpPr>
        <p:spPr>
          <a:xfrm>
            <a:off x="1143000" y="4572000"/>
            <a:ext cx="16002000" cy="4846320"/>
          </a:xfrm>
          <a:prstGeom prst="rect">
            <a:avLst/>
          </a:prstGeom>
          <a:solidFill>
            <a:srgbClr val="ECEAE3"/>
          </a:solidFill>
          <a:ln w="25400">
            <a:solidFill>
              <a:srgbClr val="F58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4937760"/>
            <a:ext cx="15270480" cy="457200"/>
          </a:xfrm>
          <a:prstGeom prst="rect">
            <a:avLst/>
          </a:prstGeom>
          <a:noFill/>
        </p:spPr>
        <p:txBody>
          <a:bodyPr wrap="square" lIns="0" tIns="0" rIns="0" bIns="0" anchor="t">
            <a:spAutoFit/>
          </a:bodyPr>
          <a:lstStyle/>
          <a:p>
            <a:pPr algn="l"/>
            <a:r>
              <a:rPr sz="1600" b="1">
                <a:solidFill>
                  <a:srgbClr val="F58220"/>
                </a:solidFill>
                <a:latin typeface="JetBrains Mono"/>
              </a:rPr>
              <a:t>[ DIAGRAM TO INSERT ]</a:t>
            </a:r>
          </a:p>
        </p:txBody>
      </p:sp>
      <p:sp>
        <p:nvSpPr>
          <p:cNvPr id="11" name="TextBox 10"/>
          <p:cNvSpPr txBox="1"/>
          <p:nvPr/>
        </p:nvSpPr>
        <p:spPr>
          <a:xfrm>
            <a:off x="1508760" y="5440680"/>
            <a:ext cx="15270480" cy="640080"/>
          </a:xfrm>
          <a:prstGeom prst="rect">
            <a:avLst/>
          </a:prstGeom>
          <a:noFill/>
        </p:spPr>
        <p:txBody>
          <a:bodyPr wrap="square" lIns="0" tIns="0" rIns="0" bIns="0" anchor="t">
            <a:spAutoFit/>
          </a:bodyPr>
          <a:lstStyle/>
          <a:p>
            <a:pPr algn="l"/>
            <a:r>
              <a:rPr sz="2000" b="1">
                <a:solidFill>
                  <a:srgbClr val="14161C"/>
                </a:solidFill>
                <a:latin typeface="Inter"/>
              </a:rPr>
              <a:t>Annotated screenshot of VS Code with callouts on key panels</a:t>
            </a:r>
          </a:p>
        </p:txBody>
      </p:sp>
      <p:sp>
        <p:nvSpPr>
          <p:cNvPr id="12" name="TextBox 11"/>
          <p:cNvSpPr txBox="1"/>
          <p:nvPr/>
        </p:nvSpPr>
        <p:spPr>
          <a:xfrm>
            <a:off x="1508760" y="6217920"/>
            <a:ext cx="15270480" cy="2834640"/>
          </a:xfrm>
          <a:prstGeom prst="rect">
            <a:avLst/>
          </a:prstGeom>
          <a:noFill/>
        </p:spPr>
        <p:txBody>
          <a:bodyPr wrap="square" lIns="0" tIns="0" rIns="0" bIns="0">
            <a:spAutoFit/>
          </a:bodyPr>
          <a:lstStyle/>
          <a:p>
            <a:pPr algn="l">
              <a:spcAft>
                <a:spcPts val="1000"/>
              </a:spcAft>
            </a:pPr>
            <a:r>
              <a:rPr sz="1800" b="1">
                <a:solidFill>
                  <a:srgbClr val="F58220"/>
                </a:solidFill>
                <a:latin typeface="Inter"/>
              </a:rPr>
              <a:t>▸  </a:t>
            </a:r>
            <a:r>
              <a:rPr sz="1800">
                <a:solidFill>
                  <a:srgbClr val="6B6E78"/>
                </a:solidFill>
                <a:latin typeface="Inter"/>
              </a:rPr>
              <a:t>Callout 1 — File Explorer (left rail): your project tree.</a:t>
            </a:r>
          </a:p>
          <a:p>
            <a:pPr algn="l">
              <a:spcAft>
                <a:spcPts val="1000"/>
              </a:spcAft>
            </a:pPr>
            <a:r>
              <a:rPr sz="1800" b="1">
                <a:solidFill>
                  <a:srgbClr val="F58220"/>
                </a:solidFill>
                <a:latin typeface="Inter"/>
              </a:rPr>
              <a:t>▸  </a:t>
            </a:r>
            <a:r>
              <a:rPr sz="1800">
                <a:solidFill>
                  <a:srgbClr val="6B6E78"/>
                </a:solidFill>
                <a:latin typeface="Inter"/>
              </a:rPr>
              <a:t>Callout 2 — Integrated Terminal (Ctrl+`): same shell, same window.</a:t>
            </a:r>
          </a:p>
          <a:p>
            <a:pPr algn="l">
              <a:spcAft>
                <a:spcPts val="1000"/>
              </a:spcAft>
            </a:pPr>
            <a:r>
              <a:rPr sz="1800" b="1">
                <a:solidFill>
                  <a:srgbClr val="F58220"/>
                </a:solidFill>
                <a:latin typeface="Inter"/>
              </a:rPr>
              <a:t>▸  </a:t>
            </a:r>
            <a:r>
              <a:rPr sz="1800">
                <a:solidFill>
                  <a:srgbClr val="6B6E78"/>
                </a:solidFill>
                <a:latin typeface="Inter"/>
              </a:rPr>
              <a:t>Callout 3 — Source Control panel: stage, commit, push without leaving VS Code.</a:t>
            </a:r>
          </a:p>
          <a:p>
            <a:pPr algn="l">
              <a:spcAft>
                <a:spcPts val="1000"/>
              </a:spcAft>
            </a:pPr>
            <a:r>
              <a:rPr sz="1800" b="1">
                <a:solidFill>
                  <a:srgbClr val="F58220"/>
                </a:solidFill>
                <a:latin typeface="Inter"/>
              </a:rPr>
              <a:t>▸  </a:t>
            </a:r>
            <a:r>
              <a:rPr sz="1800">
                <a:solidFill>
                  <a:srgbClr val="6B6E78"/>
                </a:solidFill>
                <a:latin typeface="Inter"/>
              </a:rPr>
              <a:t>Callout 4 — Extensions: Claude Code, GitLens, Peacock, Prettier (see VSCode.md).</a:t>
            </a:r>
          </a:p>
        </p:txBody>
      </p:sp>
      <p:sp>
        <p:nvSpPr>
          <p:cNvPr id="13" name="TextBox 12"/>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13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GITHUB BASICS</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GitHub is where your commits go to be seen.</a:t>
            </a:r>
          </a:p>
        </p:txBody>
      </p:sp>
      <p:sp>
        <p:nvSpPr>
          <p:cNvPr id="8" name="TextBox 7"/>
          <p:cNvSpPr txBox="1"/>
          <p:nvPr/>
        </p:nvSpPr>
        <p:spPr>
          <a:xfrm>
            <a:off x="1143000" y="3776772"/>
            <a:ext cx="16002000" cy="548640"/>
          </a:xfrm>
          <a:prstGeom prst="rect">
            <a:avLst/>
          </a:prstGeom>
          <a:noFill/>
        </p:spPr>
        <p:txBody>
          <a:bodyPr wrap="square" lIns="0" tIns="0" rIns="0" bIns="0" anchor="t">
            <a:spAutoFit/>
          </a:bodyPr>
          <a:lstStyle/>
          <a:p>
            <a:pPr algn="l"/>
            <a:r>
              <a:rPr sz="2200" b="0" dirty="0">
                <a:solidFill>
                  <a:srgbClr val="6B6E78"/>
                </a:solidFill>
                <a:latin typeface="Inter"/>
              </a:rPr>
              <a:t>Personal account vs. org, the </a:t>
            </a:r>
            <a:r>
              <a:rPr sz="2200" b="0" dirty="0" err="1">
                <a:solidFill>
                  <a:srgbClr val="6B6E78"/>
                </a:solidFill>
                <a:latin typeface="Inter"/>
              </a:rPr>
              <a:t>gh</a:t>
            </a:r>
            <a:r>
              <a:rPr sz="2200" b="0" dirty="0">
                <a:solidFill>
                  <a:srgbClr val="6B6E78"/>
                </a:solidFill>
                <a:latin typeface="Inter"/>
              </a:rPr>
              <a:t> CLI, the PR view.</a:t>
            </a:r>
          </a:p>
        </p:txBody>
      </p:sp>
      <p:sp>
        <p:nvSpPr>
          <p:cNvPr id="9" name="TextBox 8"/>
          <p:cNvSpPr txBox="1"/>
          <p:nvPr/>
        </p:nvSpPr>
        <p:spPr>
          <a:xfrm>
            <a:off x="1143000" y="4288686"/>
            <a:ext cx="16002000" cy="5120640"/>
          </a:xfrm>
          <a:prstGeom prst="rect">
            <a:avLst/>
          </a:prstGeom>
          <a:noFill/>
        </p:spPr>
        <p:txBody>
          <a:bodyPr wrap="square" lIns="0" tIns="0" rIns="0" bIns="0">
            <a:spAutoFit/>
          </a:bodyPr>
          <a:lstStyle/>
          <a:p>
            <a:pPr algn="l">
              <a:spcAft>
                <a:spcPts val="1000"/>
              </a:spcAft>
            </a:pPr>
            <a:r>
              <a:rPr sz="2400" b="1" dirty="0">
                <a:solidFill>
                  <a:srgbClr val="3FE0D0"/>
                </a:solidFill>
                <a:latin typeface="Inter"/>
              </a:rPr>
              <a:t>▸  </a:t>
            </a:r>
            <a:r>
              <a:rPr sz="2400" dirty="0">
                <a:solidFill>
                  <a:srgbClr val="14161C"/>
                </a:solidFill>
                <a:latin typeface="Inter"/>
              </a:rPr>
              <a:t>PERSONAL vs. ORG — your account holds your repos; an org holds the team's.</a:t>
            </a:r>
          </a:p>
          <a:p>
            <a:pPr algn="l">
              <a:spcAft>
                <a:spcPts val="1000"/>
              </a:spcAft>
            </a:pPr>
            <a:r>
              <a:rPr sz="2400" b="1" dirty="0">
                <a:solidFill>
                  <a:srgbClr val="3FE0D0"/>
                </a:solidFill>
                <a:latin typeface="Inter"/>
              </a:rPr>
              <a:t>▸  </a:t>
            </a:r>
            <a:r>
              <a:rPr sz="2400" dirty="0" err="1">
                <a:solidFill>
                  <a:srgbClr val="14161C"/>
                </a:solidFill>
                <a:latin typeface="Inter"/>
              </a:rPr>
              <a:t>gh</a:t>
            </a:r>
            <a:r>
              <a:rPr sz="2400" dirty="0">
                <a:solidFill>
                  <a:srgbClr val="14161C"/>
                </a:solidFill>
                <a:latin typeface="Inter"/>
              </a:rPr>
              <a:t> — the GitHub CLI. Auth once with `</a:t>
            </a:r>
            <a:r>
              <a:rPr sz="2400" dirty="0" err="1">
                <a:solidFill>
                  <a:srgbClr val="14161C"/>
                </a:solidFill>
                <a:latin typeface="Inter"/>
              </a:rPr>
              <a:t>gh</a:t>
            </a:r>
            <a:r>
              <a:rPr sz="2400" dirty="0">
                <a:solidFill>
                  <a:srgbClr val="14161C"/>
                </a:solidFill>
                <a:latin typeface="Inter"/>
              </a:rPr>
              <a:t> auth login`; check with `</a:t>
            </a:r>
            <a:r>
              <a:rPr sz="2400" dirty="0" err="1">
                <a:solidFill>
                  <a:srgbClr val="14161C"/>
                </a:solidFill>
                <a:latin typeface="Inter"/>
              </a:rPr>
              <a:t>gh</a:t>
            </a:r>
            <a:r>
              <a:rPr sz="2400" dirty="0">
                <a:solidFill>
                  <a:srgbClr val="14161C"/>
                </a:solidFill>
                <a:latin typeface="Inter"/>
              </a:rPr>
              <a:t> auth status`.</a:t>
            </a:r>
          </a:p>
          <a:p>
            <a:pPr algn="l">
              <a:spcAft>
                <a:spcPts val="1000"/>
              </a:spcAft>
            </a:pPr>
            <a:r>
              <a:rPr sz="2400" b="1" dirty="0">
                <a:solidFill>
                  <a:srgbClr val="3FE0D0"/>
                </a:solidFill>
                <a:latin typeface="Inter"/>
              </a:rPr>
              <a:t>▸  </a:t>
            </a:r>
            <a:r>
              <a:rPr sz="2400" dirty="0">
                <a:solidFill>
                  <a:srgbClr val="14161C"/>
                </a:solidFill>
                <a:latin typeface="Inter"/>
              </a:rPr>
              <a:t>`</a:t>
            </a:r>
            <a:r>
              <a:rPr sz="2400" dirty="0" err="1">
                <a:solidFill>
                  <a:srgbClr val="14161C"/>
                </a:solidFill>
                <a:latin typeface="Inter"/>
              </a:rPr>
              <a:t>gh</a:t>
            </a:r>
            <a:r>
              <a:rPr sz="2400" dirty="0">
                <a:solidFill>
                  <a:srgbClr val="14161C"/>
                </a:solidFill>
                <a:latin typeface="Inter"/>
              </a:rPr>
              <a:t> pr view` — read a pull request from your terminal.</a:t>
            </a:r>
          </a:p>
          <a:p>
            <a:pPr algn="l">
              <a:spcAft>
                <a:spcPts val="1000"/>
              </a:spcAft>
            </a:pPr>
            <a:r>
              <a:rPr sz="2400" b="1" dirty="0">
                <a:solidFill>
                  <a:srgbClr val="3FE0D0"/>
                </a:solidFill>
                <a:latin typeface="Inter"/>
              </a:rPr>
              <a:t>▸  </a:t>
            </a:r>
            <a:r>
              <a:rPr sz="2400" dirty="0">
                <a:solidFill>
                  <a:srgbClr val="14161C"/>
                </a:solidFill>
                <a:latin typeface="Inter"/>
              </a:rPr>
              <a:t>`</a:t>
            </a:r>
            <a:r>
              <a:rPr sz="2400" dirty="0" err="1">
                <a:solidFill>
                  <a:srgbClr val="14161C"/>
                </a:solidFill>
                <a:latin typeface="Inter"/>
              </a:rPr>
              <a:t>gh</a:t>
            </a:r>
            <a:r>
              <a:rPr sz="2400" dirty="0">
                <a:solidFill>
                  <a:srgbClr val="14161C"/>
                </a:solidFill>
                <a:latin typeface="Inter"/>
              </a:rPr>
              <a:t> pr create` — open one without leaving the keyboard. We'll use this in later sessions.</a:t>
            </a:r>
          </a:p>
          <a:p>
            <a:pPr algn="l">
              <a:spcAft>
                <a:spcPts val="1000"/>
              </a:spcAft>
            </a:pPr>
            <a:r>
              <a:rPr sz="2400" b="1" dirty="0">
                <a:solidFill>
                  <a:srgbClr val="3FE0D0"/>
                </a:solidFill>
                <a:latin typeface="Inter"/>
              </a:rPr>
              <a:t>▸  </a:t>
            </a:r>
            <a:r>
              <a:rPr sz="2400" dirty="0" err="1">
                <a:solidFill>
                  <a:srgbClr val="14161C"/>
                </a:solidFill>
                <a:latin typeface="Inter"/>
              </a:rPr>
              <a:t>Prereq</a:t>
            </a:r>
            <a:r>
              <a:rPr sz="2400" dirty="0">
                <a:solidFill>
                  <a:srgbClr val="14161C"/>
                </a:solidFill>
                <a:latin typeface="Inter"/>
              </a:rPr>
              <a:t> §7: </a:t>
            </a:r>
            <a:r>
              <a:rPr sz="2400" dirty="0" err="1">
                <a:solidFill>
                  <a:srgbClr val="14161C"/>
                </a:solidFill>
                <a:latin typeface="Inter"/>
              </a:rPr>
              <a:t>gh</a:t>
            </a:r>
            <a:r>
              <a:rPr sz="2400" dirty="0">
                <a:solidFill>
                  <a:srgbClr val="14161C"/>
                </a:solidFill>
                <a:latin typeface="Inter"/>
              </a:rPr>
              <a:t> auth status must be passing before we hit live practice.</a:t>
            </a:r>
          </a:p>
        </p:txBody>
      </p:sp>
      <p:sp>
        <p:nvSpPr>
          <p:cNvPr id="10" name="TextBox 9"/>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95"/>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14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LIVE PRACTICE  ·  12 MINUTES</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Five steps. Big enough to read from the back.</a:t>
            </a:r>
          </a:p>
        </p:txBody>
      </p:sp>
      <p:sp>
        <p:nvSpPr>
          <p:cNvPr id="8" name="TextBox 7"/>
          <p:cNvSpPr txBox="1"/>
          <p:nvPr/>
        </p:nvSpPr>
        <p:spPr>
          <a:xfrm>
            <a:off x="1143000" y="3931920"/>
            <a:ext cx="914400" cy="777240"/>
          </a:xfrm>
          <a:prstGeom prst="rect">
            <a:avLst/>
          </a:prstGeom>
          <a:noFill/>
        </p:spPr>
        <p:txBody>
          <a:bodyPr wrap="square" lIns="0" tIns="0" rIns="0" bIns="0" anchor="t">
            <a:spAutoFit/>
          </a:bodyPr>
          <a:lstStyle/>
          <a:p>
            <a:pPr algn="l"/>
            <a:r>
              <a:rPr sz="4400" b="1">
                <a:solidFill>
                  <a:srgbClr val="F58220"/>
                </a:solidFill>
                <a:latin typeface="Montserrat"/>
              </a:rPr>
              <a:t>1.</a:t>
            </a:r>
          </a:p>
        </p:txBody>
      </p:sp>
      <p:sp>
        <p:nvSpPr>
          <p:cNvPr id="9" name="TextBox 8"/>
          <p:cNvSpPr txBox="1"/>
          <p:nvPr/>
        </p:nvSpPr>
        <p:spPr>
          <a:xfrm>
            <a:off x="2194560" y="4023359"/>
            <a:ext cx="15087600" cy="369332"/>
          </a:xfrm>
          <a:prstGeom prst="rect">
            <a:avLst/>
          </a:prstGeom>
          <a:noFill/>
        </p:spPr>
        <p:txBody>
          <a:bodyPr wrap="square" lIns="0" tIns="0" rIns="0" bIns="0" anchor="t">
            <a:spAutoFit/>
          </a:bodyPr>
          <a:lstStyle/>
          <a:p>
            <a:pPr algn="l"/>
            <a:r>
              <a:rPr sz="2400" b="0" dirty="0">
                <a:solidFill>
                  <a:srgbClr val="14161C"/>
                </a:solidFill>
                <a:latin typeface="JetBrains Mono"/>
              </a:rPr>
              <a:t>Clone the workshop repo:  git clone </a:t>
            </a:r>
            <a:r>
              <a:rPr lang="en-US" sz="2400" dirty="0">
                <a:solidFill>
                  <a:srgbClr val="14161C"/>
                </a:solidFill>
                <a:latin typeface="JetBrains Mono"/>
              </a:rPr>
              <a:t>https://</a:t>
            </a:r>
            <a:r>
              <a:rPr lang="en-US" sz="2400" dirty="0" err="1">
                <a:solidFill>
                  <a:srgbClr val="14161C"/>
                </a:solidFill>
                <a:latin typeface="JetBrains Mono"/>
              </a:rPr>
              <a:t>chriskehayias.github.com</a:t>
            </a:r>
            <a:r>
              <a:rPr lang="en-US" sz="2400" dirty="0">
                <a:solidFill>
                  <a:srgbClr val="14161C"/>
                </a:solidFill>
                <a:latin typeface="JetBrains Mono"/>
              </a:rPr>
              <a:t>/SDLC</a:t>
            </a:r>
            <a:endParaRPr sz="2400" b="0" dirty="0">
              <a:solidFill>
                <a:srgbClr val="14161C"/>
              </a:solidFill>
              <a:latin typeface="JetBrains Mono"/>
            </a:endParaRPr>
          </a:p>
        </p:txBody>
      </p:sp>
      <p:sp>
        <p:nvSpPr>
          <p:cNvPr id="10" name="TextBox 9"/>
          <p:cNvSpPr txBox="1"/>
          <p:nvPr/>
        </p:nvSpPr>
        <p:spPr>
          <a:xfrm>
            <a:off x="1143000" y="4892040"/>
            <a:ext cx="914400" cy="777240"/>
          </a:xfrm>
          <a:prstGeom prst="rect">
            <a:avLst/>
          </a:prstGeom>
          <a:noFill/>
        </p:spPr>
        <p:txBody>
          <a:bodyPr wrap="square" lIns="0" tIns="0" rIns="0" bIns="0" anchor="t">
            <a:spAutoFit/>
          </a:bodyPr>
          <a:lstStyle/>
          <a:p>
            <a:pPr algn="l"/>
            <a:r>
              <a:rPr sz="4400" b="1">
                <a:solidFill>
                  <a:srgbClr val="F58220"/>
                </a:solidFill>
                <a:latin typeface="Montserrat"/>
              </a:rPr>
              <a:t>2.</a:t>
            </a:r>
          </a:p>
        </p:txBody>
      </p:sp>
      <p:sp>
        <p:nvSpPr>
          <p:cNvPr id="11" name="TextBox 10"/>
          <p:cNvSpPr txBox="1"/>
          <p:nvPr/>
        </p:nvSpPr>
        <p:spPr>
          <a:xfrm>
            <a:off x="2194560" y="4983479"/>
            <a:ext cx="15087600" cy="777240"/>
          </a:xfrm>
          <a:prstGeom prst="rect">
            <a:avLst/>
          </a:prstGeom>
          <a:noFill/>
        </p:spPr>
        <p:txBody>
          <a:bodyPr wrap="square" lIns="0" tIns="0" rIns="0" bIns="0" anchor="t">
            <a:spAutoFit/>
          </a:bodyPr>
          <a:lstStyle/>
          <a:p>
            <a:pPr algn="l"/>
            <a:r>
              <a:rPr sz="2400" b="0">
                <a:solidFill>
                  <a:srgbClr val="14161C"/>
                </a:solidFill>
                <a:latin typeface="JetBrains Mono"/>
              </a:rPr>
              <a:t>Open it in VS Code:  code .</a:t>
            </a:r>
          </a:p>
        </p:txBody>
      </p:sp>
      <p:sp>
        <p:nvSpPr>
          <p:cNvPr id="12" name="TextBox 11"/>
          <p:cNvSpPr txBox="1"/>
          <p:nvPr/>
        </p:nvSpPr>
        <p:spPr>
          <a:xfrm>
            <a:off x="1143000" y="5852159"/>
            <a:ext cx="914400" cy="777240"/>
          </a:xfrm>
          <a:prstGeom prst="rect">
            <a:avLst/>
          </a:prstGeom>
          <a:noFill/>
        </p:spPr>
        <p:txBody>
          <a:bodyPr wrap="square" lIns="0" tIns="0" rIns="0" bIns="0" anchor="t">
            <a:spAutoFit/>
          </a:bodyPr>
          <a:lstStyle/>
          <a:p>
            <a:pPr algn="l"/>
            <a:r>
              <a:rPr sz="4400" b="1">
                <a:solidFill>
                  <a:srgbClr val="F58220"/>
                </a:solidFill>
                <a:latin typeface="Montserrat"/>
              </a:rPr>
              <a:t>3.</a:t>
            </a:r>
          </a:p>
        </p:txBody>
      </p:sp>
      <p:sp>
        <p:nvSpPr>
          <p:cNvPr id="13" name="TextBox 12"/>
          <p:cNvSpPr txBox="1"/>
          <p:nvPr/>
        </p:nvSpPr>
        <p:spPr>
          <a:xfrm>
            <a:off x="2194560" y="5943599"/>
            <a:ext cx="15087600" cy="777240"/>
          </a:xfrm>
          <a:prstGeom prst="rect">
            <a:avLst/>
          </a:prstGeom>
          <a:noFill/>
        </p:spPr>
        <p:txBody>
          <a:bodyPr wrap="square" lIns="0" tIns="0" rIns="0" bIns="0" anchor="t">
            <a:spAutoFit/>
          </a:bodyPr>
          <a:lstStyle/>
          <a:p>
            <a:pPr algn="l"/>
            <a:r>
              <a:rPr sz="2400" b="0">
                <a:solidFill>
                  <a:srgbClr val="14161C"/>
                </a:solidFill>
                <a:latin typeface="JetBrains Mono"/>
              </a:rPr>
              <a:t>Edit  schedule/03-sdlc-crash-course/attendees.md  — add your name.</a:t>
            </a:r>
          </a:p>
        </p:txBody>
      </p:sp>
      <p:sp>
        <p:nvSpPr>
          <p:cNvPr id="14" name="TextBox 13"/>
          <p:cNvSpPr txBox="1"/>
          <p:nvPr/>
        </p:nvSpPr>
        <p:spPr>
          <a:xfrm>
            <a:off x="1143000" y="6812279"/>
            <a:ext cx="914400" cy="777240"/>
          </a:xfrm>
          <a:prstGeom prst="rect">
            <a:avLst/>
          </a:prstGeom>
          <a:noFill/>
        </p:spPr>
        <p:txBody>
          <a:bodyPr wrap="square" lIns="0" tIns="0" rIns="0" bIns="0" anchor="t">
            <a:spAutoFit/>
          </a:bodyPr>
          <a:lstStyle/>
          <a:p>
            <a:pPr algn="l"/>
            <a:r>
              <a:rPr sz="4400" b="1">
                <a:solidFill>
                  <a:srgbClr val="F58220"/>
                </a:solidFill>
                <a:latin typeface="Montserrat"/>
              </a:rPr>
              <a:t>4.</a:t>
            </a:r>
          </a:p>
        </p:txBody>
      </p:sp>
      <p:sp>
        <p:nvSpPr>
          <p:cNvPr id="15" name="TextBox 14"/>
          <p:cNvSpPr txBox="1"/>
          <p:nvPr/>
        </p:nvSpPr>
        <p:spPr>
          <a:xfrm>
            <a:off x="2194560" y="6903719"/>
            <a:ext cx="15087600" cy="777240"/>
          </a:xfrm>
          <a:prstGeom prst="rect">
            <a:avLst/>
          </a:prstGeom>
          <a:noFill/>
        </p:spPr>
        <p:txBody>
          <a:bodyPr wrap="square" lIns="0" tIns="0" rIns="0" bIns="0" anchor="t">
            <a:spAutoFit/>
          </a:bodyPr>
          <a:lstStyle/>
          <a:p>
            <a:pPr algn="l"/>
            <a:r>
              <a:rPr sz="2400" b="0">
                <a:solidFill>
                  <a:srgbClr val="14161C"/>
                </a:solidFill>
                <a:latin typeface="JetBrains Mono"/>
              </a:rPr>
              <a:t>Commit and push — once via VS Code, once via the terminal.</a:t>
            </a:r>
          </a:p>
        </p:txBody>
      </p:sp>
      <p:sp>
        <p:nvSpPr>
          <p:cNvPr id="16" name="TextBox 15"/>
          <p:cNvSpPr txBox="1"/>
          <p:nvPr/>
        </p:nvSpPr>
        <p:spPr>
          <a:xfrm>
            <a:off x="1143000" y="7772400"/>
            <a:ext cx="914400" cy="777240"/>
          </a:xfrm>
          <a:prstGeom prst="rect">
            <a:avLst/>
          </a:prstGeom>
          <a:noFill/>
        </p:spPr>
        <p:txBody>
          <a:bodyPr wrap="square" lIns="0" tIns="0" rIns="0" bIns="0" anchor="t">
            <a:spAutoFit/>
          </a:bodyPr>
          <a:lstStyle/>
          <a:p>
            <a:pPr algn="l"/>
            <a:r>
              <a:rPr sz="4400" b="1">
                <a:solidFill>
                  <a:srgbClr val="F58220"/>
                </a:solidFill>
                <a:latin typeface="Montserrat"/>
              </a:rPr>
              <a:t>5.</a:t>
            </a:r>
          </a:p>
        </p:txBody>
      </p:sp>
      <p:sp>
        <p:nvSpPr>
          <p:cNvPr id="17" name="TextBox 16"/>
          <p:cNvSpPr txBox="1"/>
          <p:nvPr/>
        </p:nvSpPr>
        <p:spPr>
          <a:xfrm>
            <a:off x="2194560" y="7863840"/>
            <a:ext cx="15087600" cy="777240"/>
          </a:xfrm>
          <a:prstGeom prst="rect">
            <a:avLst/>
          </a:prstGeom>
          <a:noFill/>
        </p:spPr>
        <p:txBody>
          <a:bodyPr wrap="square" lIns="0" tIns="0" rIns="0" bIns="0" anchor="t">
            <a:spAutoFit/>
          </a:bodyPr>
          <a:lstStyle/>
          <a:p>
            <a:pPr algn="l"/>
            <a:r>
              <a:rPr sz="2400" b="0">
                <a:solidFill>
                  <a:srgbClr val="14161C"/>
                </a:solidFill>
                <a:latin typeface="JetBrains Mono"/>
              </a:rPr>
              <a:t>Verify on github.com that your commit landed.</a:t>
            </a:r>
          </a:p>
        </p:txBody>
      </p:sp>
      <p:sp>
        <p:nvSpPr>
          <p:cNvPr id="18" name="TextBox 17"/>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TA TIP: ROAM THE ROOM NOW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7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475488"/>
            <a:ext cx="7315200" cy="274320"/>
          </a:xfrm>
          <a:prstGeom prst="rect">
            <a:avLst/>
          </a:prstGeom>
          <a:noFill/>
        </p:spPr>
        <p:txBody>
          <a:bodyPr wrap="square" lIns="0" tIns="0" rIns="0" bIns="0" anchor="t">
            <a:spAutoFit/>
          </a:bodyPr>
          <a:lstStyle/>
          <a:p>
            <a:pPr algn="l"/>
            <a:r>
              <a:rPr sz="1200" b="0">
                <a:solidFill>
                  <a:srgbClr val="6B6E78"/>
                </a:solidFill>
                <a:latin typeface="JetBrains Mono"/>
              </a:rPr>
              <a:t>SDLC CRASH COURSE</a:t>
            </a:r>
          </a:p>
        </p:txBody>
      </p:sp>
      <p:sp>
        <p:nvSpPr>
          <p:cNvPr id="4" name="TextBox 3"/>
          <p:cNvSpPr txBox="1"/>
          <p:nvPr/>
        </p:nvSpPr>
        <p:spPr>
          <a:xfrm>
            <a:off x="15544800" y="475488"/>
            <a:ext cx="1691640" cy="274320"/>
          </a:xfrm>
          <a:prstGeom prst="rect">
            <a:avLst/>
          </a:prstGeom>
          <a:noFill/>
        </p:spPr>
        <p:txBody>
          <a:bodyPr wrap="square" lIns="0" tIns="0" rIns="0" bIns="0" anchor="t">
            <a:spAutoFit/>
          </a:bodyPr>
          <a:lstStyle/>
          <a:p>
            <a:pPr algn="r"/>
            <a:r>
              <a:rPr sz="1200" b="0">
                <a:solidFill>
                  <a:srgbClr val="6B6E78"/>
                </a:solidFill>
                <a:latin typeface="JetBrains Mono"/>
              </a:rPr>
              <a:t>15 / 16</a:t>
            </a:r>
          </a:p>
        </p:txBody>
      </p:sp>
      <p:sp>
        <p:nvSpPr>
          <p:cNvPr id="5" name="TextBox 4"/>
          <p:cNvSpPr txBox="1"/>
          <p:nvPr/>
        </p:nvSpPr>
        <p:spPr>
          <a:xfrm>
            <a:off x="1143000" y="1417320"/>
            <a:ext cx="14630400" cy="365760"/>
          </a:xfrm>
          <a:prstGeom prst="rect">
            <a:avLst/>
          </a:prstGeom>
          <a:noFill/>
        </p:spPr>
        <p:txBody>
          <a:bodyPr wrap="square" lIns="0" tIns="0" rIns="0" bIns="0" anchor="t">
            <a:spAutoFit/>
          </a:bodyPr>
          <a:lstStyle/>
          <a:p>
            <a:pPr algn="l"/>
            <a:r>
              <a:rPr sz="1400" b="1">
                <a:solidFill>
                  <a:srgbClr val="F58220"/>
                </a:solidFill>
                <a:latin typeface="JetBrains Mono"/>
              </a:rPr>
              <a:t>WHAT YOU JUST DID</a:t>
            </a:r>
          </a:p>
        </p:txBody>
      </p:sp>
      <p:sp>
        <p:nvSpPr>
          <p:cNvPr id="6" name="Rectangle 5"/>
          <p:cNvSpPr/>
          <p:nvPr/>
        </p:nvSpPr>
        <p:spPr>
          <a:xfrm>
            <a:off x="1143000" y="1901952"/>
            <a:ext cx="1828800" cy="54864"/>
          </a:xfrm>
          <a:prstGeom prst="rect">
            <a:avLst/>
          </a:prstGeom>
          <a:solidFill>
            <a:srgbClr val="3FE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2103120"/>
            <a:ext cx="16002000" cy="1188720"/>
          </a:xfrm>
          <a:prstGeom prst="rect">
            <a:avLst/>
          </a:prstGeom>
          <a:noFill/>
        </p:spPr>
        <p:txBody>
          <a:bodyPr wrap="square" lIns="0" tIns="0" rIns="0" bIns="0" anchor="t">
            <a:spAutoFit/>
          </a:bodyPr>
          <a:lstStyle/>
          <a:p>
            <a:pPr algn="l"/>
            <a:r>
              <a:rPr sz="5400" b="1">
                <a:solidFill>
                  <a:srgbClr val="14161C"/>
                </a:solidFill>
                <a:latin typeface="Montserrat"/>
              </a:rPr>
              <a:t>You are now operating the loop.</a:t>
            </a:r>
          </a:p>
        </p:txBody>
      </p:sp>
      <p:sp>
        <p:nvSpPr>
          <p:cNvPr id="8" name="TextBox 7"/>
          <p:cNvSpPr txBox="1"/>
          <p:nvPr/>
        </p:nvSpPr>
        <p:spPr>
          <a:xfrm>
            <a:off x="1143000" y="3246120"/>
            <a:ext cx="16002000" cy="548640"/>
          </a:xfrm>
          <a:prstGeom prst="rect">
            <a:avLst/>
          </a:prstGeom>
          <a:noFill/>
        </p:spPr>
        <p:txBody>
          <a:bodyPr wrap="square" lIns="0" tIns="0" rIns="0" bIns="0" anchor="t">
            <a:spAutoFit/>
          </a:bodyPr>
          <a:lstStyle/>
          <a:p>
            <a:pPr algn="l"/>
            <a:r>
              <a:rPr sz="2200" b="0">
                <a:solidFill>
                  <a:srgbClr val="6B6E78"/>
                </a:solidFill>
                <a:latin typeface="Inter"/>
              </a:rPr>
              <a:t>Cloned · edited · committed · pushed · verified.</a:t>
            </a:r>
          </a:p>
        </p:txBody>
      </p:sp>
      <p:sp>
        <p:nvSpPr>
          <p:cNvPr id="9" name="TextBox 8"/>
          <p:cNvSpPr txBox="1"/>
          <p:nvPr/>
        </p:nvSpPr>
        <p:spPr>
          <a:xfrm>
            <a:off x="1143000" y="4023360"/>
            <a:ext cx="16002000" cy="5120640"/>
          </a:xfrm>
          <a:prstGeom prst="rect">
            <a:avLst/>
          </a:prstGeom>
          <a:noFill/>
        </p:spPr>
        <p:txBody>
          <a:bodyPr wrap="square" lIns="0" tIns="0" rIns="0" bIns="0">
            <a:spAutoFit/>
          </a:bodyPr>
          <a:lstStyle/>
          <a:p>
            <a:pPr algn="l">
              <a:spcAft>
                <a:spcPts val="1000"/>
              </a:spcAft>
            </a:pPr>
            <a:r>
              <a:rPr sz="2400" b="1" dirty="0">
                <a:solidFill>
                  <a:srgbClr val="3FE0D0"/>
                </a:solidFill>
                <a:latin typeface="Inter"/>
              </a:rPr>
              <a:t>▸  </a:t>
            </a:r>
            <a:r>
              <a:rPr sz="2400" dirty="0">
                <a:solidFill>
                  <a:srgbClr val="14161C"/>
                </a:solidFill>
                <a:latin typeface="Inter"/>
              </a:rPr>
              <a:t>You moved a change from your machine to a remote — the full Build → Ship arc.</a:t>
            </a:r>
          </a:p>
          <a:p>
            <a:pPr algn="l">
              <a:spcAft>
                <a:spcPts val="1000"/>
              </a:spcAft>
            </a:pPr>
            <a:r>
              <a:rPr sz="2400" b="1" dirty="0">
                <a:solidFill>
                  <a:srgbClr val="3FE0D0"/>
                </a:solidFill>
                <a:latin typeface="Inter"/>
              </a:rPr>
              <a:t>▸  </a:t>
            </a:r>
            <a:r>
              <a:rPr sz="2400" dirty="0">
                <a:solidFill>
                  <a:srgbClr val="14161C"/>
                </a:solidFill>
                <a:latin typeface="Inter"/>
              </a:rPr>
              <a:t>You used both the GUI and the terminal — covenant kept.</a:t>
            </a:r>
          </a:p>
          <a:p>
            <a:pPr algn="l">
              <a:spcAft>
                <a:spcPts val="1000"/>
              </a:spcAft>
            </a:pPr>
            <a:r>
              <a:rPr sz="2400" b="1" dirty="0">
                <a:solidFill>
                  <a:srgbClr val="3FE0D0"/>
                </a:solidFill>
                <a:latin typeface="Inter"/>
              </a:rPr>
              <a:t>▸  </a:t>
            </a:r>
            <a:r>
              <a:rPr sz="2400" dirty="0">
                <a:solidFill>
                  <a:srgbClr val="14161C"/>
                </a:solidFill>
                <a:latin typeface="Inter"/>
              </a:rPr>
              <a:t>You wrote a commit message — a context document for future you.</a:t>
            </a:r>
          </a:p>
          <a:p>
            <a:pPr algn="l">
              <a:spcAft>
                <a:spcPts val="1000"/>
              </a:spcAft>
            </a:pPr>
            <a:r>
              <a:rPr sz="2400" b="1" dirty="0">
                <a:solidFill>
                  <a:srgbClr val="3FE0D0"/>
                </a:solidFill>
                <a:latin typeface="Inter"/>
              </a:rPr>
              <a:t>▸  </a:t>
            </a:r>
            <a:r>
              <a:rPr sz="2400" dirty="0">
                <a:solidFill>
                  <a:srgbClr val="14161C"/>
                </a:solidFill>
                <a:latin typeface="Inter"/>
              </a:rPr>
              <a:t>You verified on </a:t>
            </a:r>
            <a:r>
              <a:rPr sz="2400" dirty="0" err="1">
                <a:solidFill>
                  <a:srgbClr val="14161C"/>
                </a:solidFill>
                <a:latin typeface="Inter"/>
              </a:rPr>
              <a:t>github.com</a:t>
            </a:r>
            <a:r>
              <a:rPr sz="2400" dirty="0">
                <a:solidFill>
                  <a:srgbClr val="14161C"/>
                </a:solidFill>
                <a:latin typeface="Inter"/>
              </a:rPr>
              <a:t> — closing the loop.</a:t>
            </a:r>
          </a:p>
          <a:p>
            <a:pPr algn="l">
              <a:spcAft>
                <a:spcPts val="1000"/>
              </a:spcAft>
            </a:pPr>
            <a:r>
              <a:rPr sz="2400" b="1" dirty="0">
                <a:solidFill>
                  <a:srgbClr val="3FE0D0"/>
                </a:solidFill>
                <a:latin typeface="Inter"/>
              </a:rPr>
              <a:t>▸  </a:t>
            </a:r>
            <a:r>
              <a:rPr sz="2400" dirty="0">
                <a:solidFill>
                  <a:srgbClr val="14161C"/>
                </a:solidFill>
                <a:latin typeface="Inter"/>
              </a:rPr>
              <a:t>Tomorrow: every Session 04+ exercise builds on exactly this muscle.</a:t>
            </a:r>
          </a:p>
        </p:txBody>
      </p:sp>
      <p:sp>
        <p:nvSpPr>
          <p:cNvPr id="10" name="TextBox 9"/>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544800" y="502920"/>
            <a:ext cx="1691640" cy="274320"/>
          </a:xfrm>
          <a:prstGeom prst="rect">
            <a:avLst/>
          </a:prstGeom>
          <a:noFill/>
        </p:spPr>
        <p:txBody>
          <a:bodyPr wrap="square" lIns="0" tIns="0" rIns="0" bIns="0" anchor="t">
            <a:spAutoFit/>
          </a:bodyPr>
          <a:lstStyle/>
          <a:p>
            <a:pPr algn="r"/>
            <a:r>
              <a:rPr sz="1200" b="0">
                <a:solidFill>
                  <a:srgbClr val="C9CBD1"/>
                </a:solidFill>
                <a:latin typeface="JetBrains Mono"/>
              </a:rPr>
              <a:t>16 / 16</a:t>
            </a:r>
          </a:p>
        </p:txBody>
      </p:sp>
      <p:sp>
        <p:nvSpPr>
          <p:cNvPr id="4" name="TextBox 3"/>
          <p:cNvSpPr txBox="1"/>
          <p:nvPr/>
        </p:nvSpPr>
        <p:spPr>
          <a:xfrm>
            <a:off x="4343400" y="3200400"/>
            <a:ext cx="10972800" cy="365760"/>
          </a:xfrm>
          <a:prstGeom prst="rect">
            <a:avLst/>
          </a:prstGeom>
          <a:noFill/>
        </p:spPr>
        <p:txBody>
          <a:bodyPr wrap="square" lIns="0" tIns="0" rIns="0" bIns="0" anchor="t">
            <a:spAutoFit/>
          </a:bodyPr>
          <a:lstStyle/>
          <a:p>
            <a:pPr algn="l"/>
            <a:r>
              <a:rPr sz="1800" b="1">
                <a:solidFill>
                  <a:srgbClr val="3FE0D0"/>
                </a:solidFill>
                <a:latin typeface="JetBrains Mono"/>
              </a:rPr>
              <a:t>UP NEXT  ·  SESSION 04</a:t>
            </a:r>
          </a:p>
        </p:txBody>
      </p:sp>
      <p:sp>
        <p:nvSpPr>
          <p:cNvPr id="5" name="TextBox 4"/>
          <p:cNvSpPr txBox="1"/>
          <p:nvPr/>
        </p:nvSpPr>
        <p:spPr>
          <a:xfrm>
            <a:off x="4343400" y="3840480"/>
            <a:ext cx="10058400" cy="2468880"/>
          </a:xfrm>
          <a:prstGeom prst="rect">
            <a:avLst/>
          </a:prstGeom>
          <a:noFill/>
        </p:spPr>
        <p:txBody>
          <a:bodyPr wrap="square" lIns="0" tIns="0" rIns="0" bIns="0">
            <a:spAutoFit/>
          </a:bodyPr>
          <a:lstStyle/>
          <a:p>
            <a:pPr algn="l"/>
            <a:r>
              <a:rPr sz="8200" b="1">
                <a:solidFill>
                  <a:srgbClr val="FFFFFF"/>
                </a:solidFill>
                <a:latin typeface="Montserrat"/>
              </a:rPr>
              <a:t>You know the</a:t>
            </a:r>
          </a:p>
          <a:p>
            <a:pPr algn="l"/>
            <a:r>
              <a:rPr sz="8200" b="1">
                <a:solidFill>
                  <a:srgbClr val="FFFFFF"/>
                </a:solidFill>
                <a:latin typeface="Montserrat"/>
              </a:rPr>
              <a:t>lifecycle. Next:</a:t>
            </a:r>
          </a:p>
          <a:p>
            <a:pPr algn="l"/>
            <a:r>
              <a:rPr sz="8200" b="1">
                <a:solidFill>
                  <a:srgbClr val="FFFFFF"/>
                </a:solidFill>
                <a:latin typeface="Montserrat"/>
              </a:rPr>
              <a:t>the artifacts.</a:t>
            </a:r>
          </a:p>
        </p:txBody>
      </p:sp>
      <p:sp>
        <p:nvSpPr>
          <p:cNvPr id="6" name="TextBox 5"/>
          <p:cNvSpPr txBox="1"/>
          <p:nvPr/>
        </p:nvSpPr>
        <p:spPr>
          <a:xfrm>
            <a:off x="4343400" y="7703820"/>
            <a:ext cx="10058400" cy="548640"/>
          </a:xfrm>
          <a:prstGeom prst="rect">
            <a:avLst/>
          </a:prstGeom>
          <a:noFill/>
        </p:spPr>
        <p:txBody>
          <a:bodyPr wrap="square" lIns="0" tIns="0" rIns="0" bIns="0" anchor="t">
            <a:spAutoFit/>
          </a:bodyPr>
          <a:lstStyle/>
          <a:p>
            <a:pPr algn="l"/>
            <a:r>
              <a:rPr sz="2200" b="0" dirty="0">
                <a:solidFill>
                  <a:srgbClr val="C9CBD1"/>
                </a:solidFill>
                <a:latin typeface="Inter"/>
              </a:rPr>
              <a:t>The artifacts that make the AI-SDLC actually work.</a:t>
            </a:r>
          </a:p>
        </p:txBody>
      </p:sp>
      <p:sp>
        <p:nvSpPr>
          <p:cNvPr id="7" name="TextBox 6"/>
          <p:cNvSpPr txBox="1"/>
          <p:nvPr/>
        </p:nvSpPr>
        <p:spPr>
          <a:xfrm>
            <a:off x="1143000" y="9646920"/>
            <a:ext cx="16002000" cy="274320"/>
          </a:xfrm>
          <a:prstGeom prst="rect">
            <a:avLst/>
          </a:prstGeom>
          <a:noFill/>
        </p:spPr>
        <p:txBody>
          <a:bodyPr wrap="square" lIns="0" tIns="0" rIns="0" bIns="0" anchor="t">
            <a:spAutoFit/>
          </a:bodyPr>
          <a:lstStyle/>
          <a:p>
            <a:pPr algn="l"/>
            <a:r>
              <a:rPr sz="1100" b="0">
                <a:solidFill>
                  <a:srgbClr val="6B6E78"/>
                </a:solidFill>
                <a:latin typeface="JetBrains Mono"/>
              </a:rPr>
              <a:t>// SESSION 03  ·  CHRIS KEHAYIAS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2161</Words>
  <Application>Microsoft Macintosh PowerPoint</Application>
  <PresentationFormat>Custom</PresentationFormat>
  <Paragraphs>164</Paragraphs>
  <Slides>17</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Montserrat</vt:lpstr>
      <vt:lpstr>Inter</vt:lpstr>
      <vt:lpstr>Arial</vt:lpstr>
      <vt:lpstr>Calibri</vt:lpstr>
      <vt:lpstr>JetBrains Mono</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Chris Kehayias</cp:lastModifiedBy>
  <cp:revision>4</cp:revision>
  <dcterms:created xsi:type="dcterms:W3CDTF">2026-05-03T13:32:23Z</dcterms:created>
  <dcterms:modified xsi:type="dcterms:W3CDTF">2026-05-06T15:25:34Z</dcterms:modified>
</cp:coreProperties>
</file>
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snapToObjects="1">
      <p:cViewPr varScale="1">
        <p:scale>
          <a:sx n="80" d="100"/>
          <a:sy n="80" d="100"/>
        </p:scale>
        <p:origin x="824" y="3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1919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back. We just finished Session 03 — yesterday's loop, the AI-SDLC. This session is the bridge from concept to practice. The phases didn't change. Context engineering is how you compress the cycle time. We will spend 60 minutes on the files that make the loop work: CLAUDE.md, requirements docs, conventions. By the end you should know what every artifact is for — even before you've written one. Part 2 after lunch is where you actually write yours.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Plant the bridge: yesterday's loop is a process; today is the files that make it work. Quote: 'The phases didn't change. Context engineering is how you compress the cycle time.' We're spending the next hour on three artifacts — CLAUDE.md, requirements docs, conventions files — because every team that gets value out of Claude Code has these in some form.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sentence: by the end of this hour you can explain what each artifact is for, even if you haven't written one yet. Three names — CLAUDE.md, requirements.md, CONVENTIONS.md. We'll spend most of the hour on CLAUDE.md because that's where the design discipline lives. Part 2 after lunch is where you actually write one.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reasons context lives in files instead of chat. Amnesia — you cannot rely on the chat history across sessions. Reproducibility — files give you a deterministic starting state. Sharing — your team can read your context. Review — you can diff it, comment on it, ship it. If you're not writing things down, you're re-paying the explanation tax every morning. That's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explanation tax: every morning you sit down and re-tell the model the things it should already know. What stack, what folder layout, what tests. Multiply that by every dev on your team. A halfway-decent CLAUDE.md ends that tax. You will not write the perfect one on day one — and you don't have to. A half-good CLAUDE.md beats no CLAUDE.md by a mile.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 sections. They live on one page. We're going to walk each one with a real example. If your CLAUDE.md is longer than what you can scan in 30 seconds, it's already too long — that's Commandment II, coming up. The six sections come from the init-claude-md template in resources/Claude/commands.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1 is the product description. Two to four sentences. The model uses this to set tone for everything else — names, error messages, README copy. Lead with the user, not the framework. If you can't describe the product without mentioning the database, your overview is too low-level.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Tech stack is where you list versions. 'Next.js 15 App Router' is very different from 'Next.js 13 Pages Router' — the model will guess wrong if you don't tell it. List the third-party services too. If you're on Auth0 organizations, that's a constraint the model needs.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Structure section lists the top-level folders and what goes where. It tells the model where to put a new component, a new route, a new test. Don't list every subfolder — list the ones where decisions get made. Vendored or generated code goes here too: 'don't touch /lib/generated'.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Conventions is where you write down the things you'd otherwise re-explain ten times. Naming, import style, error handling. This is also a tease for slide 17 where we go deeper — and for the dedicated CONVENTIONS.md if your project is big enough to warrant it.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Build/test is the part the model uses to actually do work. List the exact commands. If you have a 'must-pass' set before merge, say so. If lint failures should not be auto-fixed without thought, say so. This unlocks 'Read the diff. Run the tests.' — Commandment IX.</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Important notes is the final section, and it's the human-only knowledge. Anything that has bitten you twice belongs here. Compliance constraints, legacy decisions, traps. If you're staring at a Slack thread you're afraid to lose — that thread belongs in this section.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Commandment II. CLAUDE.md is a router, not a repository. If your CLAUDE.md exceeds a screen, it is a tax levied on every turn — every prompt the model receives loads the whole file. The router pattern says: keep CLAUDE.md skeletal, point to skills and docs. When you find yourself adding a fifth heading, ask: should this be a SKILL.md instead? We'll come back to this number. From now on I'll call it Commandment II.</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Commandment III. What's used sometimes belongs in a SKILL.md; what's used always belongs in CLAUDE.md. The deploy runbook is a perfect SKILL.md — it gets invoked when you're shipping, not on every turn. Naming and folder layout are different — those apply to every task, so they live in CLAUDE.md. The discipline: when adding to CLAUDE.md, ask 'does this apply to every task this project will see?' If no — make it a skill.</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Commandment VIII. MCP servers are powerful — they connect Claude to Slack, Jira, your db, your design tool. But every connected server consumes context at startup. The tool descriptions, the parameter schemas, the auth flows — all of it ships in the system prompt before you say anything. A 12-server setup can burn 30–40k tokens describing tools you don't use today. Audit your MCP list. Connect what this project needs. Disconnect the rest.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Requirements docs are the second artifact. Three rules: explicit beats implicit — name the things the model can't infer (don't say 'follow our security standards' — link them). Lists beat prose. Examples beat adjectives — 'like our /reports endpoint' is a thousand times more useful than 'clean and modern'. The mental shift: a requirements doc isn't a product spec. It's model instructions with a business rationale attached.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Conventions are the territory where junior-dev mistakes happen. Naming, layout, commits, tests. Write them once. Where? Either as Section 4 of CLAUDE.md, or — if the project is big enough — as a dedicated CONVENTIONS.md that CLAUDE.md routes to (Commandment II again). The point is: in context. Not in a Notion page no one reads.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Live demo. We run /project:init-claude-md on a small familiar project. While it runs, narrate what's happening — it's gathering project context first (project-overview.md command), then writing the six sections. Pause as the file is generated and call out which Commandments the result embodies — and any it violates so we can correct in real time. If the demo fails, advance to slide 19 — that's the insurance.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Insurance slide. If the live demo failed, this is the annotated screenshot — same six sections, same critique. Walk the screenshot, point out the parts that follow Commandments II, III, VIII. If the demo went well, this slide is just a recap.</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Pause for 10 seconds. Let the room photograph it. This is the photo slide of Day 1. Read 4-5 commandments aloud, gesture at the rest.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Preview Part 2. After lunch you'll write your own CLAUDE.md for a project you actually own — doesn't have to be perfect. Then you'll trade with a partner who critiques against the Ten Commandments. Then you'll rewrite. That last step is Commandment X in practice — CLAUDE.md is a living document, not a graven tablet.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Transition slide. Land it: 'After lunch, you write yours.' End two minutes early so the lunch break doesn't get squeezed. Tell the room to bring a project they actually own — Part 2 is hands-on, not theoretical.</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141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50976" y="758952"/>
            <a:ext cx="2286000" cy="347472"/>
          </a:xfrm>
          <a:prstGeom prst="rect">
            <a:avLst/>
          </a:prstGeom>
          <a:noFill/>
        </p:spPr>
        <p:txBody>
          <a:bodyPr wrap="square" lIns="0" tIns="0" rIns="0" bIns="0" anchor="t">
            <a:spAutoFit/>
          </a:bodyPr>
          <a:lstStyle/>
          <a:p>
            <a:pPr algn="l"/>
            <a:r>
              <a:rPr sz="2000" b="1">
                <a:solidFill>
                  <a:srgbClr val="FFFFFF"/>
                </a:solidFill>
                <a:latin typeface="Arial"/>
              </a:rPr>
              <a:t>CITN</a:t>
            </a:r>
            <a:r>
              <a:rPr sz="2000" b="1">
                <a:solidFill>
                  <a:srgbClr val="3FE0D0"/>
                </a:solidFill>
                <a:latin typeface="Arial"/>
              </a:rPr>
              <a:t>·</a:t>
            </a:r>
            <a:r>
              <a:rPr sz="2000" b="1">
                <a:solidFill>
                  <a:srgbClr val="FFFFFF"/>
                </a:solidFill>
                <a:latin typeface="Arial"/>
              </a:rPr>
              <a:t>AI</a:t>
            </a:r>
          </a:p>
        </p:txBody>
      </p:sp>
      <p:sp>
        <p:nvSpPr>
          <p:cNvPr id="4" name="TextBox 3"/>
          <p:cNvSpPr txBox="1"/>
          <p:nvPr/>
        </p:nvSpPr>
        <p:spPr>
          <a:xfrm>
            <a:off x="950976" y="3392424"/>
            <a:ext cx="10972800" cy="347472"/>
          </a:xfrm>
          <a:prstGeom prst="rect">
            <a:avLst/>
          </a:prstGeom>
          <a:noFill/>
        </p:spPr>
        <p:txBody>
          <a:bodyPr wrap="square" lIns="0" tIns="0" rIns="0" bIns="0" anchor="t">
            <a:spAutoFit/>
          </a:bodyPr>
          <a:lstStyle/>
          <a:p>
            <a:pPr algn="l"/>
            <a:r>
              <a:rPr sz="1400" b="1">
                <a:solidFill>
                  <a:srgbClr val="3FE0D0"/>
                </a:solidFill>
                <a:latin typeface="Arial"/>
              </a:rPr>
              <a:t>PART 04 / 06  ·  CHURCH IT NETWORK · WORKSHOP</a:t>
            </a:r>
          </a:p>
        </p:txBody>
      </p:sp>
      <p:sp>
        <p:nvSpPr>
          <p:cNvPr id="5" name="TextBox 4"/>
          <p:cNvSpPr txBox="1"/>
          <p:nvPr/>
        </p:nvSpPr>
        <p:spPr>
          <a:xfrm>
            <a:off x="950976" y="4032504"/>
            <a:ext cx="13716000" cy="2954655"/>
          </a:xfrm>
          <a:prstGeom prst="rect">
            <a:avLst/>
          </a:prstGeom>
          <a:noFill/>
        </p:spPr>
        <p:txBody>
          <a:bodyPr wrap="square" lIns="0" tIns="0" rIns="0" bIns="0">
            <a:spAutoFit/>
          </a:bodyPr>
          <a:lstStyle/>
          <a:p>
            <a:pPr algn="l"/>
            <a:r>
              <a:rPr sz="9600" b="1" dirty="0">
                <a:solidFill>
                  <a:srgbClr val="FFFFFF"/>
                </a:solidFill>
                <a:latin typeface="Arial"/>
              </a:rPr>
              <a:t>Building </a:t>
            </a:r>
            <a:r>
              <a:rPr sz="9600" b="1" dirty="0">
                <a:solidFill>
                  <a:srgbClr val="3FE0D0"/>
                </a:solidFill>
                <a:latin typeface="Arial"/>
              </a:rPr>
              <a:t>Context</a:t>
            </a:r>
          </a:p>
          <a:p>
            <a:pPr algn="l"/>
            <a:r>
              <a:rPr sz="9600" b="1" dirty="0">
                <a:solidFill>
                  <a:srgbClr val="FFFFFF"/>
                </a:solidFill>
                <a:latin typeface="Arial"/>
              </a:rPr>
              <a:t>Part 1</a:t>
            </a:r>
          </a:p>
        </p:txBody>
      </p:sp>
      <p:sp>
        <p:nvSpPr>
          <p:cNvPr id="6" name="TextBox 5"/>
          <p:cNvSpPr txBox="1"/>
          <p:nvPr/>
        </p:nvSpPr>
        <p:spPr>
          <a:xfrm>
            <a:off x="950976" y="7178040"/>
            <a:ext cx="14630400" cy="548640"/>
          </a:xfrm>
          <a:prstGeom prst="rect">
            <a:avLst/>
          </a:prstGeom>
          <a:noFill/>
        </p:spPr>
        <p:txBody>
          <a:bodyPr wrap="square" lIns="0" tIns="0" rIns="0" bIns="0" anchor="t">
            <a:spAutoFit/>
          </a:bodyPr>
          <a:lstStyle/>
          <a:p>
            <a:pPr algn="l"/>
            <a:r>
              <a:rPr sz="2200" b="0">
                <a:solidFill>
                  <a:srgbClr val="C9CBD1"/>
                </a:solidFill>
                <a:latin typeface="Arial"/>
              </a:rPr>
              <a:t>The concepts, the files, and what they look like when they're done right.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 y="475488"/>
            <a:ext cx="7315200" cy="237744"/>
          </a:xfrm>
          <a:prstGeom prst="rect">
            <a:avLst/>
          </a:prstGeom>
          <a:noFill/>
        </p:spPr>
        <p:txBody>
          <a:bodyPr wrap="square" lIns="0" tIns="0" rIns="0" bIns="0" anchor="t">
            <a:spAutoFit/>
          </a:bodyPr>
          <a:lstStyle/>
          <a:p>
            <a:pPr algn="l"/>
            <a:r>
              <a:rPr sz="1000" b="1">
                <a:solidFill>
                  <a:srgbClr val="6B6E78"/>
                </a:solidFill>
                <a:latin typeface="Arial"/>
              </a:rPr>
              <a:t>BUILDING CONTEXT · PART 1</a:t>
            </a:r>
          </a:p>
        </p:txBody>
      </p:sp>
      <p:sp>
        <p:nvSpPr>
          <p:cNvPr id="4" name="TextBox 3"/>
          <p:cNvSpPr txBox="1"/>
          <p:nvPr/>
        </p:nvSpPr>
        <p:spPr>
          <a:xfrm>
            <a:off x="15544800" y="475488"/>
            <a:ext cx="1691640" cy="237744"/>
          </a:xfrm>
          <a:prstGeom prst="rect">
            <a:avLst/>
          </a:prstGeom>
          <a:noFill/>
        </p:spPr>
        <p:txBody>
          <a:bodyPr wrap="square" lIns="0" tIns="0" rIns="0" bIns="0" anchor="t">
            <a:spAutoFit/>
          </a:bodyPr>
          <a:lstStyle/>
          <a:p>
            <a:pPr algn="r"/>
            <a:r>
              <a:rPr sz="1000" b="1">
                <a:solidFill>
                  <a:srgbClr val="6B6E78"/>
                </a:solidFill>
                <a:latin typeface="Arial"/>
              </a:rPr>
              <a:t>02 / 22</a:t>
            </a:r>
          </a:p>
        </p:txBody>
      </p:sp>
      <p:sp>
        <p:nvSpPr>
          <p:cNvPr id="5" name="Rectangle 4"/>
          <p:cNvSpPr/>
          <p:nvPr/>
        </p:nvSpPr>
        <p:spPr>
          <a:xfrm>
            <a:off x="1143000" y="9646920"/>
            <a:ext cx="16002000" cy="8000"/>
          </a:xfrm>
          <a:prstGeom prst="rect">
            <a:avLst/>
          </a:prstGeom>
          <a:solidFill>
            <a:srgbClr val="DC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0" y="384048"/>
            <a:ext cx="6400800" cy="4297680"/>
          </a:xfrm>
          <a:prstGeom prst="rect">
            <a:avLst/>
          </a:prstGeom>
          <a:noFill/>
        </p:spPr>
        <p:txBody>
          <a:bodyPr wrap="square" lIns="0" tIns="0" rIns="0" bIns="0" anchor="t">
            <a:spAutoFit/>
          </a:bodyPr>
          <a:lstStyle/>
          <a:p>
            <a:pPr algn="l"/>
            <a:r>
              <a:rPr sz="39000" b="1">
                <a:solidFill>
                  <a:srgbClr val="E8E5DD"/>
                </a:solidFill>
                <a:latin typeface="Arial"/>
              </a:rPr>
              <a:t>02</a:t>
            </a:r>
          </a:p>
        </p:txBody>
      </p:sp>
      <p:sp>
        <p:nvSpPr>
          <p:cNvPr id="7" name="TextBox 6"/>
          <p:cNvSpPr txBox="1"/>
          <p:nvPr/>
        </p:nvSpPr>
        <p:spPr>
          <a:xfrm>
            <a:off x="1143000" y="2093976"/>
            <a:ext cx="16459200" cy="310896"/>
          </a:xfrm>
          <a:prstGeom prst="rect">
            <a:avLst/>
          </a:prstGeom>
          <a:noFill/>
        </p:spPr>
        <p:txBody>
          <a:bodyPr wrap="square" lIns="0" tIns="0" rIns="0" bIns="0" anchor="t">
            <a:spAutoFit/>
          </a:bodyPr>
          <a:lstStyle/>
          <a:p>
            <a:pPr algn="l"/>
            <a:r>
              <a:rPr sz="1100" b="1">
                <a:solidFill>
                  <a:srgbClr val="F58220"/>
                </a:solidFill>
                <a:latin typeface="Arial"/>
              </a:rPr>
              <a:t>BRIDGE  ·  3 MIN</a:t>
            </a:r>
          </a:p>
        </p:txBody>
      </p:sp>
      <p:sp>
        <p:nvSpPr>
          <p:cNvPr id="8" name="TextBox 7"/>
          <p:cNvSpPr txBox="1"/>
          <p:nvPr/>
        </p:nvSpPr>
        <p:spPr>
          <a:xfrm>
            <a:off x="1143000" y="2606040"/>
            <a:ext cx="16459200" cy="1828800"/>
          </a:xfrm>
          <a:prstGeom prst="rect">
            <a:avLst/>
          </a:prstGeom>
          <a:noFill/>
        </p:spPr>
        <p:txBody>
          <a:bodyPr wrap="square" lIns="0" tIns="0" rIns="0" bIns="0" anchor="t">
            <a:spAutoFit/>
          </a:bodyPr>
          <a:lstStyle/>
          <a:p>
            <a:pPr algn="l"/>
            <a:r>
              <a:rPr sz="6800" b="1">
                <a:solidFill>
                  <a:srgbClr val="14161C"/>
                </a:solidFill>
                <a:latin typeface="Arial"/>
              </a:rPr>
              <a:t>Yesterday's loop, </a:t>
            </a:r>
            <a:r>
              <a:rPr sz="6800" b="1">
                <a:solidFill>
                  <a:srgbClr val="F58220"/>
                </a:solidFill>
                <a:latin typeface="Arial"/>
              </a:rPr>
              <a:t>today's artifacts.</a:t>
            </a:r>
          </a:p>
        </p:txBody>
      </p:sp>
      <p:sp>
        <p:nvSpPr>
          <p:cNvPr id="10" name="TextBox 9"/>
          <p:cNvSpPr txBox="1"/>
          <p:nvPr/>
        </p:nvSpPr>
        <p:spPr>
          <a:xfrm>
            <a:off x="1143000" y="5166360"/>
            <a:ext cx="15544800" cy="3657600"/>
          </a:xfrm>
          <a:prstGeom prst="rect">
            <a:avLst/>
          </a:prstGeom>
          <a:noFill/>
        </p:spPr>
        <p:txBody>
          <a:bodyPr wrap="square" lIns="0" tIns="0" rIns="0" bIns="0">
            <a:spAutoFit/>
          </a:bodyPr>
          <a:lstStyle/>
          <a:p>
            <a:pPr algn="l">
              <a:lnSpc>
                <a:spcPct val="115000"/>
              </a:lnSpc>
              <a:spcAft>
                <a:spcPts val="600"/>
              </a:spcAft>
            </a:pPr>
            <a:r>
              <a:rPr sz="2400" b="0">
                <a:solidFill>
                  <a:srgbClr val="14161C"/>
                </a:solidFill>
                <a:latin typeface="Arial"/>
              </a:rPr>
              <a:t>•  The phases didn't change — Plan · Build · Test · Ship · Iterate.</a:t>
            </a:r>
          </a:p>
          <a:p>
            <a:pPr algn="l">
              <a:lnSpc>
                <a:spcPct val="115000"/>
              </a:lnSpc>
              <a:spcAft>
                <a:spcPts val="600"/>
              </a:spcAft>
            </a:pPr>
            <a:r>
              <a:rPr sz="2400" b="0">
                <a:solidFill>
                  <a:srgbClr val="14161C"/>
                </a:solidFill>
                <a:latin typeface="Arial"/>
              </a:rPr>
              <a:t>•  Context engineering is how you compress the cycle time.</a:t>
            </a:r>
          </a:p>
          <a:p>
            <a:pPr algn="l">
              <a:lnSpc>
                <a:spcPct val="115000"/>
              </a:lnSpc>
              <a:spcAft>
                <a:spcPts val="600"/>
              </a:spcAft>
            </a:pPr>
            <a:r>
              <a:rPr sz="2400" b="0">
                <a:solidFill>
                  <a:srgbClr val="14161C"/>
                </a:solidFill>
                <a:latin typeface="Arial"/>
              </a:rPr>
              <a:t>•  Today: the three files that turn the loop into a system you can repeat.</a:t>
            </a:r>
          </a:p>
        </p:txBody>
      </p:sp>
      <p:sp>
        <p:nvSpPr>
          <p:cNvPr id="11" name="Rectangle 10"/>
          <p:cNvSpPr/>
          <p:nvPr/>
        </p:nvSpPr>
        <p:spPr>
          <a:xfrm>
            <a:off x="1143000" y="9052560"/>
            <a:ext cx="3794760" cy="384048"/>
          </a:xfrm>
          <a:prstGeom prst="rect">
            <a:avLst/>
          </a:prstGeom>
          <a:noFill/>
          <a:ln w="9525">
            <a:solidFill>
              <a:srgbClr val="F58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307592" y="9144000"/>
            <a:ext cx="3465576" cy="237744"/>
          </a:xfrm>
          <a:prstGeom prst="rect">
            <a:avLst/>
          </a:prstGeom>
          <a:noFill/>
        </p:spPr>
        <p:txBody>
          <a:bodyPr wrap="square" lIns="0" tIns="0" rIns="0" bIns="0" anchor="t">
            <a:spAutoFit/>
          </a:bodyPr>
          <a:lstStyle/>
          <a:p>
            <a:pPr algn="l"/>
            <a:r>
              <a:rPr sz="1000" b="1">
                <a:solidFill>
                  <a:srgbClr val="F58220"/>
                </a:solidFill>
                <a:latin typeface="Arial"/>
              </a:rPr>
              <a:t>PROCESS → FILES</a:t>
            </a:r>
          </a:p>
        </p:txBody>
      </p:sp>
      <p:pic>
        <p:nvPicPr>
          <p:cNvPr id="13" name="Picture 12">
            <a:extLst>
              <a:ext uri="{FF2B5EF4-FFF2-40B4-BE49-F238E27FC236}">
                <a16:creationId xmlns:a16="http://schemas.microsoft.com/office/drawing/2014/main" id="{8E87AE18-FC64-E4FE-94CC-5E7A7618A099}"/>
              </a:ext>
            </a:extLst>
          </p:cNvPr>
          <p:cNvPicPr>
            <a:picLocks noChangeAspect="1"/>
          </p:cNvPicPr>
          <p:nvPr/>
        </p:nvPicPr>
        <p:blipFill>
          <a:blip r:embed="rId3"/>
          <a:stretch>
            <a:fillRect/>
          </a:stretch>
        </p:blipFill>
        <p:spPr>
          <a:xfrm>
            <a:off x="12224084" y="4131644"/>
            <a:ext cx="5286676" cy="528667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 y="475488"/>
            <a:ext cx="7315200" cy="237744"/>
          </a:xfrm>
          <a:prstGeom prst="rect">
            <a:avLst/>
          </a:prstGeom>
          <a:noFill/>
        </p:spPr>
        <p:txBody>
          <a:bodyPr wrap="square" lIns="0" tIns="0" rIns="0" bIns="0" anchor="t">
            <a:spAutoFit/>
          </a:bodyPr>
          <a:lstStyle/>
          <a:p>
            <a:pPr algn="l"/>
            <a:r>
              <a:rPr sz="1000" b="1">
                <a:solidFill>
                  <a:srgbClr val="6B6E78"/>
                </a:solidFill>
                <a:latin typeface="Arial"/>
              </a:rPr>
              <a:t>BUILDING CONTEXT · PART 1</a:t>
            </a:r>
          </a:p>
        </p:txBody>
      </p:sp>
      <p:sp>
        <p:nvSpPr>
          <p:cNvPr id="4" name="TextBox 3"/>
          <p:cNvSpPr txBox="1"/>
          <p:nvPr/>
        </p:nvSpPr>
        <p:spPr>
          <a:xfrm>
            <a:off x="15544800" y="475488"/>
            <a:ext cx="1691640" cy="237744"/>
          </a:xfrm>
          <a:prstGeom prst="rect">
            <a:avLst/>
          </a:prstGeom>
          <a:noFill/>
        </p:spPr>
        <p:txBody>
          <a:bodyPr wrap="square" lIns="0" tIns="0" rIns="0" bIns="0" anchor="t">
            <a:spAutoFit/>
          </a:bodyPr>
          <a:lstStyle/>
          <a:p>
            <a:pPr algn="r"/>
            <a:r>
              <a:rPr sz="1000" b="1">
                <a:solidFill>
                  <a:srgbClr val="6B6E78"/>
                </a:solidFill>
                <a:latin typeface="Arial"/>
              </a:rPr>
              <a:t>03 / 22</a:t>
            </a:r>
          </a:p>
        </p:txBody>
      </p:sp>
      <p:sp>
        <p:nvSpPr>
          <p:cNvPr id="5" name="Rectangle 4"/>
          <p:cNvSpPr/>
          <p:nvPr/>
        </p:nvSpPr>
        <p:spPr>
          <a:xfrm>
            <a:off x="1143000" y="9646920"/>
            <a:ext cx="16002000" cy="8000"/>
          </a:xfrm>
          <a:prstGeom prst="rect">
            <a:avLst/>
          </a:prstGeom>
          <a:solidFill>
            <a:srgbClr val="DC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0" y="384048"/>
            <a:ext cx="6400800" cy="4297680"/>
          </a:xfrm>
          <a:prstGeom prst="rect">
            <a:avLst/>
          </a:prstGeom>
          <a:noFill/>
        </p:spPr>
        <p:txBody>
          <a:bodyPr wrap="square" lIns="0" tIns="0" rIns="0" bIns="0" anchor="t">
            <a:spAutoFit/>
          </a:bodyPr>
          <a:lstStyle/>
          <a:p>
            <a:pPr algn="l"/>
            <a:r>
              <a:rPr sz="39000" b="1">
                <a:solidFill>
                  <a:srgbClr val="E8E5DD"/>
                </a:solidFill>
                <a:latin typeface="Arial"/>
              </a:rPr>
              <a:t>03</a:t>
            </a:r>
          </a:p>
        </p:txBody>
      </p:sp>
      <p:sp>
        <p:nvSpPr>
          <p:cNvPr id="7" name="TextBox 6"/>
          <p:cNvSpPr txBox="1"/>
          <p:nvPr/>
        </p:nvSpPr>
        <p:spPr>
          <a:xfrm>
            <a:off x="1143000" y="2093976"/>
            <a:ext cx="16459200" cy="310896"/>
          </a:xfrm>
          <a:prstGeom prst="rect">
            <a:avLst/>
          </a:prstGeom>
          <a:noFill/>
        </p:spPr>
        <p:txBody>
          <a:bodyPr wrap="square" lIns="0" tIns="0" rIns="0" bIns="0" anchor="t">
            <a:spAutoFit/>
          </a:bodyPr>
          <a:lstStyle/>
          <a:p>
            <a:pPr algn="l"/>
            <a:r>
              <a:rPr sz="1100" b="1">
                <a:solidFill>
                  <a:srgbClr val="F58220"/>
                </a:solidFill>
                <a:latin typeface="Arial"/>
              </a:rPr>
              <a:t>WHAT YOU'LL LEAVE WITH</a:t>
            </a:r>
          </a:p>
        </p:txBody>
      </p:sp>
      <p:sp>
        <p:nvSpPr>
          <p:cNvPr id="8" name="TextBox 7"/>
          <p:cNvSpPr txBox="1"/>
          <p:nvPr/>
        </p:nvSpPr>
        <p:spPr>
          <a:xfrm>
            <a:off x="1143000" y="2606040"/>
            <a:ext cx="16459200" cy="2286000"/>
          </a:xfrm>
          <a:prstGeom prst="rect">
            <a:avLst/>
          </a:prstGeom>
          <a:noFill/>
        </p:spPr>
        <p:txBody>
          <a:bodyPr wrap="square" lIns="0" tIns="0" rIns="0" bIns="0" anchor="t">
            <a:spAutoFit/>
          </a:bodyPr>
          <a:lstStyle/>
          <a:p>
            <a:pPr algn="l"/>
            <a:r>
              <a:rPr sz="4600" b="1">
                <a:solidFill>
                  <a:srgbClr val="14161C"/>
                </a:solidFill>
                <a:latin typeface="Arial"/>
              </a:rPr>
              <a:t>You can explain the role of </a:t>
            </a:r>
            <a:r>
              <a:rPr sz="4600" b="1">
                <a:solidFill>
                  <a:srgbClr val="F58220"/>
                </a:solidFill>
                <a:latin typeface="Arial"/>
              </a:rPr>
              <a:t>three files</a:t>
            </a:r>
            <a:r>
              <a:rPr sz="4600" b="1">
                <a:solidFill>
                  <a:srgbClr val="14161C"/>
                </a:solidFill>
                <a:latin typeface="Arial"/>
              </a:rPr>
              <a:t> — and recognize bad context when you see it.</a:t>
            </a:r>
          </a:p>
        </p:txBody>
      </p:sp>
      <p:sp>
        <p:nvSpPr>
          <p:cNvPr id="9" name="TextBox 8"/>
          <p:cNvSpPr txBox="1"/>
          <p:nvPr/>
        </p:nvSpPr>
        <p:spPr>
          <a:xfrm>
            <a:off x="1143000" y="6400800"/>
            <a:ext cx="16459200" cy="2286000"/>
          </a:xfrm>
          <a:prstGeom prst="rect">
            <a:avLst/>
          </a:prstGeom>
          <a:noFill/>
        </p:spPr>
        <p:txBody>
          <a:bodyPr wrap="square" lIns="0" tIns="0" rIns="0" bIns="0">
            <a:spAutoFit/>
          </a:bodyPr>
          <a:lstStyle/>
          <a:p>
            <a:pPr algn="l">
              <a:lnSpc>
                <a:spcPct val="160000"/>
              </a:lnSpc>
              <a:spcAft>
                <a:spcPts val="600"/>
              </a:spcAft>
            </a:pPr>
            <a:r>
              <a:rPr sz="2600" b="1">
                <a:solidFill>
                  <a:srgbClr val="F58220"/>
                </a:solidFill>
                <a:latin typeface="Arial"/>
              </a:rPr>
              <a:t>CLAUDE.md</a:t>
            </a:r>
            <a:r>
              <a:rPr sz="2600" b="0">
                <a:solidFill>
                  <a:srgbClr val="14161C"/>
                </a:solidFill>
                <a:latin typeface="Arial"/>
              </a:rPr>
              <a:t>  ·  the project's router</a:t>
            </a:r>
          </a:p>
          <a:p>
            <a:pPr algn="l">
              <a:lnSpc>
                <a:spcPct val="160000"/>
              </a:lnSpc>
              <a:spcAft>
                <a:spcPts val="600"/>
              </a:spcAft>
            </a:pPr>
            <a:r>
              <a:rPr sz="2600" b="1">
                <a:solidFill>
                  <a:srgbClr val="F58220"/>
                </a:solidFill>
                <a:latin typeface="Arial"/>
              </a:rPr>
              <a:t>requirements.md</a:t>
            </a:r>
            <a:r>
              <a:rPr sz="2600" b="0">
                <a:solidFill>
                  <a:srgbClr val="14161C"/>
                </a:solidFill>
                <a:latin typeface="Arial"/>
              </a:rPr>
              <a:t>  ·  model instructions with a business rationale</a:t>
            </a:r>
          </a:p>
          <a:p>
            <a:pPr algn="l">
              <a:lnSpc>
                <a:spcPct val="160000"/>
              </a:lnSpc>
              <a:spcAft>
                <a:spcPts val="600"/>
              </a:spcAft>
            </a:pPr>
            <a:r>
              <a:rPr sz="2600" b="1">
                <a:solidFill>
                  <a:srgbClr val="F58220"/>
                </a:solidFill>
                <a:latin typeface="Arial"/>
              </a:rPr>
              <a:t>CONVENTIONS.md</a:t>
            </a:r>
            <a:r>
              <a:rPr sz="2600" b="0">
                <a:solidFill>
                  <a:srgbClr val="14161C"/>
                </a:solidFill>
                <a:latin typeface="Arial"/>
              </a:rPr>
              <a:t>  ·  naming, layout, commits, tests — written once</a:t>
            </a:r>
          </a:p>
        </p:txBody>
      </p:sp>
      <p:sp>
        <p:nvSpPr>
          <p:cNvPr id="10" name="Rectangle 9"/>
          <p:cNvSpPr/>
          <p:nvPr/>
        </p:nvSpPr>
        <p:spPr>
          <a:xfrm>
            <a:off x="1143000" y="9052560"/>
            <a:ext cx="6995160" cy="384048"/>
          </a:xfrm>
          <a:prstGeom prst="rect">
            <a:avLst/>
          </a:prstGeom>
          <a:noFill/>
          <a:ln w="9525">
            <a:solidFill>
              <a:srgbClr val="F58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07592" y="9144000"/>
            <a:ext cx="6665976" cy="237744"/>
          </a:xfrm>
          <a:prstGeom prst="rect">
            <a:avLst/>
          </a:prstGeom>
          <a:noFill/>
        </p:spPr>
        <p:txBody>
          <a:bodyPr wrap="square" lIns="0" tIns="0" rIns="0" bIns="0" anchor="t">
            <a:spAutoFit/>
          </a:bodyPr>
          <a:lstStyle/>
          <a:p>
            <a:pPr algn="l"/>
            <a:r>
              <a:rPr sz="1000" b="1">
                <a:solidFill>
                  <a:srgbClr val="F58220"/>
                </a:solidFill>
                <a:latin typeface="Arial"/>
              </a:rPr>
              <a:t>BREADTH NOW · DEPTH IN PART 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 y="475488"/>
            <a:ext cx="7315200" cy="237744"/>
          </a:xfrm>
          <a:prstGeom prst="rect">
            <a:avLst/>
          </a:prstGeom>
          <a:noFill/>
        </p:spPr>
        <p:txBody>
          <a:bodyPr wrap="square" lIns="0" tIns="0" rIns="0" bIns="0" anchor="t">
            <a:spAutoFit/>
          </a:bodyPr>
          <a:lstStyle/>
          <a:p>
            <a:pPr algn="l"/>
            <a:r>
              <a:rPr sz="1000" b="1">
                <a:solidFill>
                  <a:srgbClr val="6B6E78"/>
                </a:solidFill>
                <a:latin typeface="Arial"/>
              </a:rPr>
              <a:t>BUILDING CONTEXT · PART 1</a:t>
            </a:r>
          </a:p>
        </p:txBody>
      </p:sp>
      <p:sp>
        <p:nvSpPr>
          <p:cNvPr id="4" name="TextBox 3"/>
          <p:cNvSpPr txBox="1"/>
          <p:nvPr/>
        </p:nvSpPr>
        <p:spPr>
          <a:xfrm>
            <a:off x="15544800" y="475488"/>
            <a:ext cx="1691640" cy="237744"/>
          </a:xfrm>
          <a:prstGeom prst="rect">
            <a:avLst/>
          </a:prstGeom>
          <a:noFill/>
        </p:spPr>
        <p:txBody>
          <a:bodyPr wrap="square" lIns="0" tIns="0" rIns="0" bIns="0" anchor="t">
            <a:spAutoFit/>
          </a:bodyPr>
          <a:lstStyle/>
          <a:p>
            <a:pPr algn="r"/>
            <a:r>
              <a:rPr sz="1000" b="1">
                <a:solidFill>
                  <a:srgbClr val="6B6E78"/>
                </a:solidFill>
                <a:latin typeface="Arial"/>
              </a:rPr>
              <a:t>04 / 22</a:t>
            </a:r>
          </a:p>
        </p:txBody>
      </p:sp>
      <p:sp>
        <p:nvSpPr>
          <p:cNvPr id="5" name="Rectangle 4"/>
          <p:cNvSpPr/>
          <p:nvPr/>
        </p:nvSpPr>
        <p:spPr>
          <a:xfrm>
            <a:off x="1143000" y="9646920"/>
            <a:ext cx="16002000" cy="8000"/>
          </a:xfrm>
          <a:prstGeom prst="rect">
            <a:avLst/>
          </a:prstGeom>
          <a:solidFill>
            <a:srgbClr val="DC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0" y="384048"/>
            <a:ext cx="6400800" cy="4297680"/>
          </a:xfrm>
          <a:prstGeom prst="rect">
            <a:avLst/>
          </a:prstGeom>
          <a:noFill/>
        </p:spPr>
        <p:txBody>
          <a:bodyPr wrap="square" lIns="0" tIns="0" rIns="0" bIns="0" anchor="t">
            <a:spAutoFit/>
          </a:bodyPr>
          <a:lstStyle/>
          <a:p>
            <a:pPr algn="l"/>
            <a:r>
              <a:rPr sz="39000" b="1">
                <a:solidFill>
                  <a:srgbClr val="E8E5DD"/>
                </a:solidFill>
                <a:latin typeface="Arial"/>
              </a:rPr>
              <a:t>04</a:t>
            </a:r>
          </a:p>
        </p:txBody>
      </p:sp>
      <p:sp>
        <p:nvSpPr>
          <p:cNvPr id="7" name="TextBox 6"/>
          <p:cNvSpPr txBox="1"/>
          <p:nvPr/>
        </p:nvSpPr>
        <p:spPr>
          <a:xfrm>
            <a:off x="1143000" y="2093976"/>
            <a:ext cx="16459200" cy="310896"/>
          </a:xfrm>
          <a:prstGeom prst="rect">
            <a:avLst/>
          </a:prstGeom>
          <a:noFill/>
        </p:spPr>
        <p:txBody>
          <a:bodyPr wrap="square" lIns="0" tIns="0" rIns="0" bIns="0" anchor="t">
            <a:spAutoFit/>
          </a:bodyPr>
          <a:lstStyle/>
          <a:p>
            <a:pPr algn="l"/>
            <a:r>
              <a:rPr sz="1100" b="1">
                <a:solidFill>
                  <a:srgbClr val="F58220"/>
                </a:solidFill>
                <a:latin typeface="Arial"/>
              </a:rPr>
              <a:t>WHY FILES  ·  7 MIN</a:t>
            </a:r>
          </a:p>
        </p:txBody>
      </p:sp>
      <p:sp>
        <p:nvSpPr>
          <p:cNvPr id="8" name="TextBox 7"/>
          <p:cNvSpPr txBox="1"/>
          <p:nvPr/>
        </p:nvSpPr>
        <p:spPr>
          <a:xfrm>
            <a:off x="1143000" y="2606040"/>
            <a:ext cx="16459200" cy="1828800"/>
          </a:xfrm>
          <a:prstGeom prst="rect">
            <a:avLst/>
          </a:prstGeom>
          <a:noFill/>
        </p:spPr>
        <p:txBody>
          <a:bodyPr wrap="square" lIns="0" tIns="0" rIns="0" bIns="0" anchor="t">
            <a:spAutoFit/>
          </a:bodyPr>
          <a:lstStyle/>
          <a:p>
            <a:pPr algn="l"/>
            <a:r>
              <a:rPr sz="6400" b="1">
                <a:solidFill>
                  <a:srgbClr val="14161C"/>
                </a:solidFill>
                <a:latin typeface="Arial"/>
              </a:rPr>
              <a:t>Why context lives in </a:t>
            </a:r>
            <a:r>
              <a:rPr sz="6400" b="1">
                <a:solidFill>
                  <a:srgbClr val="F58220"/>
                </a:solidFill>
                <a:latin typeface="Arial"/>
              </a:rPr>
              <a:t>files</a:t>
            </a:r>
            <a:r>
              <a:rPr sz="6400" b="1">
                <a:solidFill>
                  <a:srgbClr val="14161C"/>
                </a:solidFill>
                <a:latin typeface="Arial"/>
              </a:rPr>
              <a:t>, not chat.</a:t>
            </a:r>
          </a:p>
        </p:txBody>
      </p:sp>
      <p:sp>
        <p:nvSpPr>
          <p:cNvPr id="9" name="TextBox 8"/>
          <p:cNvSpPr txBox="1"/>
          <p:nvPr/>
        </p:nvSpPr>
        <p:spPr>
          <a:xfrm>
            <a:off x="1143000" y="4937760"/>
            <a:ext cx="16459200" cy="4114800"/>
          </a:xfrm>
          <a:prstGeom prst="rect">
            <a:avLst/>
          </a:prstGeom>
          <a:noFill/>
        </p:spPr>
        <p:txBody>
          <a:bodyPr wrap="square" lIns="0" tIns="0" rIns="0" bIns="0">
            <a:spAutoFit/>
          </a:bodyPr>
          <a:lstStyle/>
          <a:p>
            <a:pPr algn="l">
              <a:lnSpc>
                <a:spcPct val="155000"/>
              </a:lnSpc>
              <a:spcAft>
                <a:spcPts val="600"/>
              </a:spcAft>
            </a:pPr>
            <a:r>
              <a:rPr sz="2600" b="1">
                <a:solidFill>
                  <a:srgbClr val="F58220"/>
                </a:solidFill>
                <a:latin typeface="Arial"/>
              </a:rPr>
              <a:t>Amnesia.</a:t>
            </a:r>
            <a:r>
              <a:rPr sz="2600" b="0">
                <a:solidFill>
                  <a:srgbClr val="14161C"/>
                </a:solidFill>
                <a:latin typeface="Arial"/>
              </a:rPr>
              <a:t>   Every new session starts from zero. Files don't.</a:t>
            </a:r>
          </a:p>
          <a:p>
            <a:pPr algn="l">
              <a:lnSpc>
                <a:spcPct val="155000"/>
              </a:lnSpc>
              <a:spcAft>
                <a:spcPts val="600"/>
              </a:spcAft>
            </a:pPr>
            <a:r>
              <a:rPr sz="2600" b="1">
                <a:solidFill>
                  <a:srgbClr val="F58220"/>
                </a:solidFill>
                <a:latin typeface="Arial"/>
              </a:rPr>
              <a:t>Reproducibility.</a:t>
            </a:r>
            <a:r>
              <a:rPr sz="2600" b="0">
                <a:solidFill>
                  <a:srgbClr val="14161C"/>
                </a:solidFill>
                <a:latin typeface="Arial"/>
              </a:rPr>
              <a:t>   Same prompt + same files = same answer tomorrow.</a:t>
            </a:r>
          </a:p>
          <a:p>
            <a:pPr algn="l">
              <a:lnSpc>
                <a:spcPct val="155000"/>
              </a:lnSpc>
              <a:spcAft>
                <a:spcPts val="600"/>
              </a:spcAft>
            </a:pPr>
            <a:r>
              <a:rPr sz="2600" b="1">
                <a:solidFill>
                  <a:srgbClr val="F58220"/>
                </a:solidFill>
                <a:latin typeface="Arial"/>
              </a:rPr>
              <a:t>Sharing.</a:t>
            </a:r>
            <a:r>
              <a:rPr sz="2600" b="0">
                <a:solidFill>
                  <a:srgbClr val="14161C"/>
                </a:solidFill>
                <a:latin typeface="Arial"/>
              </a:rPr>
              <a:t>   Your teammate can read what you told the model.</a:t>
            </a:r>
          </a:p>
          <a:p>
            <a:pPr algn="l">
              <a:lnSpc>
                <a:spcPct val="155000"/>
              </a:lnSpc>
              <a:spcAft>
                <a:spcPts val="600"/>
              </a:spcAft>
            </a:pPr>
            <a:r>
              <a:rPr sz="2600" b="1">
                <a:solidFill>
                  <a:srgbClr val="F58220"/>
                </a:solidFill>
                <a:latin typeface="Arial"/>
              </a:rPr>
              <a:t>Review.</a:t>
            </a:r>
            <a:r>
              <a:rPr sz="2600" b="0">
                <a:solidFill>
                  <a:srgbClr val="14161C"/>
                </a:solidFill>
                <a:latin typeface="Arial"/>
              </a:rPr>
              <a:t>   Pull-request the prompt the way you pull-request the code.</a:t>
            </a:r>
          </a:p>
        </p:txBody>
      </p:sp>
      <p:sp>
        <p:nvSpPr>
          <p:cNvPr id="10" name="Rectangle 9"/>
          <p:cNvSpPr/>
          <p:nvPr/>
        </p:nvSpPr>
        <p:spPr>
          <a:xfrm>
            <a:off x="1143000" y="9052560"/>
            <a:ext cx="8595360" cy="384048"/>
          </a:xfrm>
          <a:prstGeom prst="rect">
            <a:avLst/>
          </a:prstGeom>
          <a:noFill/>
          <a:ln w="9525">
            <a:solidFill>
              <a:srgbClr val="F58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07592" y="9144000"/>
            <a:ext cx="8266176" cy="237744"/>
          </a:xfrm>
          <a:prstGeom prst="rect">
            <a:avLst/>
          </a:prstGeom>
          <a:noFill/>
        </p:spPr>
        <p:txBody>
          <a:bodyPr wrap="square" lIns="0" tIns="0" rIns="0" bIns="0" anchor="t">
            <a:spAutoFit/>
          </a:bodyPr>
          <a:lstStyle/>
          <a:p>
            <a:pPr algn="l"/>
            <a:r>
              <a:rPr sz="1000" b="1">
                <a:solidFill>
                  <a:srgbClr val="F58220"/>
                </a:solidFill>
                <a:latin typeface="Arial"/>
              </a:rPr>
              <a:t>CHAT IS VOLATILE · FILES ARE DURABLE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 y="475488"/>
            <a:ext cx="7315200" cy="237744"/>
          </a:xfrm>
          <a:prstGeom prst="rect">
            <a:avLst/>
          </a:prstGeom>
          <a:noFill/>
        </p:spPr>
        <p:txBody>
          <a:bodyPr wrap="square" lIns="0" tIns="0" rIns="0" bIns="0" anchor="t">
            <a:spAutoFit/>
          </a:bodyPr>
          <a:lstStyle/>
          <a:p>
            <a:pPr algn="l"/>
            <a:r>
              <a:rPr sz="1000" b="1">
                <a:solidFill>
                  <a:srgbClr val="6B6E78"/>
                </a:solidFill>
                <a:latin typeface="Arial"/>
              </a:rPr>
              <a:t>BUILDING CONTEXT · PART 1</a:t>
            </a:r>
          </a:p>
        </p:txBody>
      </p:sp>
      <p:sp>
        <p:nvSpPr>
          <p:cNvPr id="4" name="TextBox 3"/>
          <p:cNvSpPr txBox="1"/>
          <p:nvPr/>
        </p:nvSpPr>
        <p:spPr>
          <a:xfrm>
            <a:off x="15544800" y="475488"/>
            <a:ext cx="1691640" cy="237744"/>
          </a:xfrm>
          <a:prstGeom prst="rect">
            <a:avLst/>
          </a:prstGeom>
          <a:noFill/>
        </p:spPr>
        <p:txBody>
          <a:bodyPr wrap="square" lIns="0" tIns="0" rIns="0" bIns="0" anchor="t">
            <a:spAutoFit/>
          </a:bodyPr>
          <a:lstStyle/>
          <a:p>
            <a:pPr algn="r"/>
            <a:r>
              <a:rPr sz="1000" b="1">
                <a:solidFill>
                  <a:srgbClr val="6B6E78"/>
                </a:solidFill>
                <a:latin typeface="Arial"/>
              </a:rPr>
              <a:t>05 / 22</a:t>
            </a:r>
          </a:p>
        </p:txBody>
      </p:sp>
      <p:sp>
        <p:nvSpPr>
          <p:cNvPr id="5" name="Rectangle 4"/>
          <p:cNvSpPr/>
          <p:nvPr/>
        </p:nvSpPr>
        <p:spPr>
          <a:xfrm>
            <a:off x="1143000" y="9646920"/>
            <a:ext cx="16002000" cy="8000"/>
          </a:xfrm>
          <a:prstGeom prst="rect">
            <a:avLst/>
          </a:prstGeom>
          <a:solidFill>
            <a:srgbClr val="DC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0" y="384048"/>
            <a:ext cx="6400800" cy="4297680"/>
          </a:xfrm>
          <a:prstGeom prst="rect">
            <a:avLst/>
          </a:prstGeom>
          <a:noFill/>
        </p:spPr>
        <p:txBody>
          <a:bodyPr wrap="square" lIns="0" tIns="0" rIns="0" bIns="0" anchor="t">
            <a:spAutoFit/>
          </a:bodyPr>
          <a:lstStyle/>
          <a:p>
            <a:pPr algn="l"/>
            <a:r>
              <a:rPr sz="39000" b="1">
                <a:solidFill>
                  <a:srgbClr val="E8E5DD"/>
                </a:solidFill>
                <a:latin typeface="Arial"/>
              </a:rPr>
              <a:t>05</a:t>
            </a:r>
          </a:p>
        </p:txBody>
      </p:sp>
      <p:sp>
        <p:nvSpPr>
          <p:cNvPr id="7" name="TextBox 6"/>
          <p:cNvSpPr txBox="1"/>
          <p:nvPr/>
        </p:nvSpPr>
        <p:spPr>
          <a:xfrm>
            <a:off x="1143000" y="2093976"/>
            <a:ext cx="16459200" cy="310896"/>
          </a:xfrm>
          <a:prstGeom prst="rect">
            <a:avLst/>
          </a:prstGeom>
          <a:noFill/>
        </p:spPr>
        <p:txBody>
          <a:bodyPr wrap="square" lIns="0" tIns="0" rIns="0" bIns="0" anchor="t">
            <a:spAutoFit/>
          </a:bodyPr>
          <a:lstStyle/>
          <a:p>
            <a:pPr algn="l"/>
            <a:r>
              <a:rPr sz="1100" b="1">
                <a:solidFill>
                  <a:srgbClr val="F58220"/>
                </a:solidFill>
                <a:latin typeface="Arial"/>
              </a:rPr>
              <a:t>THE EXPLANATION TAX</a:t>
            </a:r>
          </a:p>
        </p:txBody>
      </p:sp>
      <p:sp>
        <p:nvSpPr>
          <p:cNvPr id="8" name="TextBox 7"/>
          <p:cNvSpPr txBox="1"/>
          <p:nvPr/>
        </p:nvSpPr>
        <p:spPr>
          <a:xfrm>
            <a:off x="1143000" y="2606040"/>
            <a:ext cx="16459200" cy="1828800"/>
          </a:xfrm>
          <a:prstGeom prst="rect">
            <a:avLst/>
          </a:prstGeom>
          <a:noFill/>
        </p:spPr>
        <p:txBody>
          <a:bodyPr wrap="square" lIns="0" tIns="0" rIns="0" bIns="0" anchor="t">
            <a:spAutoFit/>
          </a:bodyPr>
          <a:lstStyle/>
          <a:p>
            <a:pPr algn="l"/>
            <a:r>
              <a:rPr sz="5800" b="1">
                <a:solidFill>
                  <a:srgbClr val="14161C"/>
                </a:solidFill>
                <a:latin typeface="Arial"/>
              </a:rPr>
              <a:t>Without files, you pay it </a:t>
            </a:r>
            <a:r>
              <a:rPr sz="5800" b="1">
                <a:solidFill>
                  <a:srgbClr val="F58220"/>
                </a:solidFill>
                <a:latin typeface="Arial"/>
              </a:rPr>
              <a:t>every morning.</a:t>
            </a:r>
          </a:p>
        </p:txBody>
      </p:sp>
      <p:sp>
        <p:nvSpPr>
          <p:cNvPr id="9" name="TextBox 8"/>
          <p:cNvSpPr txBox="1"/>
          <p:nvPr/>
        </p:nvSpPr>
        <p:spPr>
          <a:xfrm>
            <a:off x="1143000" y="4572000"/>
            <a:ext cx="15544800" cy="411480"/>
          </a:xfrm>
          <a:prstGeom prst="rect">
            <a:avLst/>
          </a:prstGeom>
          <a:noFill/>
        </p:spPr>
        <p:txBody>
          <a:bodyPr wrap="square" lIns="0" tIns="0" rIns="0" bIns="0" anchor="t">
            <a:spAutoFit/>
          </a:bodyPr>
          <a:lstStyle/>
          <a:p>
            <a:pPr algn="l"/>
            <a:r>
              <a:rPr sz="1300" b="1">
                <a:solidFill>
                  <a:srgbClr val="6B6E78"/>
                </a:solidFill>
                <a:latin typeface="Arial"/>
              </a:rPr>
              <a:t>[DIAGRAM TO INSERT: split panel — LEFT: developer re-typing context to a blank chat day after day. RIGHT: same developer points at CLAUDE.md and gets to work.]</a:t>
            </a:r>
          </a:p>
        </p:txBody>
      </p:sp>
      <p:sp>
        <p:nvSpPr>
          <p:cNvPr id="10" name="TextBox 9"/>
          <p:cNvSpPr txBox="1"/>
          <p:nvPr/>
        </p:nvSpPr>
        <p:spPr>
          <a:xfrm>
            <a:off x="1143000" y="5212080"/>
            <a:ext cx="15544800" cy="3657600"/>
          </a:xfrm>
          <a:prstGeom prst="rect">
            <a:avLst/>
          </a:prstGeom>
          <a:noFill/>
        </p:spPr>
        <p:txBody>
          <a:bodyPr wrap="square" lIns="0" tIns="0" rIns="0" bIns="0">
            <a:spAutoFit/>
          </a:bodyPr>
          <a:lstStyle/>
          <a:p>
            <a:pPr algn="l">
              <a:lnSpc>
                <a:spcPct val="115000"/>
              </a:lnSpc>
              <a:spcAft>
                <a:spcPts val="600"/>
              </a:spcAft>
            </a:pPr>
            <a:r>
              <a:rPr sz="2200" b="0">
                <a:solidFill>
                  <a:srgbClr val="14161C"/>
                </a:solidFill>
                <a:latin typeface="Arial"/>
              </a:rPr>
              <a:t>•  Re-explaining the stack, the layout, the naming, the gotchas — every single session.</a:t>
            </a:r>
          </a:p>
          <a:p>
            <a:pPr algn="l">
              <a:lnSpc>
                <a:spcPct val="115000"/>
              </a:lnSpc>
              <a:spcAft>
                <a:spcPts val="600"/>
              </a:spcAft>
            </a:pPr>
            <a:r>
              <a:rPr sz="2200" b="0">
                <a:solidFill>
                  <a:srgbClr val="14161C"/>
                </a:solidFill>
                <a:latin typeface="Arial"/>
              </a:rPr>
              <a:t>•  Multiply by every developer on your team. Multiply by every workday.</a:t>
            </a:r>
          </a:p>
          <a:p>
            <a:pPr algn="l">
              <a:lnSpc>
                <a:spcPct val="115000"/>
              </a:lnSpc>
              <a:spcAft>
                <a:spcPts val="600"/>
              </a:spcAft>
            </a:pPr>
            <a:r>
              <a:rPr sz="2200" b="0">
                <a:solidFill>
                  <a:srgbClr val="14161C"/>
                </a:solidFill>
                <a:latin typeface="Arial"/>
              </a:rPr>
              <a:t>•  Files turn a 5-minute warm-up into a 5-second one.</a:t>
            </a:r>
          </a:p>
        </p:txBody>
      </p:sp>
      <p:sp>
        <p:nvSpPr>
          <p:cNvPr id="11" name="Rectangle 10"/>
          <p:cNvSpPr/>
          <p:nvPr/>
        </p:nvSpPr>
        <p:spPr>
          <a:xfrm>
            <a:off x="1143000" y="9052560"/>
            <a:ext cx="6309360" cy="384048"/>
          </a:xfrm>
          <a:prstGeom prst="rect">
            <a:avLst/>
          </a:prstGeom>
          <a:noFill/>
          <a:ln w="9525">
            <a:solidFill>
              <a:srgbClr val="F58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307592" y="9144000"/>
            <a:ext cx="5980176" cy="237744"/>
          </a:xfrm>
          <a:prstGeom prst="rect">
            <a:avLst/>
          </a:prstGeom>
          <a:noFill/>
        </p:spPr>
        <p:txBody>
          <a:bodyPr wrap="square" lIns="0" tIns="0" rIns="0" bIns="0" anchor="t">
            <a:spAutoFit/>
          </a:bodyPr>
          <a:lstStyle/>
          <a:p>
            <a:pPr algn="l"/>
            <a:r>
              <a:rPr sz="1000" b="1">
                <a:solidFill>
                  <a:srgbClr val="F58220"/>
                </a:solidFill>
                <a:latin typeface="Arial"/>
              </a:rPr>
              <a:t>WRITE ONCE · REUSE FOREVER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 y="475488"/>
            <a:ext cx="7315200" cy="237744"/>
          </a:xfrm>
          <a:prstGeom prst="rect">
            <a:avLst/>
          </a:prstGeom>
          <a:noFill/>
        </p:spPr>
        <p:txBody>
          <a:bodyPr wrap="square" lIns="0" tIns="0" rIns="0" bIns="0" anchor="t">
            <a:spAutoFit/>
          </a:bodyPr>
          <a:lstStyle/>
          <a:p>
            <a:pPr algn="l"/>
            <a:r>
              <a:rPr sz="1000" b="1">
                <a:solidFill>
                  <a:srgbClr val="6B6E78"/>
                </a:solidFill>
                <a:latin typeface="Arial"/>
              </a:rPr>
              <a:t>BUILDING CONTEXT · PART 1</a:t>
            </a:r>
          </a:p>
        </p:txBody>
      </p:sp>
      <p:sp>
        <p:nvSpPr>
          <p:cNvPr id="4" name="TextBox 3"/>
          <p:cNvSpPr txBox="1"/>
          <p:nvPr/>
        </p:nvSpPr>
        <p:spPr>
          <a:xfrm>
            <a:off x="15544800" y="475488"/>
            <a:ext cx="1691640" cy="237744"/>
          </a:xfrm>
          <a:prstGeom prst="rect">
            <a:avLst/>
          </a:prstGeom>
          <a:noFill/>
        </p:spPr>
        <p:txBody>
          <a:bodyPr wrap="square" lIns="0" tIns="0" rIns="0" bIns="0" anchor="t">
            <a:spAutoFit/>
          </a:bodyPr>
          <a:lstStyle/>
          <a:p>
            <a:pPr algn="r"/>
            <a:r>
              <a:rPr sz="1000" b="1">
                <a:solidFill>
                  <a:srgbClr val="6B6E78"/>
                </a:solidFill>
                <a:latin typeface="Arial"/>
              </a:rPr>
              <a:t>06 / 22</a:t>
            </a:r>
          </a:p>
        </p:txBody>
      </p:sp>
      <p:sp>
        <p:nvSpPr>
          <p:cNvPr id="5" name="Rectangle 4"/>
          <p:cNvSpPr/>
          <p:nvPr/>
        </p:nvSpPr>
        <p:spPr>
          <a:xfrm>
            <a:off x="1143000" y="9646920"/>
            <a:ext cx="16002000" cy="8000"/>
          </a:xfrm>
          <a:prstGeom prst="rect">
            <a:avLst/>
          </a:prstGeom>
          <a:solidFill>
            <a:srgbClr val="DC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0" y="384048"/>
            <a:ext cx="6400800" cy="4297680"/>
          </a:xfrm>
          <a:prstGeom prst="rect">
            <a:avLst/>
          </a:prstGeom>
          <a:noFill/>
        </p:spPr>
        <p:txBody>
          <a:bodyPr wrap="square" lIns="0" tIns="0" rIns="0" bIns="0" anchor="t">
            <a:spAutoFit/>
          </a:bodyPr>
          <a:lstStyle/>
          <a:p>
            <a:pPr algn="l"/>
            <a:r>
              <a:rPr sz="39000" b="1">
                <a:solidFill>
                  <a:srgbClr val="E8E5DD"/>
                </a:solidFill>
                <a:latin typeface="Arial"/>
              </a:rPr>
              <a:t>06</a:t>
            </a:r>
          </a:p>
        </p:txBody>
      </p:sp>
      <p:sp>
        <p:nvSpPr>
          <p:cNvPr id="7" name="TextBox 6"/>
          <p:cNvSpPr txBox="1"/>
          <p:nvPr/>
        </p:nvSpPr>
        <p:spPr>
          <a:xfrm>
            <a:off x="1143000" y="2093976"/>
            <a:ext cx="16459200" cy="310896"/>
          </a:xfrm>
          <a:prstGeom prst="rect">
            <a:avLst/>
          </a:prstGeom>
          <a:noFill/>
        </p:spPr>
        <p:txBody>
          <a:bodyPr wrap="square" lIns="0" tIns="0" rIns="0" bIns="0" anchor="t">
            <a:spAutoFit/>
          </a:bodyPr>
          <a:lstStyle/>
          <a:p>
            <a:pPr algn="l"/>
            <a:r>
              <a:rPr sz="1100" b="1">
                <a:solidFill>
                  <a:srgbClr val="F58220"/>
                </a:solidFill>
                <a:latin typeface="Arial"/>
              </a:rPr>
              <a:t>ANATOMY  ·  14 MIN  ·  THE BIG ONE</a:t>
            </a:r>
          </a:p>
        </p:txBody>
      </p:sp>
      <p:sp>
        <p:nvSpPr>
          <p:cNvPr id="8" name="TextBox 7"/>
          <p:cNvSpPr txBox="1"/>
          <p:nvPr/>
        </p:nvSpPr>
        <p:spPr>
          <a:xfrm>
            <a:off x="1143000" y="2606040"/>
            <a:ext cx="16459200" cy="1371600"/>
          </a:xfrm>
          <a:prstGeom prst="rect">
            <a:avLst/>
          </a:prstGeom>
          <a:noFill/>
        </p:spPr>
        <p:txBody>
          <a:bodyPr wrap="square" lIns="0" tIns="0" rIns="0" bIns="0" anchor="t">
            <a:spAutoFit/>
          </a:bodyPr>
          <a:lstStyle/>
          <a:p>
            <a:pPr algn="l"/>
            <a:r>
              <a:rPr sz="5200" b="1">
                <a:solidFill>
                  <a:srgbClr val="F58220"/>
                </a:solidFill>
                <a:latin typeface="Arial"/>
              </a:rPr>
              <a:t>CLAUDE.md </a:t>
            </a:r>
            <a:r>
              <a:rPr sz="5200" b="1">
                <a:solidFill>
                  <a:srgbClr val="14161C"/>
                </a:solidFill>
                <a:latin typeface="Arial"/>
              </a:rPr>
              <a:t>— anatomy at a glance.</a:t>
            </a:r>
          </a:p>
        </p:txBody>
      </p:sp>
      <p:sp>
        <p:nvSpPr>
          <p:cNvPr id="9" name="Rectangle 8"/>
          <p:cNvSpPr/>
          <p:nvPr/>
        </p:nvSpPr>
        <p:spPr>
          <a:xfrm>
            <a:off x="1143000" y="4617720"/>
            <a:ext cx="5212080" cy="1828800"/>
          </a:xfrm>
          <a:prstGeom prst="rect">
            <a:avLst/>
          </a:prstGeom>
          <a:solidFill>
            <a:srgbClr val="FFFFFF"/>
          </a:solidFill>
          <a:ln w="9525">
            <a:solidFill>
              <a:srgbClr val="DCD8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17320" y="4782312"/>
            <a:ext cx="1371600" cy="365760"/>
          </a:xfrm>
          <a:prstGeom prst="rect">
            <a:avLst/>
          </a:prstGeom>
          <a:noFill/>
        </p:spPr>
        <p:txBody>
          <a:bodyPr wrap="square" lIns="0" tIns="0" rIns="0" bIns="0" anchor="t">
            <a:spAutoFit/>
          </a:bodyPr>
          <a:lstStyle/>
          <a:p>
            <a:pPr algn="l"/>
            <a:r>
              <a:rPr sz="1400" b="1">
                <a:solidFill>
                  <a:srgbClr val="F58220"/>
                </a:solidFill>
                <a:latin typeface="Arial"/>
              </a:rPr>
              <a:t>01</a:t>
            </a:r>
          </a:p>
        </p:txBody>
      </p:sp>
      <p:sp>
        <p:nvSpPr>
          <p:cNvPr id="11" name="TextBox 10"/>
          <p:cNvSpPr txBox="1"/>
          <p:nvPr/>
        </p:nvSpPr>
        <p:spPr>
          <a:xfrm>
            <a:off x="1417320" y="5212080"/>
            <a:ext cx="4663440" cy="548640"/>
          </a:xfrm>
          <a:prstGeom prst="rect">
            <a:avLst/>
          </a:prstGeom>
          <a:noFill/>
        </p:spPr>
        <p:txBody>
          <a:bodyPr wrap="square" lIns="0" tIns="0" rIns="0" bIns="0" anchor="t">
            <a:spAutoFit/>
          </a:bodyPr>
          <a:lstStyle/>
          <a:p>
            <a:pPr algn="l"/>
            <a:r>
              <a:rPr sz="2800" b="1">
                <a:solidFill>
                  <a:srgbClr val="14161C"/>
                </a:solidFill>
                <a:latin typeface="Arial"/>
              </a:rPr>
              <a:t>Overview</a:t>
            </a:r>
          </a:p>
        </p:txBody>
      </p:sp>
      <p:sp>
        <p:nvSpPr>
          <p:cNvPr id="12" name="TextBox 11"/>
          <p:cNvSpPr txBox="1"/>
          <p:nvPr/>
        </p:nvSpPr>
        <p:spPr>
          <a:xfrm>
            <a:off x="1417320" y="5824728"/>
            <a:ext cx="4663440" cy="457200"/>
          </a:xfrm>
          <a:prstGeom prst="rect">
            <a:avLst/>
          </a:prstGeom>
          <a:noFill/>
        </p:spPr>
        <p:txBody>
          <a:bodyPr wrap="square" lIns="0" tIns="0" rIns="0" bIns="0" anchor="t">
            <a:spAutoFit/>
          </a:bodyPr>
          <a:lstStyle/>
          <a:p>
            <a:pPr algn="l"/>
            <a:r>
              <a:rPr sz="1400" b="0">
                <a:solidFill>
                  <a:srgbClr val="6B6E78"/>
                </a:solidFill>
                <a:latin typeface="Arial"/>
              </a:rPr>
              <a:t>What this project is.</a:t>
            </a:r>
          </a:p>
        </p:txBody>
      </p:sp>
      <p:sp>
        <p:nvSpPr>
          <p:cNvPr id="13" name="Rectangle 12"/>
          <p:cNvSpPr/>
          <p:nvPr/>
        </p:nvSpPr>
        <p:spPr>
          <a:xfrm>
            <a:off x="6537960" y="4617720"/>
            <a:ext cx="5212080" cy="1828800"/>
          </a:xfrm>
          <a:prstGeom prst="rect">
            <a:avLst/>
          </a:prstGeom>
          <a:solidFill>
            <a:srgbClr val="FFFFFF"/>
          </a:solidFill>
          <a:ln w="9525">
            <a:solidFill>
              <a:srgbClr val="DCD8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12280" y="4782312"/>
            <a:ext cx="1371600" cy="365760"/>
          </a:xfrm>
          <a:prstGeom prst="rect">
            <a:avLst/>
          </a:prstGeom>
          <a:noFill/>
        </p:spPr>
        <p:txBody>
          <a:bodyPr wrap="square" lIns="0" tIns="0" rIns="0" bIns="0" anchor="t">
            <a:spAutoFit/>
          </a:bodyPr>
          <a:lstStyle/>
          <a:p>
            <a:pPr algn="l"/>
            <a:r>
              <a:rPr sz="1400" b="1">
                <a:solidFill>
                  <a:srgbClr val="F58220"/>
                </a:solidFill>
                <a:latin typeface="Arial"/>
              </a:rPr>
              <a:t>02</a:t>
            </a:r>
          </a:p>
        </p:txBody>
      </p:sp>
      <p:sp>
        <p:nvSpPr>
          <p:cNvPr id="15" name="TextBox 14"/>
          <p:cNvSpPr txBox="1"/>
          <p:nvPr/>
        </p:nvSpPr>
        <p:spPr>
          <a:xfrm>
            <a:off x="6812280" y="5212080"/>
            <a:ext cx="4663440" cy="548640"/>
          </a:xfrm>
          <a:prstGeom prst="rect">
            <a:avLst/>
          </a:prstGeom>
          <a:noFill/>
        </p:spPr>
        <p:txBody>
          <a:bodyPr wrap="square" lIns="0" tIns="0" rIns="0" bIns="0" anchor="t">
            <a:spAutoFit/>
          </a:bodyPr>
          <a:lstStyle/>
          <a:p>
            <a:pPr algn="l"/>
            <a:r>
              <a:rPr sz="2800" b="1">
                <a:solidFill>
                  <a:srgbClr val="14161C"/>
                </a:solidFill>
                <a:latin typeface="Arial"/>
              </a:rPr>
              <a:t>Tech stack</a:t>
            </a:r>
          </a:p>
        </p:txBody>
      </p:sp>
      <p:sp>
        <p:nvSpPr>
          <p:cNvPr id="16" name="TextBox 15"/>
          <p:cNvSpPr txBox="1"/>
          <p:nvPr/>
        </p:nvSpPr>
        <p:spPr>
          <a:xfrm>
            <a:off x="6812280" y="5824728"/>
            <a:ext cx="4663440" cy="457200"/>
          </a:xfrm>
          <a:prstGeom prst="rect">
            <a:avLst/>
          </a:prstGeom>
          <a:noFill/>
        </p:spPr>
        <p:txBody>
          <a:bodyPr wrap="square" lIns="0" tIns="0" rIns="0" bIns="0" anchor="t">
            <a:spAutoFit/>
          </a:bodyPr>
          <a:lstStyle/>
          <a:p>
            <a:pPr algn="l"/>
            <a:r>
              <a:rPr sz="1400" b="0">
                <a:solidFill>
                  <a:srgbClr val="6B6E78"/>
                </a:solidFill>
                <a:latin typeface="Arial"/>
              </a:rPr>
              <a:t>What it's built with.</a:t>
            </a:r>
          </a:p>
        </p:txBody>
      </p:sp>
      <p:sp>
        <p:nvSpPr>
          <p:cNvPr id="17" name="Rectangle 16"/>
          <p:cNvSpPr/>
          <p:nvPr/>
        </p:nvSpPr>
        <p:spPr>
          <a:xfrm>
            <a:off x="11932920" y="4617720"/>
            <a:ext cx="5212080" cy="1828800"/>
          </a:xfrm>
          <a:prstGeom prst="rect">
            <a:avLst/>
          </a:prstGeom>
          <a:solidFill>
            <a:srgbClr val="FFFFFF"/>
          </a:solidFill>
          <a:ln w="9525">
            <a:solidFill>
              <a:srgbClr val="DCD8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2207240" y="4782312"/>
            <a:ext cx="1371600" cy="365760"/>
          </a:xfrm>
          <a:prstGeom prst="rect">
            <a:avLst/>
          </a:prstGeom>
          <a:noFill/>
        </p:spPr>
        <p:txBody>
          <a:bodyPr wrap="square" lIns="0" tIns="0" rIns="0" bIns="0" anchor="t">
            <a:spAutoFit/>
          </a:bodyPr>
          <a:lstStyle/>
          <a:p>
            <a:pPr algn="l"/>
            <a:r>
              <a:rPr sz="1400" b="1">
                <a:solidFill>
                  <a:srgbClr val="F58220"/>
                </a:solidFill>
                <a:latin typeface="Arial"/>
              </a:rPr>
              <a:t>03</a:t>
            </a:r>
          </a:p>
        </p:txBody>
      </p:sp>
      <p:sp>
        <p:nvSpPr>
          <p:cNvPr id="19" name="TextBox 18"/>
          <p:cNvSpPr txBox="1"/>
          <p:nvPr/>
        </p:nvSpPr>
        <p:spPr>
          <a:xfrm>
            <a:off x="12207240" y="5212080"/>
            <a:ext cx="4663440" cy="548640"/>
          </a:xfrm>
          <a:prstGeom prst="rect">
            <a:avLst/>
          </a:prstGeom>
          <a:noFill/>
        </p:spPr>
        <p:txBody>
          <a:bodyPr wrap="square" lIns="0" tIns="0" rIns="0" bIns="0" anchor="t">
            <a:spAutoFit/>
          </a:bodyPr>
          <a:lstStyle/>
          <a:p>
            <a:pPr algn="l"/>
            <a:r>
              <a:rPr sz="2800" b="1">
                <a:solidFill>
                  <a:srgbClr val="14161C"/>
                </a:solidFill>
                <a:latin typeface="Arial"/>
              </a:rPr>
              <a:t>Structure</a:t>
            </a:r>
          </a:p>
        </p:txBody>
      </p:sp>
      <p:sp>
        <p:nvSpPr>
          <p:cNvPr id="20" name="TextBox 19"/>
          <p:cNvSpPr txBox="1"/>
          <p:nvPr/>
        </p:nvSpPr>
        <p:spPr>
          <a:xfrm>
            <a:off x="12207240" y="5824728"/>
            <a:ext cx="4663440" cy="457200"/>
          </a:xfrm>
          <a:prstGeom prst="rect">
            <a:avLst/>
          </a:prstGeom>
          <a:noFill/>
        </p:spPr>
        <p:txBody>
          <a:bodyPr wrap="square" lIns="0" tIns="0" rIns="0" bIns="0" anchor="t">
            <a:spAutoFit/>
          </a:bodyPr>
          <a:lstStyle/>
          <a:p>
            <a:pPr algn="l"/>
            <a:r>
              <a:rPr sz="1400" b="0">
                <a:solidFill>
                  <a:srgbClr val="6B6E78"/>
                </a:solidFill>
                <a:latin typeface="Arial"/>
              </a:rPr>
              <a:t>Where things live.</a:t>
            </a:r>
          </a:p>
        </p:txBody>
      </p:sp>
      <p:sp>
        <p:nvSpPr>
          <p:cNvPr id="21" name="Rectangle 20"/>
          <p:cNvSpPr/>
          <p:nvPr/>
        </p:nvSpPr>
        <p:spPr>
          <a:xfrm>
            <a:off x="1143000" y="6675120"/>
            <a:ext cx="5212080" cy="1828800"/>
          </a:xfrm>
          <a:prstGeom prst="rect">
            <a:avLst/>
          </a:prstGeom>
          <a:solidFill>
            <a:srgbClr val="FFFFFF"/>
          </a:solidFill>
          <a:ln w="9525">
            <a:solidFill>
              <a:srgbClr val="DCD8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417320" y="6839712"/>
            <a:ext cx="1371600" cy="365760"/>
          </a:xfrm>
          <a:prstGeom prst="rect">
            <a:avLst/>
          </a:prstGeom>
          <a:noFill/>
        </p:spPr>
        <p:txBody>
          <a:bodyPr wrap="square" lIns="0" tIns="0" rIns="0" bIns="0" anchor="t">
            <a:spAutoFit/>
          </a:bodyPr>
          <a:lstStyle/>
          <a:p>
            <a:pPr algn="l"/>
            <a:r>
              <a:rPr sz="1400" b="1">
                <a:solidFill>
                  <a:srgbClr val="F58220"/>
                </a:solidFill>
                <a:latin typeface="Arial"/>
              </a:rPr>
              <a:t>04</a:t>
            </a:r>
          </a:p>
        </p:txBody>
      </p:sp>
      <p:sp>
        <p:nvSpPr>
          <p:cNvPr id="23" name="TextBox 22"/>
          <p:cNvSpPr txBox="1"/>
          <p:nvPr/>
        </p:nvSpPr>
        <p:spPr>
          <a:xfrm>
            <a:off x="1417320" y="7269480"/>
            <a:ext cx="4663440" cy="548640"/>
          </a:xfrm>
          <a:prstGeom prst="rect">
            <a:avLst/>
          </a:prstGeom>
          <a:noFill/>
        </p:spPr>
        <p:txBody>
          <a:bodyPr wrap="square" lIns="0" tIns="0" rIns="0" bIns="0" anchor="t">
            <a:spAutoFit/>
          </a:bodyPr>
          <a:lstStyle/>
          <a:p>
            <a:pPr algn="l"/>
            <a:r>
              <a:rPr sz="2800" b="1">
                <a:solidFill>
                  <a:srgbClr val="14161C"/>
                </a:solidFill>
                <a:latin typeface="Arial"/>
              </a:rPr>
              <a:t>Conventions</a:t>
            </a:r>
          </a:p>
        </p:txBody>
      </p:sp>
      <p:sp>
        <p:nvSpPr>
          <p:cNvPr id="24" name="TextBox 23"/>
          <p:cNvSpPr txBox="1"/>
          <p:nvPr/>
        </p:nvSpPr>
        <p:spPr>
          <a:xfrm>
            <a:off x="1417320" y="7882128"/>
            <a:ext cx="4663440" cy="457200"/>
          </a:xfrm>
          <a:prstGeom prst="rect">
            <a:avLst/>
          </a:prstGeom>
          <a:noFill/>
        </p:spPr>
        <p:txBody>
          <a:bodyPr wrap="square" lIns="0" tIns="0" rIns="0" bIns="0" anchor="t">
            <a:spAutoFit/>
          </a:bodyPr>
          <a:lstStyle/>
          <a:p>
            <a:pPr algn="l"/>
            <a:r>
              <a:rPr sz="1400" b="0">
                <a:solidFill>
                  <a:srgbClr val="6B6E78"/>
                </a:solidFill>
                <a:latin typeface="Arial"/>
              </a:rPr>
              <a:t>How we write code here.</a:t>
            </a:r>
          </a:p>
        </p:txBody>
      </p:sp>
      <p:sp>
        <p:nvSpPr>
          <p:cNvPr id="25" name="Rectangle 24"/>
          <p:cNvSpPr/>
          <p:nvPr/>
        </p:nvSpPr>
        <p:spPr>
          <a:xfrm>
            <a:off x="6537960" y="6675120"/>
            <a:ext cx="5212080" cy="1828800"/>
          </a:xfrm>
          <a:prstGeom prst="rect">
            <a:avLst/>
          </a:prstGeom>
          <a:solidFill>
            <a:srgbClr val="FFFFFF"/>
          </a:solidFill>
          <a:ln w="9525">
            <a:solidFill>
              <a:srgbClr val="DCD8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812280" y="6839712"/>
            <a:ext cx="1371600" cy="365760"/>
          </a:xfrm>
          <a:prstGeom prst="rect">
            <a:avLst/>
          </a:prstGeom>
          <a:noFill/>
        </p:spPr>
        <p:txBody>
          <a:bodyPr wrap="square" lIns="0" tIns="0" rIns="0" bIns="0" anchor="t">
            <a:spAutoFit/>
          </a:bodyPr>
          <a:lstStyle/>
          <a:p>
            <a:pPr algn="l"/>
            <a:r>
              <a:rPr sz="1400" b="1">
                <a:solidFill>
                  <a:srgbClr val="F58220"/>
                </a:solidFill>
                <a:latin typeface="Arial"/>
              </a:rPr>
              <a:t>05</a:t>
            </a:r>
          </a:p>
        </p:txBody>
      </p:sp>
      <p:sp>
        <p:nvSpPr>
          <p:cNvPr id="27" name="TextBox 26"/>
          <p:cNvSpPr txBox="1"/>
          <p:nvPr/>
        </p:nvSpPr>
        <p:spPr>
          <a:xfrm>
            <a:off x="6812280" y="7269480"/>
            <a:ext cx="4663440" cy="548640"/>
          </a:xfrm>
          <a:prstGeom prst="rect">
            <a:avLst/>
          </a:prstGeom>
          <a:noFill/>
        </p:spPr>
        <p:txBody>
          <a:bodyPr wrap="square" lIns="0" tIns="0" rIns="0" bIns="0" anchor="t">
            <a:spAutoFit/>
          </a:bodyPr>
          <a:lstStyle/>
          <a:p>
            <a:pPr algn="l"/>
            <a:r>
              <a:rPr sz="2800" b="1">
                <a:solidFill>
                  <a:srgbClr val="14161C"/>
                </a:solidFill>
                <a:latin typeface="Arial"/>
              </a:rPr>
              <a:t>Build / test</a:t>
            </a:r>
          </a:p>
        </p:txBody>
      </p:sp>
      <p:sp>
        <p:nvSpPr>
          <p:cNvPr id="28" name="TextBox 27"/>
          <p:cNvSpPr txBox="1"/>
          <p:nvPr/>
        </p:nvSpPr>
        <p:spPr>
          <a:xfrm>
            <a:off x="6812280" y="7882128"/>
            <a:ext cx="4663440" cy="457200"/>
          </a:xfrm>
          <a:prstGeom prst="rect">
            <a:avLst/>
          </a:prstGeom>
          <a:noFill/>
        </p:spPr>
        <p:txBody>
          <a:bodyPr wrap="square" lIns="0" tIns="0" rIns="0" bIns="0" anchor="t">
            <a:spAutoFit/>
          </a:bodyPr>
          <a:lstStyle/>
          <a:p>
            <a:pPr algn="l"/>
            <a:r>
              <a:rPr sz="1400" b="0">
                <a:solidFill>
                  <a:srgbClr val="6B6E78"/>
                </a:solidFill>
                <a:latin typeface="Arial"/>
              </a:rPr>
              <a:t>Commands the model can run.</a:t>
            </a:r>
          </a:p>
        </p:txBody>
      </p:sp>
      <p:sp>
        <p:nvSpPr>
          <p:cNvPr id="29" name="Rectangle 28"/>
          <p:cNvSpPr/>
          <p:nvPr/>
        </p:nvSpPr>
        <p:spPr>
          <a:xfrm>
            <a:off x="11932920" y="6675120"/>
            <a:ext cx="5212080" cy="1828800"/>
          </a:xfrm>
          <a:prstGeom prst="rect">
            <a:avLst/>
          </a:prstGeom>
          <a:solidFill>
            <a:srgbClr val="FFFFFF"/>
          </a:solidFill>
          <a:ln w="9525">
            <a:solidFill>
              <a:srgbClr val="DCD8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2207240" y="6839712"/>
            <a:ext cx="1371600" cy="365760"/>
          </a:xfrm>
          <a:prstGeom prst="rect">
            <a:avLst/>
          </a:prstGeom>
          <a:noFill/>
        </p:spPr>
        <p:txBody>
          <a:bodyPr wrap="square" lIns="0" tIns="0" rIns="0" bIns="0" anchor="t">
            <a:spAutoFit/>
          </a:bodyPr>
          <a:lstStyle/>
          <a:p>
            <a:pPr algn="l"/>
            <a:r>
              <a:rPr sz="1400" b="1">
                <a:solidFill>
                  <a:srgbClr val="F58220"/>
                </a:solidFill>
                <a:latin typeface="Arial"/>
              </a:rPr>
              <a:t>06</a:t>
            </a:r>
          </a:p>
        </p:txBody>
      </p:sp>
      <p:sp>
        <p:nvSpPr>
          <p:cNvPr id="31" name="TextBox 30"/>
          <p:cNvSpPr txBox="1"/>
          <p:nvPr/>
        </p:nvSpPr>
        <p:spPr>
          <a:xfrm>
            <a:off x="12207240" y="7269480"/>
            <a:ext cx="4663440" cy="548640"/>
          </a:xfrm>
          <a:prstGeom prst="rect">
            <a:avLst/>
          </a:prstGeom>
          <a:noFill/>
        </p:spPr>
        <p:txBody>
          <a:bodyPr wrap="square" lIns="0" tIns="0" rIns="0" bIns="0" anchor="t">
            <a:spAutoFit/>
          </a:bodyPr>
          <a:lstStyle/>
          <a:p>
            <a:pPr algn="l"/>
            <a:r>
              <a:rPr sz="2800" b="1">
                <a:solidFill>
                  <a:srgbClr val="14161C"/>
                </a:solidFill>
                <a:latin typeface="Arial"/>
              </a:rPr>
              <a:t>Important notes</a:t>
            </a:r>
          </a:p>
        </p:txBody>
      </p:sp>
      <p:sp>
        <p:nvSpPr>
          <p:cNvPr id="32" name="TextBox 31"/>
          <p:cNvSpPr txBox="1"/>
          <p:nvPr/>
        </p:nvSpPr>
        <p:spPr>
          <a:xfrm>
            <a:off x="12207240" y="7882128"/>
            <a:ext cx="4663440" cy="457200"/>
          </a:xfrm>
          <a:prstGeom prst="rect">
            <a:avLst/>
          </a:prstGeom>
          <a:noFill/>
        </p:spPr>
        <p:txBody>
          <a:bodyPr wrap="square" lIns="0" tIns="0" rIns="0" bIns="0" anchor="t">
            <a:spAutoFit/>
          </a:bodyPr>
          <a:lstStyle/>
          <a:p>
            <a:pPr algn="l"/>
            <a:r>
              <a:rPr sz="1400" b="0">
                <a:solidFill>
                  <a:srgbClr val="6B6E78"/>
                </a:solidFill>
                <a:latin typeface="Arial"/>
              </a:rPr>
              <a:t>Things only humans know.</a:t>
            </a:r>
          </a:p>
        </p:txBody>
      </p:sp>
      <p:sp>
        <p:nvSpPr>
          <p:cNvPr id="33" name="Rectangle 32"/>
          <p:cNvSpPr/>
          <p:nvPr/>
        </p:nvSpPr>
        <p:spPr>
          <a:xfrm>
            <a:off x="1143000" y="9052560"/>
            <a:ext cx="4480560" cy="384048"/>
          </a:xfrm>
          <a:prstGeom prst="rect">
            <a:avLst/>
          </a:prstGeom>
          <a:noFill/>
          <a:ln w="9525">
            <a:solidFill>
              <a:srgbClr val="F58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307592" y="9144000"/>
            <a:ext cx="4151376" cy="237744"/>
          </a:xfrm>
          <a:prstGeom prst="rect">
            <a:avLst/>
          </a:prstGeom>
          <a:noFill/>
        </p:spPr>
        <p:txBody>
          <a:bodyPr wrap="square" lIns="0" tIns="0" rIns="0" bIns="0" anchor="t">
            <a:spAutoFit/>
          </a:bodyPr>
          <a:lstStyle/>
          <a:p>
            <a:pPr algn="l"/>
            <a:r>
              <a:rPr sz="1000" b="1">
                <a:solidFill>
                  <a:srgbClr val="F58220"/>
                </a:solidFill>
                <a:latin typeface="Arial"/>
              </a:rPr>
              <a:t>ONE PAGE · NO MORE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 y="475488"/>
            <a:ext cx="7315200" cy="237744"/>
          </a:xfrm>
          <a:prstGeom prst="rect">
            <a:avLst/>
          </a:prstGeom>
          <a:noFill/>
        </p:spPr>
        <p:txBody>
          <a:bodyPr wrap="square" lIns="0" tIns="0" rIns="0" bIns="0" anchor="t">
            <a:spAutoFit/>
          </a:bodyPr>
          <a:lstStyle/>
          <a:p>
            <a:pPr algn="l"/>
            <a:r>
              <a:rPr sz="1000" b="1">
                <a:solidFill>
                  <a:srgbClr val="6B6E78"/>
                </a:solidFill>
                <a:latin typeface="Arial"/>
              </a:rPr>
              <a:t>BUILDING CONTEXT · PART 1</a:t>
            </a:r>
          </a:p>
        </p:txBody>
      </p:sp>
      <p:sp>
        <p:nvSpPr>
          <p:cNvPr id="4" name="TextBox 3"/>
          <p:cNvSpPr txBox="1"/>
          <p:nvPr/>
        </p:nvSpPr>
        <p:spPr>
          <a:xfrm>
            <a:off x="15544800" y="475488"/>
            <a:ext cx="1691640" cy="237744"/>
          </a:xfrm>
          <a:prstGeom prst="rect">
            <a:avLst/>
          </a:prstGeom>
          <a:noFill/>
        </p:spPr>
        <p:txBody>
          <a:bodyPr wrap="square" lIns="0" tIns="0" rIns="0" bIns="0" anchor="t">
            <a:spAutoFit/>
          </a:bodyPr>
          <a:lstStyle/>
          <a:p>
            <a:pPr algn="r"/>
            <a:r>
              <a:rPr sz="1000" b="1">
                <a:solidFill>
                  <a:srgbClr val="6B6E78"/>
                </a:solidFill>
                <a:latin typeface="Arial"/>
              </a:rPr>
              <a:t>07 / 22</a:t>
            </a:r>
          </a:p>
        </p:txBody>
      </p:sp>
      <p:sp>
        <p:nvSpPr>
          <p:cNvPr id="5" name="Rectangle 4"/>
          <p:cNvSpPr/>
          <p:nvPr/>
        </p:nvSpPr>
        <p:spPr>
          <a:xfrm>
            <a:off x="1143000" y="9646920"/>
            <a:ext cx="16002000" cy="8000"/>
          </a:xfrm>
          <a:prstGeom prst="rect">
            <a:avLst/>
          </a:prstGeom>
          <a:solidFill>
            <a:srgbClr val="DC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0" y="384048"/>
            <a:ext cx="6400800" cy="4297680"/>
          </a:xfrm>
          <a:prstGeom prst="rect">
            <a:avLst/>
          </a:prstGeom>
          <a:noFill/>
        </p:spPr>
        <p:txBody>
          <a:bodyPr wrap="square" lIns="0" tIns="0" rIns="0" bIns="0" anchor="t">
            <a:spAutoFit/>
          </a:bodyPr>
          <a:lstStyle/>
          <a:p>
            <a:pPr algn="l"/>
            <a:r>
              <a:rPr sz="39000" b="1">
                <a:solidFill>
                  <a:srgbClr val="E8E5DD"/>
                </a:solidFill>
                <a:latin typeface="Arial"/>
              </a:rPr>
              <a:t>07</a:t>
            </a:r>
          </a:p>
        </p:txBody>
      </p:sp>
      <p:sp>
        <p:nvSpPr>
          <p:cNvPr id="7" name="TextBox 6"/>
          <p:cNvSpPr txBox="1"/>
          <p:nvPr/>
        </p:nvSpPr>
        <p:spPr>
          <a:xfrm>
            <a:off x="1143000" y="2093976"/>
            <a:ext cx="16459200" cy="310896"/>
          </a:xfrm>
          <a:prstGeom prst="rect">
            <a:avLst/>
          </a:prstGeom>
          <a:noFill/>
        </p:spPr>
        <p:txBody>
          <a:bodyPr wrap="square" lIns="0" tIns="0" rIns="0" bIns="0" anchor="t">
            <a:spAutoFit/>
          </a:bodyPr>
          <a:lstStyle/>
          <a:p>
            <a:pPr algn="l"/>
            <a:r>
              <a:rPr sz="1100" b="1">
                <a:solidFill>
                  <a:srgbClr val="F58220"/>
                </a:solidFill>
                <a:latin typeface="Arial"/>
              </a:rPr>
              <a:t>CLAUDE.MD  ·  SECTION 01</a:t>
            </a:r>
          </a:p>
        </p:txBody>
      </p:sp>
      <p:sp>
        <p:nvSpPr>
          <p:cNvPr id="8" name="TextBox 7"/>
          <p:cNvSpPr txBox="1"/>
          <p:nvPr/>
        </p:nvSpPr>
        <p:spPr>
          <a:xfrm>
            <a:off x="1143000" y="2606040"/>
            <a:ext cx="16459200" cy="1371600"/>
          </a:xfrm>
          <a:prstGeom prst="rect">
            <a:avLst/>
          </a:prstGeom>
          <a:noFill/>
        </p:spPr>
        <p:txBody>
          <a:bodyPr wrap="square" lIns="0" tIns="0" rIns="0" bIns="0" anchor="t">
            <a:spAutoFit/>
          </a:bodyPr>
          <a:lstStyle/>
          <a:p>
            <a:pPr algn="l"/>
            <a:r>
              <a:rPr sz="5400" b="1">
                <a:solidFill>
                  <a:srgbClr val="14161C"/>
                </a:solidFill>
                <a:latin typeface="Arial"/>
              </a:rPr>
              <a:t>Section 01 · </a:t>
            </a:r>
            <a:r>
              <a:rPr sz="5400" b="1">
                <a:solidFill>
                  <a:srgbClr val="F58220"/>
                </a:solidFill>
                <a:latin typeface="Arial"/>
              </a:rPr>
              <a:t>Overview</a:t>
            </a:r>
          </a:p>
        </p:txBody>
      </p:sp>
      <p:sp>
        <p:nvSpPr>
          <p:cNvPr id="9" name="TextBox 8"/>
          <p:cNvSpPr txBox="1"/>
          <p:nvPr/>
        </p:nvSpPr>
        <p:spPr>
          <a:xfrm>
            <a:off x="1143000" y="4297680"/>
            <a:ext cx="15544800" cy="457200"/>
          </a:xfrm>
          <a:prstGeom prst="rect">
            <a:avLst/>
          </a:prstGeom>
          <a:noFill/>
        </p:spPr>
        <p:txBody>
          <a:bodyPr wrap="square" lIns="0" tIns="0" rIns="0" bIns="0" anchor="t">
            <a:spAutoFit/>
          </a:bodyPr>
          <a:lstStyle/>
          <a:p>
            <a:pPr algn="l"/>
            <a:r>
              <a:rPr sz="2000" b="0">
                <a:solidFill>
                  <a:srgbClr val="6B6E78"/>
                </a:solidFill>
                <a:latin typeface="Arial"/>
              </a:rPr>
              <a:t>What this project is — in one paragraph the model can quote.</a:t>
            </a:r>
          </a:p>
        </p:txBody>
      </p:sp>
      <p:sp>
        <p:nvSpPr>
          <p:cNvPr id="10" name="TextBox 9"/>
          <p:cNvSpPr txBox="1"/>
          <p:nvPr/>
        </p:nvSpPr>
        <p:spPr>
          <a:xfrm>
            <a:off x="1143000" y="5120640"/>
            <a:ext cx="7772400" cy="4114800"/>
          </a:xfrm>
          <a:prstGeom prst="rect">
            <a:avLst/>
          </a:prstGeom>
          <a:noFill/>
        </p:spPr>
        <p:txBody>
          <a:bodyPr wrap="square" lIns="0" tIns="0" rIns="0" bIns="0">
            <a:spAutoFit/>
          </a:bodyPr>
          <a:lstStyle/>
          <a:p>
            <a:pPr algn="l">
              <a:lnSpc>
                <a:spcPct val="140000"/>
              </a:lnSpc>
              <a:spcAft>
                <a:spcPts val="600"/>
              </a:spcAft>
            </a:pPr>
            <a:r>
              <a:rPr sz="1800" b="0">
                <a:solidFill>
                  <a:srgbClr val="14161C"/>
                </a:solidFill>
                <a:latin typeface="Arial"/>
              </a:rPr>
              <a:t>•  Lead with the product, not the architecture.</a:t>
            </a:r>
          </a:p>
          <a:p>
            <a:pPr algn="l">
              <a:lnSpc>
                <a:spcPct val="140000"/>
              </a:lnSpc>
              <a:spcAft>
                <a:spcPts val="600"/>
              </a:spcAft>
            </a:pPr>
            <a:r>
              <a:rPr sz="1800" b="0">
                <a:solidFill>
                  <a:srgbClr val="14161C"/>
                </a:solidFill>
                <a:latin typeface="Arial"/>
              </a:rPr>
              <a:t>•  Name the audience — who uses this, what they accomplish.</a:t>
            </a:r>
          </a:p>
          <a:p>
            <a:pPr algn="l">
              <a:lnSpc>
                <a:spcPct val="140000"/>
              </a:lnSpc>
              <a:spcAft>
                <a:spcPts val="600"/>
              </a:spcAft>
            </a:pPr>
            <a:r>
              <a:rPr sz="1800" b="0">
                <a:solidFill>
                  <a:srgbClr val="14161C"/>
                </a:solidFill>
                <a:latin typeface="Arial"/>
              </a:rPr>
              <a:t>•  Two to four sentences. No marketing copy.</a:t>
            </a:r>
          </a:p>
          <a:p>
            <a:pPr algn="l">
              <a:lnSpc>
                <a:spcPct val="140000"/>
              </a:lnSpc>
              <a:spcAft>
                <a:spcPts val="600"/>
              </a:spcAft>
            </a:pPr>
            <a:r>
              <a:rPr sz="1800" b="0">
                <a:solidFill>
                  <a:srgbClr val="14161C"/>
                </a:solidFill>
                <a:latin typeface="Arial"/>
              </a:rPr>
              <a:t>•  If a new hire needs ten paragraphs to start, they'll never start.</a:t>
            </a:r>
          </a:p>
        </p:txBody>
      </p:sp>
      <p:sp>
        <p:nvSpPr>
          <p:cNvPr id="11" name="Rectangle 10"/>
          <p:cNvSpPr/>
          <p:nvPr/>
        </p:nvSpPr>
        <p:spPr>
          <a:xfrm>
            <a:off x="9601200" y="4983480"/>
            <a:ext cx="7543800" cy="4114800"/>
          </a:xfrm>
          <a:prstGeom prst="rect">
            <a:avLst/>
          </a:prstGeom>
          <a:solidFill>
            <a:srgbClr val="1E2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921240" y="5120640"/>
            <a:ext cx="6400800" cy="274320"/>
          </a:xfrm>
          <a:prstGeom prst="rect">
            <a:avLst/>
          </a:prstGeom>
          <a:noFill/>
        </p:spPr>
        <p:txBody>
          <a:bodyPr wrap="square" lIns="0" tIns="0" rIns="0" bIns="0" anchor="t">
            <a:spAutoFit/>
          </a:bodyPr>
          <a:lstStyle/>
          <a:p>
            <a:pPr algn="l"/>
            <a:r>
              <a:rPr sz="1100" b="1">
                <a:solidFill>
                  <a:srgbClr val="3FE0D0"/>
                </a:solidFill>
                <a:latin typeface="Consolas"/>
              </a:rPr>
              <a:t>// EXAMPLE</a:t>
            </a:r>
          </a:p>
        </p:txBody>
      </p:sp>
      <p:sp>
        <p:nvSpPr>
          <p:cNvPr id="13" name="TextBox 12"/>
          <p:cNvSpPr txBox="1"/>
          <p:nvPr/>
        </p:nvSpPr>
        <p:spPr>
          <a:xfrm>
            <a:off x="9921240" y="5440680"/>
            <a:ext cx="6949440" cy="3657600"/>
          </a:xfrm>
          <a:prstGeom prst="rect">
            <a:avLst/>
          </a:prstGeom>
          <a:noFill/>
        </p:spPr>
        <p:txBody>
          <a:bodyPr wrap="square" lIns="0" tIns="0" rIns="0" bIns="0">
            <a:spAutoFit/>
          </a:bodyPr>
          <a:lstStyle/>
          <a:p>
            <a:pPr algn="l">
              <a:lnSpc>
                <a:spcPct val="130000"/>
              </a:lnSpc>
              <a:spcAft>
                <a:spcPts val="600"/>
              </a:spcAft>
            </a:pPr>
            <a:r>
              <a:rPr sz="1500" b="0">
                <a:solidFill>
                  <a:srgbClr val="E8E5DD"/>
                </a:solidFill>
                <a:latin typeface="Consolas"/>
              </a:rPr>
              <a:t># Overview</a:t>
            </a:r>
          </a:p>
          <a:p>
            <a:pPr algn="l">
              <a:lnSpc>
                <a:spcPct val="130000"/>
              </a:lnSpc>
              <a:spcAft>
                <a:spcPts val="600"/>
              </a:spcAft>
            </a:pPr>
            <a:endParaRPr sz="1500" b="0">
              <a:solidFill>
                <a:srgbClr val="E8E5DD"/>
              </a:solidFill>
              <a:latin typeface="Consolas"/>
            </a:endParaRPr>
          </a:p>
          <a:p>
            <a:pPr algn="l">
              <a:lnSpc>
                <a:spcPct val="130000"/>
              </a:lnSpc>
              <a:spcAft>
                <a:spcPts val="600"/>
              </a:spcAft>
            </a:pPr>
            <a:r>
              <a:rPr sz="1500" b="0">
                <a:solidFill>
                  <a:srgbClr val="E8E5DD"/>
                </a:solidFill>
                <a:latin typeface="Consolas"/>
              </a:rPr>
              <a:t>Volunteer signup app for a mid-size</a:t>
            </a:r>
          </a:p>
          <a:p>
            <a:pPr algn="l">
              <a:lnSpc>
                <a:spcPct val="130000"/>
              </a:lnSpc>
              <a:spcAft>
                <a:spcPts val="600"/>
              </a:spcAft>
            </a:pPr>
            <a:r>
              <a:rPr sz="1500" b="0">
                <a:solidFill>
                  <a:srgbClr val="E8E5DD"/>
                </a:solidFill>
                <a:latin typeface="Consolas"/>
              </a:rPr>
              <a:t>church (Northwoods, ~1,200 attendees).</a:t>
            </a:r>
          </a:p>
          <a:p>
            <a:pPr algn="l">
              <a:lnSpc>
                <a:spcPct val="130000"/>
              </a:lnSpc>
              <a:spcAft>
                <a:spcPts val="600"/>
              </a:spcAft>
            </a:pPr>
            <a:r>
              <a:rPr sz="1500" b="0">
                <a:solidFill>
                  <a:srgbClr val="E8E5DD"/>
                </a:solidFill>
                <a:latin typeface="Consolas"/>
              </a:rPr>
              <a:t>Members browse open serving slots,</a:t>
            </a:r>
          </a:p>
          <a:p>
            <a:pPr algn="l">
              <a:lnSpc>
                <a:spcPct val="130000"/>
              </a:lnSpc>
              <a:spcAft>
                <a:spcPts val="600"/>
              </a:spcAft>
            </a:pPr>
            <a:r>
              <a:rPr sz="1500" b="0">
                <a:solidFill>
                  <a:srgbClr val="E8E5DD"/>
                </a:solidFill>
                <a:latin typeface="Consolas"/>
              </a:rPr>
              <a:t>claim a slot, and receive a reminder.</a:t>
            </a:r>
          </a:p>
          <a:p>
            <a:pPr algn="l">
              <a:lnSpc>
                <a:spcPct val="130000"/>
              </a:lnSpc>
              <a:spcAft>
                <a:spcPts val="600"/>
              </a:spcAft>
            </a:pPr>
            <a:r>
              <a:rPr sz="1500" b="0">
                <a:solidFill>
                  <a:srgbClr val="E8E5DD"/>
                </a:solidFill>
                <a:latin typeface="Consolas"/>
              </a:rPr>
              <a:t>Admins approve roles and export rosters.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 y="475488"/>
            <a:ext cx="7315200" cy="237744"/>
          </a:xfrm>
          <a:prstGeom prst="rect">
            <a:avLst/>
          </a:prstGeom>
          <a:noFill/>
        </p:spPr>
        <p:txBody>
          <a:bodyPr wrap="square" lIns="0" tIns="0" rIns="0" bIns="0" anchor="t">
            <a:spAutoFit/>
          </a:bodyPr>
          <a:lstStyle/>
          <a:p>
            <a:pPr algn="l"/>
            <a:r>
              <a:rPr sz="1000" b="1">
                <a:solidFill>
                  <a:srgbClr val="6B6E78"/>
                </a:solidFill>
                <a:latin typeface="Arial"/>
              </a:rPr>
              <a:t>BUILDING CONTEXT · PART 1</a:t>
            </a:r>
          </a:p>
        </p:txBody>
      </p:sp>
      <p:sp>
        <p:nvSpPr>
          <p:cNvPr id="4" name="TextBox 3"/>
          <p:cNvSpPr txBox="1"/>
          <p:nvPr/>
        </p:nvSpPr>
        <p:spPr>
          <a:xfrm>
            <a:off x="15544800" y="475488"/>
            <a:ext cx="1691640" cy="237744"/>
          </a:xfrm>
          <a:prstGeom prst="rect">
            <a:avLst/>
          </a:prstGeom>
          <a:noFill/>
        </p:spPr>
        <p:txBody>
          <a:bodyPr wrap="square" lIns="0" tIns="0" rIns="0" bIns="0" anchor="t">
            <a:spAutoFit/>
          </a:bodyPr>
          <a:lstStyle/>
          <a:p>
            <a:pPr algn="r"/>
            <a:r>
              <a:rPr sz="1000" b="1">
                <a:solidFill>
                  <a:srgbClr val="6B6E78"/>
                </a:solidFill>
                <a:latin typeface="Arial"/>
              </a:rPr>
              <a:t>08 / 22</a:t>
            </a:r>
          </a:p>
        </p:txBody>
      </p:sp>
      <p:sp>
        <p:nvSpPr>
          <p:cNvPr id="5" name="Rectangle 4"/>
          <p:cNvSpPr/>
          <p:nvPr/>
        </p:nvSpPr>
        <p:spPr>
          <a:xfrm>
            <a:off x="1143000" y="9646920"/>
            <a:ext cx="16002000" cy="8000"/>
          </a:xfrm>
          <a:prstGeom prst="rect">
            <a:avLst/>
          </a:prstGeom>
          <a:solidFill>
            <a:srgbClr val="DC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0" y="384048"/>
            <a:ext cx="6400800" cy="4297680"/>
          </a:xfrm>
          <a:prstGeom prst="rect">
            <a:avLst/>
          </a:prstGeom>
          <a:noFill/>
        </p:spPr>
        <p:txBody>
          <a:bodyPr wrap="square" lIns="0" tIns="0" rIns="0" bIns="0" anchor="t">
            <a:spAutoFit/>
          </a:bodyPr>
          <a:lstStyle/>
          <a:p>
            <a:pPr algn="l"/>
            <a:r>
              <a:rPr sz="39000" b="1">
                <a:solidFill>
                  <a:srgbClr val="E8E5DD"/>
                </a:solidFill>
                <a:latin typeface="Arial"/>
              </a:rPr>
              <a:t>08</a:t>
            </a:r>
          </a:p>
        </p:txBody>
      </p:sp>
      <p:sp>
        <p:nvSpPr>
          <p:cNvPr id="7" name="TextBox 6"/>
          <p:cNvSpPr txBox="1"/>
          <p:nvPr/>
        </p:nvSpPr>
        <p:spPr>
          <a:xfrm>
            <a:off x="1143000" y="2093976"/>
            <a:ext cx="16459200" cy="310896"/>
          </a:xfrm>
          <a:prstGeom prst="rect">
            <a:avLst/>
          </a:prstGeom>
          <a:noFill/>
        </p:spPr>
        <p:txBody>
          <a:bodyPr wrap="square" lIns="0" tIns="0" rIns="0" bIns="0" anchor="t">
            <a:spAutoFit/>
          </a:bodyPr>
          <a:lstStyle/>
          <a:p>
            <a:pPr algn="l"/>
            <a:r>
              <a:rPr sz="1100" b="1">
                <a:solidFill>
                  <a:srgbClr val="F58220"/>
                </a:solidFill>
                <a:latin typeface="Arial"/>
              </a:rPr>
              <a:t>CLAUDE.MD  ·  SECTION 02</a:t>
            </a:r>
          </a:p>
        </p:txBody>
      </p:sp>
      <p:sp>
        <p:nvSpPr>
          <p:cNvPr id="8" name="TextBox 7"/>
          <p:cNvSpPr txBox="1"/>
          <p:nvPr/>
        </p:nvSpPr>
        <p:spPr>
          <a:xfrm>
            <a:off x="1143000" y="2606040"/>
            <a:ext cx="16459200" cy="1371600"/>
          </a:xfrm>
          <a:prstGeom prst="rect">
            <a:avLst/>
          </a:prstGeom>
          <a:noFill/>
        </p:spPr>
        <p:txBody>
          <a:bodyPr wrap="square" lIns="0" tIns="0" rIns="0" bIns="0" anchor="t">
            <a:spAutoFit/>
          </a:bodyPr>
          <a:lstStyle/>
          <a:p>
            <a:pPr algn="l"/>
            <a:r>
              <a:rPr sz="5400" b="1">
                <a:solidFill>
                  <a:srgbClr val="14161C"/>
                </a:solidFill>
                <a:latin typeface="Arial"/>
              </a:rPr>
              <a:t>Section 02 · </a:t>
            </a:r>
            <a:r>
              <a:rPr sz="5400" b="1">
                <a:solidFill>
                  <a:srgbClr val="F58220"/>
                </a:solidFill>
                <a:latin typeface="Arial"/>
              </a:rPr>
              <a:t>Tech stack</a:t>
            </a:r>
          </a:p>
        </p:txBody>
      </p:sp>
      <p:sp>
        <p:nvSpPr>
          <p:cNvPr id="9" name="TextBox 8"/>
          <p:cNvSpPr txBox="1"/>
          <p:nvPr/>
        </p:nvSpPr>
        <p:spPr>
          <a:xfrm>
            <a:off x="1143000" y="4297680"/>
            <a:ext cx="15544800" cy="457200"/>
          </a:xfrm>
          <a:prstGeom prst="rect">
            <a:avLst/>
          </a:prstGeom>
          <a:noFill/>
        </p:spPr>
        <p:txBody>
          <a:bodyPr wrap="square" lIns="0" tIns="0" rIns="0" bIns="0" anchor="t">
            <a:spAutoFit/>
          </a:bodyPr>
          <a:lstStyle/>
          <a:p>
            <a:pPr algn="l"/>
            <a:r>
              <a:rPr sz="2000" b="0">
                <a:solidFill>
                  <a:srgbClr val="6B6E78"/>
                </a:solidFill>
                <a:latin typeface="Arial"/>
              </a:rPr>
              <a:t>What it's built with. Versions matter.</a:t>
            </a:r>
          </a:p>
        </p:txBody>
      </p:sp>
      <p:sp>
        <p:nvSpPr>
          <p:cNvPr id="10" name="TextBox 9"/>
          <p:cNvSpPr txBox="1"/>
          <p:nvPr/>
        </p:nvSpPr>
        <p:spPr>
          <a:xfrm>
            <a:off x="1143000" y="5120640"/>
            <a:ext cx="7772400" cy="4114800"/>
          </a:xfrm>
          <a:prstGeom prst="rect">
            <a:avLst/>
          </a:prstGeom>
          <a:noFill/>
        </p:spPr>
        <p:txBody>
          <a:bodyPr wrap="square" lIns="0" tIns="0" rIns="0" bIns="0">
            <a:spAutoFit/>
          </a:bodyPr>
          <a:lstStyle/>
          <a:p>
            <a:pPr algn="l">
              <a:lnSpc>
                <a:spcPct val="140000"/>
              </a:lnSpc>
              <a:spcAft>
                <a:spcPts val="600"/>
              </a:spcAft>
            </a:pPr>
            <a:r>
              <a:rPr sz="1800" b="0">
                <a:solidFill>
                  <a:srgbClr val="14161C"/>
                </a:solidFill>
                <a:latin typeface="Arial"/>
              </a:rPr>
              <a:t>•  Languages, frameworks, runtime versions.</a:t>
            </a:r>
          </a:p>
          <a:p>
            <a:pPr algn="l">
              <a:lnSpc>
                <a:spcPct val="140000"/>
              </a:lnSpc>
              <a:spcAft>
                <a:spcPts val="600"/>
              </a:spcAft>
            </a:pPr>
            <a:r>
              <a:rPr sz="1800" b="0">
                <a:solidFill>
                  <a:srgbClr val="14161C"/>
                </a:solidFill>
                <a:latin typeface="Arial"/>
              </a:rPr>
              <a:t>•  Hosting target — local? Vercel? on-prem?</a:t>
            </a:r>
          </a:p>
          <a:p>
            <a:pPr algn="l">
              <a:lnSpc>
                <a:spcPct val="140000"/>
              </a:lnSpc>
              <a:spcAft>
                <a:spcPts val="600"/>
              </a:spcAft>
            </a:pPr>
            <a:r>
              <a:rPr sz="1800" b="0">
                <a:solidFill>
                  <a:srgbClr val="14161C"/>
                </a:solidFill>
                <a:latin typeface="Arial"/>
              </a:rPr>
              <a:t>•  External services and SDKs (auth, payments, email).</a:t>
            </a:r>
          </a:p>
          <a:p>
            <a:pPr algn="l">
              <a:lnSpc>
                <a:spcPct val="140000"/>
              </a:lnSpc>
              <a:spcAft>
                <a:spcPts val="600"/>
              </a:spcAft>
            </a:pPr>
            <a:r>
              <a:rPr sz="1800" b="0">
                <a:solidFill>
                  <a:srgbClr val="14161C"/>
                </a:solidFill>
                <a:latin typeface="Arial"/>
              </a:rPr>
              <a:t>•  If a constraint isn't here, the model can't honor it.</a:t>
            </a:r>
          </a:p>
        </p:txBody>
      </p:sp>
      <p:sp>
        <p:nvSpPr>
          <p:cNvPr id="11" name="Rectangle 10"/>
          <p:cNvSpPr/>
          <p:nvPr/>
        </p:nvSpPr>
        <p:spPr>
          <a:xfrm>
            <a:off x="9601200" y="4983480"/>
            <a:ext cx="7543800" cy="4114800"/>
          </a:xfrm>
          <a:prstGeom prst="rect">
            <a:avLst/>
          </a:prstGeom>
          <a:solidFill>
            <a:srgbClr val="1E2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921240" y="5120640"/>
            <a:ext cx="6400800" cy="274320"/>
          </a:xfrm>
          <a:prstGeom prst="rect">
            <a:avLst/>
          </a:prstGeom>
          <a:noFill/>
        </p:spPr>
        <p:txBody>
          <a:bodyPr wrap="square" lIns="0" tIns="0" rIns="0" bIns="0" anchor="t">
            <a:spAutoFit/>
          </a:bodyPr>
          <a:lstStyle/>
          <a:p>
            <a:pPr algn="l"/>
            <a:r>
              <a:rPr sz="1100" b="1">
                <a:solidFill>
                  <a:srgbClr val="3FE0D0"/>
                </a:solidFill>
                <a:latin typeface="Consolas"/>
              </a:rPr>
              <a:t>// EXAMPLE</a:t>
            </a:r>
          </a:p>
        </p:txBody>
      </p:sp>
      <p:sp>
        <p:nvSpPr>
          <p:cNvPr id="13" name="TextBox 12"/>
          <p:cNvSpPr txBox="1"/>
          <p:nvPr/>
        </p:nvSpPr>
        <p:spPr>
          <a:xfrm>
            <a:off x="9921240" y="5440680"/>
            <a:ext cx="6949440" cy="3657600"/>
          </a:xfrm>
          <a:prstGeom prst="rect">
            <a:avLst/>
          </a:prstGeom>
          <a:noFill/>
        </p:spPr>
        <p:txBody>
          <a:bodyPr wrap="square" lIns="0" tIns="0" rIns="0" bIns="0">
            <a:spAutoFit/>
          </a:bodyPr>
          <a:lstStyle/>
          <a:p>
            <a:pPr algn="l">
              <a:lnSpc>
                <a:spcPct val="130000"/>
              </a:lnSpc>
              <a:spcAft>
                <a:spcPts val="600"/>
              </a:spcAft>
            </a:pPr>
            <a:r>
              <a:rPr sz="1500" b="0">
                <a:solidFill>
                  <a:srgbClr val="E8E5DD"/>
                </a:solidFill>
                <a:latin typeface="Consolas"/>
              </a:rPr>
              <a:t># Tech Stack</a:t>
            </a:r>
          </a:p>
          <a:p>
            <a:pPr algn="l">
              <a:lnSpc>
                <a:spcPct val="130000"/>
              </a:lnSpc>
              <a:spcAft>
                <a:spcPts val="600"/>
              </a:spcAft>
            </a:pPr>
            <a:endParaRPr sz="1500" b="0">
              <a:solidFill>
                <a:srgbClr val="E8E5DD"/>
              </a:solidFill>
              <a:latin typeface="Consolas"/>
            </a:endParaRPr>
          </a:p>
          <a:p>
            <a:pPr algn="l">
              <a:lnSpc>
                <a:spcPct val="130000"/>
              </a:lnSpc>
              <a:spcAft>
                <a:spcPts val="600"/>
              </a:spcAft>
            </a:pPr>
            <a:r>
              <a:rPr sz="1500" b="0">
                <a:solidFill>
                  <a:srgbClr val="E8E5DD"/>
                </a:solidFill>
                <a:latin typeface="Consolas"/>
              </a:rPr>
              <a:t>- Next.js 15 (App Router)</a:t>
            </a:r>
          </a:p>
          <a:p>
            <a:pPr algn="l">
              <a:lnSpc>
                <a:spcPct val="130000"/>
              </a:lnSpc>
              <a:spcAft>
                <a:spcPts val="600"/>
              </a:spcAft>
            </a:pPr>
            <a:r>
              <a:rPr sz="1500" b="0">
                <a:solidFill>
                  <a:srgbClr val="E8E5DD"/>
                </a:solidFill>
                <a:latin typeface="Consolas"/>
              </a:rPr>
              <a:t>- TypeScript 5.4 (strict)</a:t>
            </a:r>
          </a:p>
          <a:p>
            <a:pPr algn="l">
              <a:lnSpc>
                <a:spcPct val="130000"/>
              </a:lnSpc>
              <a:spcAft>
                <a:spcPts val="600"/>
              </a:spcAft>
            </a:pPr>
            <a:r>
              <a:rPr sz="1500" b="0">
                <a:solidFill>
                  <a:srgbClr val="E8E5DD"/>
                </a:solidFill>
                <a:latin typeface="Consolas"/>
              </a:rPr>
              <a:t>- PostgreSQL 16 + Drizzle ORM</a:t>
            </a:r>
          </a:p>
          <a:p>
            <a:pPr algn="l">
              <a:lnSpc>
                <a:spcPct val="130000"/>
              </a:lnSpc>
              <a:spcAft>
                <a:spcPts val="600"/>
              </a:spcAft>
            </a:pPr>
            <a:r>
              <a:rPr sz="1500" b="0">
                <a:solidFill>
                  <a:srgbClr val="E8E5DD"/>
                </a:solidFill>
                <a:latin typeface="Consolas"/>
              </a:rPr>
              <a:t>- Auth0 (organization plan)</a:t>
            </a:r>
          </a:p>
          <a:p>
            <a:pPr algn="l">
              <a:lnSpc>
                <a:spcPct val="130000"/>
              </a:lnSpc>
              <a:spcAft>
                <a:spcPts val="600"/>
              </a:spcAft>
            </a:pPr>
            <a:r>
              <a:rPr sz="1500" b="0">
                <a:solidFill>
                  <a:srgbClr val="E8E5DD"/>
                </a:solidFill>
                <a:latin typeface="Consolas"/>
              </a:rPr>
              <a:t>- Resend for transactional email</a:t>
            </a:r>
          </a:p>
          <a:p>
            <a:pPr algn="l">
              <a:lnSpc>
                <a:spcPct val="130000"/>
              </a:lnSpc>
              <a:spcAft>
                <a:spcPts val="600"/>
              </a:spcAft>
            </a:pPr>
            <a:r>
              <a:rPr sz="1500" b="0">
                <a:solidFill>
                  <a:srgbClr val="E8E5DD"/>
                </a:solidFill>
                <a:latin typeface="Consolas"/>
              </a:rPr>
              <a:t>- Hosted on Vercel (pro)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 y="475488"/>
            <a:ext cx="7315200" cy="237744"/>
          </a:xfrm>
          <a:prstGeom prst="rect">
            <a:avLst/>
          </a:prstGeom>
          <a:noFill/>
        </p:spPr>
        <p:txBody>
          <a:bodyPr wrap="square" lIns="0" tIns="0" rIns="0" bIns="0" anchor="t">
            <a:spAutoFit/>
          </a:bodyPr>
          <a:lstStyle/>
          <a:p>
            <a:pPr algn="l"/>
            <a:r>
              <a:rPr sz="1000" b="1">
                <a:solidFill>
                  <a:srgbClr val="6B6E78"/>
                </a:solidFill>
                <a:latin typeface="Arial"/>
              </a:rPr>
              <a:t>BUILDING CONTEXT · PART 1</a:t>
            </a:r>
          </a:p>
        </p:txBody>
      </p:sp>
      <p:sp>
        <p:nvSpPr>
          <p:cNvPr id="4" name="TextBox 3"/>
          <p:cNvSpPr txBox="1"/>
          <p:nvPr/>
        </p:nvSpPr>
        <p:spPr>
          <a:xfrm>
            <a:off x="15544800" y="475488"/>
            <a:ext cx="1691640" cy="237744"/>
          </a:xfrm>
          <a:prstGeom prst="rect">
            <a:avLst/>
          </a:prstGeom>
          <a:noFill/>
        </p:spPr>
        <p:txBody>
          <a:bodyPr wrap="square" lIns="0" tIns="0" rIns="0" bIns="0" anchor="t">
            <a:spAutoFit/>
          </a:bodyPr>
          <a:lstStyle/>
          <a:p>
            <a:pPr algn="r"/>
            <a:r>
              <a:rPr sz="1000" b="1">
                <a:solidFill>
                  <a:srgbClr val="6B6E78"/>
                </a:solidFill>
                <a:latin typeface="Arial"/>
              </a:rPr>
              <a:t>09 / 22</a:t>
            </a:r>
          </a:p>
        </p:txBody>
      </p:sp>
      <p:sp>
        <p:nvSpPr>
          <p:cNvPr id="5" name="Rectangle 4"/>
          <p:cNvSpPr/>
          <p:nvPr/>
        </p:nvSpPr>
        <p:spPr>
          <a:xfrm>
            <a:off x="1143000" y="9646920"/>
            <a:ext cx="16002000" cy="8000"/>
          </a:xfrm>
          <a:prstGeom prst="rect">
            <a:avLst/>
          </a:prstGeom>
          <a:solidFill>
            <a:srgbClr val="DC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0" y="384048"/>
            <a:ext cx="6400800" cy="4297680"/>
          </a:xfrm>
          <a:prstGeom prst="rect">
            <a:avLst/>
          </a:prstGeom>
          <a:noFill/>
        </p:spPr>
        <p:txBody>
          <a:bodyPr wrap="square" lIns="0" tIns="0" rIns="0" bIns="0" anchor="t">
            <a:spAutoFit/>
          </a:bodyPr>
          <a:lstStyle/>
          <a:p>
            <a:pPr algn="l"/>
            <a:r>
              <a:rPr sz="39000" b="1">
                <a:solidFill>
                  <a:srgbClr val="E8E5DD"/>
                </a:solidFill>
                <a:latin typeface="Arial"/>
              </a:rPr>
              <a:t>09</a:t>
            </a:r>
          </a:p>
        </p:txBody>
      </p:sp>
      <p:sp>
        <p:nvSpPr>
          <p:cNvPr id="7" name="TextBox 6"/>
          <p:cNvSpPr txBox="1"/>
          <p:nvPr/>
        </p:nvSpPr>
        <p:spPr>
          <a:xfrm>
            <a:off x="1143000" y="2093976"/>
            <a:ext cx="16459200" cy="310896"/>
          </a:xfrm>
          <a:prstGeom prst="rect">
            <a:avLst/>
          </a:prstGeom>
          <a:noFill/>
        </p:spPr>
        <p:txBody>
          <a:bodyPr wrap="square" lIns="0" tIns="0" rIns="0" bIns="0" anchor="t">
            <a:spAutoFit/>
          </a:bodyPr>
          <a:lstStyle/>
          <a:p>
            <a:pPr algn="l"/>
            <a:r>
              <a:rPr sz="1100" b="1">
                <a:solidFill>
                  <a:srgbClr val="F58220"/>
                </a:solidFill>
                <a:latin typeface="Arial"/>
              </a:rPr>
              <a:t>CLAUDE.MD  ·  SECTION 03</a:t>
            </a:r>
          </a:p>
        </p:txBody>
      </p:sp>
      <p:sp>
        <p:nvSpPr>
          <p:cNvPr id="8" name="TextBox 7"/>
          <p:cNvSpPr txBox="1"/>
          <p:nvPr/>
        </p:nvSpPr>
        <p:spPr>
          <a:xfrm>
            <a:off x="1143000" y="2606040"/>
            <a:ext cx="16459200" cy="1371600"/>
          </a:xfrm>
          <a:prstGeom prst="rect">
            <a:avLst/>
          </a:prstGeom>
          <a:noFill/>
        </p:spPr>
        <p:txBody>
          <a:bodyPr wrap="square" lIns="0" tIns="0" rIns="0" bIns="0" anchor="t">
            <a:spAutoFit/>
          </a:bodyPr>
          <a:lstStyle/>
          <a:p>
            <a:pPr algn="l"/>
            <a:r>
              <a:rPr sz="5400" b="1">
                <a:solidFill>
                  <a:srgbClr val="14161C"/>
                </a:solidFill>
                <a:latin typeface="Arial"/>
              </a:rPr>
              <a:t>Section 03 · </a:t>
            </a:r>
            <a:r>
              <a:rPr sz="5400" b="1">
                <a:solidFill>
                  <a:srgbClr val="F58220"/>
                </a:solidFill>
                <a:latin typeface="Arial"/>
              </a:rPr>
              <a:t>Structure</a:t>
            </a:r>
          </a:p>
        </p:txBody>
      </p:sp>
      <p:sp>
        <p:nvSpPr>
          <p:cNvPr id="9" name="TextBox 8"/>
          <p:cNvSpPr txBox="1"/>
          <p:nvPr/>
        </p:nvSpPr>
        <p:spPr>
          <a:xfrm>
            <a:off x="1143000" y="4297680"/>
            <a:ext cx="15544800" cy="457200"/>
          </a:xfrm>
          <a:prstGeom prst="rect">
            <a:avLst/>
          </a:prstGeom>
          <a:noFill/>
        </p:spPr>
        <p:txBody>
          <a:bodyPr wrap="square" lIns="0" tIns="0" rIns="0" bIns="0" anchor="t">
            <a:spAutoFit/>
          </a:bodyPr>
          <a:lstStyle/>
          <a:p>
            <a:pPr algn="l"/>
            <a:r>
              <a:rPr sz="2000" b="0">
                <a:solidFill>
                  <a:srgbClr val="6B6E78"/>
                </a:solidFill>
                <a:latin typeface="Arial"/>
              </a:rPr>
              <a:t>Where things live. Path conventions over personality.</a:t>
            </a:r>
          </a:p>
        </p:txBody>
      </p:sp>
      <p:sp>
        <p:nvSpPr>
          <p:cNvPr id="10" name="TextBox 9"/>
          <p:cNvSpPr txBox="1"/>
          <p:nvPr/>
        </p:nvSpPr>
        <p:spPr>
          <a:xfrm>
            <a:off x="1143000" y="5120640"/>
            <a:ext cx="7772400" cy="4114800"/>
          </a:xfrm>
          <a:prstGeom prst="rect">
            <a:avLst/>
          </a:prstGeom>
          <a:noFill/>
        </p:spPr>
        <p:txBody>
          <a:bodyPr wrap="square" lIns="0" tIns="0" rIns="0" bIns="0">
            <a:spAutoFit/>
          </a:bodyPr>
          <a:lstStyle/>
          <a:p>
            <a:pPr algn="l">
              <a:lnSpc>
                <a:spcPct val="140000"/>
              </a:lnSpc>
              <a:spcAft>
                <a:spcPts val="600"/>
              </a:spcAft>
            </a:pPr>
            <a:r>
              <a:rPr sz="1800" b="0">
                <a:solidFill>
                  <a:srgbClr val="14161C"/>
                </a:solidFill>
                <a:latin typeface="Arial"/>
              </a:rPr>
              <a:t>•  A short tree of the top folders, with one-line purpose.</a:t>
            </a:r>
          </a:p>
          <a:p>
            <a:pPr algn="l">
              <a:lnSpc>
                <a:spcPct val="140000"/>
              </a:lnSpc>
              <a:spcAft>
                <a:spcPts val="600"/>
              </a:spcAft>
            </a:pPr>
            <a:r>
              <a:rPr sz="1800" b="0">
                <a:solidFill>
                  <a:srgbClr val="14161C"/>
                </a:solidFill>
                <a:latin typeface="Arial"/>
              </a:rPr>
              <a:t>•  Where new files go, by type.</a:t>
            </a:r>
          </a:p>
          <a:p>
            <a:pPr algn="l">
              <a:lnSpc>
                <a:spcPct val="140000"/>
              </a:lnSpc>
              <a:spcAft>
                <a:spcPts val="600"/>
              </a:spcAft>
            </a:pPr>
            <a:r>
              <a:rPr sz="1800" b="0">
                <a:solidFill>
                  <a:srgbClr val="14161C"/>
                </a:solidFill>
                <a:latin typeface="Arial"/>
              </a:rPr>
              <a:t>•  Anything you don't want touched (vendored code, generated files).</a:t>
            </a:r>
          </a:p>
          <a:p>
            <a:pPr algn="l">
              <a:lnSpc>
                <a:spcPct val="140000"/>
              </a:lnSpc>
              <a:spcAft>
                <a:spcPts val="600"/>
              </a:spcAft>
            </a:pPr>
            <a:r>
              <a:rPr sz="1800" b="0">
                <a:solidFill>
                  <a:srgbClr val="14161C"/>
                </a:solidFill>
                <a:latin typeface="Arial"/>
              </a:rPr>
              <a:t>•  If you can't draw it, the model can't follow it.</a:t>
            </a:r>
          </a:p>
        </p:txBody>
      </p:sp>
      <p:sp>
        <p:nvSpPr>
          <p:cNvPr id="11" name="Rectangle 10"/>
          <p:cNvSpPr/>
          <p:nvPr/>
        </p:nvSpPr>
        <p:spPr>
          <a:xfrm>
            <a:off x="9601200" y="4983480"/>
            <a:ext cx="7543800" cy="4114800"/>
          </a:xfrm>
          <a:prstGeom prst="rect">
            <a:avLst/>
          </a:prstGeom>
          <a:solidFill>
            <a:srgbClr val="1E2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921240" y="5120640"/>
            <a:ext cx="6400800" cy="274320"/>
          </a:xfrm>
          <a:prstGeom prst="rect">
            <a:avLst/>
          </a:prstGeom>
          <a:noFill/>
        </p:spPr>
        <p:txBody>
          <a:bodyPr wrap="square" lIns="0" tIns="0" rIns="0" bIns="0" anchor="t">
            <a:spAutoFit/>
          </a:bodyPr>
          <a:lstStyle/>
          <a:p>
            <a:pPr algn="l"/>
            <a:r>
              <a:rPr sz="1100" b="1">
                <a:solidFill>
                  <a:srgbClr val="3FE0D0"/>
                </a:solidFill>
                <a:latin typeface="Consolas"/>
              </a:rPr>
              <a:t>// EXAMPLE</a:t>
            </a:r>
          </a:p>
        </p:txBody>
      </p:sp>
      <p:sp>
        <p:nvSpPr>
          <p:cNvPr id="13" name="TextBox 12"/>
          <p:cNvSpPr txBox="1"/>
          <p:nvPr/>
        </p:nvSpPr>
        <p:spPr>
          <a:xfrm>
            <a:off x="9921240" y="5440680"/>
            <a:ext cx="6949440" cy="3657600"/>
          </a:xfrm>
          <a:prstGeom prst="rect">
            <a:avLst/>
          </a:prstGeom>
          <a:noFill/>
        </p:spPr>
        <p:txBody>
          <a:bodyPr wrap="square" lIns="0" tIns="0" rIns="0" bIns="0">
            <a:spAutoFit/>
          </a:bodyPr>
          <a:lstStyle/>
          <a:p>
            <a:pPr algn="l">
              <a:lnSpc>
                <a:spcPct val="130000"/>
              </a:lnSpc>
              <a:spcAft>
                <a:spcPts val="600"/>
              </a:spcAft>
            </a:pPr>
            <a:r>
              <a:rPr sz="1500" b="0">
                <a:solidFill>
                  <a:srgbClr val="E8E5DD"/>
                </a:solidFill>
                <a:latin typeface="Consolas"/>
              </a:rPr>
              <a:t># Structure</a:t>
            </a:r>
          </a:p>
          <a:p>
            <a:pPr algn="l">
              <a:lnSpc>
                <a:spcPct val="130000"/>
              </a:lnSpc>
              <a:spcAft>
                <a:spcPts val="600"/>
              </a:spcAft>
            </a:pPr>
            <a:endParaRPr sz="1500" b="0">
              <a:solidFill>
                <a:srgbClr val="E8E5DD"/>
              </a:solidFill>
              <a:latin typeface="Consolas"/>
            </a:endParaRPr>
          </a:p>
          <a:p>
            <a:pPr algn="l">
              <a:lnSpc>
                <a:spcPct val="130000"/>
              </a:lnSpc>
              <a:spcAft>
                <a:spcPts val="600"/>
              </a:spcAft>
            </a:pPr>
            <a:r>
              <a:rPr sz="1500" b="0">
                <a:solidFill>
                  <a:srgbClr val="E8E5DD"/>
                </a:solidFill>
                <a:latin typeface="Consolas"/>
              </a:rPr>
              <a:t>/app          - routes &amp; layouts</a:t>
            </a:r>
          </a:p>
          <a:p>
            <a:pPr algn="l">
              <a:lnSpc>
                <a:spcPct val="130000"/>
              </a:lnSpc>
              <a:spcAft>
                <a:spcPts val="600"/>
              </a:spcAft>
            </a:pPr>
            <a:r>
              <a:rPr sz="1500" b="0">
                <a:solidFill>
                  <a:srgbClr val="E8E5DD"/>
                </a:solidFill>
                <a:latin typeface="Consolas"/>
              </a:rPr>
              <a:t>/components   - shared UI</a:t>
            </a:r>
          </a:p>
          <a:p>
            <a:pPr algn="l">
              <a:lnSpc>
                <a:spcPct val="130000"/>
              </a:lnSpc>
              <a:spcAft>
                <a:spcPts val="600"/>
              </a:spcAft>
            </a:pPr>
            <a:r>
              <a:rPr sz="1500" b="0">
                <a:solidFill>
                  <a:srgbClr val="E8E5DD"/>
                </a:solidFill>
                <a:latin typeface="Consolas"/>
              </a:rPr>
              <a:t>/lib          - server utils, db</a:t>
            </a:r>
          </a:p>
          <a:p>
            <a:pPr algn="l">
              <a:lnSpc>
                <a:spcPct val="130000"/>
              </a:lnSpc>
              <a:spcAft>
                <a:spcPts val="600"/>
              </a:spcAft>
            </a:pPr>
            <a:r>
              <a:rPr sz="1500" b="0">
                <a:solidFill>
                  <a:srgbClr val="E8E5DD"/>
                </a:solidFill>
                <a:latin typeface="Consolas"/>
              </a:rPr>
              <a:t>/db/schema    - drizzle schemas</a:t>
            </a:r>
          </a:p>
          <a:p>
            <a:pPr algn="l">
              <a:lnSpc>
                <a:spcPct val="130000"/>
              </a:lnSpc>
              <a:spcAft>
                <a:spcPts val="600"/>
              </a:spcAft>
            </a:pPr>
            <a:r>
              <a:rPr sz="1500" b="0">
                <a:solidFill>
                  <a:srgbClr val="E8E5DD"/>
                </a:solidFill>
                <a:latin typeface="Consolas"/>
              </a:rPr>
              <a:t>/scripts      - one-off ops scripts</a:t>
            </a:r>
          </a:p>
          <a:p>
            <a:pPr algn="l">
              <a:lnSpc>
                <a:spcPct val="130000"/>
              </a:lnSpc>
              <a:spcAft>
                <a:spcPts val="600"/>
              </a:spcAft>
            </a:pPr>
            <a:r>
              <a:rPr sz="1500" b="0">
                <a:solidFill>
                  <a:srgbClr val="E8E5DD"/>
                </a:solidFill>
                <a:latin typeface="Consolas"/>
              </a:rPr>
              <a:t>/tests        - playwright + vitest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 y="475488"/>
            <a:ext cx="7315200" cy="237744"/>
          </a:xfrm>
          <a:prstGeom prst="rect">
            <a:avLst/>
          </a:prstGeom>
          <a:noFill/>
        </p:spPr>
        <p:txBody>
          <a:bodyPr wrap="square" lIns="0" tIns="0" rIns="0" bIns="0" anchor="t">
            <a:spAutoFit/>
          </a:bodyPr>
          <a:lstStyle/>
          <a:p>
            <a:pPr algn="l"/>
            <a:r>
              <a:rPr sz="1000" b="1">
                <a:solidFill>
                  <a:srgbClr val="6B6E78"/>
                </a:solidFill>
                <a:latin typeface="Arial"/>
              </a:rPr>
              <a:t>BUILDING CONTEXT · PART 1</a:t>
            </a:r>
          </a:p>
        </p:txBody>
      </p:sp>
      <p:sp>
        <p:nvSpPr>
          <p:cNvPr id="4" name="TextBox 3"/>
          <p:cNvSpPr txBox="1"/>
          <p:nvPr/>
        </p:nvSpPr>
        <p:spPr>
          <a:xfrm>
            <a:off x="15544800" y="475488"/>
            <a:ext cx="1691640" cy="237744"/>
          </a:xfrm>
          <a:prstGeom prst="rect">
            <a:avLst/>
          </a:prstGeom>
          <a:noFill/>
        </p:spPr>
        <p:txBody>
          <a:bodyPr wrap="square" lIns="0" tIns="0" rIns="0" bIns="0" anchor="t">
            <a:spAutoFit/>
          </a:bodyPr>
          <a:lstStyle/>
          <a:p>
            <a:pPr algn="r"/>
            <a:r>
              <a:rPr sz="1000" b="1">
                <a:solidFill>
                  <a:srgbClr val="6B6E78"/>
                </a:solidFill>
                <a:latin typeface="Arial"/>
              </a:rPr>
              <a:t>10 / 22</a:t>
            </a:r>
          </a:p>
        </p:txBody>
      </p:sp>
      <p:sp>
        <p:nvSpPr>
          <p:cNvPr id="5" name="Rectangle 4"/>
          <p:cNvSpPr/>
          <p:nvPr/>
        </p:nvSpPr>
        <p:spPr>
          <a:xfrm>
            <a:off x="1143000" y="9646920"/>
            <a:ext cx="16002000" cy="8000"/>
          </a:xfrm>
          <a:prstGeom prst="rect">
            <a:avLst/>
          </a:prstGeom>
          <a:solidFill>
            <a:srgbClr val="DC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0" y="384048"/>
            <a:ext cx="6400800" cy="4297680"/>
          </a:xfrm>
          <a:prstGeom prst="rect">
            <a:avLst/>
          </a:prstGeom>
          <a:noFill/>
        </p:spPr>
        <p:txBody>
          <a:bodyPr wrap="square" lIns="0" tIns="0" rIns="0" bIns="0" anchor="t">
            <a:spAutoFit/>
          </a:bodyPr>
          <a:lstStyle/>
          <a:p>
            <a:pPr algn="l"/>
            <a:r>
              <a:rPr sz="39000" b="1">
                <a:solidFill>
                  <a:srgbClr val="E8E5DD"/>
                </a:solidFill>
                <a:latin typeface="Arial"/>
              </a:rPr>
              <a:t>10</a:t>
            </a:r>
          </a:p>
        </p:txBody>
      </p:sp>
      <p:sp>
        <p:nvSpPr>
          <p:cNvPr id="7" name="TextBox 6"/>
          <p:cNvSpPr txBox="1"/>
          <p:nvPr/>
        </p:nvSpPr>
        <p:spPr>
          <a:xfrm>
            <a:off x="1143000" y="2093976"/>
            <a:ext cx="16459200" cy="310896"/>
          </a:xfrm>
          <a:prstGeom prst="rect">
            <a:avLst/>
          </a:prstGeom>
          <a:noFill/>
        </p:spPr>
        <p:txBody>
          <a:bodyPr wrap="square" lIns="0" tIns="0" rIns="0" bIns="0" anchor="t">
            <a:spAutoFit/>
          </a:bodyPr>
          <a:lstStyle/>
          <a:p>
            <a:pPr algn="l"/>
            <a:r>
              <a:rPr sz="1100" b="1">
                <a:solidFill>
                  <a:srgbClr val="F58220"/>
                </a:solidFill>
                <a:latin typeface="Arial"/>
              </a:rPr>
              <a:t>CLAUDE.MD  ·  SECTION 04</a:t>
            </a:r>
          </a:p>
        </p:txBody>
      </p:sp>
      <p:sp>
        <p:nvSpPr>
          <p:cNvPr id="8" name="TextBox 7"/>
          <p:cNvSpPr txBox="1"/>
          <p:nvPr/>
        </p:nvSpPr>
        <p:spPr>
          <a:xfrm>
            <a:off x="1143000" y="2606040"/>
            <a:ext cx="16459200" cy="1371600"/>
          </a:xfrm>
          <a:prstGeom prst="rect">
            <a:avLst/>
          </a:prstGeom>
          <a:noFill/>
        </p:spPr>
        <p:txBody>
          <a:bodyPr wrap="square" lIns="0" tIns="0" rIns="0" bIns="0" anchor="t">
            <a:spAutoFit/>
          </a:bodyPr>
          <a:lstStyle/>
          <a:p>
            <a:pPr algn="l"/>
            <a:r>
              <a:rPr sz="5400" b="1">
                <a:solidFill>
                  <a:srgbClr val="14161C"/>
                </a:solidFill>
                <a:latin typeface="Arial"/>
              </a:rPr>
              <a:t>Section 04 · </a:t>
            </a:r>
            <a:r>
              <a:rPr sz="5400" b="1">
                <a:solidFill>
                  <a:srgbClr val="F58220"/>
                </a:solidFill>
                <a:latin typeface="Arial"/>
              </a:rPr>
              <a:t>Conventions</a:t>
            </a:r>
          </a:p>
        </p:txBody>
      </p:sp>
      <p:sp>
        <p:nvSpPr>
          <p:cNvPr id="9" name="TextBox 8"/>
          <p:cNvSpPr txBox="1"/>
          <p:nvPr/>
        </p:nvSpPr>
        <p:spPr>
          <a:xfrm>
            <a:off x="1143000" y="4297680"/>
            <a:ext cx="15544800" cy="457200"/>
          </a:xfrm>
          <a:prstGeom prst="rect">
            <a:avLst/>
          </a:prstGeom>
          <a:noFill/>
        </p:spPr>
        <p:txBody>
          <a:bodyPr wrap="square" lIns="0" tIns="0" rIns="0" bIns="0" anchor="t">
            <a:spAutoFit/>
          </a:bodyPr>
          <a:lstStyle/>
          <a:p>
            <a:pPr algn="l"/>
            <a:r>
              <a:rPr sz="2000" b="0">
                <a:solidFill>
                  <a:srgbClr val="6B6E78"/>
                </a:solidFill>
                <a:latin typeface="Arial"/>
              </a:rPr>
              <a:t>How we write code here. The places junior devs trip.</a:t>
            </a:r>
          </a:p>
        </p:txBody>
      </p:sp>
      <p:sp>
        <p:nvSpPr>
          <p:cNvPr id="10" name="TextBox 9"/>
          <p:cNvSpPr txBox="1"/>
          <p:nvPr/>
        </p:nvSpPr>
        <p:spPr>
          <a:xfrm>
            <a:off x="1143000" y="5120640"/>
            <a:ext cx="7772400" cy="4114800"/>
          </a:xfrm>
          <a:prstGeom prst="rect">
            <a:avLst/>
          </a:prstGeom>
          <a:noFill/>
        </p:spPr>
        <p:txBody>
          <a:bodyPr wrap="square" lIns="0" tIns="0" rIns="0" bIns="0">
            <a:spAutoFit/>
          </a:bodyPr>
          <a:lstStyle/>
          <a:p>
            <a:pPr algn="l">
              <a:lnSpc>
                <a:spcPct val="140000"/>
              </a:lnSpc>
              <a:spcAft>
                <a:spcPts val="600"/>
              </a:spcAft>
            </a:pPr>
            <a:r>
              <a:rPr sz="1800" b="0">
                <a:solidFill>
                  <a:srgbClr val="14161C"/>
                </a:solidFill>
                <a:latin typeface="Arial"/>
              </a:rPr>
              <a:t>•  Naming: files, components, db tables, env vars.</a:t>
            </a:r>
          </a:p>
          <a:p>
            <a:pPr algn="l">
              <a:lnSpc>
                <a:spcPct val="140000"/>
              </a:lnSpc>
              <a:spcAft>
                <a:spcPts val="600"/>
              </a:spcAft>
            </a:pPr>
            <a:r>
              <a:rPr sz="1800" b="0">
                <a:solidFill>
                  <a:srgbClr val="14161C"/>
                </a:solidFill>
                <a:latin typeface="Arial"/>
              </a:rPr>
              <a:t>•  Imports: absolute vs relative, alias paths.</a:t>
            </a:r>
          </a:p>
          <a:p>
            <a:pPr algn="l">
              <a:lnSpc>
                <a:spcPct val="140000"/>
              </a:lnSpc>
              <a:spcAft>
                <a:spcPts val="600"/>
              </a:spcAft>
            </a:pPr>
            <a:r>
              <a:rPr sz="1800" b="0">
                <a:solidFill>
                  <a:srgbClr val="14161C"/>
                </a:solidFill>
                <a:latin typeface="Arial"/>
              </a:rPr>
              <a:t>•  Error handling and logging style.</a:t>
            </a:r>
          </a:p>
          <a:p>
            <a:pPr algn="l">
              <a:lnSpc>
                <a:spcPct val="140000"/>
              </a:lnSpc>
              <a:spcAft>
                <a:spcPts val="600"/>
              </a:spcAft>
            </a:pPr>
            <a:r>
              <a:rPr sz="1800" b="0">
                <a:solidFill>
                  <a:srgbClr val="14161C"/>
                </a:solidFill>
                <a:latin typeface="Arial"/>
              </a:rPr>
              <a:t>•  Comments — when, and what the team values.</a:t>
            </a:r>
          </a:p>
        </p:txBody>
      </p:sp>
      <p:sp>
        <p:nvSpPr>
          <p:cNvPr id="11" name="Rectangle 10"/>
          <p:cNvSpPr/>
          <p:nvPr/>
        </p:nvSpPr>
        <p:spPr>
          <a:xfrm>
            <a:off x="9601200" y="4983480"/>
            <a:ext cx="7543800" cy="4114800"/>
          </a:xfrm>
          <a:prstGeom prst="rect">
            <a:avLst/>
          </a:prstGeom>
          <a:solidFill>
            <a:srgbClr val="1E2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921240" y="5120640"/>
            <a:ext cx="6400800" cy="274320"/>
          </a:xfrm>
          <a:prstGeom prst="rect">
            <a:avLst/>
          </a:prstGeom>
          <a:noFill/>
        </p:spPr>
        <p:txBody>
          <a:bodyPr wrap="square" lIns="0" tIns="0" rIns="0" bIns="0" anchor="t">
            <a:spAutoFit/>
          </a:bodyPr>
          <a:lstStyle/>
          <a:p>
            <a:pPr algn="l"/>
            <a:r>
              <a:rPr sz="1100" b="1">
                <a:solidFill>
                  <a:srgbClr val="3FE0D0"/>
                </a:solidFill>
                <a:latin typeface="Consolas"/>
              </a:rPr>
              <a:t>// EXAMPLE</a:t>
            </a:r>
          </a:p>
        </p:txBody>
      </p:sp>
      <p:sp>
        <p:nvSpPr>
          <p:cNvPr id="13" name="TextBox 12"/>
          <p:cNvSpPr txBox="1"/>
          <p:nvPr/>
        </p:nvSpPr>
        <p:spPr>
          <a:xfrm>
            <a:off x="9921240" y="5440680"/>
            <a:ext cx="6949440" cy="3657600"/>
          </a:xfrm>
          <a:prstGeom prst="rect">
            <a:avLst/>
          </a:prstGeom>
          <a:noFill/>
        </p:spPr>
        <p:txBody>
          <a:bodyPr wrap="square" lIns="0" tIns="0" rIns="0" bIns="0">
            <a:spAutoFit/>
          </a:bodyPr>
          <a:lstStyle/>
          <a:p>
            <a:pPr algn="l">
              <a:lnSpc>
                <a:spcPct val="130000"/>
              </a:lnSpc>
              <a:spcAft>
                <a:spcPts val="600"/>
              </a:spcAft>
            </a:pPr>
            <a:r>
              <a:rPr sz="1500" b="0">
                <a:solidFill>
                  <a:srgbClr val="E8E5DD"/>
                </a:solidFill>
                <a:latin typeface="Consolas"/>
              </a:rPr>
              <a:t># Conventions</a:t>
            </a:r>
          </a:p>
          <a:p>
            <a:pPr algn="l">
              <a:lnSpc>
                <a:spcPct val="130000"/>
              </a:lnSpc>
              <a:spcAft>
                <a:spcPts val="600"/>
              </a:spcAft>
            </a:pPr>
            <a:endParaRPr sz="1500" b="0">
              <a:solidFill>
                <a:srgbClr val="E8E5DD"/>
              </a:solidFill>
              <a:latin typeface="Consolas"/>
            </a:endParaRPr>
          </a:p>
          <a:p>
            <a:pPr algn="l">
              <a:lnSpc>
                <a:spcPct val="130000"/>
              </a:lnSpc>
              <a:spcAft>
                <a:spcPts val="600"/>
              </a:spcAft>
            </a:pPr>
            <a:r>
              <a:rPr sz="1500" b="0">
                <a:solidFill>
                  <a:srgbClr val="E8E5DD"/>
                </a:solidFill>
                <a:latin typeface="Consolas"/>
              </a:rPr>
              <a:t>- Files: kebab-case</a:t>
            </a:r>
          </a:p>
          <a:p>
            <a:pPr algn="l">
              <a:lnSpc>
                <a:spcPct val="130000"/>
              </a:lnSpc>
              <a:spcAft>
                <a:spcPts val="600"/>
              </a:spcAft>
            </a:pPr>
            <a:r>
              <a:rPr sz="1500" b="0">
                <a:solidFill>
                  <a:srgbClr val="E8E5DD"/>
                </a:solidFill>
                <a:latin typeface="Consolas"/>
              </a:rPr>
              <a:t>- Components: PascalCase, default export</a:t>
            </a:r>
          </a:p>
          <a:p>
            <a:pPr algn="l">
              <a:lnSpc>
                <a:spcPct val="130000"/>
              </a:lnSpc>
              <a:spcAft>
                <a:spcPts val="600"/>
              </a:spcAft>
            </a:pPr>
            <a:r>
              <a:rPr sz="1500" b="0">
                <a:solidFill>
                  <a:srgbClr val="E8E5DD"/>
                </a:solidFill>
                <a:latin typeface="Consolas"/>
              </a:rPr>
              <a:t>- DB tables: snake_case, plural</a:t>
            </a:r>
          </a:p>
          <a:p>
            <a:pPr algn="l">
              <a:lnSpc>
                <a:spcPct val="130000"/>
              </a:lnSpc>
              <a:spcAft>
                <a:spcPts val="600"/>
              </a:spcAft>
            </a:pPr>
            <a:r>
              <a:rPr sz="1500" b="0">
                <a:solidFill>
                  <a:srgbClr val="E8E5DD"/>
                </a:solidFill>
                <a:latin typeface="Consolas"/>
              </a:rPr>
              <a:t>- Imports: '@/' alias, no '../../'</a:t>
            </a:r>
          </a:p>
          <a:p>
            <a:pPr algn="l">
              <a:lnSpc>
                <a:spcPct val="130000"/>
              </a:lnSpc>
              <a:spcAft>
                <a:spcPts val="600"/>
              </a:spcAft>
            </a:pPr>
            <a:r>
              <a:rPr sz="1500" b="0">
                <a:solidFill>
                  <a:srgbClr val="E8E5DD"/>
                </a:solidFill>
                <a:latin typeface="Consolas"/>
              </a:rPr>
              <a:t>- Errors: throw typed errors,</a:t>
            </a:r>
          </a:p>
          <a:p>
            <a:pPr algn="l">
              <a:lnSpc>
                <a:spcPct val="130000"/>
              </a:lnSpc>
              <a:spcAft>
                <a:spcPts val="600"/>
              </a:spcAft>
            </a:pPr>
            <a:r>
              <a:rPr sz="1500" b="0">
                <a:solidFill>
                  <a:srgbClr val="E8E5DD"/>
                </a:solidFill>
                <a:latin typeface="Consolas"/>
              </a:rPr>
              <a:t>  let route handler translate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 y="475488"/>
            <a:ext cx="7315200" cy="237744"/>
          </a:xfrm>
          <a:prstGeom prst="rect">
            <a:avLst/>
          </a:prstGeom>
          <a:noFill/>
        </p:spPr>
        <p:txBody>
          <a:bodyPr wrap="square" lIns="0" tIns="0" rIns="0" bIns="0" anchor="t">
            <a:spAutoFit/>
          </a:bodyPr>
          <a:lstStyle/>
          <a:p>
            <a:pPr algn="l"/>
            <a:r>
              <a:rPr sz="1000" b="1">
                <a:solidFill>
                  <a:srgbClr val="6B6E78"/>
                </a:solidFill>
                <a:latin typeface="Arial"/>
              </a:rPr>
              <a:t>BUILDING CONTEXT · PART 1</a:t>
            </a:r>
          </a:p>
        </p:txBody>
      </p:sp>
      <p:sp>
        <p:nvSpPr>
          <p:cNvPr id="4" name="TextBox 3"/>
          <p:cNvSpPr txBox="1"/>
          <p:nvPr/>
        </p:nvSpPr>
        <p:spPr>
          <a:xfrm>
            <a:off x="15544800" y="475488"/>
            <a:ext cx="1691640" cy="237744"/>
          </a:xfrm>
          <a:prstGeom prst="rect">
            <a:avLst/>
          </a:prstGeom>
          <a:noFill/>
        </p:spPr>
        <p:txBody>
          <a:bodyPr wrap="square" lIns="0" tIns="0" rIns="0" bIns="0" anchor="t">
            <a:spAutoFit/>
          </a:bodyPr>
          <a:lstStyle/>
          <a:p>
            <a:pPr algn="r"/>
            <a:r>
              <a:rPr sz="1000" b="1">
                <a:solidFill>
                  <a:srgbClr val="6B6E78"/>
                </a:solidFill>
                <a:latin typeface="Arial"/>
              </a:rPr>
              <a:t>11 / 22</a:t>
            </a:r>
          </a:p>
        </p:txBody>
      </p:sp>
      <p:sp>
        <p:nvSpPr>
          <p:cNvPr id="5" name="Rectangle 4"/>
          <p:cNvSpPr/>
          <p:nvPr/>
        </p:nvSpPr>
        <p:spPr>
          <a:xfrm>
            <a:off x="1143000" y="9646920"/>
            <a:ext cx="16002000" cy="8000"/>
          </a:xfrm>
          <a:prstGeom prst="rect">
            <a:avLst/>
          </a:prstGeom>
          <a:solidFill>
            <a:srgbClr val="DC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0" y="384048"/>
            <a:ext cx="6400800" cy="4297680"/>
          </a:xfrm>
          <a:prstGeom prst="rect">
            <a:avLst/>
          </a:prstGeom>
          <a:noFill/>
        </p:spPr>
        <p:txBody>
          <a:bodyPr wrap="square" lIns="0" tIns="0" rIns="0" bIns="0" anchor="t">
            <a:spAutoFit/>
          </a:bodyPr>
          <a:lstStyle/>
          <a:p>
            <a:pPr algn="l"/>
            <a:r>
              <a:rPr sz="39000" b="1">
                <a:solidFill>
                  <a:srgbClr val="E8E5DD"/>
                </a:solidFill>
                <a:latin typeface="Arial"/>
              </a:rPr>
              <a:t>11</a:t>
            </a:r>
          </a:p>
        </p:txBody>
      </p:sp>
      <p:sp>
        <p:nvSpPr>
          <p:cNvPr id="7" name="TextBox 6"/>
          <p:cNvSpPr txBox="1"/>
          <p:nvPr/>
        </p:nvSpPr>
        <p:spPr>
          <a:xfrm>
            <a:off x="1143000" y="2093976"/>
            <a:ext cx="16459200" cy="310896"/>
          </a:xfrm>
          <a:prstGeom prst="rect">
            <a:avLst/>
          </a:prstGeom>
          <a:noFill/>
        </p:spPr>
        <p:txBody>
          <a:bodyPr wrap="square" lIns="0" tIns="0" rIns="0" bIns="0" anchor="t">
            <a:spAutoFit/>
          </a:bodyPr>
          <a:lstStyle/>
          <a:p>
            <a:pPr algn="l"/>
            <a:r>
              <a:rPr sz="1100" b="1">
                <a:solidFill>
                  <a:srgbClr val="F58220"/>
                </a:solidFill>
                <a:latin typeface="Arial"/>
              </a:rPr>
              <a:t>CLAUDE.MD  ·  SECTION 05</a:t>
            </a:r>
          </a:p>
        </p:txBody>
      </p:sp>
      <p:sp>
        <p:nvSpPr>
          <p:cNvPr id="8" name="TextBox 7"/>
          <p:cNvSpPr txBox="1"/>
          <p:nvPr/>
        </p:nvSpPr>
        <p:spPr>
          <a:xfrm>
            <a:off x="1143000" y="2606040"/>
            <a:ext cx="16459200" cy="1371600"/>
          </a:xfrm>
          <a:prstGeom prst="rect">
            <a:avLst/>
          </a:prstGeom>
          <a:noFill/>
        </p:spPr>
        <p:txBody>
          <a:bodyPr wrap="square" lIns="0" tIns="0" rIns="0" bIns="0" anchor="t">
            <a:spAutoFit/>
          </a:bodyPr>
          <a:lstStyle/>
          <a:p>
            <a:pPr algn="l"/>
            <a:r>
              <a:rPr sz="5400" b="1">
                <a:solidFill>
                  <a:srgbClr val="14161C"/>
                </a:solidFill>
                <a:latin typeface="Arial"/>
              </a:rPr>
              <a:t>Section 05 · </a:t>
            </a:r>
            <a:r>
              <a:rPr sz="5400" b="1">
                <a:solidFill>
                  <a:srgbClr val="F58220"/>
                </a:solidFill>
                <a:latin typeface="Arial"/>
              </a:rPr>
              <a:t>Build / test</a:t>
            </a:r>
          </a:p>
        </p:txBody>
      </p:sp>
      <p:sp>
        <p:nvSpPr>
          <p:cNvPr id="9" name="TextBox 8"/>
          <p:cNvSpPr txBox="1"/>
          <p:nvPr/>
        </p:nvSpPr>
        <p:spPr>
          <a:xfrm>
            <a:off x="1143000" y="4297680"/>
            <a:ext cx="15544800" cy="457200"/>
          </a:xfrm>
          <a:prstGeom prst="rect">
            <a:avLst/>
          </a:prstGeom>
          <a:noFill/>
        </p:spPr>
        <p:txBody>
          <a:bodyPr wrap="square" lIns="0" tIns="0" rIns="0" bIns="0" anchor="t">
            <a:spAutoFit/>
          </a:bodyPr>
          <a:lstStyle/>
          <a:p>
            <a:pPr algn="l"/>
            <a:r>
              <a:rPr sz="2000" b="0">
                <a:solidFill>
                  <a:srgbClr val="6B6E78"/>
                </a:solidFill>
                <a:latin typeface="Arial"/>
              </a:rPr>
              <a:t>Commands the model can run — and rules for when.</a:t>
            </a:r>
          </a:p>
        </p:txBody>
      </p:sp>
      <p:sp>
        <p:nvSpPr>
          <p:cNvPr id="10" name="TextBox 9"/>
          <p:cNvSpPr txBox="1"/>
          <p:nvPr/>
        </p:nvSpPr>
        <p:spPr>
          <a:xfrm>
            <a:off x="1143000" y="5120640"/>
            <a:ext cx="7772400" cy="4114800"/>
          </a:xfrm>
          <a:prstGeom prst="rect">
            <a:avLst/>
          </a:prstGeom>
          <a:noFill/>
        </p:spPr>
        <p:txBody>
          <a:bodyPr wrap="square" lIns="0" tIns="0" rIns="0" bIns="0">
            <a:spAutoFit/>
          </a:bodyPr>
          <a:lstStyle/>
          <a:p>
            <a:pPr algn="l">
              <a:lnSpc>
                <a:spcPct val="140000"/>
              </a:lnSpc>
              <a:spcAft>
                <a:spcPts val="600"/>
              </a:spcAft>
            </a:pPr>
            <a:r>
              <a:rPr sz="1800" b="0">
                <a:solidFill>
                  <a:srgbClr val="14161C"/>
                </a:solidFill>
                <a:latin typeface="Arial"/>
              </a:rPr>
              <a:t>•  Install, dev, build, test, lint — exact commands.</a:t>
            </a:r>
          </a:p>
          <a:p>
            <a:pPr algn="l">
              <a:lnSpc>
                <a:spcPct val="140000"/>
              </a:lnSpc>
              <a:spcAft>
                <a:spcPts val="600"/>
              </a:spcAft>
            </a:pPr>
            <a:r>
              <a:rPr sz="1800" b="0">
                <a:solidFill>
                  <a:srgbClr val="14161C"/>
                </a:solidFill>
                <a:latin typeface="Arial"/>
              </a:rPr>
              <a:t>•  Pre-commit hooks and what they enforce.</a:t>
            </a:r>
          </a:p>
          <a:p>
            <a:pPr algn="l">
              <a:lnSpc>
                <a:spcPct val="140000"/>
              </a:lnSpc>
              <a:spcAft>
                <a:spcPts val="600"/>
              </a:spcAft>
            </a:pPr>
            <a:r>
              <a:rPr sz="1800" b="0">
                <a:solidFill>
                  <a:srgbClr val="14161C"/>
                </a:solidFill>
                <a:latin typeface="Arial"/>
              </a:rPr>
              <a:t>•  Which tests are mandatory before merging.</a:t>
            </a:r>
          </a:p>
          <a:p>
            <a:pPr algn="l">
              <a:lnSpc>
                <a:spcPct val="140000"/>
              </a:lnSpc>
              <a:spcAft>
                <a:spcPts val="600"/>
              </a:spcAft>
            </a:pPr>
            <a:r>
              <a:rPr sz="1800" b="0">
                <a:solidFill>
                  <a:srgbClr val="14161C"/>
                </a:solidFill>
                <a:latin typeface="Arial"/>
              </a:rPr>
              <a:t>•  What to do when a command fails (don't skip; fix or escalate).</a:t>
            </a:r>
          </a:p>
        </p:txBody>
      </p:sp>
      <p:sp>
        <p:nvSpPr>
          <p:cNvPr id="11" name="Rectangle 10"/>
          <p:cNvSpPr/>
          <p:nvPr/>
        </p:nvSpPr>
        <p:spPr>
          <a:xfrm>
            <a:off x="9601200" y="4983480"/>
            <a:ext cx="7543800" cy="4114800"/>
          </a:xfrm>
          <a:prstGeom prst="rect">
            <a:avLst/>
          </a:prstGeom>
          <a:solidFill>
            <a:srgbClr val="1E2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921240" y="5120640"/>
            <a:ext cx="6400800" cy="274320"/>
          </a:xfrm>
          <a:prstGeom prst="rect">
            <a:avLst/>
          </a:prstGeom>
          <a:noFill/>
        </p:spPr>
        <p:txBody>
          <a:bodyPr wrap="square" lIns="0" tIns="0" rIns="0" bIns="0" anchor="t">
            <a:spAutoFit/>
          </a:bodyPr>
          <a:lstStyle/>
          <a:p>
            <a:pPr algn="l"/>
            <a:r>
              <a:rPr sz="1100" b="1">
                <a:solidFill>
                  <a:srgbClr val="3FE0D0"/>
                </a:solidFill>
                <a:latin typeface="Consolas"/>
              </a:rPr>
              <a:t>// EXAMPLE</a:t>
            </a:r>
          </a:p>
        </p:txBody>
      </p:sp>
      <p:sp>
        <p:nvSpPr>
          <p:cNvPr id="13" name="TextBox 12"/>
          <p:cNvSpPr txBox="1"/>
          <p:nvPr/>
        </p:nvSpPr>
        <p:spPr>
          <a:xfrm>
            <a:off x="9921240" y="5440680"/>
            <a:ext cx="6949440" cy="3657600"/>
          </a:xfrm>
          <a:prstGeom prst="rect">
            <a:avLst/>
          </a:prstGeom>
          <a:noFill/>
        </p:spPr>
        <p:txBody>
          <a:bodyPr wrap="square" lIns="0" tIns="0" rIns="0" bIns="0">
            <a:spAutoFit/>
          </a:bodyPr>
          <a:lstStyle/>
          <a:p>
            <a:pPr algn="l">
              <a:lnSpc>
                <a:spcPct val="130000"/>
              </a:lnSpc>
              <a:spcAft>
                <a:spcPts val="600"/>
              </a:spcAft>
            </a:pPr>
            <a:r>
              <a:rPr sz="1500" b="0">
                <a:solidFill>
                  <a:srgbClr val="E8E5DD"/>
                </a:solidFill>
                <a:latin typeface="Consolas"/>
              </a:rPr>
              <a:t># Build / Test</a:t>
            </a:r>
          </a:p>
          <a:p>
            <a:pPr algn="l">
              <a:lnSpc>
                <a:spcPct val="130000"/>
              </a:lnSpc>
              <a:spcAft>
                <a:spcPts val="600"/>
              </a:spcAft>
            </a:pPr>
            <a:endParaRPr sz="1500" b="0">
              <a:solidFill>
                <a:srgbClr val="E8E5DD"/>
              </a:solidFill>
              <a:latin typeface="Consolas"/>
            </a:endParaRPr>
          </a:p>
          <a:p>
            <a:pPr algn="l">
              <a:lnSpc>
                <a:spcPct val="130000"/>
              </a:lnSpc>
              <a:spcAft>
                <a:spcPts val="600"/>
              </a:spcAft>
            </a:pPr>
            <a:r>
              <a:rPr sz="1500" b="0">
                <a:solidFill>
                  <a:srgbClr val="E8E5DD"/>
                </a:solidFill>
                <a:latin typeface="Consolas"/>
              </a:rPr>
              <a:t>- pnpm install</a:t>
            </a:r>
          </a:p>
          <a:p>
            <a:pPr algn="l">
              <a:lnSpc>
                <a:spcPct val="130000"/>
              </a:lnSpc>
              <a:spcAft>
                <a:spcPts val="600"/>
              </a:spcAft>
            </a:pPr>
            <a:r>
              <a:rPr sz="1500" b="0">
                <a:solidFill>
                  <a:srgbClr val="E8E5DD"/>
                </a:solidFill>
                <a:latin typeface="Consolas"/>
              </a:rPr>
              <a:t>- pnpm dev          # localhost:3000</a:t>
            </a:r>
          </a:p>
          <a:p>
            <a:pPr algn="l">
              <a:lnSpc>
                <a:spcPct val="130000"/>
              </a:lnSpc>
              <a:spcAft>
                <a:spcPts val="600"/>
              </a:spcAft>
            </a:pPr>
            <a:r>
              <a:rPr sz="1500" b="0">
                <a:solidFill>
                  <a:srgbClr val="E8E5DD"/>
                </a:solidFill>
                <a:latin typeface="Consolas"/>
              </a:rPr>
              <a:t>- pnpm test         # vitest watch</a:t>
            </a:r>
          </a:p>
          <a:p>
            <a:pPr algn="l">
              <a:lnSpc>
                <a:spcPct val="130000"/>
              </a:lnSpc>
              <a:spcAft>
                <a:spcPts val="600"/>
              </a:spcAft>
            </a:pPr>
            <a:r>
              <a:rPr sz="1500" b="0">
                <a:solidFill>
                  <a:srgbClr val="E8E5DD"/>
                </a:solidFill>
                <a:latin typeface="Consolas"/>
              </a:rPr>
              <a:t>- pnpm test:e2e     # playwright</a:t>
            </a:r>
          </a:p>
          <a:p>
            <a:pPr algn="l">
              <a:lnSpc>
                <a:spcPct val="130000"/>
              </a:lnSpc>
              <a:spcAft>
                <a:spcPts val="600"/>
              </a:spcAft>
            </a:pPr>
            <a:r>
              <a:rPr sz="1500" b="0">
                <a:solidFill>
                  <a:srgbClr val="E8E5DD"/>
                </a:solidFill>
                <a:latin typeface="Consolas"/>
              </a:rPr>
              <a:t>- pnpm lint         # eslint+tsc</a:t>
            </a:r>
          </a:p>
          <a:p>
            <a:pPr algn="l">
              <a:lnSpc>
                <a:spcPct val="130000"/>
              </a:lnSpc>
              <a:spcAft>
                <a:spcPts val="600"/>
              </a:spcAft>
            </a:pPr>
            <a:endParaRPr sz="1500" b="0">
              <a:solidFill>
                <a:srgbClr val="E8E5DD"/>
              </a:solidFill>
              <a:latin typeface="Consolas"/>
            </a:endParaRPr>
          </a:p>
          <a:p>
            <a:pPr algn="l">
              <a:lnSpc>
                <a:spcPct val="130000"/>
              </a:lnSpc>
              <a:spcAft>
                <a:spcPts val="600"/>
              </a:spcAft>
            </a:pPr>
            <a:r>
              <a:rPr sz="1500" b="0">
                <a:solidFill>
                  <a:srgbClr val="E8E5DD"/>
                </a:solidFill>
                <a:latin typeface="Consolas"/>
              </a:rPr>
              <a:t>All four must pass before merge.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 y="475488"/>
            <a:ext cx="7315200" cy="237744"/>
          </a:xfrm>
          <a:prstGeom prst="rect">
            <a:avLst/>
          </a:prstGeom>
          <a:noFill/>
        </p:spPr>
        <p:txBody>
          <a:bodyPr wrap="square" lIns="0" tIns="0" rIns="0" bIns="0" anchor="t">
            <a:spAutoFit/>
          </a:bodyPr>
          <a:lstStyle/>
          <a:p>
            <a:pPr algn="l"/>
            <a:r>
              <a:rPr sz="1000" b="1">
                <a:solidFill>
                  <a:srgbClr val="6B6E78"/>
                </a:solidFill>
                <a:latin typeface="Arial"/>
              </a:rPr>
              <a:t>BUILDING CONTEXT · PART 1</a:t>
            </a:r>
          </a:p>
        </p:txBody>
      </p:sp>
      <p:sp>
        <p:nvSpPr>
          <p:cNvPr id="4" name="TextBox 3"/>
          <p:cNvSpPr txBox="1"/>
          <p:nvPr/>
        </p:nvSpPr>
        <p:spPr>
          <a:xfrm>
            <a:off x="15544800" y="475488"/>
            <a:ext cx="1691640" cy="237744"/>
          </a:xfrm>
          <a:prstGeom prst="rect">
            <a:avLst/>
          </a:prstGeom>
          <a:noFill/>
        </p:spPr>
        <p:txBody>
          <a:bodyPr wrap="square" lIns="0" tIns="0" rIns="0" bIns="0" anchor="t">
            <a:spAutoFit/>
          </a:bodyPr>
          <a:lstStyle/>
          <a:p>
            <a:pPr algn="r"/>
            <a:r>
              <a:rPr sz="1000" b="1">
                <a:solidFill>
                  <a:srgbClr val="6B6E78"/>
                </a:solidFill>
                <a:latin typeface="Arial"/>
              </a:rPr>
              <a:t>12 / 22</a:t>
            </a:r>
          </a:p>
        </p:txBody>
      </p:sp>
      <p:sp>
        <p:nvSpPr>
          <p:cNvPr id="5" name="Rectangle 4"/>
          <p:cNvSpPr/>
          <p:nvPr/>
        </p:nvSpPr>
        <p:spPr>
          <a:xfrm>
            <a:off x="1143000" y="9646920"/>
            <a:ext cx="16002000" cy="8000"/>
          </a:xfrm>
          <a:prstGeom prst="rect">
            <a:avLst/>
          </a:prstGeom>
          <a:solidFill>
            <a:srgbClr val="DC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0" y="384048"/>
            <a:ext cx="6400800" cy="4297680"/>
          </a:xfrm>
          <a:prstGeom prst="rect">
            <a:avLst/>
          </a:prstGeom>
          <a:noFill/>
        </p:spPr>
        <p:txBody>
          <a:bodyPr wrap="square" lIns="0" tIns="0" rIns="0" bIns="0" anchor="t">
            <a:spAutoFit/>
          </a:bodyPr>
          <a:lstStyle/>
          <a:p>
            <a:pPr algn="l"/>
            <a:r>
              <a:rPr sz="39000" b="1">
                <a:solidFill>
                  <a:srgbClr val="E8E5DD"/>
                </a:solidFill>
                <a:latin typeface="Arial"/>
              </a:rPr>
              <a:t>12</a:t>
            </a:r>
          </a:p>
        </p:txBody>
      </p:sp>
      <p:sp>
        <p:nvSpPr>
          <p:cNvPr id="7" name="TextBox 6"/>
          <p:cNvSpPr txBox="1"/>
          <p:nvPr/>
        </p:nvSpPr>
        <p:spPr>
          <a:xfrm>
            <a:off x="1143000" y="2093976"/>
            <a:ext cx="16459200" cy="310896"/>
          </a:xfrm>
          <a:prstGeom prst="rect">
            <a:avLst/>
          </a:prstGeom>
          <a:noFill/>
        </p:spPr>
        <p:txBody>
          <a:bodyPr wrap="square" lIns="0" tIns="0" rIns="0" bIns="0" anchor="t">
            <a:spAutoFit/>
          </a:bodyPr>
          <a:lstStyle/>
          <a:p>
            <a:pPr algn="l"/>
            <a:r>
              <a:rPr sz="1100" b="1">
                <a:solidFill>
                  <a:srgbClr val="F58220"/>
                </a:solidFill>
                <a:latin typeface="Arial"/>
              </a:rPr>
              <a:t>CLAUDE.MD  ·  SECTION 06</a:t>
            </a:r>
          </a:p>
        </p:txBody>
      </p:sp>
      <p:sp>
        <p:nvSpPr>
          <p:cNvPr id="8" name="TextBox 7"/>
          <p:cNvSpPr txBox="1"/>
          <p:nvPr/>
        </p:nvSpPr>
        <p:spPr>
          <a:xfrm>
            <a:off x="1143000" y="2606040"/>
            <a:ext cx="16459200" cy="1371600"/>
          </a:xfrm>
          <a:prstGeom prst="rect">
            <a:avLst/>
          </a:prstGeom>
          <a:noFill/>
        </p:spPr>
        <p:txBody>
          <a:bodyPr wrap="square" lIns="0" tIns="0" rIns="0" bIns="0" anchor="t">
            <a:spAutoFit/>
          </a:bodyPr>
          <a:lstStyle/>
          <a:p>
            <a:pPr algn="l"/>
            <a:r>
              <a:rPr sz="5400" b="1">
                <a:solidFill>
                  <a:srgbClr val="14161C"/>
                </a:solidFill>
                <a:latin typeface="Arial"/>
              </a:rPr>
              <a:t>Section 06 · </a:t>
            </a:r>
            <a:r>
              <a:rPr sz="5400" b="1">
                <a:solidFill>
                  <a:srgbClr val="F58220"/>
                </a:solidFill>
                <a:latin typeface="Arial"/>
              </a:rPr>
              <a:t>Important notes</a:t>
            </a:r>
          </a:p>
        </p:txBody>
      </p:sp>
      <p:sp>
        <p:nvSpPr>
          <p:cNvPr id="9" name="TextBox 8"/>
          <p:cNvSpPr txBox="1"/>
          <p:nvPr/>
        </p:nvSpPr>
        <p:spPr>
          <a:xfrm>
            <a:off x="1143000" y="4297680"/>
            <a:ext cx="15544800" cy="457200"/>
          </a:xfrm>
          <a:prstGeom prst="rect">
            <a:avLst/>
          </a:prstGeom>
          <a:noFill/>
        </p:spPr>
        <p:txBody>
          <a:bodyPr wrap="square" lIns="0" tIns="0" rIns="0" bIns="0" anchor="t">
            <a:spAutoFit/>
          </a:bodyPr>
          <a:lstStyle/>
          <a:p>
            <a:pPr algn="l"/>
            <a:r>
              <a:rPr sz="2000" b="0">
                <a:solidFill>
                  <a:srgbClr val="6B6E78"/>
                </a:solidFill>
                <a:latin typeface="Arial"/>
              </a:rPr>
              <a:t>Things only humans know — and would forget to say.</a:t>
            </a:r>
          </a:p>
        </p:txBody>
      </p:sp>
      <p:sp>
        <p:nvSpPr>
          <p:cNvPr id="10" name="TextBox 9"/>
          <p:cNvSpPr txBox="1"/>
          <p:nvPr/>
        </p:nvSpPr>
        <p:spPr>
          <a:xfrm>
            <a:off x="1143000" y="5120640"/>
            <a:ext cx="7772400" cy="4114800"/>
          </a:xfrm>
          <a:prstGeom prst="rect">
            <a:avLst/>
          </a:prstGeom>
          <a:noFill/>
        </p:spPr>
        <p:txBody>
          <a:bodyPr wrap="square" lIns="0" tIns="0" rIns="0" bIns="0">
            <a:spAutoFit/>
          </a:bodyPr>
          <a:lstStyle/>
          <a:p>
            <a:pPr algn="l">
              <a:lnSpc>
                <a:spcPct val="140000"/>
              </a:lnSpc>
              <a:spcAft>
                <a:spcPts val="600"/>
              </a:spcAft>
            </a:pPr>
            <a:r>
              <a:rPr sz="1800" b="0">
                <a:solidFill>
                  <a:srgbClr val="14161C"/>
                </a:solidFill>
                <a:latin typeface="Arial"/>
              </a:rPr>
              <a:t>•  Gotchas: legacy decisions, deprecated paths, traps.</a:t>
            </a:r>
          </a:p>
          <a:p>
            <a:pPr algn="l">
              <a:lnSpc>
                <a:spcPct val="140000"/>
              </a:lnSpc>
              <a:spcAft>
                <a:spcPts val="600"/>
              </a:spcAft>
            </a:pPr>
            <a:r>
              <a:rPr sz="1800" b="0">
                <a:solidFill>
                  <a:srgbClr val="14161C"/>
                </a:solidFill>
                <a:latin typeface="Arial"/>
              </a:rPr>
              <a:t>•  Security or compliance constraints.</a:t>
            </a:r>
          </a:p>
          <a:p>
            <a:pPr algn="l">
              <a:lnSpc>
                <a:spcPct val="140000"/>
              </a:lnSpc>
              <a:spcAft>
                <a:spcPts val="600"/>
              </a:spcAft>
            </a:pPr>
            <a:r>
              <a:rPr sz="1800" b="0">
                <a:solidFill>
                  <a:srgbClr val="14161C"/>
                </a:solidFill>
                <a:latin typeface="Arial"/>
              </a:rPr>
              <a:t>•  Conventions that contradict the framework default.</a:t>
            </a:r>
          </a:p>
          <a:p>
            <a:pPr algn="l">
              <a:lnSpc>
                <a:spcPct val="140000"/>
              </a:lnSpc>
              <a:spcAft>
                <a:spcPts val="600"/>
              </a:spcAft>
            </a:pPr>
            <a:r>
              <a:rPr sz="1800" b="0">
                <a:solidFill>
                  <a:srgbClr val="14161C"/>
                </a:solidFill>
                <a:latin typeface="Arial"/>
              </a:rPr>
              <a:t>•  Anything that has bitten you twice.</a:t>
            </a:r>
          </a:p>
        </p:txBody>
      </p:sp>
      <p:sp>
        <p:nvSpPr>
          <p:cNvPr id="11" name="Rectangle 10"/>
          <p:cNvSpPr/>
          <p:nvPr/>
        </p:nvSpPr>
        <p:spPr>
          <a:xfrm>
            <a:off x="9601200" y="4983480"/>
            <a:ext cx="7543800" cy="4114800"/>
          </a:xfrm>
          <a:prstGeom prst="rect">
            <a:avLst/>
          </a:prstGeom>
          <a:solidFill>
            <a:srgbClr val="1E2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921240" y="5120640"/>
            <a:ext cx="6400800" cy="274320"/>
          </a:xfrm>
          <a:prstGeom prst="rect">
            <a:avLst/>
          </a:prstGeom>
          <a:noFill/>
        </p:spPr>
        <p:txBody>
          <a:bodyPr wrap="square" lIns="0" tIns="0" rIns="0" bIns="0" anchor="t">
            <a:spAutoFit/>
          </a:bodyPr>
          <a:lstStyle/>
          <a:p>
            <a:pPr algn="l"/>
            <a:r>
              <a:rPr sz="1100" b="1">
                <a:solidFill>
                  <a:srgbClr val="3FE0D0"/>
                </a:solidFill>
                <a:latin typeface="Consolas"/>
              </a:rPr>
              <a:t>// EXAMPLE</a:t>
            </a:r>
          </a:p>
        </p:txBody>
      </p:sp>
      <p:sp>
        <p:nvSpPr>
          <p:cNvPr id="13" name="TextBox 12"/>
          <p:cNvSpPr txBox="1"/>
          <p:nvPr/>
        </p:nvSpPr>
        <p:spPr>
          <a:xfrm>
            <a:off x="9921240" y="5440680"/>
            <a:ext cx="6949440" cy="3657600"/>
          </a:xfrm>
          <a:prstGeom prst="rect">
            <a:avLst/>
          </a:prstGeom>
          <a:noFill/>
        </p:spPr>
        <p:txBody>
          <a:bodyPr wrap="square" lIns="0" tIns="0" rIns="0" bIns="0">
            <a:spAutoFit/>
          </a:bodyPr>
          <a:lstStyle/>
          <a:p>
            <a:pPr algn="l">
              <a:lnSpc>
                <a:spcPct val="130000"/>
              </a:lnSpc>
              <a:spcAft>
                <a:spcPts val="600"/>
              </a:spcAft>
            </a:pPr>
            <a:r>
              <a:rPr sz="1500" b="0">
                <a:solidFill>
                  <a:srgbClr val="E8E5DD"/>
                </a:solidFill>
                <a:latin typeface="Consolas"/>
              </a:rPr>
              <a:t># Important notes</a:t>
            </a:r>
          </a:p>
          <a:p>
            <a:pPr algn="l">
              <a:lnSpc>
                <a:spcPct val="130000"/>
              </a:lnSpc>
              <a:spcAft>
                <a:spcPts val="600"/>
              </a:spcAft>
            </a:pPr>
            <a:endParaRPr sz="1500" b="0">
              <a:solidFill>
                <a:srgbClr val="E8E5DD"/>
              </a:solidFill>
              <a:latin typeface="Consolas"/>
            </a:endParaRPr>
          </a:p>
          <a:p>
            <a:pPr algn="l">
              <a:lnSpc>
                <a:spcPct val="130000"/>
              </a:lnSpc>
              <a:spcAft>
                <a:spcPts val="600"/>
              </a:spcAft>
            </a:pPr>
            <a:r>
              <a:rPr sz="1500" b="0">
                <a:solidFill>
                  <a:srgbClr val="E8E5DD"/>
                </a:solidFill>
                <a:latin typeface="Consolas"/>
              </a:rPr>
              <a:t>- Member emails are PII;</a:t>
            </a:r>
          </a:p>
          <a:p>
            <a:pPr algn="l">
              <a:lnSpc>
                <a:spcPct val="130000"/>
              </a:lnSpc>
              <a:spcAft>
                <a:spcPts val="600"/>
              </a:spcAft>
            </a:pPr>
            <a:r>
              <a:rPr sz="1500" b="0">
                <a:solidFill>
                  <a:srgbClr val="E8E5DD"/>
                </a:solidFill>
                <a:latin typeface="Consolas"/>
              </a:rPr>
              <a:t>  never log full address.</a:t>
            </a:r>
          </a:p>
          <a:p>
            <a:pPr algn="l">
              <a:lnSpc>
                <a:spcPct val="130000"/>
              </a:lnSpc>
              <a:spcAft>
                <a:spcPts val="600"/>
              </a:spcAft>
            </a:pPr>
            <a:r>
              <a:rPr sz="1500" b="0">
                <a:solidFill>
                  <a:srgbClr val="E8E5DD"/>
                </a:solidFill>
                <a:latin typeface="Consolas"/>
              </a:rPr>
              <a:t>- Cron lives in /scripts; we</a:t>
            </a:r>
          </a:p>
          <a:p>
            <a:pPr algn="l">
              <a:lnSpc>
                <a:spcPct val="130000"/>
              </a:lnSpc>
              <a:spcAft>
                <a:spcPts val="600"/>
              </a:spcAft>
            </a:pPr>
            <a:r>
              <a:rPr sz="1500" b="0">
                <a:solidFill>
                  <a:srgbClr val="E8E5DD"/>
                </a:solidFill>
                <a:latin typeface="Consolas"/>
              </a:rPr>
              <a:t>  do NOT use Vercel cron.</a:t>
            </a:r>
          </a:p>
          <a:p>
            <a:pPr algn="l">
              <a:lnSpc>
                <a:spcPct val="130000"/>
              </a:lnSpc>
              <a:spcAft>
                <a:spcPts val="600"/>
              </a:spcAft>
            </a:pPr>
            <a:r>
              <a:rPr sz="1500" b="0">
                <a:solidFill>
                  <a:srgbClr val="E8E5DD"/>
                </a:solidFill>
                <a:latin typeface="Consolas"/>
              </a:rPr>
              <a:t>- Migrations are manual on prod.</a:t>
            </a:r>
          </a:p>
          <a:p>
            <a:pPr algn="l">
              <a:lnSpc>
                <a:spcPct val="130000"/>
              </a:lnSpc>
              <a:spcAft>
                <a:spcPts val="600"/>
              </a:spcAft>
            </a:pPr>
            <a:r>
              <a:rPr sz="1500" b="0">
                <a:solidFill>
                  <a:srgbClr val="E8E5DD"/>
                </a:solidFill>
                <a:latin typeface="Consolas"/>
              </a:rPr>
              <a:t>- Auth0 webhook secret is</a:t>
            </a:r>
          </a:p>
          <a:p>
            <a:pPr algn="l">
              <a:lnSpc>
                <a:spcPct val="130000"/>
              </a:lnSpc>
              <a:spcAft>
                <a:spcPts val="600"/>
              </a:spcAft>
            </a:pPr>
            <a:r>
              <a:rPr sz="1500" b="0">
                <a:solidFill>
                  <a:srgbClr val="E8E5DD"/>
                </a:solidFill>
                <a:latin typeface="Consolas"/>
              </a:rPr>
              <a:t>  in 1Password, not env file.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 y="475488"/>
            <a:ext cx="7315200" cy="237744"/>
          </a:xfrm>
          <a:prstGeom prst="rect">
            <a:avLst/>
          </a:prstGeom>
          <a:noFill/>
        </p:spPr>
        <p:txBody>
          <a:bodyPr wrap="square" lIns="0" tIns="0" rIns="0" bIns="0" anchor="t">
            <a:spAutoFit/>
          </a:bodyPr>
          <a:lstStyle/>
          <a:p>
            <a:pPr algn="l"/>
            <a:r>
              <a:rPr sz="1000" b="1">
                <a:solidFill>
                  <a:srgbClr val="6B6E78"/>
                </a:solidFill>
                <a:latin typeface="Arial"/>
              </a:rPr>
              <a:t>BUILDING CONTEXT · PART 1</a:t>
            </a:r>
          </a:p>
        </p:txBody>
      </p:sp>
      <p:sp>
        <p:nvSpPr>
          <p:cNvPr id="4" name="TextBox 3"/>
          <p:cNvSpPr txBox="1"/>
          <p:nvPr/>
        </p:nvSpPr>
        <p:spPr>
          <a:xfrm>
            <a:off x="15544800" y="475488"/>
            <a:ext cx="1691640" cy="237744"/>
          </a:xfrm>
          <a:prstGeom prst="rect">
            <a:avLst/>
          </a:prstGeom>
          <a:noFill/>
        </p:spPr>
        <p:txBody>
          <a:bodyPr wrap="square" lIns="0" tIns="0" rIns="0" bIns="0" anchor="t">
            <a:spAutoFit/>
          </a:bodyPr>
          <a:lstStyle/>
          <a:p>
            <a:pPr algn="r"/>
            <a:r>
              <a:rPr sz="1000" b="1">
                <a:solidFill>
                  <a:srgbClr val="6B6E78"/>
                </a:solidFill>
                <a:latin typeface="Arial"/>
              </a:rPr>
              <a:t>13 / 22</a:t>
            </a:r>
          </a:p>
        </p:txBody>
      </p:sp>
      <p:sp>
        <p:nvSpPr>
          <p:cNvPr id="5" name="Rectangle 4"/>
          <p:cNvSpPr/>
          <p:nvPr/>
        </p:nvSpPr>
        <p:spPr>
          <a:xfrm>
            <a:off x="1143000" y="9646920"/>
            <a:ext cx="16002000" cy="8000"/>
          </a:xfrm>
          <a:prstGeom prst="rect">
            <a:avLst/>
          </a:prstGeom>
          <a:solidFill>
            <a:srgbClr val="DC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0" y="384048"/>
            <a:ext cx="6400800" cy="4297680"/>
          </a:xfrm>
          <a:prstGeom prst="rect">
            <a:avLst/>
          </a:prstGeom>
          <a:noFill/>
        </p:spPr>
        <p:txBody>
          <a:bodyPr wrap="square" lIns="0" tIns="0" rIns="0" bIns="0" anchor="t">
            <a:spAutoFit/>
          </a:bodyPr>
          <a:lstStyle/>
          <a:p>
            <a:pPr algn="l"/>
            <a:r>
              <a:rPr sz="39000" b="1">
                <a:solidFill>
                  <a:srgbClr val="E8E5DD"/>
                </a:solidFill>
                <a:latin typeface="Arial"/>
              </a:rPr>
              <a:t>13</a:t>
            </a:r>
          </a:p>
        </p:txBody>
      </p:sp>
      <p:sp>
        <p:nvSpPr>
          <p:cNvPr id="7" name="TextBox 6"/>
          <p:cNvSpPr txBox="1"/>
          <p:nvPr/>
        </p:nvSpPr>
        <p:spPr>
          <a:xfrm>
            <a:off x="1143000" y="2093976"/>
            <a:ext cx="16459200" cy="310896"/>
          </a:xfrm>
          <a:prstGeom prst="rect">
            <a:avLst/>
          </a:prstGeom>
          <a:noFill/>
        </p:spPr>
        <p:txBody>
          <a:bodyPr wrap="square" lIns="0" tIns="0" rIns="0" bIns="0" anchor="t">
            <a:spAutoFit/>
          </a:bodyPr>
          <a:lstStyle/>
          <a:p>
            <a:pPr algn="l"/>
            <a:r>
              <a:rPr sz="1100" b="1">
                <a:solidFill>
                  <a:srgbClr val="F58220"/>
                </a:solidFill>
                <a:latin typeface="Arial"/>
              </a:rPr>
              <a:t>COMMANDMENT II  ·  CALLOUT</a:t>
            </a:r>
          </a:p>
        </p:txBody>
      </p:sp>
      <p:sp>
        <p:nvSpPr>
          <p:cNvPr id="8" name="TextBox 7"/>
          <p:cNvSpPr txBox="1"/>
          <p:nvPr/>
        </p:nvSpPr>
        <p:spPr>
          <a:xfrm>
            <a:off x="1143000" y="2606040"/>
            <a:ext cx="16459200" cy="2377440"/>
          </a:xfrm>
          <a:prstGeom prst="rect">
            <a:avLst/>
          </a:prstGeom>
          <a:noFill/>
        </p:spPr>
        <p:txBody>
          <a:bodyPr wrap="square" lIns="0" tIns="0" rIns="0" bIns="0" anchor="t">
            <a:spAutoFit/>
          </a:bodyPr>
          <a:lstStyle/>
          <a:p>
            <a:pPr algn="l"/>
            <a:r>
              <a:rPr sz="6800" b="1">
                <a:solidFill>
                  <a:srgbClr val="14161C"/>
                </a:solidFill>
                <a:latin typeface="Arial"/>
              </a:rPr>
              <a:t>CLAUDE.md is a </a:t>
            </a:r>
            <a:r>
              <a:rPr sz="6800" b="1">
                <a:solidFill>
                  <a:srgbClr val="F58220"/>
                </a:solidFill>
                <a:latin typeface="Arial"/>
              </a:rPr>
              <a:t>router</a:t>
            </a:r>
            <a:r>
              <a:rPr sz="6800" b="1">
                <a:solidFill>
                  <a:srgbClr val="14161C"/>
                </a:solidFill>
                <a:latin typeface="Arial"/>
              </a:rPr>
              <a:t>,
not a repository.</a:t>
            </a:r>
          </a:p>
        </p:txBody>
      </p:sp>
      <p:sp>
        <p:nvSpPr>
          <p:cNvPr id="9" name="TextBox 8"/>
          <p:cNvSpPr txBox="1"/>
          <p:nvPr/>
        </p:nvSpPr>
        <p:spPr>
          <a:xfrm>
            <a:off x="1143000" y="5486400"/>
            <a:ext cx="15544800" cy="365760"/>
          </a:xfrm>
          <a:prstGeom prst="rect">
            <a:avLst/>
          </a:prstGeom>
          <a:noFill/>
        </p:spPr>
        <p:txBody>
          <a:bodyPr wrap="square" lIns="0" tIns="0" rIns="0" bIns="0" anchor="t">
            <a:spAutoFit/>
          </a:bodyPr>
          <a:lstStyle/>
          <a:p>
            <a:pPr algn="l"/>
            <a:r>
              <a:rPr sz="1200" b="1">
                <a:solidFill>
                  <a:srgbClr val="6B6E78"/>
                </a:solidFill>
                <a:latin typeface="Arial"/>
              </a:rPr>
              <a:t>[DIAGRAM TO INSERT: side-by-side CLAUDE.md panels — bloated 200-line file vs. one-screen router file]</a:t>
            </a:r>
          </a:p>
        </p:txBody>
      </p:sp>
      <p:sp>
        <p:nvSpPr>
          <p:cNvPr id="10" name="Rectangle 9"/>
          <p:cNvSpPr/>
          <p:nvPr/>
        </p:nvSpPr>
        <p:spPr>
          <a:xfrm>
            <a:off x="1143000" y="6035040"/>
            <a:ext cx="7772400" cy="2926080"/>
          </a:xfrm>
          <a:prstGeom prst="rect">
            <a:avLst/>
          </a:prstGeom>
          <a:solidFill>
            <a:srgbClr val="FFFFFF"/>
          </a:solidFill>
          <a:ln w="15875">
            <a:solidFill>
              <a:srgbClr val="B5341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417320" y="6217920"/>
            <a:ext cx="7223760" cy="320040"/>
          </a:xfrm>
          <a:prstGeom prst="rect">
            <a:avLst/>
          </a:prstGeom>
          <a:noFill/>
        </p:spPr>
        <p:txBody>
          <a:bodyPr wrap="square" lIns="0" tIns="0" rIns="0" bIns="0" anchor="t">
            <a:spAutoFit/>
          </a:bodyPr>
          <a:lstStyle/>
          <a:p>
            <a:pPr algn="l"/>
            <a:r>
              <a:rPr sz="1200" b="1">
                <a:solidFill>
                  <a:srgbClr val="B5341B"/>
                </a:solidFill>
                <a:latin typeface="Arial"/>
              </a:rPr>
              <a:t>BLOATED  ·  300+ lines</a:t>
            </a:r>
          </a:p>
        </p:txBody>
      </p:sp>
      <p:sp>
        <p:nvSpPr>
          <p:cNvPr id="12" name="TextBox 11"/>
          <p:cNvSpPr txBox="1"/>
          <p:nvPr/>
        </p:nvSpPr>
        <p:spPr>
          <a:xfrm>
            <a:off x="1417320" y="6675120"/>
            <a:ext cx="7223760" cy="2011680"/>
          </a:xfrm>
          <a:prstGeom prst="rect">
            <a:avLst/>
          </a:prstGeom>
          <a:noFill/>
        </p:spPr>
        <p:txBody>
          <a:bodyPr wrap="square" lIns="0" tIns="0" rIns="0" bIns="0">
            <a:spAutoFit/>
          </a:bodyPr>
          <a:lstStyle/>
          <a:p>
            <a:pPr algn="l">
              <a:lnSpc>
                <a:spcPct val="130000"/>
              </a:lnSpc>
              <a:spcAft>
                <a:spcPts val="600"/>
              </a:spcAft>
            </a:pPr>
            <a:r>
              <a:rPr sz="1300" b="0">
                <a:solidFill>
                  <a:srgbClr val="14161C"/>
                </a:solidFill>
                <a:latin typeface="Consolas"/>
              </a:rPr>
              <a:t># CLAUDE.md  (excerpt)</a:t>
            </a:r>
          </a:p>
          <a:p>
            <a:pPr algn="l">
              <a:lnSpc>
                <a:spcPct val="130000"/>
              </a:lnSpc>
              <a:spcAft>
                <a:spcPts val="600"/>
              </a:spcAft>
            </a:pPr>
            <a:r>
              <a:rPr sz="1300" b="0">
                <a:solidFill>
                  <a:srgbClr val="14161C"/>
                </a:solidFill>
                <a:latin typeface="Consolas"/>
              </a:rPr>
              <a:t>## Database schema</a:t>
            </a:r>
          </a:p>
          <a:p>
            <a:pPr algn="l">
              <a:lnSpc>
                <a:spcPct val="130000"/>
              </a:lnSpc>
              <a:spcAft>
                <a:spcPts val="600"/>
              </a:spcAft>
            </a:pPr>
            <a:r>
              <a:rPr sz="1300" b="0">
                <a:solidFill>
                  <a:srgbClr val="14161C"/>
                </a:solidFill>
                <a:latin typeface="Consolas"/>
              </a:rPr>
              <a:t>  - members table: id, email, role…</a:t>
            </a:r>
          </a:p>
          <a:p>
            <a:pPr algn="l">
              <a:lnSpc>
                <a:spcPct val="130000"/>
              </a:lnSpc>
              <a:spcAft>
                <a:spcPts val="600"/>
              </a:spcAft>
            </a:pPr>
            <a:r>
              <a:rPr sz="1300" b="0">
                <a:solidFill>
                  <a:srgbClr val="14161C"/>
                </a:solidFill>
                <a:latin typeface="Consolas"/>
              </a:rPr>
              <a:t>## All naming conventions</a:t>
            </a:r>
          </a:p>
          <a:p>
            <a:pPr algn="l">
              <a:lnSpc>
                <a:spcPct val="130000"/>
              </a:lnSpc>
              <a:spcAft>
                <a:spcPts val="600"/>
              </a:spcAft>
            </a:pPr>
            <a:r>
              <a:rPr sz="1300" b="0">
                <a:solidFill>
                  <a:srgbClr val="14161C"/>
                </a:solidFill>
                <a:latin typeface="Consolas"/>
              </a:rPr>
              <a:t>  - file naming, var naming, fn naming…</a:t>
            </a:r>
          </a:p>
          <a:p>
            <a:pPr algn="l">
              <a:lnSpc>
                <a:spcPct val="130000"/>
              </a:lnSpc>
              <a:spcAft>
                <a:spcPts val="600"/>
              </a:spcAft>
            </a:pPr>
            <a:r>
              <a:rPr sz="1300" b="0">
                <a:solidFill>
                  <a:srgbClr val="14161C"/>
                </a:solidFill>
                <a:latin typeface="Consolas"/>
              </a:rPr>
              <a:t>## Full deploy runbook</a:t>
            </a:r>
          </a:p>
          <a:p>
            <a:pPr algn="l">
              <a:lnSpc>
                <a:spcPct val="130000"/>
              </a:lnSpc>
              <a:spcAft>
                <a:spcPts val="600"/>
              </a:spcAft>
            </a:pPr>
            <a:r>
              <a:rPr sz="1300" b="0">
                <a:solidFill>
                  <a:srgbClr val="14161C"/>
                </a:solidFill>
                <a:latin typeface="Consolas"/>
              </a:rPr>
              <a:t>## Onboarding for new devs</a:t>
            </a:r>
          </a:p>
          <a:p>
            <a:pPr algn="l">
              <a:lnSpc>
                <a:spcPct val="130000"/>
              </a:lnSpc>
              <a:spcAft>
                <a:spcPts val="600"/>
              </a:spcAft>
            </a:pPr>
            <a:r>
              <a:rPr sz="1300" b="0">
                <a:solidFill>
                  <a:srgbClr val="14161C"/>
                </a:solidFill>
                <a:latin typeface="Consolas"/>
              </a:rPr>
              <a:t>## Stand-up rituals</a:t>
            </a:r>
          </a:p>
          <a:p>
            <a:pPr algn="l">
              <a:lnSpc>
                <a:spcPct val="130000"/>
              </a:lnSpc>
              <a:spcAft>
                <a:spcPts val="600"/>
              </a:spcAft>
            </a:pPr>
            <a:r>
              <a:rPr sz="1300" b="0">
                <a:solidFill>
                  <a:srgbClr val="14161C"/>
                </a:solidFill>
                <a:latin typeface="Consolas"/>
              </a:rPr>
              <a:t>(model pays this on every turn)</a:t>
            </a:r>
          </a:p>
        </p:txBody>
      </p:sp>
      <p:sp>
        <p:nvSpPr>
          <p:cNvPr id="13" name="Rectangle 12"/>
          <p:cNvSpPr/>
          <p:nvPr/>
        </p:nvSpPr>
        <p:spPr>
          <a:xfrm>
            <a:off x="9601200" y="6035040"/>
            <a:ext cx="7543800" cy="2926080"/>
          </a:xfrm>
          <a:prstGeom prst="rect">
            <a:avLst/>
          </a:prstGeom>
          <a:solidFill>
            <a:srgbClr val="FFFFFF"/>
          </a:solidFill>
          <a:ln w="15875">
            <a:solidFill>
              <a:srgbClr val="F58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875520" y="6217920"/>
            <a:ext cx="6995160" cy="320040"/>
          </a:xfrm>
          <a:prstGeom prst="rect">
            <a:avLst/>
          </a:prstGeom>
          <a:noFill/>
        </p:spPr>
        <p:txBody>
          <a:bodyPr wrap="square" lIns="0" tIns="0" rIns="0" bIns="0" anchor="t">
            <a:spAutoFit/>
          </a:bodyPr>
          <a:lstStyle/>
          <a:p>
            <a:pPr algn="l"/>
            <a:r>
              <a:rPr sz="1200" b="1">
                <a:solidFill>
                  <a:srgbClr val="F58220"/>
                </a:solidFill>
                <a:latin typeface="Arial"/>
              </a:rPr>
              <a:t>ROUTER  ·  one screen</a:t>
            </a:r>
          </a:p>
        </p:txBody>
      </p:sp>
      <p:sp>
        <p:nvSpPr>
          <p:cNvPr id="15" name="TextBox 14"/>
          <p:cNvSpPr txBox="1"/>
          <p:nvPr/>
        </p:nvSpPr>
        <p:spPr>
          <a:xfrm>
            <a:off x="9875520" y="6675120"/>
            <a:ext cx="6995160" cy="2011680"/>
          </a:xfrm>
          <a:prstGeom prst="rect">
            <a:avLst/>
          </a:prstGeom>
          <a:noFill/>
        </p:spPr>
        <p:txBody>
          <a:bodyPr wrap="square" lIns="0" tIns="0" rIns="0" bIns="0">
            <a:spAutoFit/>
          </a:bodyPr>
          <a:lstStyle/>
          <a:p>
            <a:pPr algn="l">
              <a:lnSpc>
                <a:spcPct val="130000"/>
              </a:lnSpc>
              <a:spcAft>
                <a:spcPts val="600"/>
              </a:spcAft>
            </a:pPr>
            <a:r>
              <a:rPr sz="1300" b="0">
                <a:solidFill>
                  <a:srgbClr val="14161C"/>
                </a:solidFill>
                <a:latin typeface="Consolas"/>
              </a:rPr>
              <a:t># CLAUDE.md</a:t>
            </a:r>
          </a:p>
          <a:p>
            <a:pPr algn="l">
              <a:lnSpc>
                <a:spcPct val="130000"/>
              </a:lnSpc>
              <a:spcAft>
                <a:spcPts val="600"/>
              </a:spcAft>
            </a:pPr>
            <a:r>
              <a:rPr sz="1300" b="0">
                <a:solidFill>
                  <a:srgbClr val="14161C"/>
                </a:solidFill>
                <a:latin typeface="Consolas"/>
              </a:rPr>
              <a:t>Overview · Stack · Structure</a:t>
            </a:r>
          </a:p>
          <a:p>
            <a:pPr algn="l">
              <a:lnSpc>
                <a:spcPct val="130000"/>
              </a:lnSpc>
              <a:spcAft>
                <a:spcPts val="600"/>
              </a:spcAft>
            </a:pPr>
            <a:r>
              <a:rPr sz="1300" b="0">
                <a:solidFill>
                  <a:srgbClr val="14161C"/>
                </a:solidFill>
                <a:latin typeface="Consolas"/>
              </a:rPr>
              <a:t>Conventions · Build/test · Notes</a:t>
            </a:r>
          </a:p>
          <a:p>
            <a:pPr algn="l">
              <a:lnSpc>
                <a:spcPct val="130000"/>
              </a:lnSpc>
              <a:spcAft>
                <a:spcPts val="600"/>
              </a:spcAft>
            </a:pPr>
            <a:endParaRPr sz="1300" b="0">
              <a:solidFill>
                <a:srgbClr val="14161C"/>
              </a:solidFill>
              <a:latin typeface="Consolas"/>
            </a:endParaRPr>
          </a:p>
          <a:p>
            <a:pPr algn="l">
              <a:lnSpc>
                <a:spcPct val="130000"/>
              </a:lnSpc>
              <a:spcAft>
                <a:spcPts val="600"/>
              </a:spcAft>
            </a:pPr>
            <a:r>
              <a:rPr sz="1300" b="0">
                <a:solidFill>
                  <a:srgbClr val="14161C"/>
                </a:solidFill>
                <a:latin typeface="Consolas"/>
              </a:rPr>
              <a:t>→ See SKILL.md/db-schema</a:t>
            </a:r>
          </a:p>
          <a:p>
            <a:pPr algn="l">
              <a:lnSpc>
                <a:spcPct val="130000"/>
              </a:lnSpc>
              <a:spcAft>
                <a:spcPts val="600"/>
              </a:spcAft>
            </a:pPr>
            <a:r>
              <a:rPr sz="1300" b="0">
                <a:solidFill>
                  <a:srgbClr val="14161C"/>
                </a:solidFill>
                <a:latin typeface="Consolas"/>
              </a:rPr>
              <a:t>→ See SKILL.md/deploy-runbook</a:t>
            </a:r>
          </a:p>
          <a:p>
            <a:pPr algn="l">
              <a:lnSpc>
                <a:spcPct val="130000"/>
              </a:lnSpc>
              <a:spcAft>
                <a:spcPts val="600"/>
              </a:spcAft>
            </a:pPr>
            <a:r>
              <a:rPr sz="1300" b="0">
                <a:solidFill>
                  <a:srgbClr val="14161C"/>
                </a:solidFill>
                <a:latin typeface="Consolas"/>
              </a:rPr>
              <a:t>→ See docs/ONBOARDING.md</a:t>
            </a:r>
          </a:p>
          <a:p>
            <a:pPr algn="l">
              <a:lnSpc>
                <a:spcPct val="130000"/>
              </a:lnSpc>
              <a:spcAft>
                <a:spcPts val="600"/>
              </a:spcAft>
            </a:pPr>
            <a:r>
              <a:rPr sz="1300" b="0">
                <a:solidFill>
                  <a:srgbClr val="14161C"/>
                </a:solidFill>
                <a:latin typeface="Consolas"/>
              </a:rPr>
              <a:t>(model pays only what's needed)</a:t>
            </a:r>
          </a:p>
        </p:txBody>
      </p:sp>
      <p:sp>
        <p:nvSpPr>
          <p:cNvPr id="16" name="Rectangle 15"/>
          <p:cNvSpPr/>
          <p:nvPr/>
        </p:nvSpPr>
        <p:spPr>
          <a:xfrm>
            <a:off x="1143000" y="9052560"/>
            <a:ext cx="6995160" cy="384048"/>
          </a:xfrm>
          <a:prstGeom prst="rect">
            <a:avLst/>
          </a:prstGeom>
          <a:noFill/>
          <a:ln w="9525">
            <a:solidFill>
              <a:srgbClr val="F58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307592" y="9144000"/>
            <a:ext cx="6665976" cy="237744"/>
          </a:xfrm>
          <a:prstGeom prst="rect">
            <a:avLst/>
          </a:prstGeom>
          <a:noFill/>
        </p:spPr>
        <p:txBody>
          <a:bodyPr wrap="square" lIns="0" tIns="0" rIns="0" bIns="0" anchor="t">
            <a:spAutoFit/>
          </a:bodyPr>
          <a:lstStyle/>
          <a:p>
            <a:pPr algn="l"/>
            <a:r>
              <a:rPr sz="1000" b="1">
                <a:solidFill>
                  <a:srgbClr val="F58220"/>
                </a:solidFill>
                <a:latin typeface="Arial"/>
              </a:rPr>
              <a:t>ROUTE TO IT — DON'T REPEAT IT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 y="475488"/>
            <a:ext cx="7315200" cy="237744"/>
          </a:xfrm>
          <a:prstGeom prst="rect">
            <a:avLst/>
          </a:prstGeom>
          <a:noFill/>
        </p:spPr>
        <p:txBody>
          <a:bodyPr wrap="square" lIns="0" tIns="0" rIns="0" bIns="0" anchor="t">
            <a:spAutoFit/>
          </a:bodyPr>
          <a:lstStyle/>
          <a:p>
            <a:pPr algn="l"/>
            <a:r>
              <a:rPr sz="1000" b="1">
                <a:solidFill>
                  <a:srgbClr val="6B6E78"/>
                </a:solidFill>
                <a:latin typeface="Arial"/>
              </a:rPr>
              <a:t>BUILDING CONTEXT · PART 1</a:t>
            </a:r>
          </a:p>
        </p:txBody>
      </p:sp>
      <p:sp>
        <p:nvSpPr>
          <p:cNvPr id="4" name="TextBox 3"/>
          <p:cNvSpPr txBox="1"/>
          <p:nvPr/>
        </p:nvSpPr>
        <p:spPr>
          <a:xfrm>
            <a:off x="15544800" y="475488"/>
            <a:ext cx="1691640" cy="237744"/>
          </a:xfrm>
          <a:prstGeom prst="rect">
            <a:avLst/>
          </a:prstGeom>
          <a:noFill/>
        </p:spPr>
        <p:txBody>
          <a:bodyPr wrap="square" lIns="0" tIns="0" rIns="0" bIns="0" anchor="t">
            <a:spAutoFit/>
          </a:bodyPr>
          <a:lstStyle/>
          <a:p>
            <a:pPr algn="r"/>
            <a:r>
              <a:rPr sz="1000" b="1">
                <a:solidFill>
                  <a:srgbClr val="6B6E78"/>
                </a:solidFill>
                <a:latin typeface="Arial"/>
              </a:rPr>
              <a:t>14 / 22</a:t>
            </a:r>
          </a:p>
        </p:txBody>
      </p:sp>
      <p:sp>
        <p:nvSpPr>
          <p:cNvPr id="5" name="Rectangle 4"/>
          <p:cNvSpPr/>
          <p:nvPr/>
        </p:nvSpPr>
        <p:spPr>
          <a:xfrm>
            <a:off x="1143000" y="9646920"/>
            <a:ext cx="16002000" cy="8000"/>
          </a:xfrm>
          <a:prstGeom prst="rect">
            <a:avLst/>
          </a:prstGeom>
          <a:solidFill>
            <a:srgbClr val="DC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0" y="384048"/>
            <a:ext cx="6400800" cy="4297680"/>
          </a:xfrm>
          <a:prstGeom prst="rect">
            <a:avLst/>
          </a:prstGeom>
          <a:noFill/>
        </p:spPr>
        <p:txBody>
          <a:bodyPr wrap="square" lIns="0" tIns="0" rIns="0" bIns="0" anchor="t">
            <a:spAutoFit/>
          </a:bodyPr>
          <a:lstStyle/>
          <a:p>
            <a:pPr algn="l"/>
            <a:r>
              <a:rPr sz="39000" b="1">
                <a:solidFill>
                  <a:srgbClr val="E8E5DD"/>
                </a:solidFill>
                <a:latin typeface="Arial"/>
              </a:rPr>
              <a:t>14</a:t>
            </a:r>
          </a:p>
        </p:txBody>
      </p:sp>
      <p:sp>
        <p:nvSpPr>
          <p:cNvPr id="7" name="TextBox 6"/>
          <p:cNvSpPr txBox="1"/>
          <p:nvPr/>
        </p:nvSpPr>
        <p:spPr>
          <a:xfrm>
            <a:off x="1143000" y="2093976"/>
            <a:ext cx="16459200" cy="310896"/>
          </a:xfrm>
          <a:prstGeom prst="rect">
            <a:avLst/>
          </a:prstGeom>
          <a:noFill/>
        </p:spPr>
        <p:txBody>
          <a:bodyPr wrap="square" lIns="0" tIns="0" rIns="0" bIns="0" anchor="t">
            <a:spAutoFit/>
          </a:bodyPr>
          <a:lstStyle/>
          <a:p>
            <a:pPr algn="l"/>
            <a:r>
              <a:rPr sz="1100" b="1">
                <a:solidFill>
                  <a:srgbClr val="F58220"/>
                </a:solidFill>
                <a:latin typeface="Arial"/>
              </a:rPr>
              <a:t>COMMANDMENT III  ·  CALLOUT</a:t>
            </a:r>
          </a:p>
        </p:txBody>
      </p:sp>
      <p:sp>
        <p:nvSpPr>
          <p:cNvPr id="8" name="TextBox 7"/>
          <p:cNvSpPr txBox="1"/>
          <p:nvPr/>
        </p:nvSpPr>
        <p:spPr>
          <a:xfrm>
            <a:off x="1143000" y="2606040"/>
            <a:ext cx="16459200" cy="2377440"/>
          </a:xfrm>
          <a:prstGeom prst="rect">
            <a:avLst/>
          </a:prstGeom>
          <a:noFill/>
        </p:spPr>
        <p:txBody>
          <a:bodyPr wrap="square" lIns="0" tIns="0" rIns="0" bIns="0" anchor="t">
            <a:spAutoFit/>
          </a:bodyPr>
          <a:lstStyle/>
          <a:p>
            <a:pPr algn="l"/>
            <a:r>
              <a:rPr sz="7200" b="1">
                <a:solidFill>
                  <a:srgbClr val="14161C"/>
                </a:solidFill>
                <a:latin typeface="Arial"/>
              </a:rPr>
              <a:t>Skills over instructions.</a:t>
            </a:r>
          </a:p>
        </p:txBody>
      </p:sp>
      <p:sp>
        <p:nvSpPr>
          <p:cNvPr id="9" name="TextBox 8"/>
          <p:cNvSpPr txBox="1"/>
          <p:nvPr/>
        </p:nvSpPr>
        <p:spPr>
          <a:xfrm>
            <a:off x="1143000" y="4572000"/>
            <a:ext cx="16459200" cy="548640"/>
          </a:xfrm>
          <a:prstGeom prst="rect">
            <a:avLst/>
          </a:prstGeom>
          <a:noFill/>
        </p:spPr>
        <p:txBody>
          <a:bodyPr wrap="square" lIns="0" tIns="0" rIns="0" bIns="0" anchor="t">
            <a:spAutoFit/>
          </a:bodyPr>
          <a:lstStyle/>
          <a:p>
            <a:pPr algn="l"/>
            <a:r>
              <a:rPr sz="2200" b="0">
                <a:solidFill>
                  <a:srgbClr val="6B6E78"/>
                </a:solidFill>
                <a:latin typeface="Arial"/>
              </a:rPr>
              <a:t>The rule of thumb — sometimes vs. always.</a:t>
            </a:r>
          </a:p>
        </p:txBody>
      </p:sp>
      <p:sp>
        <p:nvSpPr>
          <p:cNvPr id="10" name="Rectangle 9"/>
          <p:cNvSpPr/>
          <p:nvPr/>
        </p:nvSpPr>
        <p:spPr>
          <a:xfrm>
            <a:off x="1143000" y="5349240"/>
            <a:ext cx="7772400" cy="3474720"/>
          </a:xfrm>
          <a:prstGeom prst="rect">
            <a:avLst/>
          </a:prstGeom>
          <a:solidFill>
            <a:srgbClr val="FFFFFF"/>
          </a:solidFill>
          <a:ln w="15875">
            <a:solidFill>
              <a:srgbClr val="F58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417320" y="5577840"/>
            <a:ext cx="5486400" cy="365760"/>
          </a:xfrm>
          <a:prstGeom prst="rect">
            <a:avLst/>
          </a:prstGeom>
          <a:noFill/>
        </p:spPr>
        <p:txBody>
          <a:bodyPr wrap="square" lIns="0" tIns="0" rIns="0" bIns="0" anchor="t">
            <a:spAutoFit/>
          </a:bodyPr>
          <a:lstStyle/>
          <a:p>
            <a:pPr algn="l"/>
            <a:r>
              <a:rPr sz="1400" b="1">
                <a:solidFill>
                  <a:srgbClr val="F58220"/>
                </a:solidFill>
                <a:latin typeface="Arial"/>
              </a:rPr>
              <a:t>SOMETIMES  →  SKILL.md</a:t>
            </a:r>
          </a:p>
        </p:txBody>
      </p:sp>
      <p:sp>
        <p:nvSpPr>
          <p:cNvPr id="12" name="TextBox 11"/>
          <p:cNvSpPr txBox="1"/>
          <p:nvPr/>
        </p:nvSpPr>
        <p:spPr>
          <a:xfrm>
            <a:off x="1417320" y="6126480"/>
            <a:ext cx="7223760" cy="2560320"/>
          </a:xfrm>
          <a:prstGeom prst="rect">
            <a:avLst/>
          </a:prstGeom>
          <a:noFill/>
        </p:spPr>
        <p:txBody>
          <a:bodyPr wrap="square" lIns="0" tIns="0" rIns="0" bIns="0">
            <a:spAutoFit/>
          </a:bodyPr>
          <a:lstStyle/>
          <a:p>
            <a:pPr algn="l">
              <a:lnSpc>
                <a:spcPct val="150000"/>
              </a:lnSpc>
              <a:spcAft>
                <a:spcPts val="600"/>
              </a:spcAft>
            </a:pPr>
            <a:r>
              <a:rPr sz="2000" b="0">
                <a:solidFill>
                  <a:srgbClr val="14161C"/>
                </a:solidFill>
                <a:latin typeface="Arial"/>
              </a:rPr>
              <a:t>•  Database migrations.</a:t>
            </a:r>
          </a:p>
          <a:p>
            <a:pPr algn="l">
              <a:lnSpc>
                <a:spcPct val="150000"/>
              </a:lnSpc>
              <a:spcAft>
                <a:spcPts val="600"/>
              </a:spcAft>
            </a:pPr>
            <a:r>
              <a:rPr sz="2000" b="0">
                <a:solidFill>
                  <a:srgbClr val="14161C"/>
                </a:solidFill>
                <a:latin typeface="Arial"/>
              </a:rPr>
              <a:t>•  Deploy runbooks.</a:t>
            </a:r>
          </a:p>
          <a:p>
            <a:pPr algn="l">
              <a:lnSpc>
                <a:spcPct val="150000"/>
              </a:lnSpc>
              <a:spcAft>
                <a:spcPts val="600"/>
              </a:spcAft>
            </a:pPr>
            <a:r>
              <a:rPr sz="2000" b="0">
                <a:solidFill>
                  <a:srgbClr val="14161C"/>
                </a:solidFill>
                <a:latin typeface="Arial"/>
              </a:rPr>
              <a:t>•  PII redaction recipe.</a:t>
            </a:r>
          </a:p>
          <a:p>
            <a:pPr algn="l">
              <a:lnSpc>
                <a:spcPct val="150000"/>
              </a:lnSpc>
              <a:spcAft>
                <a:spcPts val="600"/>
              </a:spcAft>
            </a:pPr>
            <a:r>
              <a:rPr sz="2000" b="0">
                <a:solidFill>
                  <a:srgbClr val="14161C"/>
                </a:solidFill>
                <a:latin typeface="Arial"/>
              </a:rPr>
              <a:t>•  End-of-quarter reporting flow.</a:t>
            </a:r>
          </a:p>
        </p:txBody>
      </p:sp>
      <p:sp>
        <p:nvSpPr>
          <p:cNvPr id="13" name="Rectangle 12"/>
          <p:cNvSpPr/>
          <p:nvPr/>
        </p:nvSpPr>
        <p:spPr>
          <a:xfrm>
            <a:off x="9601200" y="5349240"/>
            <a:ext cx="7543800" cy="3474720"/>
          </a:xfrm>
          <a:prstGeom prst="rect">
            <a:avLst/>
          </a:prstGeom>
          <a:solidFill>
            <a:srgbClr val="FFFFFF"/>
          </a:solidFill>
          <a:ln w="15875">
            <a:solidFill>
              <a:srgbClr val="3FE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875520" y="5577840"/>
            <a:ext cx="5486400" cy="365760"/>
          </a:xfrm>
          <a:prstGeom prst="rect">
            <a:avLst/>
          </a:prstGeom>
          <a:noFill/>
        </p:spPr>
        <p:txBody>
          <a:bodyPr wrap="square" lIns="0" tIns="0" rIns="0" bIns="0" anchor="t">
            <a:spAutoFit/>
          </a:bodyPr>
          <a:lstStyle/>
          <a:p>
            <a:pPr algn="l"/>
            <a:r>
              <a:rPr sz="1400" b="1">
                <a:solidFill>
                  <a:srgbClr val="109A8B"/>
                </a:solidFill>
                <a:latin typeface="Arial"/>
              </a:rPr>
              <a:t>ALWAYS  →  CLAUDE.md</a:t>
            </a:r>
          </a:p>
        </p:txBody>
      </p:sp>
      <p:sp>
        <p:nvSpPr>
          <p:cNvPr id="15" name="TextBox 14"/>
          <p:cNvSpPr txBox="1"/>
          <p:nvPr/>
        </p:nvSpPr>
        <p:spPr>
          <a:xfrm>
            <a:off x="9875520" y="6126480"/>
            <a:ext cx="6995160" cy="2560320"/>
          </a:xfrm>
          <a:prstGeom prst="rect">
            <a:avLst/>
          </a:prstGeom>
          <a:noFill/>
        </p:spPr>
        <p:txBody>
          <a:bodyPr wrap="square" lIns="0" tIns="0" rIns="0" bIns="0">
            <a:spAutoFit/>
          </a:bodyPr>
          <a:lstStyle/>
          <a:p>
            <a:pPr algn="l">
              <a:lnSpc>
                <a:spcPct val="150000"/>
              </a:lnSpc>
              <a:spcAft>
                <a:spcPts val="600"/>
              </a:spcAft>
            </a:pPr>
            <a:r>
              <a:rPr sz="2000" b="0">
                <a:solidFill>
                  <a:srgbClr val="14161C"/>
                </a:solidFill>
                <a:latin typeface="Arial"/>
              </a:rPr>
              <a:t>•  Naming conventions.</a:t>
            </a:r>
          </a:p>
          <a:p>
            <a:pPr algn="l">
              <a:lnSpc>
                <a:spcPct val="150000"/>
              </a:lnSpc>
              <a:spcAft>
                <a:spcPts val="600"/>
              </a:spcAft>
            </a:pPr>
            <a:r>
              <a:rPr sz="2000" b="0">
                <a:solidFill>
                  <a:srgbClr val="14161C"/>
                </a:solidFill>
                <a:latin typeface="Arial"/>
              </a:rPr>
              <a:t>•  Folder layout.</a:t>
            </a:r>
          </a:p>
          <a:p>
            <a:pPr algn="l">
              <a:lnSpc>
                <a:spcPct val="150000"/>
              </a:lnSpc>
              <a:spcAft>
                <a:spcPts val="600"/>
              </a:spcAft>
            </a:pPr>
            <a:r>
              <a:rPr sz="2000" b="0">
                <a:solidFill>
                  <a:srgbClr val="14161C"/>
                </a:solidFill>
                <a:latin typeface="Arial"/>
              </a:rPr>
              <a:t>•  Required pre-commit checks.</a:t>
            </a:r>
          </a:p>
          <a:p>
            <a:pPr algn="l">
              <a:lnSpc>
                <a:spcPct val="150000"/>
              </a:lnSpc>
              <a:spcAft>
                <a:spcPts val="600"/>
              </a:spcAft>
            </a:pPr>
            <a:r>
              <a:rPr sz="2000" b="0">
                <a:solidFill>
                  <a:srgbClr val="14161C"/>
                </a:solidFill>
                <a:latin typeface="Arial"/>
              </a:rPr>
              <a:t>•  Stack &amp; versions.</a:t>
            </a:r>
          </a:p>
        </p:txBody>
      </p:sp>
      <p:sp>
        <p:nvSpPr>
          <p:cNvPr id="16" name="Rectangle 15"/>
          <p:cNvSpPr/>
          <p:nvPr/>
        </p:nvSpPr>
        <p:spPr>
          <a:xfrm>
            <a:off x="1143000" y="9052560"/>
            <a:ext cx="11338560" cy="384048"/>
          </a:xfrm>
          <a:prstGeom prst="rect">
            <a:avLst/>
          </a:prstGeom>
          <a:noFill/>
          <a:ln w="9525">
            <a:solidFill>
              <a:srgbClr val="F58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307592" y="9144000"/>
            <a:ext cx="11009376" cy="237744"/>
          </a:xfrm>
          <a:prstGeom prst="rect">
            <a:avLst/>
          </a:prstGeom>
          <a:noFill/>
        </p:spPr>
        <p:txBody>
          <a:bodyPr wrap="square" lIns="0" tIns="0" rIns="0" bIns="0" anchor="t">
            <a:spAutoFit/>
          </a:bodyPr>
          <a:lstStyle/>
          <a:p>
            <a:pPr algn="l"/>
            <a:r>
              <a:rPr sz="1000" b="1">
                <a:solidFill>
                  <a:srgbClr val="F58220"/>
                </a:solidFill>
                <a:latin typeface="Arial"/>
              </a:rPr>
              <a:t>DON'T BURDEN EVERY PROMPT WITH ONCE-A-WEEK RULES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 y="475488"/>
            <a:ext cx="7315200" cy="237744"/>
          </a:xfrm>
          <a:prstGeom prst="rect">
            <a:avLst/>
          </a:prstGeom>
          <a:noFill/>
        </p:spPr>
        <p:txBody>
          <a:bodyPr wrap="square" lIns="0" tIns="0" rIns="0" bIns="0" anchor="t">
            <a:spAutoFit/>
          </a:bodyPr>
          <a:lstStyle/>
          <a:p>
            <a:pPr algn="l"/>
            <a:r>
              <a:rPr sz="1000" b="1">
                <a:solidFill>
                  <a:srgbClr val="6B6E78"/>
                </a:solidFill>
                <a:latin typeface="Arial"/>
              </a:rPr>
              <a:t>BUILDING CONTEXT · PART 1</a:t>
            </a:r>
          </a:p>
        </p:txBody>
      </p:sp>
      <p:sp>
        <p:nvSpPr>
          <p:cNvPr id="4" name="TextBox 3"/>
          <p:cNvSpPr txBox="1"/>
          <p:nvPr/>
        </p:nvSpPr>
        <p:spPr>
          <a:xfrm>
            <a:off x="15544800" y="475488"/>
            <a:ext cx="1691640" cy="237744"/>
          </a:xfrm>
          <a:prstGeom prst="rect">
            <a:avLst/>
          </a:prstGeom>
          <a:noFill/>
        </p:spPr>
        <p:txBody>
          <a:bodyPr wrap="square" lIns="0" tIns="0" rIns="0" bIns="0" anchor="t">
            <a:spAutoFit/>
          </a:bodyPr>
          <a:lstStyle/>
          <a:p>
            <a:pPr algn="r"/>
            <a:r>
              <a:rPr sz="1000" b="1">
                <a:solidFill>
                  <a:srgbClr val="6B6E78"/>
                </a:solidFill>
                <a:latin typeface="Arial"/>
              </a:rPr>
              <a:t>15 / 22</a:t>
            </a:r>
          </a:p>
        </p:txBody>
      </p:sp>
      <p:sp>
        <p:nvSpPr>
          <p:cNvPr id="5" name="Rectangle 4"/>
          <p:cNvSpPr/>
          <p:nvPr/>
        </p:nvSpPr>
        <p:spPr>
          <a:xfrm>
            <a:off x="1143000" y="9646920"/>
            <a:ext cx="16002000" cy="8000"/>
          </a:xfrm>
          <a:prstGeom prst="rect">
            <a:avLst/>
          </a:prstGeom>
          <a:solidFill>
            <a:srgbClr val="DC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0" y="384048"/>
            <a:ext cx="6400800" cy="4297680"/>
          </a:xfrm>
          <a:prstGeom prst="rect">
            <a:avLst/>
          </a:prstGeom>
          <a:noFill/>
        </p:spPr>
        <p:txBody>
          <a:bodyPr wrap="square" lIns="0" tIns="0" rIns="0" bIns="0" anchor="t">
            <a:spAutoFit/>
          </a:bodyPr>
          <a:lstStyle/>
          <a:p>
            <a:pPr algn="l"/>
            <a:r>
              <a:rPr sz="39000" b="1">
                <a:solidFill>
                  <a:srgbClr val="E8E5DD"/>
                </a:solidFill>
                <a:latin typeface="Arial"/>
              </a:rPr>
              <a:t>15</a:t>
            </a:r>
          </a:p>
        </p:txBody>
      </p:sp>
      <p:sp>
        <p:nvSpPr>
          <p:cNvPr id="7" name="TextBox 6"/>
          <p:cNvSpPr txBox="1"/>
          <p:nvPr/>
        </p:nvSpPr>
        <p:spPr>
          <a:xfrm>
            <a:off x="1143000" y="2093976"/>
            <a:ext cx="16459200" cy="310896"/>
          </a:xfrm>
          <a:prstGeom prst="rect">
            <a:avLst/>
          </a:prstGeom>
          <a:noFill/>
        </p:spPr>
        <p:txBody>
          <a:bodyPr wrap="square" lIns="0" tIns="0" rIns="0" bIns="0" anchor="t">
            <a:spAutoFit/>
          </a:bodyPr>
          <a:lstStyle/>
          <a:p>
            <a:pPr algn="l"/>
            <a:r>
              <a:rPr sz="1100" b="1">
                <a:solidFill>
                  <a:srgbClr val="F58220"/>
                </a:solidFill>
                <a:latin typeface="Arial"/>
              </a:rPr>
              <a:t>COMMANDMENT VIII  ·  CALLOUT</a:t>
            </a:r>
          </a:p>
        </p:txBody>
      </p:sp>
      <p:sp>
        <p:nvSpPr>
          <p:cNvPr id="8" name="TextBox 7"/>
          <p:cNvSpPr txBox="1"/>
          <p:nvPr/>
        </p:nvSpPr>
        <p:spPr>
          <a:xfrm>
            <a:off x="1143000" y="2606040"/>
            <a:ext cx="16459200" cy="2377440"/>
          </a:xfrm>
          <a:prstGeom prst="rect">
            <a:avLst/>
          </a:prstGeom>
          <a:noFill/>
        </p:spPr>
        <p:txBody>
          <a:bodyPr wrap="square" lIns="0" tIns="0" rIns="0" bIns="0" anchor="t">
            <a:spAutoFit/>
          </a:bodyPr>
          <a:lstStyle/>
          <a:p>
            <a:pPr algn="l"/>
            <a:r>
              <a:rPr sz="6400" b="1">
                <a:solidFill>
                  <a:srgbClr val="14161C"/>
                </a:solidFill>
                <a:latin typeface="Arial"/>
              </a:rPr>
              <a:t>Load MCP servers </a:t>
            </a:r>
            <a:r>
              <a:rPr sz="6400" b="1">
                <a:solidFill>
                  <a:srgbClr val="F58220"/>
                </a:solidFill>
                <a:latin typeface="Arial"/>
              </a:rPr>
              <a:t>with discernment.</a:t>
            </a:r>
          </a:p>
        </p:txBody>
      </p:sp>
      <p:sp>
        <p:nvSpPr>
          <p:cNvPr id="9" name="TextBox 8"/>
          <p:cNvSpPr txBox="1"/>
          <p:nvPr/>
        </p:nvSpPr>
        <p:spPr>
          <a:xfrm>
            <a:off x="1143000" y="4572000"/>
            <a:ext cx="15544800" cy="411480"/>
          </a:xfrm>
          <a:prstGeom prst="rect">
            <a:avLst/>
          </a:prstGeom>
          <a:noFill/>
        </p:spPr>
        <p:txBody>
          <a:bodyPr wrap="square" lIns="0" tIns="0" rIns="0" bIns="0" anchor="t">
            <a:spAutoFit/>
          </a:bodyPr>
          <a:lstStyle/>
          <a:p>
            <a:pPr algn="l"/>
            <a:r>
              <a:rPr sz="1300" b="1">
                <a:solidFill>
                  <a:srgbClr val="6B6E78"/>
                </a:solidFill>
                <a:latin typeface="Arial"/>
              </a:rPr>
              <a:t>[DIAGRAM TO INSERT: token-cost-on-startup illustration — bar chart, baseline vs. each MCP server adding bytes]</a:t>
            </a:r>
          </a:p>
        </p:txBody>
      </p:sp>
      <p:sp>
        <p:nvSpPr>
          <p:cNvPr id="10" name="TextBox 9"/>
          <p:cNvSpPr txBox="1"/>
          <p:nvPr/>
        </p:nvSpPr>
        <p:spPr>
          <a:xfrm>
            <a:off x="1143000" y="5212080"/>
            <a:ext cx="15544800" cy="3657600"/>
          </a:xfrm>
          <a:prstGeom prst="rect">
            <a:avLst/>
          </a:prstGeom>
          <a:noFill/>
        </p:spPr>
        <p:txBody>
          <a:bodyPr wrap="square" lIns="0" tIns="0" rIns="0" bIns="0">
            <a:spAutoFit/>
          </a:bodyPr>
          <a:lstStyle/>
          <a:p>
            <a:pPr algn="l">
              <a:lnSpc>
                <a:spcPct val="115000"/>
              </a:lnSpc>
              <a:spcAft>
                <a:spcPts val="600"/>
              </a:spcAft>
            </a:pPr>
            <a:r>
              <a:rPr sz="2200" b="0">
                <a:solidFill>
                  <a:srgbClr val="14161C"/>
                </a:solidFill>
                <a:latin typeface="Arial"/>
              </a:rPr>
              <a:t>•  Every connected MCP server eats context at startup — before you've typed a single prompt.</a:t>
            </a:r>
          </a:p>
          <a:p>
            <a:pPr algn="l">
              <a:lnSpc>
                <a:spcPct val="115000"/>
              </a:lnSpc>
              <a:spcAft>
                <a:spcPts val="600"/>
              </a:spcAft>
            </a:pPr>
            <a:r>
              <a:rPr sz="2200" b="0">
                <a:solidFill>
                  <a:srgbClr val="14161C"/>
                </a:solidFill>
                <a:latin typeface="Arial"/>
              </a:rPr>
              <a:t>•  A 12-server setup can burn 30–40k tokens just describing tools you won't use.</a:t>
            </a:r>
          </a:p>
          <a:p>
            <a:pPr algn="l">
              <a:lnSpc>
                <a:spcPct val="115000"/>
              </a:lnSpc>
              <a:spcAft>
                <a:spcPts val="600"/>
              </a:spcAft>
            </a:pPr>
            <a:r>
              <a:rPr sz="2200" b="0">
                <a:solidFill>
                  <a:srgbClr val="14161C"/>
                </a:solidFill>
                <a:latin typeface="Arial"/>
              </a:rPr>
              <a:t>•  Connect what the project needs. Disconnect what it doesn't. Audit quarterly.</a:t>
            </a:r>
          </a:p>
        </p:txBody>
      </p:sp>
      <p:sp>
        <p:nvSpPr>
          <p:cNvPr id="11" name="Rectangle 10"/>
          <p:cNvSpPr/>
          <p:nvPr/>
        </p:nvSpPr>
        <p:spPr>
          <a:xfrm>
            <a:off x="1143000" y="9052560"/>
            <a:ext cx="6766560" cy="384048"/>
          </a:xfrm>
          <a:prstGeom prst="rect">
            <a:avLst/>
          </a:prstGeom>
          <a:noFill/>
          <a:ln w="9525">
            <a:solidFill>
              <a:srgbClr val="F58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307592" y="9144000"/>
            <a:ext cx="6437376" cy="237744"/>
          </a:xfrm>
          <a:prstGeom prst="rect">
            <a:avLst/>
          </a:prstGeom>
          <a:noFill/>
        </p:spPr>
        <p:txBody>
          <a:bodyPr wrap="square" lIns="0" tIns="0" rIns="0" bIns="0" anchor="t">
            <a:spAutoFit/>
          </a:bodyPr>
          <a:lstStyle/>
          <a:p>
            <a:pPr algn="l"/>
            <a:r>
              <a:rPr sz="1000" b="1">
                <a:solidFill>
                  <a:srgbClr val="F58220"/>
                </a:solidFill>
                <a:latin typeface="Arial"/>
              </a:rPr>
              <a:t>EVERY TOOL HAS A STARTUP TAX</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 y="475488"/>
            <a:ext cx="7315200" cy="237744"/>
          </a:xfrm>
          <a:prstGeom prst="rect">
            <a:avLst/>
          </a:prstGeom>
          <a:noFill/>
        </p:spPr>
        <p:txBody>
          <a:bodyPr wrap="square" lIns="0" tIns="0" rIns="0" bIns="0" anchor="t">
            <a:spAutoFit/>
          </a:bodyPr>
          <a:lstStyle/>
          <a:p>
            <a:pPr algn="l"/>
            <a:r>
              <a:rPr sz="1000" b="1">
                <a:solidFill>
                  <a:srgbClr val="6B6E78"/>
                </a:solidFill>
                <a:latin typeface="Arial"/>
              </a:rPr>
              <a:t>BUILDING CONTEXT · PART 1</a:t>
            </a:r>
          </a:p>
        </p:txBody>
      </p:sp>
      <p:sp>
        <p:nvSpPr>
          <p:cNvPr id="4" name="TextBox 3"/>
          <p:cNvSpPr txBox="1"/>
          <p:nvPr/>
        </p:nvSpPr>
        <p:spPr>
          <a:xfrm>
            <a:off x="15544800" y="475488"/>
            <a:ext cx="1691640" cy="237744"/>
          </a:xfrm>
          <a:prstGeom prst="rect">
            <a:avLst/>
          </a:prstGeom>
          <a:noFill/>
        </p:spPr>
        <p:txBody>
          <a:bodyPr wrap="square" lIns="0" tIns="0" rIns="0" bIns="0" anchor="t">
            <a:spAutoFit/>
          </a:bodyPr>
          <a:lstStyle/>
          <a:p>
            <a:pPr algn="r"/>
            <a:r>
              <a:rPr sz="1000" b="1">
                <a:solidFill>
                  <a:srgbClr val="6B6E78"/>
                </a:solidFill>
                <a:latin typeface="Arial"/>
              </a:rPr>
              <a:t>16 / 22</a:t>
            </a:r>
          </a:p>
        </p:txBody>
      </p:sp>
      <p:sp>
        <p:nvSpPr>
          <p:cNvPr id="5" name="Rectangle 4"/>
          <p:cNvSpPr/>
          <p:nvPr/>
        </p:nvSpPr>
        <p:spPr>
          <a:xfrm>
            <a:off x="1143000" y="9646920"/>
            <a:ext cx="16002000" cy="8000"/>
          </a:xfrm>
          <a:prstGeom prst="rect">
            <a:avLst/>
          </a:prstGeom>
          <a:solidFill>
            <a:srgbClr val="DC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0" y="384048"/>
            <a:ext cx="6400800" cy="4297680"/>
          </a:xfrm>
          <a:prstGeom prst="rect">
            <a:avLst/>
          </a:prstGeom>
          <a:noFill/>
        </p:spPr>
        <p:txBody>
          <a:bodyPr wrap="square" lIns="0" tIns="0" rIns="0" bIns="0" anchor="t">
            <a:spAutoFit/>
          </a:bodyPr>
          <a:lstStyle/>
          <a:p>
            <a:pPr algn="l"/>
            <a:r>
              <a:rPr sz="39000" b="1">
                <a:solidFill>
                  <a:srgbClr val="E8E5DD"/>
                </a:solidFill>
                <a:latin typeface="Arial"/>
              </a:rPr>
              <a:t>16</a:t>
            </a:r>
          </a:p>
        </p:txBody>
      </p:sp>
      <p:sp>
        <p:nvSpPr>
          <p:cNvPr id="7" name="TextBox 6"/>
          <p:cNvSpPr txBox="1"/>
          <p:nvPr/>
        </p:nvSpPr>
        <p:spPr>
          <a:xfrm>
            <a:off x="1143000" y="2093976"/>
            <a:ext cx="16459200" cy="310896"/>
          </a:xfrm>
          <a:prstGeom prst="rect">
            <a:avLst/>
          </a:prstGeom>
          <a:noFill/>
        </p:spPr>
        <p:txBody>
          <a:bodyPr wrap="square" lIns="0" tIns="0" rIns="0" bIns="0" anchor="t">
            <a:spAutoFit/>
          </a:bodyPr>
          <a:lstStyle/>
          <a:p>
            <a:pPr algn="l"/>
            <a:r>
              <a:rPr sz="1100" b="1">
                <a:solidFill>
                  <a:srgbClr val="F58220"/>
                </a:solidFill>
                <a:latin typeface="Arial"/>
              </a:rPr>
              <a:t>REQUIREMENTS  ·  10 MIN</a:t>
            </a:r>
          </a:p>
        </p:txBody>
      </p:sp>
      <p:sp>
        <p:nvSpPr>
          <p:cNvPr id="8" name="TextBox 7"/>
          <p:cNvSpPr txBox="1"/>
          <p:nvPr/>
        </p:nvSpPr>
        <p:spPr>
          <a:xfrm>
            <a:off x="1143000" y="2606040"/>
            <a:ext cx="16459200" cy="2377440"/>
          </a:xfrm>
          <a:prstGeom prst="rect">
            <a:avLst/>
          </a:prstGeom>
          <a:noFill/>
        </p:spPr>
        <p:txBody>
          <a:bodyPr wrap="square" lIns="0" tIns="0" rIns="0" bIns="0" anchor="t">
            <a:spAutoFit/>
          </a:bodyPr>
          <a:lstStyle/>
          <a:p>
            <a:pPr algn="l"/>
            <a:r>
              <a:rPr sz="5800" b="1">
                <a:solidFill>
                  <a:srgbClr val="14161C"/>
                </a:solidFill>
                <a:latin typeface="Arial"/>
              </a:rPr>
              <a:t>Requirements docs </a:t>
            </a:r>
            <a:r>
              <a:rPr sz="5800" b="1">
                <a:solidFill>
                  <a:srgbClr val="F58220"/>
                </a:solidFill>
                <a:latin typeface="Arial"/>
              </a:rPr>
              <a:t>for an LLM audience.</a:t>
            </a:r>
          </a:p>
        </p:txBody>
      </p:sp>
      <p:sp>
        <p:nvSpPr>
          <p:cNvPr id="9" name="TextBox 8"/>
          <p:cNvSpPr txBox="1"/>
          <p:nvPr/>
        </p:nvSpPr>
        <p:spPr>
          <a:xfrm>
            <a:off x="1143000" y="5212080"/>
            <a:ext cx="15544800" cy="3657600"/>
          </a:xfrm>
          <a:prstGeom prst="rect">
            <a:avLst/>
          </a:prstGeom>
          <a:noFill/>
        </p:spPr>
        <p:txBody>
          <a:bodyPr wrap="square" lIns="0" tIns="0" rIns="0" bIns="0">
            <a:spAutoFit/>
          </a:bodyPr>
          <a:lstStyle/>
          <a:p>
            <a:pPr algn="l">
              <a:lnSpc>
                <a:spcPct val="160000"/>
              </a:lnSpc>
              <a:spcAft>
                <a:spcPts val="600"/>
              </a:spcAft>
            </a:pPr>
            <a:r>
              <a:rPr sz="2400" b="1">
                <a:solidFill>
                  <a:srgbClr val="F58220"/>
                </a:solidFill>
                <a:latin typeface="Arial"/>
              </a:rPr>
              <a:t>Explicit &gt; implicit. </a:t>
            </a:r>
            <a:r>
              <a:rPr sz="2400" b="0">
                <a:solidFill>
                  <a:srgbClr val="14161C"/>
                </a:solidFill>
                <a:latin typeface="Arial"/>
              </a:rPr>
              <a:t>Name the constraints the model can't infer.</a:t>
            </a:r>
          </a:p>
          <a:p>
            <a:pPr algn="l">
              <a:lnSpc>
                <a:spcPct val="160000"/>
              </a:lnSpc>
              <a:spcAft>
                <a:spcPts val="600"/>
              </a:spcAft>
            </a:pPr>
            <a:r>
              <a:rPr sz="2400" b="1">
                <a:solidFill>
                  <a:srgbClr val="F58220"/>
                </a:solidFill>
                <a:latin typeface="Arial"/>
              </a:rPr>
              <a:t>Lists &gt; prose. </a:t>
            </a:r>
            <a:r>
              <a:rPr sz="2400" b="0">
                <a:solidFill>
                  <a:srgbClr val="14161C"/>
                </a:solidFill>
                <a:latin typeface="Arial"/>
              </a:rPr>
              <a:t>Bulleted requirements scan; paragraphs hide.</a:t>
            </a:r>
          </a:p>
          <a:p>
            <a:pPr algn="l">
              <a:lnSpc>
                <a:spcPct val="160000"/>
              </a:lnSpc>
              <a:spcAft>
                <a:spcPts val="600"/>
              </a:spcAft>
            </a:pPr>
            <a:r>
              <a:rPr sz="2400" b="1">
                <a:solidFill>
                  <a:srgbClr val="F58220"/>
                </a:solidFill>
                <a:latin typeface="Arial"/>
              </a:rPr>
              <a:t>Examples &gt; adjectives. </a:t>
            </a:r>
            <a:r>
              <a:rPr sz="2400" b="0">
                <a:solidFill>
                  <a:srgbClr val="14161C"/>
                </a:solidFill>
                <a:latin typeface="Arial"/>
              </a:rPr>
              <a:t>'Like our /reports endpoint' beats 'clean and modern'.</a:t>
            </a:r>
          </a:p>
          <a:p>
            <a:pPr algn="l">
              <a:lnSpc>
                <a:spcPct val="160000"/>
              </a:lnSpc>
              <a:spcAft>
                <a:spcPts val="600"/>
              </a:spcAft>
            </a:pPr>
            <a:r>
              <a:rPr sz="2400" b="1">
                <a:solidFill>
                  <a:srgbClr val="F58220"/>
                </a:solidFill>
                <a:latin typeface="Arial"/>
              </a:rPr>
              <a:t>Not a product spec — </a:t>
            </a:r>
            <a:r>
              <a:rPr sz="2400" b="0">
                <a:solidFill>
                  <a:srgbClr val="14161C"/>
                </a:solidFill>
                <a:latin typeface="Arial"/>
              </a:rPr>
              <a:t>model instructions with a business rationale.</a:t>
            </a:r>
          </a:p>
        </p:txBody>
      </p:sp>
      <p:sp>
        <p:nvSpPr>
          <p:cNvPr id="10" name="Rectangle 9"/>
          <p:cNvSpPr/>
          <p:nvPr/>
        </p:nvSpPr>
        <p:spPr>
          <a:xfrm>
            <a:off x="1143000" y="9052560"/>
            <a:ext cx="10424160" cy="384048"/>
          </a:xfrm>
          <a:prstGeom prst="rect">
            <a:avLst/>
          </a:prstGeom>
          <a:noFill/>
          <a:ln w="9525">
            <a:solidFill>
              <a:srgbClr val="F58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07592" y="9144000"/>
            <a:ext cx="10094976" cy="237744"/>
          </a:xfrm>
          <a:prstGeom prst="rect">
            <a:avLst/>
          </a:prstGeom>
          <a:noFill/>
        </p:spPr>
        <p:txBody>
          <a:bodyPr wrap="square" lIns="0" tIns="0" rIns="0" bIns="0" anchor="t">
            <a:spAutoFit/>
          </a:bodyPr>
          <a:lstStyle/>
          <a:p>
            <a:pPr algn="l"/>
            <a:r>
              <a:rPr sz="1000" b="1">
                <a:solidFill>
                  <a:srgbClr val="F58220"/>
                </a:solidFill>
                <a:latin typeface="Arial"/>
              </a:rPr>
              <a:t>WRITE FOR THE READER · THE READER IS A MODEL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 y="475488"/>
            <a:ext cx="7315200" cy="237744"/>
          </a:xfrm>
          <a:prstGeom prst="rect">
            <a:avLst/>
          </a:prstGeom>
          <a:noFill/>
        </p:spPr>
        <p:txBody>
          <a:bodyPr wrap="square" lIns="0" tIns="0" rIns="0" bIns="0" anchor="t">
            <a:spAutoFit/>
          </a:bodyPr>
          <a:lstStyle/>
          <a:p>
            <a:pPr algn="l"/>
            <a:r>
              <a:rPr sz="1000" b="1">
                <a:solidFill>
                  <a:srgbClr val="6B6E78"/>
                </a:solidFill>
                <a:latin typeface="Arial"/>
              </a:rPr>
              <a:t>BUILDING CONTEXT · PART 1</a:t>
            </a:r>
          </a:p>
        </p:txBody>
      </p:sp>
      <p:sp>
        <p:nvSpPr>
          <p:cNvPr id="4" name="TextBox 3"/>
          <p:cNvSpPr txBox="1"/>
          <p:nvPr/>
        </p:nvSpPr>
        <p:spPr>
          <a:xfrm>
            <a:off x="15544800" y="475488"/>
            <a:ext cx="1691640" cy="237744"/>
          </a:xfrm>
          <a:prstGeom prst="rect">
            <a:avLst/>
          </a:prstGeom>
          <a:noFill/>
        </p:spPr>
        <p:txBody>
          <a:bodyPr wrap="square" lIns="0" tIns="0" rIns="0" bIns="0" anchor="t">
            <a:spAutoFit/>
          </a:bodyPr>
          <a:lstStyle/>
          <a:p>
            <a:pPr algn="r"/>
            <a:r>
              <a:rPr sz="1000" b="1">
                <a:solidFill>
                  <a:srgbClr val="6B6E78"/>
                </a:solidFill>
                <a:latin typeface="Arial"/>
              </a:rPr>
              <a:t>17 / 22</a:t>
            </a:r>
          </a:p>
        </p:txBody>
      </p:sp>
      <p:sp>
        <p:nvSpPr>
          <p:cNvPr id="5" name="Rectangle 4"/>
          <p:cNvSpPr/>
          <p:nvPr/>
        </p:nvSpPr>
        <p:spPr>
          <a:xfrm>
            <a:off x="1143000" y="9646920"/>
            <a:ext cx="16002000" cy="8000"/>
          </a:xfrm>
          <a:prstGeom prst="rect">
            <a:avLst/>
          </a:prstGeom>
          <a:solidFill>
            <a:srgbClr val="DC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0" y="384048"/>
            <a:ext cx="6400800" cy="4297680"/>
          </a:xfrm>
          <a:prstGeom prst="rect">
            <a:avLst/>
          </a:prstGeom>
          <a:noFill/>
        </p:spPr>
        <p:txBody>
          <a:bodyPr wrap="square" lIns="0" tIns="0" rIns="0" bIns="0" anchor="t">
            <a:spAutoFit/>
          </a:bodyPr>
          <a:lstStyle/>
          <a:p>
            <a:pPr algn="l"/>
            <a:r>
              <a:rPr sz="39000" b="1">
                <a:solidFill>
                  <a:srgbClr val="E8E5DD"/>
                </a:solidFill>
                <a:latin typeface="Arial"/>
              </a:rPr>
              <a:t>17</a:t>
            </a:r>
          </a:p>
        </p:txBody>
      </p:sp>
      <p:sp>
        <p:nvSpPr>
          <p:cNvPr id="7" name="TextBox 6"/>
          <p:cNvSpPr txBox="1"/>
          <p:nvPr/>
        </p:nvSpPr>
        <p:spPr>
          <a:xfrm>
            <a:off x="1143000" y="2093976"/>
            <a:ext cx="16459200" cy="310896"/>
          </a:xfrm>
          <a:prstGeom prst="rect">
            <a:avLst/>
          </a:prstGeom>
          <a:noFill/>
        </p:spPr>
        <p:txBody>
          <a:bodyPr wrap="square" lIns="0" tIns="0" rIns="0" bIns="0" anchor="t">
            <a:spAutoFit/>
          </a:bodyPr>
          <a:lstStyle/>
          <a:p>
            <a:pPr algn="l"/>
            <a:r>
              <a:rPr sz="1100" b="1">
                <a:solidFill>
                  <a:srgbClr val="F58220"/>
                </a:solidFill>
                <a:latin typeface="Arial"/>
              </a:rPr>
              <a:t>CONVENTIONS  ·  8 MIN</a:t>
            </a:r>
          </a:p>
        </p:txBody>
      </p:sp>
      <p:sp>
        <p:nvSpPr>
          <p:cNvPr id="8" name="TextBox 7"/>
          <p:cNvSpPr txBox="1"/>
          <p:nvPr/>
        </p:nvSpPr>
        <p:spPr>
          <a:xfrm>
            <a:off x="1143000" y="2606040"/>
            <a:ext cx="16459200" cy="2377440"/>
          </a:xfrm>
          <a:prstGeom prst="rect">
            <a:avLst/>
          </a:prstGeom>
          <a:noFill/>
        </p:spPr>
        <p:txBody>
          <a:bodyPr wrap="square" lIns="0" tIns="0" rIns="0" bIns="0" anchor="t">
            <a:spAutoFit/>
          </a:bodyPr>
          <a:lstStyle/>
          <a:p>
            <a:pPr algn="l"/>
            <a:r>
              <a:rPr sz="6400" b="1">
                <a:solidFill>
                  <a:srgbClr val="14161C"/>
                </a:solidFill>
                <a:latin typeface="Arial"/>
              </a:rPr>
              <a:t>Conventions that </a:t>
            </a:r>
            <a:r>
              <a:rPr sz="6400" b="1">
                <a:solidFill>
                  <a:srgbClr val="F58220"/>
                </a:solidFill>
                <a:latin typeface="Arial"/>
              </a:rPr>
              <a:t>stick.</a:t>
            </a:r>
          </a:p>
        </p:txBody>
      </p:sp>
      <p:sp>
        <p:nvSpPr>
          <p:cNvPr id="9" name="Rectangle 8"/>
          <p:cNvSpPr/>
          <p:nvPr/>
        </p:nvSpPr>
        <p:spPr>
          <a:xfrm>
            <a:off x="1143000" y="5212080"/>
            <a:ext cx="3657600" cy="2194560"/>
          </a:xfrm>
          <a:prstGeom prst="rect">
            <a:avLst/>
          </a:prstGeom>
          <a:solidFill>
            <a:srgbClr val="FFFFFF"/>
          </a:solidFill>
          <a:ln w="12700">
            <a:solidFill>
              <a:srgbClr val="F58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17320" y="5486400"/>
            <a:ext cx="3108960" cy="457200"/>
          </a:xfrm>
          <a:prstGeom prst="rect">
            <a:avLst/>
          </a:prstGeom>
          <a:noFill/>
        </p:spPr>
        <p:txBody>
          <a:bodyPr wrap="square" lIns="0" tIns="0" rIns="0" bIns="0" anchor="t">
            <a:spAutoFit/>
          </a:bodyPr>
          <a:lstStyle/>
          <a:p>
            <a:pPr algn="l"/>
            <a:r>
              <a:rPr sz="1800" b="1">
                <a:solidFill>
                  <a:srgbClr val="F58220"/>
                </a:solidFill>
                <a:latin typeface="Arial"/>
              </a:rPr>
              <a:t>NAMING</a:t>
            </a:r>
          </a:p>
        </p:txBody>
      </p:sp>
      <p:sp>
        <p:nvSpPr>
          <p:cNvPr id="11" name="TextBox 10"/>
          <p:cNvSpPr txBox="1"/>
          <p:nvPr/>
        </p:nvSpPr>
        <p:spPr>
          <a:xfrm>
            <a:off x="1417320" y="6080760"/>
            <a:ext cx="3108960" cy="1097280"/>
          </a:xfrm>
          <a:prstGeom prst="rect">
            <a:avLst/>
          </a:prstGeom>
          <a:noFill/>
        </p:spPr>
        <p:txBody>
          <a:bodyPr wrap="square" lIns="0" tIns="0" rIns="0" bIns="0" anchor="t">
            <a:spAutoFit/>
          </a:bodyPr>
          <a:lstStyle/>
          <a:p>
            <a:pPr algn="l"/>
            <a:r>
              <a:rPr sz="1500" b="0">
                <a:solidFill>
                  <a:srgbClr val="14161C"/>
                </a:solidFill>
                <a:latin typeface="Arial"/>
              </a:rPr>
              <a:t>Files. Components. DB tables. Env vars.</a:t>
            </a:r>
          </a:p>
        </p:txBody>
      </p:sp>
      <p:sp>
        <p:nvSpPr>
          <p:cNvPr id="12" name="Rectangle 11"/>
          <p:cNvSpPr/>
          <p:nvPr/>
        </p:nvSpPr>
        <p:spPr>
          <a:xfrm>
            <a:off x="5166360" y="5212080"/>
            <a:ext cx="3657600" cy="2194560"/>
          </a:xfrm>
          <a:prstGeom prst="rect">
            <a:avLst/>
          </a:prstGeom>
          <a:solidFill>
            <a:srgbClr val="FFFFFF"/>
          </a:solidFill>
          <a:ln w="12700">
            <a:solidFill>
              <a:srgbClr val="F58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40680" y="5486400"/>
            <a:ext cx="3108960" cy="457200"/>
          </a:xfrm>
          <a:prstGeom prst="rect">
            <a:avLst/>
          </a:prstGeom>
          <a:noFill/>
        </p:spPr>
        <p:txBody>
          <a:bodyPr wrap="square" lIns="0" tIns="0" rIns="0" bIns="0" anchor="t">
            <a:spAutoFit/>
          </a:bodyPr>
          <a:lstStyle/>
          <a:p>
            <a:pPr algn="l"/>
            <a:r>
              <a:rPr sz="1800" b="1">
                <a:solidFill>
                  <a:srgbClr val="F58220"/>
                </a:solidFill>
                <a:latin typeface="Arial"/>
              </a:rPr>
              <a:t>LAYOUT</a:t>
            </a:r>
          </a:p>
        </p:txBody>
      </p:sp>
      <p:sp>
        <p:nvSpPr>
          <p:cNvPr id="14" name="TextBox 13"/>
          <p:cNvSpPr txBox="1"/>
          <p:nvPr/>
        </p:nvSpPr>
        <p:spPr>
          <a:xfrm>
            <a:off x="5440680" y="6080760"/>
            <a:ext cx="3108960" cy="1097280"/>
          </a:xfrm>
          <a:prstGeom prst="rect">
            <a:avLst/>
          </a:prstGeom>
          <a:noFill/>
        </p:spPr>
        <p:txBody>
          <a:bodyPr wrap="square" lIns="0" tIns="0" rIns="0" bIns="0" anchor="t">
            <a:spAutoFit/>
          </a:bodyPr>
          <a:lstStyle/>
          <a:p>
            <a:pPr algn="l"/>
            <a:r>
              <a:rPr sz="1500" b="0">
                <a:solidFill>
                  <a:srgbClr val="14161C"/>
                </a:solidFill>
                <a:latin typeface="Arial"/>
              </a:rPr>
              <a:t>Where new files go. By type, not by feel.</a:t>
            </a:r>
          </a:p>
        </p:txBody>
      </p:sp>
      <p:sp>
        <p:nvSpPr>
          <p:cNvPr id="15" name="Rectangle 14"/>
          <p:cNvSpPr/>
          <p:nvPr/>
        </p:nvSpPr>
        <p:spPr>
          <a:xfrm>
            <a:off x="9189720" y="5212080"/>
            <a:ext cx="3657600" cy="2194560"/>
          </a:xfrm>
          <a:prstGeom prst="rect">
            <a:avLst/>
          </a:prstGeom>
          <a:solidFill>
            <a:srgbClr val="FFFFFF"/>
          </a:solidFill>
          <a:ln w="12700">
            <a:solidFill>
              <a:srgbClr val="F58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464040" y="5486400"/>
            <a:ext cx="3108960" cy="457200"/>
          </a:xfrm>
          <a:prstGeom prst="rect">
            <a:avLst/>
          </a:prstGeom>
          <a:noFill/>
        </p:spPr>
        <p:txBody>
          <a:bodyPr wrap="square" lIns="0" tIns="0" rIns="0" bIns="0" anchor="t">
            <a:spAutoFit/>
          </a:bodyPr>
          <a:lstStyle/>
          <a:p>
            <a:pPr algn="l"/>
            <a:r>
              <a:rPr sz="1800" b="1">
                <a:solidFill>
                  <a:srgbClr val="F58220"/>
                </a:solidFill>
                <a:latin typeface="Arial"/>
              </a:rPr>
              <a:t>COMMITS</a:t>
            </a:r>
          </a:p>
        </p:txBody>
      </p:sp>
      <p:sp>
        <p:nvSpPr>
          <p:cNvPr id="17" name="TextBox 16"/>
          <p:cNvSpPr txBox="1"/>
          <p:nvPr/>
        </p:nvSpPr>
        <p:spPr>
          <a:xfrm>
            <a:off x="9464040" y="6080760"/>
            <a:ext cx="3108960" cy="1097280"/>
          </a:xfrm>
          <a:prstGeom prst="rect">
            <a:avLst/>
          </a:prstGeom>
          <a:noFill/>
        </p:spPr>
        <p:txBody>
          <a:bodyPr wrap="square" lIns="0" tIns="0" rIns="0" bIns="0" anchor="t">
            <a:spAutoFit/>
          </a:bodyPr>
          <a:lstStyle/>
          <a:p>
            <a:pPr algn="l"/>
            <a:r>
              <a:rPr sz="1500" b="0">
                <a:solidFill>
                  <a:srgbClr val="14161C"/>
                </a:solidFill>
                <a:latin typeface="Arial"/>
              </a:rPr>
              <a:t>Conventional Commits. PR titles match.</a:t>
            </a:r>
          </a:p>
        </p:txBody>
      </p:sp>
      <p:sp>
        <p:nvSpPr>
          <p:cNvPr id="18" name="Rectangle 17"/>
          <p:cNvSpPr/>
          <p:nvPr/>
        </p:nvSpPr>
        <p:spPr>
          <a:xfrm>
            <a:off x="13213080" y="5212080"/>
            <a:ext cx="3657600" cy="2194560"/>
          </a:xfrm>
          <a:prstGeom prst="rect">
            <a:avLst/>
          </a:prstGeom>
          <a:solidFill>
            <a:srgbClr val="FFFFFF"/>
          </a:solidFill>
          <a:ln w="12700">
            <a:solidFill>
              <a:srgbClr val="F58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3487400" y="5486400"/>
            <a:ext cx="3108960" cy="457200"/>
          </a:xfrm>
          <a:prstGeom prst="rect">
            <a:avLst/>
          </a:prstGeom>
          <a:noFill/>
        </p:spPr>
        <p:txBody>
          <a:bodyPr wrap="square" lIns="0" tIns="0" rIns="0" bIns="0" anchor="t">
            <a:spAutoFit/>
          </a:bodyPr>
          <a:lstStyle/>
          <a:p>
            <a:pPr algn="l"/>
            <a:r>
              <a:rPr sz="1800" b="1">
                <a:solidFill>
                  <a:srgbClr val="F58220"/>
                </a:solidFill>
                <a:latin typeface="Arial"/>
              </a:rPr>
              <a:t>TESTS</a:t>
            </a:r>
          </a:p>
        </p:txBody>
      </p:sp>
      <p:sp>
        <p:nvSpPr>
          <p:cNvPr id="20" name="TextBox 19"/>
          <p:cNvSpPr txBox="1"/>
          <p:nvPr/>
        </p:nvSpPr>
        <p:spPr>
          <a:xfrm>
            <a:off x="13487400" y="6080760"/>
            <a:ext cx="3108960" cy="1097280"/>
          </a:xfrm>
          <a:prstGeom prst="rect">
            <a:avLst/>
          </a:prstGeom>
          <a:noFill/>
        </p:spPr>
        <p:txBody>
          <a:bodyPr wrap="square" lIns="0" tIns="0" rIns="0" bIns="0" anchor="t">
            <a:spAutoFit/>
          </a:bodyPr>
          <a:lstStyle/>
          <a:p>
            <a:pPr algn="l"/>
            <a:r>
              <a:rPr sz="1500" b="0">
                <a:solidFill>
                  <a:srgbClr val="14161C"/>
                </a:solidFill>
                <a:latin typeface="Arial"/>
              </a:rPr>
              <a:t>What's mandatory before merge.</a:t>
            </a:r>
          </a:p>
        </p:txBody>
      </p:sp>
      <p:sp>
        <p:nvSpPr>
          <p:cNvPr id="21" name="TextBox 20"/>
          <p:cNvSpPr txBox="1"/>
          <p:nvPr/>
        </p:nvSpPr>
        <p:spPr>
          <a:xfrm>
            <a:off x="1143000" y="7955279"/>
            <a:ext cx="15544800" cy="640080"/>
          </a:xfrm>
          <a:prstGeom prst="rect">
            <a:avLst/>
          </a:prstGeom>
          <a:noFill/>
        </p:spPr>
        <p:txBody>
          <a:bodyPr wrap="square" lIns="0" tIns="0" rIns="0" bIns="0" anchor="t">
            <a:spAutoFit/>
          </a:bodyPr>
          <a:lstStyle/>
          <a:p>
            <a:pPr algn="l"/>
            <a:r>
              <a:rPr sz="2200" b="1">
                <a:solidFill>
                  <a:srgbClr val="14161C"/>
                </a:solidFill>
                <a:latin typeface="Arial"/>
              </a:rPr>
              <a:t>Write them once — where they'll always be in context.</a:t>
            </a:r>
          </a:p>
        </p:txBody>
      </p:sp>
      <p:sp>
        <p:nvSpPr>
          <p:cNvPr id="22" name="Rectangle 21"/>
          <p:cNvSpPr/>
          <p:nvPr/>
        </p:nvSpPr>
        <p:spPr>
          <a:xfrm>
            <a:off x="1143000" y="9052560"/>
            <a:ext cx="6766560" cy="384048"/>
          </a:xfrm>
          <a:prstGeom prst="rect">
            <a:avLst/>
          </a:prstGeom>
          <a:noFill/>
          <a:ln w="9525">
            <a:solidFill>
              <a:srgbClr val="F58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307592" y="9144000"/>
            <a:ext cx="6437376" cy="237744"/>
          </a:xfrm>
          <a:prstGeom prst="rect">
            <a:avLst/>
          </a:prstGeom>
          <a:noFill/>
        </p:spPr>
        <p:txBody>
          <a:bodyPr wrap="square" lIns="0" tIns="0" rIns="0" bIns="0" anchor="t">
            <a:spAutoFit/>
          </a:bodyPr>
          <a:lstStyle/>
          <a:p>
            <a:pPr algn="l"/>
            <a:r>
              <a:rPr sz="1000" b="1">
                <a:solidFill>
                  <a:srgbClr val="F58220"/>
                </a:solidFill>
                <a:latin typeface="Arial"/>
              </a:rPr>
              <a:t>JUNIOR-DEV MISTAKE INSURANCE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 y="475488"/>
            <a:ext cx="7315200" cy="237744"/>
          </a:xfrm>
          <a:prstGeom prst="rect">
            <a:avLst/>
          </a:prstGeom>
          <a:noFill/>
        </p:spPr>
        <p:txBody>
          <a:bodyPr wrap="square" lIns="0" tIns="0" rIns="0" bIns="0" anchor="t">
            <a:spAutoFit/>
          </a:bodyPr>
          <a:lstStyle/>
          <a:p>
            <a:pPr algn="l"/>
            <a:r>
              <a:rPr sz="1000" b="1">
                <a:solidFill>
                  <a:srgbClr val="6B6E78"/>
                </a:solidFill>
                <a:latin typeface="Arial"/>
              </a:rPr>
              <a:t>BUILDING CONTEXT · PART 1</a:t>
            </a:r>
          </a:p>
        </p:txBody>
      </p:sp>
      <p:sp>
        <p:nvSpPr>
          <p:cNvPr id="4" name="TextBox 3"/>
          <p:cNvSpPr txBox="1"/>
          <p:nvPr/>
        </p:nvSpPr>
        <p:spPr>
          <a:xfrm>
            <a:off x="15544800" y="475488"/>
            <a:ext cx="1691640" cy="237744"/>
          </a:xfrm>
          <a:prstGeom prst="rect">
            <a:avLst/>
          </a:prstGeom>
          <a:noFill/>
        </p:spPr>
        <p:txBody>
          <a:bodyPr wrap="square" lIns="0" tIns="0" rIns="0" bIns="0" anchor="t">
            <a:spAutoFit/>
          </a:bodyPr>
          <a:lstStyle/>
          <a:p>
            <a:pPr algn="r"/>
            <a:r>
              <a:rPr sz="1000" b="1">
                <a:solidFill>
                  <a:srgbClr val="6B6E78"/>
                </a:solidFill>
                <a:latin typeface="Arial"/>
              </a:rPr>
              <a:t>18 / 22</a:t>
            </a:r>
          </a:p>
        </p:txBody>
      </p:sp>
      <p:sp>
        <p:nvSpPr>
          <p:cNvPr id="5" name="Rectangle 4"/>
          <p:cNvSpPr/>
          <p:nvPr/>
        </p:nvSpPr>
        <p:spPr>
          <a:xfrm>
            <a:off x="1143000" y="9646920"/>
            <a:ext cx="16002000" cy="8000"/>
          </a:xfrm>
          <a:prstGeom prst="rect">
            <a:avLst/>
          </a:prstGeom>
          <a:solidFill>
            <a:srgbClr val="DC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0" y="384048"/>
            <a:ext cx="6400800" cy="4297680"/>
          </a:xfrm>
          <a:prstGeom prst="rect">
            <a:avLst/>
          </a:prstGeom>
          <a:noFill/>
        </p:spPr>
        <p:txBody>
          <a:bodyPr wrap="square" lIns="0" tIns="0" rIns="0" bIns="0" anchor="t">
            <a:spAutoFit/>
          </a:bodyPr>
          <a:lstStyle/>
          <a:p>
            <a:pPr algn="l"/>
            <a:r>
              <a:rPr sz="39000" b="1">
                <a:solidFill>
                  <a:srgbClr val="E8E5DD"/>
                </a:solidFill>
                <a:latin typeface="Arial"/>
              </a:rPr>
              <a:t>18</a:t>
            </a:r>
          </a:p>
        </p:txBody>
      </p:sp>
      <p:sp>
        <p:nvSpPr>
          <p:cNvPr id="7" name="TextBox 6"/>
          <p:cNvSpPr txBox="1"/>
          <p:nvPr/>
        </p:nvSpPr>
        <p:spPr>
          <a:xfrm>
            <a:off x="1143000" y="2093976"/>
            <a:ext cx="16459200" cy="310896"/>
          </a:xfrm>
          <a:prstGeom prst="rect">
            <a:avLst/>
          </a:prstGeom>
          <a:noFill/>
        </p:spPr>
        <p:txBody>
          <a:bodyPr wrap="square" lIns="0" tIns="0" rIns="0" bIns="0" anchor="t">
            <a:spAutoFit/>
          </a:bodyPr>
          <a:lstStyle/>
          <a:p>
            <a:pPr algn="l"/>
            <a:r>
              <a:rPr sz="1100" b="1">
                <a:solidFill>
                  <a:srgbClr val="F58220"/>
                </a:solidFill>
                <a:latin typeface="Arial"/>
              </a:rPr>
              <a:t>LIVE DEMO  ·  10 MIN</a:t>
            </a:r>
          </a:p>
        </p:txBody>
      </p:sp>
      <p:sp>
        <p:nvSpPr>
          <p:cNvPr id="8" name="TextBox 7"/>
          <p:cNvSpPr txBox="1"/>
          <p:nvPr/>
        </p:nvSpPr>
        <p:spPr>
          <a:xfrm>
            <a:off x="1143000" y="2606040"/>
            <a:ext cx="16459200" cy="2377440"/>
          </a:xfrm>
          <a:prstGeom prst="rect">
            <a:avLst/>
          </a:prstGeom>
          <a:noFill/>
        </p:spPr>
        <p:txBody>
          <a:bodyPr wrap="square" lIns="0" tIns="0" rIns="0" bIns="0" anchor="t">
            <a:spAutoFit/>
          </a:bodyPr>
          <a:lstStyle/>
          <a:p>
            <a:pPr algn="l"/>
            <a:r>
              <a:rPr sz="8000" b="1">
                <a:solidFill>
                  <a:srgbClr val="14161C"/>
                </a:solidFill>
                <a:latin typeface="Arial"/>
              </a:rPr>
              <a:t>Watch this.</a:t>
            </a:r>
          </a:p>
        </p:txBody>
      </p:sp>
      <p:sp>
        <p:nvSpPr>
          <p:cNvPr id="9" name="Rectangle 8"/>
          <p:cNvSpPr/>
          <p:nvPr/>
        </p:nvSpPr>
        <p:spPr>
          <a:xfrm>
            <a:off x="1143000" y="5212080"/>
            <a:ext cx="16002000" cy="2194560"/>
          </a:xfrm>
          <a:prstGeom prst="rect">
            <a:avLst/>
          </a:prstGeom>
          <a:solidFill>
            <a:srgbClr val="1E2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63040" y="5394960"/>
            <a:ext cx="14630400" cy="457200"/>
          </a:xfrm>
          <a:prstGeom prst="rect">
            <a:avLst/>
          </a:prstGeom>
          <a:noFill/>
        </p:spPr>
        <p:txBody>
          <a:bodyPr wrap="square" lIns="0" tIns="0" rIns="0" bIns="0" anchor="t">
            <a:spAutoFit/>
          </a:bodyPr>
          <a:lstStyle/>
          <a:p>
            <a:pPr algn="l"/>
            <a:r>
              <a:rPr sz="1400" b="1">
                <a:solidFill>
                  <a:srgbClr val="3FE0D0"/>
                </a:solidFill>
                <a:latin typeface="Consolas"/>
              </a:rPr>
              <a:t>// IN A SAMPLE PROJECT</a:t>
            </a:r>
          </a:p>
        </p:txBody>
      </p:sp>
      <p:sp>
        <p:nvSpPr>
          <p:cNvPr id="11" name="TextBox 10"/>
          <p:cNvSpPr txBox="1"/>
          <p:nvPr/>
        </p:nvSpPr>
        <p:spPr>
          <a:xfrm>
            <a:off x="1463040" y="5897880"/>
            <a:ext cx="14630400" cy="1371600"/>
          </a:xfrm>
          <a:prstGeom prst="rect">
            <a:avLst/>
          </a:prstGeom>
          <a:noFill/>
        </p:spPr>
        <p:txBody>
          <a:bodyPr wrap="square" lIns="0" tIns="0" rIns="0" bIns="0" anchor="t">
            <a:spAutoFit/>
          </a:bodyPr>
          <a:lstStyle/>
          <a:p>
            <a:pPr algn="l"/>
            <a:r>
              <a:rPr sz="6400" b="1">
                <a:solidFill>
                  <a:srgbClr val="FFFFFF"/>
                </a:solidFill>
                <a:latin typeface="Consolas"/>
              </a:rPr>
              <a:t>/project:init-claude-md</a:t>
            </a:r>
          </a:p>
        </p:txBody>
      </p:sp>
      <p:sp>
        <p:nvSpPr>
          <p:cNvPr id="12" name="TextBox 11"/>
          <p:cNvSpPr txBox="1"/>
          <p:nvPr/>
        </p:nvSpPr>
        <p:spPr>
          <a:xfrm>
            <a:off x="1143000" y="7680960"/>
            <a:ext cx="15544800" cy="1371600"/>
          </a:xfrm>
          <a:prstGeom prst="rect">
            <a:avLst/>
          </a:prstGeom>
          <a:noFill/>
        </p:spPr>
        <p:txBody>
          <a:bodyPr wrap="square" lIns="0" tIns="0" rIns="0" bIns="0">
            <a:spAutoFit/>
          </a:bodyPr>
          <a:lstStyle/>
          <a:p>
            <a:pPr algn="l">
              <a:lnSpc>
                <a:spcPct val="115000"/>
              </a:lnSpc>
              <a:spcAft>
                <a:spcPts val="600"/>
              </a:spcAft>
            </a:pPr>
            <a:r>
              <a:rPr sz="1800" b="0">
                <a:solidFill>
                  <a:srgbClr val="14161C"/>
                </a:solidFill>
                <a:latin typeface="Arial"/>
              </a:rPr>
              <a:t>•  Small, familiar app — volunteer signup or a church directory.</a:t>
            </a:r>
          </a:p>
          <a:p>
            <a:pPr algn="l">
              <a:lnSpc>
                <a:spcPct val="115000"/>
              </a:lnSpc>
              <a:spcAft>
                <a:spcPts val="600"/>
              </a:spcAft>
            </a:pPr>
            <a:r>
              <a:rPr sz="1800" b="0">
                <a:solidFill>
                  <a:srgbClr val="14161C"/>
                </a:solidFill>
                <a:latin typeface="Arial"/>
              </a:rPr>
              <a:t>•  Watch which Commandments the generated file embodies. (And which it violates.)</a:t>
            </a:r>
          </a:p>
        </p:txBody>
      </p:sp>
      <p:sp>
        <p:nvSpPr>
          <p:cNvPr id="13" name="Rectangle 12"/>
          <p:cNvSpPr/>
          <p:nvPr/>
        </p:nvSpPr>
        <p:spPr>
          <a:xfrm>
            <a:off x="1143000" y="9052560"/>
            <a:ext cx="10195560" cy="384048"/>
          </a:xfrm>
          <a:prstGeom prst="rect">
            <a:avLst/>
          </a:prstGeom>
          <a:noFill/>
          <a:ln w="9525">
            <a:solidFill>
              <a:srgbClr val="F58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07592" y="9144000"/>
            <a:ext cx="9866376" cy="237744"/>
          </a:xfrm>
          <a:prstGeom prst="rect">
            <a:avLst/>
          </a:prstGeom>
          <a:noFill/>
        </p:spPr>
        <p:txBody>
          <a:bodyPr wrap="square" lIns="0" tIns="0" rIns="0" bIns="0" anchor="t">
            <a:spAutoFit/>
          </a:bodyPr>
          <a:lstStyle/>
          <a:p>
            <a:pPr algn="l"/>
            <a:r>
              <a:rPr sz="1000" b="1">
                <a:solidFill>
                  <a:srgbClr val="F58220"/>
                </a:solidFill>
                <a:latin typeface="Arial"/>
              </a:rPr>
              <a:t>IF DEMO FAILS · NEXT SLIDE IS THE INSURANCE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 y="475488"/>
            <a:ext cx="7315200" cy="237744"/>
          </a:xfrm>
          <a:prstGeom prst="rect">
            <a:avLst/>
          </a:prstGeom>
          <a:noFill/>
        </p:spPr>
        <p:txBody>
          <a:bodyPr wrap="square" lIns="0" tIns="0" rIns="0" bIns="0" anchor="t">
            <a:spAutoFit/>
          </a:bodyPr>
          <a:lstStyle/>
          <a:p>
            <a:pPr algn="l"/>
            <a:r>
              <a:rPr sz="1000" b="1">
                <a:solidFill>
                  <a:srgbClr val="6B6E78"/>
                </a:solidFill>
                <a:latin typeface="Arial"/>
              </a:rPr>
              <a:t>BUILDING CONTEXT · PART 1</a:t>
            </a:r>
          </a:p>
        </p:txBody>
      </p:sp>
      <p:sp>
        <p:nvSpPr>
          <p:cNvPr id="4" name="TextBox 3"/>
          <p:cNvSpPr txBox="1"/>
          <p:nvPr/>
        </p:nvSpPr>
        <p:spPr>
          <a:xfrm>
            <a:off x="15544800" y="475488"/>
            <a:ext cx="1691640" cy="237744"/>
          </a:xfrm>
          <a:prstGeom prst="rect">
            <a:avLst/>
          </a:prstGeom>
          <a:noFill/>
        </p:spPr>
        <p:txBody>
          <a:bodyPr wrap="square" lIns="0" tIns="0" rIns="0" bIns="0" anchor="t">
            <a:spAutoFit/>
          </a:bodyPr>
          <a:lstStyle/>
          <a:p>
            <a:pPr algn="r"/>
            <a:r>
              <a:rPr sz="1000" b="1">
                <a:solidFill>
                  <a:srgbClr val="6B6E78"/>
                </a:solidFill>
                <a:latin typeface="Arial"/>
              </a:rPr>
              <a:t>19 / 22</a:t>
            </a:r>
          </a:p>
        </p:txBody>
      </p:sp>
      <p:sp>
        <p:nvSpPr>
          <p:cNvPr id="5" name="Rectangle 4"/>
          <p:cNvSpPr/>
          <p:nvPr/>
        </p:nvSpPr>
        <p:spPr>
          <a:xfrm>
            <a:off x="1143000" y="9646920"/>
            <a:ext cx="16002000" cy="8000"/>
          </a:xfrm>
          <a:prstGeom prst="rect">
            <a:avLst/>
          </a:prstGeom>
          <a:solidFill>
            <a:srgbClr val="DC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0" y="384048"/>
            <a:ext cx="6400800" cy="4297680"/>
          </a:xfrm>
          <a:prstGeom prst="rect">
            <a:avLst/>
          </a:prstGeom>
          <a:noFill/>
        </p:spPr>
        <p:txBody>
          <a:bodyPr wrap="square" lIns="0" tIns="0" rIns="0" bIns="0" anchor="t">
            <a:spAutoFit/>
          </a:bodyPr>
          <a:lstStyle/>
          <a:p>
            <a:pPr algn="l"/>
            <a:r>
              <a:rPr sz="39000" b="1">
                <a:solidFill>
                  <a:srgbClr val="E8E5DD"/>
                </a:solidFill>
                <a:latin typeface="Arial"/>
              </a:rPr>
              <a:t>19</a:t>
            </a:r>
          </a:p>
        </p:txBody>
      </p:sp>
      <p:sp>
        <p:nvSpPr>
          <p:cNvPr id="7" name="TextBox 6"/>
          <p:cNvSpPr txBox="1"/>
          <p:nvPr/>
        </p:nvSpPr>
        <p:spPr>
          <a:xfrm>
            <a:off x="1143000" y="2093976"/>
            <a:ext cx="16459200" cy="310896"/>
          </a:xfrm>
          <a:prstGeom prst="rect">
            <a:avLst/>
          </a:prstGeom>
          <a:noFill/>
        </p:spPr>
        <p:txBody>
          <a:bodyPr wrap="square" lIns="0" tIns="0" rIns="0" bIns="0" anchor="t">
            <a:spAutoFit/>
          </a:bodyPr>
          <a:lstStyle/>
          <a:p>
            <a:pPr algn="l"/>
            <a:r>
              <a:rPr sz="1100" b="1">
                <a:solidFill>
                  <a:srgbClr val="F58220"/>
                </a:solidFill>
                <a:latin typeface="Arial"/>
              </a:rPr>
              <a:t>DEMO RESULT  ·  ANNOTATED</a:t>
            </a:r>
          </a:p>
        </p:txBody>
      </p:sp>
      <p:sp>
        <p:nvSpPr>
          <p:cNvPr id="8" name="TextBox 7"/>
          <p:cNvSpPr txBox="1"/>
          <p:nvPr/>
        </p:nvSpPr>
        <p:spPr>
          <a:xfrm>
            <a:off x="1143000" y="2606040"/>
            <a:ext cx="16459200" cy="1828800"/>
          </a:xfrm>
          <a:prstGeom prst="rect">
            <a:avLst/>
          </a:prstGeom>
          <a:noFill/>
        </p:spPr>
        <p:txBody>
          <a:bodyPr wrap="square" lIns="0" tIns="0" rIns="0" bIns="0" anchor="t">
            <a:spAutoFit/>
          </a:bodyPr>
          <a:lstStyle/>
          <a:p>
            <a:pPr algn="l"/>
            <a:r>
              <a:rPr sz="6400" b="1">
                <a:solidFill>
                  <a:srgbClr val="14161C"/>
                </a:solidFill>
                <a:latin typeface="Arial"/>
              </a:rPr>
              <a:t>What just got </a:t>
            </a:r>
            <a:r>
              <a:rPr sz="6400" b="1">
                <a:solidFill>
                  <a:srgbClr val="F58220"/>
                </a:solidFill>
                <a:latin typeface="Arial"/>
              </a:rPr>
              <a:t>generated.</a:t>
            </a:r>
          </a:p>
        </p:txBody>
      </p:sp>
      <p:sp>
        <p:nvSpPr>
          <p:cNvPr id="9" name="TextBox 8"/>
          <p:cNvSpPr txBox="1"/>
          <p:nvPr/>
        </p:nvSpPr>
        <p:spPr>
          <a:xfrm>
            <a:off x="1143000" y="4572000"/>
            <a:ext cx="15544800" cy="411480"/>
          </a:xfrm>
          <a:prstGeom prst="rect">
            <a:avLst/>
          </a:prstGeom>
          <a:noFill/>
        </p:spPr>
        <p:txBody>
          <a:bodyPr wrap="square" lIns="0" tIns="0" rIns="0" bIns="0" anchor="t">
            <a:spAutoFit/>
          </a:bodyPr>
          <a:lstStyle/>
          <a:p>
            <a:pPr algn="l"/>
            <a:r>
              <a:rPr sz="1300" b="1">
                <a:solidFill>
                  <a:srgbClr val="6B6E78"/>
                </a:solidFill>
                <a:latin typeface="Arial"/>
              </a:rPr>
              <a:t>[DIAGRAM TO INSERT: annotated screenshot of the generated CLAUDE.md, with arrows pointing at the six sections and callouts for Commandment II/III/VIII]</a:t>
            </a:r>
          </a:p>
        </p:txBody>
      </p:sp>
      <p:sp>
        <p:nvSpPr>
          <p:cNvPr id="10" name="TextBox 9"/>
          <p:cNvSpPr txBox="1"/>
          <p:nvPr/>
        </p:nvSpPr>
        <p:spPr>
          <a:xfrm>
            <a:off x="1143000" y="5212080"/>
            <a:ext cx="15544800" cy="3657600"/>
          </a:xfrm>
          <a:prstGeom prst="rect">
            <a:avLst/>
          </a:prstGeom>
          <a:noFill/>
        </p:spPr>
        <p:txBody>
          <a:bodyPr wrap="square" lIns="0" tIns="0" rIns="0" bIns="0">
            <a:spAutoFit/>
          </a:bodyPr>
          <a:lstStyle/>
          <a:p>
            <a:pPr algn="l">
              <a:lnSpc>
                <a:spcPct val="115000"/>
              </a:lnSpc>
              <a:spcAft>
                <a:spcPts val="600"/>
              </a:spcAft>
            </a:pPr>
            <a:r>
              <a:rPr sz="2200" b="0">
                <a:solidFill>
                  <a:srgbClr val="14161C"/>
                </a:solidFill>
                <a:latin typeface="Arial"/>
              </a:rPr>
              <a:t>•  Six sections — Overview, Stack, Structure, Conventions, Build/test, Notes.</a:t>
            </a:r>
          </a:p>
          <a:p>
            <a:pPr algn="l">
              <a:lnSpc>
                <a:spcPct val="115000"/>
              </a:lnSpc>
              <a:spcAft>
                <a:spcPts val="600"/>
              </a:spcAft>
            </a:pPr>
            <a:r>
              <a:rPr sz="2200" b="0">
                <a:solidFill>
                  <a:srgbClr val="14161C"/>
                </a:solidFill>
                <a:latin typeface="Arial"/>
              </a:rPr>
              <a:t>•  One screen. No skills inlined that should be skills (Commandment III).</a:t>
            </a:r>
          </a:p>
          <a:p>
            <a:pPr algn="l">
              <a:lnSpc>
                <a:spcPct val="115000"/>
              </a:lnSpc>
              <a:spcAft>
                <a:spcPts val="600"/>
              </a:spcAft>
            </a:pPr>
            <a:r>
              <a:rPr sz="2200" b="0">
                <a:solidFill>
                  <a:srgbClr val="14161C"/>
                </a:solidFill>
                <a:latin typeface="Arial"/>
              </a:rPr>
              <a:t>•  If a section drifted long, we'd cut it back to a router pointer (Commandment II).</a:t>
            </a:r>
          </a:p>
        </p:txBody>
      </p:sp>
      <p:sp>
        <p:nvSpPr>
          <p:cNvPr id="11" name="Rectangle 10"/>
          <p:cNvSpPr/>
          <p:nvPr/>
        </p:nvSpPr>
        <p:spPr>
          <a:xfrm>
            <a:off x="1143000" y="9052560"/>
            <a:ext cx="10195560" cy="384048"/>
          </a:xfrm>
          <a:prstGeom prst="rect">
            <a:avLst/>
          </a:prstGeom>
          <a:noFill/>
          <a:ln w="9525">
            <a:solidFill>
              <a:srgbClr val="F58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307592" y="9144000"/>
            <a:ext cx="9866376" cy="237744"/>
          </a:xfrm>
          <a:prstGeom prst="rect">
            <a:avLst/>
          </a:prstGeom>
          <a:noFill/>
        </p:spPr>
        <p:txBody>
          <a:bodyPr wrap="square" lIns="0" tIns="0" rIns="0" bIns="0" anchor="t">
            <a:spAutoFit/>
          </a:bodyPr>
          <a:lstStyle/>
          <a:p>
            <a:pPr algn="l"/>
            <a:r>
              <a:rPr sz="1000" b="1">
                <a:solidFill>
                  <a:srgbClr val="F58220"/>
                </a:solidFill>
                <a:latin typeface="Arial"/>
              </a:rPr>
              <a:t>INSURANCE SLIDE · USE IF LIVE DEMO STUMBLED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TenCommandments.png"/>
          <p:cNvPicPr>
            <a:picLocks noChangeAspect="1"/>
          </p:cNvPicPr>
          <p:nvPr/>
        </p:nvPicPr>
        <p:blipFill>
          <a:blip r:embed="rId3"/>
          <a:stretch>
            <a:fillRect/>
          </a:stretch>
        </p:blipFill>
        <p:spPr>
          <a:xfrm>
            <a:off x="1814512" y="257175"/>
            <a:ext cx="14658975" cy="9772650"/>
          </a:xfrm>
          <a:prstGeom prst="rect">
            <a:avLst/>
          </a:prstGeom>
        </p:spPr>
      </p:pic>
      <p:sp>
        <p:nvSpPr>
          <p:cNvPr id="4" name="TextBox 3"/>
          <p:cNvSpPr txBox="1"/>
          <p:nvPr/>
        </p:nvSpPr>
        <p:spPr>
          <a:xfrm>
            <a:off x="15544800" y="9921240"/>
            <a:ext cx="1828800" cy="237744"/>
          </a:xfrm>
          <a:prstGeom prst="rect">
            <a:avLst/>
          </a:prstGeom>
          <a:noFill/>
        </p:spPr>
        <p:txBody>
          <a:bodyPr wrap="square" lIns="0" tIns="0" rIns="0" bIns="0" anchor="t">
            <a:spAutoFit/>
          </a:bodyPr>
          <a:lstStyle/>
          <a:p>
            <a:pPr algn="r"/>
            <a:r>
              <a:rPr sz="1000" b="1">
                <a:solidFill>
                  <a:srgbClr val="6B6E78"/>
                </a:solidFill>
                <a:latin typeface="Arial"/>
              </a:rPr>
              <a:t>20 / 22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 y="475488"/>
            <a:ext cx="7315200" cy="237744"/>
          </a:xfrm>
          <a:prstGeom prst="rect">
            <a:avLst/>
          </a:prstGeom>
          <a:noFill/>
        </p:spPr>
        <p:txBody>
          <a:bodyPr wrap="square" lIns="0" tIns="0" rIns="0" bIns="0" anchor="t">
            <a:spAutoFit/>
          </a:bodyPr>
          <a:lstStyle/>
          <a:p>
            <a:pPr algn="l"/>
            <a:r>
              <a:rPr sz="1000" b="1">
                <a:solidFill>
                  <a:srgbClr val="6B6E78"/>
                </a:solidFill>
                <a:latin typeface="Arial"/>
              </a:rPr>
              <a:t>BUILDING CONTEXT · PART 1</a:t>
            </a:r>
          </a:p>
        </p:txBody>
      </p:sp>
      <p:sp>
        <p:nvSpPr>
          <p:cNvPr id="4" name="TextBox 3"/>
          <p:cNvSpPr txBox="1"/>
          <p:nvPr/>
        </p:nvSpPr>
        <p:spPr>
          <a:xfrm>
            <a:off x="15544800" y="475488"/>
            <a:ext cx="1691640" cy="237744"/>
          </a:xfrm>
          <a:prstGeom prst="rect">
            <a:avLst/>
          </a:prstGeom>
          <a:noFill/>
        </p:spPr>
        <p:txBody>
          <a:bodyPr wrap="square" lIns="0" tIns="0" rIns="0" bIns="0" anchor="t">
            <a:spAutoFit/>
          </a:bodyPr>
          <a:lstStyle/>
          <a:p>
            <a:pPr algn="r"/>
            <a:r>
              <a:rPr sz="1000" b="1">
                <a:solidFill>
                  <a:srgbClr val="6B6E78"/>
                </a:solidFill>
                <a:latin typeface="Arial"/>
              </a:rPr>
              <a:t>21 / 22</a:t>
            </a:r>
          </a:p>
        </p:txBody>
      </p:sp>
      <p:sp>
        <p:nvSpPr>
          <p:cNvPr id="5" name="Rectangle 4"/>
          <p:cNvSpPr/>
          <p:nvPr/>
        </p:nvSpPr>
        <p:spPr>
          <a:xfrm>
            <a:off x="1143000" y="9646920"/>
            <a:ext cx="16002000" cy="8000"/>
          </a:xfrm>
          <a:prstGeom prst="rect">
            <a:avLst/>
          </a:prstGeom>
          <a:solidFill>
            <a:srgbClr val="DC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0" y="384048"/>
            <a:ext cx="6400800" cy="4297680"/>
          </a:xfrm>
          <a:prstGeom prst="rect">
            <a:avLst/>
          </a:prstGeom>
          <a:noFill/>
        </p:spPr>
        <p:txBody>
          <a:bodyPr wrap="square" lIns="0" tIns="0" rIns="0" bIns="0" anchor="t">
            <a:spAutoFit/>
          </a:bodyPr>
          <a:lstStyle/>
          <a:p>
            <a:pPr algn="l"/>
            <a:r>
              <a:rPr sz="39000" b="1">
                <a:solidFill>
                  <a:srgbClr val="E8E5DD"/>
                </a:solidFill>
                <a:latin typeface="Arial"/>
              </a:rPr>
              <a:t>21</a:t>
            </a:r>
          </a:p>
        </p:txBody>
      </p:sp>
      <p:sp>
        <p:nvSpPr>
          <p:cNvPr id="7" name="TextBox 6"/>
          <p:cNvSpPr txBox="1"/>
          <p:nvPr/>
        </p:nvSpPr>
        <p:spPr>
          <a:xfrm>
            <a:off x="1143000" y="2093976"/>
            <a:ext cx="16459200" cy="310896"/>
          </a:xfrm>
          <a:prstGeom prst="rect">
            <a:avLst/>
          </a:prstGeom>
          <a:noFill/>
        </p:spPr>
        <p:txBody>
          <a:bodyPr wrap="square" lIns="0" tIns="0" rIns="0" bIns="0" anchor="t">
            <a:spAutoFit/>
          </a:bodyPr>
          <a:lstStyle/>
          <a:p>
            <a:pPr algn="l"/>
            <a:r>
              <a:rPr sz="1100" b="1">
                <a:solidFill>
                  <a:srgbClr val="F58220"/>
                </a:solidFill>
                <a:latin typeface="Arial"/>
              </a:rPr>
              <a:t>PREVIEW  ·  PART 2  ·  AFTER LUNCH</a:t>
            </a:r>
          </a:p>
        </p:txBody>
      </p:sp>
      <p:sp>
        <p:nvSpPr>
          <p:cNvPr id="8" name="TextBox 7"/>
          <p:cNvSpPr txBox="1"/>
          <p:nvPr/>
        </p:nvSpPr>
        <p:spPr>
          <a:xfrm>
            <a:off x="1143000" y="2606040"/>
            <a:ext cx="16459200" cy="2286000"/>
          </a:xfrm>
          <a:prstGeom prst="rect">
            <a:avLst/>
          </a:prstGeom>
          <a:noFill/>
        </p:spPr>
        <p:txBody>
          <a:bodyPr wrap="square" lIns="0" tIns="0" rIns="0" bIns="0" anchor="t">
            <a:spAutoFit/>
          </a:bodyPr>
          <a:lstStyle/>
          <a:p>
            <a:pPr algn="l"/>
            <a:r>
              <a:rPr sz="5800" b="1">
                <a:solidFill>
                  <a:srgbClr val="14161C"/>
                </a:solidFill>
                <a:latin typeface="Arial"/>
              </a:rPr>
              <a:t>You'll write your own. </a:t>
            </a:r>
            <a:r>
              <a:rPr sz="5800" b="1">
                <a:solidFill>
                  <a:srgbClr val="F58220"/>
                </a:solidFill>
                <a:latin typeface="Arial"/>
              </a:rPr>
              <a:t>Then rewrite it.</a:t>
            </a:r>
          </a:p>
        </p:txBody>
      </p:sp>
      <p:sp>
        <p:nvSpPr>
          <p:cNvPr id="9" name="Rectangle 8"/>
          <p:cNvSpPr/>
          <p:nvPr/>
        </p:nvSpPr>
        <p:spPr>
          <a:xfrm>
            <a:off x="1143000" y="5212080"/>
            <a:ext cx="5212080" cy="2377440"/>
          </a:xfrm>
          <a:prstGeom prst="rect">
            <a:avLst/>
          </a:prstGeom>
          <a:solidFill>
            <a:srgbClr val="FFFFFF"/>
          </a:solidFill>
          <a:ln w="12700">
            <a:solidFill>
              <a:srgbClr val="F58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508760" y="5486400"/>
            <a:ext cx="1828800" cy="365760"/>
          </a:xfrm>
          <a:prstGeom prst="rect">
            <a:avLst/>
          </a:prstGeom>
          <a:noFill/>
        </p:spPr>
        <p:txBody>
          <a:bodyPr wrap="square" lIns="0" tIns="0" rIns="0" bIns="0" anchor="t">
            <a:spAutoFit/>
          </a:bodyPr>
          <a:lstStyle/>
          <a:p>
            <a:pPr algn="l"/>
            <a:r>
              <a:rPr sz="1400" b="1">
                <a:solidFill>
                  <a:srgbClr val="F58220"/>
                </a:solidFill>
                <a:latin typeface="Arial"/>
              </a:rPr>
              <a:t>01</a:t>
            </a:r>
          </a:p>
        </p:txBody>
      </p:sp>
      <p:sp>
        <p:nvSpPr>
          <p:cNvPr id="11" name="TextBox 10"/>
          <p:cNvSpPr txBox="1"/>
          <p:nvPr/>
        </p:nvSpPr>
        <p:spPr>
          <a:xfrm>
            <a:off x="1508760" y="5989320"/>
            <a:ext cx="4480560" cy="548640"/>
          </a:xfrm>
          <a:prstGeom prst="rect">
            <a:avLst/>
          </a:prstGeom>
          <a:noFill/>
        </p:spPr>
        <p:txBody>
          <a:bodyPr wrap="square" lIns="0" tIns="0" rIns="0" bIns="0" anchor="t">
            <a:spAutoFit/>
          </a:bodyPr>
          <a:lstStyle/>
          <a:p>
            <a:pPr algn="l"/>
            <a:r>
              <a:rPr sz="2800" b="1">
                <a:solidFill>
                  <a:srgbClr val="14161C"/>
                </a:solidFill>
                <a:latin typeface="Arial"/>
              </a:rPr>
              <a:t>WRITE</a:t>
            </a:r>
          </a:p>
        </p:txBody>
      </p:sp>
      <p:sp>
        <p:nvSpPr>
          <p:cNvPr id="12" name="TextBox 11"/>
          <p:cNvSpPr txBox="1"/>
          <p:nvPr/>
        </p:nvSpPr>
        <p:spPr>
          <a:xfrm>
            <a:off x="1508760" y="6629400"/>
            <a:ext cx="4480560" cy="822960"/>
          </a:xfrm>
          <a:prstGeom prst="rect">
            <a:avLst/>
          </a:prstGeom>
          <a:noFill/>
        </p:spPr>
        <p:txBody>
          <a:bodyPr wrap="square" lIns="0" tIns="0" rIns="0" bIns="0" anchor="t">
            <a:spAutoFit/>
          </a:bodyPr>
          <a:lstStyle/>
          <a:p>
            <a:pPr algn="l"/>
            <a:r>
              <a:rPr sz="1500" b="0">
                <a:solidFill>
                  <a:srgbClr val="6B6E78"/>
                </a:solidFill>
                <a:latin typeface="Arial"/>
              </a:rPr>
              <a:t>Draft a CLAUDE.md for a project you actually own.</a:t>
            </a:r>
          </a:p>
        </p:txBody>
      </p:sp>
      <p:sp>
        <p:nvSpPr>
          <p:cNvPr id="13" name="Rectangle 12"/>
          <p:cNvSpPr/>
          <p:nvPr/>
        </p:nvSpPr>
        <p:spPr>
          <a:xfrm>
            <a:off x="6629400" y="5212080"/>
            <a:ext cx="5212080" cy="2377440"/>
          </a:xfrm>
          <a:prstGeom prst="rect">
            <a:avLst/>
          </a:prstGeom>
          <a:solidFill>
            <a:srgbClr val="FFFFFF"/>
          </a:solidFill>
          <a:ln w="12700">
            <a:solidFill>
              <a:srgbClr val="F58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95160" y="5486400"/>
            <a:ext cx="1828800" cy="365760"/>
          </a:xfrm>
          <a:prstGeom prst="rect">
            <a:avLst/>
          </a:prstGeom>
          <a:noFill/>
        </p:spPr>
        <p:txBody>
          <a:bodyPr wrap="square" lIns="0" tIns="0" rIns="0" bIns="0" anchor="t">
            <a:spAutoFit/>
          </a:bodyPr>
          <a:lstStyle/>
          <a:p>
            <a:pPr algn="l"/>
            <a:r>
              <a:rPr sz="1400" b="1">
                <a:solidFill>
                  <a:srgbClr val="F58220"/>
                </a:solidFill>
                <a:latin typeface="Arial"/>
              </a:rPr>
              <a:t>02</a:t>
            </a:r>
          </a:p>
        </p:txBody>
      </p:sp>
      <p:sp>
        <p:nvSpPr>
          <p:cNvPr id="15" name="TextBox 14"/>
          <p:cNvSpPr txBox="1"/>
          <p:nvPr/>
        </p:nvSpPr>
        <p:spPr>
          <a:xfrm>
            <a:off x="6995160" y="5989320"/>
            <a:ext cx="4480560" cy="548640"/>
          </a:xfrm>
          <a:prstGeom prst="rect">
            <a:avLst/>
          </a:prstGeom>
          <a:noFill/>
        </p:spPr>
        <p:txBody>
          <a:bodyPr wrap="square" lIns="0" tIns="0" rIns="0" bIns="0" anchor="t">
            <a:spAutoFit/>
          </a:bodyPr>
          <a:lstStyle/>
          <a:p>
            <a:pPr algn="l"/>
            <a:r>
              <a:rPr sz="2800" b="1">
                <a:solidFill>
                  <a:srgbClr val="14161C"/>
                </a:solidFill>
                <a:latin typeface="Arial"/>
              </a:rPr>
              <a:t>CRITIQUE</a:t>
            </a:r>
          </a:p>
        </p:txBody>
      </p:sp>
      <p:sp>
        <p:nvSpPr>
          <p:cNvPr id="16" name="TextBox 15"/>
          <p:cNvSpPr txBox="1"/>
          <p:nvPr/>
        </p:nvSpPr>
        <p:spPr>
          <a:xfrm>
            <a:off x="6995160" y="6629400"/>
            <a:ext cx="4480560" cy="822960"/>
          </a:xfrm>
          <a:prstGeom prst="rect">
            <a:avLst/>
          </a:prstGeom>
          <a:noFill/>
        </p:spPr>
        <p:txBody>
          <a:bodyPr wrap="square" lIns="0" tIns="0" rIns="0" bIns="0" anchor="t">
            <a:spAutoFit/>
          </a:bodyPr>
          <a:lstStyle/>
          <a:p>
            <a:pPr algn="l"/>
            <a:r>
              <a:rPr sz="1500" b="0">
                <a:solidFill>
                  <a:srgbClr val="6B6E78"/>
                </a:solidFill>
                <a:latin typeface="Arial"/>
              </a:rPr>
              <a:t>Trade decks. Your partner reviews against the Ten Commandments.</a:t>
            </a:r>
          </a:p>
        </p:txBody>
      </p:sp>
      <p:sp>
        <p:nvSpPr>
          <p:cNvPr id="17" name="Rectangle 16"/>
          <p:cNvSpPr/>
          <p:nvPr/>
        </p:nvSpPr>
        <p:spPr>
          <a:xfrm>
            <a:off x="12115800" y="5212080"/>
            <a:ext cx="5212080" cy="2377440"/>
          </a:xfrm>
          <a:prstGeom prst="rect">
            <a:avLst/>
          </a:prstGeom>
          <a:solidFill>
            <a:srgbClr val="FFFFFF"/>
          </a:solidFill>
          <a:ln w="12700">
            <a:solidFill>
              <a:srgbClr val="F58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2481560" y="5486400"/>
            <a:ext cx="1828800" cy="365760"/>
          </a:xfrm>
          <a:prstGeom prst="rect">
            <a:avLst/>
          </a:prstGeom>
          <a:noFill/>
        </p:spPr>
        <p:txBody>
          <a:bodyPr wrap="square" lIns="0" tIns="0" rIns="0" bIns="0" anchor="t">
            <a:spAutoFit/>
          </a:bodyPr>
          <a:lstStyle/>
          <a:p>
            <a:pPr algn="l"/>
            <a:r>
              <a:rPr sz="1400" b="1">
                <a:solidFill>
                  <a:srgbClr val="F58220"/>
                </a:solidFill>
                <a:latin typeface="Arial"/>
              </a:rPr>
              <a:t>03</a:t>
            </a:r>
          </a:p>
        </p:txBody>
      </p:sp>
      <p:sp>
        <p:nvSpPr>
          <p:cNvPr id="19" name="TextBox 18"/>
          <p:cNvSpPr txBox="1"/>
          <p:nvPr/>
        </p:nvSpPr>
        <p:spPr>
          <a:xfrm>
            <a:off x="12481560" y="5989320"/>
            <a:ext cx="4480560" cy="548640"/>
          </a:xfrm>
          <a:prstGeom prst="rect">
            <a:avLst/>
          </a:prstGeom>
          <a:noFill/>
        </p:spPr>
        <p:txBody>
          <a:bodyPr wrap="square" lIns="0" tIns="0" rIns="0" bIns="0" anchor="t">
            <a:spAutoFit/>
          </a:bodyPr>
          <a:lstStyle/>
          <a:p>
            <a:pPr algn="l"/>
            <a:r>
              <a:rPr sz="2800" b="1">
                <a:solidFill>
                  <a:srgbClr val="14161C"/>
                </a:solidFill>
                <a:latin typeface="Arial"/>
              </a:rPr>
              <a:t>REWRITE</a:t>
            </a:r>
          </a:p>
        </p:txBody>
      </p:sp>
      <p:sp>
        <p:nvSpPr>
          <p:cNvPr id="20" name="TextBox 19"/>
          <p:cNvSpPr txBox="1"/>
          <p:nvPr/>
        </p:nvSpPr>
        <p:spPr>
          <a:xfrm>
            <a:off x="12481560" y="6629400"/>
            <a:ext cx="4480560" cy="822960"/>
          </a:xfrm>
          <a:prstGeom prst="rect">
            <a:avLst/>
          </a:prstGeom>
          <a:noFill/>
        </p:spPr>
        <p:txBody>
          <a:bodyPr wrap="square" lIns="0" tIns="0" rIns="0" bIns="0" anchor="t">
            <a:spAutoFit/>
          </a:bodyPr>
          <a:lstStyle/>
          <a:p>
            <a:pPr algn="l"/>
            <a:r>
              <a:rPr sz="1500" b="0">
                <a:solidFill>
                  <a:srgbClr val="6B6E78"/>
                </a:solidFill>
                <a:latin typeface="Arial"/>
              </a:rPr>
              <a:t>Apply the feedback. That's Commandment X — iterate.</a:t>
            </a:r>
          </a:p>
        </p:txBody>
      </p:sp>
      <p:sp>
        <p:nvSpPr>
          <p:cNvPr id="21" name="Rectangle 20"/>
          <p:cNvSpPr/>
          <p:nvPr/>
        </p:nvSpPr>
        <p:spPr>
          <a:xfrm>
            <a:off x="1143000" y="9052560"/>
            <a:ext cx="11109960" cy="384048"/>
          </a:xfrm>
          <a:prstGeom prst="rect">
            <a:avLst/>
          </a:prstGeom>
          <a:noFill/>
          <a:ln w="9525">
            <a:solidFill>
              <a:srgbClr val="F58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307592" y="9144000"/>
            <a:ext cx="10780776" cy="237744"/>
          </a:xfrm>
          <a:prstGeom prst="rect">
            <a:avLst/>
          </a:prstGeom>
          <a:noFill/>
        </p:spPr>
        <p:txBody>
          <a:bodyPr wrap="square" lIns="0" tIns="0" rIns="0" bIns="0" anchor="t">
            <a:spAutoFit/>
          </a:bodyPr>
          <a:lstStyle/>
          <a:p>
            <a:pPr algn="l"/>
            <a:r>
              <a:rPr sz="1000" b="1">
                <a:solidFill>
                  <a:srgbClr val="F58220"/>
                </a:solidFill>
                <a:latin typeface="Arial"/>
              </a:rPr>
              <a:t>COMMANDMENT X  ·  ITERATE LIKE YOU ITERATE CODE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 y="475488"/>
            <a:ext cx="7315200" cy="237744"/>
          </a:xfrm>
          <a:prstGeom prst="rect">
            <a:avLst/>
          </a:prstGeom>
          <a:noFill/>
        </p:spPr>
        <p:txBody>
          <a:bodyPr wrap="square" lIns="0" tIns="0" rIns="0" bIns="0" anchor="t">
            <a:spAutoFit/>
          </a:bodyPr>
          <a:lstStyle/>
          <a:p>
            <a:pPr algn="l"/>
            <a:r>
              <a:rPr sz="1000" b="1">
                <a:solidFill>
                  <a:srgbClr val="6B6E78"/>
                </a:solidFill>
                <a:latin typeface="Arial"/>
              </a:rPr>
              <a:t>BUILDING CONTEXT · PART 1</a:t>
            </a:r>
          </a:p>
        </p:txBody>
      </p:sp>
      <p:sp>
        <p:nvSpPr>
          <p:cNvPr id="4" name="TextBox 3"/>
          <p:cNvSpPr txBox="1"/>
          <p:nvPr/>
        </p:nvSpPr>
        <p:spPr>
          <a:xfrm>
            <a:off x="15544800" y="475488"/>
            <a:ext cx="1691640" cy="237744"/>
          </a:xfrm>
          <a:prstGeom prst="rect">
            <a:avLst/>
          </a:prstGeom>
          <a:noFill/>
        </p:spPr>
        <p:txBody>
          <a:bodyPr wrap="square" lIns="0" tIns="0" rIns="0" bIns="0" anchor="t">
            <a:spAutoFit/>
          </a:bodyPr>
          <a:lstStyle/>
          <a:p>
            <a:pPr algn="r"/>
            <a:r>
              <a:rPr sz="1000" b="1">
                <a:solidFill>
                  <a:srgbClr val="6B6E78"/>
                </a:solidFill>
                <a:latin typeface="Arial"/>
              </a:rPr>
              <a:t>22 / 22</a:t>
            </a:r>
          </a:p>
        </p:txBody>
      </p:sp>
      <p:sp>
        <p:nvSpPr>
          <p:cNvPr id="5" name="Rectangle 4"/>
          <p:cNvSpPr/>
          <p:nvPr/>
        </p:nvSpPr>
        <p:spPr>
          <a:xfrm>
            <a:off x="1143000" y="9646920"/>
            <a:ext cx="16002000" cy="8000"/>
          </a:xfrm>
          <a:prstGeom prst="rect">
            <a:avLst/>
          </a:prstGeom>
          <a:solidFill>
            <a:srgbClr val="DC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43000" y="2093976"/>
            <a:ext cx="16459200" cy="310896"/>
          </a:xfrm>
          <a:prstGeom prst="rect">
            <a:avLst/>
          </a:prstGeom>
          <a:noFill/>
        </p:spPr>
        <p:txBody>
          <a:bodyPr wrap="square" lIns="0" tIns="0" rIns="0" bIns="0" anchor="t">
            <a:spAutoFit/>
          </a:bodyPr>
          <a:lstStyle/>
          <a:p>
            <a:pPr algn="l"/>
            <a:r>
              <a:rPr sz="1100" b="1">
                <a:solidFill>
                  <a:srgbClr val="F58220"/>
                </a:solidFill>
                <a:latin typeface="Arial"/>
              </a:rPr>
              <a:t>THE TRANSITION</a:t>
            </a:r>
          </a:p>
        </p:txBody>
      </p:sp>
      <p:sp>
        <p:nvSpPr>
          <p:cNvPr id="10" name="Rectangle 9"/>
          <p:cNvSpPr/>
          <p:nvPr/>
        </p:nvSpPr>
        <p:spPr>
          <a:xfrm>
            <a:off x="1143000" y="9052560"/>
            <a:ext cx="6309360" cy="384048"/>
          </a:xfrm>
          <a:prstGeom prst="rect">
            <a:avLst/>
          </a:prstGeom>
          <a:noFill/>
          <a:ln w="9525">
            <a:solidFill>
              <a:srgbClr val="F58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07592" y="9144000"/>
            <a:ext cx="5980176" cy="237744"/>
          </a:xfrm>
          <a:prstGeom prst="rect">
            <a:avLst/>
          </a:prstGeom>
          <a:noFill/>
        </p:spPr>
        <p:txBody>
          <a:bodyPr wrap="square" lIns="0" tIns="0" rIns="0" bIns="0" anchor="t">
            <a:spAutoFit/>
          </a:bodyPr>
          <a:lstStyle/>
          <a:p>
            <a:pPr algn="l"/>
            <a:r>
              <a:rPr sz="1000" b="1">
                <a:solidFill>
                  <a:srgbClr val="F58220"/>
                </a:solidFill>
                <a:latin typeface="Arial"/>
              </a:rPr>
              <a:t>END OF SESSION 04 · GO EAT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3362</Words>
  <Application>Microsoft Macintosh PowerPoint</Application>
  <PresentationFormat>Custom</PresentationFormat>
  <Paragraphs>322</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Chris Kehayias</cp:lastModifiedBy>
  <cp:revision>4</cp:revision>
  <dcterms:created xsi:type="dcterms:W3CDTF">2013-01-27T09:14:16Z</dcterms:created>
  <dcterms:modified xsi:type="dcterms:W3CDTF">2026-05-06T16:42:34Z</dcterms:modified>
  <cp:category/>
</cp:coreProperties>
</file>
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Northwoods for hosting. 'Three exercises. Bring something real from your week — that's how this gets sticky. Don't just listen. Write.'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intro — keep it under 60 seconds. 'I ship AI products for a living and I've been in the church tech world a while. Most of what I'm sharing today is what I wish someone had told me two years ago.'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Point out: three exercises spaced through the workshop — they're working sessions, not demos. 'If you only do one of them, do exercise two.'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opener. Pause. Breathe. 'Most of what looks like bad AI output is actually a context problem on our end.'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history. Don't dwell — the point is: we are LIVING through the moment when this skill goes from optional to essential. Land hard on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 prompts go wrong. Ask the room: 'Which of these have you done this week?' Most hands will go up on all three. That's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central pivot of the workshop. 'Prompt engineering was about magic words. Context engineering is about the whole environment. That's the shift.'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definition slowly, twice. Let it land. This is the one sentence you want them to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Speed-walk the four pillars. Don't explain deeply — that's the next four slides. Just plant the names: Instructions, Knowledge, Tools,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opener. 'Now let's actually build one of these.'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one. Stay on the example for 60 seconds. Show how three sentences of role + tone + rules collapse a thousand future edits into the prompt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two. Emphasize: the model has zero context unless you give it some. 'It hasn't read your sermons. It hasn't met your people. You have to feed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three. Tools. Most folks here don't ship custom tools yet — that's fine. 'But know that this is where the next 12 months goes. Read-only tools first. Earn write access.'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four. Memory. The most underrated. 'Every time you correct the model and don't write it down somewhere persistent, you'll do it again next week.'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bar chart. The point is: the context window is finite. You're an editor. Choose what gets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 for anatomy. Energy up — we're about to write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RTCF — Role, Task, Context, Format. Four lines. In that order. 'Tattoo this somewhere your team can see it.' Walk each column briefly.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bad prompt out loud. Then the good. Same minute. Same model. 'The good one took me 90 seconds longer. It saved me 20 minutes of editing. Every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ONE. Set the timer visibly. Pair them up. Walk the room. Listen for stuck pairs — usually they don't know what 'context' to add. Help them see it's the church-specific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opener. 'Now we go from generic AI to YOUR-church AI. This is the unlock.'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 table. Ask: 'Who has all six of these in a place a model could read them?' Almost no one. That's the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slide. Three steps. 'You don't need to build this from scratch — Custom GPTs and Claude Projects do it for you. But you need to know what's happening so you can debug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Privacy slide — slow down here. Tone matters. 'This is stewardship. People trust us with their stories. Don't betray that for a faster email draft.'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TWO. The big one. 15 minutes solo. Tell them: 'When you walk out today, this is the artifact you take with you.' Walk the room. Read over shoulders.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opener. 'We're going to spend ten minutes on what goes wrong, because I want you to leave with a healthy skepticism.'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pitfalls. Hallucinations get the most attention but drift kills more workflows. Tell a quick story about a long thread that went off the 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NOT to use AI. Read each one slowly. The pastoral care line is the most important. Don't apologize for the list — it's the most important slide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THREE. Quick one. Adversarial. Show the model can self-flag if asked. This becomes their review checklist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opener. We're landing the plane. 'Don't leave excited and do nothing on Monday. Pick one 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steps. Emphasize: ONE workflow. Boring is good. Reps over ambition. 'In six weeks you'll have a library of these and your team will think you're a wizard.'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and thank you. Hold space for hard questions. Encourage them to find each other on Discord. End on gratitude — Northwoods, the room,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762000"/>
            <a:ext cx="125804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234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pPr algn="l" indent="0" marL="0">
              <a:buNone/>
            </a:pPr>
            <a:r>
              <a:rPr lang="en-US" sz="1950" b="1" spc="234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pPr algn="l" indent="0" marL="0">
              <a:buNone/>
            </a:pPr>
            <a:r>
              <a:rPr lang="en-US" sz="1950" b="1" spc="234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9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953500" y="-95250"/>
            <a:ext cx="10477500" cy="104775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52500" y="3388072"/>
            <a:ext cx="774941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spc="585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952500" y="4035772"/>
            <a:ext cx="7749419" cy="2282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300" b="1" spc="-233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pPr algn="l" indent="0" marL="0">
              <a:lnSpc>
                <a:spcPct val="95000"/>
              </a:lnSpc>
              <a:buNone/>
            </a:pPr>
            <a:r>
              <a:rPr lang="en-US" sz="9300" b="1" spc="-233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pPr algn="l" indent="0" marL="0">
              <a:lnSpc>
                <a:spcPct val="95000"/>
              </a:lnSpc>
              <a:buNone/>
            </a:pPr>
            <a:r>
              <a:rPr lang="en-US" sz="9300" b="1" spc="-233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9300" dirty="0"/>
          </a:p>
        </p:txBody>
      </p:sp>
      <p:sp>
        <p:nvSpPr>
          <p:cNvPr id="8" name="Text 4"/>
          <p:cNvSpPr/>
          <p:nvPr/>
        </p:nvSpPr>
        <p:spPr>
          <a:xfrm>
            <a:off x="952500" y="6622703"/>
            <a:ext cx="319355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72" kern="0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57836" y="6732240"/>
            <a:ext cx="57150" cy="57150"/>
          </a:xfrm>
          <a:prstGeom prst="ellipse">
            <a:avLst/>
          </a:prstGeom>
          <a:solidFill>
            <a:srgbClr val="3FE0D0"/>
          </a:solidFill>
          <a:ln/>
        </p:spPr>
      </p:sp>
      <p:sp>
        <p:nvSpPr>
          <p:cNvPr id="10" name="Text 6"/>
          <p:cNvSpPr/>
          <p:nvPr/>
        </p:nvSpPr>
        <p:spPr>
          <a:xfrm>
            <a:off x="4719786" y="6622703"/>
            <a:ext cx="14244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72" kern="0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372820" y="6732240"/>
            <a:ext cx="57150" cy="57150"/>
          </a:xfrm>
          <a:prstGeom prst="ellipse">
            <a:avLst/>
          </a:prstGeom>
          <a:solidFill>
            <a:srgbClr val="3FE0D0"/>
          </a:solidFill>
          <a:ln/>
        </p:spPr>
      </p:sp>
      <p:sp>
        <p:nvSpPr>
          <p:cNvPr id="12" name="Text 8"/>
          <p:cNvSpPr/>
          <p:nvPr/>
        </p:nvSpPr>
        <p:spPr>
          <a:xfrm>
            <a:off x="6734770" y="6622703"/>
            <a:ext cx="16162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72" kern="0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 MINUTES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52500" y="9248775"/>
            <a:ext cx="530531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9A9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CHRIS KEHAYIAS · SVP AI &amp; INNOVATION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Glad you're here.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2703165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3236565"/>
            <a:ext cx="8044815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working session on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the most underrated skill for getting useful work out of AI.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52500" y="4417665"/>
            <a:ext cx="8044815" cy="12779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slides about how AI </a:t>
            </a:r>
            <a:pPr algn="l" indent="0" marL="0">
              <a:lnSpc>
                <a:spcPct val="155000"/>
              </a:lnSpc>
              <a:buNone/>
            </a:pPr>
            <a:r>
              <a:rPr lang="en-US" sz="2100" i="1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might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ministry someday. We'll write prompts, break them, and rebuild them — together — for the next 90 minutes.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525000" y="3236565"/>
            <a:ext cx="7810500" cy="19431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915525" y="3588990"/>
            <a:ext cx="72403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HOST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15525" y="3941415"/>
            <a:ext cx="724033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spc="-3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915525" y="4531965"/>
            <a:ext cx="724033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525000" y="5408265"/>
            <a:ext cx="7810500" cy="19431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915525" y="5760690"/>
            <a:ext cx="72403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15525" y="6113115"/>
            <a:ext cx="724033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spc="-3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Exercises · 90 Min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915525" y="6703665"/>
            <a:ext cx="724033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laptop and a real example from your church.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2667000"/>
            <a:ext cx="6858000" cy="6858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2710309" y="4705350"/>
            <a:ext cx="3442500" cy="2819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0" b="1" spc="-3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CK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8572500" y="4130278"/>
            <a:ext cx="902589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0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 SPEAKER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72500" y="4597003"/>
            <a:ext cx="902589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144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Chris Kehayias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572500" y="5511403"/>
            <a:ext cx="902589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96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SVP, AI &amp; INNOVATION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385810" y="6187678"/>
            <a:ext cx="9025890" cy="19121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Builds and ships AI products for real users every week.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Spent the last two years figuring out which AI advice is hype and which is useful.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Long-time member of the church technology community.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TODAY'S PLAN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Agenda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2703165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" name="Shape 3"/>
          <p:cNvSpPr/>
          <p:nvPr/>
        </p:nvSpPr>
        <p:spPr>
          <a:xfrm>
            <a:off x="952500" y="4065240"/>
            <a:ext cx="7810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353184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9A9C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19300" y="3465165"/>
            <a:ext cx="578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Context Matters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939980" y="353184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0" y="4065240"/>
            <a:ext cx="7810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0" name="Text 8"/>
          <p:cNvSpPr/>
          <p:nvPr/>
        </p:nvSpPr>
        <p:spPr>
          <a:xfrm>
            <a:off x="9525000" y="353184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9A9C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91800" y="3465165"/>
            <a:ext cx="578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Four Pillars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512480" y="353184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" y="5132040"/>
            <a:ext cx="7810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" y="459864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9A9C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19300" y="4531965"/>
            <a:ext cx="578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Anatomy of a Great Prompt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939980" y="459864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25000" y="5132040"/>
            <a:ext cx="7810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459864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9A9C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91800" y="4531965"/>
            <a:ext cx="578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Grounding in Your Reality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512480" y="459864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52500" y="6198840"/>
            <a:ext cx="7810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" y="566544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9A9C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019300" y="5598765"/>
            <a:ext cx="578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Pitfalls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939980" y="566544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25000" y="6198840"/>
            <a:ext cx="7810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6" name="Text 24"/>
          <p:cNvSpPr/>
          <p:nvPr/>
        </p:nvSpPr>
        <p:spPr>
          <a:xfrm>
            <a:off x="9525000" y="566544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9A9CA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91800" y="5598765"/>
            <a:ext cx="578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It Home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6512480" y="566544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4343251" y="3170932"/>
            <a:ext cx="988954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8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01 / 06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343251" y="3904357"/>
            <a:ext cx="9889543" cy="2426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900" b="1" spc="-247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context matters.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4343251" y="6674048"/>
            <a:ext cx="9889543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"bad AI output" isn't the model's fault. It's a context problem.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031492" y="3643313"/>
            <a:ext cx="95250" cy="9525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90500" dist="50800" dir="16200000">
              <a:srgbClr val="3FE0D0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279142" y="3552825"/>
            <a:ext cx="22221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Why Context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031492" y="42243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5279142" y="4133850"/>
            <a:ext cx="20693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Four Pillars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031492" y="480536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5279142" y="4714875"/>
            <a:ext cx="17659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Anatomy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031492" y="538638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5279142" y="5295900"/>
            <a:ext cx="20053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Grounding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031492" y="59674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5279142" y="5876925"/>
            <a:ext cx="15030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Pitfalls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031492" y="65484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279142" y="6457950"/>
            <a:ext cx="232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Take It Home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QUICK RECAP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last two years rewired the rules.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2703165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4455765"/>
            <a:ext cx="318650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4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52500" y="5141565"/>
            <a:ext cx="3186501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39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ChatGPT lands.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" y="5591026"/>
            <a:ext cx="318650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tries one prompt. Most decide AI is "smart autocomplete."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74790" y="4455765"/>
            <a:ext cx="318650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4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74790" y="5141565"/>
            <a:ext cx="3186501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39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"Prompt Engineering."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74790" y="5591026"/>
            <a:ext cx="318650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Magic phrases. "Act as a…" Tricks that worked sometimes.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97080" y="4455765"/>
            <a:ext cx="318650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4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2024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97080" y="5141565"/>
            <a:ext cx="3186501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39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 &amp; Files.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97080" y="5591026"/>
            <a:ext cx="318650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GPTs, retrieval, file uploads. Models stop guessing, start reading.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19371" y="4455765"/>
            <a:ext cx="318650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4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0919371" y="5141565"/>
            <a:ext cx="3186501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39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919371" y="5591026"/>
            <a:ext cx="318650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game becomes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put in front of the model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241661" y="4455765"/>
            <a:ext cx="318650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4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2026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4241661" y="5141565"/>
            <a:ext cx="3186501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39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Agents in production.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241661" y="5591026"/>
            <a:ext cx="318650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that pull their own context. The skill compounds.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DIAGNOSIS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most prompts go wrong.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2703165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3236565"/>
            <a:ext cx="5232349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00" b="1" spc="-50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600" dirty="0"/>
          </a:p>
        </p:txBody>
      </p:sp>
      <p:sp>
        <p:nvSpPr>
          <p:cNvPr id="6" name="Text 4"/>
          <p:cNvSpPr/>
          <p:nvPr/>
        </p:nvSpPr>
        <p:spPr>
          <a:xfrm>
            <a:off x="952500" y="4943326"/>
            <a:ext cx="523234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17" kern="0" dirty="0">
                <a:solidFill>
                  <a:srgbClr val="6B6E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MISSING THE BRIEF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" y="5514826"/>
            <a:ext cx="5232349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"Write a thank-you email." — to whom? About what? In whose voice?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03950" y="3236565"/>
            <a:ext cx="5232349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00" b="1" spc="-50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600" dirty="0"/>
          </a:p>
        </p:txBody>
      </p:sp>
      <p:sp>
        <p:nvSpPr>
          <p:cNvPr id="9" name="Text 7"/>
          <p:cNvSpPr/>
          <p:nvPr/>
        </p:nvSpPr>
        <p:spPr>
          <a:xfrm>
            <a:off x="6603950" y="4943326"/>
            <a:ext cx="523234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17" kern="0" dirty="0">
                <a:solidFill>
                  <a:srgbClr val="6B6E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MISSING THE SOURCE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603950" y="5514826"/>
            <a:ext cx="5232349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doesn't know your sermon series. It doesn't have your donor list.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255401" y="3236565"/>
            <a:ext cx="5232349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00" b="1" spc="-50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600" dirty="0"/>
          </a:p>
        </p:txBody>
      </p:sp>
      <p:sp>
        <p:nvSpPr>
          <p:cNvPr id="12" name="Text 10"/>
          <p:cNvSpPr/>
          <p:nvPr/>
        </p:nvSpPr>
        <p:spPr>
          <a:xfrm>
            <a:off x="12255401" y="4943326"/>
            <a:ext cx="523234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17" kern="0" dirty="0">
                <a:solidFill>
                  <a:srgbClr val="6B6E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MISSING THE SHAPE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255401" y="5514826"/>
            <a:ext cx="5232349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format spec, so you get a wall of prose when you needed a table.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SHIFT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1558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prompt engineering to context engineering.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3463230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" name="Shape 3"/>
          <p:cNvSpPr/>
          <p:nvPr/>
        </p:nvSpPr>
        <p:spPr>
          <a:xfrm>
            <a:off x="952500" y="4158555"/>
            <a:ext cx="7429500" cy="4362450"/>
          </a:xfrm>
          <a:prstGeom prst="roundRect">
            <a:avLst>
              <a:gd name="adj" fmla="val 2620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81125" y="4625280"/>
            <a:ext cx="676941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9A9CA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5072955"/>
            <a:ext cx="6769418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spc="-6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Engineering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81125" y="5949255"/>
            <a:ext cx="676941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right </a:t>
            </a:r>
            <a:pPr algn="l" indent="0" marL="0">
              <a:lnSpc>
                <a:spcPct val="150000"/>
              </a:lnSpc>
              <a:buNone/>
            </a:pPr>
            <a:r>
              <a:rPr lang="en-US" sz="1950" i="1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magic words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coax a single response out of a model.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724900" y="5882580"/>
            <a:ext cx="83820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0" b="1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7200" dirty="0"/>
          </a:p>
        </p:txBody>
      </p:sp>
      <p:sp>
        <p:nvSpPr>
          <p:cNvPr id="10" name="Shape 8"/>
          <p:cNvSpPr/>
          <p:nvPr/>
        </p:nvSpPr>
        <p:spPr>
          <a:xfrm>
            <a:off x="9906000" y="4149030"/>
            <a:ext cx="7429500" cy="438150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3FE0D0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344150" y="4625280"/>
            <a:ext cx="674979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344150" y="5072955"/>
            <a:ext cx="6749796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spc="-6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0344150" y="5949255"/>
            <a:ext cx="674979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</a:t>
            </a:r>
            <a:pPr algn="l" indent="0" marL="0">
              <a:lnSpc>
                <a:spcPct val="150000"/>
              </a:lnSpc>
              <a:buNone/>
            </a:pPr>
            <a:r>
              <a:rPr lang="en-US" sz="1950" i="1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the model sees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instructions, knowledge, tools, memory — before it answers.</a:t>
            </a:r>
            <a:endParaRPr lang="en-US" sz="1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31888" y="952500"/>
            <a:ext cx="1660475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0000"/>
              </a:lnSpc>
              <a:buNone/>
            </a:pPr>
            <a:r>
              <a:rPr lang="en-US" sz="21000" b="1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21000" dirty="0"/>
          </a:p>
        </p:txBody>
      </p:sp>
      <p:sp>
        <p:nvSpPr>
          <p:cNvPr id="3" name="Text 1"/>
          <p:cNvSpPr/>
          <p:nvPr/>
        </p:nvSpPr>
        <p:spPr>
          <a:xfrm>
            <a:off x="3420963" y="2605088"/>
            <a:ext cx="13735050" cy="422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000" b="1" spc="-9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the discipline of giving a model </a:t>
            </a:r>
            <a:pPr algn="l" indent="0" marL="0">
              <a:lnSpc>
                <a:spcPct val="110000"/>
              </a:lnSpc>
              <a:buNone/>
            </a:pPr>
            <a:r>
              <a:rPr lang="en-US" sz="6000" b="1" spc="-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everything it needs </a:t>
            </a:r>
            <a:pPr algn="l" indent="0" marL="0">
              <a:lnSpc>
                <a:spcPct val="110000"/>
              </a:lnSpc>
              <a:buNone/>
            </a:pPr>
            <a:r>
              <a:rPr lang="en-US" sz="6000" b="1" spc="-9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and nothing it doesn't — to do the job in front of it.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420963" y="7177088"/>
            <a:ext cx="137350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9A9CA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WORKING DEFINITION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MENTAL MODEL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pillars of context.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2398365"/>
            <a:ext cx="137350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prompt that works has all four. Every prompt that fails is missing one.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3499396"/>
            <a:ext cx="3895725" cy="6305550"/>
          </a:xfrm>
          <a:prstGeom prst="roundRect">
            <a:avLst>
              <a:gd name="adj" fmla="val 3912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6825" y="3851821"/>
            <a:ext cx="336508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INSTRUCTIONS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6825" y="4337596"/>
            <a:ext cx="336508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spc="-3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&amp; what.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266825" y="4947196"/>
            <a:ext cx="3365087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role, the goal, the constraints. The standing orders the model follows for every turn.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66825" y="7271296"/>
            <a:ext cx="3267075" cy="9525"/>
          </a:xfrm>
          <a:prstGeom prst="rect">
            <a:avLst/>
          </a:prstGeom>
          <a:solidFill>
            <a:srgbClr val="C9CBD1"/>
          </a:solidFill>
          <a:ln/>
        </p:spPr>
      </p:sp>
      <p:sp>
        <p:nvSpPr>
          <p:cNvPr id="10" name="Text 8"/>
          <p:cNvSpPr/>
          <p:nvPr/>
        </p:nvSpPr>
        <p:spPr>
          <a:xfrm>
            <a:off x="1266825" y="7509421"/>
            <a:ext cx="336508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Example: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"You are an editor for a small church newsletter. Keep it warm, short, and never preachy."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114925" y="3499396"/>
            <a:ext cx="3895725" cy="6305550"/>
          </a:xfrm>
          <a:prstGeom prst="roundRect">
            <a:avLst>
              <a:gd name="adj" fmla="val 3912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29250" y="3851821"/>
            <a:ext cx="336508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KNOWLEDGE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29250" y="4337596"/>
            <a:ext cx="336508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spc="-3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Facts in front.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429250" y="4947196"/>
            <a:ext cx="3365087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documents, data, transcripts, and notes the model needs to reason from — not from memory.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29250" y="7614196"/>
            <a:ext cx="3267075" cy="9525"/>
          </a:xfrm>
          <a:prstGeom prst="rect">
            <a:avLst/>
          </a:prstGeom>
          <a:solidFill>
            <a:srgbClr val="C9CBD1"/>
          </a:solidFill>
          <a:ln/>
        </p:spPr>
      </p:sp>
      <p:sp>
        <p:nvSpPr>
          <p:cNvPr id="16" name="Text 14"/>
          <p:cNvSpPr/>
          <p:nvPr/>
        </p:nvSpPr>
        <p:spPr>
          <a:xfrm>
            <a:off x="5429250" y="7852321"/>
            <a:ext cx="3365087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Example: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Last 4 sermons, the church mission statement, the volunteer policy doc.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277350" y="3499396"/>
            <a:ext cx="3895725" cy="6305550"/>
          </a:xfrm>
          <a:prstGeom prst="roundRect">
            <a:avLst>
              <a:gd name="adj" fmla="val 3912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1675" y="3851821"/>
            <a:ext cx="336508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TOOLS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91675" y="4337596"/>
            <a:ext cx="3365087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spc="-3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can do.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591675" y="5366296"/>
            <a:ext cx="3365087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Functions, search, file readers, calendars. The buttons the model can press to act on your behalf.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591675" y="7614196"/>
            <a:ext cx="3267075" cy="9525"/>
          </a:xfrm>
          <a:prstGeom prst="rect">
            <a:avLst/>
          </a:prstGeom>
          <a:solidFill>
            <a:srgbClr val="C9CBD1"/>
          </a:solidFill>
          <a:ln/>
        </p:spPr>
      </p:sp>
      <p:sp>
        <p:nvSpPr>
          <p:cNvPr id="22" name="Text 20"/>
          <p:cNvSpPr/>
          <p:nvPr/>
        </p:nvSpPr>
        <p:spPr>
          <a:xfrm>
            <a:off x="9591675" y="7852321"/>
            <a:ext cx="3365087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Example: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 the staff calendar, send a draft to email, look up giving totals.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9775" y="3499396"/>
            <a:ext cx="3895725" cy="6305550"/>
          </a:xfrm>
          <a:prstGeom prst="roundRect">
            <a:avLst>
              <a:gd name="adj" fmla="val 3912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54100" y="3851821"/>
            <a:ext cx="336508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MEMORY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54100" y="4337596"/>
            <a:ext cx="3365087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spc="-33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remembers.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3754100" y="5366296"/>
            <a:ext cx="336508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history, prior decisions, user preferences. The thread that makes the next turn smarter than the last.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3754100" y="7271296"/>
            <a:ext cx="3267075" cy="9525"/>
          </a:xfrm>
          <a:prstGeom prst="rect">
            <a:avLst/>
          </a:prstGeom>
          <a:solidFill>
            <a:srgbClr val="C9CBD1"/>
          </a:solidFill>
          <a:ln/>
        </p:spPr>
      </p:sp>
      <p:sp>
        <p:nvSpPr>
          <p:cNvPr id="28" name="Text 26"/>
          <p:cNvSpPr/>
          <p:nvPr/>
        </p:nvSpPr>
        <p:spPr>
          <a:xfrm>
            <a:off x="13754100" y="7509421"/>
            <a:ext cx="336508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Example: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"Pastor prefers ESV. Don't use exclamation points. Always include a verse reference."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4594324" y="3170932"/>
            <a:ext cx="937217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8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02 / 06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94324" y="3904357"/>
            <a:ext cx="9372179" cy="2426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900" b="1" spc="-247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four pillars.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4594324" y="6674048"/>
            <a:ext cx="9372179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Let's walk each one with a concrete example you can lift today.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031492" y="36433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279142" y="3552825"/>
            <a:ext cx="22221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Why Context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031492" y="4224338"/>
            <a:ext cx="95250" cy="9525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90500" dist="50800" dir="16200000">
              <a:srgbClr val="3FE0D0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5279142" y="4133850"/>
            <a:ext cx="20693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Four Pillars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031492" y="480536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5279142" y="4714875"/>
            <a:ext cx="17659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Anatomy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031492" y="538638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5279142" y="5295900"/>
            <a:ext cx="20053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Grounding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031492" y="59674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5279142" y="5876925"/>
            <a:ext cx="15030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Pitfalls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031492" y="65484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279142" y="6457950"/>
            <a:ext cx="232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Take It Home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525441"/>
            <a:ext cx="804481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630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01 / 04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52500" y="4144566"/>
            <a:ext cx="8044815" cy="1123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0" b="1" spc="-180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Instructions.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952500" y="5497116"/>
            <a:ext cx="6867525" cy="136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model's job description. Set once, applied to every reply. Where you describe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F58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think, not just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F58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do.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5810" y="7165628"/>
            <a:ext cx="8073390" cy="1538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+ audience + tone (one sentence each).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rules (never do X, always include Y).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format when none is specified.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0" y="3288209"/>
            <a:ext cx="7810500" cy="5615583"/>
          </a:xfrm>
          <a:prstGeom prst="roundRect">
            <a:avLst>
              <a:gd name="adj" fmla="val 2714"/>
            </a:avLst>
          </a:prstGeom>
          <a:solidFill>
            <a:srgbClr val="1B1D24"/>
          </a:solidFill>
          <a:ln/>
        </p:spPr>
      </p:sp>
      <p:sp>
        <p:nvSpPr>
          <p:cNvPr id="7" name="Text 5"/>
          <p:cNvSpPr/>
          <p:nvPr/>
        </p:nvSpPr>
        <p:spPr>
          <a:xfrm>
            <a:off x="9944100" y="3669209"/>
            <a:ext cx="7181469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b="1" spc="3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// SYSTEM PROMPT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944100" y="4248299"/>
            <a:ext cx="7181469" cy="43125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 are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 assistant editor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for the communications team at a 1,200-attendee church.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Audience: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busy church members ages 30–65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Tone: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warm, plainspoken, never preachy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Rules: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Never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use exclamation points.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Never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invent verse references.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Keep paragraphs to 3 sentences max.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When unsure, ask one clarifying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525441"/>
            <a:ext cx="804481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630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02 / 04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52500" y="4144566"/>
            <a:ext cx="8044815" cy="1123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0" b="1" spc="-180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Knowledge.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952500" y="5497116"/>
            <a:ext cx="6867525" cy="136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documents the model reasons from. If you don't paste it in or attach it, the model doesn't know it — full stop.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5810" y="7165628"/>
            <a:ext cx="8073390" cy="1538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church's actual writing — not a generic baseline.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 &amp; relevant beats large &amp; old.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Trim before you paste — signal over volume.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0" y="3871020"/>
            <a:ext cx="7810500" cy="4449812"/>
          </a:xfrm>
          <a:prstGeom prst="roundRect">
            <a:avLst>
              <a:gd name="adj" fmla="val 3425"/>
            </a:avLst>
          </a:prstGeom>
          <a:solidFill>
            <a:srgbClr val="1B1D24"/>
          </a:solidFill>
          <a:ln/>
        </p:spPr>
      </p:sp>
      <p:sp>
        <p:nvSpPr>
          <p:cNvPr id="7" name="Text 5"/>
          <p:cNvSpPr/>
          <p:nvPr/>
        </p:nvSpPr>
        <p:spPr>
          <a:xfrm>
            <a:off x="9944100" y="4252020"/>
            <a:ext cx="7181469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b="1" spc="3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// ATTACHED FOR THIS TURN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944100" y="4831110"/>
            <a:ext cx="7181469" cy="3146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last_4_sermon_transcripts.txt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   18,400 words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mission_and_values.md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     420 words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brand_voice_examples.md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     380 words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upcoming_events.csv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      12 rows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Reference these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only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when the user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asks about church-specific content.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Cite which file you used.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338810"/>
            <a:ext cx="804481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630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03 / 04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52500" y="3957935"/>
            <a:ext cx="8044815" cy="1123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0" b="1" spc="-180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Tools.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952500" y="5310485"/>
            <a:ext cx="6867525" cy="136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verbs available to the model. Each tool turns "the model talks" into "the model can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F58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."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5810" y="6978997"/>
            <a:ext cx="8073390" cy="19121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read-only tools. Earn write access.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tools the way humans would — the model picks better.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good tools beat many vague ones.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0" y="3871020"/>
            <a:ext cx="7810500" cy="4449812"/>
          </a:xfrm>
          <a:prstGeom prst="roundRect">
            <a:avLst>
              <a:gd name="adj" fmla="val 3425"/>
            </a:avLst>
          </a:prstGeom>
          <a:solidFill>
            <a:srgbClr val="1B1D24"/>
          </a:solidFill>
          <a:ln/>
        </p:spPr>
      </p:sp>
      <p:sp>
        <p:nvSpPr>
          <p:cNvPr id="7" name="Text 5"/>
          <p:cNvSpPr/>
          <p:nvPr/>
        </p:nvSpPr>
        <p:spPr>
          <a:xfrm>
            <a:off x="9944100" y="4252020"/>
            <a:ext cx="7181469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b="1" spc="3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// AVAILABLE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944100" y="4831110"/>
            <a:ext cx="7181469" cy="3146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search_sermons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(query, last_n=5)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look_up_event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(name | date)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list_volunteers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(team, status="active")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draft_email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(to, subject, body)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 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requires human approval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get_giving_totals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(start, end)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 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staff-only, audited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746450"/>
            <a:ext cx="804481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630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04 / 04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52500" y="4365575"/>
            <a:ext cx="8044815" cy="1123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0" b="1" spc="-180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Memory.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952500" y="5718125"/>
            <a:ext cx="6867525" cy="921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thread — what's already happened, what was decided, what to never have to say again.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5810" y="6944767"/>
            <a:ext cx="8073390" cy="1538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Short-term: this conversation.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Long-term: preferences, decisions, style notes.</a:t>
            </a:r>
            <a:endParaRPr lang="en-US" sz="2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it. Memory rot is real.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0" y="3093839"/>
            <a:ext cx="7810500" cy="6004173"/>
          </a:xfrm>
          <a:prstGeom prst="roundRect">
            <a:avLst>
              <a:gd name="adj" fmla="val 2538"/>
            </a:avLst>
          </a:prstGeom>
          <a:solidFill>
            <a:srgbClr val="1B1D24"/>
          </a:solidFill>
          <a:ln/>
        </p:spPr>
      </p:sp>
      <p:sp>
        <p:nvSpPr>
          <p:cNvPr id="7" name="Text 5"/>
          <p:cNvSpPr/>
          <p:nvPr/>
        </p:nvSpPr>
        <p:spPr>
          <a:xfrm>
            <a:off x="9944100" y="3474839"/>
            <a:ext cx="7181469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b="1" spc="3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// PERSISTENT NOTES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944100" y="4053929"/>
            <a:ext cx="7181469" cy="47011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user.preferences: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translation: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ESV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avoid: </a:t>
            </a:r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exclamation points, emoji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signature_block: "— Comms Team"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decisions: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2026-04-12: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fall series titled "Re:Make" </a:t>
            </a:r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2026-04-18: drop the Wed e-blast,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  merge into Sunday recap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never_say_again: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 </a:t>
            </a:r>
            <a:endParaRPr lang="en-US" sz="18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800" b="1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"In today's fast-paced world..."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PUTTING IT TOGETHER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1558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turn, the model reads all of this at once.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3158430"/>
            <a:ext cx="137350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"context window" is a finite room. You're the one deciding who gets a seat.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4335661"/>
            <a:ext cx="16383000" cy="3981450"/>
          </a:xfrm>
          <a:prstGeom prst="roundRect">
            <a:avLst>
              <a:gd name="adj" fmla="val 3828"/>
            </a:avLst>
          </a:prstGeom>
          <a:solidFill>
            <a:srgbClr val="1B1D24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4711898"/>
            <a:ext cx="1981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INSTRUCTIONS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52800" y="4640461"/>
            <a:ext cx="12534900" cy="419100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352800" y="4640461"/>
            <a:ext cx="1770757" cy="419100"/>
          </a:xfrm>
          <a:prstGeom prst="roundRect">
            <a:avLst>
              <a:gd name="adj" fmla="val 13636"/>
            </a:avLst>
          </a:prstGeom>
          <a:solidFill>
            <a:srgbClr val="3FE0D0"/>
          </a:solidFill>
          <a:ln/>
        </p:spPr>
      </p:sp>
      <p:sp>
        <p:nvSpPr>
          <p:cNvPr id="9" name="Text 7"/>
          <p:cNvSpPr/>
          <p:nvPr/>
        </p:nvSpPr>
        <p:spPr>
          <a:xfrm>
            <a:off x="3409950" y="4640461"/>
            <a:ext cx="158025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2" kern="0" dirty="0">
                <a:solidFill>
                  <a:srgbClr val="1B1D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~12%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0" y="4702373"/>
            <a:ext cx="1028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2K tok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5245298"/>
            <a:ext cx="1981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KNOWLEDGE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352800" y="5173861"/>
            <a:ext cx="12534900" cy="419100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352800" y="5173861"/>
            <a:ext cx="5907286" cy="419100"/>
          </a:xfrm>
          <a:prstGeom prst="roundRect">
            <a:avLst>
              <a:gd name="adj" fmla="val 13636"/>
            </a:avLst>
          </a:prstGeom>
          <a:solidFill>
            <a:srgbClr val="7DECDF"/>
          </a:solidFill>
          <a:ln/>
        </p:spPr>
      </p:sp>
      <p:sp>
        <p:nvSpPr>
          <p:cNvPr id="14" name="Text 12"/>
          <p:cNvSpPr/>
          <p:nvPr/>
        </p:nvSpPr>
        <p:spPr>
          <a:xfrm>
            <a:off x="3308931" y="5173861"/>
            <a:ext cx="581780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2" kern="0" dirty="0">
                <a:solidFill>
                  <a:srgbClr val="1B1D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~45%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0" y="5235773"/>
            <a:ext cx="1028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7K tok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57300" y="5864423"/>
            <a:ext cx="1981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52800" y="5792986"/>
            <a:ext cx="12534900" cy="419100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52800" y="5792986"/>
            <a:ext cx="1269355" cy="419100"/>
          </a:xfrm>
          <a:prstGeom prst="roundRect">
            <a:avLst>
              <a:gd name="adj" fmla="val 13636"/>
            </a:avLst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3409950" y="5792986"/>
            <a:ext cx="107885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2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~8%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0" y="5707261"/>
            <a:ext cx="10287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1.3K tok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57300" y="6483548"/>
            <a:ext cx="1981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MEMORY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52800" y="6412111"/>
            <a:ext cx="12534900" cy="419100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52800" y="6412111"/>
            <a:ext cx="2522934" cy="419100"/>
          </a:xfrm>
          <a:prstGeom prst="roundRect">
            <a:avLst>
              <a:gd name="adj" fmla="val 13636"/>
            </a:avLst>
          </a:prstGeom>
          <a:solidFill>
            <a:srgbClr val="FFC588"/>
          </a:solidFill>
          <a:ln/>
        </p:spPr>
      </p:sp>
      <p:sp>
        <p:nvSpPr>
          <p:cNvPr id="24" name="Text 22"/>
          <p:cNvSpPr/>
          <p:nvPr/>
        </p:nvSpPr>
        <p:spPr>
          <a:xfrm>
            <a:off x="3409950" y="6412111"/>
            <a:ext cx="233243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2" kern="0" dirty="0">
                <a:solidFill>
                  <a:srgbClr val="1B1D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~18%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002000" y="6474023"/>
            <a:ext cx="1028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3K tok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57300" y="7016948"/>
            <a:ext cx="1981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 TURN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352800" y="6945511"/>
            <a:ext cx="12534900" cy="419100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352800" y="6945511"/>
            <a:ext cx="1018729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409950" y="6945511"/>
            <a:ext cx="82822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2" kern="0" dirty="0">
                <a:solidFill>
                  <a:srgbClr val="1B1D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~6%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002000" y="7007423"/>
            <a:ext cx="1028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1K tok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257300" y="7555111"/>
            <a:ext cx="15773400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257300" y="7717036"/>
            <a:ext cx="466225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used: </a:t>
            </a:r>
            <a:pPr algn="l" indent="0" marL="0">
              <a:buNone/>
            </a:pPr>
            <a:r>
              <a:rPr lang="en-US" sz="1800" b="1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~14.3K of 200K tokens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915900" y="7717036"/>
            <a:ext cx="42382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Headroom for the answer: </a:t>
            </a:r>
            <a:pPr algn="l" indent="0" marL="0">
              <a:buNone/>
            </a:pPr>
            <a:r>
              <a:rPr lang="en-US" sz="1800" b="1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~185K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2952750" y="2570113"/>
            <a:ext cx="1275397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8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03 / 06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952750" y="3303538"/>
            <a:ext cx="12753975" cy="3186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700" b="1" spc="-217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Anatomy of a great prompt.</a:t>
            </a:r>
            <a:endParaRPr lang="en-US" sz="8700" dirty="0"/>
          </a:p>
        </p:txBody>
      </p:sp>
      <p:sp>
        <p:nvSpPr>
          <p:cNvPr id="5" name="Text 3"/>
          <p:cNvSpPr/>
          <p:nvPr/>
        </p:nvSpPr>
        <p:spPr>
          <a:xfrm>
            <a:off x="2952750" y="6833146"/>
            <a:ext cx="12753975" cy="921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reusable shape that works whether you're writing in ChatGPT, Claude, or your own app.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031492" y="36433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279142" y="3552825"/>
            <a:ext cx="22221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Why Context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031492" y="42243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5279142" y="4133850"/>
            <a:ext cx="20693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Four Pillars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031492" y="4805363"/>
            <a:ext cx="95250" cy="9525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90500" dist="50800" dir="16200000">
              <a:srgbClr val="3FE0D0">
                <a:alpha val="10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279142" y="4714875"/>
            <a:ext cx="17659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Anatomy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031492" y="538638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5279142" y="5295900"/>
            <a:ext cx="20053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Grounding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031492" y="59674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5279142" y="5876925"/>
            <a:ext cx="15030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Pitfalls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031492" y="65484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279142" y="6457950"/>
            <a:ext cx="232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Take It Home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SHAPE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 · Task · Context · Format.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2398365"/>
            <a:ext cx="137350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lines. In that order. Add details inside each line as needed.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3575596"/>
            <a:ext cx="3619500" cy="5413325"/>
          </a:xfrm>
          <a:prstGeom prst="roundRect">
            <a:avLst>
              <a:gd name="adj" fmla="val 4211"/>
            </a:avLst>
          </a:prstGeom>
          <a:solidFill>
            <a:srgbClr val="F7F5F1"/>
          </a:solidFill>
          <a:ln/>
        </p:spPr>
      </p:sp>
      <p:sp>
        <p:nvSpPr>
          <p:cNvPr id="6" name="Shape 4"/>
          <p:cNvSpPr/>
          <p:nvPr/>
        </p:nvSpPr>
        <p:spPr>
          <a:xfrm>
            <a:off x="952500" y="8979396"/>
            <a:ext cx="3619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7" name="Shape 5"/>
          <p:cNvSpPr/>
          <p:nvPr/>
        </p:nvSpPr>
        <p:spPr>
          <a:xfrm>
            <a:off x="952500" y="3575596"/>
            <a:ext cx="3619500" cy="3810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8" name="Shape 6"/>
          <p:cNvSpPr/>
          <p:nvPr/>
        </p:nvSpPr>
        <p:spPr>
          <a:xfrm>
            <a:off x="952500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9" name="Shape 7"/>
          <p:cNvSpPr/>
          <p:nvPr/>
        </p:nvSpPr>
        <p:spPr>
          <a:xfrm>
            <a:off x="4562475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0" name="Text 8"/>
          <p:cNvSpPr/>
          <p:nvPr/>
        </p:nvSpPr>
        <p:spPr>
          <a:xfrm>
            <a:off x="1266825" y="3918496"/>
            <a:ext cx="3080576" cy="860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7200" b="1" spc="-288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1266825" y="4893766"/>
            <a:ext cx="308057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11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66825" y="5398591"/>
            <a:ext cx="308057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the model right now? One sentence.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66825" y="6933902"/>
            <a:ext cx="2990850" cy="1740694"/>
          </a:xfrm>
          <a:prstGeom prst="roundRect">
            <a:avLst>
              <a:gd name="adj" fmla="val 4378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47800" y="7095827"/>
            <a:ext cx="2718626" cy="145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"You are a comms-team editor at a 1,200-attendee church."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38700" y="3575596"/>
            <a:ext cx="3619500" cy="5413325"/>
          </a:xfrm>
          <a:prstGeom prst="roundRect">
            <a:avLst>
              <a:gd name="adj" fmla="val 4211"/>
            </a:avLst>
          </a:prstGeom>
          <a:solidFill>
            <a:srgbClr val="F7F5F1"/>
          </a:solidFill>
          <a:ln/>
        </p:spPr>
      </p:sp>
      <p:sp>
        <p:nvSpPr>
          <p:cNvPr id="16" name="Shape 14"/>
          <p:cNvSpPr/>
          <p:nvPr/>
        </p:nvSpPr>
        <p:spPr>
          <a:xfrm>
            <a:off x="4838700" y="8979396"/>
            <a:ext cx="3619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838700" y="3575596"/>
            <a:ext cx="3619500" cy="38100"/>
          </a:xfrm>
          <a:prstGeom prst="rect">
            <a:avLst/>
          </a:prstGeom>
          <a:solidFill>
            <a:srgbClr val="3FE0D0"/>
          </a:solidFill>
          <a:ln/>
        </p:spPr>
      </p:sp>
      <p:sp>
        <p:nvSpPr>
          <p:cNvPr id="18" name="Shape 16"/>
          <p:cNvSpPr/>
          <p:nvPr/>
        </p:nvSpPr>
        <p:spPr>
          <a:xfrm>
            <a:off x="4838700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9" name="Shape 17"/>
          <p:cNvSpPr/>
          <p:nvPr/>
        </p:nvSpPr>
        <p:spPr>
          <a:xfrm>
            <a:off x="8448675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0" name="Text 18"/>
          <p:cNvSpPr/>
          <p:nvPr/>
        </p:nvSpPr>
        <p:spPr>
          <a:xfrm>
            <a:off x="5153025" y="3918496"/>
            <a:ext cx="3080576" cy="860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7200" b="1" spc="-288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5153025" y="4893766"/>
            <a:ext cx="308057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11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5153025" y="5398591"/>
            <a:ext cx="308057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single outcome do you want this turn?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153025" y="6579691"/>
            <a:ext cx="2990850" cy="2094905"/>
          </a:xfrm>
          <a:prstGeom prst="roundRect">
            <a:avLst>
              <a:gd name="adj" fmla="val 3637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34000" y="6741616"/>
            <a:ext cx="2718626" cy="18091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"Draft a 120-word email reminding parents about Tuesday's parent meeting."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724900" y="3575596"/>
            <a:ext cx="3619500" cy="5413325"/>
          </a:xfrm>
          <a:prstGeom prst="roundRect">
            <a:avLst>
              <a:gd name="adj" fmla="val 4211"/>
            </a:avLst>
          </a:prstGeom>
          <a:solidFill>
            <a:srgbClr val="F7F5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724900" y="8979396"/>
            <a:ext cx="3619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7" name="Shape 25"/>
          <p:cNvSpPr/>
          <p:nvPr/>
        </p:nvSpPr>
        <p:spPr>
          <a:xfrm>
            <a:off x="8724900" y="3575596"/>
            <a:ext cx="3619500" cy="3810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28" name="Shape 26"/>
          <p:cNvSpPr/>
          <p:nvPr/>
        </p:nvSpPr>
        <p:spPr>
          <a:xfrm>
            <a:off x="8724900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9" name="Shape 27"/>
          <p:cNvSpPr/>
          <p:nvPr/>
        </p:nvSpPr>
        <p:spPr>
          <a:xfrm>
            <a:off x="12334875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0" name="Text 28"/>
          <p:cNvSpPr/>
          <p:nvPr/>
        </p:nvSpPr>
        <p:spPr>
          <a:xfrm>
            <a:off x="9039225" y="3918496"/>
            <a:ext cx="3080576" cy="860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7200" b="1" spc="-288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7200" dirty="0"/>
          </a:p>
        </p:txBody>
      </p:sp>
      <p:sp>
        <p:nvSpPr>
          <p:cNvPr id="31" name="Text 29"/>
          <p:cNvSpPr/>
          <p:nvPr/>
        </p:nvSpPr>
        <p:spPr>
          <a:xfrm>
            <a:off x="9039225" y="4893766"/>
            <a:ext cx="308057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11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039225" y="5398591"/>
            <a:ext cx="308057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the model couldn't possibly know on its own.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039225" y="6933902"/>
            <a:ext cx="2990850" cy="1740694"/>
          </a:xfrm>
          <a:prstGeom prst="roundRect">
            <a:avLst>
              <a:gd name="adj" fmla="val 4378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20200" y="7095827"/>
            <a:ext cx="2718626" cy="145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"Meeting is 6:30pm in the Commons. RSVPs go to kids@nwchurch.org ."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2611100" y="3575596"/>
            <a:ext cx="3619500" cy="5413325"/>
          </a:xfrm>
          <a:prstGeom prst="roundRect">
            <a:avLst>
              <a:gd name="adj" fmla="val 4211"/>
            </a:avLst>
          </a:prstGeom>
          <a:solidFill>
            <a:srgbClr val="F7F5F1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11100" y="8979396"/>
            <a:ext cx="36195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11100" y="3575596"/>
            <a:ext cx="3619500" cy="38100"/>
          </a:xfrm>
          <a:prstGeom prst="rect">
            <a:avLst/>
          </a:prstGeom>
          <a:solidFill>
            <a:srgbClr val="3FE0D0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11100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9" name="Shape 37"/>
          <p:cNvSpPr/>
          <p:nvPr/>
        </p:nvSpPr>
        <p:spPr>
          <a:xfrm>
            <a:off x="16221075" y="3575596"/>
            <a:ext cx="9525" cy="54133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40" name="Text 38"/>
          <p:cNvSpPr/>
          <p:nvPr/>
        </p:nvSpPr>
        <p:spPr>
          <a:xfrm>
            <a:off x="12925425" y="3918496"/>
            <a:ext cx="3080576" cy="860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7200" b="1" spc="-288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</a:t>
            </a:r>
            <a:endParaRPr lang="en-US" sz="7200" dirty="0"/>
          </a:p>
        </p:txBody>
      </p:sp>
      <p:sp>
        <p:nvSpPr>
          <p:cNvPr id="41" name="Text 39"/>
          <p:cNvSpPr/>
          <p:nvPr/>
        </p:nvSpPr>
        <p:spPr>
          <a:xfrm>
            <a:off x="12925425" y="4893766"/>
            <a:ext cx="308057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11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</a:t>
            </a:r>
            <a:endParaRPr lang="en-US" sz="2250" dirty="0"/>
          </a:p>
        </p:txBody>
      </p:sp>
      <p:sp>
        <p:nvSpPr>
          <p:cNvPr id="42" name="Text 40"/>
          <p:cNvSpPr/>
          <p:nvPr/>
        </p:nvSpPr>
        <p:spPr>
          <a:xfrm>
            <a:off x="12925425" y="5398591"/>
            <a:ext cx="3080576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shape of the output. Length, structure, do's and don'ts.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2925425" y="6579691"/>
            <a:ext cx="2990850" cy="2094905"/>
          </a:xfrm>
          <a:prstGeom prst="roundRect">
            <a:avLst>
              <a:gd name="adj" fmla="val 3637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106400" y="6741616"/>
            <a:ext cx="2718626" cy="18091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"Subject line + 2 short paragraphs. No exclamation points. Sign as 'Kids Team.'"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GOAL · DIFFERENT OUTPUT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Bad prompt. Good prompt.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2703165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" name="Shape 3"/>
          <p:cNvSpPr/>
          <p:nvPr/>
        </p:nvSpPr>
        <p:spPr>
          <a:xfrm>
            <a:off x="952500" y="3236565"/>
            <a:ext cx="8039100" cy="5338614"/>
          </a:xfrm>
          <a:prstGeom prst="roundRect">
            <a:avLst>
              <a:gd name="adj" fmla="val 2855"/>
            </a:avLst>
          </a:prstGeom>
          <a:solidFill>
            <a:srgbClr val="FBE5E1"/>
          </a:solidFill>
          <a:ln w="9525">
            <a:solidFill>
              <a:srgbClr val="F0BF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588990"/>
            <a:ext cx="3042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04380" y="3603278"/>
            <a:ext cx="113496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43025" y="4084290"/>
            <a:ext cx="7475792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 a thank-you email to volunteers from last weekend.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43025" y="7131248"/>
            <a:ext cx="7258050" cy="9525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343025" y="7331273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has to guess </a:t>
            </a:r>
            <a:pPr algn="l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pPr algn="l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they did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your </a:t>
            </a:r>
            <a:pPr algn="l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 the </a:t>
            </a:r>
            <a:pPr algn="l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You'll edit for 20 minutes.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296400" y="3236565"/>
            <a:ext cx="8039100" cy="5338614"/>
          </a:xfrm>
          <a:prstGeom prst="roundRect">
            <a:avLst>
              <a:gd name="adj" fmla="val 2855"/>
            </a:avLst>
          </a:prstGeom>
          <a:solidFill>
            <a:srgbClr val="E6F4EA"/>
          </a:solidFill>
          <a:ln w="9525">
            <a:solidFill>
              <a:srgbClr val="B7DC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86925" y="3588990"/>
            <a:ext cx="28857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F8F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32653" y="3603278"/>
            <a:ext cx="208225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F8F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86925" y="4084290"/>
            <a:ext cx="7475792" cy="32259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You're our comms editor (warm, plainspoken).</a:t>
            </a:r>
            <a:endParaRPr lang="en-US" sz="1800" dirty="0"/>
          </a:p>
          <a:p>
            <a:pPr algn="l" indent="0" marL="0">
              <a:lnSpc>
                <a:spcPct val="155000"/>
              </a:lnSpc>
              <a:buNone/>
            </a:pPr>
            <a:endParaRPr lang="en-US" sz="18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Draft a 90-word thank-you email to the 14 first-time hospitality volunteers from Easter weekend.</a:t>
            </a:r>
            <a:endParaRPr lang="en-US" sz="1800" dirty="0"/>
          </a:p>
          <a:p>
            <a:pPr algn="l" indent="0" marL="0">
              <a:lnSpc>
                <a:spcPct val="155000"/>
              </a:lnSpc>
              <a:buNone/>
            </a:pPr>
            <a:endParaRPr lang="en-US" sz="18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Reference the espresso bar mishap kindly. End with one sentence inviting them to the May 12 huddle.</a:t>
            </a:r>
            <a:endParaRPr lang="en-US" sz="1800" dirty="0"/>
          </a:p>
          <a:p>
            <a:pPr algn="l" indent="0" marL="0">
              <a:lnSpc>
                <a:spcPct val="155000"/>
              </a:lnSpc>
              <a:buNone/>
            </a:pPr>
            <a:endParaRPr lang="en-US" sz="18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exclamation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686925" y="7462689"/>
            <a:ext cx="7258050" cy="9525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686925" y="7662714"/>
            <a:ext cx="747579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4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model. Same minute. Vastly better first draft.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571500" y="952500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EXERCISE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71500" y="1552575"/>
            <a:ext cx="4120515" cy="1819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6500" b="1" spc="-6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pPr algn="l" indent="0" marL="0">
              <a:lnSpc>
                <a:spcPct val="85000"/>
              </a:lnSpc>
              <a:buNone/>
            </a:pPr>
            <a:r>
              <a:rPr lang="en-US" sz="16500" b="1" spc="-6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500" dirty="0"/>
          </a:p>
        </p:txBody>
      </p:sp>
      <p:sp>
        <p:nvSpPr>
          <p:cNvPr id="5" name="Text 3"/>
          <p:cNvSpPr/>
          <p:nvPr/>
        </p:nvSpPr>
        <p:spPr>
          <a:xfrm>
            <a:off x="571500" y="3638550"/>
            <a:ext cx="4120515" cy="708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9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REWRITE A REAL PROMPT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71500" y="9129713"/>
            <a:ext cx="114300" cy="11430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52400" dist="50800" dir="16200000">
              <a:srgbClr val="3FE0D0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8200" y="9039225"/>
            <a:ext cx="254511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minutes · pairs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43500" y="0"/>
            <a:ext cx="13144500" cy="10287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9" name="Text 7"/>
          <p:cNvSpPr/>
          <p:nvPr/>
        </p:nvSpPr>
        <p:spPr>
          <a:xfrm>
            <a:off x="6096000" y="952500"/>
            <a:ext cx="11576685" cy="20780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100" b="1" spc="-76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a prompt you've actually used. Rewrite it as Role · Task · Context · Format.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6096000" y="338301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333538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ChatGPT or Claude. Pick a prompt from your last week of work.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0" y="397356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19900" y="392593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Rewrite it using the four lines. Add the church-specific facts the model can't know.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096000" y="456411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19900" y="451648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both. Compare. Note one observable difference.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096000" y="5259437"/>
            <a:ext cx="11239500" cy="2304455"/>
          </a:xfrm>
          <a:prstGeom prst="roundRect">
            <a:avLst>
              <a:gd name="adj" fmla="val 5787"/>
            </a:avLst>
          </a:prstGeom>
          <a:solidFill>
            <a:srgbClr val="1B1D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5526137"/>
            <a:ext cx="10967085" cy="18091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Try this template: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 are [role] for [audience]. Task: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[single outcome, with length].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Context: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[3–5 facts only].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Format: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[shape + 1 hard rule].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3532436" y="2573834"/>
            <a:ext cx="1155966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8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04 / 06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532436" y="3307259"/>
            <a:ext cx="11559669" cy="3621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900" b="1" spc="-247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Grounding in your reality.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3532436" y="7271296"/>
            <a:ext cx="11559669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Generic AI gives generic answers. The fix is the data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3FE0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church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already has.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031492" y="36433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279142" y="3552825"/>
            <a:ext cx="22221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Why Context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031492" y="42243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5279142" y="4133850"/>
            <a:ext cx="20693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Four Pillars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031492" y="480536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5279142" y="4714875"/>
            <a:ext cx="17659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Anatomy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031492" y="5386388"/>
            <a:ext cx="95250" cy="9525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90500" dist="50800" dir="16200000">
              <a:srgbClr val="3FE0D0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5279142" y="5295900"/>
            <a:ext cx="20053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Grounding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031492" y="59674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5279142" y="5876925"/>
            <a:ext cx="15030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Pitfalls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031492" y="65484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279142" y="6457950"/>
            <a:ext cx="232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Take It Home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INVENTORY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counts as context for your church.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3541365"/>
            <a:ext cx="4914900" cy="19050"/>
          </a:xfrm>
          <a:prstGeom prst="rect">
            <a:avLst/>
          </a:prstGeom>
          <a:solidFill>
            <a:srgbClr val="2A2D38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103215"/>
            <a:ext cx="46051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867400" y="3541365"/>
            <a:ext cx="8717161" cy="19050"/>
          </a:xfrm>
          <a:prstGeom prst="rect">
            <a:avLst/>
          </a:prstGeom>
          <a:solidFill>
            <a:srgbClr val="2A2D38"/>
          </a:solidFill>
          <a:ln/>
        </p:spPr>
      </p:sp>
      <p:sp>
        <p:nvSpPr>
          <p:cNvPr id="7" name="Text 5"/>
          <p:cNvSpPr/>
          <p:nvPr/>
        </p:nvSpPr>
        <p:spPr>
          <a:xfrm>
            <a:off x="6096000" y="3103215"/>
            <a:ext cx="85214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GIVES THE MODEL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584561" y="3541365"/>
            <a:ext cx="2750939" cy="19050"/>
          </a:xfrm>
          <a:prstGeom prst="rect">
            <a:avLst/>
          </a:prstGeom>
          <a:solidFill>
            <a:srgbClr val="2A2D38"/>
          </a:solidFill>
          <a:ln/>
        </p:spPr>
      </p:sp>
      <p:sp>
        <p:nvSpPr>
          <p:cNvPr id="9" name="Text 7"/>
          <p:cNvSpPr/>
          <p:nvPr/>
        </p:nvSpPr>
        <p:spPr>
          <a:xfrm>
            <a:off x="14813161" y="3103215"/>
            <a:ext cx="23762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REFRESH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4330898"/>
            <a:ext cx="49149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3769965"/>
            <a:ext cx="4605147" cy="389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Sermon transcripts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5867400" y="4330898"/>
            <a:ext cx="8717161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3" name="Text 11"/>
          <p:cNvSpPr/>
          <p:nvPr/>
        </p:nvSpPr>
        <p:spPr>
          <a:xfrm>
            <a:off x="6096000" y="3769965"/>
            <a:ext cx="8521476" cy="389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Voice, theology, recurring themes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4584561" y="4330898"/>
            <a:ext cx="2750939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5" name="Text 13"/>
          <p:cNvSpPr/>
          <p:nvPr/>
        </p:nvSpPr>
        <p:spPr>
          <a:xfrm>
            <a:off x="14813161" y="3769965"/>
            <a:ext cx="2376267" cy="389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" y="5106144"/>
            <a:ext cx="49149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7" name="Text 15"/>
          <p:cNvSpPr/>
          <p:nvPr/>
        </p:nvSpPr>
        <p:spPr>
          <a:xfrm>
            <a:off x="1181100" y="4549973"/>
            <a:ext cx="460514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Mission &amp; values doc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5867400" y="5106144"/>
            <a:ext cx="8717161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9" name="Text 17"/>
          <p:cNvSpPr/>
          <p:nvPr/>
        </p:nvSpPr>
        <p:spPr>
          <a:xfrm>
            <a:off x="6096000" y="4549973"/>
            <a:ext cx="8521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non-negotiables, the language you use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4584561" y="5106144"/>
            <a:ext cx="2750939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1" name="Text 19"/>
          <p:cNvSpPr/>
          <p:nvPr/>
        </p:nvSpPr>
        <p:spPr>
          <a:xfrm>
            <a:off x="14813161" y="4549973"/>
            <a:ext cx="237626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Yearly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881390"/>
            <a:ext cx="49149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3" name="Text 21"/>
          <p:cNvSpPr/>
          <p:nvPr/>
        </p:nvSpPr>
        <p:spPr>
          <a:xfrm>
            <a:off x="1181100" y="5325219"/>
            <a:ext cx="460514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Past newsletters &amp; emails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5867400" y="5881390"/>
            <a:ext cx="8717161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5" name="Text 23"/>
          <p:cNvSpPr/>
          <p:nvPr/>
        </p:nvSpPr>
        <p:spPr>
          <a:xfrm>
            <a:off x="6096000" y="5325219"/>
            <a:ext cx="8521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Tone calibration — what "sounds like us"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4584561" y="5881390"/>
            <a:ext cx="2750939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7" name="Text 25"/>
          <p:cNvSpPr/>
          <p:nvPr/>
        </p:nvSpPr>
        <p:spPr>
          <a:xfrm>
            <a:off x="14813161" y="5325219"/>
            <a:ext cx="237626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2500" y="6656636"/>
            <a:ext cx="49149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9" name="Text 27"/>
          <p:cNvSpPr/>
          <p:nvPr/>
        </p:nvSpPr>
        <p:spPr>
          <a:xfrm>
            <a:off x="1181100" y="6100465"/>
            <a:ext cx="460514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 &amp; service calendar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5867400" y="6656636"/>
            <a:ext cx="8717161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1" name="Text 29"/>
          <p:cNvSpPr/>
          <p:nvPr/>
        </p:nvSpPr>
        <p:spPr>
          <a:xfrm>
            <a:off x="6096000" y="6100465"/>
            <a:ext cx="8521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Dates, times, locations, registration links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4584561" y="6656636"/>
            <a:ext cx="2750939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3" name="Text 31"/>
          <p:cNvSpPr/>
          <p:nvPr/>
        </p:nvSpPr>
        <p:spPr>
          <a:xfrm>
            <a:off x="14813161" y="6100465"/>
            <a:ext cx="237626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52500" y="7431881"/>
            <a:ext cx="49149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5" name="Text 33"/>
          <p:cNvSpPr/>
          <p:nvPr/>
        </p:nvSpPr>
        <p:spPr>
          <a:xfrm>
            <a:off x="1181100" y="6875711"/>
            <a:ext cx="460514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Volunteer &amp; team rosters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5867400" y="7431881"/>
            <a:ext cx="8717161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7" name="Text 35"/>
          <p:cNvSpPr/>
          <p:nvPr/>
        </p:nvSpPr>
        <p:spPr>
          <a:xfrm>
            <a:off x="6096000" y="6875711"/>
            <a:ext cx="8521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does what, who to address, who's new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14584561" y="7431881"/>
            <a:ext cx="2750939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39" name="Text 37"/>
          <p:cNvSpPr/>
          <p:nvPr/>
        </p:nvSpPr>
        <p:spPr>
          <a:xfrm>
            <a:off x="14813161" y="6875711"/>
            <a:ext cx="237626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52500" y="8207127"/>
            <a:ext cx="49149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41" name="Text 39"/>
          <p:cNvSpPr/>
          <p:nvPr/>
        </p:nvSpPr>
        <p:spPr>
          <a:xfrm>
            <a:off x="1181100" y="7650956"/>
            <a:ext cx="460514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 &amp; style guide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5867400" y="8207127"/>
            <a:ext cx="8717161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43" name="Text 41"/>
          <p:cNvSpPr/>
          <p:nvPr/>
        </p:nvSpPr>
        <p:spPr>
          <a:xfrm>
            <a:off x="6096000" y="7650956"/>
            <a:ext cx="8521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rules, voice rules, never-say list</a:t>
            </a:r>
            <a:endParaRPr lang="en-US" sz="1950" dirty="0"/>
          </a:p>
        </p:txBody>
      </p:sp>
      <p:sp>
        <p:nvSpPr>
          <p:cNvPr id="44" name="Shape 42"/>
          <p:cNvSpPr/>
          <p:nvPr/>
        </p:nvSpPr>
        <p:spPr>
          <a:xfrm>
            <a:off x="14584561" y="8207127"/>
            <a:ext cx="2750939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45" name="Text 43"/>
          <p:cNvSpPr/>
          <p:nvPr/>
        </p:nvSpPr>
        <p:spPr>
          <a:xfrm>
            <a:off x="14813161" y="7650956"/>
            <a:ext cx="2376267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ACRONYM, DEMYSTIFIED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RAG, in plain English.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2398365"/>
            <a:ext cx="137350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Retrieval-Augmented Generation. Three steps. No PhD required.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3575596"/>
            <a:ext cx="5257800" cy="4324350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43025" y="3928021"/>
            <a:ext cx="461105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394746"/>
            <a:ext cx="4611052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spc="-36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Retrieve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343025" y="5023396"/>
            <a:ext cx="461105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asks something. A search step finds the 3–5 most relevant chunks from your church's documents.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3025" y="6433096"/>
            <a:ext cx="4611052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"What did Pastor say about generosity in March?" → 3 sermon chunks pulled.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5100" y="3575596"/>
            <a:ext cx="5257800" cy="4324350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5625" y="3928021"/>
            <a:ext cx="461105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05625" y="4394746"/>
            <a:ext cx="4611052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spc="-36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Augment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905625" y="5023396"/>
            <a:ext cx="461105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chunks get pasted into the prompt — in front of the user's question — before the model sees it.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05625" y="6433096"/>
            <a:ext cx="4611052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Prompt = [chunks] + [instructions] + [user question].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077700" y="3575596"/>
            <a:ext cx="5257800" cy="4324350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2468225" y="3928021"/>
            <a:ext cx="461105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468225" y="4394746"/>
            <a:ext cx="4611052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spc="-36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2468225" y="5023396"/>
            <a:ext cx="461105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answers from </a:t>
            </a:r>
            <a:pPr algn="l" indent="0" marL="0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sources </a:t>
            </a:r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its training data. Cite the chunk it used so you can verify.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68225" y="6728371"/>
            <a:ext cx="4611052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"Per the March 9 sermon, Pastor framed generosity as..."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STEWARDSHIP BEFORE SPEED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Privacy is part of the job.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2398365"/>
            <a:ext cx="13735050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member wouldn't want it on the church website, it doesn't go in a public model prompt.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3800326"/>
            <a:ext cx="914400" cy="38100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6" name="Shape 4"/>
          <p:cNvSpPr/>
          <p:nvPr/>
        </p:nvSpPr>
        <p:spPr>
          <a:xfrm>
            <a:off x="952500" y="4333726"/>
            <a:ext cx="8039100" cy="3752850"/>
          </a:xfrm>
          <a:prstGeom prst="roundRect">
            <a:avLst>
              <a:gd name="adj" fmla="val 3046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43025" y="4686151"/>
            <a:ext cx="747579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2F8F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GENERALLY OK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36370" y="5124301"/>
            <a:ext cx="7240905" cy="1573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sermons &amp; newsletters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Mission, values, and brand voice docs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copy, schedule data, FAQs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Aggregate, anonymized stats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296400" y="4333726"/>
            <a:ext cx="8039100" cy="3752850"/>
          </a:xfrm>
          <a:prstGeom prst="roundRect">
            <a:avLst>
              <a:gd name="adj" fmla="val 3046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  <a:effectLst>
            <a:outerShdw sx="100000" sy="100000" kx="0" ky="0" algn="bl" rotWithShape="0" blurRad="114300" dist="38100" dir="5400000">
              <a:srgbClr val="2A2D38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86925" y="4686151"/>
            <a:ext cx="747579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 STOP &amp; THINK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80270" y="5124301"/>
            <a:ext cx="7240905" cy="1573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 tied to giving, attendance, or counseling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Children's data of any kind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HR records, conflict notes</a:t>
            </a:r>
            <a:endParaRPr lang="en-US" sz="1950" dirty="0"/>
          </a:p>
          <a:p>
            <a:pPr algn="l" marL="173355" indent="-173355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you'd hesitate to email externally</a:t>
            </a:r>
            <a:endParaRPr lang="en-US" sz="1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571500" y="952500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EXERCISE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71500" y="1552575"/>
            <a:ext cx="4120515" cy="1819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6500" b="1" spc="-6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pPr algn="l" indent="0" marL="0">
              <a:lnSpc>
                <a:spcPct val="85000"/>
              </a:lnSpc>
              <a:buNone/>
            </a:pPr>
            <a:r>
              <a:rPr lang="en-US" sz="16500" b="1" spc="-6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500" dirty="0"/>
          </a:p>
        </p:txBody>
      </p:sp>
      <p:sp>
        <p:nvSpPr>
          <p:cNvPr id="5" name="Text 3"/>
          <p:cNvSpPr/>
          <p:nvPr/>
        </p:nvSpPr>
        <p:spPr>
          <a:xfrm>
            <a:off x="571500" y="3638550"/>
            <a:ext cx="4120515" cy="708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9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A SERMON ASSISTANT BRIEF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71500" y="9129713"/>
            <a:ext cx="114300" cy="11430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52400" dist="50800" dir="16200000">
              <a:srgbClr val="3FE0D0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8200" y="9039225"/>
            <a:ext cx="240803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minutes · solo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43500" y="0"/>
            <a:ext cx="13144500" cy="10287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9" name="Text 7"/>
          <p:cNvSpPr/>
          <p:nvPr/>
        </p:nvSpPr>
        <p:spPr>
          <a:xfrm>
            <a:off x="6096000" y="952500"/>
            <a:ext cx="11576685" cy="20780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100" b="1" spc="-76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Write the system prompt for an AI helper that drafts sermon-recap emails for your church.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6096000" y="338301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333538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the role, audience, and tone in 3 sentences.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0" y="397356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19900" y="392593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the 3 documents you'd attach. Trim each to its essential parts.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096000" y="456411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19900" y="451648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5 hard rules (always / never).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096000" y="5154662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19900" y="5107037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it on this Sunday's sermon. Note what's still off.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096000" y="5849987"/>
            <a:ext cx="11239500" cy="1241822"/>
          </a:xfrm>
          <a:prstGeom prst="roundRect">
            <a:avLst>
              <a:gd name="adj" fmla="val 10738"/>
            </a:avLst>
          </a:prstGeom>
          <a:solidFill>
            <a:srgbClr val="1B1D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6116687"/>
            <a:ext cx="109670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Hint: copy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last sermon-recap email into the brief and tell the model "match this voice." That single line beats most clever prompting.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3266480" y="3170932"/>
            <a:ext cx="1210753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8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05 / 06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266480" y="3904357"/>
            <a:ext cx="12107539" cy="2426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900" b="1" spc="-247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pitfalls.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3266480" y="6674048"/>
            <a:ext cx="12107539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failure modes nobody warned you about. Spot them early; they all have fixes.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031492" y="36433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279142" y="3552825"/>
            <a:ext cx="22221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Why Context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031492" y="42243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5279142" y="4133850"/>
            <a:ext cx="20693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Four Pillars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031492" y="480536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5279142" y="4714875"/>
            <a:ext cx="17659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Anatomy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031492" y="538638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5279142" y="5295900"/>
            <a:ext cx="20053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Grounding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031492" y="5967413"/>
            <a:ext cx="95250" cy="9525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90500" dist="50800" dir="16200000">
              <a:srgbClr val="3FE0D0">
                <a:alpha val="1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5279142" y="5876925"/>
            <a:ext cx="15030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Pitfalls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031492" y="65484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279142" y="6457950"/>
            <a:ext cx="232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Take It Home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FAILURE MODES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Hallucinations, drift, and overconfidence.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52500" y="2855565"/>
            <a:ext cx="5257800" cy="52768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04925" y="3207990"/>
            <a:ext cx="468953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spc="-27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Hallucinations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04925" y="3798540"/>
            <a:ext cx="46895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invents a verse, a name, a date, or a quote — and writes it with full confidence.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04925" y="5036790"/>
            <a:ext cx="455295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8" name="Text 6"/>
          <p:cNvSpPr/>
          <p:nvPr/>
        </p:nvSpPr>
        <p:spPr>
          <a:xfrm>
            <a:off x="1304925" y="5255865"/>
            <a:ext cx="46895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04925" y="5703540"/>
            <a:ext cx="4689539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 every factual claim in attached source. Tell the model: "if it isn't in the docs, say </a:t>
            </a:r>
            <a:pPr algn="l" indent="0" marL="0">
              <a:lnSpc>
                <a:spcPct val="145000"/>
              </a:lnSpc>
              <a:buNone/>
            </a:pPr>
            <a:r>
              <a:rPr lang="en-US" sz="1800" i="1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'I don't have that.'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5100" y="2855565"/>
            <a:ext cx="5257800" cy="52768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67525" y="3207990"/>
            <a:ext cx="468953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spc="-27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Drift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67525" y="3798540"/>
            <a:ext cx="46895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goes 12 turns deep. Model slowly forgets your tone rules. Ends up sounding like a marketing brochure.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67525" y="5036790"/>
            <a:ext cx="455295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4" name="Text 12"/>
          <p:cNvSpPr/>
          <p:nvPr/>
        </p:nvSpPr>
        <p:spPr>
          <a:xfrm>
            <a:off x="6867525" y="5255865"/>
            <a:ext cx="46895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67525" y="5703540"/>
            <a:ext cx="4689539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Restate the system prompt every 6–8 turns, or start a fresh thread for each new task.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077700" y="2855565"/>
            <a:ext cx="5257800" cy="52768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30125" y="3207990"/>
            <a:ext cx="468953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spc="-27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Overconfidence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2430125" y="3798540"/>
            <a:ext cx="46895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takes a guess at a giving total or a member name and never flags the uncertainty.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430125" y="5036790"/>
            <a:ext cx="455295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20" name="Text 18"/>
          <p:cNvSpPr/>
          <p:nvPr/>
        </p:nvSpPr>
        <p:spPr>
          <a:xfrm>
            <a:off x="12430125" y="5255865"/>
            <a:ext cx="46895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0125" y="5703540"/>
            <a:ext cx="4689539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Add: "When uncertain, say so explicitly. Never paraphrase a number unless you have the source."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SHORT LIST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not to use AI.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2398365"/>
            <a:ext cx="137350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Discernment is part of the craft. These belong to a person.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4678561"/>
            <a:ext cx="163830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3575596"/>
            <a:ext cx="838200" cy="518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981200" y="3708946"/>
            <a:ext cx="1581492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Pastoral care messages.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81200" y="4137571"/>
            <a:ext cx="1581492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grieving member can tell. So can their family. Write it yourself, even briefly.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6000601"/>
            <a:ext cx="163830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0" name="Text 8"/>
          <p:cNvSpPr/>
          <p:nvPr/>
        </p:nvSpPr>
        <p:spPr>
          <a:xfrm>
            <a:off x="952500" y="4897636"/>
            <a:ext cx="838200" cy="518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981200" y="5030986"/>
            <a:ext cx="1581492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Anything legally binding or financial.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981200" y="5459611"/>
            <a:ext cx="1581492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Bylaws, MOUs, donor agreements, tax letters. AI can draft — a human signs.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" y="7322641"/>
            <a:ext cx="16383000" cy="9525"/>
          </a:xfrm>
          <a:prstGeom prst="rect">
            <a:avLst/>
          </a:prstGeom>
          <a:solidFill>
            <a:srgbClr val="E5E5E7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" y="6219676"/>
            <a:ext cx="838200" cy="518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981200" y="6353026"/>
            <a:ext cx="1581492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Doctrinal positions on contested issues.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81200" y="6781651"/>
            <a:ext cx="1581492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training data isn't from your tradition. Don't outsource your statement of faith.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" y="7541716"/>
            <a:ext cx="838200" cy="518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B5341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981200" y="7675066"/>
            <a:ext cx="1581492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Anything you can't review before it ships.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81200" y="8103691"/>
            <a:ext cx="1581492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have time to read it, you don't have time to send it.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571500" y="952500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5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EXERCISE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71500" y="1552575"/>
            <a:ext cx="4120515" cy="1819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6500" b="1" spc="-6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pPr algn="l" indent="0" marL="0">
              <a:lnSpc>
                <a:spcPct val="85000"/>
              </a:lnSpc>
              <a:buNone/>
            </a:pPr>
            <a:r>
              <a:rPr lang="en-US" sz="16500" b="1" spc="-66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500" dirty="0"/>
          </a:p>
        </p:txBody>
      </p:sp>
      <p:sp>
        <p:nvSpPr>
          <p:cNvPr id="5" name="Text 3"/>
          <p:cNvSpPr/>
          <p:nvPr/>
        </p:nvSpPr>
        <p:spPr>
          <a:xfrm>
            <a:off x="571500" y="3638550"/>
            <a:ext cx="4120515" cy="708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9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STRESS-TEST YOUR OUTPUT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71500" y="9129713"/>
            <a:ext cx="114300" cy="11430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52400" dist="50800" dir="16200000">
              <a:srgbClr val="3FE0D0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8200" y="9039225"/>
            <a:ext cx="254511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CB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minutes · pairs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43500" y="0"/>
            <a:ext cx="13144500" cy="10287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9" name="Text 7"/>
          <p:cNvSpPr/>
          <p:nvPr/>
        </p:nvSpPr>
        <p:spPr>
          <a:xfrm>
            <a:off x="6096000" y="952500"/>
            <a:ext cx="11576685" cy="13980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100" b="1" spc="-76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draft you generated in Exercise 2. Now try to break it.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6096000" y="2703016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2655391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"Show me the verse references you used. Quote them exactly."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0" y="3293566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19900" y="3245941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"Which parts of this came from my attached docs vs. your training data?"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096000" y="3884116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19900" y="3836491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"What's one thing you might have made up here?"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096000" y="4474666"/>
            <a:ext cx="6096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b="1" spc="108" kern="0" dirty="0">
                <a:solidFill>
                  <a:srgbClr val="F582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19900" y="4427041"/>
            <a:ext cx="1083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what the model admits to. </a:t>
            </a:r>
            <a:pPr algn="l" indent="0" marL="0">
              <a:lnSpc>
                <a:spcPct val="150000"/>
              </a:lnSpc>
              <a:buNone/>
            </a:pPr>
            <a:r>
              <a:rPr lang="en-US" sz="2100" i="1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2A2D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your review checklist should catch.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096000" y="5169991"/>
            <a:ext cx="11239500" cy="1241822"/>
          </a:xfrm>
          <a:prstGeom prst="roundRect">
            <a:avLst>
              <a:gd name="adj" fmla="val 10738"/>
            </a:avLst>
          </a:prstGeom>
          <a:solidFill>
            <a:srgbClr val="1B1D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5436691"/>
            <a:ext cx="109670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the model can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self-flag </a:t>
            </a:r>
            <a:pPr algn="l" indent="0" marL="0">
              <a:lnSpc>
                <a:spcPct val="155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B1D24"/>
                </a:highlight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its weak spots when asked, you're 80% of the way to a safe workflow.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B1D24"/>
          </a:solidFill>
          <a:ln/>
        </p:spPr>
      </p:sp>
      <p:sp>
        <p:nvSpPr>
          <p:cNvPr id="3" name="Text 1"/>
          <p:cNvSpPr/>
          <p:nvPr/>
        </p:nvSpPr>
        <p:spPr>
          <a:xfrm>
            <a:off x="3911947" y="3170932"/>
            <a:ext cx="1077787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84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06 / 06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911947" y="3904357"/>
            <a:ext cx="10777875" cy="2426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900" b="1" spc="-247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it home.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3911947" y="6674048"/>
            <a:ext cx="10777875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Concrete things to do this week, before the energy from today wears off.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031492" y="36433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279142" y="3552825"/>
            <a:ext cx="22221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Why Context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031492" y="422433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5279142" y="4133850"/>
            <a:ext cx="20693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Four Pillars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031492" y="480536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5279142" y="4714875"/>
            <a:ext cx="17659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Anatomy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031492" y="5386388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5279142" y="5295900"/>
            <a:ext cx="20053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Grounding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5031492" y="5967413"/>
            <a:ext cx="95250" cy="9525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5279142" y="5876925"/>
            <a:ext cx="15030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Pitfalls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031492" y="6548438"/>
            <a:ext cx="95250" cy="95250"/>
          </a:xfrm>
          <a:prstGeom prst="ellipse">
            <a:avLst/>
          </a:prstGeom>
          <a:solidFill>
            <a:srgbClr val="3FE0D0"/>
          </a:solidFill>
          <a:ln/>
          <a:effectLst>
            <a:outerShdw sx="100000" sy="100000" kx="0" ky="0" algn="bl" rotWithShape="0" blurRad="190500" dist="50800" dir="16200000">
              <a:srgbClr val="3FE0D0">
                <a:alpha val="1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5279142" y="6457950"/>
            <a:ext cx="232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Take It Home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429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7-DAY PLAN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52500" y="1447800"/>
            <a:ext cx="16874490" cy="798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85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next seven days.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52500" y="2398365"/>
            <a:ext cx="137350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try to "implement AI." Pick one workflow. Engineer the context for it. Ship it.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52500" y="3537496"/>
            <a:ext cx="16383000" cy="1398240"/>
          </a:xfrm>
          <a:prstGeom prst="roundRect">
            <a:avLst>
              <a:gd name="adj" fmla="val 9537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6825" y="3775621"/>
            <a:ext cx="10287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8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524125" y="3937546"/>
            <a:ext cx="149319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Pick one workflow your team does every week.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524125" y="4366171"/>
            <a:ext cx="1493196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Sermon recap email, volunteer reminder, event blurb. Boring is good — reps matter.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5107186"/>
            <a:ext cx="16383000" cy="1398240"/>
          </a:xfrm>
          <a:prstGeom prst="roundRect">
            <a:avLst>
              <a:gd name="adj" fmla="val 9537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66825" y="5345311"/>
            <a:ext cx="10287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8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2524125" y="5507236"/>
            <a:ext cx="149319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Write its system prompt as Role · Task · Context · Format.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524125" y="5935861"/>
            <a:ext cx="1493196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it somewhere your team can edit it — Notion, a shared doc, a custom GPT.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" y="6676876"/>
            <a:ext cx="16383000" cy="1398240"/>
          </a:xfrm>
          <a:prstGeom prst="roundRect">
            <a:avLst>
              <a:gd name="adj" fmla="val 9537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6825" y="6915001"/>
            <a:ext cx="10287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8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524125" y="7076926"/>
            <a:ext cx="149319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Attach the 3 documents the model needs to sound like you.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524125" y="7505551"/>
            <a:ext cx="1493196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 newsletter, mission doc, and one example of the output you wish you could get.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2500" y="8246566"/>
            <a:ext cx="16383000" cy="1398240"/>
          </a:xfrm>
          <a:prstGeom prst="roundRect">
            <a:avLst>
              <a:gd name="adj" fmla="val 9537"/>
            </a:avLst>
          </a:prstGeom>
          <a:solidFill>
            <a:srgbClr val="F7F5F1"/>
          </a:solidFill>
          <a:ln w="9525">
            <a:solidFill>
              <a:srgbClr val="E5E5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6825" y="8484691"/>
            <a:ext cx="10287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84" kern="0" dirty="0">
                <a:solidFill>
                  <a:srgbClr val="F5822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2524125" y="8646616"/>
            <a:ext cx="149319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12" kern="0" dirty="0">
                <a:solidFill>
                  <a:srgbClr val="2A2D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it twice. Refine after each use.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2524125" y="9075241"/>
            <a:ext cx="1493196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edit you make to the output becomes a new line in the brief. The brief gets better forever.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4161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0" y="768697"/>
            <a:ext cx="3429000" cy="3429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318504" y="4692997"/>
            <a:ext cx="565099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spc="720" kern="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QUESTIONS &amp; CONVERSATION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706755" y="5331172"/>
            <a:ext cx="16874490" cy="264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800" b="1" spc="-27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you, </a:t>
            </a:r>
            <a:pPr algn="ctr" indent="0" marL="0">
              <a:lnSpc>
                <a:spcPct val="95000"/>
              </a:lnSpc>
              <a:buNone/>
            </a:pPr>
            <a:r>
              <a:rPr lang="en-US" sz="10800" b="1" spc="-270" kern="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Northwoods.</a:t>
            </a:r>
            <a:endParaRPr lang="en-US" sz="10800" dirty="0"/>
          </a:p>
        </p:txBody>
      </p:sp>
      <p:sp>
        <p:nvSpPr>
          <p:cNvPr id="7" name="Text 3"/>
          <p:cNvSpPr/>
          <p:nvPr/>
        </p:nvSpPr>
        <p:spPr>
          <a:xfrm>
            <a:off x="4559774" y="8280053"/>
            <a:ext cx="916845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spc="96" kern="0" dirty="0">
                <a:solidFill>
                  <a:srgbClr val="C9C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Chris Kehayias · SVP AI &amp; Innovation · Church IT Network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858669" y="9223028"/>
            <a:ext cx="26843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#citn-ai on Discord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9037290" y="9223028"/>
            <a:ext cx="2134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745018" y="9223028"/>
            <a:ext cx="26843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3FE0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churchitnetwork.com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2026-05-03T13:32:23Z</dcterms:created>
  <dcterms:modified xsi:type="dcterms:W3CDTF">2026-05-03T13:32:23Z</dcterms:modified>
</cp:coreProperties>
</file>
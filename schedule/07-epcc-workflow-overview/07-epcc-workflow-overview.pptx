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07. In the next 30 minutes I'll give you a name and a shape for the workflow you'll practice tomorrow: Explore, Plan, Code, Commit. This is the loop Anthropic teaches and the antidote to one-shotting. Five of our Ten Commandments live inside this loop — I'll point them out as we walk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failure mode. Without a loop, every feature feels like starting from scratch — and one-shotting is the default failure mode. The loop is the cure. Four words, all verbs, all pronounceable. Half the phases — Explore and Plan — are the ones people skip; naming them out loud makes skipping harder. This is the same loop you'll see in Anthropic's Claude Code best practices the moment you go home and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picture: Explore → Plan → Code → Commit, arranged in a circle with arrows. It's a loop, not a waterfall — you return to Plan every time Code surfaces something the plan missed; you return to Explore every time Plan reveals you don't actually understand what's there. The glue at the center is CLAUDE.md — the shared context you wrote this afternoon is what makes every command in every phase smarter.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— Explore. The question is: what already exists? You're getting grounded in the codebase, conventions, and constraints before you change anything. The output is a real sense of the terrain plus an updated CLAUDE.md if you find anything missing. Commandment IV lives here — dispatch subagents for context-polluting search so your main thread stays focused. Skipping Explore looks like 'I didn't read the existing code before asking Claude to add to it.' That's hallway question one: did you explore?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— Plan. The question is: what am I building and why? You're producing requirements, architecture notes, a data model, acceptance criteria. This is the phase people skip and regret. Day 2's first 105 minutes are literally Explore and Plan on purpose — the two phases that feel like 'not building yet' and are actually where the building happens. Commandment I — Shift+Tab into Plan Mode before you edit. That's hallway question two: did you plan?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— Code. This is the inner loop: write, review, test, debug, repeat until it actually works. The commands inside Code are designed to be run repeatedly, not once. Two commandments live here. Commandment VII — when you find a move that works, enshrine it as a slash command in .claude/commands/. Commandment IX — trust the plan, verify the patch. Read the diff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— Commit. Question: can I ship it and explain it? Output is a live URL, a clean git history, and a plain-language changelog. Acknowledge the stretch out loud — Anthropic uses Commit narrowly to mean git commit; we're stretching it to cover deploy and stakeholder comms. The devs in the room will respect the honesty. And between loops: Commandment VI — /clear is a sacrament. A fresh window is a righteous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Ten Commandments aren't just a poster — five of them are workflow. As we walk the loop, point at the poster and call them by number. Don't lecture all ten; just the five that map onto EPCC: I (Plan Mode), IV (subagents for search), VI (/clear between loops), VII (slash commands as ritual), IX (read the diff). On the next slide we'll see how those five pin to the four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photographable slide. Four phases, the question each answers, what each produces, the commands that help, and the commandments in play. Walk the table left-to-right, row-by-row, and call the commandments by number as you go. Don't live-demo every command — name them, link them,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every change needs the full loop. A typo is mostly Code + Commit. A bug fix in code you wrote yesterday is Plan briefly, then Code + Commit. A bug fix in code you didn't write is all four. A new feature is all four in full. The punchline: anything you'd describe as 'just quickly...' probably needs Explore. That's usually where 'just quickly'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Tee-up to the rest of the workshop. Tomorrow you actually run this loop end-to-end. Build Block 1 is Explore + Plan — the 105 minutes that feel slow on purpose. Build Block 2 is Code — the inner loop. The Deploy block is Commit — live URL, clean git history, changelog. The two hallway questions to remember when you get stuck: 'Did you Explore? Did you Plan?' Now over to the Innovation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7589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CITN</a:t>
            </a:r>
            <a:r>
              <a:rPr sz="2000" b="1" i="0">
                <a:solidFill>
                  <a:srgbClr val="3FE0D0"/>
                </a:solidFill>
                <a:latin typeface="Montserrat"/>
              </a:rPr>
              <a:t>·</a:t>
            </a:r>
            <a:r>
              <a:rPr sz="2000" b="1" i="0">
                <a:solidFill>
                  <a:srgbClr val="FFFFFF"/>
                </a:solidFill>
                <a:latin typeface="Montserrat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339242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FE0D0"/>
                </a:solidFill>
                <a:latin typeface="Montserrat"/>
              </a:rPr>
              <a:t>CHURCH IT NETWORK · WORKSHOP · 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4032504"/>
            <a:ext cx="16367759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0" b="1">
                <a:solidFill>
                  <a:srgbClr val="FFFFFF"/>
                </a:solidFill>
                <a:latin typeface="Montserrat"/>
              </a:rPr>
              <a:t>The Context </a:t>
            </a:r>
            <a:r>
              <a:rPr sz="9500" b="1">
                <a:solidFill>
                  <a:srgbClr val="3FE0D0"/>
                </a:solidFill>
                <a:latin typeface="Montserrat"/>
              </a:rPr>
              <a:t>Engineering</a:t>
            </a:r>
          </a:p>
          <a:p>
            <a:r>
              <a:rPr sz="9500" b="1">
                <a:solidFill>
                  <a:srgbClr val="FFFFFF"/>
                </a:solidFill>
                <a:latin typeface="Montserrat"/>
              </a:rPr>
              <a:t>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7178040"/>
            <a:ext cx="16367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9CBD1"/>
                </a:solidFill>
                <a:latin typeface="Inter"/>
              </a:rPr>
              <a:t>Explore · Plan · Code · Commit — the antidote to one-shotting.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850392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9CBD1"/>
                </a:solidFill>
                <a:latin typeface="Montserrat"/>
              </a:rPr>
              <a:t>CHRIS KEHAYIAS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886968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6E78"/>
                </a:solidFill>
                <a:latin typeface="Montserrat"/>
              </a:rPr>
              <a:t>DAY 1 · 3:50 – 4:20 PM · 30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WHY A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07792"/>
            <a:ext cx="1275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01 · WHY A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83864"/>
            <a:ext cx="13716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Montserrat"/>
              </a:rPr>
              <a:t>One-shotting is the default failure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440680"/>
            <a:ext cx="1371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3FE0D0"/>
                </a:solidFill>
                <a:latin typeface="Montserrat"/>
              </a:rPr>
              <a:t>The loop is the cure.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94944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• Without a loop, every feature feels like starting from scratch.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• Four words, all verbs, all pronounceable.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• Half the phases (Explore, Plan) are the ones people skip — naming them out loud makes skipping harder.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THIS IS THE LOOP ANTHROPIC TEACHES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34056"/>
            <a:ext cx="1371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02 · THE SHAPE OF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1371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Montserrat"/>
              </a:rPr>
              <a:t>Explore → Plan → Code → Commit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029200"/>
            <a:ext cx="10972800" cy="3657600"/>
          </a:xfrm>
          <a:prstGeom prst="rect">
            <a:avLst/>
          </a:prstGeom>
          <a:noFill/>
          <a:ln w="25400">
            <a:solidFill>
              <a:srgbClr val="3F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wrap="square"/>
          <a:lstStyle/>
          <a:p>
            <a:pPr algn="ctr"/>
            <a:r>
              <a:rPr sz="1600" b="1">
                <a:solidFill>
                  <a:srgbClr val="3FE0D0"/>
                </a:solidFill>
                <a:latin typeface="JetBrains Mono"/>
              </a:rPr>
              <a:t>[DIAGRAM TO INSERT: four phases (Explore, Plan, Code, Commit) in a circle, arrows clockwise between, CLAUDE.md in the center as the glue]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9CBD1"/>
                </a:solidFill>
                <a:latin typeface="Inter"/>
              </a:rPr>
              <a:t>• Four phases arranged in a clockwise circle.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9CBD1"/>
                </a:solidFill>
                <a:latin typeface="Inter"/>
              </a:rPr>
              <a:t>• Arrows show the loop returns — you can fall back from Code to Plan, or Plan to Explore.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9CBD1"/>
                </a:solidFill>
                <a:latin typeface="Inter"/>
              </a:rPr>
              <a:t>• CLAUDE.md sits in the center: the shared context that makes every phase smarter.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GLUE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53949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ontserrat"/>
              </a:rPr>
              <a:t>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68580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BD1"/>
                </a:solidFill>
                <a:latin typeface="Inter"/>
              </a:rPr>
              <a:t>is what makes every command in every phase smarter.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IT IS A LOOP, NOT A WATERFALL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58220"/>
                </a:solidFill>
                <a:latin typeface="JetBrains Mono"/>
              </a:rPr>
              <a:t>COMMANDMENT IV — Dispatch subagents for context-polluting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PHASE 01 · EXPLORE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1371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Montserrat"/>
              </a:rPr>
              <a:t>Explore.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1371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3FE0D0"/>
                </a:solidFill>
                <a:latin typeface="Inter"/>
              </a:rPr>
              <a:t>What already exists?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0644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What's already in the codebase, the conventions, the constraints?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22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PRODUCES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086600"/>
            <a:ext cx="1600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BD1"/>
                </a:solidFill>
                <a:latin typeface="Inter"/>
              </a:rPr>
              <a:t>A grounded sense of the codebase, conventions, and constraints — and an updated CLAUDE.md if anything was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321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COMMANDS THAT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613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JetBrains Mono"/>
              </a:rPr>
              <a:t>/project:project-overview  ·  read 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HALLWAY QUESTION #1: 'DID YOU EXPLORE?'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58220"/>
                </a:solidFill>
                <a:latin typeface="JetBrains Mono"/>
              </a:rPr>
              <a:t>COMMANDMENT I — Plan Mode before edits; Shift+Tab is thy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PHASE 02 ·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1371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Montserrat"/>
              </a:rPr>
              <a:t>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1371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3FE0D0"/>
                </a:solidFill>
                <a:latin typeface="Inter"/>
              </a:rPr>
              <a:t>What am I building, and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0644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What am I building, what does done look like, and why is it worth building?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22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PRODUCES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086600"/>
            <a:ext cx="1600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BD1"/>
                </a:solidFill>
                <a:latin typeface="Inter"/>
              </a:rPr>
              <a:t>Requirements, architecture notes, data model, acceptance criteria — written down before any code is written.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321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COMMANDS THAT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613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JetBrains Mono"/>
              </a:rPr>
              <a:t>/project:init-claude-md  ·  Shift+Tab → Plan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HALLWAY QUESTION #2: 'DID YOU PLAN?'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58220"/>
                </a:solidFill>
                <a:latin typeface="JetBrains Mono"/>
              </a:rPr>
              <a:t>COMMANDMENTS VII &amp; IX — Ritual = slash command  ·  Read the 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PHASE 03 ·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1371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Montserrat"/>
              </a:rPr>
              <a:t>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1371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3FE0D0"/>
                </a:solidFill>
                <a:latin typeface="Inter"/>
              </a:rPr>
              <a:t>The inner loop: write → review → test → debug.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0644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Does it work — really? Against real failure modes?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22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PRODUCES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086600"/>
            <a:ext cx="1600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BD1"/>
                </a:solidFill>
                <a:latin typeface="Inter"/>
              </a:rPr>
              <a:t>Working code that's been reviewed, tested, and debugged against real failure modes. The commands here are designed to be run repeatedly, not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321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COMMANDS THAT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613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JetBrains Mono"/>
              </a:rPr>
              <a:t>/project:review  ·  /project:gen-tests  ·  /project:explain-error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CODE IS THE INNER LOOP — WRITE · REVIEW · TEST · DEBUG · REPEAT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58220"/>
                </a:solidFill>
                <a:latin typeface="JetBrains Mono"/>
              </a:rPr>
              <a:t>COMMANDMENT VI — /clear before the next loop. A fresh window is a righteous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PHASE 04 ·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1371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Montserrat"/>
              </a:rPr>
              <a:t>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26280"/>
            <a:ext cx="1371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3FE0D0"/>
                </a:solidFill>
                <a:latin typeface="Inter"/>
              </a:rPr>
              <a:t>Can I ship it and explain it? (Stretched: deploy + comms.)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06440"/>
            <a:ext cx="1600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ontserrat"/>
              </a:rPr>
              <a:t>Can I ship it, and can I explain it to someone who didn't write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22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PRODUCES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086600"/>
            <a:ext cx="1600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BD1"/>
                </a:solidFill>
                <a:latin typeface="Inter"/>
              </a:rPr>
              <a:t>A live URL, a clean git history, and a plain-language changelog non-technical stakeholders can read. Note: Anthropic uses Commit narrowly (git commit); we're stretching it to cover deploy and stakeholder comms.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8321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8220"/>
                </a:solidFill>
                <a:latin typeface="JetBrains Mono"/>
              </a:rPr>
              <a:t>COMMANDS THAT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613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JetBrains Mono"/>
              </a:rPr>
              <a:t>/project:summarize-changes  ·  deploy (Session 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BETWEEN LOOPS: /clear IS A SACRAMENT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COMMANDMENTS IN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645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· THE FIVE THAT MAP ONTO EPCC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ontserrat"/>
              </a:rPr>
              <a:t>Five commandments live in the loop.</a:t>
            </a:r>
          </a:p>
        </p:txBody>
      </p:sp>
      <p:pic>
        <p:nvPicPr>
          <p:cNvPr id="7" name="Picture 6" descr="TenCommand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3200"/>
            <a:ext cx="822960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0" y="274320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E0D0"/>
                </a:solidFill>
                <a:latin typeface="JetBrains Mono"/>
              </a:rPr>
              <a:t>COMMANDMENTS IN PLAY ACROSS EPCC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24612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8220"/>
                </a:solidFill>
                <a:latin typeface="Montserrat"/>
              </a:rPr>
              <a:t>I    </a:t>
            </a:r>
            <a:r>
              <a:rPr sz="1800">
                <a:solidFill>
                  <a:srgbClr val="FFFFFF"/>
                </a:solidFill>
                <a:latin typeface="Inter"/>
              </a:rPr>
              <a:t>  Plan Mode before edits  ·  Shift+Tab is thy staff</a:t>
            </a:r>
            <a:r>
              <a:rPr sz="1300">
                <a:solidFill>
                  <a:srgbClr val="3FE0D0"/>
                </a:solidFill>
                <a:latin typeface="JetBrains Mono"/>
              </a:rPr>
              <a:t>   · PLAN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F58220"/>
                </a:solidFill>
                <a:latin typeface="Montserrat"/>
              </a:rPr>
              <a:t>IV   </a:t>
            </a:r>
            <a:r>
              <a:rPr sz="1800">
                <a:solidFill>
                  <a:srgbClr val="FFFFFF"/>
                </a:solidFill>
                <a:latin typeface="Inter"/>
              </a:rPr>
              <a:t>  Dispatch subagents for context-polluting search</a:t>
            </a:r>
            <a:r>
              <a:rPr sz="1300">
                <a:solidFill>
                  <a:srgbClr val="3FE0D0"/>
                </a:solidFill>
                <a:latin typeface="JetBrains Mono"/>
              </a:rPr>
              <a:t>   · EXPLORE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F58220"/>
                </a:solidFill>
                <a:latin typeface="Montserrat"/>
              </a:rPr>
              <a:t>VI   </a:t>
            </a:r>
            <a:r>
              <a:rPr sz="1800">
                <a:solidFill>
                  <a:srgbClr val="FFFFFF"/>
                </a:solidFill>
                <a:latin typeface="Inter"/>
              </a:rPr>
              <a:t>  /clear before the next loop  ·  fresh window = righteous window</a:t>
            </a:r>
            <a:r>
              <a:rPr sz="1300">
                <a:solidFill>
                  <a:srgbClr val="3FE0D0"/>
                </a:solidFill>
                <a:latin typeface="JetBrains Mono"/>
              </a:rPr>
              <a:t>   · BETWEEN LOOPS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F58220"/>
                </a:solidFill>
                <a:latin typeface="Montserrat"/>
              </a:rPr>
              <a:t>VII  </a:t>
            </a:r>
            <a:r>
              <a:rPr sz="1800">
                <a:solidFill>
                  <a:srgbClr val="FFFFFF"/>
                </a:solidFill>
                <a:latin typeface="Inter"/>
              </a:rPr>
              <a:t>  Ritual = slash command  ·  enshrine moves in .claude/commands</a:t>
            </a:r>
            <a:r>
              <a:rPr sz="1300">
                <a:solidFill>
                  <a:srgbClr val="3FE0D0"/>
                </a:solidFill>
                <a:latin typeface="JetBrains Mono"/>
              </a:rPr>
              <a:t>   · CODE</a:t>
            </a:r>
          </a:p>
          <a:p>
            <a:pPr>
              <a:spcBef>
                <a:spcPts val="1400"/>
              </a:spcBef>
            </a:pPr>
            <a:r>
              <a:rPr sz="2800" b="1">
                <a:solidFill>
                  <a:srgbClr val="F58220"/>
                </a:solidFill>
                <a:latin typeface="Montserrat"/>
              </a:rPr>
              <a:t>IX   </a:t>
            </a:r>
            <a:r>
              <a:rPr sz="1800">
                <a:solidFill>
                  <a:srgbClr val="FFFFFF"/>
                </a:solidFill>
                <a:latin typeface="Inter"/>
              </a:rPr>
              <a:t>  Trust the plan, verify the patch  ·  read the diff</a:t>
            </a:r>
            <a:r>
              <a:rPr sz="1300">
                <a:solidFill>
                  <a:srgbClr val="3FE0D0"/>
                </a:solidFill>
                <a:latin typeface="JetBrains Mono"/>
              </a:rPr>
              <a:t>   ·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I, IV, VI, VII, IX — THE FIVE THAT MATTER FOR THE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REFERENCE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645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· PHOTOGRAPHABLE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ontserrat"/>
              </a:rPr>
              <a:t>The four-phase reference table.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0" y="2606040"/>
          <a:ext cx="160020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4023360"/>
                <a:gridCol w="36576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FE0D0"/>
                          </a:solidFill>
                          <a:latin typeface="JetBrains Mono"/>
                        </a:rPr>
                        <a:t>PHASE</a:t>
                      </a:r>
                    </a:p>
                  </a:txBody>
                  <a:tcPr marL="91440" marR="91440" marT="73152" marB="73152">
                    <a:solidFill>
                      <a:srgbClr val="2A2D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FE0D0"/>
                          </a:solidFill>
                          <a:latin typeface="JetBrains Mono"/>
                        </a:rPr>
                        <a:t>QUESTION IT ANSWERS</a:t>
                      </a:r>
                    </a:p>
                  </a:txBody>
                  <a:tcPr marL="91440" marR="91440" marT="73152" marB="73152">
                    <a:solidFill>
                      <a:srgbClr val="2A2D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FE0D0"/>
                          </a:solidFill>
                          <a:latin typeface="JetBrains Mono"/>
                        </a:rPr>
                        <a:t>WHAT IT PRODUCES</a:t>
                      </a:r>
                    </a:p>
                  </a:txBody>
                  <a:tcPr marL="91440" marR="91440" marT="73152" marB="73152">
                    <a:solidFill>
                      <a:srgbClr val="2A2D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FE0D0"/>
                          </a:solidFill>
                          <a:latin typeface="JetBrains Mono"/>
                        </a:rPr>
                        <a:t>COMMANDS THAT HELP</a:t>
                      </a:r>
                    </a:p>
                  </a:txBody>
                  <a:tcPr marL="91440" marR="91440" marT="73152" marB="73152">
                    <a:solidFill>
                      <a:srgbClr val="2A2D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FE0D0"/>
                          </a:solidFill>
                          <a:latin typeface="JetBrains Mono"/>
                        </a:rPr>
                        <a:t>COMMANDMENTS</a:t>
                      </a:r>
                    </a:p>
                  </a:txBody>
                  <a:tcPr marL="91440" marR="91440" marT="73152" marB="73152">
                    <a:solidFill>
                      <a:srgbClr val="2A2D38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</a:rPr>
                        <a:t>Explore</a:t>
                      </a:r>
                    </a:p>
                  </a:txBody>
                  <a:tcPr marL="91440" marR="91440" marT="73152" marB="73152">
                    <a:solidFill>
                      <a:srgbClr val="1E21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What already exists?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Grounded sense of the codebase, conventions, constraints — updated CLAUDE.md if needed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/project:project-overview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read CLAUDE.md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IV — subagents for context-polluting search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</a:rPr>
                        <a:t>Plan</a:t>
                      </a:r>
                    </a:p>
                  </a:txBody>
                  <a:tcPr marL="91440" marR="91440" marT="73152" marB="73152">
                    <a:solidFill>
                      <a:srgbClr val="1E21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What am I building &amp; why?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Requirements, architecture notes, data model, acceptance criteria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/project:init-claude-md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Shift+Tab → Plan Mode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I — Plan Mode before edits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</a:rPr>
                        <a:t>Code</a:t>
                      </a:r>
                    </a:p>
                  </a:txBody>
                  <a:tcPr marL="91440" marR="91440" marT="73152" marB="73152">
                    <a:solidFill>
                      <a:srgbClr val="1E21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Does it work — really?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Working code, reviewed, tested, debugged against real failure modes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/project:review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/project:gen-tests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/project:explain-error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VII — ritual = slash command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IX — read the diff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</a:rPr>
                        <a:t>Commit</a:t>
                      </a:r>
                    </a:p>
                  </a:txBody>
                  <a:tcPr marL="91440" marR="91440" marT="73152" marB="73152">
                    <a:solidFill>
                      <a:srgbClr val="1E21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Can I ship &amp; explain it?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Live URL, clean git history, plain-language changelog for non-technical stakeholders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/project:summarize-changes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deploy (Session 13)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C9CBD1"/>
                          </a:solidFill>
                          <a:latin typeface="Inter"/>
                        </a:rPr>
                        <a:t>VI — /clear before the next loop</a:t>
                      </a:r>
                    </a:p>
                  </a:txBody>
                  <a:tcPr marL="91440" marR="91440" marT="73152" marB="73152">
                    <a:solidFill>
                      <a:srgbClr val="1A1C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PRINT THIS · PEOPLE WILL WANT TO PHOTOGRAPH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NOT EVERY CHANGE NEEDS ALL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34056"/>
            <a:ext cx="1371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· WHICH PHASES FOR WHICH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Not every change needs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29200"/>
            <a:ext cx="1600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9CBD1"/>
                </a:solidFill>
                <a:latin typeface="Inter"/>
              </a:rPr>
              <a:t>Typo, copy tweak, one-line fix  →  </a:t>
            </a:r>
            <a:r>
              <a:rPr sz="2000" b="1">
                <a:solidFill>
                  <a:srgbClr val="3FE0D0"/>
                </a:solidFill>
                <a:latin typeface="JetBrains Mono"/>
              </a:rPr>
              <a:t>Code + Commit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Bug fix in code you wrote yesterday  →  </a:t>
            </a:r>
            <a:r>
              <a:rPr sz="2000" b="1">
                <a:solidFill>
                  <a:srgbClr val="3FE0D0"/>
                </a:solidFill>
                <a:latin typeface="JetBrains Mono"/>
              </a:rPr>
              <a:t>Plan (briefly) + Code + Commit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Bug fix in code you didn't write  →  </a:t>
            </a:r>
            <a:r>
              <a:rPr sz="2000" b="1">
                <a:solidFill>
                  <a:srgbClr val="3FE0D0"/>
                </a:solidFill>
                <a:latin typeface="JetBrains Mono"/>
              </a:rPr>
              <a:t>Explore + Plan + Code + Commit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C9CBD1"/>
                </a:solidFill>
                <a:latin typeface="Inter"/>
              </a:rPr>
              <a:t>New feature  →  </a:t>
            </a:r>
            <a:r>
              <a:rPr sz="2000" b="1">
                <a:solidFill>
                  <a:srgbClr val="3FE0D0"/>
                </a:solidFill>
                <a:latin typeface="JetBrains Mono"/>
              </a:rPr>
              <a:t>All four, in 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8595360"/>
            <a:ext cx="1600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1">
                <a:solidFill>
                  <a:srgbClr val="F58220"/>
                </a:solidFill>
                <a:latin typeface="Montserrat"/>
              </a:rPr>
              <a:t>Anything you'd describe as 'just quickly...' →  probably needs Explore.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9235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THAT'S USUALLY WHERE 'JUST QUICKLY' GOES WRONG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7548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EPCC · DAY 2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0" y="47548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E78"/>
                </a:solidFill>
                <a:latin typeface="JetBrains Mono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384048"/>
            <a:ext cx="594360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2500" b="1" i="0">
                <a:solidFill>
                  <a:srgbClr val="2A2D38"/>
                </a:solidFill>
                <a:latin typeface="Montserrat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34056"/>
            <a:ext cx="1371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8220"/>
                </a:solidFill>
                <a:latin typeface="JetBrains Mono"/>
              </a:rPr>
              <a:t>STAGE · TOMORROW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16002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Tomorrow you run this loop end-to-end.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852160"/>
            <a:ext cx="5120640" cy="3108960"/>
          </a:xfrm>
          <a:prstGeom prst="rect">
            <a:avLst/>
          </a:prstGeom>
          <a:solidFill>
            <a:srgbClr val="1A1C24"/>
          </a:solidFill>
          <a:ln w="19050">
            <a:solidFill>
              <a:srgbClr val="3F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/>
            <a:r>
              <a:rPr sz="1400" b="1">
                <a:solidFill>
                  <a:srgbClr val="F58220"/>
                </a:solidFill>
                <a:latin typeface="JetBrains Mono"/>
              </a:rPr>
              <a:t>BUILD BLOCK 1</a:t>
            </a:r>
          </a:p>
          <a:p>
            <a:pPr>
              <a:spcBef>
                <a:spcPts val="800"/>
              </a:spcBef>
            </a:pPr>
            <a:r>
              <a:rPr sz="3600" b="1">
                <a:solidFill>
                  <a:srgbClr val="3FE0D0"/>
                </a:solidFill>
                <a:latin typeface="Montserrat"/>
              </a:rPr>
              <a:t>Explore + Plan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C9CBD1"/>
                </a:solidFill>
                <a:latin typeface="Inter"/>
              </a:rPr>
              <a:t>The 105 minutes that feel slow on purpose. Plan Mode is your staff.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5852160"/>
            <a:ext cx="5120640" cy="3108960"/>
          </a:xfrm>
          <a:prstGeom prst="rect">
            <a:avLst/>
          </a:prstGeom>
          <a:solidFill>
            <a:srgbClr val="1A1C24"/>
          </a:solidFill>
          <a:ln w="19050">
            <a:solidFill>
              <a:srgbClr val="3F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/>
            <a:r>
              <a:rPr sz="1400" b="1">
                <a:solidFill>
                  <a:srgbClr val="F58220"/>
                </a:solidFill>
                <a:latin typeface="JetBrains Mono"/>
              </a:rPr>
              <a:t>BUILD BLOCK 2</a:t>
            </a:r>
          </a:p>
          <a:p>
            <a:pPr>
              <a:spcBef>
                <a:spcPts val="800"/>
              </a:spcBef>
            </a:pPr>
            <a:r>
              <a:rPr sz="3600" b="1">
                <a:solidFill>
                  <a:srgbClr val="3FE0D0"/>
                </a:solidFill>
                <a:latin typeface="Montserrat"/>
              </a:rPr>
              <a:t>Code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C9CBD1"/>
                </a:solidFill>
                <a:latin typeface="Inter"/>
              </a:rPr>
              <a:t>The inner loop: write → review → test → debug. Slash commands earn their keep.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5800" y="5852160"/>
            <a:ext cx="5120640" cy="3108960"/>
          </a:xfrm>
          <a:prstGeom prst="rect">
            <a:avLst/>
          </a:prstGeom>
          <a:solidFill>
            <a:srgbClr val="1A1C24"/>
          </a:solidFill>
          <a:ln w="19050">
            <a:solidFill>
              <a:srgbClr val="3F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/>
            <a:r>
              <a:rPr sz="1400" b="1">
                <a:solidFill>
                  <a:srgbClr val="F58220"/>
                </a:solidFill>
                <a:latin typeface="JetBrains Mono"/>
              </a:rPr>
              <a:t>DEPLOY BLOCK</a:t>
            </a:r>
          </a:p>
          <a:p>
            <a:pPr>
              <a:spcBef>
                <a:spcPts val="800"/>
              </a:spcBef>
            </a:pPr>
            <a:r>
              <a:rPr sz="3600" b="1">
                <a:solidFill>
                  <a:srgbClr val="3FE0D0"/>
                </a:solidFill>
                <a:latin typeface="Montserrat"/>
              </a:rPr>
              <a:t>Commit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C9CBD1"/>
                </a:solidFill>
                <a:latin typeface="Inter"/>
              </a:rPr>
              <a:t>Live URL · clean git history · changelog non-technical folks can 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23544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E78"/>
                </a:solidFill>
                <a:latin typeface="JetBrains Mono"/>
              </a:rPr>
              <a:t>// NEXT UP — INNOVATION PANEL · THEN TOMORROW YOU PRACTICE THE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
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67" r:id="rId2"/>
    <p:sldId id="256" r:id="rId3"/>
    <p:sldId id="257" r:id="rId4"/>
    <p:sldId id="258" r:id="rId5"/>
    <p:sldId id="260" r:id="rId6"/>
    <p:sldId id="261" r:id="rId7"/>
    <p:sldId id="262" r:id="rId8"/>
    <p:sldId id="268" r:id="rId9"/>
    <p:sldId id="263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6111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40A35C-DBD2-4A64-A6BF-7C1DF79DB2B6}" type="datetimeFigureOut">
              <a:rPr lang="en-US" smtClean="0"/>
              <a:t>5/7/26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11580813"/>
            <a:ext cx="2971800" cy="6111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E19E13-7F67-4A1E-9B50-6C2EA2CBCCB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18930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'AI Context Engineering — that's a long title for what's actually a really practical workshop. Over the next 90 minutes we're going to get hands-on with what makes AI useful at your church versus useless at your church.'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them in. Big energy. You're setting the emotional tone for the whole event — warmth first, then structure. Smile, look around, name a few people. Thank Northwoods for hosting. Then move.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Pause. Read it. Let it land. This is the line we want echoing in their heads when they walk in tomorrow morning.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three bars we have to clear in the next 30 minutes. If we leave the room with all three, we've done our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Don't read the bullets. The point is the headline: Day 1 craft, Day 2 ship. Everything else is in the schedule on the 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slowly, twice. This is the one sentence to leave the room with. Note: this preview lands the idea, then we hand off to the next session for the full unpack.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Keep this tight — 2 to 3 minutes max. Energy stays up. The baseball line gets a laugh; lean into it briefly and move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" name="Google Shape;25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Brief intro — keep it under 60 seconds. 'I ship AI products for a living and I've been in the church tech world a while. Most of what I'm sharing today is what I wish someone had told me two years ago.'</a:t>
            </a:r>
            <a:endParaRPr/>
          </a:p>
        </p:txBody>
      </p:sp>
      <p:sp>
        <p:nvSpPr>
          <p:cNvPr id="26" name="Google Shape;26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8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If more than ~20% of the room isn't green, silently extend the 10:15 break by 10 min rather than pushing people into the SDLC session cold. Don't shame anyone — just point them at the AI Genius Bar.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Land it, smile, hand off cleanly. Don't oversell the next session — let it speak for itself. Last words: 'Let's build.'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6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4161C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635000" y="508000"/>
            <a:ext cx="838696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CITN</a:t>
            </a:r>
            <a:r>
              <a:rPr lang="en-US" sz="1300" b="1" kern="0" spc="156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·</a:t>
            </a:r>
            <a:r>
              <a:rPr lang="en-US" sz="1300" b="1" kern="0" spc="156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69000" y="-63500"/>
            <a:ext cx="6985000" cy="6985000"/>
          </a:xfrm>
          <a:prstGeom prst="rect">
            <a:avLst/>
          </a:prstGeom>
        </p:spPr>
      </p:pic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>
            <a:alphaModFix amt="50000"/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635001" y="2258715"/>
            <a:ext cx="5166279" cy="22860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ctr">
            <a:normAutofit lnSpcReduction="10000"/>
          </a:bodyPr>
          <a:lstStyle/>
          <a:p>
            <a:pPr defTabSz="609630"/>
            <a:r>
              <a:rPr lang="en-US" sz="1300" b="1" kern="0" spc="390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CHURCH IT NETWORK · WORKSHOP</a:t>
            </a:r>
            <a:endParaRPr lang="en-US" sz="13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3"/>
          <p:cNvSpPr/>
          <p:nvPr/>
        </p:nvSpPr>
        <p:spPr>
          <a:xfrm>
            <a:off x="635001" y="2690515"/>
            <a:ext cx="5166279" cy="152142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fontScale="92500" lnSpcReduction="10000"/>
          </a:bodyPr>
          <a:lstStyle/>
          <a:p>
            <a:pPr defTabSz="609630">
              <a:lnSpc>
                <a:spcPct val="95000"/>
              </a:lnSpc>
            </a:pP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AI </a:t>
            </a:r>
            <a:r>
              <a:rPr lang="en-US" sz="6200" b="1" kern="0" spc="-155" dirty="0">
                <a:solidFill>
                  <a:srgbClr val="3FE0D0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</a:t>
            </a:r>
            <a:r>
              <a:rPr lang="en-US" sz="6200" b="1" kern="0" spc="-155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Engineering</a:t>
            </a:r>
            <a:endParaRPr lang="en-US" sz="6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8" name="Text 4"/>
          <p:cNvSpPr/>
          <p:nvPr/>
        </p:nvSpPr>
        <p:spPr>
          <a:xfrm>
            <a:off x="635000" y="4415136"/>
            <a:ext cx="2129035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NORTHWOODS CHURCH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9" name="Shape 5"/>
          <p:cNvSpPr/>
          <p:nvPr/>
        </p:nvSpPr>
        <p:spPr>
          <a:xfrm>
            <a:off x="2905224" y="4488160"/>
            <a:ext cx="38100" cy="38100"/>
          </a:xfrm>
          <a:prstGeom prst="ellipse">
            <a:avLst/>
          </a:prstGeom>
          <a:solidFill>
            <a:srgbClr val="3FE0D0"/>
          </a:solidFill>
          <a:ln/>
        </p:spPr>
        <p:txBody>
          <a:bodyPr/>
          <a:lstStyle/>
          <a:p>
            <a:pPr defTabSz="609630"/>
            <a:endParaRPr lang="en-US" sz="120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10" name="Text 6"/>
          <p:cNvSpPr/>
          <p:nvPr/>
        </p:nvSpPr>
        <p:spPr>
          <a:xfrm>
            <a:off x="3146524" y="4415136"/>
            <a:ext cx="949623" cy="209550"/>
          </a:xfrm>
          <a:prstGeom prst="rect">
            <a:avLst/>
          </a:prstGeom>
          <a:noFill/>
          <a:ln/>
        </p:spPr>
        <p:txBody>
          <a:bodyPr wrap="square" lIns="16933" tIns="16933" rIns="16933" bIns="16933" rtlCol="0" anchor="t">
            <a:normAutofit lnSpcReduction="10000"/>
          </a:bodyPr>
          <a:lstStyle/>
          <a:p>
            <a:pPr defTabSz="609630"/>
            <a:r>
              <a:rPr lang="en-US" sz="1200" b="1" kern="0" spc="48" dirty="0">
                <a:solidFill>
                  <a:srgbClr val="C9CBD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PEORIA, IL</a:t>
            </a:r>
            <a:endParaRPr lang="en-US" sz="1200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8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CITN ·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CHURCH IT NETWORK · WORKSHOP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7315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8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Welcome.</a:t>
            </a:r>
            <a:endParaRPr lang="en-US" sz="8800" dirty="0"/>
          </a:p>
        </p:txBody>
      </p:sp>
      <p:sp>
        <p:nvSpPr>
          <p:cNvPr id="5" name="Text 3"/>
          <p:cNvSpPr/>
          <p:nvPr/>
        </p:nvSpPr>
        <p:spPr>
          <a:xfrm>
            <a:off x="548640" y="28803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kern="0" spc="4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Session 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29184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Welcome &amp; Kickoff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7680960" y="1737360"/>
            <a:ext cx="18288" cy="3200400"/>
          </a:xfrm>
          <a:prstGeom prst="rect">
            <a:avLst/>
          </a:prstGeom>
          <a:solidFill>
            <a:srgbClr val="2B3543"/>
          </a:solidFill>
          <a:ln w="12700">
            <a:solidFill>
              <a:srgbClr val="2B354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046720" y="1737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SPEAKER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8046720" y="20116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Jason Lee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046720" y="27432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WHERE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8046720" y="30175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CONTEXT ENGINEERING WORKSHOP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626364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Set the tone. Name the thesis. Get the room ready to build.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THESIS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731520" y="1463040"/>
            <a:ext cx="1115568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Stop experimenting</a:t>
            </a:r>
            <a:endParaRPr lang="en-US" sz="5200" dirty="0"/>
          </a:p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with AI.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building tools</a:t>
            </a:r>
            <a:endParaRPr lang="en-US" sz="5200" dirty="0"/>
          </a:p>
          <a:p>
            <a:pPr marL="0" indent="0">
              <a:buNone/>
            </a:pPr>
            <a:r>
              <a:rPr lang="en-US" sz="52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actually work.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731520" y="5806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kern="0" spc="6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— FROM THE EVENT README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PEORIA, IL · MAY 7–8, 2026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GOAL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By 9:30 you'll know three things.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That's it. Three things. Then we're off and running.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5600" dirty="0"/>
          </a:p>
        </p:txBody>
      </p:sp>
      <p:sp>
        <p:nvSpPr>
          <p:cNvPr id="8" name="Text 6"/>
          <p:cNvSpPr/>
          <p:nvPr/>
        </p:nvSpPr>
        <p:spPr>
          <a:xfrm>
            <a:off x="9144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context engineering is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9144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discipline — not a prompt trick. What you put in front of the model is the whole game.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4348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4348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8006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5600" dirty="0"/>
          </a:p>
        </p:txBody>
      </p:sp>
      <p:sp>
        <p:nvSpPr>
          <p:cNvPr id="13" name="Text 11"/>
          <p:cNvSpPr/>
          <p:nvPr/>
        </p:nvSpPr>
        <p:spPr>
          <a:xfrm>
            <a:off x="48006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next two days look like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8006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is the craft. Day 2 you ship something real. Here's the arc and the rhythm.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321040" y="2743200"/>
            <a:ext cx="3657600" cy="310896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8321040" y="2743200"/>
            <a:ext cx="3657600" cy="54864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8686800" y="3108960"/>
            <a:ext cx="1371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600" b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5600" dirty="0"/>
          </a:p>
        </p:txBody>
      </p:sp>
      <p:sp>
        <p:nvSpPr>
          <p:cNvPr id="18" name="Text 16"/>
          <p:cNvSpPr/>
          <p:nvPr/>
        </p:nvSpPr>
        <p:spPr>
          <a:xfrm>
            <a:off x="8686800" y="411480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 your environment works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8686800" y="4937760"/>
            <a:ext cx="2926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claude, gh, node — all green. If not, we have people who can help.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ARC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days. One arc.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17830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you learn the craft. Day 2 you ship something real.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60320"/>
            <a:ext cx="5486400" cy="33832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560320"/>
            <a:ext cx="73152" cy="3383280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96012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 · MAY 7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Foundations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96012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Learn the mindset, the workflow, and how to build context.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6012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Vibe coding vs. context engineering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SDLC crash course (git, repos, terminal)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Building context — Part 1 &amp; 2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Claude Code for the non-developer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Context Engineering Workflow Overview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Inspire Leaders panel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5486400" cy="338328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6309360" y="2560320"/>
            <a:ext cx="73152" cy="33832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720840" y="29260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3FB6A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2 · MAY 8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720840" y="329184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Build Day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720840" y="393192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Apply it end-to-end: plan, build, and ship a Next.js app.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720840" y="4480560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Choosing your Claude Code Adventure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Next.js with Claude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1 — plan &amp; review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Block 2 — code &amp; commit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Deploying – ship it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Show &amp; tell + closing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 DAYS · ONE ARC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WORKING DEFINITION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Context engineering is a </a:t>
            </a:r>
            <a:r>
              <a:rPr lang="en-US" sz="4400" b="1" i="1" dirty="0">
                <a:solidFill>
                  <a:srgbClr val="3FB6A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discipline</a:t>
            </a: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, not a prompt trick.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10972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you put in front of the model</a:t>
            </a:r>
            <a:r>
              <a:rPr lang="en-US" sz="4400" b="1" i="1" dirty="0">
                <a:solidFill>
                  <a:srgbClr val="E89B3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 is the whole game.</a:t>
            </a:r>
            <a:endParaRPr lang="en-US" sz="4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805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Day 1 is learning the craft. Day 2 is using it to ship.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IS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LOGISTICS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few housekeeping things.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54864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91440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BATHROOMS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91440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Just out the back</a:t>
            </a:r>
            <a:endParaRPr lang="en-US" sz="1900" dirty="0"/>
          </a:p>
        </p:txBody>
      </p:sp>
      <p:sp>
        <p:nvSpPr>
          <p:cNvPr id="8" name="Text 6"/>
          <p:cNvSpPr/>
          <p:nvPr/>
        </p:nvSpPr>
        <p:spPr>
          <a:xfrm>
            <a:off x="91440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Hallway to the right, follow the signs. Go whenever — no need to ask.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17920" y="224028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6217920" y="224028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6583680" y="244144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BREAK SCHEDULE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83680" y="274320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Two breaks + lunch</a:t>
            </a:r>
            <a:endParaRPr lang="en-US" sz="1900" dirty="0"/>
          </a:p>
        </p:txBody>
      </p:sp>
      <p:sp>
        <p:nvSpPr>
          <p:cNvPr id="13" name="Text 11"/>
          <p:cNvSpPr/>
          <p:nvPr/>
        </p:nvSpPr>
        <p:spPr>
          <a:xfrm>
            <a:off x="6583680" y="324612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min at 10:15 · 75 min lunch at 12:30 · 20 min snack break at 3:30. Clock on the wall is the truth.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54864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91440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FOOD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91440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Coffee out front, lunch in back</a:t>
            </a:r>
            <a:endParaRPr lang="en-US" sz="1900" dirty="0"/>
          </a:p>
        </p:txBody>
      </p:sp>
      <p:sp>
        <p:nvSpPr>
          <p:cNvPr id="18" name="Text 16"/>
          <p:cNvSpPr/>
          <p:nvPr/>
        </p:nvSpPr>
        <p:spPr>
          <a:xfrm>
            <a:off x="91440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Doughnuts already out. Lunch starts at 12:30 — sponsors get 2–5 min before we eat.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217920" y="4206240"/>
            <a:ext cx="5486400" cy="1783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217920" y="4206240"/>
            <a:ext cx="54864" cy="1783080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583680" y="4407408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BASEBALL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6583680" y="4709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Game is at 7. We'll be done.</a:t>
            </a:r>
            <a:endParaRPr lang="en-US" sz="1900" dirty="0"/>
          </a:p>
        </p:txBody>
      </p:sp>
      <p:sp>
        <p:nvSpPr>
          <p:cNvPr id="23" name="Text 21"/>
          <p:cNvSpPr/>
          <p:nvPr/>
        </p:nvSpPr>
        <p:spPr>
          <a:xfrm>
            <a:off x="6583680" y="5212080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Dinner at 6:30 PM. We'll wrap by 5:00 sharp so nobody misses first pitch.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HOUSEKEEPING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2"/>
          <p:cNvSpPr/>
          <p:nvPr/>
        </p:nvSpPr>
        <p:spPr>
          <a:xfrm>
            <a:off x="635000" y="1778000"/>
            <a:ext cx="4572000" cy="4572000"/>
          </a:xfrm>
          <a:prstGeom prst="roundRect">
            <a:avLst>
              <a:gd name="adj" fmla="val 2778"/>
            </a:avLst>
          </a:prstGeom>
          <a:solidFill>
            <a:srgbClr val="1B1D24"/>
          </a:solidFill>
          <a:ln>
            <a:noFill/>
          </a:ln>
        </p:spPr>
        <p:txBody>
          <a:bodyPr spcFirstLastPara="1" wrap="square" lIns="60950" tIns="30467" rIns="60950" bIns="30467" anchor="t" anchorCtr="0">
            <a:noAutofit/>
          </a:bodyPr>
          <a:lstStyle/>
          <a:p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9" name="Avatar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63600" y="2006600"/>
            <a:ext cx="4114800" cy="4114800"/>
          </a:xfrm>
          <a:prstGeom prst="roundRect">
            <a:avLst>
              <a:gd name="adj" fmla="val 2778"/>
            </a:avLst>
          </a:prstGeom>
          <a:ln>
            <a:noFill/>
          </a:ln>
        </p:spPr>
      </p:pic>
      <p:sp>
        <p:nvSpPr>
          <p:cNvPr id="30" name="Google Shape;30;p2"/>
          <p:cNvSpPr/>
          <p:nvPr/>
        </p:nvSpPr>
        <p:spPr>
          <a:xfrm>
            <a:off x="5715000" y="2753519"/>
            <a:ext cx="6017260" cy="2222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buClr>
                <a:srgbClr val="F58220"/>
              </a:buClr>
              <a:buSzPts val="1800"/>
            </a:pPr>
            <a:r>
              <a:rPr lang="en-US" sz="1200">
                <a:solidFill>
                  <a:srgbClr val="F5822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SPEAKER</a:t>
            </a: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" name="Google Shape;31;p2"/>
          <p:cNvSpPr/>
          <p:nvPr/>
        </p:nvSpPr>
        <p:spPr>
          <a:xfrm>
            <a:off x="5715000" y="3064669"/>
            <a:ext cx="6017260" cy="63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 fontScale="92500" lnSpcReduction="20000"/>
          </a:bodyPr>
          <a:lstStyle/>
          <a:p>
            <a:pPr>
              <a:buClr>
                <a:srgbClr val="2A2D38"/>
              </a:buClr>
              <a:buSzPts val="7200"/>
            </a:pPr>
            <a:r>
              <a:rPr lang="en-US" sz="4800" b="1">
                <a:solidFill>
                  <a:srgbClr val="2A2D38"/>
                </a:solidFill>
                <a:latin typeface="Montserrat"/>
                <a:ea typeface="Montserrat"/>
                <a:cs typeface="Montserrat"/>
                <a:sym typeface="Montserrat"/>
              </a:rPr>
              <a:t>Chris Kehayias</a:t>
            </a:r>
            <a:endParaRPr sz="4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2"/>
          <p:cNvSpPr/>
          <p:nvPr/>
        </p:nvSpPr>
        <p:spPr>
          <a:xfrm>
            <a:off x="5722717" y="3797736"/>
            <a:ext cx="6017260" cy="273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6933" tIns="16933" rIns="16933" bIns="16933" anchor="t" anchorCtr="0">
            <a:normAutofit/>
          </a:bodyPr>
          <a:lstStyle/>
          <a:p>
            <a:pPr>
              <a:lnSpc>
                <a:spcPct val="90000"/>
              </a:lnSpc>
              <a:buClr>
                <a:srgbClr val="F58220"/>
              </a:buClr>
              <a:buSzPts val="2400"/>
            </a:pPr>
            <a:r>
              <a:rPr lang="en-US" sz="1600" b="1">
                <a:solidFill>
                  <a:srgbClr val="F58220"/>
                </a:solidFill>
                <a:latin typeface="Montserrat"/>
                <a:ea typeface="Montserrat"/>
                <a:cs typeface="Montserrat"/>
                <a:sym typeface="Montserrat"/>
              </a:rPr>
              <a:t>SVP, AI &amp; INNOVATION – ACS Technologies</a:t>
            </a:r>
            <a:endParaRPr sz="16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48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 CHECK · 8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Run these three commands together.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48640" y="2468880"/>
            <a:ext cx="7315200" cy="3657600"/>
          </a:xfrm>
          <a:prstGeom prst="rect">
            <a:avLst/>
          </a:prstGeom>
          <a:solidFill>
            <a:srgbClr val="0F16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548640" y="2468880"/>
            <a:ext cx="7315200" cy="365760"/>
          </a:xfrm>
          <a:prstGeom prst="rect">
            <a:avLst/>
          </a:prstGeom>
          <a:solidFill>
            <a:srgbClr val="1B2533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731520" y="2587752"/>
            <a:ext cx="137160" cy="137160"/>
          </a:xfrm>
          <a:prstGeom prst="ellipse">
            <a:avLst/>
          </a:prstGeom>
          <a:solidFill>
            <a:srgbClr val="FF605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960120" y="2587752"/>
            <a:ext cx="137160" cy="137160"/>
          </a:xfrm>
          <a:prstGeom prst="ellipse">
            <a:avLst/>
          </a:prstGeom>
          <a:solidFill>
            <a:srgbClr val="FFBD2E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1188720" y="2587752"/>
            <a:ext cx="137160" cy="137160"/>
          </a:xfrm>
          <a:prstGeom prst="ellipse">
            <a:avLst/>
          </a:prstGeom>
          <a:solidFill>
            <a:srgbClr val="27CA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1920240" y="25146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prerequisites · check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914400" y="301752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--version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97280" y="3429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claude code 1.x · ready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397764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gh auth status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97280" y="438912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Logged in to github.com as you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4937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$ </a:t>
            </a:r>
            <a:r>
              <a:rPr lang="en-US" sz="1800" b="1" dirty="0">
                <a:solidFill>
                  <a:srgbClr val="FFFFF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node --version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97280" y="534924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3FB6A8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✓ </a:t>
            </a:r>
            <a:r>
              <a:rPr lang="en-US" sz="1300" dirty="0">
                <a:solidFill>
                  <a:srgbClr val="9AA3AF"/>
                </a:solidFill>
                <a:latin typeface="JetBrains Mono" pitchFamily="34" charset="0"/>
                <a:ea typeface="JetBrains Mono" pitchFamily="34" charset="-122"/>
                <a:cs typeface="JetBrains Mono" pitchFamily="34" charset="-120"/>
              </a:rPr>
              <a:t>v20.x or newer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138160" y="2468880"/>
            <a:ext cx="34747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DF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8138160" y="2468880"/>
            <a:ext cx="3474720" cy="73152"/>
          </a:xfrm>
          <a:prstGeom prst="rect">
            <a:avLst/>
          </a:prstGeom>
          <a:solidFill>
            <a:srgbClr val="E89B3C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8412480" y="2788920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Help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412480" y="310896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Tripp &amp; Patrick</a:t>
            </a:r>
          </a:p>
          <a:p>
            <a:pPr marL="0" indent="0">
              <a:buNone/>
            </a:pPr>
            <a:r>
              <a:rPr lang="en-US" sz="2400" b="1" dirty="0">
                <a:solidFill>
                  <a:srgbClr val="1F2937"/>
                </a:solidFill>
                <a:latin typeface="Montserrat" pitchFamily="34" charset="0"/>
              </a:rPr>
              <a:t>Jason &amp; Matt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8412480" y="37033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Standing by at every break.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412480" y="4251960"/>
            <a:ext cx="2926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F293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If any of those three are red or missing – turn your name plate vertical.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0000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Anthropic account, Claude Code CLI, and GitHub CLI unlock the rest of the workshop.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6B728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PREREQUISITES · GREEN BY 10:00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6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600" dirty="0">
                <a:solidFill>
                  <a:srgbClr val="E89B3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 NEXT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146304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Vibe coding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731520" y="2468880"/>
            <a:ext cx="11155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vs. context engineering.</a:t>
            </a:r>
            <a:endParaRPr lang="en-US" sz="5400" dirty="0"/>
          </a:p>
        </p:txBody>
      </p:sp>
      <p:sp>
        <p:nvSpPr>
          <p:cNvPr id="5" name="Shape 3"/>
          <p:cNvSpPr/>
          <p:nvPr/>
        </p:nvSpPr>
        <p:spPr>
          <a:xfrm>
            <a:off x="731520" y="4297680"/>
            <a:ext cx="548640" cy="36576"/>
          </a:xfrm>
          <a:prstGeom prst="rect">
            <a:avLst/>
          </a:prstGeom>
          <a:solidFill>
            <a:srgbClr val="3FB6A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44348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Session 02 / 14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731520" y="49834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9AA3AF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the difference is. Why it matters. What “good” looks like.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45720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· WELCOME &amp; KICKOFF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076895" y="64465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kern="0" spc="300" dirty="0">
                <a:solidFill>
                  <a:srgbClr val="9AA3A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HAND-OFF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1028</Words>
  <Application>Microsoft Macintosh PowerPoint</Application>
  <PresentationFormat>Widescreen</PresentationFormat>
  <Paragraphs>131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Arial</vt:lpstr>
      <vt:lpstr>Calibri</vt:lpstr>
      <vt:lpstr>Inter</vt:lpstr>
      <vt:lpstr>JetBrains Mono</vt:lpstr>
      <vt:lpstr>Montserrat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 &amp; Kickoff</dc:title>
  <dc:subject>PptxGenJS Presentation</dc:subject>
  <dc:creator>Jason Lee</dc:creator>
  <cp:lastModifiedBy>Chris Kehayias</cp:lastModifiedBy>
  <cp:revision>7</cp:revision>
  <dcterms:created xsi:type="dcterms:W3CDTF">2026-05-04T19:30:29Z</dcterms:created>
  <dcterms:modified xsi:type="dcterms:W3CDTF">2026-05-07T09:59:25Z</dcterms:modified>
</cp:coreProperties>
</file>
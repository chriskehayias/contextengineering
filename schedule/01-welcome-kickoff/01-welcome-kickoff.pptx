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0" d="100"/>
          <a:sy n="190" d="100"/>
        </p:scale>
        <p:origin x="168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0A35C-DBD2-4A64-A6BF-7C1DF79DB2B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19E13-7F67-4A1E-9B50-6C2EA2CBCC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9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 in. Big energy. 'AI Context Engineering — that's a long title for what's actually a really practical workshop. Over the next 90 minutes we're going to get hands-on with what makes AI useful at your church versus useless at your church.'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 in. Big energy. You're setting the emotional tone for the whole event — warmth first, then structure. Smile, look around, name a few people. Thank Northwoods for hosting.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Read it. Let it land. This is the line we want echoing in their heads when they walk in tomorrow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bars we have to clear in the next 30 minutes. If we leave the room with all three, we've done our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quickly. The big block is setup check — that's where the room either gets unstuck or gets stuck for the day. If you only protect one item, protect that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bullets. The point is the headline: Day 1 craft, Day 2 ship. Everything else is in the schedule on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slowly, twice. This is the one sentence to leave the room with. Note: this preview lands the idea, then we hand off to the next session for the full unpack.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tight — 2 to 3 minutes max. Energy stays up. The baseball line gets a laugh; lean into it briefly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Brief intro — keep it under 60 seconds. 'I ship AI products for a living and I've been in the church tech world a while. Most of what I'm sharing today is what I wish someone had told me two years ago.'</a:t>
            </a: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more than ~20% of the room isn't green, silently extend the 10:15 break by 10 min rather than pushing people into the SDLC session cold. Don't shame anyone — just point them at the AI Genius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explain it deeply — that's later in the day. Just say the letters out loud once so the room's heard it. By Day 2 it should feel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it, smile, hand off cleanly. Don't oversell the next session — let it speak for itself. Last words: 'Let's build.'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61C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508000"/>
            <a:ext cx="838696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00" b="1" kern="0" spc="1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CITN</a:t>
            </a:r>
            <a:r>
              <a:rPr lang="en-US" sz="1300" b="1" kern="0" spc="156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</a:t>
            </a:r>
            <a:r>
              <a:rPr lang="en-US" sz="1300" b="1" kern="0" spc="15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-63500"/>
            <a:ext cx="6985000" cy="698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01" y="2258715"/>
            <a:ext cx="5166279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defTabSz="609630"/>
            <a:r>
              <a:rPr lang="en-US" sz="1300" b="1" kern="0" spc="390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CHURCH IT NETWORK · WORKSHOP</a:t>
            </a:r>
            <a:endParaRPr lang="en-US" sz="13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3"/>
          <p:cNvSpPr/>
          <p:nvPr/>
        </p:nvSpPr>
        <p:spPr>
          <a:xfrm>
            <a:off x="635001" y="2690515"/>
            <a:ext cx="5166279" cy="15214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95000"/>
              </a:lnSpc>
            </a:pPr>
            <a:r>
              <a:rPr lang="en-US" sz="6200" b="1" kern="0" spc="-15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</a:t>
            </a:r>
            <a:r>
              <a:rPr lang="en-US" sz="6200" b="1" kern="0" spc="-155" dirty="0">
                <a:solidFill>
                  <a:srgbClr val="3FE0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</a:t>
            </a:r>
            <a:r>
              <a:rPr lang="en-US" sz="6200" b="1" kern="0" spc="-15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</a:t>
            </a:r>
            <a:endParaRPr lang="en-US" sz="6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5000" y="4415136"/>
            <a:ext cx="2129035" cy="209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200" b="1" kern="0" spc="48" dirty="0">
                <a:solidFill>
                  <a:srgbClr val="C9CB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NORTHWOODS CHURCH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905224" y="4488160"/>
            <a:ext cx="38100" cy="38100"/>
          </a:xfrm>
          <a:prstGeom prst="ellipse">
            <a:avLst/>
          </a:prstGeom>
          <a:solidFill>
            <a:srgbClr val="3FE0D0"/>
          </a:solidFill>
          <a:ln/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6524" y="4415136"/>
            <a:ext cx="949623" cy="209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200" b="1" kern="0" spc="48" dirty="0">
                <a:solidFill>
                  <a:srgbClr val="C9CBD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PEORIA, IL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3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CITN ·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CHURCH IT NETWORK · WORKSHOP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3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· Session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 &amp; Kickoff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80960" y="1737360"/>
            <a:ext cx="18288" cy="3200400"/>
          </a:xfrm>
          <a:prstGeom prst="rect">
            <a:avLst/>
          </a:prstGeom>
          <a:solidFill>
            <a:srgbClr val="2B3543"/>
          </a:solidFill>
          <a:ln w="1270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SPEAKER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Jason Lee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Peoria, IL · May 7–8,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CONTEXT ENGINEERING WORKSHOP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the tone. Name the thesis. Get the room ready to build.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48640" cy="36576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1155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Stop experimenting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AI.</a:t>
            </a:r>
            <a:endParaRPr lang="en-US" sz="5200" dirty="0"/>
          </a:p>
          <a:p>
            <a:pPr marL="0" indent="0">
              <a:buNone/>
            </a:pPr>
            <a:r>
              <a:rPr lang="en-US" sz="5200" b="1" i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building tools</a:t>
            </a:r>
            <a:endParaRPr lang="en-US" sz="5200" dirty="0"/>
          </a:p>
          <a:p>
            <a:pPr marL="0" indent="0">
              <a:buNone/>
            </a:pPr>
            <a:r>
              <a:rPr lang="en-US" sz="5200" b="1" i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actually work.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FROM THE EVENT README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PEORIA, IL · MAY 7–8,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GOAL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By 9:30 you'll know three things.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it. Three things. Then we're off and running.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54864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context engineering is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discipline — not a prompt trick. What you put in front of the model is the whole game.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74320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2743200"/>
            <a:ext cx="3657600" cy="54864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next two days look like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is the craft. Day 2 you ship something real. Here's the arc and the rhythm.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74320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2743200"/>
            <a:ext cx="3657600" cy="54864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686800" y="4114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your environment works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claude, gh, node — all green before 10:00 AM. If not, we have people who can help.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Outline · 30 minutes.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Welcome,  prayer, Devo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88575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in the room / why this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88575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demo — two days in three minutes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88575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— bathrooms, breaks, food, baseball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88575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for the two days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88575" y="4206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28523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check — live walk through prerequisites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88575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833872"/>
            <a:ext cx="11094415" cy="0"/>
          </a:xfrm>
          <a:prstGeom prst="line">
            <a:avLst/>
          </a:prstGeom>
          <a:noFill/>
          <a:ln w="9525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5303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303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Hand-off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88575" y="5303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days. One arc.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you learn the craft. Day 2 you ship something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864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73152" cy="3383280"/>
          </a:xfrm>
          <a:prstGeom prst="rect">
            <a:avLst/>
          </a:prstGeom>
          <a:solidFill>
            <a:srgbClr val="E89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 · MAY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the mindset, the workflow, and how to build context.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480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 vs. context engineering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SDLC crash course (git, repos, terminal)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context — Part 1 &amp; 2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Code for the non-developer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PRTDUD workflow overview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Inspire Leaders panel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5486400" cy="3383280"/>
          </a:xfrm>
          <a:prstGeom prst="rect">
            <a:avLst/>
          </a:prstGeom>
          <a:solidFill>
            <a:srgbClr val="0F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2560320"/>
            <a:ext cx="73152" cy="33832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208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3FB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· MAY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3291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Day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it end-to-end: plan, build, and ship a Next.js app.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4480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Choosing your medium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with Claude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Block 1 — plan &amp; review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Block 2 — execute &amp; test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Deploying to Vercel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&amp; tell + closing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DAYS · ONE ARC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DEFINITION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engineering is a </a:t>
            </a:r>
            <a:r>
              <a:rPr lang="en-US" sz="4400" b="1" i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discipline</a:t>
            </a: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not a prompt trick.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put in front of the model</a:t>
            </a:r>
            <a:r>
              <a:rPr lang="en-US" sz="4400" b="1" i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whole game.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548640" cy="36576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 is learning the craft. Day 2 is using it to ship.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few housekeeping things.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BATHROOMS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out the back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Hallway to the right, follow the signs. Go whenever — no need to ask.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224028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441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SCHEDULE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breaks + lunch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 at 10:15 · 75 min lunch at 12:30 · 20 min snack break at 3:30. Clock on the wall is the truth.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Coffee out front, lunch in back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Doughnuts already out. Lunch starts at 12:30 — sponsors get 2–5 min before we eat.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" cy="1783080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BASEBALL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Game's at 7. We'll be done.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0" y="5212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Dinner at 6:30 PM. We'll wrap by 5:00 sharp so nobody misses first pitch.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HOUSEKEEPING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635000" y="1778000"/>
            <a:ext cx="4572000" cy="4572000"/>
          </a:xfrm>
          <a:prstGeom prst="roundRect">
            <a:avLst>
              <a:gd name="adj" fmla="val 2778"/>
            </a:avLst>
          </a:prstGeom>
          <a:solidFill>
            <a:srgbClr val="1B1D24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806873" y="3136900"/>
            <a:ext cx="2295000" cy="1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/>
          </a:bodyPr>
          <a:lstStyle/>
          <a:p>
            <a:pPr>
              <a:buClr>
                <a:srgbClr val="3FE0D0"/>
              </a:buClr>
              <a:buSzPts val="18000"/>
            </a:pPr>
            <a:r>
              <a:rPr lang="en-US" sz="12001" b="1" dirty="0">
                <a:solidFill>
                  <a:srgbClr val="3FE0D0"/>
                </a:solidFill>
                <a:latin typeface="Montserrat"/>
                <a:ea typeface="Montserrat"/>
                <a:cs typeface="Montserrat"/>
                <a:sym typeface="Montserrat"/>
              </a:rPr>
              <a:t>CK</a:t>
            </a:r>
            <a:endParaRPr sz="1200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715000" y="2753519"/>
            <a:ext cx="6017260" cy="22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/>
          </a:bodyPr>
          <a:lstStyle/>
          <a:p>
            <a:pPr>
              <a:buClr>
                <a:srgbClr val="F58220"/>
              </a:buClr>
              <a:buSzPts val="1800"/>
            </a:pPr>
            <a:r>
              <a:rPr lang="en-US" sz="1200">
                <a:solidFill>
                  <a:srgbClr val="F5822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SPEAKER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715000" y="3064669"/>
            <a:ext cx="601726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buClr>
                <a:srgbClr val="2A2D38"/>
              </a:buClr>
              <a:buSzPts val="7200"/>
            </a:pPr>
            <a:r>
              <a:rPr lang="en-US" sz="4800" b="1">
                <a:solidFill>
                  <a:srgbClr val="2A2D38"/>
                </a:solidFill>
                <a:latin typeface="Montserrat"/>
                <a:ea typeface="Montserrat"/>
                <a:cs typeface="Montserrat"/>
                <a:sym typeface="Montserrat"/>
              </a:rPr>
              <a:t>Chris Kehayias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722717" y="3797736"/>
            <a:ext cx="601726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/>
          </a:bodyPr>
          <a:lstStyle/>
          <a:p>
            <a:pPr>
              <a:lnSpc>
                <a:spcPct val="90000"/>
              </a:lnSpc>
              <a:buClr>
                <a:srgbClr val="F58220"/>
              </a:buClr>
              <a:buSzPts val="2400"/>
            </a:pPr>
            <a:r>
              <a:rPr lang="en-US" sz="1600" b="1">
                <a:solidFill>
                  <a:srgbClr val="F58220"/>
                </a:solidFill>
                <a:latin typeface="Montserrat"/>
                <a:ea typeface="Montserrat"/>
                <a:cs typeface="Montserrat"/>
                <a:sym typeface="Montserrat"/>
              </a:rPr>
              <a:t>SVP, AI &amp; INNOVATION – ACS Technologies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CHECK · 8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these three commands together.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green checks and you're ready for Day 1. Anything red? Find Tripp or Patrick at the 10:15 break.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7315200" cy="3657600"/>
          </a:xfrm>
          <a:prstGeom prst="rect">
            <a:avLst/>
          </a:prstGeom>
          <a:solidFill>
            <a:srgbClr val="0F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solidFill>
            <a:srgbClr val="1B25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587752"/>
            <a:ext cx="137160" cy="137160"/>
          </a:xfrm>
          <a:prstGeom prst="ellipse">
            <a:avLst/>
          </a:prstGeom>
          <a:solidFill>
            <a:srgbClr val="FF60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258775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2587752"/>
            <a:ext cx="137160" cy="137160"/>
          </a:xfrm>
          <a:prstGeom prst="ellipse">
            <a:avLst/>
          </a:prstGeom>
          <a:solidFill>
            <a:srgbClr val="27C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prerequisites · check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--version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</a:t>
            </a:r>
            <a:r>
              <a:rPr lang="en-US" sz="1300" dirty="0">
                <a:solidFill>
                  <a:srgbClr val="9A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 1.x · ready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gh auth status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</a:t>
            </a:r>
            <a:r>
              <a:rPr lang="en-US" sz="1300" dirty="0">
                <a:solidFill>
                  <a:srgbClr val="9A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Logged in to github.com as you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 --version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6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</a:t>
            </a:r>
            <a:r>
              <a:rPr lang="en-US" sz="1300" dirty="0">
                <a:solidFill>
                  <a:srgbClr val="9A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v20.x or newer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468880"/>
            <a:ext cx="34747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38160" y="2468880"/>
            <a:ext cx="3474720" cy="73152"/>
          </a:xfrm>
          <a:prstGeom prst="rect">
            <a:avLst/>
          </a:prstGeom>
          <a:solidFill>
            <a:srgbClr val="E89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Help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Tripp &amp; Patrick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Montserrat" pitchFamily="34" charset="0"/>
              </a:rPr>
              <a:t>Jason &amp; Matt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124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Standing by at every break.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42519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any of those three are red — find them.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account, Claude Code CLI, and GitHub CLI unlock the rest of the workshop.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PREREQUISITES · GREEN BY 10:00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ACRONYM TO REMEMBER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PRTDUD.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loop you'll hear all weekend. Plant it now.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63728" y="2834640"/>
            <a:ext cx="1653540" cy="3017520"/>
          </a:xfrm>
          <a:prstGeom prst="rect">
            <a:avLst/>
          </a:prstGeom>
          <a:solidFill>
            <a:srgbClr val="1B2533"/>
          </a:solidFill>
          <a:ln w="635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3728" y="2834640"/>
            <a:ext cx="1653540" cy="54864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3728" y="3200400"/>
            <a:ext cx="1653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63728" y="4526280"/>
            <a:ext cx="1653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0888" y="5074920"/>
            <a:ext cx="1379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 it in writing.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45868" y="2834640"/>
            <a:ext cx="1653540" cy="3017520"/>
          </a:xfrm>
          <a:prstGeom prst="rect">
            <a:avLst/>
          </a:prstGeom>
          <a:solidFill>
            <a:srgbClr val="1B2533"/>
          </a:solidFill>
          <a:ln w="635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45868" y="2834640"/>
            <a:ext cx="1653540" cy="54864"/>
          </a:xfrm>
          <a:prstGeom prst="rect">
            <a:avLst/>
          </a:prstGeom>
          <a:solidFill>
            <a:srgbClr val="E89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5868" y="3200400"/>
            <a:ext cx="1653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2445868" y="4526280"/>
            <a:ext cx="1653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83028" y="5074920"/>
            <a:ext cx="1379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before you run.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8008" y="2834640"/>
            <a:ext cx="1653540" cy="3017520"/>
          </a:xfrm>
          <a:prstGeom prst="rect">
            <a:avLst/>
          </a:prstGeom>
          <a:solidFill>
            <a:srgbClr val="1B2533"/>
          </a:solidFill>
          <a:ln w="635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28008" y="2834640"/>
            <a:ext cx="1653540" cy="54864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28008" y="3200400"/>
            <a:ext cx="1653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</a:t>
            </a:r>
            <a:endParaRPr lang="en-US" sz="9000" dirty="0"/>
          </a:p>
        </p:txBody>
      </p:sp>
      <p:sp>
        <p:nvSpPr>
          <p:cNvPr id="18" name="Text 16"/>
          <p:cNvSpPr/>
          <p:nvPr/>
        </p:nvSpPr>
        <p:spPr>
          <a:xfrm>
            <a:off x="4328008" y="4526280"/>
            <a:ext cx="1653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5168" y="5074920"/>
            <a:ext cx="1379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it works.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0148" y="2834640"/>
            <a:ext cx="1653540" cy="3017520"/>
          </a:xfrm>
          <a:prstGeom prst="rect">
            <a:avLst/>
          </a:prstGeom>
          <a:solidFill>
            <a:srgbClr val="1B2533"/>
          </a:solidFill>
          <a:ln w="635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0148" y="2834640"/>
            <a:ext cx="1653540" cy="54864"/>
          </a:xfrm>
          <a:prstGeom prst="rect">
            <a:avLst/>
          </a:prstGeom>
          <a:solidFill>
            <a:srgbClr val="E89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0148" y="3200400"/>
            <a:ext cx="1653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6210148" y="4526280"/>
            <a:ext cx="1653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47308" y="5074920"/>
            <a:ext cx="1379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Hunt the why.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2288" y="2834640"/>
            <a:ext cx="1653540" cy="3017520"/>
          </a:xfrm>
          <a:prstGeom prst="rect">
            <a:avLst/>
          </a:prstGeom>
          <a:solidFill>
            <a:srgbClr val="1B2533"/>
          </a:solidFill>
          <a:ln w="635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92288" y="2834640"/>
            <a:ext cx="1653540" cy="54864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92288" y="3200400"/>
            <a:ext cx="1653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3FB6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</a:t>
            </a:r>
            <a:endParaRPr lang="en-US" sz="9000" dirty="0"/>
          </a:p>
        </p:txBody>
      </p:sp>
      <p:sp>
        <p:nvSpPr>
          <p:cNvPr id="28" name="Text 26"/>
          <p:cNvSpPr/>
          <p:nvPr/>
        </p:nvSpPr>
        <p:spPr>
          <a:xfrm>
            <a:off x="8092288" y="4526280"/>
            <a:ext cx="1653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448" y="5074920"/>
            <a:ext cx="1379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the context.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74428" y="2834640"/>
            <a:ext cx="1653540" cy="3017520"/>
          </a:xfrm>
          <a:prstGeom prst="rect">
            <a:avLst/>
          </a:prstGeom>
          <a:solidFill>
            <a:srgbClr val="1B2533"/>
          </a:solidFill>
          <a:ln w="6350">
            <a:solidFill>
              <a:srgbClr val="2B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974428" y="2834640"/>
            <a:ext cx="1653540" cy="54864"/>
          </a:xfrm>
          <a:prstGeom prst="rect">
            <a:avLst/>
          </a:prstGeom>
          <a:solidFill>
            <a:srgbClr val="E89B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74428" y="3200400"/>
            <a:ext cx="16535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E89B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9000" dirty="0"/>
          </a:p>
        </p:txBody>
      </p:sp>
      <p:sp>
        <p:nvSpPr>
          <p:cNvPr id="33" name="Text 31"/>
          <p:cNvSpPr/>
          <p:nvPr/>
        </p:nvSpPr>
        <p:spPr>
          <a:xfrm>
            <a:off x="9974428" y="4526280"/>
            <a:ext cx="1653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111588" y="5074920"/>
            <a:ext cx="1379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it live.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ECHOES ALL WEEKEND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9B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9A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Vibe coding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vs. context engineering.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548640" cy="36576"/>
          </a:xfrm>
          <a:prstGeom prst="rect">
            <a:avLst/>
          </a:prstGeom>
          <a:solidFill>
            <a:srgbClr val="3FB6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02 / 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difference is. Why it matters. What “good” looks like.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WELCOME &amp; KICKOFF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HAND-OFF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1255</Words>
  <Application>Microsoft Office PowerPoint</Application>
  <PresentationFormat>Widescreen</PresentationFormat>
  <Paragraphs>185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Inter</vt:lpstr>
      <vt:lpstr>JetBrains Mono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&amp; Kickoff</dc:title>
  <dc:subject>PptxGenJS Presentation</dc:subject>
  <dc:creator>Jason Lee</dc:creator>
  <cp:lastModifiedBy>Chris Kehayias</cp:lastModifiedBy>
  <cp:revision>3</cp:revision>
  <dcterms:created xsi:type="dcterms:W3CDTF">2026-05-04T19:30:29Z</dcterms:created>
  <dcterms:modified xsi:type="dcterms:W3CDTF">2026-05-05T08:31:20Z</dcterms:modified>
</cp:coreProperties>
</file>
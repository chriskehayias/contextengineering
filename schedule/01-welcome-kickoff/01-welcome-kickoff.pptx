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3606" y="29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40A35C-DBD2-4A64-A6BF-7C1DF79DB2B6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E19E13-7F67-4A1E-9B50-6C2EA2CBCC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893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'AI Context Engineering — that's a long title for what's actually a really practical workshop. Over the next 90 minutes we're going to get hands-on with what makes AI useful at your church versus useless at your church.'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You're setting the emotional tone for the whole event — warmth first, then structure. Smile, look around, name a few people. Thank Northwoods for hosting.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Read it. Let it land. This is the line we want echoing in their heads when they walk in tomorrow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three bars we have to clear in the next 30 minutes. If we leave the room with all three, we've done our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quickly. The big block is setup check — that's where the room either gets unstuck or gets stuck for the day. If you only protect one item, protect that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bullets. The point is the headline: Day 1 craft, Day 2 ship. Everything else is in the schedule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slowly, twice. This is the one sentence to leave the room with. Note: this preview lands the idea, then we hand off to the next session for the full unpack.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2 to 3 minutes max. Energy stays up. The baseball line gets a laugh; lean into it briefly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more than ~20% of the room isn't green, silently extend the 10:15 break by 10 min rather than pushing people into the SDLC session cold. Don't shame anyone — just point them at the AI Genius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explain it deeply — that's later in the day. Just say the letters out loud once so the room's heard it. By Day 2 it should feel familiar.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it, smile, hand off cleanly. Don't oversell the next session — let it speak for itself. Last words: 'Let's build.'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161C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635000" y="508000"/>
            <a:ext cx="838696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CITN</a:t>
            </a:r>
            <a:r>
              <a:rPr lang="en-US" sz="1300" b="1" kern="0" spc="156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</a:t>
            </a:r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69000" y="-63500"/>
            <a:ext cx="6985000" cy="69850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35001" y="2258715"/>
            <a:ext cx="5166279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ctr">
            <a:normAutofit lnSpcReduction="10000"/>
          </a:bodyPr>
          <a:lstStyle/>
          <a:p>
            <a:pPr defTabSz="609630"/>
            <a:r>
              <a:rPr lang="en-US" sz="1300" b="1" kern="0" spc="39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CHURCH IT NETWORK · WORKSHOP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3"/>
          <p:cNvSpPr/>
          <p:nvPr/>
        </p:nvSpPr>
        <p:spPr>
          <a:xfrm>
            <a:off x="635001" y="2690515"/>
            <a:ext cx="5166279" cy="15214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10000"/>
          </a:bodyPr>
          <a:lstStyle/>
          <a:p>
            <a:pPr defTabSz="609630">
              <a:lnSpc>
                <a:spcPct val="95000"/>
              </a:lnSpc>
            </a:pP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</a:t>
            </a:r>
            <a:r>
              <a:rPr lang="en-US" sz="6200" b="1" kern="0" spc="-155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</a:t>
            </a: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Engineering</a:t>
            </a:r>
            <a:endParaRPr lang="en-US" sz="6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4"/>
          <p:cNvSpPr/>
          <p:nvPr/>
        </p:nvSpPr>
        <p:spPr>
          <a:xfrm>
            <a:off x="635000" y="4415136"/>
            <a:ext cx="2129035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NORTHWOODS CHURCH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5"/>
          <p:cNvSpPr/>
          <p:nvPr/>
        </p:nvSpPr>
        <p:spPr>
          <a:xfrm>
            <a:off x="2905224" y="4488160"/>
            <a:ext cx="38100" cy="38100"/>
          </a:xfrm>
          <a:prstGeom prst="ellipse">
            <a:avLst/>
          </a:prstGeom>
          <a:solidFill>
            <a:srgbClr val="3FE0D0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146524" y="4415136"/>
            <a:ext cx="949623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PEORIA, IL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CITN ·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CHURCH IT NETWORK · WORKSHOP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Welcome.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4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Session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 &amp; Kickoff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680960" y="1737360"/>
            <a:ext cx="18288" cy="3200400"/>
          </a:xfrm>
          <a:prstGeom prst="rect">
            <a:avLst/>
          </a:prstGeom>
          <a:solidFill>
            <a:srgbClr val="2B3543"/>
          </a:solidFill>
          <a:ln w="1270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Jason Lee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CONTEXT ENGINEERING WORKSHOP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the tone. Name the thesis. Get the room ready to build.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1155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Stop experimenting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 AI.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building tools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actually work.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FROM THE EVENT README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GOAL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By 9:30 you'll know three things.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it. Three things. Then we're off and running.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context engineering is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discipline — not a prompt trick. What you put in front of the model is the whole game.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348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48006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next two days look like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006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is the craft. Day 2 you ship something real. Here's the arc and the rhythm.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3210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210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86868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your environment works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6868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claude, gh, node — all green before 10:00 AM. If not, we have people who can help.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WE'LL 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Outline · 30 minutes.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54203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20116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Welcome,  prayer, Devo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88575" y="20116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min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9067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5603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in the room / why this matters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88575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3931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1089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1089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demo — two days in three minutes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88575" y="3108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18795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36576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 — bathrooms, breaks, food, baseball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088575" y="36576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min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73659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206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4206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Goals for the two days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088575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28523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47548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71600" y="4754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 — live walk through prerequisites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88575" y="4754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min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83387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640" y="53035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371600" y="53035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Hand-off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088575" y="53035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min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OUTLINE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days. One arc.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you learn the craft. Day 2 you ship something real.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864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73152" cy="3383280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MAY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Foundations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6012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the mindset, the workflow, and how to build context.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vs. context engineering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SDLC crash course (git, repos, terminal)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Building context — Part 1 &amp; 2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for the non-developer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PRTDUD workflow overview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Inspire Leaders panel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5486400" cy="338328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09360" y="2560320"/>
            <a:ext cx="73152" cy="33832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2084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MAY 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2084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Day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72084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it end-to-end: plan, build, and ship a Next.js app.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2084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Choosing your medium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Next.js with Claude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1 — plan &amp; review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2 — execute &amp; test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Deploying to Vercel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&amp; tell + closing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DAYS · ONE ARC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DEFINITION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engineering is a </a:t>
            </a:r>
            <a:r>
              <a:rPr lang="en-US" sz="44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discipline</a:t>
            </a: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not a prompt trick.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you put in front of the model</a:t>
            </a:r>
            <a:r>
              <a:rPr lang="en-US" sz="4400" b="1" i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is the whole game.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80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1 is learning the craft. Day 2 is using it to ship.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few housekeeping things.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BATHROOMS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out the back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Hallway to the right, follow the signs. Go whenever — no need to ask.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 SCHEDULE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breaks + lunch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 at 10:15 · 75 min lunch at 12:30 · 20 min snack break at 3:30. Clock on the wall is the truth.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Coffee out front, lunch in back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1440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Doughnuts already out. Lunch starts at 12:30 — sponsors get 2–5 min before we eat.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BASEBALL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Game's at 7. We'll be done.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58368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Dinner at 6:30 PM. We'll wrap by 5:00 sharp so nobody misses first pitch.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HOUSEKEEPING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 · 8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these three commands together.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green checks and you're ready for Day 1. Anything red? Find Tripp or Patrick at the 10:15 break.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7315200" cy="365760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7315200" cy="365760"/>
          </a:xfrm>
          <a:prstGeom prst="rect">
            <a:avLst/>
          </a:prstGeom>
          <a:solidFill>
            <a:srgbClr val="1B25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587752"/>
            <a:ext cx="137160" cy="137160"/>
          </a:xfrm>
          <a:prstGeom prst="ellipse">
            <a:avLst/>
          </a:prstGeom>
          <a:solidFill>
            <a:srgbClr val="FF60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2587752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2587752"/>
            <a:ext cx="137160" cy="137160"/>
          </a:xfrm>
          <a:prstGeom prst="ellipse">
            <a:avLst/>
          </a:prstGeom>
          <a:solidFill>
            <a:srgbClr val="27C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202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prerequisites · check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0175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--version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3429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code 1.x · ready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9776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gh auth status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389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Logged in to github.com as you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937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node --version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7280" y="5349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v20.x or newer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2468880"/>
            <a:ext cx="34747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474720" cy="73152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12480" y="2788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Help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Tripp &amp; Patrick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</a:rPr>
              <a:t>Jason &amp; Matt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412480" y="3703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Standing by at every break.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42519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any of those three are red — find them.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account, Claude Code CLI, and GitHub CLI unlock the rest of the workshop.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PREREQUISITES · GREEN BY 10:00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ACRONYM TO REMEMBER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PRTDUD.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loop you'll hear all weekend. Plant it now.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3728" y="2834640"/>
            <a:ext cx="1653540" cy="3017520"/>
          </a:xfrm>
          <a:prstGeom prst="rect">
            <a:avLst/>
          </a:prstGeom>
          <a:solidFill>
            <a:srgbClr val="1B2533"/>
          </a:solidFill>
          <a:ln w="635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63728" y="2834640"/>
            <a:ext cx="165354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3728" y="3200400"/>
            <a:ext cx="16535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</a:t>
            </a:r>
            <a:endParaRPr lang="en-US" sz="9000" dirty="0"/>
          </a:p>
        </p:txBody>
      </p:sp>
      <p:sp>
        <p:nvSpPr>
          <p:cNvPr id="8" name="Text 6"/>
          <p:cNvSpPr/>
          <p:nvPr/>
        </p:nvSpPr>
        <p:spPr>
          <a:xfrm>
            <a:off x="563728" y="4526280"/>
            <a:ext cx="1653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00888" y="5074920"/>
            <a:ext cx="1379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 it in writing.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45868" y="2834640"/>
            <a:ext cx="1653540" cy="3017520"/>
          </a:xfrm>
          <a:prstGeom prst="rect">
            <a:avLst/>
          </a:prstGeom>
          <a:solidFill>
            <a:srgbClr val="1B2533"/>
          </a:solidFill>
          <a:ln w="635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445868" y="2834640"/>
            <a:ext cx="1653540" cy="54864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45868" y="3200400"/>
            <a:ext cx="16535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</a:t>
            </a:r>
            <a:endParaRPr lang="en-US" sz="9000" dirty="0"/>
          </a:p>
        </p:txBody>
      </p:sp>
      <p:sp>
        <p:nvSpPr>
          <p:cNvPr id="13" name="Text 11"/>
          <p:cNvSpPr/>
          <p:nvPr/>
        </p:nvSpPr>
        <p:spPr>
          <a:xfrm>
            <a:off x="2445868" y="4526280"/>
            <a:ext cx="1653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583028" y="5074920"/>
            <a:ext cx="1379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before you run.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28008" y="2834640"/>
            <a:ext cx="1653540" cy="3017520"/>
          </a:xfrm>
          <a:prstGeom prst="rect">
            <a:avLst/>
          </a:prstGeom>
          <a:solidFill>
            <a:srgbClr val="1B2533"/>
          </a:solidFill>
          <a:ln w="635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328008" y="2834640"/>
            <a:ext cx="165354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328008" y="3200400"/>
            <a:ext cx="16535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</a:t>
            </a:r>
            <a:endParaRPr lang="en-US" sz="9000" dirty="0"/>
          </a:p>
        </p:txBody>
      </p:sp>
      <p:sp>
        <p:nvSpPr>
          <p:cNvPr id="18" name="Text 16"/>
          <p:cNvSpPr/>
          <p:nvPr/>
        </p:nvSpPr>
        <p:spPr>
          <a:xfrm>
            <a:off x="4328008" y="4526280"/>
            <a:ext cx="1653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65168" y="5074920"/>
            <a:ext cx="1379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it works.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0148" y="2834640"/>
            <a:ext cx="1653540" cy="3017520"/>
          </a:xfrm>
          <a:prstGeom prst="rect">
            <a:avLst/>
          </a:prstGeom>
          <a:solidFill>
            <a:srgbClr val="1B2533"/>
          </a:solidFill>
          <a:ln w="635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210148" y="2834640"/>
            <a:ext cx="1653540" cy="54864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210148" y="3200400"/>
            <a:ext cx="16535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6210148" y="4526280"/>
            <a:ext cx="1653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Debug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347308" y="5074920"/>
            <a:ext cx="1379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Hunt the why.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2288" y="2834640"/>
            <a:ext cx="1653540" cy="3017520"/>
          </a:xfrm>
          <a:prstGeom prst="rect">
            <a:avLst/>
          </a:prstGeom>
          <a:solidFill>
            <a:srgbClr val="1B2533"/>
          </a:solidFill>
          <a:ln w="635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092288" y="2834640"/>
            <a:ext cx="165354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092288" y="3200400"/>
            <a:ext cx="16535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</a:t>
            </a:r>
            <a:endParaRPr lang="en-US" sz="9000" dirty="0"/>
          </a:p>
        </p:txBody>
      </p:sp>
      <p:sp>
        <p:nvSpPr>
          <p:cNvPr id="28" name="Text 26"/>
          <p:cNvSpPr/>
          <p:nvPr/>
        </p:nvSpPr>
        <p:spPr>
          <a:xfrm>
            <a:off x="8092288" y="4526280"/>
            <a:ext cx="1653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Update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229448" y="5074920"/>
            <a:ext cx="1379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the context.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974428" y="2834640"/>
            <a:ext cx="1653540" cy="3017520"/>
          </a:xfrm>
          <a:prstGeom prst="rect">
            <a:avLst/>
          </a:prstGeom>
          <a:solidFill>
            <a:srgbClr val="1B2533"/>
          </a:solidFill>
          <a:ln w="635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974428" y="2834640"/>
            <a:ext cx="1653540" cy="54864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974428" y="3200400"/>
            <a:ext cx="16535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</a:t>
            </a:r>
            <a:endParaRPr lang="en-US" sz="9000" dirty="0"/>
          </a:p>
        </p:txBody>
      </p:sp>
      <p:sp>
        <p:nvSpPr>
          <p:cNvPr id="33" name="Text 31"/>
          <p:cNvSpPr/>
          <p:nvPr/>
        </p:nvSpPr>
        <p:spPr>
          <a:xfrm>
            <a:off x="9974428" y="4526280"/>
            <a:ext cx="1653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Deploy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0111588" y="5074920"/>
            <a:ext cx="1379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it live.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ECHOES ALL WEEKEND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NEXT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Vibe coding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vs. context engineering.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34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02 / 14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difference is. Why it matters. What “good” looks like.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HAND-OFF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1197</Words>
  <Application>Microsoft Office PowerPoint</Application>
  <PresentationFormat>Widescreen</PresentationFormat>
  <Paragraphs>179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Inter</vt:lpstr>
      <vt:lpstr>JetBrains Mono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&amp; Kickoff</dc:title>
  <dc:subject>PptxGenJS Presentation</dc:subject>
  <dc:creator>Jason Lee</dc:creator>
  <cp:lastModifiedBy>Chris Kehayias</cp:lastModifiedBy>
  <cp:revision>2</cp:revision>
  <dcterms:created xsi:type="dcterms:W3CDTF">2026-05-04T19:30:29Z</dcterms:created>
  <dcterms:modified xsi:type="dcterms:W3CDTF">2026-05-04T19:45:11Z</dcterms:modified>
</cp:coreProperties>
</file>